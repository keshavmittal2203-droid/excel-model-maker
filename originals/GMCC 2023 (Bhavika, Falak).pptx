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>
              <a:alpha val="3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09261" y="2411729"/>
            <a:ext cx="3173729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5C9DA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5C9DA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37387" y="3148583"/>
            <a:ext cx="4488180" cy="2420620"/>
          </a:xfrm>
          <a:custGeom>
            <a:avLst/>
            <a:gdLst/>
            <a:ahLst/>
            <a:cxnLst/>
            <a:rect l="l" t="t" r="r" b="b"/>
            <a:pathLst>
              <a:path w="4488180" h="2420620">
                <a:moveTo>
                  <a:pt x="4488180" y="0"/>
                </a:moveTo>
                <a:lnTo>
                  <a:pt x="0" y="0"/>
                </a:lnTo>
                <a:lnTo>
                  <a:pt x="0" y="2420112"/>
                </a:lnTo>
                <a:lnTo>
                  <a:pt x="4488180" y="2420112"/>
                </a:lnTo>
                <a:lnTo>
                  <a:pt x="44881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2568" y="268224"/>
            <a:ext cx="583692" cy="58521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0285730" cy="116205"/>
          </a:xfrm>
          <a:custGeom>
            <a:avLst/>
            <a:gdLst/>
            <a:ahLst/>
            <a:cxnLst/>
            <a:rect l="l" t="t" r="r" b="b"/>
            <a:pathLst>
              <a:path w="10285730" h="116205">
                <a:moveTo>
                  <a:pt x="10285476" y="0"/>
                </a:moveTo>
                <a:lnTo>
                  <a:pt x="0" y="0"/>
                </a:lnTo>
                <a:lnTo>
                  <a:pt x="0" y="115824"/>
                </a:lnTo>
                <a:lnTo>
                  <a:pt x="10285476" y="115824"/>
                </a:lnTo>
                <a:lnTo>
                  <a:pt x="10285476" y="0"/>
                </a:lnTo>
                <a:close/>
              </a:path>
            </a:pathLst>
          </a:custGeom>
          <a:solidFill>
            <a:srgbClr val="0A47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1556492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6E8E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285476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5C9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92023" y="6516623"/>
            <a:ext cx="11793220" cy="0"/>
          </a:xfrm>
          <a:custGeom>
            <a:avLst/>
            <a:gdLst/>
            <a:ahLst/>
            <a:cxnLst/>
            <a:rect l="l" t="t" r="r" b="b"/>
            <a:pathLst>
              <a:path w="11793220" h="0">
                <a:moveTo>
                  <a:pt x="0" y="0"/>
                </a:moveTo>
                <a:lnTo>
                  <a:pt x="11793093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5C9DA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2568" y="268224"/>
            <a:ext cx="583692" cy="58521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0285730" cy="116205"/>
          </a:xfrm>
          <a:custGeom>
            <a:avLst/>
            <a:gdLst/>
            <a:ahLst/>
            <a:cxnLst/>
            <a:rect l="l" t="t" r="r" b="b"/>
            <a:pathLst>
              <a:path w="10285730" h="116205">
                <a:moveTo>
                  <a:pt x="10285476" y="0"/>
                </a:moveTo>
                <a:lnTo>
                  <a:pt x="0" y="0"/>
                </a:lnTo>
                <a:lnTo>
                  <a:pt x="0" y="115824"/>
                </a:lnTo>
                <a:lnTo>
                  <a:pt x="10285476" y="115824"/>
                </a:lnTo>
                <a:lnTo>
                  <a:pt x="10285476" y="0"/>
                </a:lnTo>
                <a:close/>
              </a:path>
            </a:pathLst>
          </a:custGeom>
          <a:solidFill>
            <a:srgbClr val="0A47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556492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6E8E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285476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5C9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92023" y="6516623"/>
            <a:ext cx="11793220" cy="0"/>
          </a:xfrm>
          <a:custGeom>
            <a:avLst/>
            <a:gdLst/>
            <a:ahLst/>
            <a:cxnLst/>
            <a:rect l="l" t="t" r="r" b="b"/>
            <a:pathLst>
              <a:path w="11793220" h="0">
                <a:moveTo>
                  <a:pt x="0" y="0"/>
                </a:moveTo>
                <a:lnTo>
                  <a:pt x="11793093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5C9DA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2568" y="268224"/>
            <a:ext cx="583692" cy="58521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0285730" cy="116205"/>
          </a:xfrm>
          <a:custGeom>
            <a:avLst/>
            <a:gdLst/>
            <a:ahLst/>
            <a:cxnLst/>
            <a:rect l="l" t="t" r="r" b="b"/>
            <a:pathLst>
              <a:path w="10285730" h="116205">
                <a:moveTo>
                  <a:pt x="10285476" y="0"/>
                </a:moveTo>
                <a:lnTo>
                  <a:pt x="0" y="0"/>
                </a:lnTo>
                <a:lnTo>
                  <a:pt x="0" y="115824"/>
                </a:lnTo>
                <a:lnTo>
                  <a:pt x="10285476" y="115824"/>
                </a:lnTo>
                <a:lnTo>
                  <a:pt x="10285476" y="0"/>
                </a:lnTo>
                <a:close/>
              </a:path>
            </a:pathLst>
          </a:custGeom>
          <a:solidFill>
            <a:srgbClr val="0A47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556492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6E8E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285476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5C9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9323" y="46990"/>
            <a:ext cx="11071225" cy="795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5C9DA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5665" y="1238250"/>
            <a:ext cx="5842000" cy="1628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7.jpg"/><Relationship Id="rId4" Type="http://schemas.openxmlformats.org/officeDocument/2006/relationships/image" Target="../media/image48.jp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60.png"/><Relationship Id="rId17" Type="http://schemas.openxmlformats.org/officeDocument/2006/relationships/image" Target="../media/image61.png"/><Relationship Id="rId18" Type="http://schemas.openxmlformats.org/officeDocument/2006/relationships/slide" Target="slide2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2.jp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slide" Target="slide24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jp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slide" Target="slide3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Relationship Id="rId13" Type="http://schemas.openxmlformats.org/officeDocument/2006/relationships/image" Target="../media/image88.png"/><Relationship Id="rId14" Type="http://schemas.openxmlformats.org/officeDocument/2006/relationships/image" Target="../media/image89.png"/><Relationship Id="rId15" Type="http://schemas.openxmlformats.org/officeDocument/2006/relationships/image" Target="../media/image90.png"/><Relationship Id="rId16" Type="http://schemas.openxmlformats.org/officeDocument/2006/relationships/image" Target="../media/image91.png"/><Relationship Id="rId17" Type="http://schemas.openxmlformats.org/officeDocument/2006/relationships/image" Target="../media/image92.png"/><Relationship Id="rId18" Type="http://schemas.openxmlformats.org/officeDocument/2006/relationships/image" Target="../media/image9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jpg"/><Relationship Id="rId5" Type="http://schemas.openxmlformats.org/officeDocument/2006/relationships/image" Target="../media/image97.jp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jp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Relationship Id="rId20" Type="http://schemas.openxmlformats.org/officeDocument/2006/relationships/image" Target="../media/image112.png"/><Relationship Id="rId21" Type="http://schemas.openxmlformats.org/officeDocument/2006/relationships/image" Target="../media/image113.jpg"/><Relationship Id="rId22" Type="http://schemas.openxmlformats.org/officeDocument/2006/relationships/image" Target="../media/image72.jpg"/><Relationship Id="rId23" Type="http://schemas.openxmlformats.org/officeDocument/2006/relationships/image" Target="../media/image114.png"/><Relationship Id="rId24" Type="http://schemas.openxmlformats.org/officeDocument/2006/relationships/image" Target="../media/image11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Relationship Id="rId9" Type="http://schemas.openxmlformats.org/officeDocument/2006/relationships/image" Target="../media/image123.png"/><Relationship Id="rId10" Type="http://schemas.openxmlformats.org/officeDocument/2006/relationships/image" Target="../media/image124.jpg"/><Relationship Id="rId11" Type="http://schemas.openxmlformats.org/officeDocument/2006/relationships/image" Target="../media/image125.png"/><Relationship Id="rId12" Type="http://schemas.openxmlformats.org/officeDocument/2006/relationships/image" Target="../media/image126.png"/><Relationship Id="rId13" Type="http://schemas.openxmlformats.org/officeDocument/2006/relationships/image" Target="../media/image12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slide" Target="slide27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8.png"/><Relationship Id="rId3" Type="http://schemas.openxmlformats.org/officeDocument/2006/relationships/image" Target="../media/image139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2.png"/><Relationship Id="rId3" Type="http://schemas.openxmlformats.org/officeDocument/2006/relationships/image" Target="../media/image71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31.xml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Relationship Id="rId10" Type="http://schemas.openxmlformats.org/officeDocument/2006/relationships/image" Target="../media/image152.png"/><Relationship Id="rId11" Type="http://schemas.openxmlformats.org/officeDocument/2006/relationships/image" Target="../media/image153.png"/><Relationship Id="rId12" Type="http://schemas.openxmlformats.org/officeDocument/2006/relationships/image" Target="../media/image154.png"/><Relationship Id="rId13" Type="http://schemas.openxmlformats.org/officeDocument/2006/relationships/image" Target="../media/image155.png"/><Relationship Id="rId14" Type="http://schemas.openxmlformats.org/officeDocument/2006/relationships/image" Target="../media/image156.png"/><Relationship Id="rId15" Type="http://schemas.openxmlformats.org/officeDocument/2006/relationships/image" Target="../media/image157.png"/><Relationship Id="rId16" Type="http://schemas.openxmlformats.org/officeDocument/2006/relationships/image" Target="../media/image158.png"/><Relationship Id="rId17" Type="http://schemas.openxmlformats.org/officeDocument/2006/relationships/image" Target="../media/image159.png"/><Relationship Id="rId18" Type="http://schemas.openxmlformats.org/officeDocument/2006/relationships/image" Target="../media/image16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1.png"/><Relationship Id="rId3" Type="http://schemas.openxmlformats.org/officeDocument/2006/relationships/image" Target="../media/image16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3.jpg"/><Relationship Id="rId3" Type="http://schemas.openxmlformats.org/officeDocument/2006/relationships/image" Target="../media/image164.jp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8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9.jpg"/><Relationship Id="rId3" Type="http://schemas.openxmlformats.org/officeDocument/2006/relationships/image" Target="../media/image170.png"/><Relationship Id="rId4" Type="http://schemas.openxmlformats.org/officeDocument/2006/relationships/image" Target="../media/image171.png"/><Relationship Id="rId5" Type="http://schemas.openxmlformats.org/officeDocument/2006/relationships/image" Target="../media/image108.png"/><Relationship Id="rId6" Type="http://schemas.openxmlformats.org/officeDocument/2006/relationships/image" Target="../media/image111.png"/><Relationship Id="rId7" Type="http://schemas.openxmlformats.org/officeDocument/2006/relationships/image" Target="../media/image110.png"/><Relationship Id="rId8" Type="http://schemas.openxmlformats.org/officeDocument/2006/relationships/image" Target="../media/image107.png"/><Relationship Id="rId9" Type="http://schemas.openxmlformats.org/officeDocument/2006/relationships/image" Target="../media/image172.png"/><Relationship Id="rId10" Type="http://schemas.openxmlformats.org/officeDocument/2006/relationships/image" Target="../media/image106.png"/><Relationship Id="rId11" Type="http://schemas.openxmlformats.org/officeDocument/2006/relationships/hyperlink" Target="https://finantier.co/products/account-aggregation/" TargetMode="Externa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3.jpg"/><Relationship Id="rId3" Type="http://schemas.openxmlformats.org/officeDocument/2006/relationships/image" Target="../media/image174.jpg"/><Relationship Id="rId4" Type="http://schemas.openxmlformats.org/officeDocument/2006/relationships/image" Target="../media/image175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6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7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8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9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Relationship Id="rId3" Type="http://schemas.openxmlformats.org/officeDocument/2006/relationships/image" Target="../media/image181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2.jpg"/><Relationship Id="rId3" Type="http://schemas.openxmlformats.org/officeDocument/2006/relationships/image" Target="../media/image183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4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5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ey.com/en_id/banking-capital-markets/riding-the-wave-of-indonesias-financial-services-growth" TargetMode="External"/><Relationship Id="rId3" Type="http://schemas.openxmlformats.org/officeDocument/2006/relationships/hyperlink" Target="https://www.povertyactionlab.org/blog/2-12-21/strengthening-indonesias-branchless-banking-agent-network-challenges-and-lessons" TargetMode="External"/><Relationship Id="rId4" Type="http://schemas.openxmlformats.org/officeDocument/2006/relationships/hyperlink" Target="https://docs.finantier.co/id/v1%23section/Identity-Verification" TargetMode="External"/><Relationship Id="rId5" Type="http://schemas.openxmlformats.org/officeDocument/2006/relationships/hyperlink" Target="https://www.adb.org/results/microfinance-indonesia-bringing-banks-community" TargetMode="External"/><Relationship Id="rId6" Type="http://schemas.openxmlformats.org/officeDocument/2006/relationships/hyperlink" Target="https://www.ojk.go.id/id/berita-dan-kegiatan/publikasi/Documents/Pages/Materi-OJK-PROKSI-2016/3.Microfinance%2011032016%20-%20Bp.%20Mulya%20E.%20Siregar.pdf" TargetMode="External"/><Relationship Id="rId7" Type="http://schemas.openxmlformats.org/officeDocument/2006/relationships/hyperlink" Target="https://www.jstor.org/stable/24310602" TargetMode="External"/><Relationship Id="rId8" Type="http://schemas.openxmlformats.org/officeDocument/2006/relationships/hyperlink" Target="https://developers.bri.co.id/en/news/role-briapi-helping-microfinance-institutions-indonesia-go-digital" TargetMode="External"/><Relationship Id="rId9" Type="http://schemas.openxmlformats.org/officeDocument/2006/relationships/hyperlink" Target="https://www.docsumo.com/blog/artificial-intelligence-lending" TargetMode="External"/><Relationship Id="rId10" Type="http://schemas.openxmlformats.org/officeDocument/2006/relationships/hyperlink" Target="http://C/Users/lenovo/Downloads/Blueprint-Sistem-Pembayaran-Indonesia-2025%20(1).pdf" TargetMode="External"/><Relationship Id="rId11" Type="http://schemas.openxmlformats.org/officeDocument/2006/relationships/hyperlink" Target="https://finbraine.com/enhancing-better-and-faster-credit-decisions-with-automation-and-ai/" TargetMode="External"/><Relationship Id="rId12" Type="http://schemas.openxmlformats.org/officeDocument/2006/relationships/hyperlink" Target="https://www.paisabazaar.com/credit-score/microfinance-credit-bureau-in-india/" TargetMode="External"/><Relationship Id="rId13" Type="http://schemas.openxmlformats.org/officeDocument/2006/relationships/hyperlink" Target="https://www.myfico.com/credit-education/whats-in-your-credit-" TargetMode="External"/><Relationship Id="rId14" Type="http://schemas.openxmlformats.org/officeDocument/2006/relationships/hyperlink" Target="https://www.sciencedirect.com/science/article/pii/S2405918822000095#fig7" TargetMode="External"/><Relationship Id="rId15" Type="http://schemas.openxmlformats.org/officeDocument/2006/relationships/hyperlink" Target="https://techcrunch.com/2022/09/04/skorlife-gives-control-of-credit-data-back-to-indonesian-consumers/" TargetMode="External"/><Relationship Id="rId16" Type="http://schemas.openxmlformats.org/officeDocument/2006/relationships/hyperlink" Target="https://www.ncbi.nlm.nih.gov/pmc/articles/PMC8082208/" TargetMode="Externa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9556115" cy="6870700"/>
            <a:chOff x="0" y="-6350"/>
            <a:chExt cx="9556115" cy="6870700"/>
          </a:xfrm>
        </p:grpSpPr>
        <p:pic>
          <p:nvPicPr>
            <p:cNvPr id="3" name="object 3" descr="Agriculture in Indonesia - Wikipedia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9457435" cy="6857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36607" y="0"/>
              <a:ext cx="113030" cy="6858000"/>
            </a:xfrm>
            <a:custGeom>
              <a:avLst/>
              <a:gdLst/>
              <a:ahLst/>
              <a:cxnLst/>
              <a:rect l="l" t="t" r="r" b="b"/>
              <a:pathLst>
                <a:path w="113029" h="6858000">
                  <a:moveTo>
                    <a:pt x="112775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12775" y="6857999"/>
                  </a:lnTo>
                  <a:lnTo>
                    <a:pt x="112775" y="0"/>
                  </a:lnTo>
                  <a:close/>
                </a:path>
              </a:pathLst>
            </a:custGeom>
            <a:solidFill>
              <a:srgbClr val="0C6A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436607" y="0"/>
              <a:ext cx="113030" cy="6858000"/>
            </a:xfrm>
            <a:custGeom>
              <a:avLst/>
              <a:gdLst/>
              <a:ahLst/>
              <a:cxnLst/>
              <a:rect l="l" t="t" r="r" b="b"/>
              <a:pathLst>
                <a:path w="113029" h="6858000">
                  <a:moveTo>
                    <a:pt x="0" y="0"/>
                  </a:moveTo>
                  <a:lnTo>
                    <a:pt x="0" y="6857999"/>
                  </a:lnTo>
                  <a:lnTo>
                    <a:pt x="112775" y="6857999"/>
                  </a:lnTo>
                  <a:lnTo>
                    <a:pt x="112775" y="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C6A6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847958" y="5261609"/>
            <a:ext cx="1089660" cy="135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L="12700" marR="5080" indent="556895">
              <a:lnSpc>
                <a:spcPct val="99300"/>
              </a:lnSpc>
              <a:spcBef>
                <a:spcPts val="110"/>
              </a:spcBef>
            </a:pPr>
            <a:r>
              <a:rPr dirty="0" sz="1600" spc="-40" b="1">
                <a:latin typeface="Calibri"/>
                <a:cs typeface="Calibri"/>
              </a:rPr>
              <a:t>Team: </a:t>
            </a:r>
            <a:r>
              <a:rPr dirty="0" sz="1600" b="1" i="1">
                <a:latin typeface="Calibri"/>
                <a:cs typeface="Calibri"/>
              </a:rPr>
              <a:t>The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Big</a:t>
            </a:r>
            <a:r>
              <a:rPr dirty="0" sz="1600" spc="-20" b="1" i="1">
                <a:latin typeface="Calibri"/>
                <a:cs typeface="Calibri"/>
              </a:rPr>
              <a:t> Four </a:t>
            </a:r>
            <a:r>
              <a:rPr dirty="0" sz="1400" spc="-10">
                <a:latin typeface="Calibri"/>
                <a:cs typeface="Calibri"/>
              </a:rPr>
              <a:t>Bhavika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Rajora </a:t>
            </a:r>
            <a:r>
              <a:rPr dirty="0" sz="1400">
                <a:latin typeface="Calibri"/>
                <a:cs typeface="Calibri"/>
              </a:rPr>
              <a:t>Falak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Kalra </a:t>
            </a:r>
            <a:r>
              <a:rPr dirty="0" sz="1400">
                <a:latin typeface="Calibri"/>
                <a:cs typeface="Calibri"/>
              </a:rPr>
              <a:t>Ishan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Anand Parth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Khanna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 descr="Global Microfinance Case Competition (GMCC) — Melbourne Microfinance  Initiativ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0571" y="318515"/>
            <a:ext cx="559307" cy="562355"/>
          </a:xfrm>
          <a:prstGeom prst="rect">
            <a:avLst/>
          </a:prstGeom>
        </p:spPr>
      </p:pic>
      <p:pic>
        <p:nvPicPr>
          <p:cNvPr id="8" name="object 8" descr="Melbourne Microfinance Initiativ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17707" y="376427"/>
            <a:ext cx="1306057" cy="43586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767061" y="1971294"/>
            <a:ext cx="2209800" cy="2355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3398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5D9E"/>
                </a:solidFill>
                <a:latin typeface="Calibri"/>
                <a:cs typeface="Calibri"/>
              </a:rPr>
              <a:t>Global</a:t>
            </a:r>
            <a:r>
              <a:rPr dirty="0" sz="1800" spc="-25" b="1">
                <a:solidFill>
                  <a:srgbClr val="0D5D9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5D9E"/>
                </a:solidFill>
                <a:latin typeface="Calibri"/>
                <a:cs typeface="Calibri"/>
              </a:rPr>
              <a:t>Microfinance </a:t>
            </a:r>
            <a:r>
              <a:rPr dirty="0" sz="1800" b="1">
                <a:solidFill>
                  <a:srgbClr val="0D5D9E"/>
                </a:solidFill>
                <a:latin typeface="Calibri"/>
                <a:cs typeface="Calibri"/>
              </a:rPr>
              <a:t>Case</a:t>
            </a:r>
            <a:r>
              <a:rPr dirty="0" sz="1800" spc="-25" b="1">
                <a:solidFill>
                  <a:srgbClr val="0D5D9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5D9E"/>
                </a:solidFill>
                <a:latin typeface="Calibri"/>
                <a:cs typeface="Calibri"/>
              </a:rPr>
              <a:t>Competition</a:t>
            </a:r>
            <a:r>
              <a:rPr dirty="0" sz="1800" spc="-50" b="1">
                <a:solidFill>
                  <a:srgbClr val="0D5D9E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7692B8"/>
                </a:solidFill>
                <a:latin typeface="Calibri"/>
                <a:cs typeface="Calibri"/>
              </a:rPr>
              <a:t>2023</a:t>
            </a:r>
            <a:endParaRPr sz="1800">
              <a:latin typeface="Calibri"/>
              <a:cs typeface="Calibri"/>
            </a:endParaRPr>
          </a:p>
          <a:p>
            <a:pPr marL="62230">
              <a:lnSpc>
                <a:spcPct val="100000"/>
              </a:lnSpc>
              <a:spcBef>
                <a:spcPts val="1005"/>
              </a:spcBef>
            </a:pPr>
            <a:r>
              <a:rPr dirty="0" sz="2800" spc="-20" b="1" i="1">
                <a:solidFill>
                  <a:srgbClr val="0D5D9E"/>
                </a:solidFill>
                <a:latin typeface="Calibri"/>
                <a:cs typeface="Calibri"/>
              </a:rPr>
              <a:t>UFH:</a:t>
            </a:r>
            <a:endParaRPr sz="2800">
              <a:latin typeface="Calibri"/>
              <a:cs typeface="Calibri"/>
            </a:endParaRPr>
          </a:p>
          <a:p>
            <a:pPr marL="62230" marR="227329">
              <a:lnSpc>
                <a:spcPct val="100000"/>
              </a:lnSpc>
              <a:spcBef>
                <a:spcPts val="60"/>
              </a:spcBef>
            </a:pPr>
            <a:r>
              <a:rPr dirty="0" sz="2000" spc="-25" b="1" i="1">
                <a:solidFill>
                  <a:srgbClr val="5C9DAE"/>
                </a:solidFill>
                <a:latin typeface="Calibri"/>
                <a:cs typeface="Calibri"/>
              </a:rPr>
              <a:t>Towards</a:t>
            </a:r>
            <a:r>
              <a:rPr dirty="0" sz="2000" spc="-60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2000" spc="-25" b="1" i="1">
                <a:solidFill>
                  <a:srgbClr val="5C9DAE"/>
                </a:solidFill>
                <a:latin typeface="Calibri"/>
                <a:cs typeface="Calibri"/>
              </a:rPr>
              <a:t>an </a:t>
            </a:r>
            <a:r>
              <a:rPr dirty="0" sz="2000" b="1" i="1">
                <a:solidFill>
                  <a:srgbClr val="5C9DAE"/>
                </a:solidFill>
                <a:latin typeface="Calibri"/>
                <a:cs typeface="Calibri"/>
              </a:rPr>
              <a:t>Inclusive</a:t>
            </a:r>
            <a:r>
              <a:rPr dirty="0" sz="2000" spc="-70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2000" spc="-25" b="1" i="1">
                <a:solidFill>
                  <a:srgbClr val="5C9DAE"/>
                </a:solidFill>
                <a:latin typeface="Calibri"/>
                <a:cs typeface="Calibri"/>
              </a:rPr>
              <a:t>and </a:t>
            </a:r>
            <a:r>
              <a:rPr dirty="0" sz="2000" spc="-10" b="1" i="1">
                <a:solidFill>
                  <a:srgbClr val="5C9DAE"/>
                </a:solidFill>
                <a:latin typeface="Calibri"/>
                <a:cs typeface="Calibri"/>
              </a:rPr>
              <a:t>Sustainable </a:t>
            </a:r>
            <a:r>
              <a:rPr dirty="0" sz="2000" b="1" i="1">
                <a:solidFill>
                  <a:srgbClr val="5C9DAE"/>
                </a:solidFill>
                <a:latin typeface="Calibri"/>
                <a:cs typeface="Calibri"/>
              </a:rPr>
              <a:t>Financial</a:t>
            </a:r>
            <a:r>
              <a:rPr dirty="0" sz="2000" spc="-60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2000" spc="-10" b="1" i="1">
                <a:solidFill>
                  <a:srgbClr val="5C9DAE"/>
                </a:solidFill>
                <a:latin typeface="Calibri"/>
                <a:cs typeface="Calibri"/>
              </a:rPr>
              <a:t>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36835" y="4358640"/>
            <a:ext cx="2214880" cy="0"/>
          </a:xfrm>
          <a:custGeom>
            <a:avLst/>
            <a:gdLst/>
            <a:ahLst/>
            <a:cxnLst/>
            <a:rect l="l" t="t" r="r" b="b"/>
            <a:pathLst>
              <a:path w="2214879" h="0">
                <a:moveTo>
                  <a:pt x="0" y="0"/>
                </a:moveTo>
                <a:lnTo>
                  <a:pt x="2214499" y="0"/>
                </a:lnTo>
              </a:path>
            </a:pathLst>
          </a:custGeom>
          <a:ln w="12700">
            <a:solidFill>
              <a:srgbClr val="0D5D9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736835" y="2688335"/>
            <a:ext cx="2214880" cy="0"/>
          </a:xfrm>
          <a:custGeom>
            <a:avLst/>
            <a:gdLst/>
            <a:ahLst/>
            <a:cxnLst/>
            <a:rect l="l" t="t" r="r" b="b"/>
            <a:pathLst>
              <a:path w="2214879" h="0">
                <a:moveTo>
                  <a:pt x="0" y="0"/>
                </a:moveTo>
                <a:lnTo>
                  <a:pt x="2214499" y="0"/>
                </a:lnTo>
              </a:path>
            </a:pathLst>
          </a:custGeom>
          <a:ln w="12700">
            <a:solidFill>
              <a:srgbClr val="0D5D9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713976" y="126492"/>
            <a:ext cx="1280160" cy="1018540"/>
          </a:xfrm>
          <a:custGeom>
            <a:avLst/>
            <a:gdLst/>
            <a:ahLst/>
            <a:cxnLst/>
            <a:rect l="l" t="t" r="r" b="b"/>
            <a:pathLst>
              <a:path w="1280159" h="1018540">
                <a:moveTo>
                  <a:pt x="0" y="0"/>
                </a:moveTo>
                <a:lnTo>
                  <a:pt x="1279778" y="0"/>
                </a:lnTo>
              </a:path>
              <a:path w="1280159" h="1018540">
                <a:moveTo>
                  <a:pt x="0" y="0"/>
                </a:moveTo>
                <a:lnTo>
                  <a:pt x="0" y="1018031"/>
                </a:lnTo>
              </a:path>
            </a:pathLst>
          </a:custGeom>
          <a:ln w="6350">
            <a:solidFill>
              <a:srgbClr val="0C6A6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741152" y="5679947"/>
            <a:ext cx="1280160" cy="1018540"/>
          </a:xfrm>
          <a:custGeom>
            <a:avLst/>
            <a:gdLst/>
            <a:ahLst/>
            <a:cxnLst/>
            <a:rect l="l" t="t" r="r" b="b"/>
            <a:pathLst>
              <a:path w="1280159" h="1018540">
                <a:moveTo>
                  <a:pt x="1279778" y="1018032"/>
                </a:moveTo>
                <a:lnTo>
                  <a:pt x="0" y="1018032"/>
                </a:lnTo>
              </a:path>
              <a:path w="1280159" h="1018540">
                <a:moveTo>
                  <a:pt x="1280159" y="1018032"/>
                </a:moveTo>
                <a:lnTo>
                  <a:pt x="1280159" y="0"/>
                </a:lnTo>
              </a:path>
            </a:pathLst>
          </a:custGeom>
          <a:ln w="6350">
            <a:solidFill>
              <a:srgbClr val="0C6A6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4k Indonesia Wallpapers - Wallpaper Cave"/>
          <p:cNvGrpSpPr/>
          <p:nvPr/>
        </p:nvGrpSpPr>
        <p:grpSpPr>
          <a:xfrm>
            <a:off x="-6350" y="-6350"/>
            <a:ext cx="12204700" cy="6870700"/>
            <a:chOff x="-6350" y="-6350"/>
            <a:chExt cx="12204700" cy="6870700"/>
          </a:xfrm>
        </p:grpSpPr>
        <p:pic>
          <p:nvPicPr>
            <p:cNvPr id="3" name="object 3" descr="4k Indonesia Wallpapers - Wallpaper Cav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>
                <a:alpha val="3607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295902" y="2408377"/>
            <a:ext cx="3602354" cy="191897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03325" marR="5080" indent="-1190625">
              <a:lnSpc>
                <a:spcPct val="100400"/>
              </a:lnSpc>
              <a:spcBef>
                <a:spcPts val="85"/>
              </a:spcBef>
            </a:pPr>
            <a:r>
              <a:rPr dirty="0" i="1">
                <a:solidFill>
                  <a:srgbClr val="FFFFFF"/>
                </a:solidFill>
                <a:latin typeface="Calibri"/>
                <a:cs typeface="Calibri"/>
              </a:rPr>
              <a:t>Analysing</a:t>
            </a:r>
            <a:r>
              <a:rPr dirty="0" spc="-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pc="-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pc="-10" i="1">
                <a:solidFill>
                  <a:srgbClr val="FFFFFF"/>
                </a:solidFill>
                <a:latin typeface="Calibri"/>
                <a:cs typeface="Calibri"/>
              </a:rPr>
              <a:t>landscape </a:t>
            </a:r>
            <a:r>
              <a:rPr dirty="0" sz="2400" spc="-10">
                <a:solidFill>
                  <a:srgbClr val="BEBEBE"/>
                </a:solidFill>
              </a:rPr>
              <a:t>Problems Solutions</a:t>
            </a:r>
            <a:endParaRPr sz="2400">
              <a:latin typeface="Calibri"/>
              <a:cs typeface="Calibri"/>
            </a:endParaRPr>
          </a:p>
          <a:p>
            <a:pPr marL="1196975" marR="26670" indent="-1163320">
              <a:lnSpc>
                <a:spcPct val="100000"/>
              </a:lnSpc>
            </a:pPr>
            <a:r>
              <a:rPr dirty="0" sz="2400" spc="-10">
                <a:solidFill>
                  <a:srgbClr val="BEBEBE"/>
                </a:solidFill>
              </a:rPr>
              <a:t>Implementation</a:t>
            </a:r>
            <a:r>
              <a:rPr dirty="0" sz="2400" spc="-40">
                <a:solidFill>
                  <a:srgbClr val="BEBEBE"/>
                </a:solidFill>
              </a:rPr>
              <a:t> </a:t>
            </a:r>
            <a:r>
              <a:rPr dirty="0" sz="2400">
                <a:solidFill>
                  <a:srgbClr val="BEBEBE"/>
                </a:solidFill>
              </a:rPr>
              <a:t>and</a:t>
            </a:r>
            <a:r>
              <a:rPr dirty="0" sz="2400" spc="-55">
                <a:solidFill>
                  <a:srgbClr val="BEBEBE"/>
                </a:solidFill>
              </a:rPr>
              <a:t> </a:t>
            </a:r>
            <a:r>
              <a:rPr dirty="0" sz="2400" spc="-10">
                <a:solidFill>
                  <a:srgbClr val="BEBEBE"/>
                </a:solidFill>
              </a:rPr>
              <a:t>Impact Appendix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8860" y="6516623"/>
            <a:ext cx="9676765" cy="0"/>
          </a:xfrm>
          <a:custGeom>
            <a:avLst/>
            <a:gdLst/>
            <a:ahLst/>
            <a:cxnLst/>
            <a:rect l="l" t="t" r="r" b="b"/>
            <a:pathLst>
              <a:path w="9676765" h="0">
                <a:moveTo>
                  <a:pt x="0" y="0"/>
                </a:moveTo>
                <a:lnTo>
                  <a:pt x="9676257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2023" y="856488"/>
            <a:ext cx="11045825" cy="0"/>
          </a:xfrm>
          <a:custGeom>
            <a:avLst/>
            <a:gdLst/>
            <a:ahLst/>
            <a:cxnLst/>
            <a:rect l="l" t="t" r="r" b="b"/>
            <a:pathLst>
              <a:path w="11045825" h="0">
                <a:moveTo>
                  <a:pt x="0" y="0"/>
                </a:moveTo>
                <a:lnTo>
                  <a:pt x="11045825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825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SOCIOECONOMIC</a:t>
            </a:r>
            <a:r>
              <a:rPr dirty="0" spc="-35"/>
              <a:t> </a:t>
            </a:r>
            <a:r>
              <a:rPr dirty="0" spc="-10"/>
              <a:t>ANALYSIS</a:t>
            </a:r>
          </a:p>
          <a:p>
            <a:pPr marL="57785">
              <a:lnSpc>
                <a:spcPct val="100000"/>
              </a:lnSpc>
              <a:spcBef>
                <a:spcPts val="60"/>
              </a:spcBef>
            </a:pP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Assessing</a:t>
            </a:r>
            <a:r>
              <a:rPr dirty="0" sz="2000" spc="-6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spc="-10" b="0">
                <a:solidFill>
                  <a:srgbClr val="7E7E7E"/>
                </a:solidFill>
                <a:latin typeface="Calibri"/>
                <a:cs typeface="Calibri"/>
              </a:rPr>
              <a:t>Indonesia’s</a:t>
            </a:r>
            <a:r>
              <a:rPr dirty="0" sz="2000" spc="-7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Macroeconomic</a:t>
            </a:r>
            <a:r>
              <a:rPr dirty="0" sz="20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Challenges</a:t>
            </a:r>
            <a:r>
              <a:rPr dirty="0" sz="2000" spc="-7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spc="-80" b="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dirty="0" sz="2000" spc="-3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bridge</a:t>
            </a:r>
            <a:r>
              <a:rPr dirty="0" sz="2000" spc="-7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gaps</a:t>
            </a:r>
            <a:r>
              <a:rPr dirty="0" sz="2000" spc="-7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through</a:t>
            </a:r>
            <a:r>
              <a:rPr dirty="0" sz="2000" spc="-7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proposed</a:t>
            </a:r>
            <a:r>
              <a:rPr dirty="0" sz="2000" spc="-7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spc="-10" b="0">
                <a:solidFill>
                  <a:srgbClr val="7E7E7E"/>
                </a:solidFill>
                <a:latin typeface="Calibri"/>
                <a:cs typeface="Calibri"/>
              </a:rPr>
              <a:t>strategy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4444" y="1171955"/>
            <a:ext cx="2787650" cy="28384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14605" rIns="0" bIns="0" rtlCol="0" vert="horz">
            <a:spAutoFit/>
          </a:bodyPr>
          <a:lstStyle/>
          <a:p>
            <a:pPr marL="422275">
              <a:lnSpc>
                <a:spcPct val="100000"/>
              </a:lnSpc>
              <a:spcBef>
                <a:spcPts val="11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Macroeconomic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Indicators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14444" y="1731264"/>
            <a:ext cx="2787650" cy="1181100"/>
          </a:xfrm>
          <a:custGeom>
            <a:avLst/>
            <a:gdLst/>
            <a:ahLst/>
            <a:cxnLst/>
            <a:rect l="l" t="t" r="r" b="b"/>
            <a:pathLst>
              <a:path w="2787650" h="1181100">
                <a:moveTo>
                  <a:pt x="2787396" y="0"/>
                </a:moveTo>
                <a:lnTo>
                  <a:pt x="0" y="0"/>
                </a:lnTo>
                <a:lnTo>
                  <a:pt x="0" y="1181100"/>
                </a:lnTo>
                <a:lnTo>
                  <a:pt x="2787396" y="1181100"/>
                </a:lnTo>
                <a:lnTo>
                  <a:pt x="2787396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4314444" y="3418332"/>
            <a:ext cx="2787650" cy="1181100"/>
            <a:chOff x="4314444" y="3418332"/>
            <a:chExt cx="2787650" cy="1181100"/>
          </a:xfrm>
        </p:grpSpPr>
        <p:sp>
          <p:nvSpPr>
            <p:cNvPr id="9" name="object 9"/>
            <p:cNvSpPr/>
            <p:nvPr/>
          </p:nvSpPr>
          <p:spPr>
            <a:xfrm>
              <a:off x="4314444" y="3418332"/>
              <a:ext cx="2787650" cy="1181100"/>
            </a:xfrm>
            <a:custGeom>
              <a:avLst/>
              <a:gdLst/>
              <a:ahLst/>
              <a:cxnLst/>
              <a:rect l="l" t="t" r="r" b="b"/>
              <a:pathLst>
                <a:path w="2787650" h="1181100">
                  <a:moveTo>
                    <a:pt x="2787396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2787396" y="1181100"/>
                  </a:lnTo>
                  <a:lnTo>
                    <a:pt x="2787396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386072" y="3683508"/>
              <a:ext cx="657225" cy="631190"/>
            </a:xfrm>
            <a:custGeom>
              <a:avLst/>
              <a:gdLst/>
              <a:ahLst/>
              <a:cxnLst/>
              <a:rect l="l" t="t" r="r" b="b"/>
              <a:pathLst>
                <a:path w="657225" h="631189">
                  <a:moveTo>
                    <a:pt x="328422" y="0"/>
                  </a:moveTo>
                  <a:lnTo>
                    <a:pt x="279896" y="3420"/>
                  </a:lnTo>
                  <a:lnTo>
                    <a:pt x="233579" y="13355"/>
                  </a:lnTo>
                  <a:lnTo>
                    <a:pt x="189979" y="29317"/>
                  </a:lnTo>
                  <a:lnTo>
                    <a:pt x="149604" y="50819"/>
                  </a:lnTo>
                  <a:lnTo>
                    <a:pt x="112963" y="77373"/>
                  </a:lnTo>
                  <a:lnTo>
                    <a:pt x="80565" y="108491"/>
                  </a:lnTo>
                  <a:lnTo>
                    <a:pt x="52917" y="143685"/>
                  </a:lnTo>
                  <a:lnTo>
                    <a:pt x="30528" y="182467"/>
                  </a:lnTo>
                  <a:lnTo>
                    <a:pt x="13907" y="224350"/>
                  </a:lnTo>
                  <a:lnTo>
                    <a:pt x="3561" y="268846"/>
                  </a:lnTo>
                  <a:lnTo>
                    <a:pt x="0" y="315468"/>
                  </a:lnTo>
                  <a:lnTo>
                    <a:pt x="3561" y="362089"/>
                  </a:lnTo>
                  <a:lnTo>
                    <a:pt x="13907" y="406585"/>
                  </a:lnTo>
                  <a:lnTo>
                    <a:pt x="30528" y="448468"/>
                  </a:lnTo>
                  <a:lnTo>
                    <a:pt x="52917" y="487250"/>
                  </a:lnTo>
                  <a:lnTo>
                    <a:pt x="80565" y="522444"/>
                  </a:lnTo>
                  <a:lnTo>
                    <a:pt x="112963" y="553562"/>
                  </a:lnTo>
                  <a:lnTo>
                    <a:pt x="149604" y="580116"/>
                  </a:lnTo>
                  <a:lnTo>
                    <a:pt x="189979" y="601618"/>
                  </a:lnTo>
                  <a:lnTo>
                    <a:pt x="233579" y="617580"/>
                  </a:lnTo>
                  <a:lnTo>
                    <a:pt x="279896" y="627515"/>
                  </a:lnTo>
                  <a:lnTo>
                    <a:pt x="328422" y="630936"/>
                  </a:lnTo>
                  <a:lnTo>
                    <a:pt x="376947" y="627515"/>
                  </a:lnTo>
                  <a:lnTo>
                    <a:pt x="423264" y="617580"/>
                  </a:lnTo>
                  <a:lnTo>
                    <a:pt x="466864" y="601618"/>
                  </a:lnTo>
                  <a:lnTo>
                    <a:pt x="507239" y="580116"/>
                  </a:lnTo>
                  <a:lnTo>
                    <a:pt x="543880" y="553562"/>
                  </a:lnTo>
                  <a:lnTo>
                    <a:pt x="576278" y="522444"/>
                  </a:lnTo>
                  <a:lnTo>
                    <a:pt x="603926" y="487250"/>
                  </a:lnTo>
                  <a:lnTo>
                    <a:pt x="626315" y="448468"/>
                  </a:lnTo>
                  <a:lnTo>
                    <a:pt x="642936" y="406585"/>
                  </a:lnTo>
                  <a:lnTo>
                    <a:pt x="653282" y="362089"/>
                  </a:lnTo>
                  <a:lnTo>
                    <a:pt x="656843" y="315468"/>
                  </a:lnTo>
                  <a:lnTo>
                    <a:pt x="653282" y="268846"/>
                  </a:lnTo>
                  <a:lnTo>
                    <a:pt x="642936" y="224350"/>
                  </a:lnTo>
                  <a:lnTo>
                    <a:pt x="626315" y="182467"/>
                  </a:lnTo>
                  <a:lnTo>
                    <a:pt x="603926" y="143685"/>
                  </a:lnTo>
                  <a:lnTo>
                    <a:pt x="576278" y="108491"/>
                  </a:lnTo>
                  <a:lnTo>
                    <a:pt x="543880" y="77373"/>
                  </a:lnTo>
                  <a:lnTo>
                    <a:pt x="507239" y="50819"/>
                  </a:lnTo>
                  <a:lnTo>
                    <a:pt x="466864" y="29317"/>
                  </a:lnTo>
                  <a:lnTo>
                    <a:pt x="423264" y="13355"/>
                  </a:lnTo>
                  <a:lnTo>
                    <a:pt x="376947" y="3420"/>
                  </a:lnTo>
                  <a:lnTo>
                    <a:pt x="328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4323588" y="5096255"/>
            <a:ext cx="2787650" cy="1179830"/>
            <a:chOff x="4323588" y="5096255"/>
            <a:chExt cx="2787650" cy="1179830"/>
          </a:xfrm>
        </p:grpSpPr>
        <p:sp>
          <p:nvSpPr>
            <p:cNvPr id="12" name="object 12"/>
            <p:cNvSpPr/>
            <p:nvPr/>
          </p:nvSpPr>
          <p:spPr>
            <a:xfrm>
              <a:off x="4323588" y="5096255"/>
              <a:ext cx="2787650" cy="1179830"/>
            </a:xfrm>
            <a:custGeom>
              <a:avLst/>
              <a:gdLst/>
              <a:ahLst/>
              <a:cxnLst/>
              <a:rect l="l" t="t" r="r" b="b"/>
              <a:pathLst>
                <a:path w="2787650" h="1179829">
                  <a:moveTo>
                    <a:pt x="2787395" y="0"/>
                  </a:moveTo>
                  <a:lnTo>
                    <a:pt x="0" y="0"/>
                  </a:lnTo>
                  <a:lnTo>
                    <a:pt x="0" y="1179576"/>
                  </a:lnTo>
                  <a:lnTo>
                    <a:pt x="2787395" y="1179576"/>
                  </a:lnTo>
                  <a:lnTo>
                    <a:pt x="2787395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386072" y="5366003"/>
              <a:ext cx="657225" cy="631190"/>
            </a:xfrm>
            <a:custGeom>
              <a:avLst/>
              <a:gdLst/>
              <a:ahLst/>
              <a:cxnLst/>
              <a:rect l="l" t="t" r="r" b="b"/>
              <a:pathLst>
                <a:path w="657225" h="631189">
                  <a:moveTo>
                    <a:pt x="328422" y="0"/>
                  </a:moveTo>
                  <a:lnTo>
                    <a:pt x="279896" y="3420"/>
                  </a:lnTo>
                  <a:lnTo>
                    <a:pt x="233579" y="13355"/>
                  </a:lnTo>
                  <a:lnTo>
                    <a:pt x="189979" y="29317"/>
                  </a:lnTo>
                  <a:lnTo>
                    <a:pt x="149604" y="50819"/>
                  </a:lnTo>
                  <a:lnTo>
                    <a:pt x="112963" y="77373"/>
                  </a:lnTo>
                  <a:lnTo>
                    <a:pt x="80565" y="108491"/>
                  </a:lnTo>
                  <a:lnTo>
                    <a:pt x="52917" y="143685"/>
                  </a:lnTo>
                  <a:lnTo>
                    <a:pt x="30528" y="182467"/>
                  </a:lnTo>
                  <a:lnTo>
                    <a:pt x="13907" y="224350"/>
                  </a:lnTo>
                  <a:lnTo>
                    <a:pt x="3561" y="268846"/>
                  </a:lnTo>
                  <a:lnTo>
                    <a:pt x="0" y="315468"/>
                  </a:lnTo>
                  <a:lnTo>
                    <a:pt x="3561" y="362086"/>
                  </a:lnTo>
                  <a:lnTo>
                    <a:pt x="13907" y="406580"/>
                  </a:lnTo>
                  <a:lnTo>
                    <a:pt x="30528" y="448462"/>
                  </a:lnTo>
                  <a:lnTo>
                    <a:pt x="52917" y="487245"/>
                  </a:lnTo>
                  <a:lnTo>
                    <a:pt x="80565" y="522439"/>
                  </a:lnTo>
                  <a:lnTo>
                    <a:pt x="112963" y="553558"/>
                  </a:lnTo>
                  <a:lnTo>
                    <a:pt x="149604" y="580112"/>
                  </a:lnTo>
                  <a:lnTo>
                    <a:pt x="189979" y="601616"/>
                  </a:lnTo>
                  <a:lnTo>
                    <a:pt x="233579" y="617579"/>
                  </a:lnTo>
                  <a:lnTo>
                    <a:pt x="279896" y="627515"/>
                  </a:lnTo>
                  <a:lnTo>
                    <a:pt x="328422" y="630936"/>
                  </a:lnTo>
                  <a:lnTo>
                    <a:pt x="376947" y="627515"/>
                  </a:lnTo>
                  <a:lnTo>
                    <a:pt x="423264" y="617579"/>
                  </a:lnTo>
                  <a:lnTo>
                    <a:pt x="466864" y="601616"/>
                  </a:lnTo>
                  <a:lnTo>
                    <a:pt x="507239" y="580112"/>
                  </a:lnTo>
                  <a:lnTo>
                    <a:pt x="543880" y="553558"/>
                  </a:lnTo>
                  <a:lnTo>
                    <a:pt x="576278" y="522439"/>
                  </a:lnTo>
                  <a:lnTo>
                    <a:pt x="603926" y="487245"/>
                  </a:lnTo>
                  <a:lnTo>
                    <a:pt x="626315" y="448462"/>
                  </a:lnTo>
                  <a:lnTo>
                    <a:pt x="642936" y="406580"/>
                  </a:lnTo>
                  <a:lnTo>
                    <a:pt x="653282" y="362086"/>
                  </a:lnTo>
                  <a:lnTo>
                    <a:pt x="656843" y="315468"/>
                  </a:lnTo>
                  <a:lnTo>
                    <a:pt x="653282" y="268846"/>
                  </a:lnTo>
                  <a:lnTo>
                    <a:pt x="642936" y="224350"/>
                  </a:lnTo>
                  <a:lnTo>
                    <a:pt x="626315" y="182467"/>
                  </a:lnTo>
                  <a:lnTo>
                    <a:pt x="603926" y="143685"/>
                  </a:lnTo>
                  <a:lnTo>
                    <a:pt x="576278" y="108491"/>
                  </a:lnTo>
                  <a:lnTo>
                    <a:pt x="543880" y="77373"/>
                  </a:lnTo>
                  <a:lnTo>
                    <a:pt x="507239" y="50819"/>
                  </a:lnTo>
                  <a:lnTo>
                    <a:pt x="466864" y="29317"/>
                  </a:lnTo>
                  <a:lnTo>
                    <a:pt x="423264" y="13355"/>
                  </a:lnTo>
                  <a:lnTo>
                    <a:pt x="376947" y="3420"/>
                  </a:lnTo>
                  <a:lnTo>
                    <a:pt x="328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8065007" y="4774691"/>
            <a:ext cx="3397250" cy="1533525"/>
          </a:xfrm>
          <a:custGeom>
            <a:avLst/>
            <a:gdLst/>
            <a:ahLst/>
            <a:cxnLst/>
            <a:rect l="l" t="t" r="r" b="b"/>
            <a:pathLst>
              <a:path w="3397250" h="1533525">
                <a:moveTo>
                  <a:pt x="3396996" y="0"/>
                </a:moveTo>
                <a:lnTo>
                  <a:pt x="0" y="0"/>
                </a:lnTo>
                <a:lnTo>
                  <a:pt x="0" y="1533143"/>
                </a:lnTo>
                <a:lnTo>
                  <a:pt x="3396996" y="1533143"/>
                </a:lnTo>
                <a:lnTo>
                  <a:pt x="3396996" y="0"/>
                </a:lnTo>
                <a:close/>
              </a:path>
            </a:pathLst>
          </a:custGeom>
          <a:solidFill>
            <a:srgbClr val="6E8EB5">
              <a:alpha val="2196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173339" y="4952746"/>
            <a:ext cx="3198495" cy="1306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400" b="1" i="1">
                <a:latin typeface="Calibri"/>
                <a:cs typeface="Calibri"/>
              </a:rPr>
              <a:t>Economic</a:t>
            </a:r>
            <a:r>
              <a:rPr dirty="0" sz="1400" spc="-55" b="1" i="1">
                <a:latin typeface="Calibri"/>
                <a:cs typeface="Calibri"/>
              </a:rPr>
              <a:t> </a:t>
            </a:r>
            <a:r>
              <a:rPr dirty="0" sz="1400" b="1" i="1">
                <a:latin typeface="Calibri"/>
                <a:cs typeface="Calibri"/>
              </a:rPr>
              <a:t>insecurity</a:t>
            </a:r>
            <a:r>
              <a:rPr dirty="0" sz="1400" spc="-60" b="1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coupled</a:t>
            </a:r>
            <a:r>
              <a:rPr dirty="0" sz="1400" spc="-4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with</a:t>
            </a:r>
            <a:r>
              <a:rPr dirty="0" sz="1400" spc="-35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after-</a:t>
            </a:r>
            <a:r>
              <a:rPr dirty="0" sz="1400" i="1">
                <a:latin typeface="Calibri"/>
                <a:cs typeface="Calibri"/>
              </a:rPr>
              <a:t>effects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of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spc="-10" b="1" i="1">
                <a:latin typeface="Calibri"/>
                <a:cs typeface="Calibri"/>
              </a:rPr>
              <a:t>Covid-</a:t>
            </a:r>
            <a:r>
              <a:rPr dirty="0" sz="1400" b="1" i="1">
                <a:latin typeface="Calibri"/>
                <a:cs typeface="Calibri"/>
              </a:rPr>
              <a:t>19</a:t>
            </a:r>
            <a:r>
              <a:rPr dirty="0" sz="1400" spc="-35" b="1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has</a:t>
            </a:r>
            <a:r>
              <a:rPr dirty="0" sz="1400" spc="-5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degenerated </a:t>
            </a:r>
            <a:r>
              <a:rPr dirty="0" sz="1400" b="1" i="1">
                <a:latin typeface="Calibri"/>
                <a:cs typeface="Calibri"/>
              </a:rPr>
              <a:t>financial</a:t>
            </a:r>
            <a:r>
              <a:rPr dirty="0" sz="1400" spc="-55" b="1" i="1">
                <a:latin typeface="Calibri"/>
                <a:cs typeface="Calibri"/>
              </a:rPr>
              <a:t> </a:t>
            </a:r>
            <a:r>
              <a:rPr dirty="0" sz="1400" b="1" i="1">
                <a:latin typeface="Calibri"/>
                <a:cs typeface="Calibri"/>
              </a:rPr>
              <a:t>inclusion</a:t>
            </a:r>
            <a:r>
              <a:rPr dirty="0" sz="1400" spc="-45" b="1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in</a:t>
            </a:r>
            <a:r>
              <a:rPr dirty="0" sz="1400" spc="-3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Indonesia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and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the</a:t>
            </a:r>
            <a:r>
              <a:rPr dirty="0" sz="1400" spc="-40" i="1">
                <a:latin typeface="Calibri"/>
                <a:cs typeface="Calibri"/>
              </a:rPr>
              <a:t> </a:t>
            </a:r>
            <a:r>
              <a:rPr dirty="0" sz="1400" spc="-20" i="1">
                <a:latin typeface="Calibri"/>
                <a:cs typeface="Calibri"/>
              </a:rPr>
              <a:t>only </a:t>
            </a:r>
            <a:r>
              <a:rPr dirty="0" sz="1400" i="1">
                <a:latin typeface="Calibri"/>
                <a:cs typeface="Calibri"/>
              </a:rPr>
              <a:t>way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out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is</a:t>
            </a:r>
            <a:r>
              <a:rPr dirty="0" sz="1400" spc="-1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a</a:t>
            </a:r>
            <a:r>
              <a:rPr dirty="0" sz="1400" spc="-15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decentralised</a:t>
            </a:r>
            <a:endParaRPr sz="1400">
              <a:latin typeface="Calibri"/>
              <a:cs typeface="Calibri"/>
            </a:endParaRPr>
          </a:p>
          <a:p>
            <a:pPr algn="ctr" marL="407034" marR="399415">
              <a:lnSpc>
                <a:spcPct val="100000"/>
              </a:lnSpc>
              <a:spcBef>
                <a:spcPts val="5"/>
              </a:spcBef>
            </a:pPr>
            <a:r>
              <a:rPr dirty="0" sz="1400" spc="-10" b="1" i="1">
                <a:solidFill>
                  <a:srgbClr val="0A4779"/>
                </a:solidFill>
                <a:latin typeface="Calibri"/>
                <a:cs typeface="Calibri"/>
              </a:rPr>
              <a:t>Sustainable</a:t>
            </a:r>
            <a:r>
              <a:rPr dirty="0" sz="1400" spc="-45" b="1" i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0A4779"/>
                </a:solidFill>
                <a:latin typeface="Calibri"/>
                <a:cs typeface="Calibri"/>
              </a:rPr>
              <a:t>Credit</a:t>
            </a:r>
            <a:r>
              <a:rPr dirty="0" sz="1400" spc="-35" b="1" i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0A4779"/>
                </a:solidFill>
                <a:latin typeface="Calibri"/>
                <a:cs typeface="Calibri"/>
              </a:rPr>
              <a:t>Inclusion</a:t>
            </a:r>
            <a:r>
              <a:rPr dirty="0" sz="1400" spc="-20" b="1" i="1">
                <a:solidFill>
                  <a:srgbClr val="0A4779"/>
                </a:solidFill>
                <a:latin typeface="Calibri"/>
                <a:cs typeface="Calibri"/>
              </a:rPr>
              <a:t> Grid </a:t>
            </a:r>
            <a:r>
              <a:rPr dirty="0" sz="1400" spc="-10" b="1" i="1">
                <a:solidFill>
                  <a:srgbClr val="0A4779"/>
                </a:solidFill>
                <a:latin typeface="Calibri"/>
                <a:cs typeface="Calibri"/>
              </a:rPr>
              <a:t>(CREDILINK)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717535" y="4401058"/>
            <a:ext cx="2135505" cy="1424940"/>
            <a:chOff x="7717535" y="4401058"/>
            <a:chExt cx="2135505" cy="142494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7535" y="4596384"/>
              <a:ext cx="947166" cy="122910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5520" y="4921377"/>
              <a:ext cx="154304" cy="1475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584435" y="4407408"/>
              <a:ext cx="262255" cy="201295"/>
            </a:xfrm>
            <a:custGeom>
              <a:avLst/>
              <a:gdLst/>
              <a:ahLst/>
              <a:cxnLst/>
              <a:rect l="l" t="t" r="r" b="b"/>
              <a:pathLst>
                <a:path w="262254" h="201295">
                  <a:moveTo>
                    <a:pt x="262128" y="0"/>
                  </a:moveTo>
                  <a:lnTo>
                    <a:pt x="131064" y="100584"/>
                  </a:lnTo>
                  <a:lnTo>
                    <a:pt x="0" y="0"/>
                  </a:lnTo>
                  <a:lnTo>
                    <a:pt x="0" y="100584"/>
                  </a:lnTo>
                  <a:lnTo>
                    <a:pt x="131064" y="201168"/>
                  </a:lnTo>
                  <a:lnTo>
                    <a:pt x="262128" y="100584"/>
                  </a:lnTo>
                  <a:lnTo>
                    <a:pt x="262128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584435" y="4407408"/>
              <a:ext cx="262255" cy="201295"/>
            </a:xfrm>
            <a:custGeom>
              <a:avLst/>
              <a:gdLst/>
              <a:ahLst/>
              <a:cxnLst/>
              <a:rect l="l" t="t" r="r" b="b"/>
              <a:pathLst>
                <a:path w="262254" h="201295">
                  <a:moveTo>
                    <a:pt x="262128" y="0"/>
                  </a:moveTo>
                  <a:lnTo>
                    <a:pt x="262128" y="100584"/>
                  </a:lnTo>
                  <a:lnTo>
                    <a:pt x="131064" y="201168"/>
                  </a:lnTo>
                  <a:lnTo>
                    <a:pt x="0" y="100584"/>
                  </a:lnTo>
                  <a:lnTo>
                    <a:pt x="0" y="0"/>
                  </a:lnTo>
                  <a:lnTo>
                    <a:pt x="131064" y="100584"/>
                  </a:lnTo>
                  <a:lnTo>
                    <a:pt x="262128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 descr="Map Indonesia West Papua Stock Vector (Royalty Free) 506060107 |  Shutterstock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0517" y="1531261"/>
            <a:ext cx="3626982" cy="1453437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314444" y="3418332"/>
            <a:ext cx="2787650" cy="1181100"/>
          </a:xfrm>
          <a:prstGeom prst="rect">
            <a:avLst/>
          </a:prstGeom>
          <a:ln w="12700">
            <a:solidFill>
              <a:srgbClr val="DDDDDD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algn="ctr" marL="788035" marR="92075">
              <a:lnSpc>
                <a:spcPct val="100000"/>
              </a:lnSpc>
              <a:spcBef>
                <a:spcPts val="320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COVID-</a:t>
            </a:r>
            <a:r>
              <a:rPr dirty="0" sz="1400">
                <a:latin typeface="Calibri"/>
                <a:cs typeface="Calibri"/>
              </a:rPr>
              <a:t>19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recession </a:t>
            </a:r>
            <a:r>
              <a:rPr dirty="0" sz="1400">
                <a:latin typeface="Calibri"/>
                <a:cs typeface="Calibri"/>
              </a:rPr>
              <a:t>further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reduced</a:t>
            </a:r>
            <a:r>
              <a:rPr dirty="0" sz="1400" spc="-7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credit </a:t>
            </a:r>
            <a:r>
              <a:rPr dirty="0" sz="1400" b="1">
                <a:latin typeface="Calibri"/>
                <a:cs typeface="Calibri"/>
              </a:rPr>
              <a:t>growth</a:t>
            </a:r>
            <a:r>
              <a:rPr dirty="0" sz="1400">
                <a:latin typeface="Calibri"/>
                <a:cs typeface="Calibri"/>
              </a:rPr>
              <a:t>,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due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increase</a:t>
            </a:r>
            <a:r>
              <a:rPr dirty="0" sz="1400" spc="-25">
                <a:latin typeface="Calibri"/>
                <a:cs typeface="Calibri"/>
              </a:rPr>
              <a:t> in </a:t>
            </a: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associated</a:t>
            </a:r>
            <a:endParaRPr sz="1400">
              <a:latin typeface="Calibri"/>
              <a:cs typeface="Calibri"/>
            </a:endParaRPr>
          </a:p>
          <a:p>
            <a:pPr algn="ctr" marL="685800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borrowers’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risk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profile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28788" y="3886200"/>
            <a:ext cx="4162425" cy="30797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4290" rIns="0" bIns="0" rtlCol="0" vert="horz">
            <a:spAutoFit/>
          </a:bodyPr>
          <a:lstStyle/>
          <a:p>
            <a:pPr marL="449580">
              <a:lnSpc>
                <a:spcPct val="100000"/>
              </a:lnSpc>
              <a:spcBef>
                <a:spcPts val="270"/>
              </a:spcBef>
            </a:pPr>
            <a:r>
              <a:rPr dirty="0" sz="1400" spc="-10" b="1" i="1">
                <a:solidFill>
                  <a:srgbClr val="5C9DAE"/>
                </a:solidFill>
                <a:latin typeface="Calibri"/>
                <a:cs typeface="Calibri"/>
              </a:rPr>
              <a:t>Weakened</a:t>
            </a:r>
            <a:r>
              <a:rPr dirty="0" sz="1400" spc="-40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5C9DAE"/>
                </a:solidFill>
                <a:latin typeface="Calibri"/>
                <a:cs typeface="Calibri"/>
              </a:rPr>
              <a:t>Credit</a:t>
            </a:r>
            <a:r>
              <a:rPr dirty="0" sz="1400" spc="-40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5C9DAE"/>
                </a:solidFill>
                <a:latin typeface="Calibri"/>
                <a:cs typeface="Calibri"/>
              </a:rPr>
              <a:t>Growth</a:t>
            </a:r>
            <a:r>
              <a:rPr dirty="0" sz="1400" spc="-75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5C9DAE"/>
                </a:solidFill>
                <a:latin typeface="Calibri"/>
                <a:cs typeface="Calibri"/>
              </a:rPr>
              <a:t>to</a:t>
            </a:r>
            <a:r>
              <a:rPr dirty="0" sz="1400" spc="-35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5C9DAE"/>
                </a:solidFill>
                <a:latin typeface="Calibri"/>
                <a:cs typeface="Calibri"/>
              </a:rPr>
              <a:t>the</a:t>
            </a:r>
            <a:r>
              <a:rPr dirty="0" sz="1400" spc="-45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5C9DAE"/>
                </a:solidFill>
                <a:latin typeface="Calibri"/>
                <a:cs typeface="Calibri"/>
              </a:rPr>
              <a:t>Real</a:t>
            </a:r>
            <a:r>
              <a:rPr dirty="0" sz="1400" spc="-25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10" b="1" i="1">
                <a:solidFill>
                  <a:srgbClr val="5C9DAE"/>
                </a:solidFill>
                <a:latin typeface="Calibri"/>
                <a:cs typeface="Calibri"/>
              </a:rPr>
              <a:t>Sectors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4317" y="6336284"/>
            <a:ext cx="16986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OCED</a:t>
            </a:r>
            <a:r>
              <a:rPr dirty="0" sz="800" spc="-4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library,</a:t>
            </a:r>
            <a:r>
              <a:rPr dirty="0" sz="800" spc="1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ABF,</a:t>
            </a:r>
            <a:r>
              <a:rPr dirty="0" sz="800" spc="-2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OJK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Surveys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116823" y="4276344"/>
            <a:ext cx="3524250" cy="76200"/>
          </a:xfrm>
          <a:custGeom>
            <a:avLst/>
            <a:gdLst/>
            <a:ahLst/>
            <a:cxnLst/>
            <a:rect l="l" t="t" r="r" b="b"/>
            <a:pathLst>
              <a:path w="3524250" h="76200">
                <a:moveTo>
                  <a:pt x="38100" y="0"/>
                </a:moveTo>
                <a:lnTo>
                  <a:pt x="0" y="38099"/>
                </a:lnTo>
                <a:lnTo>
                  <a:pt x="38100" y="76199"/>
                </a:lnTo>
                <a:lnTo>
                  <a:pt x="69850" y="44449"/>
                </a:lnTo>
                <a:lnTo>
                  <a:pt x="38100" y="44449"/>
                </a:lnTo>
                <a:lnTo>
                  <a:pt x="38100" y="31749"/>
                </a:lnTo>
                <a:lnTo>
                  <a:pt x="69850" y="31749"/>
                </a:lnTo>
                <a:lnTo>
                  <a:pt x="38100" y="0"/>
                </a:lnTo>
                <a:close/>
              </a:path>
              <a:path w="3524250" h="76200">
                <a:moveTo>
                  <a:pt x="3486150" y="0"/>
                </a:moveTo>
                <a:lnTo>
                  <a:pt x="3448050" y="38099"/>
                </a:lnTo>
                <a:lnTo>
                  <a:pt x="3486150" y="76199"/>
                </a:lnTo>
                <a:lnTo>
                  <a:pt x="3517900" y="44449"/>
                </a:lnTo>
                <a:lnTo>
                  <a:pt x="3486150" y="44449"/>
                </a:lnTo>
                <a:lnTo>
                  <a:pt x="3486150" y="31749"/>
                </a:lnTo>
                <a:lnTo>
                  <a:pt x="3517900" y="31749"/>
                </a:lnTo>
                <a:lnTo>
                  <a:pt x="3486150" y="0"/>
                </a:lnTo>
                <a:close/>
              </a:path>
              <a:path w="3524250" h="76200">
                <a:moveTo>
                  <a:pt x="69850" y="31749"/>
                </a:moveTo>
                <a:lnTo>
                  <a:pt x="38100" y="31749"/>
                </a:lnTo>
                <a:lnTo>
                  <a:pt x="38100" y="44449"/>
                </a:lnTo>
                <a:lnTo>
                  <a:pt x="69850" y="44449"/>
                </a:lnTo>
                <a:lnTo>
                  <a:pt x="76200" y="38099"/>
                </a:lnTo>
                <a:lnTo>
                  <a:pt x="69850" y="31749"/>
                </a:lnTo>
                <a:close/>
              </a:path>
              <a:path w="3524250" h="76200">
                <a:moveTo>
                  <a:pt x="3454400" y="31749"/>
                </a:moveTo>
                <a:lnTo>
                  <a:pt x="69850" y="31749"/>
                </a:lnTo>
                <a:lnTo>
                  <a:pt x="76200" y="38099"/>
                </a:lnTo>
                <a:lnTo>
                  <a:pt x="69850" y="44449"/>
                </a:lnTo>
                <a:lnTo>
                  <a:pt x="3454400" y="44449"/>
                </a:lnTo>
                <a:lnTo>
                  <a:pt x="3448050" y="38099"/>
                </a:lnTo>
                <a:lnTo>
                  <a:pt x="3454400" y="31749"/>
                </a:lnTo>
                <a:close/>
              </a:path>
              <a:path w="3524250" h="76200">
                <a:moveTo>
                  <a:pt x="3517900" y="31749"/>
                </a:moveTo>
                <a:lnTo>
                  <a:pt x="3486150" y="31749"/>
                </a:lnTo>
                <a:lnTo>
                  <a:pt x="3486150" y="44449"/>
                </a:lnTo>
                <a:lnTo>
                  <a:pt x="3517900" y="44449"/>
                </a:lnTo>
                <a:lnTo>
                  <a:pt x="3524250" y="38099"/>
                </a:lnTo>
                <a:lnTo>
                  <a:pt x="3517900" y="3174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5843" y="5454396"/>
            <a:ext cx="1539240" cy="731520"/>
          </a:xfrm>
          <a:custGeom>
            <a:avLst/>
            <a:gdLst/>
            <a:ahLst/>
            <a:cxnLst/>
            <a:rect l="l" t="t" r="r" b="b"/>
            <a:pathLst>
              <a:path w="1539239" h="731520">
                <a:moveTo>
                  <a:pt x="1417320" y="0"/>
                </a:moveTo>
                <a:lnTo>
                  <a:pt x="121920" y="0"/>
                </a:lnTo>
                <a:lnTo>
                  <a:pt x="74462" y="9584"/>
                </a:lnTo>
                <a:lnTo>
                  <a:pt x="35709" y="35718"/>
                </a:lnTo>
                <a:lnTo>
                  <a:pt x="9580" y="74473"/>
                </a:lnTo>
                <a:lnTo>
                  <a:pt x="0" y="121919"/>
                </a:lnTo>
                <a:lnTo>
                  <a:pt x="0" y="609599"/>
                </a:lnTo>
                <a:lnTo>
                  <a:pt x="9580" y="657057"/>
                </a:lnTo>
                <a:lnTo>
                  <a:pt x="35709" y="695810"/>
                </a:lnTo>
                <a:lnTo>
                  <a:pt x="74462" y="721939"/>
                </a:lnTo>
                <a:lnTo>
                  <a:pt x="121920" y="731519"/>
                </a:lnTo>
                <a:lnTo>
                  <a:pt x="1417320" y="731519"/>
                </a:lnTo>
                <a:lnTo>
                  <a:pt x="1464766" y="721939"/>
                </a:lnTo>
                <a:lnTo>
                  <a:pt x="1503521" y="695810"/>
                </a:lnTo>
                <a:lnTo>
                  <a:pt x="1529655" y="657057"/>
                </a:lnTo>
                <a:lnTo>
                  <a:pt x="1539239" y="609599"/>
                </a:lnTo>
                <a:lnTo>
                  <a:pt x="1539239" y="121919"/>
                </a:lnTo>
                <a:lnTo>
                  <a:pt x="1529655" y="74473"/>
                </a:lnTo>
                <a:lnTo>
                  <a:pt x="1503521" y="35718"/>
                </a:lnTo>
                <a:lnTo>
                  <a:pt x="1464766" y="9584"/>
                </a:lnTo>
                <a:lnTo>
                  <a:pt x="14173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72211" y="5461812"/>
            <a:ext cx="1207770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4845">
              <a:lnSpc>
                <a:spcPts val="2735"/>
              </a:lnSpc>
              <a:spcBef>
                <a:spcPts val="100"/>
              </a:spcBef>
            </a:pPr>
            <a:r>
              <a:rPr dirty="0" sz="2400" spc="-25" b="1">
                <a:solidFill>
                  <a:srgbClr val="0C6A6C"/>
                </a:solidFill>
                <a:latin typeface="Calibri"/>
                <a:cs typeface="Calibri"/>
              </a:rPr>
              <a:t>75%</a:t>
            </a:r>
            <a:endParaRPr sz="2400">
              <a:latin typeface="Calibri"/>
              <a:cs typeface="Calibri"/>
            </a:endParaRPr>
          </a:p>
          <a:p>
            <a:pPr algn="r" marR="50165">
              <a:lnSpc>
                <a:spcPts val="1295"/>
              </a:lnSpc>
            </a:pPr>
            <a:r>
              <a:rPr dirty="0" sz="1200" spc="-10">
                <a:latin typeface="Calibri"/>
                <a:cs typeface="Calibri"/>
              </a:rPr>
              <a:t>Financial</a:t>
            </a:r>
            <a:endParaRPr sz="1200">
              <a:latin typeface="Calibri"/>
              <a:cs typeface="Calibri"/>
            </a:endParaRPr>
          </a:p>
          <a:p>
            <a:pPr algn="r" marR="52069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inclusion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achieved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75332" y="5454396"/>
            <a:ext cx="1539240" cy="731520"/>
          </a:xfrm>
          <a:custGeom>
            <a:avLst/>
            <a:gdLst/>
            <a:ahLst/>
            <a:cxnLst/>
            <a:rect l="l" t="t" r="r" b="b"/>
            <a:pathLst>
              <a:path w="1539239" h="731520">
                <a:moveTo>
                  <a:pt x="1417320" y="0"/>
                </a:moveTo>
                <a:lnTo>
                  <a:pt x="121919" y="0"/>
                </a:lnTo>
                <a:lnTo>
                  <a:pt x="74473" y="9584"/>
                </a:lnTo>
                <a:lnTo>
                  <a:pt x="35718" y="35718"/>
                </a:lnTo>
                <a:lnTo>
                  <a:pt x="9584" y="74473"/>
                </a:lnTo>
                <a:lnTo>
                  <a:pt x="0" y="121919"/>
                </a:lnTo>
                <a:lnTo>
                  <a:pt x="0" y="609599"/>
                </a:lnTo>
                <a:lnTo>
                  <a:pt x="9584" y="657057"/>
                </a:lnTo>
                <a:lnTo>
                  <a:pt x="35718" y="695810"/>
                </a:lnTo>
                <a:lnTo>
                  <a:pt x="74473" y="721939"/>
                </a:lnTo>
                <a:lnTo>
                  <a:pt x="121919" y="731519"/>
                </a:lnTo>
                <a:lnTo>
                  <a:pt x="1417320" y="731519"/>
                </a:lnTo>
                <a:lnTo>
                  <a:pt x="1464766" y="721939"/>
                </a:lnTo>
                <a:lnTo>
                  <a:pt x="1503521" y="695810"/>
                </a:lnTo>
                <a:lnTo>
                  <a:pt x="1529655" y="657057"/>
                </a:lnTo>
                <a:lnTo>
                  <a:pt x="1539240" y="609599"/>
                </a:lnTo>
                <a:lnTo>
                  <a:pt x="1539240" y="121919"/>
                </a:lnTo>
                <a:lnTo>
                  <a:pt x="1529655" y="74473"/>
                </a:lnTo>
                <a:lnTo>
                  <a:pt x="1503521" y="35718"/>
                </a:lnTo>
                <a:lnTo>
                  <a:pt x="1464766" y="9584"/>
                </a:lnTo>
                <a:lnTo>
                  <a:pt x="14173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302255" y="5452973"/>
            <a:ext cx="1477010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4719">
              <a:lnSpc>
                <a:spcPts val="2735"/>
              </a:lnSpc>
              <a:spcBef>
                <a:spcPts val="100"/>
              </a:spcBef>
            </a:pPr>
            <a:r>
              <a:rPr dirty="0" sz="2400" spc="-25" b="1">
                <a:solidFill>
                  <a:srgbClr val="0C6A6C"/>
                </a:solidFill>
                <a:latin typeface="Calibri"/>
                <a:cs typeface="Calibri"/>
              </a:rPr>
              <a:t>38%</a:t>
            </a:r>
            <a:endParaRPr sz="2400">
              <a:latin typeface="Calibri"/>
              <a:cs typeface="Calibri"/>
            </a:endParaRPr>
          </a:p>
          <a:p>
            <a:pPr algn="r" marR="48895">
              <a:lnSpc>
                <a:spcPts val="1295"/>
              </a:lnSpc>
            </a:pPr>
            <a:r>
              <a:rPr dirty="0" sz="1200" spc="-10">
                <a:latin typeface="Calibri"/>
                <a:cs typeface="Calibri"/>
              </a:rPr>
              <a:t>Indonesians</a:t>
            </a:r>
            <a:endParaRPr sz="1200">
              <a:latin typeface="Calibri"/>
              <a:cs typeface="Calibri"/>
            </a:endParaRPr>
          </a:p>
          <a:p>
            <a:pPr algn="r" marR="4953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financially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illiterate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022597" y="1146810"/>
            <a:ext cx="76200" cy="5201920"/>
          </a:xfrm>
          <a:custGeom>
            <a:avLst/>
            <a:gdLst/>
            <a:ahLst/>
            <a:cxnLst/>
            <a:rect l="l" t="t" r="r" b="b"/>
            <a:pathLst>
              <a:path w="76200" h="5201920">
                <a:moveTo>
                  <a:pt x="28575" y="74282"/>
                </a:moveTo>
                <a:lnTo>
                  <a:pt x="28575" y="114300"/>
                </a:lnTo>
                <a:lnTo>
                  <a:pt x="47625" y="114300"/>
                </a:lnTo>
                <a:lnTo>
                  <a:pt x="47625" y="76200"/>
                </a:lnTo>
                <a:lnTo>
                  <a:pt x="38100" y="76200"/>
                </a:lnTo>
                <a:lnTo>
                  <a:pt x="28575" y="74282"/>
                </a:lnTo>
                <a:close/>
              </a:path>
              <a:path w="76200" h="5201920">
                <a:moveTo>
                  <a:pt x="47625" y="38100"/>
                </a:moveTo>
                <a:lnTo>
                  <a:pt x="28575" y="38100"/>
                </a:lnTo>
                <a:lnTo>
                  <a:pt x="28575" y="74282"/>
                </a:lnTo>
                <a:lnTo>
                  <a:pt x="38100" y="76200"/>
                </a:lnTo>
                <a:lnTo>
                  <a:pt x="47625" y="74282"/>
                </a:lnTo>
                <a:lnTo>
                  <a:pt x="47625" y="38100"/>
                </a:lnTo>
                <a:close/>
              </a:path>
              <a:path w="76200" h="5201920">
                <a:moveTo>
                  <a:pt x="47625" y="74282"/>
                </a:moveTo>
                <a:lnTo>
                  <a:pt x="38100" y="76200"/>
                </a:lnTo>
                <a:lnTo>
                  <a:pt x="47625" y="76200"/>
                </a:lnTo>
                <a:lnTo>
                  <a:pt x="47625" y="74282"/>
                </a:lnTo>
                <a:close/>
              </a:path>
              <a:path w="76200" h="520192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28575" y="74282"/>
                </a:lnTo>
                <a:lnTo>
                  <a:pt x="28575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76200" h="5201920">
                <a:moveTo>
                  <a:pt x="76200" y="38100"/>
                </a:moveTo>
                <a:lnTo>
                  <a:pt x="47625" y="38100"/>
                </a:lnTo>
                <a:lnTo>
                  <a:pt x="47625" y="74282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  <a:path w="76200" h="5201920">
                <a:moveTo>
                  <a:pt x="47625" y="171450"/>
                </a:moveTo>
                <a:lnTo>
                  <a:pt x="28575" y="171450"/>
                </a:lnTo>
                <a:lnTo>
                  <a:pt x="28575" y="247650"/>
                </a:lnTo>
                <a:lnTo>
                  <a:pt x="47625" y="247650"/>
                </a:lnTo>
                <a:lnTo>
                  <a:pt x="47625" y="171450"/>
                </a:lnTo>
                <a:close/>
              </a:path>
              <a:path w="76200" h="5201920">
                <a:moveTo>
                  <a:pt x="47625" y="304800"/>
                </a:moveTo>
                <a:lnTo>
                  <a:pt x="28575" y="304800"/>
                </a:lnTo>
                <a:lnTo>
                  <a:pt x="28575" y="381000"/>
                </a:lnTo>
                <a:lnTo>
                  <a:pt x="47625" y="381000"/>
                </a:lnTo>
                <a:lnTo>
                  <a:pt x="47625" y="304800"/>
                </a:lnTo>
                <a:close/>
              </a:path>
              <a:path w="76200" h="5201920">
                <a:moveTo>
                  <a:pt x="47625" y="438150"/>
                </a:moveTo>
                <a:lnTo>
                  <a:pt x="28575" y="438150"/>
                </a:lnTo>
                <a:lnTo>
                  <a:pt x="28575" y="514350"/>
                </a:lnTo>
                <a:lnTo>
                  <a:pt x="47625" y="514350"/>
                </a:lnTo>
                <a:lnTo>
                  <a:pt x="47625" y="438150"/>
                </a:lnTo>
                <a:close/>
              </a:path>
              <a:path w="76200" h="5201920">
                <a:moveTo>
                  <a:pt x="47625" y="571500"/>
                </a:moveTo>
                <a:lnTo>
                  <a:pt x="28575" y="571500"/>
                </a:lnTo>
                <a:lnTo>
                  <a:pt x="28575" y="647700"/>
                </a:lnTo>
                <a:lnTo>
                  <a:pt x="47625" y="647700"/>
                </a:lnTo>
                <a:lnTo>
                  <a:pt x="47625" y="571500"/>
                </a:lnTo>
                <a:close/>
              </a:path>
              <a:path w="76200" h="5201920">
                <a:moveTo>
                  <a:pt x="47625" y="704850"/>
                </a:moveTo>
                <a:lnTo>
                  <a:pt x="28575" y="704850"/>
                </a:lnTo>
                <a:lnTo>
                  <a:pt x="28575" y="781050"/>
                </a:lnTo>
                <a:lnTo>
                  <a:pt x="47625" y="781050"/>
                </a:lnTo>
                <a:lnTo>
                  <a:pt x="47625" y="704850"/>
                </a:lnTo>
                <a:close/>
              </a:path>
              <a:path w="76200" h="5201920">
                <a:moveTo>
                  <a:pt x="47625" y="838200"/>
                </a:moveTo>
                <a:lnTo>
                  <a:pt x="28575" y="838200"/>
                </a:lnTo>
                <a:lnTo>
                  <a:pt x="28575" y="914400"/>
                </a:lnTo>
                <a:lnTo>
                  <a:pt x="47625" y="914400"/>
                </a:lnTo>
                <a:lnTo>
                  <a:pt x="47625" y="838200"/>
                </a:lnTo>
                <a:close/>
              </a:path>
              <a:path w="76200" h="5201920">
                <a:moveTo>
                  <a:pt x="47625" y="971550"/>
                </a:moveTo>
                <a:lnTo>
                  <a:pt x="28575" y="971550"/>
                </a:lnTo>
                <a:lnTo>
                  <a:pt x="28575" y="1047750"/>
                </a:lnTo>
                <a:lnTo>
                  <a:pt x="47625" y="1047750"/>
                </a:lnTo>
                <a:lnTo>
                  <a:pt x="47625" y="971550"/>
                </a:lnTo>
                <a:close/>
              </a:path>
              <a:path w="76200" h="5201920">
                <a:moveTo>
                  <a:pt x="47625" y="1104900"/>
                </a:moveTo>
                <a:lnTo>
                  <a:pt x="28575" y="1104900"/>
                </a:lnTo>
                <a:lnTo>
                  <a:pt x="28575" y="1181100"/>
                </a:lnTo>
                <a:lnTo>
                  <a:pt x="47625" y="1181100"/>
                </a:lnTo>
                <a:lnTo>
                  <a:pt x="47625" y="1104900"/>
                </a:lnTo>
                <a:close/>
              </a:path>
              <a:path w="76200" h="5201920">
                <a:moveTo>
                  <a:pt x="47625" y="1238250"/>
                </a:moveTo>
                <a:lnTo>
                  <a:pt x="28575" y="1238250"/>
                </a:lnTo>
                <a:lnTo>
                  <a:pt x="28575" y="1314450"/>
                </a:lnTo>
                <a:lnTo>
                  <a:pt x="47625" y="1314450"/>
                </a:lnTo>
                <a:lnTo>
                  <a:pt x="47625" y="1238250"/>
                </a:lnTo>
                <a:close/>
              </a:path>
              <a:path w="76200" h="5201920">
                <a:moveTo>
                  <a:pt x="47625" y="1371600"/>
                </a:moveTo>
                <a:lnTo>
                  <a:pt x="28575" y="1371600"/>
                </a:lnTo>
                <a:lnTo>
                  <a:pt x="28575" y="1447800"/>
                </a:lnTo>
                <a:lnTo>
                  <a:pt x="47625" y="1447800"/>
                </a:lnTo>
                <a:lnTo>
                  <a:pt x="47625" y="1371600"/>
                </a:lnTo>
                <a:close/>
              </a:path>
              <a:path w="76200" h="5201920">
                <a:moveTo>
                  <a:pt x="47625" y="1504950"/>
                </a:moveTo>
                <a:lnTo>
                  <a:pt x="28575" y="1504950"/>
                </a:lnTo>
                <a:lnTo>
                  <a:pt x="28575" y="1581150"/>
                </a:lnTo>
                <a:lnTo>
                  <a:pt x="47625" y="1581150"/>
                </a:lnTo>
                <a:lnTo>
                  <a:pt x="47625" y="1504950"/>
                </a:lnTo>
                <a:close/>
              </a:path>
              <a:path w="76200" h="5201920">
                <a:moveTo>
                  <a:pt x="47625" y="1638300"/>
                </a:moveTo>
                <a:lnTo>
                  <a:pt x="28575" y="1638300"/>
                </a:lnTo>
                <a:lnTo>
                  <a:pt x="28575" y="1714500"/>
                </a:lnTo>
                <a:lnTo>
                  <a:pt x="47625" y="1714500"/>
                </a:lnTo>
                <a:lnTo>
                  <a:pt x="47625" y="1638300"/>
                </a:lnTo>
                <a:close/>
              </a:path>
              <a:path w="76200" h="5201920">
                <a:moveTo>
                  <a:pt x="47625" y="1771650"/>
                </a:moveTo>
                <a:lnTo>
                  <a:pt x="28575" y="1771650"/>
                </a:lnTo>
                <a:lnTo>
                  <a:pt x="28575" y="1847850"/>
                </a:lnTo>
                <a:lnTo>
                  <a:pt x="47625" y="1847850"/>
                </a:lnTo>
                <a:lnTo>
                  <a:pt x="47625" y="1771650"/>
                </a:lnTo>
                <a:close/>
              </a:path>
              <a:path w="76200" h="5201920">
                <a:moveTo>
                  <a:pt x="47625" y="1905000"/>
                </a:moveTo>
                <a:lnTo>
                  <a:pt x="28575" y="1905000"/>
                </a:lnTo>
                <a:lnTo>
                  <a:pt x="28575" y="1981200"/>
                </a:lnTo>
                <a:lnTo>
                  <a:pt x="47625" y="1981200"/>
                </a:lnTo>
                <a:lnTo>
                  <a:pt x="47625" y="1905000"/>
                </a:lnTo>
                <a:close/>
              </a:path>
              <a:path w="76200" h="5201920">
                <a:moveTo>
                  <a:pt x="47625" y="2038350"/>
                </a:moveTo>
                <a:lnTo>
                  <a:pt x="28575" y="2038350"/>
                </a:lnTo>
                <a:lnTo>
                  <a:pt x="28575" y="2114550"/>
                </a:lnTo>
                <a:lnTo>
                  <a:pt x="47625" y="2114550"/>
                </a:lnTo>
                <a:lnTo>
                  <a:pt x="47625" y="2038350"/>
                </a:lnTo>
                <a:close/>
              </a:path>
              <a:path w="76200" h="5201920">
                <a:moveTo>
                  <a:pt x="47625" y="2171700"/>
                </a:moveTo>
                <a:lnTo>
                  <a:pt x="28575" y="2171700"/>
                </a:lnTo>
                <a:lnTo>
                  <a:pt x="28575" y="2247900"/>
                </a:lnTo>
                <a:lnTo>
                  <a:pt x="47625" y="2247900"/>
                </a:lnTo>
                <a:lnTo>
                  <a:pt x="47625" y="2171700"/>
                </a:lnTo>
                <a:close/>
              </a:path>
              <a:path w="76200" h="5201920">
                <a:moveTo>
                  <a:pt x="47625" y="2305050"/>
                </a:moveTo>
                <a:lnTo>
                  <a:pt x="28575" y="2305050"/>
                </a:lnTo>
                <a:lnTo>
                  <a:pt x="28575" y="2381250"/>
                </a:lnTo>
                <a:lnTo>
                  <a:pt x="47625" y="2381250"/>
                </a:lnTo>
                <a:lnTo>
                  <a:pt x="47625" y="2305050"/>
                </a:lnTo>
                <a:close/>
              </a:path>
              <a:path w="76200" h="5201920">
                <a:moveTo>
                  <a:pt x="47625" y="2438400"/>
                </a:moveTo>
                <a:lnTo>
                  <a:pt x="28575" y="2438400"/>
                </a:lnTo>
                <a:lnTo>
                  <a:pt x="28575" y="2514600"/>
                </a:lnTo>
                <a:lnTo>
                  <a:pt x="47625" y="2514600"/>
                </a:lnTo>
                <a:lnTo>
                  <a:pt x="47625" y="2438400"/>
                </a:lnTo>
                <a:close/>
              </a:path>
              <a:path w="76200" h="5201920">
                <a:moveTo>
                  <a:pt x="47625" y="2571750"/>
                </a:moveTo>
                <a:lnTo>
                  <a:pt x="28575" y="2571750"/>
                </a:lnTo>
                <a:lnTo>
                  <a:pt x="28575" y="2647950"/>
                </a:lnTo>
                <a:lnTo>
                  <a:pt x="47625" y="2647950"/>
                </a:lnTo>
                <a:lnTo>
                  <a:pt x="47625" y="2571750"/>
                </a:lnTo>
                <a:close/>
              </a:path>
              <a:path w="76200" h="5201920">
                <a:moveTo>
                  <a:pt x="47625" y="2705100"/>
                </a:moveTo>
                <a:lnTo>
                  <a:pt x="28575" y="2705100"/>
                </a:lnTo>
                <a:lnTo>
                  <a:pt x="28575" y="2781300"/>
                </a:lnTo>
                <a:lnTo>
                  <a:pt x="47625" y="2781300"/>
                </a:lnTo>
                <a:lnTo>
                  <a:pt x="47625" y="2705100"/>
                </a:lnTo>
                <a:close/>
              </a:path>
              <a:path w="76200" h="5201920">
                <a:moveTo>
                  <a:pt x="47625" y="2838450"/>
                </a:moveTo>
                <a:lnTo>
                  <a:pt x="28575" y="2838450"/>
                </a:lnTo>
                <a:lnTo>
                  <a:pt x="28575" y="2914650"/>
                </a:lnTo>
                <a:lnTo>
                  <a:pt x="47625" y="2914650"/>
                </a:lnTo>
                <a:lnTo>
                  <a:pt x="47625" y="2838450"/>
                </a:lnTo>
                <a:close/>
              </a:path>
              <a:path w="76200" h="5201920">
                <a:moveTo>
                  <a:pt x="47625" y="2971800"/>
                </a:moveTo>
                <a:lnTo>
                  <a:pt x="28575" y="2971800"/>
                </a:lnTo>
                <a:lnTo>
                  <a:pt x="28575" y="3048000"/>
                </a:lnTo>
                <a:lnTo>
                  <a:pt x="47625" y="3048000"/>
                </a:lnTo>
                <a:lnTo>
                  <a:pt x="47625" y="2971800"/>
                </a:lnTo>
                <a:close/>
              </a:path>
              <a:path w="76200" h="5201920">
                <a:moveTo>
                  <a:pt x="47625" y="3105150"/>
                </a:moveTo>
                <a:lnTo>
                  <a:pt x="28575" y="3105150"/>
                </a:lnTo>
                <a:lnTo>
                  <a:pt x="28575" y="3181350"/>
                </a:lnTo>
                <a:lnTo>
                  <a:pt x="47625" y="3181350"/>
                </a:lnTo>
                <a:lnTo>
                  <a:pt x="47625" y="3105150"/>
                </a:lnTo>
                <a:close/>
              </a:path>
              <a:path w="76200" h="5201920">
                <a:moveTo>
                  <a:pt x="47625" y="3238500"/>
                </a:moveTo>
                <a:lnTo>
                  <a:pt x="28575" y="3238500"/>
                </a:lnTo>
                <a:lnTo>
                  <a:pt x="28575" y="3314700"/>
                </a:lnTo>
                <a:lnTo>
                  <a:pt x="47625" y="3314700"/>
                </a:lnTo>
                <a:lnTo>
                  <a:pt x="47625" y="3238500"/>
                </a:lnTo>
                <a:close/>
              </a:path>
              <a:path w="76200" h="5201920">
                <a:moveTo>
                  <a:pt x="47625" y="3371850"/>
                </a:moveTo>
                <a:lnTo>
                  <a:pt x="28575" y="3371850"/>
                </a:lnTo>
                <a:lnTo>
                  <a:pt x="28575" y="3448050"/>
                </a:lnTo>
                <a:lnTo>
                  <a:pt x="47625" y="3448050"/>
                </a:lnTo>
                <a:lnTo>
                  <a:pt x="47625" y="3371850"/>
                </a:lnTo>
                <a:close/>
              </a:path>
              <a:path w="76200" h="5201920">
                <a:moveTo>
                  <a:pt x="47625" y="3505200"/>
                </a:moveTo>
                <a:lnTo>
                  <a:pt x="28575" y="3505200"/>
                </a:lnTo>
                <a:lnTo>
                  <a:pt x="28575" y="3581400"/>
                </a:lnTo>
                <a:lnTo>
                  <a:pt x="47625" y="3581400"/>
                </a:lnTo>
                <a:lnTo>
                  <a:pt x="47625" y="3505200"/>
                </a:lnTo>
                <a:close/>
              </a:path>
              <a:path w="76200" h="5201920">
                <a:moveTo>
                  <a:pt x="47625" y="3638550"/>
                </a:moveTo>
                <a:lnTo>
                  <a:pt x="28575" y="3638550"/>
                </a:lnTo>
                <a:lnTo>
                  <a:pt x="28575" y="3714750"/>
                </a:lnTo>
                <a:lnTo>
                  <a:pt x="47625" y="3714750"/>
                </a:lnTo>
                <a:lnTo>
                  <a:pt x="47625" y="3638550"/>
                </a:lnTo>
                <a:close/>
              </a:path>
              <a:path w="76200" h="5201920">
                <a:moveTo>
                  <a:pt x="47625" y="3771900"/>
                </a:moveTo>
                <a:lnTo>
                  <a:pt x="28575" y="3771900"/>
                </a:lnTo>
                <a:lnTo>
                  <a:pt x="28575" y="3848100"/>
                </a:lnTo>
                <a:lnTo>
                  <a:pt x="47625" y="3848100"/>
                </a:lnTo>
                <a:lnTo>
                  <a:pt x="47625" y="3771900"/>
                </a:lnTo>
                <a:close/>
              </a:path>
              <a:path w="76200" h="5201920">
                <a:moveTo>
                  <a:pt x="47625" y="3905250"/>
                </a:moveTo>
                <a:lnTo>
                  <a:pt x="28575" y="3905250"/>
                </a:lnTo>
                <a:lnTo>
                  <a:pt x="28575" y="3981450"/>
                </a:lnTo>
                <a:lnTo>
                  <a:pt x="47625" y="3981450"/>
                </a:lnTo>
                <a:lnTo>
                  <a:pt x="47625" y="3905250"/>
                </a:lnTo>
                <a:close/>
              </a:path>
              <a:path w="76200" h="5201920">
                <a:moveTo>
                  <a:pt x="47625" y="4038600"/>
                </a:moveTo>
                <a:lnTo>
                  <a:pt x="28575" y="4038600"/>
                </a:lnTo>
                <a:lnTo>
                  <a:pt x="28575" y="4114800"/>
                </a:lnTo>
                <a:lnTo>
                  <a:pt x="47625" y="4114800"/>
                </a:lnTo>
                <a:lnTo>
                  <a:pt x="47625" y="4038600"/>
                </a:lnTo>
                <a:close/>
              </a:path>
              <a:path w="76200" h="5201920">
                <a:moveTo>
                  <a:pt x="47625" y="4171950"/>
                </a:moveTo>
                <a:lnTo>
                  <a:pt x="28575" y="4171950"/>
                </a:lnTo>
                <a:lnTo>
                  <a:pt x="28575" y="4248150"/>
                </a:lnTo>
                <a:lnTo>
                  <a:pt x="47625" y="4248150"/>
                </a:lnTo>
                <a:lnTo>
                  <a:pt x="47625" y="4171950"/>
                </a:lnTo>
                <a:close/>
              </a:path>
              <a:path w="76200" h="5201920">
                <a:moveTo>
                  <a:pt x="47625" y="4305300"/>
                </a:moveTo>
                <a:lnTo>
                  <a:pt x="28575" y="4305300"/>
                </a:lnTo>
                <a:lnTo>
                  <a:pt x="28575" y="4381500"/>
                </a:lnTo>
                <a:lnTo>
                  <a:pt x="47625" y="4381500"/>
                </a:lnTo>
                <a:lnTo>
                  <a:pt x="47625" y="4305300"/>
                </a:lnTo>
                <a:close/>
              </a:path>
              <a:path w="76200" h="5201920">
                <a:moveTo>
                  <a:pt x="47625" y="4438650"/>
                </a:moveTo>
                <a:lnTo>
                  <a:pt x="28575" y="4438650"/>
                </a:lnTo>
                <a:lnTo>
                  <a:pt x="28575" y="4514850"/>
                </a:lnTo>
                <a:lnTo>
                  <a:pt x="47625" y="4514850"/>
                </a:lnTo>
                <a:lnTo>
                  <a:pt x="47625" y="4438650"/>
                </a:lnTo>
                <a:close/>
              </a:path>
              <a:path w="76200" h="5201920">
                <a:moveTo>
                  <a:pt x="47625" y="4572000"/>
                </a:moveTo>
                <a:lnTo>
                  <a:pt x="28575" y="4572000"/>
                </a:lnTo>
                <a:lnTo>
                  <a:pt x="28575" y="4648200"/>
                </a:lnTo>
                <a:lnTo>
                  <a:pt x="47625" y="4648200"/>
                </a:lnTo>
                <a:lnTo>
                  <a:pt x="47625" y="4572000"/>
                </a:lnTo>
                <a:close/>
              </a:path>
              <a:path w="76200" h="5201920">
                <a:moveTo>
                  <a:pt x="47625" y="4705350"/>
                </a:moveTo>
                <a:lnTo>
                  <a:pt x="28575" y="4705350"/>
                </a:lnTo>
                <a:lnTo>
                  <a:pt x="28575" y="4781550"/>
                </a:lnTo>
                <a:lnTo>
                  <a:pt x="47625" y="4781550"/>
                </a:lnTo>
                <a:lnTo>
                  <a:pt x="47625" y="4705350"/>
                </a:lnTo>
                <a:close/>
              </a:path>
              <a:path w="76200" h="5201920">
                <a:moveTo>
                  <a:pt x="47625" y="4838700"/>
                </a:moveTo>
                <a:lnTo>
                  <a:pt x="28575" y="4838700"/>
                </a:lnTo>
                <a:lnTo>
                  <a:pt x="28575" y="4914900"/>
                </a:lnTo>
                <a:lnTo>
                  <a:pt x="47625" y="4914900"/>
                </a:lnTo>
                <a:lnTo>
                  <a:pt x="47625" y="4838700"/>
                </a:lnTo>
                <a:close/>
              </a:path>
              <a:path w="76200" h="5201920">
                <a:moveTo>
                  <a:pt x="47625" y="4972050"/>
                </a:moveTo>
                <a:lnTo>
                  <a:pt x="28575" y="4972050"/>
                </a:lnTo>
                <a:lnTo>
                  <a:pt x="28575" y="5048250"/>
                </a:lnTo>
                <a:lnTo>
                  <a:pt x="47625" y="5048250"/>
                </a:lnTo>
                <a:lnTo>
                  <a:pt x="47625" y="4972050"/>
                </a:lnTo>
                <a:close/>
              </a:path>
              <a:path w="76200" h="5201920">
                <a:moveTo>
                  <a:pt x="28575" y="5127119"/>
                </a:moveTo>
                <a:lnTo>
                  <a:pt x="23252" y="5128193"/>
                </a:lnTo>
                <a:lnTo>
                  <a:pt x="11144" y="5136357"/>
                </a:lnTo>
                <a:lnTo>
                  <a:pt x="2988" y="5148468"/>
                </a:lnTo>
                <a:lnTo>
                  <a:pt x="0" y="5163299"/>
                </a:lnTo>
                <a:lnTo>
                  <a:pt x="2988" y="5178130"/>
                </a:lnTo>
                <a:lnTo>
                  <a:pt x="11144" y="5190240"/>
                </a:lnTo>
                <a:lnTo>
                  <a:pt x="23252" y="5198405"/>
                </a:lnTo>
                <a:lnTo>
                  <a:pt x="38100" y="5201399"/>
                </a:lnTo>
                <a:lnTo>
                  <a:pt x="52947" y="5198405"/>
                </a:lnTo>
                <a:lnTo>
                  <a:pt x="65055" y="5190240"/>
                </a:lnTo>
                <a:lnTo>
                  <a:pt x="73211" y="5178130"/>
                </a:lnTo>
                <a:lnTo>
                  <a:pt x="76200" y="5163299"/>
                </a:lnTo>
                <a:lnTo>
                  <a:pt x="28575" y="5163299"/>
                </a:lnTo>
                <a:lnTo>
                  <a:pt x="28575" y="5127119"/>
                </a:lnTo>
                <a:close/>
              </a:path>
              <a:path w="76200" h="5201920">
                <a:moveTo>
                  <a:pt x="38100" y="5125199"/>
                </a:moveTo>
                <a:lnTo>
                  <a:pt x="28575" y="5127119"/>
                </a:lnTo>
                <a:lnTo>
                  <a:pt x="28575" y="5163299"/>
                </a:lnTo>
                <a:lnTo>
                  <a:pt x="47625" y="5163299"/>
                </a:lnTo>
                <a:lnTo>
                  <a:pt x="47625" y="5127119"/>
                </a:lnTo>
                <a:lnTo>
                  <a:pt x="38100" y="5125199"/>
                </a:lnTo>
                <a:close/>
              </a:path>
              <a:path w="76200" h="5201920">
                <a:moveTo>
                  <a:pt x="47625" y="5127119"/>
                </a:moveTo>
                <a:lnTo>
                  <a:pt x="47625" y="5163299"/>
                </a:lnTo>
                <a:lnTo>
                  <a:pt x="76200" y="5163299"/>
                </a:lnTo>
                <a:lnTo>
                  <a:pt x="73211" y="5148468"/>
                </a:lnTo>
                <a:lnTo>
                  <a:pt x="65055" y="5136357"/>
                </a:lnTo>
                <a:lnTo>
                  <a:pt x="52947" y="5128193"/>
                </a:lnTo>
                <a:lnTo>
                  <a:pt x="47625" y="5127119"/>
                </a:lnTo>
                <a:close/>
              </a:path>
              <a:path w="76200" h="5201920">
                <a:moveTo>
                  <a:pt x="47625" y="5105400"/>
                </a:moveTo>
                <a:lnTo>
                  <a:pt x="28575" y="5105400"/>
                </a:lnTo>
                <a:lnTo>
                  <a:pt x="28575" y="5127119"/>
                </a:lnTo>
                <a:lnTo>
                  <a:pt x="38100" y="5125199"/>
                </a:lnTo>
                <a:lnTo>
                  <a:pt x="47625" y="5125199"/>
                </a:lnTo>
                <a:lnTo>
                  <a:pt x="47625" y="5105400"/>
                </a:lnTo>
                <a:close/>
              </a:path>
              <a:path w="76200" h="5201920">
                <a:moveTo>
                  <a:pt x="47625" y="5125199"/>
                </a:moveTo>
                <a:lnTo>
                  <a:pt x="38100" y="5125199"/>
                </a:lnTo>
                <a:lnTo>
                  <a:pt x="47625" y="5127119"/>
                </a:lnTo>
                <a:lnTo>
                  <a:pt x="47625" y="5125199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61681" y="1146810"/>
            <a:ext cx="76200" cy="5201920"/>
          </a:xfrm>
          <a:custGeom>
            <a:avLst/>
            <a:gdLst/>
            <a:ahLst/>
            <a:cxnLst/>
            <a:rect l="l" t="t" r="r" b="b"/>
            <a:pathLst>
              <a:path w="76200" h="5201920">
                <a:moveTo>
                  <a:pt x="28575" y="74282"/>
                </a:moveTo>
                <a:lnTo>
                  <a:pt x="28575" y="114300"/>
                </a:lnTo>
                <a:lnTo>
                  <a:pt x="47625" y="114300"/>
                </a:lnTo>
                <a:lnTo>
                  <a:pt x="47625" y="76200"/>
                </a:lnTo>
                <a:lnTo>
                  <a:pt x="38100" y="76200"/>
                </a:lnTo>
                <a:lnTo>
                  <a:pt x="28575" y="74282"/>
                </a:lnTo>
                <a:close/>
              </a:path>
              <a:path w="76200" h="5201920">
                <a:moveTo>
                  <a:pt x="47625" y="38100"/>
                </a:moveTo>
                <a:lnTo>
                  <a:pt x="28575" y="38100"/>
                </a:lnTo>
                <a:lnTo>
                  <a:pt x="28575" y="74282"/>
                </a:lnTo>
                <a:lnTo>
                  <a:pt x="38100" y="76200"/>
                </a:lnTo>
                <a:lnTo>
                  <a:pt x="47625" y="74282"/>
                </a:lnTo>
                <a:lnTo>
                  <a:pt x="47625" y="38100"/>
                </a:lnTo>
                <a:close/>
              </a:path>
              <a:path w="76200" h="5201920">
                <a:moveTo>
                  <a:pt x="47625" y="74282"/>
                </a:moveTo>
                <a:lnTo>
                  <a:pt x="38100" y="76200"/>
                </a:lnTo>
                <a:lnTo>
                  <a:pt x="47625" y="76200"/>
                </a:lnTo>
                <a:lnTo>
                  <a:pt x="47625" y="74282"/>
                </a:lnTo>
                <a:close/>
              </a:path>
              <a:path w="76200" h="520192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28575" y="74282"/>
                </a:lnTo>
                <a:lnTo>
                  <a:pt x="28575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76200" h="5201920">
                <a:moveTo>
                  <a:pt x="76200" y="38100"/>
                </a:moveTo>
                <a:lnTo>
                  <a:pt x="47625" y="38100"/>
                </a:lnTo>
                <a:lnTo>
                  <a:pt x="47625" y="74282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  <a:path w="76200" h="5201920">
                <a:moveTo>
                  <a:pt x="47625" y="171450"/>
                </a:moveTo>
                <a:lnTo>
                  <a:pt x="28575" y="171450"/>
                </a:lnTo>
                <a:lnTo>
                  <a:pt x="28575" y="247650"/>
                </a:lnTo>
                <a:lnTo>
                  <a:pt x="47625" y="247650"/>
                </a:lnTo>
                <a:lnTo>
                  <a:pt x="47625" y="171450"/>
                </a:lnTo>
                <a:close/>
              </a:path>
              <a:path w="76200" h="5201920">
                <a:moveTo>
                  <a:pt x="47625" y="304800"/>
                </a:moveTo>
                <a:lnTo>
                  <a:pt x="28575" y="304800"/>
                </a:lnTo>
                <a:lnTo>
                  <a:pt x="28575" y="381000"/>
                </a:lnTo>
                <a:lnTo>
                  <a:pt x="47625" y="381000"/>
                </a:lnTo>
                <a:lnTo>
                  <a:pt x="47625" y="304800"/>
                </a:lnTo>
                <a:close/>
              </a:path>
              <a:path w="76200" h="5201920">
                <a:moveTo>
                  <a:pt x="47625" y="438150"/>
                </a:moveTo>
                <a:lnTo>
                  <a:pt x="28575" y="438150"/>
                </a:lnTo>
                <a:lnTo>
                  <a:pt x="28575" y="514350"/>
                </a:lnTo>
                <a:lnTo>
                  <a:pt x="47625" y="514350"/>
                </a:lnTo>
                <a:lnTo>
                  <a:pt x="47625" y="438150"/>
                </a:lnTo>
                <a:close/>
              </a:path>
              <a:path w="76200" h="5201920">
                <a:moveTo>
                  <a:pt x="47625" y="571500"/>
                </a:moveTo>
                <a:lnTo>
                  <a:pt x="28575" y="571500"/>
                </a:lnTo>
                <a:lnTo>
                  <a:pt x="28575" y="647700"/>
                </a:lnTo>
                <a:lnTo>
                  <a:pt x="47625" y="647700"/>
                </a:lnTo>
                <a:lnTo>
                  <a:pt x="47625" y="571500"/>
                </a:lnTo>
                <a:close/>
              </a:path>
              <a:path w="76200" h="5201920">
                <a:moveTo>
                  <a:pt x="47625" y="704850"/>
                </a:moveTo>
                <a:lnTo>
                  <a:pt x="28575" y="704850"/>
                </a:lnTo>
                <a:lnTo>
                  <a:pt x="28575" y="781050"/>
                </a:lnTo>
                <a:lnTo>
                  <a:pt x="47625" y="781050"/>
                </a:lnTo>
                <a:lnTo>
                  <a:pt x="47625" y="704850"/>
                </a:lnTo>
                <a:close/>
              </a:path>
              <a:path w="76200" h="5201920">
                <a:moveTo>
                  <a:pt x="47625" y="838200"/>
                </a:moveTo>
                <a:lnTo>
                  <a:pt x="28575" y="838200"/>
                </a:lnTo>
                <a:lnTo>
                  <a:pt x="28575" y="914400"/>
                </a:lnTo>
                <a:lnTo>
                  <a:pt x="47625" y="914400"/>
                </a:lnTo>
                <a:lnTo>
                  <a:pt x="47625" y="838200"/>
                </a:lnTo>
                <a:close/>
              </a:path>
              <a:path w="76200" h="5201920">
                <a:moveTo>
                  <a:pt x="47625" y="971550"/>
                </a:moveTo>
                <a:lnTo>
                  <a:pt x="28575" y="971550"/>
                </a:lnTo>
                <a:lnTo>
                  <a:pt x="28575" y="1047750"/>
                </a:lnTo>
                <a:lnTo>
                  <a:pt x="47625" y="1047750"/>
                </a:lnTo>
                <a:lnTo>
                  <a:pt x="47625" y="971550"/>
                </a:lnTo>
                <a:close/>
              </a:path>
              <a:path w="76200" h="5201920">
                <a:moveTo>
                  <a:pt x="47625" y="1104900"/>
                </a:moveTo>
                <a:lnTo>
                  <a:pt x="28575" y="1104900"/>
                </a:lnTo>
                <a:lnTo>
                  <a:pt x="28575" y="1181100"/>
                </a:lnTo>
                <a:lnTo>
                  <a:pt x="47625" y="1181100"/>
                </a:lnTo>
                <a:lnTo>
                  <a:pt x="47625" y="1104900"/>
                </a:lnTo>
                <a:close/>
              </a:path>
              <a:path w="76200" h="5201920">
                <a:moveTo>
                  <a:pt x="47625" y="1238250"/>
                </a:moveTo>
                <a:lnTo>
                  <a:pt x="28575" y="1238250"/>
                </a:lnTo>
                <a:lnTo>
                  <a:pt x="28575" y="1314450"/>
                </a:lnTo>
                <a:lnTo>
                  <a:pt x="47625" y="1314450"/>
                </a:lnTo>
                <a:lnTo>
                  <a:pt x="47625" y="1238250"/>
                </a:lnTo>
                <a:close/>
              </a:path>
              <a:path w="76200" h="5201920">
                <a:moveTo>
                  <a:pt x="47625" y="1371600"/>
                </a:moveTo>
                <a:lnTo>
                  <a:pt x="28575" y="1371600"/>
                </a:lnTo>
                <a:lnTo>
                  <a:pt x="28575" y="1447800"/>
                </a:lnTo>
                <a:lnTo>
                  <a:pt x="47625" y="1447800"/>
                </a:lnTo>
                <a:lnTo>
                  <a:pt x="47625" y="1371600"/>
                </a:lnTo>
                <a:close/>
              </a:path>
              <a:path w="76200" h="5201920">
                <a:moveTo>
                  <a:pt x="47625" y="1504950"/>
                </a:moveTo>
                <a:lnTo>
                  <a:pt x="28575" y="1504950"/>
                </a:lnTo>
                <a:lnTo>
                  <a:pt x="28575" y="1581150"/>
                </a:lnTo>
                <a:lnTo>
                  <a:pt x="47625" y="1581150"/>
                </a:lnTo>
                <a:lnTo>
                  <a:pt x="47625" y="1504950"/>
                </a:lnTo>
                <a:close/>
              </a:path>
              <a:path w="76200" h="5201920">
                <a:moveTo>
                  <a:pt x="47625" y="1638300"/>
                </a:moveTo>
                <a:lnTo>
                  <a:pt x="28575" y="1638300"/>
                </a:lnTo>
                <a:lnTo>
                  <a:pt x="28575" y="1714500"/>
                </a:lnTo>
                <a:lnTo>
                  <a:pt x="47625" y="1714500"/>
                </a:lnTo>
                <a:lnTo>
                  <a:pt x="47625" y="1638300"/>
                </a:lnTo>
                <a:close/>
              </a:path>
              <a:path w="76200" h="5201920">
                <a:moveTo>
                  <a:pt x="47625" y="1771650"/>
                </a:moveTo>
                <a:lnTo>
                  <a:pt x="28575" y="1771650"/>
                </a:lnTo>
                <a:lnTo>
                  <a:pt x="28575" y="1847850"/>
                </a:lnTo>
                <a:lnTo>
                  <a:pt x="47625" y="1847850"/>
                </a:lnTo>
                <a:lnTo>
                  <a:pt x="47625" y="1771650"/>
                </a:lnTo>
                <a:close/>
              </a:path>
              <a:path w="76200" h="5201920">
                <a:moveTo>
                  <a:pt x="47625" y="1905000"/>
                </a:moveTo>
                <a:lnTo>
                  <a:pt x="28575" y="1905000"/>
                </a:lnTo>
                <a:lnTo>
                  <a:pt x="28575" y="1981200"/>
                </a:lnTo>
                <a:lnTo>
                  <a:pt x="47625" y="1981200"/>
                </a:lnTo>
                <a:lnTo>
                  <a:pt x="47625" y="1905000"/>
                </a:lnTo>
                <a:close/>
              </a:path>
              <a:path w="76200" h="5201920">
                <a:moveTo>
                  <a:pt x="47625" y="2038350"/>
                </a:moveTo>
                <a:lnTo>
                  <a:pt x="28575" y="2038350"/>
                </a:lnTo>
                <a:lnTo>
                  <a:pt x="28575" y="2114550"/>
                </a:lnTo>
                <a:lnTo>
                  <a:pt x="47625" y="2114550"/>
                </a:lnTo>
                <a:lnTo>
                  <a:pt x="47625" y="2038350"/>
                </a:lnTo>
                <a:close/>
              </a:path>
              <a:path w="76200" h="5201920">
                <a:moveTo>
                  <a:pt x="47625" y="2171700"/>
                </a:moveTo>
                <a:lnTo>
                  <a:pt x="28575" y="2171700"/>
                </a:lnTo>
                <a:lnTo>
                  <a:pt x="28575" y="2247900"/>
                </a:lnTo>
                <a:lnTo>
                  <a:pt x="47625" y="2247900"/>
                </a:lnTo>
                <a:lnTo>
                  <a:pt x="47625" y="2171700"/>
                </a:lnTo>
                <a:close/>
              </a:path>
              <a:path w="76200" h="5201920">
                <a:moveTo>
                  <a:pt x="47625" y="2305050"/>
                </a:moveTo>
                <a:lnTo>
                  <a:pt x="28575" y="2305050"/>
                </a:lnTo>
                <a:lnTo>
                  <a:pt x="28575" y="2381250"/>
                </a:lnTo>
                <a:lnTo>
                  <a:pt x="47625" y="2381250"/>
                </a:lnTo>
                <a:lnTo>
                  <a:pt x="47625" y="2305050"/>
                </a:lnTo>
                <a:close/>
              </a:path>
              <a:path w="76200" h="5201920">
                <a:moveTo>
                  <a:pt x="47625" y="2438400"/>
                </a:moveTo>
                <a:lnTo>
                  <a:pt x="28575" y="2438400"/>
                </a:lnTo>
                <a:lnTo>
                  <a:pt x="28575" y="2514600"/>
                </a:lnTo>
                <a:lnTo>
                  <a:pt x="47625" y="2514600"/>
                </a:lnTo>
                <a:lnTo>
                  <a:pt x="47625" y="2438400"/>
                </a:lnTo>
                <a:close/>
              </a:path>
              <a:path w="76200" h="5201920">
                <a:moveTo>
                  <a:pt x="47625" y="2571750"/>
                </a:moveTo>
                <a:lnTo>
                  <a:pt x="28575" y="2571750"/>
                </a:lnTo>
                <a:lnTo>
                  <a:pt x="28575" y="2647950"/>
                </a:lnTo>
                <a:lnTo>
                  <a:pt x="47625" y="2647950"/>
                </a:lnTo>
                <a:lnTo>
                  <a:pt x="47625" y="2571750"/>
                </a:lnTo>
                <a:close/>
              </a:path>
              <a:path w="76200" h="5201920">
                <a:moveTo>
                  <a:pt x="47625" y="2705100"/>
                </a:moveTo>
                <a:lnTo>
                  <a:pt x="28575" y="2705100"/>
                </a:lnTo>
                <a:lnTo>
                  <a:pt x="28575" y="2781300"/>
                </a:lnTo>
                <a:lnTo>
                  <a:pt x="47625" y="2781300"/>
                </a:lnTo>
                <a:lnTo>
                  <a:pt x="47625" y="2705100"/>
                </a:lnTo>
                <a:close/>
              </a:path>
              <a:path w="76200" h="5201920">
                <a:moveTo>
                  <a:pt x="47625" y="2838450"/>
                </a:moveTo>
                <a:lnTo>
                  <a:pt x="28575" y="2838450"/>
                </a:lnTo>
                <a:lnTo>
                  <a:pt x="28575" y="2914650"/>
                </a:lnTo>
                <a:lnTo>
                  <a:pt x="47625" y="2914650"/>
                </a:lnTo>
                <a:lnTo>
                  <a:pt x="47625" y="2838450"/>
                </a:lnTo>
                <a:close/>
              </a:path>
              <a:path w="76200" h="5201920">
                <a:moveTo>
                  <a:pt x="47625" y="2971800"/>
                </a:moveTo>
                <a:lnTo>
                  <a:pt x="28575" y="2971800"/>
                </a:lnTo>
                <a:lnTo>
                  <a:pt x="28575" y="3048000"/>
                </a:lnTo>
                <a:lnTo>
                  <a:pt x="47625" y="3048000"/>
                </a:lnTo>
                <a:lnTo>
                  <a:pt x="47625" y="2971800"/>
                </a:lnTo>
                <a:close/>
              </a:path>
              <a:path w="76200" h="5201920">
                <a:moveTo>
                  <a:pt x="47625" y="3105150"/>
                </a:moveTo>
                <a:lnTo>
                  <a:pt x="28575" y="3105150"/>
                </a:lnTo>
                <a:lnTo>
                  <a:pt x="28575" y="3181350"/>
                </a:lnTo>
                <a:lnTo>
                  <a:pt x="47625" y="3181350"/>
                </a:lnTo>
                <a:lnTo>
                  <a:pt x="47625" y="3105150"/>
                </a:lnTo>
                <a:close/>
              </a:path>
              <a:path w="76200" h="5201920">
                <a:moveTo>
                  <a:pt x="47625" y="3238500"/>
                </a:moveTo>
                <a:lnTo>
                  <a:pt x="28575" y="3238500"/>
                </a:lnTo>
                <a:lnTo>
                  <a:pt x="28575" y="3314700"/>
                </a:lnTo>
                <a:lnTo>
                  <a:pt x="47625" y="3314700"/>
                </a:lnTo>
                <a:lnTo>
                  <a:pt x="47625" y="3238500"/>
                </a:lnTo>
                <a:close/>
              </a:path>
              <a:path w="76200" h="5201920">
                <a:moveTo>
                  <a:pt x="47625" y="3371850"/>
                </a:moveTo>
                <a:lnTo>
                  <a:pt x="28575" y="3371850"/>
                </a:lnTo>
                <a:lnTo>
                  <a:pt x="28575" y="3448050"/>
                </a:lnTo>
                <a:lnTo>
                  <a:pt x="47625" y="3448050"/>
                </a:lnTo>
                <a:lnTo>
                  <a:pt x="47625" y="3371850"/>
                </a:lnTo>
                <a:close/>
              </a:path>
              <a:path w="76200" h="5201920">
                <a:moveTo>
                  <a:pt x="47625" y="3505200"/>
                </a:moveTo>
                <a:lnTo>
                  <a:pt x="28575" y="3505200"/>
                </a:lnTo>
                <a:lnTo>
                  <a:pt x="28575" y="3581400"/>
                </a:lnTo>
                <a:lnTo>
                  <a:pt x="47625" y="3581400"/>
                </a:lnTo>
                <a:lnTo>
                  <a:pt x="47625" y="3505200"/>
                </a:lnTo>
                <a:close/>
              </a:path>
              <a:path w="76200" h="5201920">
                <a:moveTo>
                  <a:pt x="47625" y="3638550"/>
                </a:moveTo>
                <a:lnTo>
                  <a:pt x="28575" y="3638550"/>
                </a:lnTo>
                <a:lnTo>
                  <a:pt x="28575" y="3714750"/>
                </a:lnTo>
                <a:lnTo>
                  <a:pt x="47625" y="3714750"/>
                </a:lnTo>
                <a:lnTo>
                  <a:pt x="47625" y="3638550"/>
                </a:lnTo>
                <a:close/>
              </a:path>
              <a:path w="76200" h="5201920">
                <a:moveTo>
                  <a:pt x="47625" y="3771900"/>
                </a:moveTo>
                <a:lnTo>
                  <a:pt x="28575" y="3771900"/>
                </a:lnTo>
                <a:lnTo>
                  <a:pt x="28575" y="3848100"/>
                </a:lnTo>
                <a:lnTo>
                  <a:pt x="47625" y="3848100"/>
                </a:lnTo>
                <a:lnTo>
                  <a:pt x="47625" y="3771900"/>
                </a:lnTo>
                <a:close/>
              </a:path>
              <a:path w="76200" h="5201920">
                <a:moveTo>
                  <a:pt x="47625" y="3905250"/>
                </a:moveTo>
                <a:lnTo>
                  <a:pt x="28575" y="3905250"/>
                </a:lnTo>
                <a:lnTo>
                  <a:pt x="28575" y="3981450"/>
                </a:lnTo>
                <a:lnTo>
                  <a:pt x="47625" y="3981450"/>
                </a:lnTo>
                <a:lnTo>
                  <a:pt x="47625" y="3905250"/>
                </a:lnTo>
                <a:close/>
              </a:path>
              <a:path w="76200" h="5201920">
                <a:moveTo>
                  <a:pt x="47625" y="4038600"/>
                </a:moveTo>
                <a:lnTo>
                  <a:pt x="28575" y="4038600"/>
                </a:lnTo>
                <a:lnTo>
                  <a:pt x="28575" y="4114800"/>
                </a:lnTo>
                <a:lnTo>
                  <a:pt x="47625" y="4114800"/>
                </a:lnTo>
                <a:lnTo>
                  <a:pt x="47625" y="4038600"/>
                </a:lnTo>
                <a:close/>
              </a:path>
              <a:path w="76200" h="5201920">
                <a:moveTo>
                  <a:pt x="47625" y="4171950"/>
                </a:moveTo>
                <a:lnTo>
                  <a:pt x="28575" y="4171950"/>
                </a:lnTo>
                <a:lnTo>
                  <a:pt x="28575" y="4248150"/>
                </a:lnTo>
                <a:lnTo>
                  <a:pt x="47625" y="4248150"/>
                </a:lnTo>
                <a:lnTo>
                  <a:pt x="47625" y="4171950"/>
                </a:lnTo>
                <a:close/>
              </a:path>
              <a:path w="76200" h="5201920">
                <a:moveTo>
                  <a:pt x="47625" y="4305300"/>
                </a:moveTo>
                <a:lnTo>
                  <a:pt x="28575" y="4305300"/>
                </a:lnTo>
                <a:lnTo>
                  <a:pt x="28575" y="4381500"/>
                </a:lnTo>
                <a:lnTo>
                  <a:pt x="47625" y="4381500"/>
                </a:lnTo>
                <a:lnTo>
                  <a:pt x="47625" y="4305300"/>
                </a:lnTo>
                <a:close/>
              </a:path>
              <a:path w="76200" h="5201920">
                <a:moveTo>
                  <a:pt x="47625" y="4438650"/>
                </a:moveTo>
                <a:lnTo>
                  <a:pt x="28575" y="4438650"/>
                </a:lnTo>
                <a:lnTo>
                  <a:pt x="28575" y="4514850"/>
                </a:lnTo>
                <a:lnTo>
                  <a:pt x="47625" y="4514850"/>
                </a:lnTo>
                <a:lnTo>
                  <a:pt x="47625" y="4438650"/>
                </a:lnTo>
                <a:close/>
              </a:path>
              <a:path w="76200" h="5201920">
                <a:moveTo>
                  <a:pt x="47625" y="4572000"/>
                </a:moveTo>
                <a:lnTo>
                  <a:pt x="28575" y="4572000"/>
                </a:lnTo>
                <a:lnTo>
                  <a:pt x="28575" y="4648200"/>
                </a:lnTo>
                <a:lnTo>
                  <a:pt x="47625" y="4648200"/>
                </a:lnTo>
                <a:lnTo>
                  <a:pt x="47625" y="4572000"/>
                </a:lnTo>
                <a:close/>
              </a:path>
              <a:path w="76200" h="5201920">
                <a:moveTo>
                  <a:pt x="47625" y="4705350"/>
                </a:moveTo>
                <a:lnTo>
                  <a:pt x="28575" y="4705350"/>
                </a:lnTo>
                <a:lnTo>
                  <a:pt x="28575" y="4781550"/>
                </a:lnTo>
                <a:lnTo>
                  <a:pt x="47625" y="4781550"/>
                </a:lnTo>
                <a:lnTo>
                  <a:pt x="47625" y="4705350"/>
                </a:lnTo>
                <a:close/>
              </a:path>
              <a:path w="76200" h="5201920">
                <a:moveTo>
                  <a:pt x="47625" y="4838700"/>
                </a:moveTo>
                <a:lnTo>
                  <a:pt x="28575" y="4838700"/>
                </a:lnTo>
                <a:lnTo>
                  <a:pt x="28575" y="4914900"/>
                </a:lnTo>
                <a:lnTo>
                  <a:pt x="47625" y="4914900"/>
                </a:lnTo>
                <a:lnTo>
                  <a:pt x="47625" y="4838700"/>
                </a:lnTo>
                <a:close/>
              </a:path>
              <a:path w="76200" h="5201920">
                <a:moveTo>
                  <a:pt x="47625" y="4972050"/>
                </a:moveTo>
                <a:lnTo>
                  <a:pt x="28575" y="4972050"/>
                </a:lnTo>
                <a:lnTo>
                  <a:pt x="28575" y="5048250"/>
                </a:lnTo>
                <a:lnTo>
                  <a:pt x="47625" y="5048250"/>
                </a:lnTo>
                <a:lnTo>
                  <a:pt x="47625" y="4972050"/>
                </a:lnTo>
                <a:close/>
              </a:path>
              <a:path w="76200" h="5201920">
                <a:moveTo>
                  <a:pt x="28575" y="5127119"/>
                </a:moveTo>
                <a:lnTo>
                  <a:pt x="23252" y="5128193"/>
                </a:lnTo>
                <a:lnTo>
                  <a:pt x="11144" y="5136357"/>
                </a:lnTo>
                <a:lnTo>
                  <a:pt x="2988" y="5148468"/>
                </a:lnTo>
                <a:lnTo>
                  <a:pt x="0" y="5163299"/>
                </a:lnTo>
                <a:lnTo>
                  <a:pt x="2988" y="5178130"/>
                </a:lnTo>
                <a:lnTo>
                  <a:pt x="11144" y="5190240"/>
                </a:lnTo>
                <a:lnTo>
                  <a:pt x="23252" y="5198405"/>
                </a:lnTo>
                <a:lnTo>
                  <a:pt x="38100" y="5201399"/>
                </a:lnTo>
                <a:lnTo>
                  <a:pt x="52947" y="5198405"/>
                </a:lnTo>
                <a:lnTo>
                  <a:pt x="65055" y="5190240"/>
                </a:lnTo>
                <a:lnTo>
                  <a:pt x="73211" y="5178130"/>
                </a:lnTo>
                <a:lnTo>
                  <a:pt x="76200" y="5163299"/>
                </a:lnTo>
                <a:lnTo>
                  <a:pt x="28575" y="5163299"/>
                </a:lnTo>
                <a:lnTo>
                  <a:pt x="28575" y="5127119"/>
                </a:lnTo>
                <a:close/>
              </a:path>
              <a:path w="76200" h="5201920">
                <a:moveTo>
                  <a:pt x="38100" y="5125199"/>
                </a:moveTo>
                <a:lnTo>
                  <a:pt x="28575" y="5127119"/>
                </a:lnTo>
                <a:lnTo>
                  <a:pt x="28575" y="5163299"/>
                </a:lnTo>
                <a:lnTo>
                  <a:pt x="47625" y="5163299"/>
                </a:lnTo>
                <a:lnTo>
                  <a:pt x="47625" y="5127119"/>
                </a:lnTo>
                <a:lnTo>
                  <a:pt x="38100" y="5125199"/>
                </a:lnTo>
                <a:close/>
              </a:path>
              <a:path w="76200" h="5201920">
                <a:moveTo>
                  <a:pt x="47625" y="5127119"/>
                </a:moveTo>
                <a:lnTo>
                  <a:pt x="47625" y="5163299"/>
                </a:lnTo>
                <a:lnTo>
                  <a:pt x="76200" y="5163299"/>
                </a:lnTo>
                <a:lnTo>
                  <a:pt x="73211" y="5148468"/>
                </a:lnTo>
                <a:lnTo>
                  <a:pt x="65055" y="5136357"/>
                </a:lnTo>
                <a:lnTo>
                  <a:pt x="52947" y="5128193"/>
                </a:lnTo>
                <a:lnTo>
                  <a:pt x="47625" y="5127119"/>
                </a:lnTo>
                <a:close/>
              </a:path>
              <a:path w="76200" h="5201920">
                <a:moveTo>
                  <a:pt x="47625" y="5105400"/>
                </a:moveTo>
                <a:lnTo>
                  <a:pt x="28575" y="5105400"/>
                </a:lnTo>
                <a:lnTo>
                  <a:pt x="28575" y="5127119"/>
                </a:lnTo>
                <a:lnTo>
                  <a:pt x="38100" y="5125199"/>
                </a:lnTo>
                <a:lnTo>
                  <a:pt x="47625" y="5125199"/>
                </a:lnTo>
                <a:lnTo>
                  <a:pt x="47625" y="5105400"/>
                </a:lnTo>
                <a:close/>
              </a:path>
              <a:path w="76200" h="5201920">
                <a:moveTo>
                  <a:pt x="47625" y="5125199"/>
                </a:moveTo>
                <a:lnTo>
                  <a:pt x="38100" y="5125199"/>
                </a:lnTo>
                <a:lnTo>
                  <a:pt x="47625" y="5127119"/>
                </a:lnTo>
                <a:lnTo>
                  <a:pt x="47625" y="5125199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940179" y="5732779"/>
            <a:ext cx="20827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 i="1">
                <a:solidFill>
                  <a:srgbClr val="5C9DAE"/>
                </a:solidFill>
                <a:latin typeface="Calibri"/>
                <a:cs typeface="Calibri"/>
              </a:rPr>
              <a:t>yet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20317" y="5203697"/>
            <a:ext cx="2886710" cy="12700"/>
          </a:xfrm>
          <a:custGeom>
            <a:avLst/>
            <a:gdLst/>
            <a:ahLst/>
            <a:cxnLst/>
            <a:rect l="l" t="t" r="r" b="b"/>
            <a:pathLst>
              <a:path w="2886710" h="12700">
                <a:moveTo>
                  <a:pt x="0" y="12445"/>
                </a:moveTo>
                <a:lnTo>
                  <a:pt x="2886329" y="0"/>
                </a:lnTo>
              </a:path>
            </a:pathLst>
          </a:custGeom>
          <a:ln w="28575">
            <a:solidFill>
              <a:srgbClr val="C5DF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26593" y="5071109"/>
            <a:ext cx="7931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 i="1">
                <a:solidFill>
                  <a:srgbClr val="5C9DAE"/>
                </a:solidFill>
                <a:latin typeface="Calibri"/>
                <a:cs typeface="Calibri"/>
              </a:rPr>
              <a:t>As</a:t>
            </a:r>
            <a:r>
              <a:rPr dirty="0" sz="1400" spc="-25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 i="1">
                <a:solidFill>
                  <a:srgbClr val="5C9DAE"/>
                </a:solidFill>
                <a:latin typeface="Calibri"/>
                <a:cs typeface="Calibri"/>
              </a:rPr>
              <a:t>of</a:t>
            </a:r>
            <a:r>
              <a:rPr dirty="0" sz="1400" spc="-15" b="1" i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20" b="1" i="1">
                <a:solidFill>
                  <a:srgbClr val="5C9DAE"/>
                </a:solidFill>
                <a:latin typeface="Calibri"/>
                <a:cs typeface="Calibri"/>
              </a:rPr>
              <a:t>2020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9016" y="5500115"/>
            <a:ext cx="501396" cy="50291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39923" y="5513832"/>
            <a:ext cx="461772" cy="46024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85132" y="3771900"/>
            <a:ext cx="460248" cy="460248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4323588" y="5096255"/>
            <a:ext cx="2787650" cy="1179830"/>
          </a:xfrm>
          <a:prstGeom prst="rect">
            <a:avLst/>
          </a:prstGeom>
          <a:ln w="12700">
            <a:solidFill>
              <a:srgbClr val="DDDDDD"/>
            </a:solidFill>
          </a:ln>
        </p:spPr>
        <p:txBody>
          <a:bodyPr wrap="square" lIns="0" tIns="590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L="810260" marR="182880" indent="2540">
              <a:lnSpc>
                <a:spcPct val="100000"/>
              </a:lnSpc>
            </a:pPr>
            <a:r>
              <a:rPr dirty="0" sz="1400" b="1">
                <a:solidFill>
                  <a:srgbClr val="0C6A6C"/>
                </a:solidFill>
                <a:latin typeface="Calibri"/>
                <a:cs typeface="Calibri"/>
              </a:rPr>
              <a:t>9.5%</a:t>
            </a:r>
            <a:r>
              <a:rPr dirty="0" sz="1400" spc="-5" b="1">
                <a:solidFill>
                  <a:srgbClr val="0C6A6C"/>
                </a:solidFill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of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population </a:t>
            </a:r>
            <a:r>
              <a:rPr dirty="0" sz="1400" b="1">
                <a:latin typeface="Calibri"/>
                <a:cs typeface="Calibri"/>
              </a:rPr>
              <a:t>lives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below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National Poverty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Line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65320" y="5407152"/>
            <a:ext cx="504444" cy="50444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173581" y="3298316"/>
            <a:ext cx="190309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5C9DAE"/>
                </a:solidFill>
                <a:latin typeface="Calibri"/>
                <a:cs typeface="Calibri"/>
              </a:rPr>
              <a:t>Papua,</a:t>
            </a:r>
            <a:r>
              <a:rPr dirty="0" sz="1400" spc="-7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West</a:t>
            </a:r>
            <a:r>
              <a:rPr dirty="0" sz="1400" spc="-5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C9DAE"/>
                </a:solidFill>
                <a:latin typeface="Calibri"/>
                <a:cs typeface="Calibri"/>
              </a:rPr>
              <a:t>Papua</a:t>
            </a:r>
            <a:r>
              <a:rPr dirty="0" sz="1400" spc="-7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5C9DAE"/>
                </a:solidFill>
                <a:latin typeface="Calibri"/>
                <a:cs typeface="Calibri"/>
              </a:rPr>
              <a:t>and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West</a:t>
            </a:r>
            <a:r>
              <a:rPr dirty="0" sz="14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C9DAE"/>
                </a:solidFill>
                <a:latin typeface="Calibri"/>
                <a:cs typeface="Calibri"/>
              </a:rPr>
              <a:t>Nusa</a:t>
            </a:r>
            <a:r>
              <a:rPr dirty="0" sz="1400" spc="-4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5C9DAE"/>
                </a:solidFill>
                <a:latin typeface="Calibri"/>
                <a:cs typeface="Calibri"/>
              </a:rPr>
              <a:t>Tenggara</a:t>
            </a:r>
            <a:r>
              <a:rPr dirty="0" sz="1400" spc="-3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have </a:t>
            </a:r>
            <a:r>
              <a:rPr dirty="0" sz="1400" b="1">
                <a:latin typeface="Calibri"/>
                <a:cs typeface="Calibri"/>
              </a:rPr>
              <a:t>poverty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rates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above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20%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75843" y="1171955"/>
            <a:ext cx="3496310" cy="28384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36830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29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Poverty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puts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heaviest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pressure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in...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59282" y="1967483"/>
            <a:ext cx="2850515" cy="1685289"/>
            <a:chOff x="859282" y="1967483"/>
            <a:chExt cx="2850515" cy="1685289"/>
          </a:xfrm>
        </p:grpSpPr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20240" y="2561843"/>
              <a:ext cx="236219" cy="24688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89148" y="1967483"/>
              <a:ext cx="236220" cy="2484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73196" y="2200655"/>
              <a:ext cx="236220" cy="24688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59282" y="2177795"/>
              <a:ext cx="2762250" cy="1475105"/>
            </a:xfrm>
            <a:custGeom>
              <a:avLst/>
              <a:gdLst/>
              <a:ahLst/>
              <a:cxnLst/>
              <a:rect l="l" t="t" r="r" b="b"/>
              <a:pathLst>
                <a:path w="2762250" h="1475104">
                  <a:moveTo>
                    <a:pt x="1216279" y="603504"/>
                  </a:moveTo>
                  <a:lnTo>
                    <a:pt x="1214983" y="597154"/>
                  </a:lnTo>
                  <a:lnTo>
                    <a:pt x="1213269" y="588657"/>
                  </a:lnTo>
                  <a:lnTo>
                    <a:pt x="1205077" y="576554"/>
                  </a:lnTo>
                  <a:lnTo>
                    <a:pt x="1192961" y="568401"/>
                  </a:lnTo>
                  <a:lnTo>
                    <a:pt x="1178179" y="565404"/>
                  </a:lnTo>
                  <a:lnTo>
                    <a:pt x="1163320" y="568401"/>
                  </a:lnTo>
                  <a:lnTo>
                    <a:pt x="1151216" y="576554"/>
                  </a:lnTo>
                  <a:lnTo>
                    <a:pt x="1143063" y="588657"/>
                  </a:lnTo>
                  <a:lnTo>
                    <a:pt x="1141349" y="597154"/>
                  </a:lnTo>
                  <a:lnTo>
                    <a:pt x="0" y="597154"/>
                  </a:lnTo>
                  <a:lnTo>
                    <a:pt x="0" y="1474851"/>
                  </a:lnTo>
                  <a:lnTo>
                    <a:pt x="234950" y="1474851"/>
                  </a:lnTo>
                  <a:lnTo>
                    <a:pt x="234950" y="1468501"/>
                  </a:lnTo>
                  <a:lnTo>
                    <a:pt x="234950" y="1462151"/>
                  </a:lnTo>
                  <a:lnTo>
                    <a:pt x="12700" y="1462151"/>
                  </a:lnTo>
                  <a:lnTo>
                    <a:pt x="12700" y="609854"/>
                  </a:lnTo>
                  <a:lnTo>
                    <a:pt x="1141349" y="609854"/>
                  </a:lnTo>
                  <a:lnTo>
                    <a:pt x="1143063" y="618363"/>
                  </a:lnTo>
                  <a:lnTo>
                    <a:pt x="1151216" y="630466"/>
                  </a:lnTo>
                  <a:lnTo>
                    <a:pt x="1163320" y="638619"/>
                  </a:lnTo>
                  <a:lnTo>
                    <a:pt x="1178179" y="641604"/>
                  </a:lnTo>
                  <a:lnTo>
                    <a:pt x="1192961" y="638619"/>
                  </a:lnTo>
                  <a:lnTo>
                    <a:pt x="1205077" y="630466"/>
                  </a:lnTo>
                  <a:lnTo>
                    <a:pt x="1213269" y="618363"/>
                  </a:lnTo>
                  <a:lnTo>
                    <a:pt x="1214983" y="609854"/>
                  </a:lnTo>
                  <a:lnTo>
                    <a:pt x="1216279" y="603504"/>
                  </a:lnTo>
                  <a:close/>
                </a:path>
                <a:path w="2762250" h="1475104">
                  <a:moveTo>
                    <a:pt x="2385187" y="38100"/>
                  </a:moveTo>
                  <a:lnTo>
                    <a:pt x="2382189" y="23253"/>
                  </a:lnTo>
                  <a:lnTo>
                    <a:pt x="2374036" y="11150"/>
                  </a:lnTo>
                  <a:lnTo>
                    <a:pt x="2361933" y="2997"/>
                  </a:lnTo>
                  <a:lnTo>
                    <a:pt x="2347087" y="0"/>
                  </a:lnTo>
                  <a:lnTo>
                    <a:pt x="2332228" y="2997"/>
                  </a:lnTo>
                  <a:lnTo>
                    <a:pt x="2320125" y="11150"/>
                  </a:lnTo>
                  <a:lnTo>
                    <a:pt x="2311971" y="23253"/>
                  </a:lnTo>
                  <a:lnTo>
                    <a:pt x="2308987" y="38100"/>
                  </a:lnTo>
                  <a:lnTo>
                    <a:pt x="2311971" y="52959"/>
                  </a:lnTo>
                  <a:lnTo>
                    <a:pt x="2320125" y="65062"/>
                  </a:lnTo>
                  <a:lnTo>
                    <a:pt x="2332228" y="73215"/>
                  </a:lnTo>
                  <a:lnTo>
                    <a:pt x="2340737" y="74930"/>
                  </a:lnTo>
                  <a:lnTo>
                    <a:pt x="2340737" y="562229"/>
                  </a:lnTo>
                  <a:lnTo>
                    <a:pt x="1292352" y="562229"/>
                  </a:lnTo>
                  <a:lnTo>
                    <a:pt x="1292352" y="1098931"/>
                  </a:lnTo>
                  <a:lnTo>
                    <a:pt x="1305052" y="1098931"/>
                  </a:lnTo>
                  <a:lnTo>
                    <a:pt x="1305052" y="574929"/>
                  </a:lnTo>
                  <a:lnTo>
                    <a:pt x="2353437" y="574929"/>
                  </a:lnTo>
                  <a:lnTo>
                    <a:pt x="2353437" y="562229"/>
                  </a:lnTo>
                  <a:lnTo>
                    <a:pt x="2353437" y="76200"/>
                  </a:lnTo>
                  <a:lnTo>
                    <a:pt x="2353437" y="74930"/>
                  </a:lnTo>
                  <a:lnTo>
                    <a:pt x="2361933" y="73215"/>
                  </a:lnTo>
                  <a:lnTo>
                    <a:pt x="2374036" y="65062"/>
                  </a:lnTo>
                  <a:lnTo>
                    <a:pt x="2382189" y="52959"/>
                  </a:lnTo>
                  <a:lnTo>
                    <a:pt x="2385187" y="38100"/>
                  </a:lnTo>
                  <a:close/>
                </a:path>
                <a:path w="2762250" h="1475104">
                  <a:moveTo>
                    <a:pt x="2761869" y="259080"/>
                  </a:moveTo>
                  <a:lnTo>
                    <a:pt x="2758871" y="244233"/>
                  </a:lnTo>
                  <a:lnTo>
                    <a:pt x="2750718" y="232130"/>
                  </a:lnTo>
                  <a:lnTo>
                    <a:pt x="2738615" y="223977"/>
                  </a:lnTo>
                  <a:lnTo>
                    <a:pt x="2723769" y="220980"/>
                  </a:lnTo>
                  <a:lnTo>
                    <a:pt x="2708973" y="223977"/>
                  </a:lnTo>
                  <a:lnTo>
                    <a:pt x="2696857" y="232130"/>
                  </a:lnTo>
                  <a:lnTo>
                    <a:pt x="2688666" y="244233"/>
                  </a:lnTo>
                  <a:lnTo>
                    <a:pt x="2685669" y="259080"/>
                  </a:lnTo>
                  <a:lnTo>
                    <a:pt x="2688666" y="273939"/>
                  </a:lnTo>
                  <a:lnTo>
                    <a:pt x="2696857" y="286042"/>
                  </a:lnTo>
                  <a:lnTo>
                    <a:pt x="2708973" y="294195"/>
                  </a:lnTo>
                  <a:lnTo>
                    <a:pt x="2717431" y="295910"/>
                  </a:lnTo>
                  <a:lnTo>
                    <a:pt x="2717419" y="1462024"/>
                  </a:lnTo>
                  <a:lnTo>
                    <a:pt x="2363978" y="1462024"/>
                  </a:lnTo>
                  <a:lnTo>
                    <a:pt x="2363978" y="1474724"/>
                  </a:lnTo>
                  <a:lnTo>
                    <a:pt x="2730119" y="1474724"/>
                  </a:lnTo>
                  <a:lnTo>
                    <a:pt x="2730119" y="1468374"/>
                  </a:lnTo>
                  <a:lnTo>
                    <a:pt x="2730119" y="1462024"/>
                  </a:lnTo>
                  <a:lnTo>
                    <a:pt x="2730119" y="297180"/>
                  </a:lnTo>
                  <a:lnTo>
                    <a:pt x="2730119" y="295910"/>
                  </a:lnTo>
                  <a:lnTo>
                    <a:pt x="2738615" y="294195"/>
                  </a:lnTo>
                  <a:lnTo>
                    <a:pt x="2750718" y="286042"/>
                  </a:lnTo>
                  <a:lnTo>
                    <a:pt x="2758871" y="273939"/>
                  </a:lnTo>
                  <a:lnTo>
                    <a:pt x="2761869" y="25908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406908" y="4091940"/>
            <a:ext cx="3340735" cy="741045"/>
          </a:xfrm>
          <a:prstGeom prst="rect">
            <a:avLst/>
          </a:prstGeom>
          <a:solidFill>
            <a:srgbClr val="6E8EB5">
              <a:alpha val="21960"/>
            </a:srgbClr>
          </a:solidFill>
        </p:spPr>
        <p:txBody>
          <a:bodyPr wrap="square" lIns="0" tIns="52705" rIns="0" bIns="0" rtlCol="0" vert="horz">
            <a:spAutoFit/>
          </a:bodyPr>
          <a:lstStyle/>
          <a:p>
            <a:pPr algn="ctr" marL="21590" marR="42545" indent="635">
              <a:lnSpc>
                <a:spcPct val="100000"/>
              </a:lnSpc>
              <a:spcBef>
                <a:spcPts val="415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literacy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rate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lowest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Papua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with </a:t>
            </a:r>
            <a:r>
              <a:rPr dirty="0" sz="1400" spc="-10">
                <a:latin typeface="Calibri"/>
                <a:cs typeface="Calibri"/>
              </a:rPr>
              <a:t>approximately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20%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10">
                <a:latin typeface="Calibri"/>
                <a:cs typeface="Calibri"/>
              </a:rPr>
              <a:t> population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15 </a:t>
            </a:r>
            <a:r>
              <a:rPr dirty="0" sz="1400">
                <a:latin typeface="Calibri"/>
                <a:cs typeface="Calibri"/>
              </a:rPr>
              <a:t>being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illiterate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14444" y="1731264"/>
            <a:ext cx="2787650" cy="1181100"/>
          </a:xfrm>
          <a:prstGeom prst="rect">
            <a:avLst/>
          </a:prstGeom>
          <a:ln w="12700">
            <a:solidFill>
              <a:srgbClr val="DDDDDD"/>
            </a:solidFill>
          </a:ln>
        </p:spPr>
        <p:txBody>
          <a:bodyPr wrap="square" lIns="0" tIns="93345" rIns="0" bIns="0" rtlCol="0" vert="horz">
            <a:spAutoFit/>
          </a:bodyPr>
          <a:lstStyle/>
          <a:p>
            <a:pPr algn="ctr" marL="967740" marR="407034" indent="-635">
              <a:lnSpc>
                <a:spcPct val="100000"/>
              </a:lnSpc>
              <a:spcBef>
                <a:spcPts val="735"/>
              </a:spcBef>
            </a:pPr>
            <a:r>
              <a:rPr dirty="0" sz="1400" b="1">
                <a:solidFill>
                  <a:srgbClr val="0C6A6C"/>
                </a:solidFill>
                <a:latin typeface="Calibri"/>
                <a:cs typeface="Calibri"/>
              </a:rPr>
              <a:t>49%</a:t>
            </a:r>
            <a:r>
              <a:rPr dirty="0" sz="1400" spc="-25" b="1">
                <a:solidFill>
                  <a:srgbClr val="0C6A6C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Adult Population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hold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 </a:t>
            </a:r>
            <a:r>
              <a:rPr dirty="0" sz="1400" b="1">
                <a:latin typeface="Calibri"/>
                <a:cs typeface="Calibri"/>
              </a:rPr>
              <a:t>account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financial institutions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393691" y="1927860"/>
            <a:ext cx="657225" cy="631190"/>
            <a:chOff x="4393691" y="1927860"/>
            <a:chExt cx="657225" cy="631190"/>
          </a:xfrm>
        </p:grpSpPr>
        <p:sp>
          <p:nvSpPr>
            <p:cNvPr id="50" name="object 50"/>
            <p:cNvSpPr/>
            <p:nvPr/>
          </p:nvSpPr>
          <p:spPr>
            <a:xfrm>
              <a:off x="4393691" y="1927860"/>
              <a:ext cx="657225" cy="631190"/>
            </a:xfrm>
            <a:custGeom>
              <a:avLst/>
              <a:gdLst/>
              <a:ahLst/>
              <a:cxnLst/>
              <a:rect l="l" t="t" r="r" b="b"/>
              <a:pathLst>
                <a:path w="657225" h="631189">
                  <a:moveTo>
                    <a:pt x="328422" y="0"/>
                  </a:moveTo>
                  <a:lnTo>
                    <a:pt x="279896" y="3420"/>
                  </a:lnTo>
                  <a:lnTo>
                    <a:pt x="233579" y="13355"/>
                  </a:lnTo>
                  <a:lnTo>
                    <a:pt x="189979" y="29317"/>
                  </a:lnTo>
                  <a:lnTo>
                    <a:pt x="149604" y="50819"/>
                  </a:lnTo>
                  <a:lnTo>
                    <a:pt x="112963" y="77373"/>
                  </a:lnTo>
                  <a:lnTo>
                    <a:pt x="80565" y="108491"/>
                  </a:lnTo>
                  <a:lnTo>
                    <a:pt x="52917" y="143685"/>
                  </a:lnTo>
                  <a:lnTo>
                    <a:pt x="30528" y="182467"/>
                  </a:lnTo>
                  <a:lnTo>
                    <a:pt x="13907" y="224350"/>
                  </a:lnTo>
                  <a:lnTo>
                    <a:pt x="3561" y="268846"/>
                  </a:lnTo>
                  <a:lnTo>
                    <a:pt x="0" y="315467"/>
                  </a:lnTo>
                  <a:lnTo>
                    <a:pt x="3561" y="362089"/>
                  </a:lnTo>
                  <a:lnTo>
                    <a:pt x="13907" y="406585"/>
                  </a:lnTo>
                  <a:lnTo>
                    <a:pt x="30528" y="448468"/>
                  </a:lnTo>
                  <a:lnTo>
                    <a:pt x="52917" y="487250"/>
                  </a:lnTo>
                  <a:lnTo>
                    <a:pt x="80565" y="522444"/>
                  </a:lnTo>
                  <a:lnTo>
                    <a:pt x="112963" y="553562"/>
                  </a:lnTo>
                  <a:lnTo>
                    <a:pt x="149604" y="580116"/>
                  </a:lnTo>
                  <a:lnTo>
                    <a:pt x="189979" y="601618"/>
                  </a:lnTo>
                  <a:lnTo>
                    <a:pt x="233579" y="617580"/>
                  </a:lnTo>
                  <a:lnTo>
                    <a:pt x="279896" y="627515"/>
                  </a:lnTo>
                  <a:lnTo>
                    <a:pt x="328422" y="630936"/>
                  </a:lnTo>
                  <a:lnTo>
                    <a:pt x="376947" y="627515"/>
                  </a:lnTo>
                  <a:lnTo>
                    <a:pt x="423264" y="617580"/>
                  </a:lnTo>
                  <a:lnTo>
                    <a:pt x="466864" y="601618"/>
                  </a:lnTo>
                  <a:lnTo>
                    <a:pt x="507239" y="580116"/>
                  </a:lnTo>
                  <a:lnTo>
                    <a:pt x="543880" y="553562"/>
                  </a:lnTo>
                  <a:lnTo>
                    <a:pt x="576278" y="522444"/>
                  </a:lnTo>
                  <a:lnTo>
                    <a:pt x="603926" y="487250"/>
                  </a:lnTo>
                  <a:lnTo>
                    <a:pt x="626315" y="448468"/>
                  </a:lnTo>
                  <a:lnTo>
                    <a:pt x="642936" y="406585"/>
                  </a:lnTo>
                  <a:lnTo>
                    <a:pt x="653282" y="362089"/>
                  </a:lnTo>
                  <a:lnTo>
                    <a:pt x="656844" y="315467"/>
                  </a:lnTo>
                  <a:lnTo>
                    <a:pt x="653282" y="268846"/>
                  </a:lnTo>
                  <a:lnTo>
                    <a:pt x="642936" y="224350"/>
                  </a:lnTo>
                  <a:lnTo>
                    <a:pt x="626315" y="182467"/>
                  </a:lnTo>
                  <a:lnTo>
                    <a:pt x="603926" y="143685"/>
                  </a:lnTo>
                  <a:lnTo>
                    <a:pt x="576278" y="108491"/>
                  </a:lnTo>
                  <a:lnTo>
                    <a:pt x="543880" y="77373"/>
                  </a:lnTo>
                  <a:lnTo>
                    <a:pt x="507239" y="50819"/>
                  </a:lnTo>
                  <a:lnTo>
                    <a:pt x="466864" y="29317"/>
                  </a:lnTo>
                  <a:lnTo>
                    <a:pt x="423264" y="13355"/>
                  </a:lnTo>
                  <a:lnTo>
                    <a:pt x="376947" y="3420"/>
                  </a:lnTo>
                  <a:lnTo>
                    <a:pt x="328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07991" y="1996440"/>
              <a:ext cx="461772" cy="460248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7935468" y="2078926"/>
            <a:ext cx="3999229" cy="1229995"/>
            <a:chOff x="7935468" y="2078926"/>
            <a:chExt cx="3999229" cy="1229995"/>
          </a:xfrm>
        </p:grpSpPr>
        <p:sp>
          <p:nvSpPr>
            <p:cNvPr id="53" name="object 53"/>
            <p:cNvSpPr/>
            <p:nvPr/>
          </p:nvSpPr>
          <p:spPr>
            <a:xfrm>
              <a:off x="7935468" y="3058668"/>
              <a:ext cx="3999229" cy="0"/>
            </a:xfrm>
            <a:custGeom>
              <a:avLst/>
              <a:gdLst/>
              <a:ahLst/>
              <a:cxnLst/>
              <a:rect l="l" t="t" r="r" b="b"/>
              <a:pathLst>
                <a:path w="3999229" h="0">
                  <a:moveTo>
                    <a:pt x="0" y="0"/>
                  </a:moveTo>
                  <a:lnTo>
                    <a:pt x="399897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992618" y="2201418"/>
              <a:ext cx="3884929" cy="1092835"/>
            </a:xfrm>
            <a:custGeom>
              <a:avLst/>
              <a:gdLst/>
              <a:ahLst/>
              <a:cxnLst/>
              <a:rect l="l" t="t" r="r" b="b"/>
              <a:pathLst>
                <a:path w="3884929" h="1092835">
                  <a:moveTo>
                    <a:pt x="0" y="643128"/>
                  </a:moveTo>
                  <a:lnTo>
                    <a:pt x="114300" y="428244"/>
                  </a:lnTo>
                  <a:lnTo>
                    <a:pt x="228600" y="534924"/>
                  </a:lnTo>
                  <a:lnTo>
                    <a:pt x="342900" y="600456"/>
                  </a:lnTo>
                  <a:lnTo>
                    <a:pt x="457200" y="449580"/>
                  </a:lnTo>
                  <a:lnTo>
                    <a:pt x="571500" y="513588"/>
                  </a:lnTo>
                  <a:lnTo>
                    <a:pt x="685800" y="406908"/>
                  </a:lnTo>
                  <a:lnTo>
                    <a:pt x="800100" y="321564"/>
                  </a:lnTo>
                  <a:lnTo>
                    <a:pt x="914400" y="256032"/>
                  </a:lnTo>
                  <a:lnTo>
                    <a:pt x="1028700" y="300228"/>
                  </a:lnTo>
                  <a:lnTo>
                    <a:pt x="1143000" y="749808"/>
                  </a:lnTo>
                  <a:lnTo>
                    <a:pt x="1257300" y="534924"/>
                  </a:lnTo>
                  <a:lnTo>
                    <a:pt x="1371600" y="42672"/>
                  </a:lnTo>
                  <a:lnTo>
                    <a:pt x="1485900" y="0"/>
                  </a:lnTo>
                  <a:lnTo>
                    <a:pt x="1600200" y="1092708"/>
                  </a:lnTo>
                  <a:lnTo>
                    <a:pt x="1714500" y="707136"/>
                  </a:lnTo>
                  <a:lnTo>
                    <a:pt x="1828800" y="364236"/>
                  </a:lnTo>
                  <a:lnTo>
                    <a:pt x="1943100" y="406908"/>
                  </a:lnTo>
                  <a:lnTo>
                    <a:pt x="2057400" y="170687"/>
                  </a:lnTo>
                  <a:lnTo>
                    <a:pt x="2171700" y="170687"/>
                  </a:lnTo>
                  <a:lnTo>
                    <a:pt x="2286000" y="364236"/>
                  </a:lnTo>
                  <a:lnTo>
                    <a:pt x="2400300" y="321564"/>
                  </a:lnTo>
                  <a:lnTo>
                    <a:pt x="2514600" y="534924"/>
                  </a:lnTo>
                  <a:lnTo>
                    <a:pt x="2628900" y="577596"/>
                  </a:lnTo>
                  <a:lnTo>
                    <a:pt x="2743200" y="600456"/>
                  </a:lnTo>
                  <a:lnTo>
                    <a:pt x="2857500" y="621792"/>
                  </a:lnTo>
                  <a:lnTo>
                    <a:pt x="2971800" y="600456"/>
                  </a:lnTo>
                  <a:lnTo>
                    <a:pt x="3084576" y="707136"/>
                  </a:lnTo>
                  <a:lnTo>
                    <a:pt x="3198876" y="728472"/>
                  </a:lnTo>
                  <a:lnTo>
                    <a:pt x="3313176" y="749808"/>
                  </a:lnTo>
                  <a:lnTo>
                    <a:pt x="3427476" y="621792"/>
                  </a:lnTo>
                  <a:lnTo>
                    <a:pt x="3541776" y="600456"/>
                  </a:lnTo>
                  <a:lnTo>
                    <a:pt x="3656076" y="749808"/>
                  </a:lnTo>
                  <a:lnTo>
                    <a:pt x="3770376" y="685800"/>
                  </a:lnTo>
                  <a:lnTo>
                    <a:pt x="3884676" y="900684"/>
                  </a:lnTo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992618" y="2093214"/>
              <a:ext cx="3884929" cy="965200"/>
            </a:xfrm>
            <a:custGeom>
              <a:avLst/>
              <a:gdLst/>
              <a:ahLst/>
              <a:cxnLst/>
              <a:rect l="l" t="t" r="r" b="b"/>
              <a:pathLst>
                <a:path w="3884929" h="965200">
                  <a:moveTo>
                    <a:pt x="0" y="85344"/>
                  </a:moveTo>
                  <a:lnTo>
                    <a:pt x="114300" y="172212"/>
                  </a:lnTo>
                  <a:lnTo>
                    <a:pt x="228600" y="150875"/>
                  </a:lnTo>
                  <a:lnTo>
                    <a:pt x="342900" y="172212"/>
                  </a:lnTo>
                  <a:lnTo>
                    <a:pt x="457200" y="85344"/>
                  </a:lnTo>
                  <a:lnTo>
                    <a:pt x="571500" y="64008"/>
                  </a:lnTo>
                  <a:lnTo>
                    <a:pt x="685800" y="150875"/>
                  </a:lnTo>
                  <a:lnTo>
                    <a:pt x="800100" y="108203"/>
                  </a:lnTo>
                  <a:lnTo>
                    <a:pt x="914400" y="129539"/>
                  </a:lnTo>
                  <a:lnTo>
                    <a:pt x="1028700" y="0"/>
                  </a:lnTo>
                  <a:lnTo>
                    <a:pt x="1143000" y="751332"/>
                  </a:lnTo>
                  <a:lnTo>
                    <a:pt x="1257300" y="643127"/>
                  </a:lnTo>
                  <a:lnTo>
                    <a:pt x="1371600" y="257556"/>
                  </a:lnTo>
                  <a:lnTo>
                    <a:pt x="1485900" y="364236"/>
                  </a:lnTo>
                  <a:lnTo>
                    <a:pt x="1600200" y="342900"/>
                  </a:lnTo>
                  <a:lnTo>
                    <a:pt x="1714500" y="429768"/>
                  </a:lnTo>
                  <a:lnTo>
                    <a:pt x="1828800" y="408432"/>
                  </a:lnTo>
                  <a:lnTo>
                    <a:pt x="1943100" y="472439"/>
                  </a:lnTo>
                  <a:lnTo>
                    <a:pt x="2057400" y="429768"/>
                  </a:lnTo>
                  <a:lnTo>
                    <a:pt x="2171700" y="536448"/>
                  </a:lnTo>
                  <a:lnTo>
                    <a:pt x="2286000" y="557784"/>
                  </a:lnTo>
                  <a:lnTo>
                    <a:pt x="2400300" y="536448"/>
                  </a:lnTo>
                  <a:lnTo>
                    <a:pt x="2514600" y="600456"/>
                  </a:lnTo>
                  <a:lnTo>
                    <a:pt x="2628900" y="621791"/>
                  </a:lnTo>
                  <a:lnTo>
                    <a:pt x="2743200" y="708660"/>
                  </a:lnTo>
                  <a:lnTo>
                    <a:pt x="2857500" y="729996"/>
                  </a:lnTo>
                  <a:lnTo>
                    <a:pt x="2971800" y="708660"/>
                  </a:lnTo>
                  <a:lnTo>
                    <a:pt x="3084576" y="751332"/>
                  </a:lnTo>
                  <a:lnTo>
                    <a:pt x="3198876" y="772668"/>
                  </a:lnTo>
                  <a:lnTo>
                    <a:pt x="3313176" y="751332"/>
                  </a:lnTo>
                  <a:lnTo>
                    <a:pt x="3427476" y="729996"/>
                  </a:lnTo>
                  <a:lnTo>
                    <a:pt x="3541776" y="708660"/>
                  </a:lnTo>
                  <a:lnTo>
                    <a:pt x="3656076" y="685800"/>
                  </a:lnTo>
                  <a:lnTo>
                    <a:pt x="3770376" y="815339"/>
                  </a:lnTo>
                  <a:lnTo>
                    <a:pt x="3884676" y="964691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7582661" y="3366642"/>
            <a:ext cx="2260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706106" y="2937764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629270" y="2508630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629270" y="2079752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40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602981" y="1506728"/>
            <a:ext cx="304800" cy="352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70"/>
              </a:lnSpc>
              <a:spcBef>
                <a:spcPts val="95"/>
              </a:spcBef>
            </a:pPr>
            <a:r>
              <a:rPr dirty="0" sz="1000" spc="-20">
                <a:latin typeface="Calibri"/>
                <a:cs typeface="Calibri"/>
              </a:rPr>
              <a:t>YoY%</a:t>
            </a:r>
            <a:endParaRPr sz="1000">
              <a:latin typeface="Calibri"/>
              <a:cs typeface="Calibri"/>
            </a:endParaRPr>
          </a:p>
          <a:p>
            <a:pPr marL="38735">
              <a:lnSpc>
                <a:spcPts val="1410"/>
              </a:lnSpc>
            </a:pPr>
            <a:r>
              <a:rPr dirty="0" sz="1200" spc="-25">
                <a:solidFill>
                  <a:srgbClr val="585858"/>
                </a:solidFill>
                <a:latin typeface="Calibri"/>
                <a:cs typeface="Calibri"/>
              </a:rPr>
              <a:t>60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193785" y="3373373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8451342" y="3253232"/>
            <a:ext cx="7829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Households'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9455657" y="3373373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9600438" y="3159282"/>
            <a:ext cx="2243455" cy="53213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840"/>
              </a:spcBef>
            </a:pP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Non</a:t>
            </a:r>
            <a:r>
              <a:rPr dirty="0" sz="1200" spc="-4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85858"/>
                </a:solidFill>
                <a:latin typeface="Calibri"/>
                <a:cs typeface="Calibri"/>
              </a:rPr>
              <a:t>financial</a:t>
            </a:r>
            <a:r>
              <a:rPr dirty="0" sz="1200" spc="-3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Calibri"/>
                <a:cs typeface="Calibri"/>
              </a:rPr>
              <a:t>corporations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1824355" algn="l"/>
              </a:tabLst>
            </a:pPr>
            <a:r>
              <a:rPr dirty="0" sz="1000" spc="-10">
                <a:latin typeface="Calibri"/>
                <a:cs typeface="Calibri"/>
              </a:rPr>
              <a:t>2011Q1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10">
                <a:latin typeface="Calibri"/>
                <a:cs typeface="Calibri"/>
              </a:rPr>
              <a:t>2020Q1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989569" y="3514090"/>
            <a:ext cx="4311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Calibri"/>
                <a:cs typeface="Calibri"/>
              </a:rPr>
              <a:t>2003Q1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705343" y="1193291"/>
            <a:ext cx="4215765" cy="26416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25400" rIns="0" bIns="0" rtlCol="0" vert="horz">
            <a:spAutoFit/>
          </a:bodyPr>
          <a:lstStyle/>
          <a:p>
            <a:pPr algn="ctr" marR="128905">
              <a:lnSpc>
                <a:spcPct val="100000"/>
              </a:lnSpc>
              <a:spcBef>
                <a:spcPts val="2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Ahead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920983" y="-1523"/>
            <a:ext cx="638810" cy="132715"/>
            <a:chOff x="10920983" y="-1523"/>
            <a:chExt cx="638810" cy="132715"/>
          </a:xfrm>
        </p:grpSpPr>
        <p:sp>
          <p:nvSpPr>
            <p:cNvPr id="68" name="object 68"/>
            <p:cNvSpPr/>
            <p:nvPr/>
          </p:nvSpPr>
          <p:spPr>
            <a:xfrm>
              <a:off x="10920983" y="-1523"/>
              <a:ext cx="635635" cy="1905"/>
            </a:xfrm>
            <a:custGeom>
              <a:avLst/>
              <a:gdLst/>
              <a:ahLst/>
              <a:cxnLst/>
              <a:rect l="l" t="t" r="r" b="b"/>
              <a:pathLst>
                <a:path w="635634" h="1905">
                  <a:moveTo>
                    <a:pt x="0" y="1524"/>
                  </a:moveTo>
                  <a:lnTo>
                    <a:pt x="635507" y="1524"/>
                  </a:lnTo>
                  <a:lnTo>
                    <a:pt x="635507" y="0"/>
                  </a:lnTo>
                  <a:lnTo>
                    <a:pt x="0" y="0"/>
                  </a:lnTo>
                  <a:lnTo>
                    <a:pt x="0" y="1524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0924031" y="0"/>
              <a:ext cx="635635" cy="131445"/>
            </a:xfrm>
            <a:custGeom>
              <a:avLst/>
              <a:gdLst/>
              <a:ahLst/>
              <a:cxnLst/>
              <a:rect l="l" t="t" r="r" b="b"/>
              <a:pathLst>
                <a:path w="635634" h="131445">
                  <a:moveTo>
                    <a:pt x="635507" y="0"/>
                  </a:moveTo>
                  <a:lnTo>
                    <a:pt x="0" y="0"/>
                  </a:lnTo>
                  <a:lnTo>
                    <a:pt x="0" y="131064"/>
                  </a:lnTo>
                  <a:lnTo>
                    <a:pt x="635507" y="131064"/>
                  </a:lnTo>
                  <a:lnTo>
                    <a:pt x="635507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210311" y="6516623"/>
            <a:ext cx="2098675" cy="32766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156961" y="6564883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8860" y="6516623"/>
            <a:ext cx="9676765" cy="0"/>
          </a:xfrm>
          <a:custGeom>
            <a:avLst/>
            <a:gdLst/>
            <a:ahLst/>
            <a:cxnLst/>
            <a:rect l="l" t="t" r="r" b="b"/>
            <a:pathLst>
              <a:path w="9676765" h="0">
                <a:moveTo>
                  <a:pt x="0" y="0"/>
                </a:moveTo>
                <a:lnTo>
                  <a:pt x="9676257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825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2023" y="856488"/>
            <a:ext cx="11045825" cy="0"/>
          </a:xfrm>
          <a:custGeom>
            <a:avLst/>
            <a:gdLst/>
            <a:ahLst/>
            <a:cxnLst/>
            <a:rect l="l" t="t" r="r" b="b"/>
            <a:pathLst>
              <a:path w="11045825" h="0">
                <a:moveTo>
                  <a:pt x="0" y="0"/>
                </a:moveTo>
                <a:lnTo>
                  <a:pt x="11045825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88049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EXPLORING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 spc="-10"/>
              <a:t>MICROFINANCE</a:t>
            </a:r>
            <a:r>
              <a:rPr dirty="0" spc="-45"/>
              <a:t> </a:t>
            </a:r>
            <a:r>
              <a:rPr dirty="0"/>
              <a:t>LANDSCAPE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85"/>
              <a:t> </a:t>
            </a:r>
            <a:r>
              <a:rPr dirty="0" spc="-10"/>
              <a:t>INDONESIA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4434" y="491489"/>
            <a:ext cx="98475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7E7E7E"/>
                </a:solidFill>
                <a:latin typeface="Calibri"/>
                <a:cs typeface="Calibri"/>
              </a:rPr>
              <a:t>Analyzing</a:t>
            </a:r>
            <a:r>
              <a:rPr dirty="0" sz="2000" spc="-9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Calibri"/>
                <a:cs typeface="Calibri"/>
              </a:rPr>
              <a:t>Indonesia’s</a:t>
            </a:r>
            <a:r>
              <a:rPr dirty="0" sz="2000" spc="-7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7E7E7E"/>
                </a:solidFill>
                <a:latin typeface="Calibri"/>
                <a:cs typeface="Calibri"/>
              </a:rPr>
              <a:t>financial</a:t>
            </a:r>
            <a:r>
              <a:rPr dirty="0" sz="2000" spc="-7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7E7E7E"/>
                </a:solidFill>
                <a:latin typeface="Calibri"/>
                <a:cs typeface="Calibri"/>
              </a:rPr>
              <a:t>profile</a:t>
            </a:r>
            <a:r>
              <a:rPr dirty="0" sz="2000" spc="-5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2000" spc="-7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7E7E7E"/>
                </a:solidFill>
                <a:latin typeface="Calibri"/>
                <a:cs typeface="Calibri"/>
              </a:rPr>
              <a:t>addressing</a:t>
            </a:r>
            <a:r>
              <a:rPr dirty="0" sz="2000" spc="-6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7E7E7E"/>
                </a:solidFill>
                <a:latin typeface="Calibri"/>
                <a:cs typeface="Calibri"/>
              </a:rPr>
              <a:t>key</a:t>
            </a:r>
            <a:r>
              <a:rPr dirty="0" sz="2000" spc="-6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7E7E7E"/>
                </a:solidFill>
                <a:latin typeface="Calibri"/>
                <a:cs typeface="Calibri"/>
              </a:rPr>
              <a:t>challenges</a:t>
            </a:r>
            <a:r>
              <a:rPr dirty="0" sz="2000" spc="-6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7E7E7E"/>
                </a:solidFill>
                <a:latin typeface="Calibri"/>
                <a:cs typeface="Calibri"/>
              </a:rPr>
              <a:t>through</a:t>
            </a:r>
            <a:r>
              <a:rPr dirty="0" sz="2000" spc="-9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7E7E7E"/>
                </a:solidFill>
                <a:latin typeface="Calibri"/>
                <a:cs typeface="Calibri"/>
              </a:rPr>
              <a:t>proposed</a:t>
            </a:r>
            <a:r>
              <a:rPr dirty="0" sz="2000" spc="-7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Calibri"/>
                <a:cs typeface="Calibri"/>
              </a:rPr>
              <a:t>strategy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317" y="6336284"/>
            <a:ext cx="179641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2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GBG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Indonesia,</a:t>
            </a:r>
            <a:r>
              <a:rPr dirty="0" sz="800" spc="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McKinsey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reports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4592" y="1033272"/>
            <a:ext cx="5943600" cy="802005"/>
          </a:xfrm>
          <a:custGeom>
            <a:avLst/>
            <a:gdLst/>
            <a:ahLst/>
            <a:cxnLst/>
            <a:rect l="l" t="t" r="r" b="b"/>
            <a:pathLst>
              <a:path w="5943600" h="802005">
                <a:moveTo>
                  <a:pt x="5943600" y="0"/>
                </a:moveTo>
                <a:lnTo>
                  <a:pt x="0" y="0"/>
                </a:lnTo>
                <a:lnTo>
                  <a:pt x="0" y="801624"/>
                </a:lnTo>
                <a:lnTo>
                  <a:pt x="5943600" y="801624"/>
                </a:lnTo>
                <a:lnTo>
                  <a:pt x="59436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6763" y="1045844"/>
            <a:ext cx="542163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127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Indonesia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renowned</a:t>
            </a:r>
            <a:r>
              <a:rPr dirty="0" sz="1600">
                <a:latin typeface="Calibri"/>
                <a:cs typeface="Calibri"/>
              </a:rPr>
              <a:t> for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large-</a:t>
            </a:r>
            <a:r>
              <a:rPr dirty="0" sz="1600">
                <a:latin typeface="Calibri"/>
                <a:cs typeface="Calibri"/>
              </a:rPr>
              <a:t>scale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microfinance</a:t>
            </a:r>
            <a:r>
              <a:rPr dirty="0" sz="1600" spc="-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sector</a:t>
            </a:r>
            <a:r>
              <a:rPr dirty="0" sz="1600" spc="-10">
                <a:latin typeface="Calibri"/>
                <a:cs typeface="Calibri"/>
              </a:rPr>
              <a:t>, </a:t>
            </a:r>
            <a:r>
              <a:rPr dirty="0" sz="1600">
                <a:latin typeface="Calibri"/>
                <a:cs typeface="Calibri"/>
              </a:rPr>
              <a:t>with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range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commercial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banks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over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A4779"/>
                </a:solidFill>
                <a:latin typeface="Calibri"/>
                <a:cs typeface="Calibri"/>
              </a:rPr>
              <a:t>60,000 </a:t>
            </a:r>
            <a:r>
              <a:rPr dirty="0" sz="1600" b="1">
                <a:latin typeface="Calibri"/>
                <a:cs typeface="Calibri"/>
              </a:rPr>
              <a:t>MFIs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reaching </a:t>
            </a:r>
            <a:r>
              <a:rPr dirty="0" sz="1600">
                <a:latin typeface="Calibri"/>
                <a:cs typeface="Calibri"/>
              </a:rPr>
              <a:t>more than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A4779"/>
                </a:solidFill>
                <a:latin typeface="Calibri"/>
                <a:cs typeface="Calibri"/>
              </a:rPr>
              <a:t>50</a:t>
            </a:r>
            <a:r>
              <a:rPr dirty="0" sz="1600" spc="-10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A4779"/>
                </a:solidFill>
                <a:latin typeface="Calibri"/>
                <a:cs typeface="Calibri"/>
              </a:rPr>
              <a:t>million</a:t>
            </a:r>
            <a:r>
              <a:rPr dirty="0" sz="1600" spc="-5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people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8491" y="1997964"/>
            <a:ext cx="2207260" cy="772795"/>
          </a:xfrm>
          <a:custGeom>
            <a:avLst/>
            <a:gdLst/>
            <a:ahLst/>
            <a:cxnLst/>
            <a:rect l="l" t="t" r="r" b="b"/>
            <a:pathLst>
              <a:path w="2207260" h="772794">
                <a:moveTo>
                  <a:pt x="2206752" y="0"/>
                </a:moveTo>
                <a:lnTo>
                  <a:pt x="0" y="0"/>
                </a:lnTo>
                <a:lnTo>
                  <a:pt x="0" y="772667"/>
                </a:lnTo>
                <a:lnTo>
                  <a:pt x="2206752" y="772667"/>
                </a:lnTo>
                <a:lnTo>
                  <a:pt x="220675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88491" y="1997964"/>
            <a:ext cx="2207260" cy="77279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72415">
              <a:lnSpc>
                <a:spcPct val="100000"/>
              </a:lnSpc>
              <a:spcBef>
                <a:spcPts val="365"/>
              </a:spcBef>
            </a:pPr>
            <a:r>
              <a:rPr dirty="0" sz="1600" b="1">
                <a:solidFill>
                  <a:srgbClr val="0A4779"/>
                </a:solidFill>
                <a:latin typeface="Calibri"/>
                <a:cs typeface="Calibri"/>
              </a:rPr>
              <a:t>174</a:t>
            </a:r>
            <a:r>
              <a:rPr dirty="0" sz="1600" spc="-10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A4779"/>
                </a:solidFill>
                <a:latin typeface="Calibri"/>
                <a:cs typeface="Calibri"/>
              </a:rPr>
              <a:t>trillion</a:t>
            </a:r>
            <a:r>
              <a:rPr dirty="0" sz="1600" spc="-4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0A4779"/>
                </a:solidFill>
                <a:latin typeface="Calibri"/>
                <a:cs typeface="Calibri"/>
              </a:rPr>
              <a:t>IDR</a:t>
            </a:r>
            <a:endParaRPr sz="1600">
              <a:latin typeface="Calibri"/>
              <a:cs typeface="Calibri"/>
            </a:endParaRPr>
          </a:p>
          <a:p>
            <a:pPr marL="629285" marR="669925" indent="-213360">
              <a:lnSpc>
                <a:spcPct val="100000"/>
              </a:lnSpc>
              <a:spcBef>
                <a:spcPts val="30"/>
              </a:spcBef>
            </a:pPr>
            <a:r>
              <a:rPr dirty="0" sz="1200">
                <a:latin typeface="Calibri"/>
                <a:cs typeface="Calibri"/>
              </a:rPr>
              <a:t>Funds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distributed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Rural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Banks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9651" y="2141220"/>
            <a:ext cx="481584" cy="48158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227832" y="1997964"/>
            <a:ext cx="2207260" cy="772795"/>
          </a:xfrm>
          <a:custGeom>
            <a:avLst/>
            <a:gdLst/>
            <a:ahLst/>
            <a:cxnLst/>
            <a:rect l="l" t="t" r="r" b="b"/>
            <a:pathLst>
              <a:path w="2207260" h="772794">
                <a:moveTo>
                  <a:pt x="2206751" y="0"/>
                </a:moveTo>
                <a:lnTo>
                  <a:pt x="0" y="0"/>
                </a:lnTo>
                <a:lnTo>
                  <a:pt x="0" y="772667"/>
                </a:lnTo>
                <a:lnTo>
                  <a:pt x="2206751" y="772667"/>
                </a:lnTo>
                <a:lnTo>
                  <a:pt x="220675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27832" y="1997964"/>
            <a:ext cx="2207260" cy="7727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631825">
              <a:lnSpc>
                <a:spcPct val="100000"/>
              </a:lnSpc>
              <a:spcBef>
                <a:spcPts val="420"/>
              </a:spcBef>
            </a:pPr>
            <a:r>
              <a:rPr dirty="0" sz="1600" b="1">
                <a:solidFill>
                  <a:srgbClr val="0A4779"/>
                </a:solidFill>
                <a:latin typeface="Calibri"/>
                <a:cs typeface="Calibri"/>
              </a:rPr>
              <a:t>50</a:t>
            </a:r>
            <a:r>
              <a:rPr dirty="0" sz="1600" spc="-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A4779"/>
                </a:solidFill>
                <a:latin typeface="Calibri"/>
                <a:cs typeface="Calibri"/>
              </a:rPr>
              <a:t>mn</a:t>
            </a:r>
            <a:r>
              <a:rPr dirty="0" sz="1600" spc="-20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A4779"/>
                </a:solidFill>
                <a:latin typeface="Calibri"/>
                <a:cs typeface="Calibri"/>
              </a:rPr>
              <a:t>+</a:t>
            </a:r>
            <a:r>
              <a:rPr dirty="0" sz="1600" spc="-1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0A4779"/>
                </a:solidFill>
                <a:latin typeface="Calibri"/>
                <a:cs typeface="Calibri"/>
              </a:rPr>
              <a:t>MSMEs</a:t>
            </a:r>
            <a:endParaRPr sz="1600">
              <a:latin typeface="Calibri"/>
              <a:cs typeface="Calibri"/>
            </a:endParaRPr>
          </a:p>
          <a:p>
            <a:pPr marL="631825" marR="219710">
              <a:lnSpc>
                <a:spcPct val="100000"/>
              </a:lnSpc>
              <a:spcBef>
                <a:spcPts val="30"/>
              </a:spcBef>
            </a:pPr>
            <a:r>
              <a:rPr dirty="0" sz="1200" spc="-10">
                <a:latin typeface="Calibri"/>
                <a:cs typeface="Calibri"/>
              </a:rPr>
              <a:t>Contribute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than </a:t>
            </a: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30%</a:t>
            </a:r>
            <a:r>
              <a:rPr dirty="0" sz="1200" spc="-20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of</a:t>
            </a:r>
            <a:r>
              <a:rPr dirty="0" sz="1200" spc="-20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GDP</a:t>
            </a:r>
            <a:r>
              <a:rPr dirty="0" sz="1200" spc="-1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5555" y="2159507"/>
            <a:ext cx="460248" cy="46024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5260" y="2897123"/>
            <a:ext cx="5951220" cy="49847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1905" rIns="0" bIns="0" rtlCol="0" vert="horz">
            <a:spAutoFit/>
          </a:bodyPr>
          <a:lstStyle/>
          <a:p>
            <a:pPr marL="2433955" marR="1043940" indent="-1425575">
              <a:lnSpc>
                <a:spcPts val="1910"/>
              </a:lnSpc>
              <a:spcBef>
                <a:spcPts val="1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Understanding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6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dirty="0" sz="16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Technological Environment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00215" y="1074419"/>
            <a:ext cx="66040" cy="5370830"/>
          </a:xfrm>
          <a:custGeom>
            <a:avLst/>
            <a:gdLst/>
            <a:ahLst/>
            <a:cxnLst/>
            <a:rect l="l" t="t" r="r" b="b"/>
            <a:pathLst>
              <a:path w="66039" h="5370830">
                <a:moveTo>
                  <a:pt x="0" y="0"/>
                </a:moveTo>
                <a:lnTo>
                  <a:pt x="65532" y="5370791"/>
                </a:lnTo>
              </a:path>
            </a:pathLst>
          </a:custGeom>
          <a:ln w="1270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95071" y="4852415"/>
            <a:ext cx="5998845" cy="3048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 marL="26670">
              <a:lnSpc>
                <a:spcPct val="100000"/>
              </a:lnSpc>
              <a:spcBef>
                <a:spcPts val="295"/>
              </a:spcBef>
            </a:pP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Mobile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–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First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Nation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(Penetration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Numbers)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3923" y="5423915"/>
            <a:ext cx="2376170" cy="707390"/>
          </a:xfrm>
          <a:prstGeom prst="rect">
            <a:avLst/>
          </a:prstGeom>
          <a:solidFill>
            <a:srgbClr val="DFE6EE"/>
          </a:solidFill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dirty="0" sz="2800" spc="-25" b="1">
                <a:latin typeface="Calibri"/>
                <a:cs typeface="Calibri"/>
              </a:rPr>
              <a:t>75%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purchases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mobile</a:t>
            </a:r>
            <a:r>
              <a:rPr dirty="0" sz="1200" spc="-10">
                <a:latin typeface="Calibri"/>
                <a:cs typeface="Calibri"/>
              </a:rPr>
              <a:t> based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0376" y="5425440"/>
            <a:ext cx="2352040" cy="708660"/>
          </a:xfrm>
          <a:prstGeom prst="rect">
            <a:avLst/>
          </a:prstGeom>
          <a:solidFill>
            <a:srgbClr val="DFE6EE"/>
          </a:solidFill>
        </p:spPr>
        <p:txBody>
          <a:bodyPr wrap="square" lIns="0" tIns="23495" rIns="0" bIns="0" rtlCol="0" vert="horz">
            <a:spAutoFit/>
          </a:bodyPr>
          <a:lstStyle/>
          <a:p>
            <a:pPr marL="583565">
              <a:lnSpc>
                <a:spcPct val="100000"/>
              </a:lnSpc>
              <a:spcBef>
                <a:spcPts val="185"/>
              </a:spcBef>
            </a:pPr>
            <a:r>
              <a:rPr dirty="0" sz="2800" b="1">
                <a:latin typeface="Calibri"/>
                <a:cs typeface="Calibri"/>
              </a:rPr>
              <a:t>270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mn</a:t>
            </a:r>
            <a:endParaRPr sz="2800">
              <a:latin typeface="Calibri"/>
              <a:cs typeface="Calibri"/>
            </a:endParaRPr>
          </a:p>
          <a:p>
            <a:pPr marL="168910">
              <a:lnSpc>
                <a:spcPct val="100000"/>
              </a:lnSpc>
              <a:spcBef>
                <a:spcPts val="114"/>
              </a:spcBef>
            </a:pPr>
            <a:r>
              <a:rPr dirty="0" sz="1200" spc="-10">
                <a:latin typeface="Calibri"/>
                <a:cs typeface="Calibri"/>
              </a:rPr>
              <a:t>Projected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internet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80276" y="1042416"/>
            <a:ext cx="5135880" cy="24384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1905">
              <a:lnSpc>
                <a:spcPts val="1800"/>
              </a:lnSpc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Integral</a:t>
            </a:r>
            <a:r>
              <a:rPr dirty="0" sz="16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Challenges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96836" y="1394840"/>
            <a:ext cx="36131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alibri"/>
                <a:cs typeface="Calibri"/>
              </a:rPr>
              <a:t>Adverse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Repayment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Abilities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of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Micro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Borrowers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52409" y="1890141"/>
            <a:ext cx="21005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alibri"/>
                <a:cs typeface="Calibri"/>
              </a:rPr>
              <a:t>Increased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Cost of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Borrowing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23986" y="2407996"/>
            <a:ext cx="192532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Arduous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Loan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59979" y="2865577"/>
            <a:ext cx="238125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Unspecialised</a:t>
            </a:r>
            <a:r>
              <a:rPr dirty="0" sz="1400" spc="-7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Product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Offerings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145458" y="1318577"/>
            <a:ext cx="1768475" cy="1834514"/>
            <a:chOff x="10145458" y="1318577"/>
            <a:chExt cx="1768475" cy="1834514"/>
          </a:xfrm>
        </p:grpSpPr>
        <p:sp>
          <p:nvSpPr>
            <p:cNvPr id="27" name="object 27"/>
            <p:cNvSpPr/>
            <p:nvPr/>
          </p:nvSpPr>
          <p:spPr>
            <a:xfrm>
              <a:off x="10863072" y="1332864"/>
              <a:ext cx="915669" cy="1235075"/>
            </a:xfrm>
            <a:custGeom>
              <a:avLst/>
              <a:gdLst/>
              <a:ahLst/>
              <a:cxnLst/>
              <a:rect l="l" t="t" r="r" b="b"/>
              <a:pathLst>
                <a:path w="915670" h="1235075">
                  <a:moveTo>
                    <a:pt x="381" y="921893"/>
                  </a:moveTo>
                  <a:lnTo>
                    <a:pt x="0" y="899287"/>
                  </a:lnTo>
                  <a:lnTo>
                    <a:pt x="0" y="915670"/>
                  </a:lnTo>
                  <a:lnTo>
                    <a:pt x="381" y="921893"/>
                  </a:lnTo>
                  <a:close/>
                </a:path>
                <a:path w="915670" h="1235075">
                  <a:moveTo>
                    <a:pt x="381" y="883412"/>
                  </a:moveTo>
                  <a:lnTo>
                    <a:pt x="0" y="890270"/>
                  </a:lnTo>
                  <a:lnTo>
                    <a:pt x="0" y="899287"/>
                  </a:lnTo>
                  <a:lnTo>
                    <a:pt x="381" y="883412"/>
                  </a:lnTo>
                  <a:close/>
                </a:path>
                <a:path w="915670" h="1235075">
                  <a:moveTo>
                    <a:pt x="1016" y="937641"/>
                  </a:moveTo>
                  <a:lnTo>
                    <a:pt x="381" y="921893"/>
                  </a:lnTo>
                  <a:lnTo>
                    <a:pt x="381" y="924560"/>
                  </a:lnTo>
                  <a:lnTo>
                    <a:pt x="1016" y="937641"/>
                  </a:lnTo>
                  <a:close/>
                </a:path>
                <a:path w="915670" h="1235075">
                  <a:moveTo>
                    <a:pt x="1270" y="861187"/>
                  </a:moveTo>
                  <a:lnTo>
                    <a:pt x="508" y="873887"/>
                  </a:lnTo>
                  <a:lnTo>
                    <a:pt x="381" y="883412"/>
                  </a:lnTo>
                  <a:lnTo>
                    <a:pt x="1270" y="861187"/>
                  </a:lnTo>
                  <a:close/>
                </a:path>
                <a:path w="915670" h="1235075">
                  <a:moveTo>
                    <a:pt x="2794" y="970153"/>
                  </a:moveTo>
                  <a:lnTo>
                    <a:pt x="1016" y="937641"/>
                  </a:lnTo>
                  <a:lnTo>
                    <a:pt x="2413" y="966216"/>
                  </a:lnTo>
                  <a:lnTo>
                    <a:pt x="2794" y="970153"/>
                  </a:lnTo>
                  <a:close/>
                </a:path>
                <a:path w="915670" h="1235075">
                  <a:moveTo>
                    <a:pt x="3302" y="830199"/>
                  </a:moveTo>
                  <a:lnTo>
                    <a:pt x="2286" y="840359"/>
                  </a:lnTo>
                  <a:lnTo>
                    <a:pt x="1270" y="861187"/>
                  </a:lnTo>
                  <a:lnTo>
                    <a:pt x="3302" y="830199"/>
                  </a:lnTo>
                  <a:close/>
                </a:path>
                <a:path w="915670" h="1235075">
                  <a:moveTo>
                    <a:pt x="5334" y="809625"/>
                  </a:moveTo>
                  <a:lnTo>
                    <a:pt x="3683" y="823595"/>
                  </a:lnTo>
                  <a:lnTo>
                    <a:pt x="3302" y="830199"/>
                  </a:lnTo>
                  <a:lnTo>
                    <a:pt x="5334" y="809625"/>
                  </a:lnTo>
                  <a:close/>
                </a:path>
                <a:path w="915670" h="1235075">
                  <a:moveTo>
                    <a:pt x="5461" y="995299"/>
                  </a:moveTo>
                  <a:lnTo>
                    <a:pt x="2794" y="970153"/>
                  </a:lnTo>
                  <a:lnTo>
                    <a:pt x="3048" y="974471"/>
                  </a:lnTo>
                  <a:lnTo>
                    <a:pt x="5461" y="995299"/>
                  </a:lnTo>
                  <a:close/>
                </a:path>
                <a:path w="915670" h="1235075">
                  <a:moveTo>
                    <a:pt x="8255" y="1020445"/>
                  </a:moveTo>
                  <a:lnTo>
                    <a:pt x="5461" y="995299"/>
                  </a:lnTo>
                  <a:lnTo>
                    <a:pt x="7620" y="1015873"/>
                  </a:lnTo>
                  <a:lnTo>
                    <a:pt x="8255" y="1020445"/>
                  </a:lnTo>
                  <a:close/>
                </a:path>
                <a:path w="915670" h="1235075">
                  <a:moveTo>
                    <a:pt x="8636" y="781939"/>
                  </a:moveTo>
                  <a:lnTo>
                    <a:pt x="7239" y="790829"/>
                  </a:lnTo>
                  <a:lnTo>
                    <a:pt x="5334" y="809625"/>
                  </a:lnTo>
                  <a:lnTo>
                    <a:pt x="8636" y="781939"/>
                  </a:lnTo>
                  <a:close/>
                </a:path>
                <a:path w="915670" h="1235075">
                  <a:moveTo>
                    <a:pt x="11430" y="1040003"/>
                  </a:moveTo>
                  <a:lnTo>
                    <a:pt x="8255" y="1020445"/>
                  </a:lnTo>
                  <a:lnTo>
                    <a:pt x="8636" y="1023747"/>
                  </a:lnTo>
                  <a:lnTo>
                    <a:pt x="11430" y="1040003"/>
                  </a:lnTo>
                  <a:close/>
                </a:path>
                <a:path w="915670" h="1235075">
                  <a:moveTo>
                    <a:pt x="11938" y="760857"/>
                  </a:moveTo>
                  <a:lnTo>
                    <a:pt x="9525" y="774192"/>
                  </a:lnTo>
                  <a:lnTo>
                    <a:pt x="8636" y="781939"/>
                  </a:lnTo>
                  <a:lnTo>
                    <a:pt x="11938" y="760857"/>
                  </a:lnTo>
                  <a:close/>
                </a:path>
                <a:path w="915670" h="1235075">
                  <a:moveTo>
                    <a:pt x="16637" y="1069848"/>
                  </a:moveTo>
                  <a:lnTo>
                    <a:pt x="11430" y="1040003"/>
                  </a:lnTo>
                  <a:lnTo>
                    <a:pt x="15494" y="1064895"/>
                  </a:lnTo>
                  <a:lnTo>
                    <a:pt x="16637" y="1069848"/>
                  </a:lnTo>
                  <a:close/>
                </a:path>
                <a:path w="915670" h="1235075">
                  <a:moveTo>
                    <a:pt x="17272" y="731774"/>
                  </a:moveTo>
                  <a:lnTo>
                    <a:pt x="14859" y="742442"/>
                  </a:lnTo>
                  <a:lnTo>
                    <a:pt x="11938" y="760857"/>
                  </a:lnTo>
                  <a:lnTo>
                    <a:pt x="17272" y="731774"/>
                  </a:lnTo>
                  <a:close/>
                </a:path>
                <a:path w="915670" h="1235075">
                  <a:moveTo>
                    <a:pt x="20955" y="714883"/>
                  </a:moveTo>
                  <a:lnTo>
                    <a:pt x="18415" y="725551"/>
                  </a:lnTo>
                  <a:lnTo>
                    <a:pt x="17272" y="731774"/>
                  </a:lnTo>
                  <a:lnTo>
                    <a:pt x="20955" y="714883"/>
                  </a:lnTo>
                  <a:close/>
                </a:path>
                <a:path w="915670" h="1235075">
                  <a:moveTo>
                    <a:pt x="21209" y="1090041"/>
                  </a:moveTo>
                  <a:lnTo>
                    <a:pt x="16637" y="1069848"/>
                  </a:lnTo>
                  <a:lnTo>
                    <a:pt x="17145" y="1072388"/>
                  </a:lnTo>
                  <a:lnTo>
                    <a:pt x="21209" y="1090041"/>
                  </a:lnTo>
                  <a:close/>
                </a:path>
                <a:path w="915670" h="1235075">
                  <a:moveTo>
                    <a:pt x="27178" y="1116076"/>
                  </a:moveTo>
                  <a:lnTo>
                    <a:pt x="21209" y="1090041"/>
                  </a:lnTo>
                  <a:lnTo>
                    <a:pt x="26289" y="1112901"/>
                  </a:lnTo>
                  <a:lnTo>
                    <a:pt x="27178" y="1116076"/>
                  </a:lnTo>
                  <a:close/>
                </a:path>
                <a:path w="915670" h="1235075">
                  <a:moveTo>
                    <a:pt x="28702" y="682879"/>
                  </a:moveTo>
                  <a:lnTo>
                    <a:pt x="25400" y="694690"/>
                  </a:lnTo>
                  <a:lnTo>
                    <a:pt x="20955" y="714883"/>
                  </a:lnTo>
                  <a:lnTo>
                    <a:pt x="28702" y="682879"/>
                  </a:lnTo>
                  <a:close/>
                </a:path>
                <a:path w="915670" h="1235075">
                  <a:moveTo>
                    <a:pt x="32766" y="668528"/>
                  </a:moveTo>
                  <a:lnTo>
                    <a:pt x="29972" y="677799"/>
                  </a:lnTo>
                  <a:lnTo>
                    <a:pt x="28702" y="682879"/>
                  </a:lnTo>
                  <a:lnTo>
                    <a:pt x="32766" y="668528"/>
                  </a:lnTo>
                  <a:close/>
                </a:path>
                <a:path w="915670" h="1235075">
                  <a:moveTo>
                    <a:pt x="34544" y="1141984"/>
                  </a:moveTo>
                  <a:lnTo>
                    <a:pt x="27178" y="1116076"/>
                  </a:lnTo>
                  <a:lnTo>
                    <a:pt x="28067" y="1119759"/>
                  </a:lnTo>
                  <a:lnTo>
                    <a:pt x="34544" y="1141984"/>
                  </a:lnTo>
                  <a:close/>
                </a:path>
                <a:path w="915670" h="1235075">
                  <a:moveTo>
                    <a:pt x="40894" y="1163320"/>
                  </a:moveTo>
                  <a:lnTo>
                    <a:pt x="34544" y="1141984"/>
                  </a:lnTo>
                  <a:lnTo>
                    <a:pt x="39751" y="1160145"/>
                  </a:lnTo>
                  <a:lnTo>
                    <a:pt x="40894" y="1163320"/>
                  </a:lnTo>
                  <a:close/>
                </a:path>
                <a:path w="915670" h="1235075">
                  <a:moveTo>
                    <a:pt x="42037" y="637413"/>
                  </a:moveTo>
                  <a:lnTo>
                    <a:pt x="38481" y="647954"/>
                  </a:lnTo>
                  <a:lnTo>
                    <a:pt x="32766" y="668528"/>
                  </a:lnTo>
                  <a:lnTo>
                    <a:pt x="42037" y="637413"/>
                  </a:lnTo>
                  <a:close/>
                </a:path>
                <a:path w="915670" h="1235075">
                  <a:moveTo>
                    <a:pt x="48133" y="619506"/>
                  </a:moveTo>
                  <a:lnTo>
                    <a:pt x="43942" y="631063"/>
                  </a:lnTo>
                  <a:lnTo>
                    <a:pt x="42037" y="637413"/>
                  </a:lnTo>
                  <a:lnTo>
                    <a:pt x="48133" y="619506"/>
                  </a:lnTo>
                  <a:close/>
                </a:path>
                <a:path w="915670" h="1235075">
                  <a:moveTo>
                    <a:pt x="50419" y="1191006"/>
                  </a:moveTo>
                  <a:lnTo>
                    <a:pt x="40894" y="1163320"/>
                  </a:lnTo>
                  <a:lnTo>
                    <a:pt x="41783" y="1166368"/>
                  </a:lnTo>
                  <a:lnTo>
                    <a:pt x="50419" y="1191006"/>
                  </a:lnTo>
                  <a:close/>
                </a:path>
                <a:path w="915670" h="1235075">
                  <a:moveTo>
                    <a:pt x="56388" y="1207770"/>
                  </a:moveTo>
                  <a:lnTo>
                    <a:pt x="50419" y="1191006"/>
                  </a:lnTo>
                  <a:lnTo>
                    <a:pt x="55626" y="1206119"/>
                  </a:lnTo>
                  <a:lnTo>
                    <a:pt x="56388" y="1207770"/>
                  </a:lnTo>
                  <a:close/>
                </a:path>
                <a:path w="915670" h="1235075">
                  <a:moveTo>
                    <a:pt x="57658" y="593471"/>
                  </a:moveTo>
                  <a:lnTo>
                    <a:pt x="54102" y="602107"/>
                  </a:lnTo>
                  <a:lnTo>
                    <a:pt x="48133" y="619506"/>
                  </a:lnTo>
                  <a:lnTo>
                    <a:pt x="57658" y="593471"/>
                  </a:lnTo>
                  <a:close/>
                </a:path>
                <a:path w="915670" h="1235075">
                  <a:moveTo>
                    <a:pt x="66548" y="571627"/>
                  </a:moveTo>
                  <a:lnTo>
                    <a:pt x="60579" y="585470"/>
                  </a:lnTo>
                  <a:lnTo>
                    <a:pt x="57658" y="593471"/>
                  </a:lnTo>
                  <a:lnTo>
                    <a:pt x="66548" y="571627"/>
                  </a:lnTo>
                  <a:close/>
                </a:path>
                <a:path w="915670" h="1235075">
                  <a:moveTo>
                    <a:pt x="67564" y="1234948"/>
                  </a:moveTo>
                  <a:lnTo>
                    <a:pt x="56388" y="1207770"/>
                  </a:lnTo>
                  <a:lnTo>
                    <a:pt x="57912" y="1212088"/>
                  </a:lnTo>
                  <a:lnTo>
                    <a:pt x="67564" y="1234948"/>
                  </a:lnTo>
                  <a:close/>
                </a:path>
                <a:path w="915670" h="1235075">
                  <a:moveTo>
                    <a:pt x="76454" y="548513"/>
                  </a:moveTo>
                  <a:lnTo>
                    <a:pt x="72263" y="557530"/>
                  </a:lnTo>
                  <a:lnTo>
                    <a:pt x="66548" y="571627"/>
                  </a:lnTo>
                  <a:lnTo>
                    <a:pt x="76454" y="548513"/>
                  </a:lnTo>
                  <a:close/>
                </a:path>
                <a:path w="915670" h="1235075">
                  <a:moveTo>
                    <a:pt x="85725" y="528828"/>
                  </a:moveTo>
                  <a:lnTo>
                    <a:pt x="79756" y="541020"/>
                  </a:lnTo>
                  <a:lnTo>
                    <a:pt x="76454" y="548513"/>
                  </a:lnTo>
                  <a:lnTo>
                    <a:pt x="85725" y="528828"/>
                  </a:lnTo>
                  <a:close/>
                </a:path>
                <a:path w="915670" h="1235075">
                  <a:moveTo>
                    <a:pt x="97155" y="505714"/>
                  </a:moveTo>
                  <a:lnTo>
                    <a:pt x="92710" y="514096"/>
                  </a:lnTo>
                  <a:lnTo>
                    <a:pt x="85725" y="528828"/>
                  </a:lnTo>
                  <a:lnTo>
                    <a:pt x="97155" y="505714"/>
                  </a:lnTo>
                  <a:close/>
                </a:path>
                <a:path w="915670" h="1235075">
                  <a:moveTo>
                    <a:pt x="108712" y="484378"/>
                  </a:moveTo>
                  <a:lnTo>
                    <a:pt x="101219" y="497586"/>
                  </a:lnTo>
                  <a:lnTo>
                    <a:pt x="97155" y="505714"/>
                  </a:lnTo>
                  <a:lnTo>
                    <a:pt x="108712" y="484378"/>
                  </a:lnTo>
                  <a:close/>
                </a:path>
                <a:path w="915670" h="1235075">
                  <a:moveTo>
                    <a:pt x="119888" y="464566"/>
                  </a:moveTo>
                  <a:lnTo>
                    <a:pt x="115443" y="471805"/>
                  </a:lnTo>
                  <a:lnTo>
                    <a:pt x="108712" y="484378"/>
                  </a:lnTo>
                  <a:lnTo>
                    <a:pt x="119888" y="464566"/>
                  </a:lnTo>
                  <a:close/>
                </a:path>
                <a:path w="915670" h="1235075">
                  <a:moveTo>
                    <a:pt x="133604" y="442087"/>
                  </a:moveTo>
                  <a:lnTo>
                    <a:pt x="124968" y="455549"/>
                  </a:lnTo>
                  <a:lnTo>
                    <a:pt x="119888" y="464566"/>
                  </a:lnTo>
                  <a:lnTo>
                    <a:pt x="133604" y="442087"/>
                  </a:lnTo>
                  <a:close/>
                </a:path>
                <a:path w="915670" h="1235075">
                  <a:moveTo>
                    <a:pt x="145288" y="423926"/>
                  </a:moveTo>
                  <a:lnTo>
                    <a:pt x="140462" y="430911"/>
                  </a:lnTo>
                  <a:lnTo>
                    <a:pt x="133604" y="442087"/>
                  </a:lnTo>
                  <a:lnTo>
                    <a:pt x="145288" y="423926"/>
                  </a:lnTo>
                  <a:close/>
                </a:path>
                <a:path w="915670" h="1235075">
                  <a:moveTo>
                    <a:pt x="161798" y="400177"/>
                  </a:moveTo>
                  <a:lnTo>
                    <a:pt x="151130" y="414909"/>
                  </a:lnTo>
                  <a:lnTo>
                    <a:pt x="145288" y="423926"/>
                  </a:lnTo>
                  <a:lnTo>
                    <a:pt x="161798" y="400177"/>
                  </a:lnTo>
                  <a:close/>
                </a:path>
                <a:path w="915670" h="1235075">
                  <a:moveTo>
                    <a:pt x="172212" y="385699"/>
                  </a:moveTo>
                  <a:lnTo>
                    <a:pt x="167767" y="391287"/>
                  </a:lnTo>
                  <a:lnTo>
                    <a:pt x="161798" y="400177"/>
                  </a:lnTo>
                  <a:lnTo>
                    <a:pt x="172212" y="385699"/>
                  </a:lnTo>
                  <a:close/>
                </a:path>
                <a:path w="915670" h="1235075">
                  <a:moveTo>
                    <a:pt x="189738" y="362712"/>
                  </a:moveTo>
                  <a:lnTo>
                    <a:pt x="179324" y="375666"/>
                  </a:lnTo>
                  <a:lnTo>
                    <a:pt x="172212" y="385699"/>
                  </a:lnTo>
                  <a:lnTo>
                    <a:pt x="189738" y="362712"/>
                  </a:lnTo>
                  <a:close/>
                </a:path>
                <a:path w="915670" h="1235075">
                  <a:moveTo>
                    <a:pt x="202311" y="346964"/>
                  </a:moveTo>
                  <a:lnTo>
                    <a:pt x="196977" y="353187"/>
                  </a:lnTo>
                  <a:lnTo>
                    <a:pt x="189738" y="362712"/>
                  </a:lnTo>
                  <a:lnTo>
                    <a:pt x="202311" y="346964"/>
                  </a:lnTo>
                  <a:close/>
                </a:path>
                <a:path w="915670" h="1235075">
                  <a:moveTo>
                    <a:pt x="220218" y="326263"/>
                  </a:moveTo>
                  <a:lnTo>
                    <a:pt x="209677" y="337947"/>
                  </a:lnTo>
                  <a:lnTo>
                    <a:pt x="202311" y="346964"/>
                  </a:lnTo>
                  <a:lnTo>
                    <a:pt x="220218" y="326263"/>
                  </a:lnTo>
                  <a:close/>
                </a:path>
                <a:path w="915670" h="1235075">
                  <a:moveTo>
                    <a:pt x="236093" y="308610"/>
                  </a:moveTo>
                  <a:lnTo>
                    <a:pt x="228346" y="316738"/>
                  </a:lnTo>
                  <a:lnTo>
                    <a:pt x="220218" y="326263"/>
                  </a:lnTo>
                  <a:lnTo>
                    <a:pt x="236093" y="308610"/>
                  </a:lnTo>
                  <a:close/>
                </a:path>
                <a:path w="915670" h="1235075">
                  <a:moveTo>
                    <a:pt x="250571" y="293370"/>
                  </a:moveTo>
                  <a:lnTo>
                    <a:pt x="242189" y="301879"/>
                  </a:lnTo>
                  <a:lnTo>
                    <a:pt x="236093" y="308610"/>
                  </a:lnTo>
                  <a:lnTo>
                    <a:pt x="250571" y="293370"/>
                  </a:lnTo>
                  <a:close/>
                </a:path>
                <a:path w="915670" h="1235075">
                  <a:moveTo>
                    <a:pt x="269494" y="274320"/>
                  </a:moveTo>
                  <a:lnTo>
                    <a:pt x="261620" y="281686"/>
                  </a:lnTo>
                  <a:lnTo>
                    <a:pt x="250571" y="293370"/>
                  </a:lnTo>
                  <a:lnTo>
                    <a:pt x="269494" y="274320"/>
                  </a:lnTo>
                  <a:close/>
                </a:path>
                <a:path w="915670" h="1235075">
                  <a:moveTo>
                    <a:pt x="286004" y="258572"/>
                  </a:moveTo>
                  <a:lnTo>
                    <a:pt x="276352" y="267335"/>
                  </a:lnTo>
                  <a:lnTo>
                    <a:pt x="269494" y="274320"/>
                  </a:lnTo>
                  <a:lnTo>
                    <a:pt x="286004" y="258572"/>
                  </a:lnTo>
                  <a:close/>
                </a:path>
                <a:path w="915670" h="1235075">
                  <a:moveTo>
                    <a:pt x="305689" y="240792"/>
                  </a:moveTo>
                  <a:lnTo>
                    <a:pt x="296799" y="248412"/>
                  </a:lnTo>
                  <a:lnTo>
                    <a:pt x="286004" y="258572"/>
                  </a:lnTo>
                  <a:lnTo>
                    <a:pt x="305689" y="240792"/>
                  </a:lnTo>
                  <a:close/>
                </a:path>
                <a:path w="915670" h="1235075">
                  <a:moveTo>
                    <a:pt x="323215" y="225933"/>
                  </a:moveTo>
                  <a:lnTo>
                    <a:pt x="312674" y="234569"/>
                  </a:lnTo>
                  <a:lnTo>
                    <a:pt x="305689" y="240792"/>
                  </a:lnTo>
                  <a:lnTo>
                    <a:pt x="323215" y="225933"/>
                  </a:lnTo>
                  <a:close/>
                </a:path>
                <a:path w="915670" h="1235075">
                  <a:moveTo>
                    <a:pt x="341757" y="210693"/>
                  </a:moveTo>
                  <a:lnTo>
                    <a:pt x="333883" y="216789"/>
                  </a:lnTo>
                  <a:lnTo>
                    <a:pt x="323215" y="225933"/>
                  </a:lnTo>
                  <a:lnTo>
                    <a:pt x="341757" y="210693"/>
                  </a:lnTo>
                  <a:close/>
                </a:path>
                <a:path w="915670" h="1235075">
                  <a:moveTo>
                    <a:pt x="361188" y="195707"/>
                  </a:moveTo>
                  <a:lnTo>
                    <a:pt x="350393" y="203708"/>
                  </a:lnTo>
                  <a:lnTo>
                    <a:pt x="341757" y="210693"/>
                  </a:lnTo>
                  <a:lnTo>
                    <a:pt x="361188" y="195707"/>
                  </a:lnTo>
                  <a:close/>
                </a:path>
                <a:path w="915670" h="1235075">
                  <a:moveTo>
                    <a:pt x="382016" y="180467"/>
                  </a:moveTo>
                  <a:lnTo>
                    <a:pt x="372364" y="187071"/>
                  </a:lnTo>
                  <a:lnTo>
                    <a:pt x="361188" y="195707"/>
                  </a:lnTo>
                  <a:lnTo>
                    <a:pt x="382016" y="180467"/>
                  </a:lnTo>
                  <a:close/>
                </a:path>
                <a:path w="915670" h="1235075">
                  <a:moveTo>
                    <a:pt x="400431" y="167767"/>
                  </a:moveTo>
                  <a:lnTo>
                    <a:pt x="390017" y="174498"/>
                  </a:lnTo>
                  <a:lnTo>
                    <a:pt x="382016" y="180467"/>
                  </a:lnTo>
                  <a:lnTo>
                    <a:pt x="400431" y="167767"/>
                  </a:lnTo>
                  <a:close/>
                </a:path>
                <a:path w="915670" h="1235075">
                  <a:moveTo>
                    <a:pt x="423164" y="152781"/>
                  </a:moveTo>
                  <a:lnTo>
                    <a:pt x="412750" y="159258"/>
                  </a:lnTo>
                  <a:lnTo>
                    <a:pt x="400431" y="167767"/>
                  </a:lnTo>
                  <a:lnTo>
                    <a:pt x="423164" y="152781"/>
                  </a:lnTo>
                  <a:close/>
                </a:path>
                <a:path w="915670" h="1235075">
                  <a:moveTo>
                    <a:pt x="441325" y="141605"/>
                  </a:moveTo>
                  <a:lnTo>
                    <a:pt x="431292" y="147447"/>
                  </a:lnTo>
                  <a:lnTo>
                    <a:pt x="423164" y="152781"/>
                  </a:lnTo>
                  <a:lnTo>
                    <a:pt x="441325" y="141605"/>
                  </a:lnTo>
                  <a:close/>
                </a:path>
                <a:path w="915670" h="1235075">
                  <a:moveTo>
                    <a:pt x="465582" y="127381"/>
                  </a:moveTo>
                  <a:lnTo>
                    <a:pt x="454533" y="133350"/>
                  </a:lnTo>
                  <a:lnTo>
                    <a:pt x="441325" y="141605"/>
                  </a:lnTo>
                  <a:lnTo>
                    <a:pt x="465582" y="127381"/>
                  </a:lnTo>
                  <a:close/>
                </a:path>
                <a:path w="915670" h="1235075">
                  <a:moveTo>
                    <a:pt x="485394" y="116459"/>
                  </a:moveTo>
                  <a:lnTo>
                    <a:pt x="474091" y="122428"/>
                  </a:lnTo>
                  <a:lnTo>
                    <a:pt x="465582" y="127381"/>
                  </a:lnTo>
                  <a:lnTo>
                    <a:pt x="485394" y="116459"/>
                  </a:lnTo>
                  <a:close/>
                </a:path>
                <a:path w="915670" h="1235075">
                  <a:moveTo>
                    <a:pt x="507619" y="104902"/>
                  </a:moveTo>
                  <a:lnTo>
                    <a:pt x="497967" y="109601"/>
                  </a:lnTo>
                  <a:lnTo>
                    <a:pt x="485394" y="116459"/>
                  </a:lnTo>
                  <a:lnTo>
                    <a:pt x="507619" y="104902"/>
                  </a:lnTo>
                  <a:close/>
                </a:path>
                <a:path w="915670" h="1235075">
                  <a:moveTo>
                    <a:pt x="532130" y="93091"/>
                  </a:moveTo>
                  <a:lnTo>
                    <a:pt x="518287" y="99314"/>
                  </a:lnTo>
                  <a:lnTo>
                    <a:pt x="507619" y="104902"/>
                  </a:lnTo>
                  <a:lnTo>
                    <a:pt x="532130" y="93091"/>
                  </a:lnTo>
                  <a:close/>
                </a:path>
                <a:path w="915670" h="1235075">
                  <a:moveTo>
                    <a:pt x="551942" y="83947"/>
                  </a:moveTo>
                  <a:lnTo>
                    <a:pt x="542798" y="87884"/>
                  </a:lnTo>
                  <a:lnTo>
                    <a:pt x="532130" y="93091"/>
                  </a:lnTo>
                  <a:lnTo>
                    <a:pt x="551942" y="83947"/>
                  </a:lnTo>
                  <a:close/>
                </a:path>
                <a:path w="915670" h="1235075">
                  <a:moveTo>
                    <a:pt x="577342" y="73279"/>
                  </a:moveTo>
                  <a:lnTo>
                    <a:pt x="563880" y="78613"/>
                  </a:lnTo>
                  <a:lnTo>
                    <a:pt x="551942" y="83947"/>
                  </a:lnTo>
                  <a:lnTo>
                    <a:pt x="577342" y="73279"/>
                  </a:lnTo>
                  <a:close/>
                </a:path>
                <a:path w="915670" h="1235075">
                  <a:moveTo>
                    <a:pt x="599948" y="64389"/>
                  </a:moveTo>
                  <a:lnTo>
                    <a:pt x="588899" y="68326"/>
                  </a:lnTo>
                  <a:lnTo>
                    <a:pt x="577342" y="73279"/>
                  </a:lnTo>
                  <a:lnTo>
                    <a:pt x="599948" y="64389"/>
                  </a:lnTo>
                  <a:close/>
                </a:path>
                <a:path w="915670" h="1235075">
                  <a:moveTo>
                    <a:pt x="622935" y="56007"/>
                  </a:moveTo>
                  <a:lnTo>
                    <a:pt x="610870" y="59944"/>
                  </a:lnTo>
                  <a:lnTo>
                    <a:pt x="599948" y="64389"/>
                  </a:lnTo>
                  <a:lnTo>
                    <a:pt x="622935" y="56007"/>
                  </a:lnTo>
                  <a:close/>
                </a:path>
                <a:path w="915670" h="1235075">
                  <a:moveTo>
                    <a:pt x="648589" y="47244"/>
                  </a:moveTo>
                  <a:lnTo>
                    <a:pt x="636143" y="51054"/>
                  </a:lnTo>
                  <a:lnTo>
                    <a:pt x="622935" y="56007"/>
                  </a:lnTo>
                  <a:lnTo>
                    <a:pt x="648589" y="47244"/>
                  </a:lnTo>
                  <a:close/>
                </a:path>
                <a:path w="915670" h="1235075">
                  <a:moveTo>
                    <a:pt x="670941" y="40386"/>
                  </a:moveTo>
                  <a:lnTo>
                    <a:pt x="659130" y="43688"/>
                  </a:lnTo>
                  <a:lnTo>
                    <a:pt x="648589" y="47244"/>
                  </a:lnTo>
                  <a:lnTo>
                    <a:pt x="670941" y="40386"/>
                  </a:lnTo>
                  <a:close/>
                </a:path>
                <a:path w="915670" h="1235075">
                  <a:moveTo>
                    <a:pt x="697611" y="33020"/>
                  </a:moveTo>
                  <a:lnTo>
                    <a:pt x="684784" y="36195"/>
                  </a:lnTo>
                  <a:lnTo>
                    <a:pt x="670941" y="40386"/>
                  </a:lnTo>
                  <a:lnTo>
                    <a:pt x="697611" y="33020"/>
                  </a:lnTo>
                  <a:close/>
                </a:path>
                <a:path w="915670" h="1235075">
                  <a:moveTo>
                    <a:pt x="720852" y="27051"/>
                  </a:moveTo>
                  <a:lnTo>
                    <a:pt x="708533" y="29845"/>
                  </a:lnTo>
                  <a:lnTo>
                    <a:pt x="697611" y="33020"/>
                  </a:lnTo>
                  <a:lnTo>
                    <a:pt x="720852" y="27051"/>
                  </a:lnTo>
                  <a:close/>
                </a:path>
                <a:path w="915670" h="1235075">
                  <a:moveTo>
                    <a:pt x="746379" y="21336"/>
                  </a:moveTo>
                  <a:lnTo>
                    <a:pt x="734441" y="23622"/>
                  </a:lnTo>
                  <a:lnTo>
                    <a:pt x="720852" y="27051"/>
                  </a:lnTo>
                  <a:lnTo>
                    <a:pt x="746379" y="21336"/>
                  </a:lnTo>
                  <a:close/>
                </a:path>
                <a:path w="915670" h="1235075">
                  <a:moveTo>
                    <a:pt x="772414" y="16129"/>
                  </a:moveTo>
                  <a:lnTo>
                    <a:pt x="758825" y="18542"/>
                  </a:lnTo>
                  <a:lnTo>
                    <a:pt x="746379" y="21336"/>
                  </a:lnTo>
                  <a:lnTo>
                    <a:pt x="772414" y="16129"/>
                  </a:lnTo>
                  <a:close/>
                </a:path>
                <a:path w="915670" h="1235075">
                  <a:moveTo>
                    <a:pt x="797814" y="11811"/>
                  </a:moveTo>
                  <a:lnTo>
                    <a:pt x="785241" y="13716"/>
                  </a:lnTo>
                  <a:lnTo>
                    <a:pt x="772414" y="16129"/>
                  </a:lnTo>
                  <a:lnTo>
                    <a:pt x="797814" y="11811"/>
                  </a:lnTo>
                  <a:close/>
                </a:path>
                <a:path w="915670" h="1235075">
                  <a:moveTo>
                    <a:pt x="823595" y="8128"/>
                  </a:moveTo>
                  <a:lnTo>
                    <a:pt x="810387" y="9652"/>
                  </a:lnTo>
                  <a:lnTo>
                    <a:pt x="797814" y="11811"/>
                  </a:lnTo>
                  <a:lnTo>
                    <a:pt x="823595" y="8128"/>
                  </a:lnTo>
                  <a:close/>
                </a:path>
                <a:path w="915670" h="1235075">
                  <a:moveTo>
                    <a:pt x="849757" y="4953"/>
                  </a:moveTo>
                  <a:lnTo>
                    <a:pt x="836930" y="6223"/>
                  </a:lnTo>
                  <a:lnTo>
                    <a:pt x="823595" y="8128"/>
                  </a:lnTo>
                  <a:lnTo>
                    <a:pt x="849757" y="4953"/>
                  </a:lnTo>
                  <a:close/>
                </a:path>
                <a:path w="915670" h="1235075">
                  <a:moveTo>
                    <a:pt x="875919" y="2540"/>
                  </a:moveTo>
                  <a:lnTo>
                    <a:pt x="862711" y="3429"/>
                  </a:lnTo>
                  <a:lnTo>
                    <a:pt x="849757" y="4953"/>
                  </a:lnTo>
                  <a:lnTo>
                    <a:pt x="875919" y="2540"/>
                  </a:lnTo>
                  <a:close/>
                </a:path>
                <a:path w="915670" h="1235075">
                  <a:moveTo>
                    <a:pt x="915162" y="0"/>
                  </a:moveTo>
                  <a:lnTo>
                    <a:pt x="889381" y="1397"/>
                  </a:lnTo>
                  <a:lnTo>
                    <a:pt x="875919" y="2540"/>
                  </a:lnTo>
                  <a:lnTo>
                    <a:pt x="91516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919460" y="2540634"/>
              <a:ext cx="897890" cy="597535"/>
            </a:xfrm>
            <a:custGeom>
              <a:avLst/>
              <a:gdLst/>
              <a:ahLst/>
              <a:cxnLst/>
              <a:rect l="l" t="t" r="r" b="b"/>
              <a:pathLst>
                <a:path w="897890" h="597535">
                  <a:moveTo>
                    <a:pt x="11176" y="27178"/>
                  </a:moveTo>
                  <a:lnTo>
                    <a:pt x="0" y="0"/>
                  </a:lnTo>
                  <a:lnTo>
                    <a:pt x="1524" y="4318"/>
                  </a:lnTo>
                  <a:lnTo>
                    <a:pt x="11176" y="27178"/>
                  </a:lnTo>
                  <a:close/>
                </a:path>
                <a:path w="897890" h="597535">
                  <a:moveTo>
                    <a:pt x="19304" y="46355"/>
                  </a:moveTo>
                  <a:lnTo>
                    <a:pt x="11176" y="27178"/>
                  </a:lnTo>
                  <a:lnTo>
                    <a:pt x="17780" y="43180"/>
                  </a:lnTo>
                  <a:lnTo>
                    <a:pt x="19304" y="46355"/>
                  </a:lnTo>
                  <a:close/>
                </a:path>
                <a:path w="897890" h="597535">
                  <a:moveTo>
                    <a:pt x="29083" y="67056"/>
                  </a:moveTo>
                  <a:lnTo>
                    <a:pt x="19304" y="46355"/>
                  </a:lnTo>
                  <a:lnTo>
                    <a:pt x="20193" y="48641"/>
                  </a:lnTo>
                  <a:lnTo>
                    <a:pt x="29083" y="67056"/>
                  </a:lnTo>
                  <a:close/>
                </a:path>
                <a:path w="897890" h="597535">
                  <a:moveTo>
                    <a:pt x="39751" y="89027"/>
                  </a:moveTo>
                  <a:lnTo>
                    <a:pt x="29083" y="67056"/>
                  </a:lnTo>
                  <a:lnTo>
                    <a:pt x="38608" y="86995"/>
                  </a:lnTo>
                  <a:lnTo>
                    <a:pt x="39751" y="89027"/>
                  </a:lnTo>
                  <a:close/>
                </a:path>
                <a:path w="897890" h="597535">
                  <a:moveTo>
                    <a:pt x="52832" y="112903"/>
                  </a:moveTo>
                  <a:lnTo>
                    <a:pt x="39751" y="89027"/>
                  </a:lnTo>
                  <a:lnTo>
                    <a:pt x="41148" y="91821"/>
                  </a:lnTo>
                  <a:lnTo>
                    <a:pt x="52832" y="112903"/>
                  </a:lnTo>
                  <a:close/>
                </a:path>
                <a:path w="897890" h="597535">
                  <a:moveTo>
                    <a:pt x="63373" y="131699"/>
                  </a:moveTo>
                  <a:lnTo>
                    <a:pt x="52832" y="112903"/>
                  </a:lnTo>
                  <a:lnTo>
                    <a:pt x="61849" y="129413"/>
                  </a:lnTo>
                  <a:lnTo>
                    <a:pt x="63373" y="131699"/>
                  </a:lnTo>
                  <a:close/>
                </a:path>
                <a:path w="897890" h="597535">
                  <a:moveTo>
                    <a:pt x="81915" y="161671"/>
                  </a:moveTo>
                  <a:lnTo>
                    <a:pt x="63373" y="131699"/>
                  </a:lnTo>
                  <a:lnTo>
                    <a:pt x="64516" y="133858"/>
                  </a:lnTo>
                  <a:lnTo>
                    <a:pt x="81915" y="161671"/>
                  </a:lnTo>
                  <a:close/>
                </a:path>
                <a:path w="897890" h="597535">
                  <a:moveTo>
                    <a:pt x="87757" y="170942"/>
                  </a:moveTo>
                  <a:lnTo>
                    <a:pt x="81915" y="161671"/>
                  </a:lnTo>
                  <a:lnTo>
                    <a:pt x="87376" y="170434"/>
                  </a:lnTo>
                  <a:lnTo>
                    <a:pt x="87757" y="170942"/>
                  </a:lnTo>
                  <a:close/>
                </a:path>
                <a:path w="897890" h="597535">
                  <a:moveTo>
                    <a:pt x="105283" y="196088"/>
                  </a:moveTo>
                  <a:lnTo>
                    <a:pt x="87757" y="170942"/>
                  </a:lnTo>
                  <a:lnTo>
                    <a:pt x="90043" y="174625"/>
                  </a:lnTo>
                  <a:lnTo>
                    <a:pt x="105283" y="196088"/>
                  </a:lnTo>
                  <a:close/>
                </a:path>
                <a:path w="897890" h="597535">
                  <a:moveTo>
                    <a:pt x="116840" y="212344"/>
                  </a:moveTo>
                  <a:lnTo>
                    <a:pt x="105283" y="196088"/>
                  </a:lnTo>
                  <a:lnTo>
                    <a:pt x="115062" y="210058"/>
                  </a:lnTo>
                  <a:lnTo>
                    <a:pt x="116840" y="212344"/>
                  </a:lnTo>
                  <a:close/>
                </a:path>
                <a:path w="897890" h="597535">
                  <a:moveTo>
                    <a:pt x="137160" y="238252"/>
                  </a:moveTo>
                  <a:lnTo>
                    <a:pt x="116840" y="212344"/>
                  </a:lnTo>
                  <a:lnTo>
                    <a:pt x="117856" y="213741"/>
                  </a:lnTo>
                  <a:lnTo>
                    <a:pt x="137160" y="238252"/>
                  </a:lnTo>
                  <a:close/>
                </a:path>
                <a:path w="897890" h="597535">
                  <a:moveTo>
                    <a:pt x="145288" y="248666"/>
                  </a:moveTo>
                  <a:lnTo>
                    <a:pt x="144907" y="248158"/>
                  </a:lnTo>
                  <a:lnTo>
                    <a:pt x="137160" y="238252"/>
                  </a:lnTo>
                  <a:lnTo>
                    <a:pt x="145288" y="248666"/>
                  </a:lnTo>
                  <a:close/>
                </a:path>
                <a:path w="897890" h="597535">
                  <a:moveTo>
                    <a:pt x="171196" y="278638"/>
                  </a:moveTo>
                  <a:lnTo>
                    <a:pt x="145288" y="248666"/>
                  </a:lnTo>
                  <a:lnTo>
                    <a:pt x="147701" y="251714"/>
                  </a:lnTo>
                  <a:lnTo>
                    <a:pt x="171196" y="278638"/>
                  </a:lnTo>
                  <a:close/>
                </a:path>
                <a:path w="897890" h="597535">
                  <a:moveTo>
                    <a:pt x="177165" y="285369"/>
                  </a:moveTo>
                  <a:lnTo>
                    <a:pt x="171196" y="278638"/>
                  </a:lnTo>
                  <a:lnTo>
                    <a:pt x="176530" y="284734"/>
                  </a:lnTo>
                  <a:lnTo>
                    <a:pt x="177165" y="285369"/>
                  </a:lnTo>
                  <a:close/>
                </a:path>
                <a:path w="897890" h="597535">
                  <a:moveTo>
                    <a:pt x="205994" y="315087"/>
                  </a:moveTo>
                  <a:lnTo>
                    <a:pt x="177165" y="285369"/>
                  </a:lnTo>
                  <a:lnTo>
                    <a:pt x="179324" y="287909"/>
                  </a:lnTo>
                  <a:lnTo>
                    <a:pt x="205994" y="315087"/>
                  </a:lnTo>
                  <a:close/>
                </a:path>
                <a:path w="897890" h="597535">
                  <a:moveTo>
                    <a:pt x="210947" y="320167"/>
                  </a:moveTo>
                  <a:lnTo>
                    <a:pt x="205994" y="315087"/>
                  </a:lnTo>
                  <a:lnTo>
                    <a:pt x="210439" y="319786"/>
                  </a:lnTo>
                  <a:lnTo>
                    <a:pt x="210947" y="320167"/>
                  </a:lnTo>
                  <a:close/>
                </a:path>
                <a:path w="897890" h="597535">
                  <a:moveTo>
                    <a:pt x="229235" y="337312"/>
                  </a:moveTo>
                  <a:lnTo>
                    <a:pt x="210947" y="320167"/>
                  </a:lnTo>
                  <a:lnTo>
                    <a:pt x="213106" y="322453"/>
                  </a:lnTo>
                  <a:lnTo>
                    <a:pt x="229235" y="337312"/>
                  </a:lnTo>
                  <a:close/>
                </a:path>
                <a:path w="897890" h="597535">
                  <a:moveTo>
                    <a:pt x="248539" y="355092"/>
                  </a:moveTo>
                  <a:lnTo>
                    <a:pt x="229235" y="337312"/>
                  </a:lnTo>
                  <a:lnTo>
                    <a:pt x="245999" y="353060"/>
                  </a:lnTo>
                  <a:lnTo>
                    <a:pt x="248539" y="355092"/>
                  </a:lnTo>
                  <a:close/>
                </a:path>
                <a:path w="897890" h="597535">
                  <a:moveTo>
                    <a:pt x="285648" y="386181"/>
                  </a:moveTo>
                  <a:lnTo>
                    <a:pt x="250952" y="357124"/>
                  </a:lnTo>
                  <a:lnTo>
                    <a:pt x="283337" y="384429"/>
                  </a:lnTo>
                  <a:lnTo>
                    <a:pt x="285648" y="386181"/>
                  </a:lnTo>
                  <a:close/>
                </a:path>
                <a:path w="897890" h="597535">
                  <a:moveTo>
                    <a:pt x="356743" y="437134"/>
                  </a:moveTo>
                  <a:lnTo>
                    <a:pt x="323215" y="414401"/>
                  </a:lnTo>
                  <a:lnTo>
                    <a:pt x="325120" y="415798"/>
                  </a:lnTo>
                  <a:lnTo>
                    <a:pt x="356743" y="437134"/>
                  </a:lnTo>
                  <a:close/>
                </a:path>
                <a:path w="897890" h="597535">
                  <a:moveTo>
                    <a:pt x="389001" y="457200"/>
                  </a:moveTo>
                  <a:lnTo>
                    <a:pt x="363728" y="441833"/>
                  </a:lnTo>
                  <a:lnTo>
                    <a:pt x="365633" y="443103"/>
                  </a:lnTo>
                  <a:lnTo>
                    <a:pt x="389001" y="457200"/>
                  </a:lnTo>
                  <a:close/>
                </a:path>
                <a:path w="897890" h="597535">
                  <a:moveTo>
                    <a:pt x="407035" y="468122"/>
                  </a:moveTo>
                  <a:lnTo>
                    <a:pt x="389001" y="457200"/>
                  </a:lnTo>
                  <a:lnTo>
                    <a:pt x="405638" y="467360"/>
                  </a:lnTo>
                  <a:lnTo>
                    <a:pt x="407035" y="468122"/>
                  </a:lnTo>
                  <a:close/>
                </a:path>
                <a:path w="897890" h="597535">
                  <a:moveTo>
                    <a:pt x="423037" y="476631"/>
                  </a:moveTo>
                  <a:lnTo>
                    <a:pt x="407797" y="468503"/>
                  </a:lnTo>
                  <a:lnTo>
                    <a:pt x="407035" y="468122"/>
                  </a:lnTo>
                  <a:lnTo>
                    <a:pt x="423037" y="476631"/>
                  </a:lnTo>
                  <a:close/>
                </a:path>
                <a:path w="897890" h="597535">
                  <a:moveTo>
                    <a:pt x="451104" y="491617"/>
                  </a:moveTo>
                  <a:lnTo>
                    <a:pt x="423037" y="476631"/>
                  </a:lnTo>
                  <a:lnTo>
                    <a:pt x="449580" y="490855"/>
                  </a:lnTo>
                  <a:lnTo>
                    <a:pt x="451104" y="491617"/>
                  </a:lnTo>
                  <a:close/>
                </a:path>
                <a:path w="897890" h="597535">
                  <a:moveTo>
                    <a:pt x="525526" y="524891"/>
                  </a:moveTo>
                  <a:lnTo>
                    <a:pt x="494792" y="512191"/>
                  </a:lnTo>
                  <a:lnTo>
                    <a:pt x="451104" y="491617"/>
                  </a:lnTo>
                  <a:lnTo>
                    <a:pt x="496570" y="513080"/>
                  </a:lnTo>
                  <a:lnTo>
                    <a:pt x="525526" y="524891"/>
                  </a:lnTo>
                  <a:close/>
                </a:path>
                <a:path w="897890" h="597535">
                  <a:moveTo>
                    <a:pt x="542671" y="531876"/>
                  </a:moveTo>
                  <a:lnTo>
                    <a:pt x="525526" y="524891"/>
                  </a:lnTo>
                  <a:lnTo>
                    <a:pt x="541401" y="531495"/>
                  </a:lnTo>
                  <a:lnTo>
                    <a:pt x="542671" y="531876"/>
                  </a:lnTo>
                  <a:close/>
                </a:path>
                <a:path w="897890" h="597535">
                  <a:moveTo>
                    <a:pt x="631317" y="560832"/>
                  </a:moveTo>
                  <a:lnTo>
                    <a:pt x="589153" y="548259"/>
                  </a:lnTo>
                  <a:lnTo>
                    <a:pt x="542671" y="531876"/>
                  </a:lnTo>
                  <a:lnTo>
                    <a:pt x="590423" y="548894"/>
                  </a:lnTo>
                  <a:lnTo>
                    <a:pt x="631317" y="560832"/>
                  </a:lnTo>
                  <a:close/>
                </a:path>
                <a:path w="897890" h="597535">
                  <a:moveTo>
                    <a:pt x="638683" y="562991"/>
                  </a:moveTo>
                  <a:lnTo>
                    <a:pt x="631317" y="560832"/>
                  </a:lnTo>
                  <a:lnTo>
                    <a:pt x="638048" y="562864"/>
                  </a:lnTo>
                  <a:lnTo>
                    <a:pt x="638683" y="562991"/>
                  </a:lnTo>
                  <a:close/>
                </a:path>
                <a:path w="897890" h="597535">
                  <a:moveTo>
                    <a:pt x="732663" y="583311"/>
                  </a:moveTo>
                  <a:lnTo>
                    <a:pt x="688213" y="574929"/>
                  </a:lnTo>
                  <a:lnTo>
                    <a:pt x="655574" y="567055"/>
                  </a:lnTo>
                  <a:lnTo>
                    <a:pt x="688975" y="575183"/>
                  </a:lnTo>
                  <a:lnTo>
                    <a:pt x="732663" y="583311"/>
                  </a:lnTo>
                  <a:close/>
                </a:path>
                <a:path w="897890" h="597535">
                  <a:moveTo>
                    <a:pt x="789736" y="591324"/>
                  </a:moveTo>
                  <a:lnTo>
                    <a:pt x="769632" y="588606"/>
                  </a:lnTo>
                  <a:lnTo>
                    <a:pt x="750519" y="586105"/>
                  </a:lnTo>
                  <a:lnTo>
                    <a:pt x="769289" y="588606"/>
                  </a:lnTo>
                  <a:lnTo>
                    <a:pt x="789736" y="591324"/>
                  </a:lnTo>
                  <a:close/>
                </a:path>
                <a:path w="897890" h="597535">
                  <a:moveTo>
                    <a:pt x="838200" y="595249"/>
                  </a:moveTo>
                  <a:lnTo>
                    <a:pt x="789736" y="591324"/>
                  </a:lnTo>
                  <a:lnTo>
                    <a:pt x="793445" y="591718"/>
                  </a:lnTo>
                  <a:lnTo>
                    <a:pt x="838200" y="595249"/>
                  </a:lnTo>
                  <a:close/>
                </a:path>
                <a:path w="897890" h="597535">
                  <a:moveTo>
                    <a:pt x="897636" y="597281"/>
                  </a:moveTo>
                  <a:lnTo>
                    <a:pt x="844296" y="595757"/>
                  </a:lnTo>
                  <a:lnTo>
                    <a:pt x="838200" y="595249"/>
                  </a:lnTo>
                  <a:lnTo>
                    <a:pt x="844042" y="595757"/>
                  </a:lnTo>
                  <a:lnTo>
                    <a:pt x="870839" y="596900"/>
                  </a:lnTo>
                  <a:lnTo>
                    <a:pt x="897636" y="59728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863833" y="1332864"/>
              <a:ext cx="954405" cy="1805939"/>
            </a:xfrm>
            <a:custGeom>
              <a:avLst/>
              <a:gdLst/>
              <a:ahLst/>
              <a:cxnLst/>
              <a:rect l="l" t="t" r="r" b="b"/>
              <a:pathLst>
                <a:path w="954404" h="1805939">
                  <a:moveTo>
                    <a:pt x="954024" y="1805813"/>
                  </a:moveTo>
                  <a:lnTo>
                    <a:pt x="900684" y="1804289"/>
                  </a:lnTo>
                  <a:lnTo>
                    <a:pt x="847979" y="1800098"/>
                  </a:lnTo>
                  <a:lnTo>
                    <a:pt x="796290" y="1793239"/>
                  </a:lnTo>
                  <a:lnTo>
                    <a:pt x="745363" y="1783714"/>
                  </a:lnTo>
                  <a:lnTo>
                    <a:pt x="695579" y="1771650"/>
                  </a:lnTo>
                  <a:lnTo>
                    <a:pt x="646811" y="1757426"/>
                  </a:lnTo>
                  <a:lnTo>
                    <a:pt x="599313" y="1740535"/>
                  </a:lnTo>
                  <a:lnTo>
                    <a:pt x="552958" y="1721612"/>
                  </a:lnTo>
                  <a:lnTo>
                    <a:pt x="508000" y="1700402"/>
                  </a:lnTo>
                  <a:lnTo>
                    <a:pt x="464185" y="1677035"/>
                  </a:lnTo>
                  <a:lnTo>
                    <a:pt x="422021" y="1651635"/>
                  </a:lnTo>
                  <a:lnTo>
                    <a:pt x="381508" y="1624330"/>
                  </a:lnTo>
                  <a:lnTo>
                    <a:pt x="342392" y="1594993"/>
                  </a:lnTo>
                  <a:lnTo>
                    <a:pt x="305054" y="1563751"/>
                  </a:lnTo>
                  <a:lnTo>
                    <a:pt x="269494" y="1530985"/>
                  </a:lnTo>
                  <a:lnTo>
                    <a:pt x="235712" y="1496440"/>
                  </a:lnTo>
                  <a:lnTo>
                    <a:pt x="204089" y="1460246"/>
                  </a:lnTo>
                  <a:lnTo>
                    <a:pt x="174244" y="1422273"/>
                  </a:lnTo>
                  <a:lnTo>
                    <a:pt x="146431" y="1383157"/>
                  </a:lnTo>
                  <a:lnTo>
                    <a:pt x="120904" y="1342389"/>
                  </a:lnTo>
                  <a:lnTo>
                    <a:pt x="97536" y="1300352"/>
                  </a:lnTo>
                  <a:lnTo>
                    <a:pt x="76581" y="1257173"/>
                  </a:lnTo>
                  <a:lnTo>
                    <a:pt x="57912" y="1212850"/>
                  </a:lnTo>
                  <a:lnTo>
                    <a:pt x="41783" y="1167130"/>
                  </a:lnTo>
                  <a:lnTo>
                    <a:pt x="28067" y="1120521"/>
                  </a:lnTo>
                  <a:lnTo>
                    <a:pt x="17145" y="1073150"/>
                  </a:lnTo>
                  <a:lnTo>
                    <a:pt x="8636" y="1024509"/>
                  </a:lnTo>
                  <a:lnTo>
                    <a:pt x="3048" y="975233"/>
                  </a:lnTo>
                  <a:lnTo>
                    <a:pt x="381" y="925322"/>
                  </a:lnTo>
                  <a:lnTo>
                    <a:pt x="0" y="900049"/>
                  </a:lnTo>
                  <a:lnTo>
                    <a:pt x="508" y="874649"/>
                  </a:lnTo>
                  <a:lnTo>
                    <a:pt x="3683" y="824357"/>
                  </a:lnTo>
                  <a:lnTo>
                    <a:pt x="9525" y="774954"/>
                  </a:lnTo>
                  <a:lnTo>
                    <a:pt x="18415" y="726313"/>
                  </a:lnTo>
                  <a:lnTo>
                    <a:pt x="29972" y="678561"/>
                  </a:lnTo>
                  <a:lnTo>
                    <a:pt x="43942" y="631825"/>
                  </a:lnTo>
                  <a:lnTo>
                    <a:pt x="60579" y="586232"/>
                  </a:lnTo>
                  <a:lnTo>
                    <a:pt x="79756" y="541782"/>
                  </a:lnTo>
                  <a:lnTo>
                    <a:pt x="101219" y="498348"/>
                  </a:lnTo>
                  <a:lnTo>
                    <a:pt x="124968" y="456311"/>
                  </a:lnTo>
                  <a:lnTo>
                    <a:pt x="151130" y="415671"/>
                  </a:lnTo>
                  <a:lnTo>
                    <a:pt x="179324" y="376427"/>
                  </a:lnTo>
                  <a:lnTo>
                    <a:pt x="209676" y="338709"/>
                  </a:lnTo>
                  <a:lnTo>
                    <a:pt x="242189" y="302640"/>
                  </a:lnTo>
                  <a:lnTo>
                    <a:pt x="276351" y="268097"/>
                  </a:lnTo>
                  <a:lnTo>
                    <a:pt x="312674" y="235331"/>
                  </a:lnTo>
                  <a:lnTo>
                    <a:pt x="350393" y="204470"/>
                  </a:lnTo>
                  <a:lnTo>
                    <a:pt x="390017" y="175260"/>
                  </a:lnTo>
                  <a:lnTo>
                    <a:pt x="431292" y="148209"/>
                  </a:lnTo>
                  <a:lnTo>
                    <a:pt x="474091" y="123189"/>
                  </a:lnTo>
                  <a:lnTo>
                    <a:pt x="518287" y="100075"/>
                  </a:lnTo>
                  <a:lnTo>
                    <a:pt x="563880" y="79375"/>
                  </a:lnTo>
                  <a:lnTo>
                    <a:pt x="610870" y="60706"/>
                  </a:lnTo>
                  <a:lnTo>
                    <a:pt x="659130" y="44450"/>
                  </a:lnTo>
                  <a:lnTo>
                    <a:pt x="708533" y="30607"/>
                  </a:lnTo>
                  <a:lnTo>
                    <a:pt x="758825" y="19304"/>
                  </a:lnTo>
                  <a:lnTo>
                    <a:pt x="810387" y="10413"/>
                  </a:lnTo>
                  <a:lnTo>
                    <a:pt x="862711" y="4190"/>
                  </a:lnTo>
                  <a:lnTo>
                    <a:pt x="915797" y="762"/>
                  </a:lnTo>
                  <a:lnTo>
                    <a:pt x="942848" y="0"/>
                  </a:lnTo>
                  <a:lnTo>
                    <a:pt x="915924" y="762"/>
                  </a:lnTo>
                  <a:lnTo>
                    <a:pt x="889381" y="2159"/>
                  </a:lnTo>
                  <a:lnTo>
                    <a:pt x="836930" y="6985"/>
                  </a:lnTo>
                  <a:lnTo>
                    <a:pt x="785241" y="14477"/>
                  </a:lnTo>
                  <a:lnTo>
                    <a:pt x="734441" y="24384"/>
                  </a:lnTo>
                  <a:lnTo>
                    <a:pt x="684784" y="36957"/>
                  </a:lnTo>
                  <a:lnTo>
                    <a:pt x="636143" y="51815"/>
                  </a:lnTo>
                  <a:lnTo>
                    <a:pt x="588899" y="69087"/>
                  </a:lnTo>
                  <a:lnTo>
                    <a:pt x="542798" y="88646"/>
                  </a:lnTo>
                  <a:lnTo>
                    <a:pt x="497967" y="110362"/>
                  </a:lnTo>
                  <a:lnTo>
                    <a:pt x="454533" y="134112"/>
                  </a:lnTo>
                  <a:lnTo>
                    <a:pt x="412750" y="160020"/>
                  </a:lnTo>
                  <a:lnTo>
                    <a:pt x="372364" y="187833"/>
                  </a:lnTo>
                  <a:lnTo>
                    <a:pt x="333883" y="217550"/>
                  </a:lnTo>
                  <a:lnTo>
                    <a:pt x="296799" y="249174"/>
                  </a:lnTo>
                  <a:lnTo>
                    <a:pt x="261620" y="282448"/>
                  </a:lnTo>
                  <a:lnTo>
                    <a:pt x="228346" y="317500"/>
                  </a:lnTo>
                  <a:lnTo>
                    <a:pt x="196976" y="353949"/>
                  </a:lnTo>
                  <a:lnTo>
                    <a:pt x="167767" y="392049"/>
                  </a:lnTo>
                  <a:lnTo>
                    <a:pt x="140462" y="431673"/>
                  </a:lnTo>
                  <a:lnTo>
                    <a:pt x="115443" y="472567"/>
                  </a:lnTo>
                  <a:lnTo>
                    <a:pt x="92710" y="514858"/>
                  </a:lnTo>
                  <a:lnTo>
                    <a:pt x="72263" y="558292"/>
                  </a:lnTo>
                  <a:lnTo>
                    <a:pt x="54101" y="602869"/>
                  </a:lnTo>
                  <a:lnTo>
                    <a:pt x="38481" y="648715"/>
                  </a:lnTo>
                  <a:lnTo>
                    <a:pt x="25400" y="695451"/>
                  </a:lnTo>
                  <a:lnTo>
                    <a:pt x="14859" y="743204"/>
                  </a:lnTo>
                  <a:lnTo>
                    <a:pt x="7239" y="791590"/>
                  </a:lnTo>
                  <a:lnTo>
                    <a:pt x="2286" y="841121"/>
                  </a:lnTo>
                  <a:lnTo>
                    <a:pt x="0" y="891032"/>
                  </a:lnTo>
                  <a:lnTo>
                    <a:pt x="0" y="916432"/>
                  </a:lnTo>
                  <a:lnTo>
                    <a:pt x="2413" y="966977"/>
                  </a:lnTo>
                  <a:lnTo>
                    <a:pt x="7620" y="1016635"/>
                  </a:lnTo>
                  <a:lnTo>
                    <a:pt x="15494" y="1065657"/>
                  </a:lnTo>
                  <a:lnTo>
                    <a:pt x="26289" y="1113663"/>
                  </a:lnTo>
                  <a:lnTo>
                    <a:pt x="39750" y="1160907"/>
                  </a:lnTo>
                  <a:lnTo>
                    <a:pt x="55625" y="1206881"/>
                  </a:lnTo>
                  <a:lnTo>
                    <a:pt x="74168" y="1251712"/>
                  </a:lnTo>
                  <a:lnTo>
                    <a:pt x="94996" y="1295527"/>
                  </a:lnTo>
                  <a:lnTo>
                    <a:pt x="118237" y="1337945"/>
                  </a:lnTo>
                  <a:lnTo>
                    <a:pt x="143764" y="1378965"/>
                  </a:lnTo>
                  <a:lnTo>
                    <a:pt x="171450" y="1418589"/>
                  </a:lnTo>
                  <a:lnTo>
                    <a:pt x="201295" y="1456689"/>
                  </a:lnTo>
                  <a:lnTo>
                    <a:pt x="232918" y="1493265"/>
                  </a:lnTo>
                  <a:lnTo>
                    <a:pt x="266826" y="1528318"/>
                  </a:lnTo>
                  <a:lnTo>
                    <a:pt x="302387" y="1561592"/>
                  </a:lnTo>
                  <a:lnTo>
                    <a:pt x="339725" y="1592961"/>
                  </a:lnTo>
                  <a:lnTo>
                    <a:pt x="378968" y="1622425"/>
                  </a:lnTo>
                  <a:lnTo>
                    <a:pt x="419735" y="1650111"/>
                  </a:lnTo>
                  <a:lnTo>
                    <a:pt x="462025" y="1675892"/>
                  </a:lnTo>
                  <a:lnTo>
                    <a:pt x="505968" y="1699387"/>
                  </a:lnTo>
                  <a:lnTo>
                    <a:pt x="551180" y="1720723"/>
                  </a:lnTo>
                  <a:lnTo>
                    <a:pt x="597789" y="1740027"/>
                  </a:lnTo>
                  <a:lnTo>
                    <a:pt x="645541" y="1756790"/>
                  </a:lnTo>
                  <a:lnTo>
                    <a:pt x="694436" y="1771396"/>
                  </a:lnTo>
                  <a:lnTo>
                    <a:pt x="744601" y="1783461"/>
                  </a:lnTo>
                  <a:lnTo>
                    <a:pt x="795527" y="1793113"/>
                  </a:lnTo>
                  <a:lnTo>
                    <a:pt x="847598" y="1799971"/>
                  </a:lnTo>
                  <a:lnTo>
                    <a:pt x="900430" y="1804289"/>
                  </a:lnTo>
                  <a:lnTo>
                    <a:pt x="927226" y="1805432"/>
                  </a:lnTo>
                  <a:lnTo>
                    <a:pt x="954024" y="1805813"/>
                  </a:lnTo>
                  <a:close/>
                </a:path>
              </a:pathLst>
            </a:custGeom>
            <a:ln w="28575">
              <a:solidFill>
                <a:srgbClr val="DFE6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87290" y="1409890"/>
              <a:ext cx="237363" cy="24041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493501" y="1529333"/>
              <a:ext cx="637540" cy="6350"/>
            </a:xfrm>
            <a:custGeom>
              <a:avLst/>
              <a:gdLst/>
              <a:ahLst/>
              <a:cxnLst/>
              <a:rect l="l" t="t" r="r" b="b"/>
              <a:pathLst>
                <a:path w="637540" h="6350">
                  <a:moveTo>
                    <a:pt x="637031" y="0"/>
                  </a:moveTo>
                  <a:lnTo>
                    <a:pt x="0" y="6095"/>
                  </a:lnTo>
                </a:path>
              </a:pathLst>
            </a:custGeom>
            <a:ln w="28575">
              <a:solidFill>
                <a:srgbClr val="DFE6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5058" y="1908238"/>
              <a:ext cx="237362" cy="24193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0159745" y="2029205"/>
              <a:ext cx="638810" cy="6350"/>
            </a:xfrm>
            <a:custGeom>
              <a:avLst/>
              <a:gdLst/>
              <a:ahLst/>
              <a:cxnLst/>
              <a:rect l="l" t="t" r="r" b="b"/>
              <a:pathLst>
                <a:path w="638809" h="6350">
                  <a:moveTo>
                    <a:pt x="638555" y="0"/>
                  </a:moveTo>
                  <a:lnTo>
                    <a:pt x="0" y="6096"/>
                  </a:lnTo>
                </a:path>
              </a:pathLst>
            </a:custGeom>
            <a:ln w="28575">
              <a:solidFill>
                <a:srgbClr val="DFE6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88586" y="2373058"/>
              <a:ext cx="237362" cy="24041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0194797" y="2494025"/>
              <a:ext cx="637540" cy="6350"/>
            </a:xfrm>
            <a:custGeom>
              <a:avLst/>
              <a:gdLst/>
              <a:ahLst/>
              <a:cxnLst/>
              <a:rect l="l" t="t" r="r" b="b"/>
              <a:pathLst>
                <a:path w="637540" h="6350">
                  <a:moveTo>
                    <a:pt x="637031" y="0"/>
                  </a:moveTo>
                  <a:lnTo>
                    <a:pt x="0" y="6096"/>
                  </a:lnTo>
                </a:path>
              </a:pathLst>
            </a:custGeom>
            <a:ln w="28575">
              <a:solidFill>
                <a:srgbClr val="DFE6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90338" y="2827210"/>
              <a:ext cx="237363" cy="24041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496549" y="2948177"/>
              <a:ext cx="637540" cy="5080"/>
            </a:xfrm>
            <a:custGeom>
              <a:avLst/>
              <a:gdLst/>
              <a:ahLst/>
              <a:cxnLst/>
              <a:rect l="l" t="t" r="r" b="b"/>
              <a:pathLst>
                <a:path w="637540" h="5080">
                  <a:moveTo>
                    <a:pt x="637031" y="0"/>
                  </a:moveTo>
                  <a:lnTo>
                    <a:pt x="0" y="4572"/>
                  </a:lnTo>
                </a:path>
              </a:pathLst>
            </a:custGeom>
            <a:ln w="28574">
              <a:solidFill>
                <a:srgbClr val="DFE6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19408" y="1474469"/>
              <a:ext cx="894460" cy="150266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1002644" y="1486661"/>
              <a:ext cx="894715" cy="1503045"/>
            </a:xfrm>
            <a:custGeom>
              <a:avLst/>
              <a:gdLst/>
              <a:ahLst/>
              <a:cxnLst/>
              <a:rect l="l" t="t" r="r" b="b"/>
              <a:pathLst>
                <a:path w="894715" h="1503045">
                  <a:moveTo>
                    <a:pt x="754887" y="0"/>
                  </a:moveTo>
                  <a:lnTo>
                    <a:pt x="704341" y="1650"/>
                  </a:lnTo>
                  <a:lnTo>
                    <a:pt x="654557" y="6603"/>
                  </a:lnTo>
                  <a:lnTo>
                    <a:pt x="605789" y="14604"/>
                  </a:lnTo>
                  <a:lnTo>
                    <a:pt x="558164" y="25780"/>
                  </a:lnTo>
                  <a:lnTo>
                    <a:pt x="511682" y="39877"/>
                  </a:lnTo>
                  <a:lnTo>
                    <a:pt x="466598" y="56768"/>
                  </a:lnTo>
                  <a:lnTo>
                    <a:pt x="422909" y="76326"/>
                  </a:lnTo>
                  <a:lnTo>
                    <a:pt x="380746" y="98678"/>
                  </a:lnTo>
                  <a:lnTo>
                    <a:pt x="340232" y="123443"/>
                  </a:lnTo>
                  <a:lnTo>
                    <a:pt x="301498" y="150622"/>
                  </a:lnTo>
                  <a:lnTo>
                    <a:pt x="264540" y="180086"/>
                  </a:lnTo>
                  <a:lnTo>
                    <a:pt x="229615" y="211836"/>
                  </a:lnTo>
                  <a:lnTo>
                    <a:pt x="196596" y="245617"/>
                  </a:lnTo>
                  <a:lnTo>
                    <a:pt x="165861" y="281432"/>
                  </a:lnTo>
                  <a:lnTo>
                    <a:pt x="137413" y="319150"/>
                  </a:lnTo>
                  <a:lnTo>
                    <a:pt x="111251" y="358648"/>
                  </a:lnTo>
                  <a:lnTo>
                    <a:pt x="87629" y="399796"/>
                  </a:lnTo>
                  <a:lnTo>
                    <a:pt x="66548" y="442467"/>
                  </a:lnTo>
                  <a:lnTo>
                    <a:pt x="48132" y="486663"/>
                  </a:lnTo>
                  <a:lnTo>
                    <a:pt x="32638" y="532257"/>
                  </a:lnTo>
                  <a:lnTo>
                    <a:pt x="19938" y="579120"/>
                  </a:lnTo>
                  <a:lnTo>
                    <a:pt x="10286" y="627126"/>
                  </a:lnTo>
                  <a:lnTo>
                    <a:pt x="3809" y="676148"/>
                  </a:lnTo>
                  <a:lnTo>
                    <a:pt x="380" y="726059"/>
                  </a:lnTo>
                  <a:lnTo>
                    <a:pt x="0" y="751332"/>
                  </a:lnTo>
                  <a:lnTo>
                    <a:pt x="380" y="776732"/>
                  </a:lnTo>
                  <a:lnTo>
                    <a:pt x="3809" y="826642"/>
                  </a:lnTo>
                  <a:lnTo>
                    <a:pt x="10286" y="875664"/>
                  </a:lnTo>
                  <a:lnTo>
                    <a:pt x="19938" y="923671"/>
                  </a:lnTo>
                  <a:lnTo>
                    <a:pt x="32638" y="970407"/>
                  </a:lnTo>
                  <a:lnTo>
                    <a:pt x="48132" y="1016000"/>
                  </a:lnTo>
                  <a:lnTo>
                    <a:pt x="66548" y="1060196"/>
                  </a:lnTo>
                  <a:lnTo>
                    <a:pt x="87629" y="1102995"/>
                  </a:lnTo>
                  <a:lnTo>
                    <a:pt x="111251" y="1144142"/>
                  </a:lnTo>
                  <a:lnTo>
                    <a:pt x="137413" y="1183513"/>
                  </a:lnTo>
                  <a:lnTo>
                    <a:pt x="165861" y="1221232"/>
                  </a:lnTo>
                  <a:lnTo>
                    <a:pt x="196596" y="1257046"/>
                  </a:lnTo>
                  <a:lnTo>
                    <a:pt x="229615" y="1290827"/>
                  </a:lnTo>
                  <a:lnTo>
                    <a:pt x="264540" y="1322577"/>
                  </a:lnTo>
                  <a:lnTo>
                    <a:pt x="301498" y="1352041"/>
                  </a:lnTo>
                  <a:lnTo>
                    <a:pt x="340232" y="1379220"/>
                  </a:lnTo>
                  <a:lnTo>
                    <a:pt x="380746" y="1403985"/>
                  </a:lnTo>
                  <a:lnTo>
                    <a:pt x="422909" y="1426337"/>
                  </a:lnTo>
                  <a:lnTo>
                    <a:pt x="466598" y="1445895"/>
                  </a:lnTo>
                  <a:lnTo>
                    <a:pt x="511682" y="1462786"/>
                  </a:lnTo>
                  <a:lnTo>
                    <a:pt x="558164" y="1476883"/>
                  </a:lnTo>
                  <a:lnTo>
                    <a:pt x="605789" y="1488059"/>
                  </a:lnTo>
                  <a:lnTo>
                    <a:pt x="654557" y="1496060"/>
                  </a:lnTo>
                  <a:lnTo>
                    <a:pt x="704341" y="1501013"/>
                  </a:lnTo>
                  <a:lnTo>
                    <a:pt x="754887" y="1502664"/>
                  </a:lnTo>
                  <a:lnTo>
                    <a:pt x="780414" y="1502283"/>
                  </a:lnTo>
                  <a:lnTo>
                    <a:pt x="805560" y="1501013"/>
                  </a:lnTo>
                  <a:lnTo>
                    <a:pt x="830579" y="1498980"/>
                  </a:lnTo>
                  <a:lnTo>
                    <a:pt x="855345" y="1496060"/>
                  </a:lnTo>
                  <a:lnTo>
                    <a:pt x="894460" y="1489710"/>
                  </a:lnTo>
                  <a:lnTo>
                    <a:pt x="894460" y="12953"/>
                  </a:lnTo>
                  <a:lnTo>
                    <a:pt x="855345" y="6603"/>
                  </a:lnTo>
                  <a:lnTo>
                    <a:pt x="805560" y="1650"/>
                  </a:lnTo>
                  <a:lnTo>
                    <a:pt x="754887" y="0"/>
                  </a:lnTo>
                  <a:close/>
                </a:path>
              </a:pathLst>
            </a:custGeom>
            <a:solidFill>
              <a:srgbClr val="000000">
                <a:alpha val="2509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/>
          <p:nvPr/>
        </p:nvSpPr>
        <p:spPr>
          <a:xfrm>
            <a:off x="204215" y="3566159"/>
            <a:ext cx="5413375" cy="495300"/>
          </a:xfrm>
          <a:custGeom>
            <a:avLst/>
            <a:gdLst/>
            <a:ahLst/>
            <a:cxnLst/>
            <a:rect l="l" t="t" r="r" b="b"/>
            <a:pathLst>
              <a:path w="5413375" h="495300">
                <a:moveTo>
                  <a:pt x="5413248" y="0"/>
                </a:moveTo>
                <a:lnTo>
                  <a:pt x="0" y="0"/>
                </a:lnTo>
                <a:lnTo>
                  <a:pt x="0" y="495300"/>
                </a:lnTo>
                <a:lnTo>
                  <a:pt x="5413248" y="495300"/>
                </a:lnTo>
                <a:lnTo>
                  <a:pt x="541324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04215" y="3566159"/>
            <a:ext cx="5413375" cy="49530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750570">
              <a:lnSpc>
                <a:spcPct val="100000"/>
              </a:lnSpc>
              <a:spcBef>
                <a:spcPts val="260"/>
              </a:spcBef>
            </a:pPr>
            <a:r>
              <a:rPr dirty="0" sz="1400" spc="-10" b="1">
                <a:latin typeface="Calibri"/>
                <a:cs typeface="Calibri"/>
              </a:rPr>
              <a:t>Mandate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by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Bank</a:t>
            </a:r>
            <a:r>
              <a:rPr dirty="0" sz="1400" spc="-10" b="1">
                <a:latin typeface="Calibri"/>
                <a:cs typeface="Calibri"/>
              </a:rPr>
              <a:t> Indonesia</a:t>
            </a:r>
            <a:endParaRPr sz="1400">
              <a:latin typeface="Calibri"/>
              <a:cs typeface="Calibri"/>
            </a:endParaRPr>
          </a:p>
          <a:p>
            <a:pPr marL="750570">
              <a:lnSpc>
                <a:spcPct val="100000"/>
              </a:lnSpc>
            </a:pPr>
            <a:r>
              <a:rPr dirty="0" sz="1400">
                <a:latin typeface="Calibri"/>
                <a:cs typeface="Calibri"/>
              </a:rPr>
              <a:t>Banks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have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least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20%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their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loan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portfolio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micro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loans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2" name="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6804" y="3630167"/>
            <a:ext cx="399288" cy="399288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224027" y="4174235"/>
            <a:ext cx="5413375" cy="510540"/>
          </a:xfrm>
          <a:custGeom>
            <a:avLst/>
            <a:gdLst/>
            <a:ahLst/>
            <a:cxnLst/>
            <a:rect l="l" t="t" r="r" b="b"/>
            <a:pathLst>
              <a:path w="5413375" h="510539">
                <a:moveTo>
                  <a:pt x="5413248" y="0"/>
                </a:moveTo>
                <a:lnTo>
                  <a:pt x="0" y="0"/>
                </a:lnTo>
                <a:lnTo>
                  <a:pt x="0" y="510539"/>
                </a:lnTo>
                <a:lnTo>
                  <a:pt x="5413248" y="510539"/>
                </a:lnTo>
                <a:lnTo>
                  <a:pt x="541324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224027" y="4174235"/>
            <a:ext cx="5413375" cy="5105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697865">
              <a:lnSpc>
                <a:spcPct val="100000"/>
              </a:lnSpc>
              <a:spcBef>
                <a:spcPts val="305"/>
              </a:spcBef>
            </a:pPr>
            <a:r>
              <a:rPr dirty="0" sz="1400" b="1">
                <a:solidFill>
                  <a:srgbClr val="333333"/>
                </a:solidFill>
                <a:latin typeface="Calibri"/>
                <a:cs typeface="Calibri"/>
              </a:rPr>
              <a:t>Delay</a:t>
            </a:r>
            <a:r>
              <a:rPr dirty="0" sz="1400" spc="-4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400" spc="-2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33333"/>
                </a:solidFill>
                <a:latin typeface="Calibri"/>
                <a:cs typeface="Calibri"/>
              </a:rPr>
              <a:t>Loan</a:t>
            </a:r>
            <a:r>
              <a:rPr dirty="0" sz="1400" spc="-40" b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33333"/>
                </a:solidFill>
                <a:latin typeface="Calibri"/>
                <a:cs typeface="Calibri"/>
              </a:rPr>
              <a:t>Repayments</a:t>
            </a:r>
            <a:endParaRPr sz="140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</a:pPr>
            <a:r>
              <a:rPr dirty="0" sz="1400">
                <a:solidFill>
                  <a:srgbClr val="333333"/>
                </a:solidFill>
                <a:latin typeface="Calibri"/>
                <a:cs typeface="Calibri"/>
              </a:rPr>
              <a:t>Increase</a:t>
            </a:r>
            <a:r>
              <a:rPr dirty="0" sz="14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dirty="0" sz="1400" spc="-2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3333"/>
                </a:solidFill>
                <a:latin typeface="Calibri"/>
                <a:cs typeface="Calibri"/>
              </a:rPr>
              <a:t>NPLs</a:t>
            </a:r>
            <a:r>
              <a:rPr dirty="0" sz="14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dirty="0" sz="1400" spc="-4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3333"/>
                </a:solidFill>
                <a:latin typeface="Calibri"/>
                <a:cs typeface="Calibri"/>
              </a:rPr>
              <a:t>3.35%</a:t>
            </a:r>
            <a:r>
              <a:rPr dirty="0" sz="1400" spc="-4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333333"/>
                </a:solidFill>
                <a:latin typeface="Calibri"/>
                <a:cs typeface="Calibri"/>
              </a:rPr>
              <a:t>3.95%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9184" y="4230623"/>
            <a:ext cx="425195" cy="425195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210311" y="6516623"/>
            <a:ext cx="2098675" cy="32766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56961" y="6564883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object 5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02635" y="5423915"/>
            <a:ext cx="693420" cy="693420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0" y="755904"/>
            <a:ext cx="842010" cy="1229360"/>
            <a:chOff x="0" y="755904"/>
            <a:chExt cx="842010" cy="1229360"/>
          </a:xfrm>
        </p:grpSpPr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755904"/>
              <a:ext cx="842010" cy="122910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3590" y="1082167"/>
              <a:ext cx="154304" cy="147447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6518909" y="5079872"/>
            <a:ext cx="944244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Utilise </a:t>
            </a:r>
            <a:r>
              <a:rPr dirty="0" sz="1200" spc="-10" b="1">
                <a:latin typeface="Calibri"/>
                <a:cs typeface="Calibri"/>
              </a:rPr>
              <a:t>Technological </a:t>
            </a:r>
            <a:r>
              <a:rPr dirty="0" sz="1200" spc="-10">
                <a:latin typeface="Calibri"/>
                <a:cs typeface="Calibri"/>
              </a:rPr>
              <a:t>Advancements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1225783" y="4238256"/>
            <a:ext cx="730250" cy="746760"/>
            <a:chOff x="11225783" y="4238256"/>
            <a:chExt cx="730250" cy="746760"/>
          </a:xfrm>
        </p:grpSpPr>
        <p:sp>
          <p:nvSpPr>
            <p:cNvPr id="58" name="object 58"/>
            <p:cNvSpPr/>
            <p:nvPr/>
          </p:nvSpPr>
          <p:spPr>
            <a:xfrm>
              <a:off x="11225783" y="4238256"/>
              <a:ext cx="730250" cy="746760"/>
            </a:xfrm>
            <a:custGeom>
              <a:avLst/>
              <a:gdLst/>
              <a:ahLst/>
              <a:cxnLst/>
              <a:rect l="l" t="t" r="r" b="b"/>
              <a:pathLst>
                <a:path w="730250" h="746760">
                  <a:moveTo>
                    <a:pt x="729665" y="0"/>
                  </a:moveTo>
                  <a:lnTo>
                    <a:pt x="0" y="0"/>
                  </a:lnTo>
                  <a:lnTo>
                    <a:pt x="0" y="746493"/>
                  </a:lnTo>
                  <a:lnTo>
                    <a:pt x="729665" y="746493"/>
                  </a:lnTo>
                  <a:lnTo>
                    <a:pt x="729665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05031" y="4340352"/>
              <a:ext cx="547116" cy="545592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8918447" y="4226064"/>
            <a:ext cx="730250" cy="746760"/>
            <a:chOff x="8918447" y="4226064"/>
            <a:chExt cx="730250" cy="746760"/>
          </a:xfrm>
        </p:grpSpPr>
        <p:sp>
          <p:nvSpPr>
            <p:cNvPr id="61" name="object 61"/>
            <p:cNvSpPr/>
            <p:nvPr/>
          </p:nvSpPr>
          <p:spPr>
            <a:xfrm>
              <a:off x="8918447" y="4226064"/>
              <a:ext cx="730250" cy="746760"/>
            </a:xfrm>
            <a:custGeom>
              <a:avLst/>
              <a:gdLst/>
              <a:ahLst/>
              <a:cxnLst/>
              <a:rect l="l" t="t" r="r" b="b"/>
              <a:pathLst>
                <a:path w="730250" h="746760">
                  <a:moveTo>
                    <a:pt x="729665" y="0"/>
                  </a:moveTo>
                  <a:lnTo>
                    <a:pt x="0" y="0"/>
                  </a:lnTo>
                  <a:lnTo>
                    <a:pt x="0" y="746493"/>
                  </a:lnTo>
                  <a:lnTo>
                    <a:pt x="729665" y="746493"/>
                  </a:lnTo>
                  <a:lnTo>
                    <a:pt x="729665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94647" y="4337303"/>
              <a:ext cx="605027" cy="605028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7751064" y="4230636"/>
            <a:ext cx="730250" cy="746760"/>
            <a:chOff x="7751064" y="4230636"/>
            <a:chExt cx="730250" cy="746760"/>
          </a:xfrm>
        </p:grpSpPr>
        <p:sp>
          <p:nvSpPr>
            <p:cNvPr id="64" name="object 64"/>
            <p:cNvSpPr/>
            <p:nvPr/>
          </p:nvSpPr>
          <p:spPr>
            <a:xfrm>
              <a:off x="7751064" y="4230636"/>
              <a:ext cx="730250" cy="746760"/>
            </a:xfrm>
            <a:custGeom>
              <a:avLst/>
              <a:gdLst/>
              <a:ahLst/>
              <a:cxnLst/>
              <a:rect l="l" t="t" r="r" b="b"/>
              <a:pathLst>
                <a:path w="730250" h="746760">
                  <a:moveTo>
                    <a:pt x="729665" y="0"/>
                  </a:moveTo>
                  <a:lnTo>
                    <a:pt x="0" y="0"/>
                  </a:lnTo>
                  <a:lnTo>
                    <a:pt x="0" y="746493"/>
                  </a:lnTo>
                  <a:lnTo>
                    <a:pt x="729665" y="746493"/>
                  </a:lnTo>
                  <a:lnTo>
                    <a:pt x="729665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56220" y="4364736"/>
              <a:ext cx="522731" cy="521207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6582156" y="4238256"/>
            <a:ext cx="730250" cy="746760"/>
            <a:chOff x="6582156" y="4238256"/>
            <a:chExt cx="730250" cy="746760"/>
          </a:xfrm>
        </p:grpSpPr>
        <p:sp>
          <p:nvSpPr>
            <p:cNvPr id="67" name="object 67"/>
            <p:cNvSpPr/>
            <p:nvPr/>
          </p:nvSpPr>
          <p:spPr>
            <a:xfrm>
              <a:off x="6582156" y="4238256"/>
              <a:ext cx="730250" cy="746760"/>
            </a:xfrm>
            <a:custGeom>
              <a:avLst/>
              <a:gdLst/>
              <a:ahLst/>
              <a:cxnLst/>
              <a:rect l="l" t="t" r="r" b="b"/>
              <a:pathLst>
                <a:path w="730250" h="746760">
                  <a:moveTo>
                    <a:pt x="729665" y="0"/>
                  </a:moveTo>
                  <a:lnTo>
                    <a:pt x="0" y="0"/>
                  </a:lnTo>
                  <a:lnTo>
                    <a:pt x="0" y="746493"/>
                  </a:lnTo>
                  <a:lnTo>
                    <a:pt x="729665" y="746493"/>
                  </a:lnTo>
                  <a:lnTo>
                    <a:pt x="729665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58940" y="4390644"/>
              <a:ext cx="461772" cy="461771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6716268" y="3823715"/>
            <a:ext cx="5135880" cy="24384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800"/>
              </a:lnSpc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dirty="0" sz="16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1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done?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0072116" y="4235208"/>
            <a:ext cx="730250" cy="746760"/>
            <a:chOff x="10072116" y="4235208"/>
            <a:chExt cx="730250" cy="746760"/>
          </a:xfrm>
        </p:grpSpPr>
        <p:sp>
          <p:nvSpPr>
            <p:cNvPr id="71" name="object 71"/>
            <p:cNvSpPr/>
            <p:nvPr/>
          </p:nvSpPr>
          <p:spPr>
            <a:xfrm>
              <a:off x="10072116" y="4235208"/>
              <a:ext cx="730250" cy="746760"/>
            </a:xfrm>
            <a:custGeom>
              <a:avLst/>
              <a:gdLst/>
              <a:ahLst/>
              <a:cxnLst/>
              <a:rect l="l" t="t" r="r" b="b"/>
              <a:pathLst>
                <a:path w="730250" h="746760">
                  <a:moveTo>
                    <a:pt x="729665" y="0"/>
                  </a:moveTo>
                  <a:lnTo>
                    <a:pt x="0" y="0"/>
                  </a:lnTo>
                  <a:lnTo>
                    <a:pt x="0" y="746493"/>
                  </a:lnTo>
                  <a:lnTo>
                    <a:pt x="729665" y="746493"/>
                  </a:lnTo>
                  <a:lnTo>
                    <a:pt x="729665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72700" y="4334255"/>
              <a:ext cx="528827" cy="528828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8868918" y="5079872"/>
            <a:ext cx="83248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1275" marR="5080" indent="-29209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latin typeface="Calibri"/>
                <a:cs typeface="Calibri"/>
              </a:rPr>
              <a:t>Tap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Potential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API </a:t>
            </a:r>
            <a:r>
              <a:rPr dirty="0" sz="1200" spc="-10" b="1">
                <a:latin typeface="Calibri"/>
                <a:cs typeface="Calibri"/>
              </a:rPr>
              <a:t>Networks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672831" y="5070094"/>
            <a:ext cx="89217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0480" marR="2095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Prioritise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MS ME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Requirements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144504" y="5065521"/>
            <a:ext cx="91630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Introduce </a:t>
            </a:r>
            <a:r>
              <a:rPr dirty="0" sz="1200" spc="-10" b="1">
                <a:latin typeface="Calibri"/>
                <a:cs typeface="Calibri"/>
              </a:rPr>
              <a:t>Community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Lending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871075" y="5076571"/>
            <a:ext cx="10947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242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Launch </a:t>
            </a:r>
            <a:r>
              <a:rPr dirty="0" sz="1200" spc="-20">
                <a:latin typeface="Calibri"/>
                <a:cs typeface="Calibri"/>
              </a:rPr>
              <a:t>Targeted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Product</a:t>
            </a:r>
            <a:endParaRPr sz="1200">
              <a:latin typeface="Calibri"/>
              <a:cs typeface="Calibri"/>
            </a:endParaRPr>
          </a:p>
          <a:p>
            <a:pPr marL="27305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Offerings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948678" y="5816346"/>
            <a:ext cx="1588770" cy="153035"/>
          </a:xfrm>
          <a:custGeom>
            <a:avLst/>
            <a:gdLst/>
            <a:ahLst/>
            <a:cxnLst/>
            <a:rect l="l" t="t" r="r" b="b"/>
            <a:pathLst>
              <a:path w="1588770" h="153035">
                <a:moveTo>
                  <a:pt x="0" y="140207"/>
                </a:moveTo>
                <a:lnTo>
                  <a:pt x="1588389" y="152641"/>
                </a:lnTo>
              </a:path>
              <a:path w="1588770" h="153035">
                <a:moveTo>
                  <a:pt x="18288" y="142849"/>
                </a:moveTo>
                <a:lnTo>
                  <a:pt x="18288" y="0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0088118" y="5819394"/>
            <a:ext cx="1600200" cy="129539"/>
          </a:xfrm>
          <a:custGeom>
            <a:avLst/>
            <a:gdLst/>
            <a:ahLst/>
            <a:cxnLst/>
            <a:rect l="l" t="t" r="r" b="b"/>
            <a:pathLst>
              <a:path w="1600200" h="129539">
                <a:moveTo>
                  <a:pt x="0" y="129158"/>
                </a:moveTo>
                <a:lnTo>
                  <a:pt x="1599691" y="126491"/>
                </a:lnTo>
              </a:path>
              <a:path w="1600200" h="129539">
                <a:moveTo>
                  <a:pt x="1586483" y="128612"/>
                </a:moveTo>
                <a:lnTo>
                  <a:pt x="1586483" y="0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8659494" y="5826048"/>
            <a:ext cx="12719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Strategy</a:t>
            </a:r>
            <a:r>
              <a:rPr dirty="0" sz="1400" spc="-5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Phoenix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8913621" y="3297682"/>
            <a:ext cx="274955" cy="213995"/>
            <a:chOff x="8913621" y="3297682"/>
            <a:chExt cx="274955" cy="213995"/>
          </a:xfrm>
        </p:grpSpPr>
        <p:sp>
          <p:nvSpPr>
            <p:cNvPr id="81" name="object 81"/>
            <p:cNvSpPr/>
            <p:nvPr/>
          </p:nvSpPr>
          <p:spPr>
            <a:xfrm>
              <a:off x="8919971" y="3304032"/>
              <a:ext cx="262255" cy="201295"/>
            </a:xfrm>
            <a:custGeom>
              <a:avLst/>
              <a:gdLst/>
              <a:ahLst/>
              <a:cxnLst/>
              <a:rect l="l" t="t" r="r" b="b"/>
              <a:pathLst>
                <a:path w="262254" h="201295">
                  <a:moveTo>
                    <a:pt x="262127" y="0"/>
                  </a:moveTo>
                  <a:lnTo>
                    <a:pt x="131063" y="100583"/>
                  </a:lnTo>
                  <a:lnTo>
                    <a:pt x="0" y="0"/>
                  </a:lnTo>
                  <a:lnTo>
                    <a:pt x="0" y="100583"/>
                  </a:lnTo>
                  <a:lnTo>
                    <a:pt x="131063" y="201167"/>
                  </a:lnTo>
                  <a:lnTo>
                    <a:pt x="262127" y="100583"/>
                  </a:lnTo>
                  <a:lnTo>
                    <a:pt x="262127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919971" y="3304032"/>
              <a:ext cx="262255" cy="201295"/>
            </a:xfrm>
            <a:custGeom>
              <a:avLst/>
              <a:gdLst/>
              <a:ahLst/>
              <a:cxnLst/>
              <a:rect l="l" t="t" r="r" b="b"/>
              <a:pathLst>
                <a:path w="262254" h="201295">
                  <a:moveTo>
                    <a:pt x="262127" y="0"/>
                  </a:moveTo>
                  <a:lnTo>
                    <a:pt x="262127" y="100583"/>
                  </a:lnTo>
                  <a:lnTo>
                    <a:pt x="131063" y="201167"/>
                  </a:lnTo>
                  <a:lnTo>
                    <a:pt x="0" y="100583"/>
                  </a:lnTo>
                  <a:lnTo>
                    <a:pt x="0" y="0"/>
                  </a:lnTo>
                  <a:lnTo>
                    <a:pt x="131063" y="100583"/>
                  </a:lnTo>
                  <a:lnTo>
                    <a:pt x="262127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Will the Village Law change rural Indonesia? - New Mandala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Will the Village Law change rural Indonesia? - New Mandala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>
                <a:alpha val="3607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09261" y="2411729"/>
            <a:ext cx="3173730" cy="1915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99794" marR="5080" indent="-88773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BEBEBE"/>
                </a:solidFill>
              </a:rPr>
              <a:t>Analysing</a:t>
            </a:r>
            <a:r>
              <a:rPr dirty="0" sz="2400" spc="-70">
                <a:solidFill>
                  <a:srgbClr val="BEBEBE"/>
                </a:solidFill>
              </a:rPr>
              <a:t> </a:t>
            </a:r>
            <a:r>
              <a:rPr dirty="0" sz="2400">
                <a:solidFill>
                  <a:srgbClr val="BEBEBE"/>
                </a:solidFill>
              </a:rPr>
              <a:t>The</a:t>
            </a:r>
            <a:r>
              <a:rPr dirty="0" sz="2400" spc="-70">
                <a:solidFill>
                  <a:srgbClr val="BEBEBE"/>
                </a:solidFill>
              </a:rPr>
              <a:t> </a:t>
            </a:r>
            <a:r>
              <a:rPr dirty="0" sz="2400" spc="-10">
                <a:solidFill>
                  <a:srgbClr val="BEBEBE"/>
                </a:solidFill>
              </a:rPr>
              <a:t>Landscape </a:t>
            </a:r>
            <a:r>
              <a:rPr dirty="0" spc="-10" i="1">
                <a:solidFill>
                  <a:srgbClr val="FFFFFF"/>
                </a:solidFill>
                <a:latin typeface="Calibri"/>
                <a:cs typeface="Calibri"/>
              </a:rPr>
              <a:t>Problems </a:t>
            </a:r>
            <a:r>
              <a:rPr dirty="0" sz="2400" spc="-10">
                <a:solidFill>
                  <a:srgbClr val="D0CECE"/>
                </a:solidFill>
              </a:rPr>
              <a:t>Solutions</a:t>
            </a:r>
            <a:endParaRPr sz="2400">
              <a:latin typeface="Calibri"/>
              <a:cs typeface="Calibri"/>
            </a:endParaRPr>
          </a:p>
          <a:p>
            <a:pPr marL="983615" marR="975994" indent="164465">
              <a:lnSpc>
                <a:spcPct val="100000"/>
              </a:lnSpc>
            </a:pPr>
            <a:r>
              <a:rPr dirty="0" sz="2400" spc="-10">
                <a:solidFill>
                  <a:srgbClr val="BEBEBE"/>
                </a:solidFill>
              </a:rPr>
              <a:t>Impact Appendix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44657" y="1048258"/>
            <a:ext cx="713740" cy="711200"/>
            <a:chOff x="10344657" y="1048258"/>
            <a:chExt cx="713740" cy="711200"/>
          </a:xfrm>
        </p:grpSpPr>
        <p:sp>
          <p:nvSpPr>
            <p:cNvPr id="3" name="object 3"/>
            <p:cNvSpPr/>
            <p:nvPr/>
          </p:nvSpPr>
          <p:spPr>
            <a:xfrm>
              <a:off x="10351007" y="1054608"/>
              <a:ext cx="701040" cy="698500"/>
            </a:xfrm>
            <a:custGeom>
              <a:avLst/>
              <a:gdLst/>
              <a:ahLst/>
              <a:cxnLst/>
              <a:rect l="l" t="t" r="r" b="b"/>
              <a:pathLst>
                <a:path w="701040" h="698500">
                  <a:moveTo>
                    <a:pt x="350520" y="0"/>
                  </a:moveTo>
                  <a:lnTo>
                    <a:pt x="302964" y="3185"/>
                  </a:lnTo>
                  <a:lnTo>
                    <a:pt x="257351" y="12463"/>
                  </a:lnTo>
                  <a:lnTo>
                    <a:pt x="214098" y="27420"/>
                  </a:lnTo>
                  <a:lnTo>
                    <a:pt x="173623" y="47639"/>
                  </a:lnTo>
                  <a:lnTo>
                    <a:pt x="136344" y="72705"/>
                  </a:lnTo>
                  <a:lnTo>
                    <a:pt x="102679" y="102203"/>
                  </a:lnTo>
                  <a:lnTo>
                    <a:pt x="73047" y="135717"/>
                  </a:lnTo>
                  <a:lnTo>
                    <a:pt x="47864" y="172832"/>
                  </a:lnTo>
                  <a:lnTo>
                    <a:pt x="27551" y="213133"/>
                  </a:lnTo>
                  <a:lnTo>
                    <a:pt x="12523" y="256204"/>
                  </a:lnTo>
                  <a:lnTo>
                    <a:pt x="3200" y="301630"/>
                  </a:lnTo>
                  <a:lnTo>
                    <a:pt x="0" y="348995"/>
                  </a:lnTo>
                  <a:lnTo>
                    <a:pt x="3200" y="396361"/>
                  </a:lnTo>
                  <a:lnTo>
                    <a:pt x="12523" y="441787"/>
                  </a:lnTo>
                  <a:lnTo>
                    <a:pt x="27551" y="484858"/>
                  </a:lnTo>
                  <a:lnTo>
                    <a:pt x="47864" y="525159"/>
                  </a:lnTo>
                  <a:lnTo>
                    <a:pt x="73047" y="562274"/>
                  </a:lnTo>
                  <a:lnTo>
                    <a:pt x="102679" y="595788"/>
                  </a:lnTo>
                  <a:lnTo>
                    <a:pt x="136344" y="625286"/>
                  </a:lnTo>
                  <a:lnTo>
                    <a:pt x="173623" y="650352"/>
                  </a:lnTo>
                  <a:lnTo>
                    <a:pt x="214098" y="670571"/>
                  </a:lnTo>
                  <a:lnTo>
                    <a:pt x="257351" y="685528"/>
                  </a:lnTo>
                  <a:lnTo>
                    <a:pt x="302964" y="694806"/>
                  </a:lnTo>
                  <a:lnTo>
                    <a:pt x="350520" y="697991"/>
                  </a:lnTo>
                  <a:lnTo>
                    <a:pt x="398075" y="694806"/>
                  </a:lnTo>
                  <a:lnTo>
                    <a:pt x="443688" y="685528"/>
                  </a:lnTo>
                  <a:lnTo>
                    <a:pt x="486941" y="670571"/>
                  </a:lnTo>
                  <a:lnTo>
                    <a:pt x="527416" y="650352"/>
                  </a:lnTo>
                  <a:lnTo>
                    <a:pt x="564695" y="625286"/>
                  </a:lnTo>
                  <a:lnTo>
                    <a:pt x="598360" y="595788"/>
                  </a:lnTo>
                  <a:lnTo>
                    <a:pt x="627992" y="562274"/>
                  </a:lnTo>
                  <a:lnTo>
                    <a:pt x="653175" y="525159"/>
                  </a:lnTo>
                  <a:lnTo>
                    <a:pt x="673488" y="484858"/>
                  </a:lnTo>
                  <a:lnTo>
                    <a:pt x="688516" y="441787"/>
                  </a:lnTo>
                  <a:lnTo>
                    <a:pt x="697839" y="396361"/>
                  </a:lnTo>
                  <a:lnTo>
                    <a:pt x="701040" y="348995"/>
                  </a:lnTo>
                  <a:lnTo>
                    <a:pt x="697839" y="301630"/>
                  </a:lnTo>
                  <a:lnTo>
                    <a:pt x="688516" y="256204"/>
                  </a:lnTo>
                  <a:lnTo>
                    <a:pt x="673488" y="213133"/>
                  </a:lnTo>
                  <a:lnTo>
                    <a:pt x="653175" y="172832"/>
                  </a:lnTo>
                  <a:lnTo>
                    <a:pt x="627992" y="135717"/>
                  </a:lnTo>
                  <a:lnTo>
                    <a:pt x="598360" y="102203"/>
                  </a:lnTo>
                  <a:lnTo>
                    <a:pt x="564695" y="72705"/>
                  </a:lnTo>
                  <a:lnTo>
                    <a:pt x="527416" y="47639"/>
                  </a:lnTo>
                  <a:lnTo>
                    <a:pt x="486941" y="27420"/>
                  </a:lnTo>
                  <a:lnTo>
                    <a:pt x="443688" y="12463"/>
                  </a:lnTo>
                  <a:lnTo>
                    <a:pt x="398075" y="3185"/>
                  </a:lnTo>
                  <a:lnTo>
                    <a:pt x="3505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351007" y="1054608"/>
              <a:ext cx="701040" cy="698500"/>
            </a:xfrm>
            <a:custGeom>
              <a:avLst/>
              <a:gdLst/>
              <a:ahLst/>
              <a:cxnLst/>
              <a:rect l="l" t="t" r="r" b="b"/>
              <a:pathLst>
                <a:path w="701040" h="698500">
                  <a:moveTo>
                    <a:pt x="0" y="348995"/>
                  </a:moveTo>
                  <a:lnTo>
                    <a:pt x="3200" y="301630"/>
                  </a:lnTo>
                  <a:lnTo>
                    <a:pt x="12523" y="256204"/>
                  </a:lnTo>
                  <a:lnTo>
                    <a:pt x="27551" y="213133"/>
                  </a:lnTo>
                  <a:lnTo>
                    <a:pt x="47864" y="172832"/>
                  </a:lnTo>
                  <a:lnTo>
                    <a:pt x="73047" y="135717"/>
                  </a:lnTo>
                  <a:lnTo>
                    <a:pt x="102679" y="102203"/>
                  </a:lnTo>
                  <a:lnTo>
                    <a:pt x="136344" y="72705"/>
                  </a:lnTo>
                  <a:lnTo>
                    <a:pt x="173623" y="47639"/>
                  </a:lnTo>
                  <a:lnTo>
                    <a:pt x="214098" y="27420"/>
                  </a:lnTo>
                  <a:lnTo>
                    <a:pt x="257351" y="12463"/>
                  </a:lnTo>
                  <a:lnTo>
                    <a:pt x="302964" y="3185"/>
                  </a:lnTo>
                  <a:lnTo>
                    <a:pt x="350520" y="0"/>
                  </a:lnTo>
                  <a:lnTo>
                    <a:pt x="398075" y="3185"/>
                  </a:lnTo>
                  <a:lnTo>
                    <a:pt x="443688" y="12463"/>
                  </a:lnTo>
                  <a:lnTo>
                    <a:pt x="486941" y="27420"/>
                  </a:lnTo>
                  <a:lnTo>
                    <a:pt x="527416" y="47639"/>
                  </a:lnTo>
                  <a:lnTo>
                    <a:pt x="564695" y="72705"/>
                  </a:lnTo>
                  <a:lnTo>
                    <a:pt x="598360" y="102203"/>
                  </a:lnTo>
                  <a:lnTo>
                    <a:pt x="627992" y="135717"/>
                  </a:lnTo>
                  <a:lnTo>
                    <a:pt x="653175" y="172832"/>
                  </a:lnTo>
                  <a:lnTo>
                    <a:pt x="673488" y="213133"/>
                  </a:lnTo>
                  <a:lnTo>
                    <a:pt x="688516" y="256204"/>
                  </a:lnTo>
                  <a:lnTo>
                    <a:pt x="697839" y="301630"/>
                  </a:lnTo>
                  <a:lnTo>
                    <a:pt x="701040" y="348995"/>
                  </a:lnTo>
                  <a:lnTo>
                    <a:pt x="697839" y="396361"/>
                  </a:lnTo>
                  <a:lnTo>
                    <a:pt x="688516" y="441787"/>
                  </a:lnTo>
                  <a:lnTo>
                    <a:pt x="673488" y="484858"/>
                  </a:lnTo>
                  <a:lnTo>
                    <a:pt x="653175" y="525159"/>
                  </a:lnTo>
                  <a:lnTo>
                    <a:pt x="627992" y="562274"/>
                  </a:lnTo>
                  <a:lnTo>
                    <a:pt x="598360" y="595788"/>
                  </a:lnTo>
                  <a:lnTo>
                    <a:pt x="564695" y="625286"/>
                  </a:lnTo>
                  <a:lnTo>
                    <a:pt x="527416" y="650352"/>
                  </a:lnTo>
                  <a:lnTo>
                    <a:pt x="486941" y="670571"/>
                  </a:lnTo>
                  <a:lnTo>
                    <a:pt x="443688" y="685528"/>
                  </a:lnTo>
                  <a:lnTo>
                    <a:pt x="398075" y="694806"/>
                  </a:lnTo>
                  <a:lnTo>
                    <a:pt x="350520" y="697991"/>
                  </a:lnTo>
                  <a:lnTo>
                    <a:pt x="302964" y="694806"/>
                  </a:lnTo>
                  <a:lnTo>
                    <a:pt x="257351" y="685528"/>
                  </a:lnTo>
                  <a:lnTo>
                    <a:pt x="214098" y="670571"/>
                  </a:lnTo>
                  <a:lnTo>
                    <a:pt x="173623" y="650352"/>
                  </a:lnTo>
                  <a:lnTo>
                    <a:pt x="136344" y="625286"/>
                  </a:lnTo>
                  <a:lnTo>
                    <a:pt x="102679" y="595788"/>
                  </a:lnTo>
                  <a:lnTo>
                    <a:pt x="73047" y="562274"/>
                  </a:lnTo>
                  <a:lnTo>
                    <a:pt x="47864" y="525159"/>
                  </a:lnTo>
                  <a:lnTo>
                    <a:pt x="27551" y="484858"/>
                  </a:lnTo>
                  <a:lnTo>
                    <a:pt x="12523" y="441787"/>
                  </a:lnTo>
                  <a:lnTo>
                    <a:pt x="3200" y="396361"/>
                  </a:lnTo>
                  <a:lnTo>
                    <a:pt x="0" y="348995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7991602" y="1048258"/>
            <a:ext cx="712470" cy="711200"/>
            <a:chOff x="7991602" y="1048258"/>
            <a:chExt cx="712470" cy="711200"/>
          </a:xfrm>
        </p:grpSpPr>
        <p:sp>
          <p:nvSpPr>
            <p:cNvPr id="6" name="object 6"/>
            <p:cNvSpPr/>
            <p:nvPr/>
          </p:nvSpPr>
          <p:spPr>
            <a:xfrm>
              <a:off x="7997952" y="1054608"/>
              <a:ext cx="699770" cy="698500"/>
            </a:xfrm>
            <a:custGeom>
              <a:avLst/>
              <a:gdLst/>
              <a:ahLst/>
              <a:cxnLst/>
              <a:rect l="l" t="t" r="r" b="b"/>
              <a:pathLst>
                <a:path w="699770" h="698500">
                  <a:moveTo>
                    <a:pt x="349757" y="0"/>
                  </a:moveTo>
                  <a:lnTo>
                    <a:pt x="302297" y="3185"/>
                  </a:lnTo>
                  <a:lnTo>
                    <a:pt x="256778" y="12463"/>
                  </a:lnTo>
                  <a:lnTo>
                    <a:pt x="213615" y="27420"/>
                  </a:lnTo>
                  <a:lnTo>
                    <a:pt x="173227" y="47639"/>
                  </a:lnTo>
                  <a:lnTo>
                    <a:pt x="136030" y="72705"/>
                  </a:lnTo>
                  <a:lnTo>
                    <a:pt x="102441" y="102203"/>
                  </a:lnTo>
                  <a:lnTo>
                    <a:pt x="72876" y="135717"/>
                  </a:lnTo>
                  <a:lnTo>
                    <a:pt x="47751" y="172832"/>
                  </a:lnTo>
                  <a:lnTo>
                    <a:pt x="27485" y="213133"/>
                  </a:lnTo>
                  <a:lnTo>
                    <a:pt x="12493" y="256204"/>
                  </a:lnTo>
                  <a:lnTo>
                    <a:pt x="3192" y="301630"/>
                  </a:lnTo>
                  <a:lnTo>
                    <a:pt x="0" y="348995"/>
                  </a:lnTo>
                  <a:lnTo>
                    <a:pt x="3192" y="396361"/>
                  </a:lnTo>
                  <a:lnTo>
                    <a:pt x="12493" y="441787"/>
                  </a:lnTo>
                  <a:lnTo>
                    <a:pt x="27485" y="484858"/>
                  </a:lnTo>
                  <a:lnTo>
                    <a:pt x="47752" y="525159"/>
                  </a:lnTo>
                  <a:lnTo>
                    <a:pt x="72876" y="562274"/>
                  </a:lnTo>
                  <a:lnTo>
                    <a:pt x="102441" y="595788"/>
                  </a:lnTo>
                  <a:lnTo>
                    <a:pt x="136030" y="625286"/>
                  </a:lnTo>
                  <a:lnTo>
                    <a:pt x="173227" y="650352"/>
                  </a:lnTo>
                  <a:lnTo>
                    <a:pt x="213615" y="670571"/>
                  </a:lnTo>
                  <a:lnTo>
                    <a:pt x="256778" y="685528"/>
                  </a:lnTo>
                  <a:lnTo>
                    <a:pt x="302297" y="694806"/>
                  </a:lnTo>
                  <a:lnTo>
                    <a:pt x="349757" y="697991"/>
                  </a:lnTo>
                  <a:lnTo>
                    <a:pt x="397218" y="694806"/>
                  </a:lnTo>
                  <a:lnTo>
                    <a:pt x="442737" y="685528"/>
                  </a:lnTo>
                  <a:lnTo>
                    <a:pt x="485900" y="670571"/>
                  </a:lnTo>
                  <a:lnTo>
                    <a:pt x="526288" y="650352"/>
                  </a:lnTo>
                  <a:lnTo>
                    <a:pt x="563485" y="625286"/>
                  </a:lnTo>
                  <a:lnTo>
                    <a:pt x="597074" y="595788"/>
                  </a:lnTo>
                  <a:lnTo>
                    <a:pt x="626639" y="562274"/>
                  </a:lnTo>
                  <a:lnTo>
                    <a:pt x="651764" y="525159"/>
                  </a:lnTo>
                  <a:lnTo>
                    <a:pt x="672030" y="484858"/>
                  </a:lnTo>
                  <a:lnTo>
                    <a:pt x="687022" y="441787"/>
                  </a:lnTo>
                  <a:lnTo>
                    <a:pt x="696323" y="396361"/>
                  </a:lnTo>
                  <a:lnTo>
                    <a:pt x="699516" y="348995"/>
                  </a:lnTo>
                  <a:lnTo>
                    <a:pt x="696323" y="301630"/>
                  </a:lnTo>
                  <a:lnTo>
                    <a:pt x="687022" y="256204"/>
                  </a:lnTo>
                  <a:lnTo>
                    <a:pt x="672030" y="213133"/>
                  </a:lnTo>
                  <a:lnTo>
                    <a:pt x="651763" y="172832"/>
                  </a:lnTo>
                  <a:lnTo>
                    <a:pt x="626639" y="135717"/>
                  </a:lnTo>
                  <a:lnTo>
                    <a:pt x="597074" y="102203"/>
                  </a:lnTo>
                  <a:lnTo>
                    <a:pt x="563485" y="72705"/>
                  </a:lnTo>
                  <a:lnTo>
                    <a:pt x="526287" y="47639"/>
                  </a:lnTo>
                  <a:lnTo>
                    <a:pt x="485900" y="27420"/>
                  </a:lnTo>
                  <a:lnTo>
                    <a:pt x="442737" y="12463"/>
                  </a:lnTo>
                  <a:lnTo>
                    <a:pt x="397218" y="3185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997952" y="1054608"/>
              <a:ext cx="699770" cy="698500"/>
            </a:xfrm>
            <a:custGeom>
              <a:avLst/>
              <a:gdLst/>
              <a:ahLst/>
              <a:cxnLst/>
              <a:rect l="l" t="t" r="r" b="b"/>
              <a:pathLst>
                <a:path w="699770" h="698500">
                  <a:moveTo>
                    <a:pt x="0" y="348995"/>
                  </a:moveTo>
                  <a:lnTo>
                    <a:pt x="3192" y="301630"/>
                  </a:lnTo>
                  <a:lnTo>
                    <a:pt x="12493" y="256204"/>
                  </a:lnTo>
                  <a:lnTo>
                    <a:pt x="27485" y="213133"/>
                  </a:lnTo>
                  <a:lnTo>
                    <a:pt x="47751" y="172832"/>
                  </a:lnTo>
                  <a:lnTo>
                    <a:pt x="72876" y="135717"/>
                  </a:lnTo>
                  <a:lnTo>
                    <a:pt x="102441" y="102203"/>
                  </a:lnTo>
                  <a:lnTo>
                    <a:pt x="136030" y="72705"/>
                  </a:lnTo>
                  <a:lnTo>
                    <a:pt x="173227" y="47639"/>
                  </a:lnTo>
                  <a:lnTo>
                    <a:pt x="213615" y="27420"/>
                  </a:lnTo>
                  <a:lnTo>
                    <a:pt x="256778" y="12463"/>
                  </a:lnTo>
                  <a:lnTo>
                    <a:pt x="302297" y="3185"/>
                  </a:lnTo>
                  <a:lnTo>
                    <a:pt x="349757" y="0"/>
                  </a:lnTo>
                  <a:lnTo>
                    <a:pt x="397218" y="3185"/>
                  </a:lnTo>
                  <a:lnTo>
                    <a:pt x="442737" y="12463"/>
                  </a:lnTo>
                  <a:lnTo>
                    <a:pt x="485900" y="27420"/>
                  </a:lnTo>
                  <a:lnTo>
                    <a:pt x="526287" y="47639"/>
                  </a:lnTo>
                  <a:lnTo>
                    <a:pt x="563485" y="72705"/>
                  </a:lnTo>
                  <a:lnTo>
                    <a:pt x="597074" y="102203"/>
                  </a:lnTo>
                  <a:lnTo>
                    <a:pt x="626639" y="135717"/>
                  </a:lnTo>
                  <a:lnTo>
                    <a:pt x="651763" y="172832"/>
                  </a:lnTo>
                  <a:lnTo>
                    <a:pt x="672030" y="213133"/>
                  </a:lnTo>
                  <a:lnTo>
                    <a:pt x="687022" y="256204"/>
                  </a:lnTo>
                  <a:lnTo>
                    <a:pt x="696323" y="301630"/>
                  </a:lnTo>
                  <a:lnTo>
                    <a:pt x="699516" y="348995"/>
                  </a:lnTo>
                  <a:lnTo>
                    <a:pt x="696323" y="396361"/>
                  </a:lnTo>
                  <a:lnTo>
                    <a:pt x="687022" y="441787"/>
                  </a:lnTo>
                  <a:lnTo>
                    <a:pt x="672030" y="484858"/>
                  </a:lnTo>
                  <a:lnTo>
                    <a:pt x="651764" y="525159"/>
                  </a:lnTo>
                  <a:lnTo>
                    <a:pt x="626639" y="562274"/>
                  </a:lnTo>
                  <a:lnTo>
                    <a:pt x="597074" y="595788"/>
                  </a:lnTo>
                  <a:lnTo>
                    <a:pt x="563485" y="625286"/>
                  </a:lnTo>
                  <a:lnTo>
                    <a:pt x="526288" y="650352"/>
                  </a:lnTo>
                  <a:lnTo>
                    <a:pt x="485900" y="670571"/>
                  </a:lnTo>
                  <a:lnTo>
                    <a:pt x="442737" y="685528"/>
                  </a:lnTo>
                  <a:lnTo>
                    <a:pt x="397218" y="694806"/>
                  </a:lnTo>
                  <a:lnTo>
                    <a:pt x="349757" y="697991"/>
                  </a:lnTo>
                  <a:lnTo>
                    <a:pt x="302297" y="694806"/>
                  </a:lnTo>
                  <a:lnTo>
                    <a:pt x="256778" y="685528"/>
                  </a:lnTo>
                  <a:lnTo>
                    <a:pt x="213615" y="670571"/>
                  </a:lnTo>
                  <a:lnTo>
                    <a:pt x="173227" y="650352"/>
                  </a:lnTo>
                  <a:lnTo>
                    <a:pt x="136030" y="625286"/>
                  </a:lnTo>
                  <a:lnTo>
                    <a:pt x="102441" y="595788"/>
                  </a:lnTo>
                  <a:lnTo>
                    <a:pt x="72876" y="562274"/>
                  </a:lnTo>
                  <a:lnTo>
                    <a:pt x="47752" y="525159"/>
                  </a:lnTo>
                  <a:lnTo>
                    <a:pt x="27485" y="484858"/>
                  </a:lnTo>
                  <a:lnTo>
                    <a:pt x="12493" y="441787"/>
                  </a:lnTo>
                  <a:lnTo>
                    <a:pt x="3192" y="396361"/>
                  </a:lnTo>
                  <a:lnTo>
                    <a:pt x="0" y="348995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656834" y="1048258"/>
            <a:ext cx="712470" cy="711200"/>
            <a:chOff x="5656834" y="1048258"/>
            <a:chExt cx="712470" cy="711200"/>
          </a:xfrm>
        </p:grpSpPr>
        <p:sp>
          <p:nvSpPr>
            <p:cNvPr id="9" name="object 9"/>
            <p:cNvSpPr/>
            <p:nvPr/>
          </p:nvSpPr>
          <p:spPr>
            <a:xfrm>
              <a:off x="5663184" y="1054608"/>
              <a:ext cx="699770" cy="698500"/>
            </a:xfrm>
            <a:custGeom>
              <a:avLst/>
              <a:gdLst/>
              <a:ahLst/>
              <a:cxnLst/>
              <a:rect l="l" t="t" r="r" b="b"/>
              <a:pathLst>
                <a:path w="699770" h="698500">
                  <a:moveTo>
                    <a:pt x="349757" y="0"/>
                  </a:moveTo>
                  <a:lnTo>
                    <a:pt x="302297" y="3185"/>
                  </a:lnTo>
                  <a:lnTo>
                    <a:pt x="256778" y="12463"/>
                  </a:lnTo>
                  <a:lnTo>
                    <a:pt x="213615" y="27420"/>
                  </a:lnTo>
                  <a:lnTo>
                    <a:pt x="173228" y="47639"/>
                  </a:lnTo>
                  <a:lnTo>
                    <a:pt x="136030" y="72705"/>
                  </a:lnTo>
                  <a:lnTo>
                    <a:pt x="102441" y="102203"/>
                  </a:lnTo>
                  <a:lnTo>
                    <a:pt x="72876" y="135717"/>
                  </a:lnTo>
                  <a:lnTo>
                    <a:pt x="47751" y="172832"/>
                  </a:lnTo>
                  <a:lnTo>
                    <a:pt x="27485" y="213133"/>
                  </a:lnTo>
                  <a:lnTo>
                    <a:pt x="12493" y="256204"/>
                  </a:lnTo>
                  <a:lnTo>
                    <a:pt x="3192" y="301630"/>
                  </a:lnTo>
                  <a:lnTo>
                    <a:pt x="0" y="348995"/>
                  </a:lnTo>
                  <a:lnTo>
                    <a:pt x="3192" y="396361"/>
                  </a:lnTo>
                  <a:lnTo>
                    <a:pt x="12493" y="441787"/>
                  </a:lnTo>
                  <a:lnTo>
                    <a:pt x="27485" y="484858"/>
                  </a:lnTo>
                  <a:lnTo>
                    <a:pt x="47752" y="525159"/>
                  </a:lnTo>
                  <a:lnTo>
                    <a:pt x="72876" y="562274"/>
                  </a:lnTo>
                  <a:lnTo>
                    <a:pt x="102441" y="595788"/>
                  </a:lnTo>
                  <a:lnTo>
                    <a:pt x="136030" y="625286"/>
                  </a:lnTo>
                  <a:lnTo>
                    <a:pt x="173228" y="650352"/>
                  </a:lnTo>
                  <a:lnTo>
                    <a:pt x="213615" y="670571"/>
                  </a:lnTo>
                  <a:lnTo>
                    <a:pt x="256778" y="685528"/>
                  </a:lnTo>
                  <a:lnTo>
                    <a:pt x="302297" y="694806"/>
                  </a:lnTo>
                  <a:lnTo>
                    <a:pt x="349757" y="697991"/>
                  </a:lnTo>
                  <a:lnTo>
                    <a:pt x="397218" y="694806"/>
                  </a:lnTo>
                  <a:lnTo>
                    <a:pt x="442737" y="685528"/>
                  </a:lnTo>
                  <a:lnTo>
                    <a:pt x="485900" y="670571"/>
                  </a:lnTo>
                  <a:lnTo>
                    <a:pt x="526287" y="650352"/>
                  </a:lnTo>
                  <a:lnTo>
                    <a:pt x="563485" y="625286"/>
                  </a:lnTo>
                  <a:lnTo>
                    <a:pt x="597074" y="595788"/>
                  </a:lnTo>
                  <a:lnTo>
                    <a:pt x="626639" y="562274"/>
                  </a:lnTo>
                  <a:lnTo>
                    <a:pt x="651763" y="525159"/>
                  </a:lnTo>
                  <a:lnTo>
                    <a:pt x="672030" y="484858"/>
                  </a:lnTo>
                  <a:lnTo>
                    <a:pt x="687022" y="441787"/>
                  </a:lnTo>
                  <a:lnTo>
                    <a:pt x="696323" y="396361"/>
                  </a:lnTo>
                  <a:lnTo>
                    <a:pt x="699515" y="348995"/>
                  </a:lnTo>
                  <a:lnTo>
                    <a:pt x="696323" y="301630"/>
                  </a:lnTo>
                  <a:lnTo>
                    <a:pt x="687022" y="256204"/>
                  </a:lnTo>
                  <a:lnTo>
                    <a:pt x="672030" y="213133"/>
                  </a:lnTo>
                  <a:lnTo>
                    <a:pt x="651764" y="172832"/>
                  </a:lnTo>
                  <a:lnTo>
                    <a:pt x="626639" y="135717"/>
                  </a:lnTo>
                  <a:lnTo>
                    <a:pt x="597074" y="102203"/>
                  </a:lnTo>
                  <a:lnTo>
                    <a:pt x="563485" y="72705"/>
                  </a:lnTo>
                  <a:lnTo>
                    <a:pt x="526288" y="47639"/>
                  </a:lnTo>
                  <a:lnTo>
                    <a:pt x="485900" y="27420"/>
                  </a:lnTo>
                  <a:lnTo>
                    <a:pt x="442737" y="12463"/>
                  </a:lnTo>
                  <a:lnTo>
                    <a:pt x="397218" y="3185"/>
                  </a:lnTo>
                  <a:lnTo>
                    <a:pt x="3497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663184" y="1054608"/>
              <a:ext cx="699770" cy="698500"/>
            </a:xfrm>
            <a:custGeom>
              <a:avLst/>
              <a:gdLst/>
              <a:ahLst/>
              <a:cxnLst/>
              <a:rect l="l" t="t" r="r" b="b"/>
              <a:pathLst>
                <a:path w="699770" h="698500">
                  <a:moveTo>
                    <a:pt x="0" y="348995"/>
                  </a:moveTo>
                  <a:lnTo>
                    <a:pt x="3192" y="301630"/>
                  </a:lnTo>
                  <a:lnTo>
                    <a:pt x="12493" y="256204"/>
                  </a:lnTo>
                  <a:lnTo>
                    <a:pt x="27485" y="213133"/>
                  </a:lnTo>
                  <a:lnTo>
                    <a:pt x="47751" y="172832"/>
                  </a:lnTo>
                  <a:lnTo>
                    <a:pt x="72876" y="135717"/>
                  </a:lnTo>
                  <a:lnTo>
                    <a:pt x="102441" y="102203"/>
                  </a:lnTo>
                  <a:lnTo>
                    <a:pt x="136030" y="72705"/>
                  </a:lnTo>
                  <a:lnTo>
                    <a:pt x="173228" y="47639"/>
                  </a:lnTo>
                  <a:lnTo>
                    <a:pt x="213615" y="27420"/>
                  </a:lnTo>
                  <a:lnTo>
                    <a:pt x="256778" y="12463"/>
                  </a:lnTo>
                  <a:lnTo>
                    <a:pt x="302297" y="3185"/>
                  </a:lnTo>
                  <a:lnTo>
                    <a:pt x="349757" y="0"/>
                  </a:lnTo>
                  <a:lnTo>
                    <a:pt x="397218" y="3185"/>
                  </a:lnTo>
                  <a:lnTo>
                    <a:pt x="442737" y="12463"/>
                  </a:lnTo>
                  <a:lnTo>
                    <a:pt x="485900" y="27420"/>
                  </a:lnTo>
                  <a:lnTo>
                    <a:pt x="526288" y="47639"/>
                  </a:lnTo>
                  <a:lnTo>
                    <a:pt x="563485" y="72705"/>
                  </a:lnTo>
                  <a:lnTo>
                    <a:pt x="597074" y="102203"/>
                  </a:lnTo>
                  <a:lnTo>
                    <a:pt x="626639" y="135717"/>
                  </a:lnTo>
                  <a:lnTo>
                    <a:pt x="651764" y="172832"/>
                  </a:lnTo>
                  <a:lnTo>
                    <a:pt x="672030" y="213133"/>
                  </a:lnTo>
                  <a:lnTo>
                    <a:pt x="687022" y="256204"/>
                  </a:lnTo>
                  <a:lnTo>
                    <a:pt x="696323" y="301630"/>
                  </a:lnTo>
                  <a:lnTo>
                    <a:pt x="699515" y="348995"/>
                  </a:lnTo>
                  <a:lnTo>
                    <a:pt x="696323" y="396361"/>
                  </a:lnTo>
                  <a:lnTo>
                    <a:pt x="687022" y="441787"/>
                  </a:lnTo>
                  <a:lnTo>
                    <a:pt x="672030" y="484858"/>
                  </a:lnTo>
                  <a:lnTo>
                    <a:pt x="651763" y="525159"/>
                  </a:lnTo>
                  <a:lnTo>
                    <a:pt x="626639" y="562274"/>
                  </a:lnTo>
                  <a:lnTo>
                    <a:pt x="597074" y="595788"/>
                  </a:lnTo>
                  <a:lnTo>
                    <a:pt x="563485" y="625286"/>
                  </a:lnTo>
                  <a:lnTo>
                    <a:pt x="526287" y="650352"/>
                  </a:lnTo>
                  <a:lnTo>
                    <a:pt x="485900" y="670571"/>
                  </a:lnTo>
                  <a:lnTo>
                    <a:pt x="442737" y="685528"/>
                  </a:lnTo>
                  <a:lnTo>
                    <a:pt x="397218" y="694806"/>
                  </a:lnTo>
                  <a:lnTo>
                    <a:pt x="349757" y="697991"/>
                  </a:lnTo>
                  <a:lnTo>
                    <a:pt x="302297" y="694806"/>
                  </a:lnTo>
                  <a:lnTo>
                    <a:pt x="256778" y="685528"/>
                  </a:lnTo>
                  <a:lnTo>
                    <a:pt x="213615" y="670571"/>
                  </a:lnTo>
                  <a:lnTo>
                    <a:pt x="173228" y="650352"/>
                  </a:lnTo>
                  <a:lnTo>
                    <a:pt x="136030" y="625286"/>
                  </a:lnTo>
                  <a:lnTo>
                    <a:pt x="102441" y="595788"/>
                  </a:lnTo>
                  <a:lnTo>
                    <a:pt x="72876" y="562274"/>
                  </a:lnTo>
                  <a:lnTo>
                    <a:pt x="47752" y="525159"/>
                  </a:lnTo>
                  <a:lnTo>
                    <a:pt x="27485" y="484858"/>
                  </a:lnTo>
                  <a:lnTo>
                    <a:pt x="12493" y="441787"/>
                  </a:lnTo>
                  <a:lnTo>
                    <a:pt x="3192" y="396361"/>
                  </a:lnTo>
                  <a:lnTo>
                    <a:pt x="0" y="348995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283965" y="1048258"/>
            <a:ext cx="712470" cy="711200"/>
            <a:chOff x="3283965" y="1048258"/>
            <a:chExt cx="712470" cy="711200"/>
          </a:xfrm>
        </p:grpSpPr>
        <p:sp>
          <p:nvSpPr>
            <p:cNvPr id="12" name="object 12"/>
            <p:cNvSpPr/>
            <p:nvPr/>
          </p:nvSpPr>
          <p:spPr>
            <a:xfrm>
              <a:off x="3290315" y="1054608"/>
              <a:ext cx="699770" cy="698500"/>
            </a:xfrm>
            <a:custGeom>
              <a:avLst/>
              <a:gdLst/>
              <a:ahLst/>
              <a:cxnLst/>
              <a:rect l="l" t="t" r="r" b="b"/>
              <a:pathLst>
                <a:path w="699770" h="698500">
                  <a:moveTo>
                    <a:pt x="349758" y="0"/>
                  </a:moveTo>
                  <a:lnTo>
                    <a:pt x="302297" y="3185"/>
                  </a:lnTo>
                  <a:lnTo>
                    <a:pt x="256778" y="12463"/>
                  </a:lnTo>
                  <a:lnTo>
                    <a:pt x="213615" y="27420"/>
                  </a:lnTo>
                  <a:lnTo>
                    <a:pt x="173228" y="47639"/>
                  </a:lnTo>
                  <a:lnTo>
                    <a:pt x="136030" y="72705"/>
                  </a:lnTo>
                  <a:lnTo>
                    <a:pt x="102441" y="102203"/>
                  </a:lnTo>
                  <a:lnTo>
                    <a:pt x="72876" y="135717"/>
                  </a:lnTo>
                  <a:lnTo>
                    <a:pt x="47751" y="172832"/>
                  </a:lnTo>
                  <a:lnTo>
                    <a:pt x="27485" y="213133"/>
                  </a:lnTo>
                  <a:lnTo>
                    <a:pt x="12493" y="256204"/>
                  </a:lnTo>
                  <a:lnTo>
                    <a:pt x="3192" y="301630"/>
                  </a:lnTo>
                  <a:lnTo>
                    <a:pt x="0" y="348995"/>
                  </a:lnTo>
                  <a:lnTo>
                    <a:pt x="3192" y="396361"/>
                  </a:lnTo>
                  <a:lnTo>
                    <a:pt x="12493" y="441787"/>
                  </a:lnTo>
                  <a:lnTo>
                    <a:pt x="27485" y="484858"/>
                  </a:lnTo>
                  <a:lnTo>
                    <a:pt x="47752" y="525159"/>
                  </a:lnTo>
                  <a:lnTo>
                    <a:pt x="72876" y="562274"/>
                  </a:lnTo>
                  <a:lnTo>
                    <a:pt x="102441" y="595788"/>
                  </a:lnTo>
                  <a:lnTo>
                    <a:pt x="136030" y="625286"/>
                  </a:lnTo>
                  <a:lnTo>
                    <a:pt x="173228" y="650352"/>
                  </a:lnTo>
                  <a:lnTo>
                    <a:pt x="213615" y="670571"/>
                  </a:lnTo>
                  <a:lnTo>
                    <a:pt x="256778" y="685528"/>
                  </a:lnTo>
                  <a:lnTo>
                    <a:pt x="302297" y="694806"/>
                  </a:lnTo>
                  <a:lnTo>
                    <a:pt x="349758" y="697991"/>
                  </a:lnTo>
                  <a:lnTo>
                    <a:pt x="397218" y="694806"/>
                  </a:lnTo>
                  <a:lnTo>
                    <a:pt x="442737" y="685528"/>
                  </a:lnTo>
                  <a:lnTo>
                    <a:pt x="485900" y="670571"/>
                  </a:lnTo>
                  <a:lnTo>
                    <a:pt x="526288" y="650352"/>
                  </a:lnTo>
                  <a:lnTo>
                    <a:pt x="563485" y="625286"/>
                  </a:lnTo>
                  <a:lnTo>
                    <a:pt x="597074" y="595788"/>
                  </a:lnTo>
                  <a:lnTo>
                    <a:pt x="626639" y="562274"/>
                  </a:lnTo>
                  <a:lnTo>
                    <a:pt x="651764" y="525159"/>
                  </a:lnTo>
                  <a:lnTo>
                    <a:pt x="672030" y="484858"/>
                  </a:lnTo>
                  <a:lnTo>
                    <a:pt x="687022" y="441787"/>
                  </a:lnTo>
                  <a:lnTo>
                    <a:pt x="696323" y="396361"/>
                  </a:lnTo>
                  <a:lnTo>
                    <a:pt x="699516" y="348995"/>
                  </a:lnTo>
                  <a:lnTo>
                    <a:pt x="696323" y="301630"/>
                  </a:lnTo>
                  <a:lnTo>
                    <a:pt x="687022" y="256204"/>
                  </a:lnTo>
                  <a:lnTo>
                    <a:pt x="672030" y="213133"/>
                  </a:lnTo>
                  <a:lnTo>
                    <a:pt x="651763" y="172832"/>
                  </a:lnTo>
                  <a:lnTo>
                    <a:pt x="626639" y="135717"/>
                  </a:lnTo>
                  <a:lnTo>
                    <a:pt x="597074" y="102203"/>
                  </a:lnTo>
                  <a:lnTo>
                    <a:pt x="563485" y="72705"/>
                  </a:lnTo>
                  <a:lnTo>
                    <a:pt x="526287" y="47639"/>
                  </a:lnTo>
                  <a:lnTo>
                    <a:pt x="485900" y="27420"/>
                  </a:lnTo>
                  <a:lnTo>
                    <a:pt x="442737" y="12463"/>
                  </a:lnTo>
                  <a:lnTo>
                    <a:pt x="397218" y="3185"/>
                  </a:lnTo>
                  <a:lnTo>
                    <a:pt x="34975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90315" y="1054608"/>
              <a:ext cx="699770" cy="698500"/>
            </a:xfrm>
            <a:custGeom>
              <a:avLst/>
              <a:gdLst/>
              <a:ahLst/>
              <a:cxnLst/>
              <a:rect l="l" t="t" r="r" b="b"/>
              <a:pathLst>
                <a:path w="699770" h="698500">
                  <a:moveTo>
                    <a:pt x="0" y="348995"/>
                  </a:moveTo>
                  <a:lnTo>
                    <a:pt x="3192" y="301630"/>
                  </a:lnTo>
                  <a:lnTo>
                    <a:pt x="12493" y="256204"/>
                  </a:lnTo>
                  <a:lnTo>
                    <a:pt x="27485" y="213133"/>
                  </a:lnTo>
                  <a:lnTo>
                    <a:pt x="47751" y="172832"/>
                  </a:lnTo>
                  <a:lnTo>
                    <a:pt x="72876" y="135717"/>
                  </a:lnTo>
                  <a:lnTo>
                    <a:pt x="102441" y="102203"/>
                  </a:lnTo>
                  <a:lnTo>
                    <a:pt x="136030" y="72705"/>
                  </a:lnTo>
                  <a:lnTo>
                    <a:pt x="173228" y="47639"/>
                  </a:lnTo>
                  <a:lnTo>
                    <a:pt x="213615" y="27420"/>
                  </a:lnTo>
                  <a:lnTo>
                    <a:pt x="256778" y="12463"/>
                  </a:lnTo>
                  <a:lnTo>
                    <a:pt x="302297" y="3185"/>
                  </a:lnTo>
                  <a:lnTo>
                    <a:pt x="349758" y="0"/>
                  </a:lnTo>
                  <a:lnTo>
                    <a:pt x="397218" y="3185"/>
                  </a:lnTo>
                  <a:lnTo>
                    <a:pt x="442737" y="12463"/>
                  </a:lnTo>
                  <a:lnTo>
                    <a:pt x="485900" y="27420"/>
                  </a:lnTo>
                  <a:lnTo>
                    <a:pt x="526287" y="47639"/>
                  </a:lnTo>
                  <a:lnTo>
                    <a:pt x="563485" y="72705"/>
                  </a:lnTo>
                  <a:lnTo>
                    <a:pt x="597074" y="102203"/>
                  </a:lnTo>
                  <a:lnTo>
                    <a:pt x="626639" y="135717"/>
                  </a:lnTo>
                  <a:lnTo>
                    <a:pt x="651763" y="172832"/>
                  </a:lnTo>
                  <a:lnTo>
                    <a:pt x="672030" y="213133"/>
                  </a:lnTo>
                  <a:lnTo>
                    <a:pt x="687022" y="256204"/>
                  </a:lnTo>
                  <a:lnTo>
                    <a:pt x="696323" y="301630"/>
                  </a:lnTo>
                  <a:lnTo>
                    <a:pt x="699516" y="348995"/>
                  </a:lnTo>
                  <a:lnTo>
                    <a:pt x="696323" y="396361"/>
                  </a:lnTo>
                  <a:lnTo>
                    <a:pt x="687022" y="441787"/>
                  </a:lnTo>
                  <a:lnTo>
                    <a:pt x="672030" y="484858"/>
                  </a:lnTo>
                  <a:lnTo>
                    <a:pt x="651764" y="525159"/>
                  </a:lnTo>
                  <a:lnTo>
                    <a:pt x="626639" y="562274"/>
                  </a:lnTo>
                  <a:lnTo>
                    <a:pt x="597074" y="595788"/>
                  </a:lnTo>
                  <a:lnTo>
                    <a:pt x="563485" y="625286"/>
                  </a:lnTo>
                  <a:lnTo>
                    <a:pt x="526288" y="650352"/>
                  </a:lnTo>
                  <a:lnTo>
                    <a:pt x="485900" y="670571"/>
                  </a:lnTo>
                  <a:lnTo>
                    <a:pt x="442737" y="685528"/>
                  </a:lnTo>
                  <a:lnTo>
                    <a:pt x="397218" y="694806"/>
                  </a:lnTo>
                  <a:lnTo>
                    <a:pt x="349758" y="697991"/>
                  </a:lnTo>
                  <a:lnTo>
                    <a:pt x="302297" y="694806"/>
                  </a:lnTo>
                  <a:lnTo>
                    <a:pt x="256778" y="685528"/>
                  </a:lnTo>
                  <a:lnTo>
                    <a:pt x="213615" y="670571"/>
                  </a:lnTo>
                  <a:lnTo>
                    <a:pt x="173228" y="650352"/>
                  </a:lnTo>
                  <a:lnTo>
                    <a:pt x="136030" y="625286"/>
                  </a:lnTo>
                  <a:lnTo>
                    <a:pt x="102441" y="595788"/>
                  </a:lnTo>
                  <a:lnTo>
                    <a:pt x="72876" y="562274"/>
                  </a:lnTo>
                  <a:lnTo>
                    <a:pt x="47752" y="525159"/>
                  </a:lnTo>
                  <a:lnTo>
                    <a:pt x="27485" y="484858"/>
                  </a:lnTo>
                  <a:lnTo>
                    <a:pt x="12493" y="441787"/>
                  </a:lnTo>
                  <a:lnTo>
                    <a:pt x="3192" y="396361"/>
                  </a:lnTo>
                  <a:lnTo>
                    <a:pt x="0" y="348995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1027938" y="5545073"/>
            <a:ext cx="3815715" cy="12700"/>
          </a:xfrm>
          <a:custGeom>
            <a:avLst/>
            <a:gdLst/>
            <a:ahLst/>
            <a:cxnLst/>
            <a:rect l="l" t="t" r="r" b="b"/>
            <a:pathLst>
              <a:path w="3815715" h="12700">
                <a:moveTo>
                  <a:pt x="0" y="0"/>
                </a:moveTo>
                <a:lnTo>
                  <a:pt x="3815715" y="12445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17842" y="5545073"/>
            <a:ext cx="4227830" cy="12700"/>
          </a:xfrm>
          <a:custGeom>
            <a:avLst/>
            <a:gdLst/>
            <a:ahLst/>
            <a:cxnLst/>
            <a:rect l="l" t="t" r="r" b="b"/>
            <a:pathLst>
              <a:path w="4227830" h="12700">
                <a:moveTo>
                  <a:pt x="0" y="12445"/>
                </a:moveTo>
                <a:lnTo>
                  <a:pt x="4227576" y="0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27938" y="5415534"/>
            <a:ext cx="0" cy="142875"/>
          </a:xfrm>
          <a:custGeom>
            <a:avLst/>
            <a:gdLst/>
            <a:ahLst/>
            <a:cxnLst/>
            <a:rect l="l" t="t" r="r" b="b"/>
            <a:pathLst>
              <a:path w="0" h="142875">
                <a:moveTo>
                  <a:pt x="0" y="142874"/>
                </a:moveTo>
                <a:lnTo>
                  <a:pt x="0" y="0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342369" y="5420105"/>
            <a:ext cx="0" cy="128905"/>
          </a:xfrm>
          <a:custGeom>
            <a:avLst/>
            <a:gdLst/>
            <a:ahLst/>
            <a:cxnLst/>
            <a:rect l="l" t="t" r="r" b="b"/>
            <a:pathLst>
              <a:path w="0" h="128904">
                <a:moveTo>
                  <a:pt x="0" y="128651"/>
                </a:moveTo>
                <a:lnTo>
                  <a:pt x="0" y="0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975986" y="5425541"/>
            <a:ext cx="2004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5C9DAE"/>
                </a:solidFill>
                <a:latin typeface="Calibri"/>
                <a:cs typeface="Calibri"/>
              </a:rPr>
              <a:t>Targeted</a:t>
            </a:r>
            <a:r>
              <a:rPr dirty="0" sz="1400" spc="-3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C9DAE"/>
                </a:solidFill>
                <a:latin typeface="Calibri"/>
                <a:cs typeface="Calibri"/>
              </a:rPr>
              <a:t>Solution:</a:t>
            </a:r>
            <a:r>
              <a:rPr dirty="0" sz="1400" spc="-3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Phoenix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9" name="object 19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2568" y="259079"/>
            <a:ext cx="583692" cy="58674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0" y="0"/>
            <a:ext cx="12192000" cy="116205"/>
            <a:chOff x="0" y="0"/>
            <a:chExt cx="12192000" cy="116205"/>
          </a:xfrm>
        </p:grpSpPr>
        <p:sp>
          <p:nvSpPr>
            <p:cNvPr id="21" name="object 21"/>
            <p:cNvSpPr/>
            <p:nvPr/>
          </p:nvSpPr>
          <p:spPr>
            <a:xfrm>
              <a:off x="0" y="0"/>
              <a:ext cx="10285730" cy="116205"/>
            </a:xfrm>
            <a:custGeom>
              <a:avLst/>
              <a:gdLst/>
              <a:ahLst/>
              <a:cxnLst/>
              <a:rect l="l" t="t" r="r" b="b"/>
              <a:pathLst>
                <a:path w="10285730" h="116205">
                  <a:moveTo>
                    <a:pt x="10285476" y="0"/>
                  </a:moveTo>
                  <a:lnTo>
                    <a:pt x="0" y="0"/>
                  </a:lnTo>
                  <a:lnTo>
                    <a:pt x="0" y="115824"/>
                  </a:lnTo>
                  <a:lnTo>
                    <a:pt x="10285476" y="115824"/>
                  </a:lnTo>
                  <a:lnTo>
                    <a:pt x="10285476" y="0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556492" y="0"/>
              <a:ext cx="635635" cy="116205"/>
            </a:xfrm>
            <a:custGeom>
              <a:avLst/>
              <a:gdLst/>
              <a:ahLst/>
              <a:cxnLst/>
              <a:rect l="l" t="t" r="r" b="b"/>
              <a:pathLst>
                <a:path w="635634" h="116205">
                  <a:moveTo>
                    <a:pt x="635507" y="0"/>
                  </a:moveTo>
                  <a:lnTo>
                    <a:pt x="0" y="0"/>
                  </a:lnTo>
                  <a:lnTo>
                    <a:pt x="0" y="115824"/>
                  </a:lnTo>
                  <a:lnTo>
                    <a:pt x="635507" y="115824"/>
                  </a:lnTo>
                  <a:lnTo>
                    <a:pt x="635507" y="0"/>
                  </a:lnTo>
                  <a:close/>
                </a:path>
              </a:pathLst>
            </a:custGeom>
            <a:solidFill>
              <a:srgbClr val="6E8E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285476" y="0"/>
              <a:ext cx="635635" cy="116205"/>
            </a:xfrm>
            <a:custGeom>
              <a:avLst/>
              <a:gdLst/>
              <a:ahLst/>
              <a:cxnLst/>
              <a:rect l="l" t="t" r="r" b="b"/>
              <a:pathLst>
                <a:path w="635634" h="116205">
                  <a:moveTo>
                    <a:pt x="635507" y="0"/>
                  </a:moveTo>
                  <a:lnTo>
                    <a:pt x="0" y="0"/>
                  </a:lnTo>
                  <a:lnTo>
                    <a:pt x="0" y="115824"/>
                  </a:lnTo>
                  <a:lnTo>
                    <a:pt x="635507" y="115824"/>
                  </a:lnTo>
                  <a:lnTo>
                    <a:pt x="635507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2308860" y="6516623"/>
            <a:ext cx="9676765" cy="0"/>
          </a:xfrm>
          <a:custGeom>
            <a:avLst/>
            <a:gdLst/>
            <a:ahLst/>
            <a:cxnLst/>
            <a:rect l="l" t="t" r="r" b="b"/>
            <a:pathLst>
              <a:path w="9676765" h="0">
                <a:moveTo>
                  <a:pt x="0" y="0"/>
                </a:moveTo>
                <a:lnTo>
                  <a:pt x="9676257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825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LENDING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 spc="-80"/>
              <a:t>JAVA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10"/>
              <a:t>SUMATRA</a:t>
            </a:r>
          </a:p>
          <a:p>
            <a:pPr marL="57785">
              <a:lnSpc>
                <a:spcPct val="100000"/>
              </a:lnSpc>
              <a:spcBef>
                <a:spcPts val="60"/>
              </a:spcBef>
            </a:pP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Arduous</a:t>
            </a:r>
            <a:r>
              <a:rPr dirty="0" sz="2000" spc="-7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Loan</a:t>
            </a:r>
            <a:r>
              <a:rPr dirty="0" sz="2000" spc="-6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Application</a:t>
            </a:r>
            <a:r>
              <a:rPr dirty="0" sz="2000" spc="-6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dirty="0" sz="2000" spc="-60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spc="-10" b="0">
                <a:solidFill>
                  <a:srgbClr val="7E7E7E"/>
                </a:solidFill>
                <a:latin typeface="Calibri"/>
                <a:cs typeface="Calibri"/>
              </a:rPr>
              <a:t>Operational</a:t>
            </a:r>
            <a:r>
              <a:rPr dirty="0" sz="20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Inefficiency</a:t>
            </a:r>
            <a:r>
              <a:rPr dirty="0" sz="2000" spc="-6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spc="-10" b="0">
                <a:solidFill>
                  <a:srgbClr val="7E7E7E"/>
                </a:solidFill>
                <a:latin typeface="Calibri"/>
                <a:cs typeface="Calibri"/>
              </a:rPr>
              <a:t>backend</a:t>
            </a:r>
            <a:r>
              <a:rPr dirty="0" sz="2000" spc="-7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7E7E7E"/>
                </a:solidFill>
                <a:latin typeface="Calibri"/>
                <a:cs typeface="Calibri"/>
              </a:rPr>
              <a:t>procedures</a:t>
            </a:r>
            <a:r>
              <a:rPr dirty="0" sz="2000" spc="-55" b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2000" spc="-10" b="0">
                <a:solidFill>
                  <a:srgbClr val="7E7E7E"/>
                </a:solidFill>
                <a:latin typeface="Calibri"/>
                <a:cs typeface="Calibri"/>
              </a:rPr>
              <a:t>Chokepoints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2023" y="856488"/>
            <a:ext cx="11045825" cy="0"/>
          </a:xfrm>
          <a:custGeom>
            <a:avLst/>
            <a:gdLst/>
            <a:ahLst/>
            <a:cxnLst/>
            <a:rect l="l" t="t" r="r" b="b"/>
            <a:pathLst>
              <a:path w="11045825" h="0">
                <a:moveTo>
                  <a:pt x="0" y="0"/>
                </a:moveTo>
                <a:lnTo>
                  <a:pt x="11045825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23316" y="2859023"/>
            <a:ext cx="2108200" cy="41783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90805" rIns="0" bIns="0" rtlCol="0" vert="horz">
            <a:spAutoFit/>
          </a:bodyPr>
          <a:lstStyle/>
          <a:p>
            <a:pPr marL="444500">
              <a:lnSpc>
                <a:spcPct val="100000"/>
              </a:lnSpc>
              <a:spcBef>
                <a:spcPts val="71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48511" y="1013460"/>
            <a:ext cx="1114425" cy="1120140"/>
            <a:chOff x="1048511" y="1013460"/>
            <a:chExt cx="1114425" cy="1120140"/>
          </a:xfrm>
        </p:grpSpPr>
        <p:sp>
          <p:nvSpPr>
            <p:cNvPr id="30" name="object 30"/>
            <p:cNvSpPr/>
            <p:nvPr/>
          </p:nvSpPr>
          <p:spPr>
            <a:xfrm>
              <a:off x="1048511" y="1013460"/>
              <a:ext cx="1114425" cy="1115695"/>
            </a:xfrm>
            <a:custGeom>
              <a:avLst/>
              <a:gdLst/>
              <a:ahLst/>
              <a:cxnLst/>
              <a:rect l="l" t="t" r="r" b="b"/>
              <a:pathLst>
                <a:path w="1114425" h="1115695">
                  <a:moveTo>
                    <a:pt x="557022" y="0"/>
                  </a:moveTo>
                  <a:lnTo>
                    <a:pt x="508965" y="2047"/>
                  </a:lnTo>
                  <a:lnTo>
                    <a:pt x="462043" y="8076"/>
                  </a:lnTo>
                  <a:lnTo>
                    <a:pt x="416422" y="17921"/>
                  </a:lnTo>
                  <a:lnTo>
                    <a:pt x="372270" y="31414"/>
                  </a:lnTo>
                  <a:lnTo>
                    <a:pt x="329754" y="48387"/>
                  </a:lnTo>
                  <a:lnTo>
                    <a:pt x="289041" y="68673"/>
                  </a:lnTo>
                  <a:lnTo>
                    <a:pt x="250299" y="92106"/>
                  </a:lnTo>
                  <a:lnTo>
                    <a:pt x="213695" y="118517"/>
                  </a:lnTo>
                  <a:lnTo>
                    <a:pt x="179396" y="147740"/>
                  </a:lnTo>
                  <a:lnTo>
                    <a:pt x="147569" y="179607"/>
                  </a:lnTo>
                  <a:lnTo>
                    <a:pt x="118382" y="213950"/>
                  </a:lnTo>
                  <a:lnTo>
                    <a:pt x="92003" y="250603"/>
                  </a:lnTo>
                  <a:lnTo>
                    <a:pt x="68597" y="289398"/>
                  </a:lnTo>
                  <a:lnTo>
                    <a:pt x="48334" y="330168"/>
                  </a:lnTo>
                  <a:lnTo>
                    <a:pt x="31380" y="372745"/>
                  </a:lnTo>
                  <a:lnTo>
                    <a:pt x="17902" y="416963"/>
                  </a:lnTo>
                  <a:lnTo>
                    <a:pt x="8068" y="462653"/>
                  </a:lnTo>
                  <a:lnTo>
                    <a:pt x="2044" y="509649"/>
                  </a:lnTo>
                  <a:lnTo>
                    <a:pt x="0" y="557784"/>
                  </a:lnTo>
                  <a:lnTo>
                    <a:pt x="2044" y="605918"/>
                  </a:lnTo>
                  <a:lnTo>
                    <a:pt x="8068" y="652914"/>
                  </a:lnTo>
                  <a:lnTo>
                    <a:pt x="17902" y="698604"/>
                  </a:lnTo>
                  <a:lnTo>
                    <a:pt x="31380" y="742822"/>
                  </a:lnTo>
                  <a:lnTo>
                    <a:pt x="48334" y="785399"/>
                  </a:lnTo>
                  <a:lnTo>
                    <a:pt x="68597" y="826169"/>
                  </a:lnTo>
                  <a:lnTo>
                    <a:pt x="92003" y="864964"/>
                  </a:lnTo>
                  <a:lnTo>
                    <a:pt x="118382" y="901617"/>
                  </a:lnTo>
                  <a:lnTo>
                    <a:pt x="147569" y="935960"/>
                  </a:lnTo>
                  <a:lnTo>
                    <a:pt x="179396" y="967827"/>
                  </a:lnTo>
                  <a:lnTo>
                    <a:pt x="213695" y="997050"/>
                  </a:lnTo>
                  <a:lnTo>
                    <a:pt x="250299" y="1023461"/>
                  </a:lnTo>
                  <a:lnTo>
                    <a:pt x="289041" y="1046894"/>
                  </a:lnTo>
                  <a:lnTo>
                    <a:pt x="329754" y="1067180"/>
                  </a:lnTo>
                  <a:lnTo>
                    <a:pt x="372270" y="1084153"/>
                  </a:lnTo>
                  <a:lnTo>
                    <a:pt x="416422" y="1097646"/>
                  </a:lnTo>
                  <a:lnTo>
                    <a:pt x="462043" y="1107491"/>
                  </a:lnTo>
                  <a:lnTo>
                    <a:pt x="508965" y="1113520"/>
                  </a:lnTo>
                  <a:lnTo>
                    <a:pt x="557022" y="1115567"/>
                  </a:lnTo>
                  <a:lnTo>
                    <a:pt x="605078" y="1113520"/>
                  </a:lnTo>
                  <a:lnTo>
                    <a:pt x="652000" y="1107491"/>
                  </a:lnTo>
                  <a:lnTo>
                    <a:pt x="697621" y="1097646"/>
                  </a:lnTo>
                  <a:lnTo>
                    <a:pt x="741773" y="1084153"/>
                  </a:lnTo>
                  <a:lnTo>
                    <a:pt x="784289" y="1067180"/>
                  </a:lnTo>
                  <a:lnTo>
                    <a:pt x="825002" y="1046894"/>
                  </a:lnTo>
                  <a:lnTo>
                    <a:pt x="863744" y="1023461"/>
                  </a:lnTo>
                  <a:lnTo>
                    <a:pt x="900348" y="997050"/>
                  </a:lnTo>
                  <a:lnTo>
                    <a:pt x="934647" y="967827"/>
                  </a:lnTo>
                  <a:lnTo>
                    <a:pt x="966474" y="935960"/>
                  </a:lnTo>
                  <a:lnTo>
                    <a:pt x="995661" y="901617"/>
                  </a:lnTo>
                  <a:lnTo>
                    <a:pt x="1022040" y="864964"/>
                  </a:lnTo>
                  <a:lnTo>
                    <a:pt x="1045446" y="826169"/>
                  </a:lnTo>
                  <a:lnTo>
                    <a:pt x="1065709" y="785399"/>
                  </a:lnTo>
                  <a:lnTo>
                    <a:pt x="1082663" y="742822"/>
                  </a:lnTo>
                  <a:lnTo>
                    <a:pt x="1096141" y="698604"/>
                  </a:lnTo>
                  <a:lnTo>
                    <a:pt x="1105975" y="652914"/>
                  </a:lnTo>
                  <a:lnTo>
                    <a:pt x="1111999" y="605918"/>
                  </a:lnTo>
                  <a:lnTo>
                    <a:pt x="1114044" y="557784"/>
                  </a:lnTo>
                  <a:lnTo>
                    <a:pt x="1111999" y="509649"/>
                  </a:lnTo>
                  <a:lnTo>
                    <a:pt x="1105975" y="462653"/>
                  </a:lnTo>
                  <a:lnTo>
                    <a:pt x="1096141" y="416963"/>
                  </a:lnTo>
                  <a:lnTo>
                    <a:pt x="1082663" y="372745"/>
                  </a:lnTo>
                  <a:lnTo>
                    <a:pt x="1065709" y="330168"/>
                  </a:lnTo>
                  <a:lnTo>
                    <a:pt x="1045446" y="289398"/>
                  </a:lnTo>
                  <a:lnTo>
                    <a:pt x="1022040" y="250603"/>
                  </a:lnTo>
                  <a:lnTo>
                    <a:pt x="995661" y="213950"/>
                  </a:lnTo>
                  <a:lnTo>
                    <a:pt x="966474" y="179607"/>
                  </a:lnTo>
                  <a:lnTo>
                    <a:pt x="934647" y="147740"/>
                  </a:lnTo>
                  <a:lnTo>
                    <a:pt x="900348" y="118517"/>
                  </a:lnTo>
                  <a:lnTo>
                    <a:pt x="863744" y="92106"/>
                  </a:lnTo>
                  <a:lnTo>
                    <a:pt x="825002" y="68673"/>
                  </a:lnTo>
                  <a:lnTo>
                    <a:pt x="784289" y="48387"/>
                  </a:lnTo>
                  <a:lnTo>
                    <a:pt x="741773" y="31414"/>
                  </a:lnTo>
                  <a:lnTo>
                    <a:pt x="697621" y="17921"/>
                  </a:lnTo>
                  <a:lnTo>
                    <a:pt x="652000" y="8076"/>
                  </a:lnTo>
                  <a:lnTo>
                    <a:pt x="605078" y="2047"/>
                  </a:lnTo>
                  <a:lnTo>
                    <a:pt x="557022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4899" y="1146048"/>
              <a:ext cx="996696" cy="98755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831592" y="2859023"/>
            <a:ext cx="2109470" cy="416559"/>
          </a:xfrm>
          <a:prstGeom prst="rect">
            <a:avLst/>
          </a:prstGeom>
          <a:solidFill>
            <a:srgbClr val="5C9DAE"/>
          </a:solidFill>
        </p:spPr>
        <p:txBody>
          <a:bodyPr wrap="square" lIns="0" tIns="90805" rIns="0" bIns="0" rtlCol="0" vert="horz">
            <a:spAutoFit/>
          </a:bodyPr>
          <a:lstStyle/>
          <a:p>
            <a:pPr marL="482600">
              <a:lnSpc>
                <a:spcPct val="100000"/>
              </a:lnSpc>
              <a:spcBef>
                <a:spcPts val="71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CIB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Verification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41391" y="2859023"/>
            <a:ext cx="2109470" cy="41783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90805" rIns="0" bIns="0" rtlCol="0" vert="horz">
            <a:spAutoFit/>
          </a:bodyPr>
          <a:lstStyle/>
          <a:p>
            <a:pPr marL="482600">
              <a:lnSpc>
                <a:spcPct val="100000"/>
              </a:lnSpc>
              <a:spcBef>
                <a:spcPts val="71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Person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51192" y="2859023"/>
            <a:ext cx="2109470" cy="41783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90805" rIns="0" bIns="0" rtlCol="0" vert="horz">
            <a:spAutoFit/>
          </a:bodyPr>
          <a:lstStyle/>
          <a:p>
            <a:pPr marL="421005">
              <a:lnSpc>
                <a:spcPct val="100000"/>
              </a:lnSpc>
              <a:spcBef>
                <a:spcPts val="71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Final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Assessment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60992" y="2859023"/>
            <a:ext cx="2108200" cy="40259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560"/>
              </a:lnSpc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Approval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ts val="1610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Rejection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16628" y="2471420"/>
            <a:ext cx="31311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libri"/>
                <a:cs typeface="Calibri"/>
              </a:rPr>
              <a:t>UFH’s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Credit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Lending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Mechanism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460992" y="3261359"/>
            <a:ext cx="2108200" cy="2171700"/>
            <a:chOff x="9460992" y="3261359"/>
            <a:chExt cx="2108200" cy="2171700"/>
          </a:xfrm>
        </p:grpSpPr>
        <p:sp>
          <p:nvSpPr>
            <p:cNvPr id="38" name="object 38"/>
            <p:cNvSpPr/>
            <p:nvPr/>
          </p:nvSpPr>
          <p:spPr>
            <a:xfrm>
              <a:off x="9460992" y="3261359"/>
              <a:ext cx="2108200" cy="2171700"/>
            </a:xfrm>
            <a:custGeom>
              <a:avLst/>
              <a:gdLst/>
              <a:ahLst/>
              <a:cxnLst/>
              <a:rect l="l" t="t" r="r" b="b"/>
              <a:pathLst>
                <a:path w="2108200" h="2171700">
                  <a:moveTo>
                    <a:pt x="2107692" y="0"/>
                  </a:moveTo>
                  <a:lnTo>
                    <a:pt x="0" y="0"/>
                  </a:lnTo>
                  <a:lnTo>
                    <a:pt x="0" y="2171700"/>
                  </a:lnTo>
                  <a:lnTo>
                    <a:pt x="2107692" y="2171700"/>
                  </a:lnTo>
                  <a:lnTo>
                    <a:pt x="2107692" y="0"/>
                  </a:lnTo>
                  <a:close/>
                </a:path>
              </a:pathLst>
            </a:custGeom>
            <a:solidFill>
              <a:srgbClr val="A4C8D2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26040" y="3439667"/>
              <a:ext cx="626364" cy="627887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5041391" y="3261359"/>
            <a:ext cx="2109470" cy="2158365"/>
            <a:chOff x="5041391" y="3261359"/>
            <a:chExt cx="2109470" cy="2158365"/>
          </a:xfrm>
        </p:grpSpPr>
        <p:sp>
          <p:nvSpPr>
            <p:cNvPr id="41" name="object 41"/>
            <p:cNvSpPr/>
            <p:nvPr/>
          </p:nvSpPr>
          <p:spPr>
            <a:xfrm>
              <a:off x="5041391" y="3261359"/>
              <a:ext cx="2109470" cy="2158365"/>
            </a:xfrm>
            <a:custGeom>
              <a:avLst/>
              <a:gdLst/>
              <a:ahLst/>
              <a:cxnLst/>
              <a:rect l="l" t="t" r="r" b="b"/>
              <a:pathLst>
                <a:path w="2109470" h="2158365">
                  <a:moveTo>
                    <a:pt x="2109216" y="0"/>
                  </a:moveTo>
                  <a:lnTo>
                    <a:pt x="0" y="0"/>
                  </a:lnTo>
                  <a:lnTo>
                    <a:pt x="0" y="2157984"/>
                  </a:lnTo>
                  <a:lnTo>
                    <a:pt x="2109216" y="2157984"/>
                  </a:lnTo>
                  <a:lnTo>
                    <a:pt x="2109216" y="0"/>
                  </a:lnTo>
                  <a:close/>
                </a:path>
              </a:pathLst>
            </a:custGeom>
            <a:solidFill>
              <a:srgbClr val="A4C8D2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3099" y="3438143"/>
              <a:ext cx="605027" cy="605027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2831592" y="3275076"/>
            <a:ext cx="2109470" cy="2158365"/>
            <a:chOff x="2831592" y="3275076"/>
            <a:chExt cx="2109470" cy="2158365"/>
          </a:xfrm>
        </p:grpSpPr>
        <p:sp>
          <p:nvSpPr>
            <p:cNvPr id="44" name="object 44"/>
            <p:cNvSpPr/>
            <p:nvPr/>
          </p:nvSpPr>
          <p:spPr>
            <a:xfrm>
              <a:off x="2831592" y="3275076"/>
              <a:ext cx="2109470" cy="2158365"/>
            </a:xfrm>
            <a:custGeom>
              <a:avLst/>
              <a:gdLst/>
              <a:ahLst/>
              <a:cxnLst/>
              <a:rect l="l" t="t" r="r" b="b"/>
              <a:pathLst>
                <a:path w="2109470" h="2158365">
                  <a:moveTo>
                    <a:pt x="2109216" y="0"/>
                  </a:moveTo>
                  <a:lnTo>
                    <a:pt x="0" y="0"/>
                  </a:lnTo>
                  <a:lnTo>
                    <a:pt x="0" y="2157984"/>
                  </a:lnTo>
                  <a:lnTo>
                    <a:pt x="2109216" y="2157984"/>
                  </a:lnTo>
                  <a:lnTo>
                    <a:pt x="2109216" y="0"/>
                  </a:lnTo>
                  <a:close/>
                </a:path>
              </a:pathLst>
            </a:custGeom>
            <a:solidFill>
              <a:srgbClr val="C00000">
                <a:alpha val="5882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2528" y="3439668"/>
              <a:ext cx="662939" cy="664464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7251192" y="3261359"/>
            <a:ext cx="2109470" cy="2171700"/>
            <a:chOff x="7251192" y="3261359"/>
            <a:chExt cx="2109470" cy="2171700"/>
          </a:xfrm>
        </p:grpSpPr>
        <p:sp>
          <p:nvSpPr>
            <p:cNvPr id="47" name="object 47"/>
            <p:cNvSpPr/>
            <p:nvPr/>
          </p:nvSpPr>
          <p:spPr>
            <a:xfrm>
              <a:off x="7251192" y="3261359"/>
              <a:ext cx="2109470" cy="2171700"/>
            </a:xfrm>
            <a:custGeom>
              <a:avLst/>
              <a:gdLst/>
              <a:ahLst/>
              <a:cxnLst/>
              <a:rect l="l" t="t" r="r" b="b"/>
              <a:pathLst>
                <a:path w="2109470" h="2171700">
                  <a:moveTo>
                    <a:pt x="2109216" y="0"/>
                  </a:moveTo>
                  <a:lnTo>
                    <a:pt x="0" y="0"/>
                  </a:lnTo>
                  <a:lnTo>
                    <a:pt x="0" y="2171700"/>
                  </a:lnTo>
                  <a:lnTo>
                    <a:pt x="2109216" y="2171700"/>
                  </a:lnTo>
                  <a:lnTo>
                    <a:pt x="2109216" y="0"/>
                  </a:lnTo>
                  <a:close/>
                </a:path>
              </a:pathLst>
            </a:custGeom>
            <a:solidFill>
              <a:srgbClr val="C00000">
                <a:alpha val="5882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40624" y="3459479"/>
              <a:ext cx="576072" cy="576072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623316" y="3268979"/>
            <a:ext cx="2108200" cy="2164080"/>
            <a:chOff x="623316" y="3268979"/>
            <a:chExt cx="2108200" cy="2164080"/>
          </a:xfrm>
        </p:grpSpPr>
        <p:sp>
          <p:nvSpPr>
            <p:cNvPr id="50" name="object 50"/>
            <p:cNvSpPr/>
            <p:nvPr/>
          </p:nvSpPr>
          <p:spPr>
            <a:xfrm>
              <a:off x="623316" y="3268979"/>
              <a:ext cx="2108200" cy="2164080"/>
            </a:xfrm>
            <a:custGeom>
              <a:avLst/>
              <a:gdLst/>
              <a:ahLst/>
              <a:cxnLst/>
              <a:rect l="l" t="t" r="r" b="b"/>
              <a:pathLst>
                <a:path w="2108200" h="2164079">
                  <a:moveTo>
                    <a:pt x="2107692" y="0"/>
                  </a:moveTo>
                  <a:lnTo>
                    <a:pt x="0" y="0"/>
                  </a:lnTo>
                  <a:lnTo>
                    <a:pt x="0" y="2164080"/>
                  </a:lnTo>
                  <a:lnTo>
                    <a:pt x="2107692" y="2164080"/>
                  </a:lnTo>
                  <a:lnTo>
                    <a:pt x="2107692" y="0"/>
                  </a:lnTo>
                  <a:close/>
                </a:path>
              </a:pathLst>
            </a:custGeom>
            <a:solidFill>
              <a:srgbClr val="C00000">
                <a:alpha val="5882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0640" y="3491483"/>
              <a:ext cx="559308" cy="557783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5074920" y="5713476"/>
            <a:ext cx="2098675" cy="573405"/>
            <a:chOff x="5074920" y="5713476"/>
            <a:chExt cx="2098675" cy="573405"/>
          </a:xfrm>
        </p:grpSpPr>
        <p:sp>
          <p:nvSpPr>
            <p:cNvPr id="53" name="object 53"/>
            <p:cNvSpPr/>
            <p:nvPr/>
          </p:nvSpPr>
          <p:spPr>
            <a:xfrm>
              <a:off x="5074920" y="5713476"/>
              <a:ext cx="2098675" cy="573405"/>
            </a:xfrm>
            <a:custGeom>
              <a:avLst/>
              <a:gdLst/>
              <a:ahLst/>
              <a:cxnLst/>
              <a:rect l="l" t="t" r="r" b="b"/>
              <a:pathLst>
                <a:path w="2098675" h="573404">
                  <a:moveTo>
                    <a:pt x="2098548" y="0"/>
                  </a:moveTo>
                  <a:lnTo>
                    <a:pt x="0" y="0"/>
                  </a:lnTo>
                  <a:lnTo>
                    <a:pt x="0" y="573024"/>
                  </a:lnTo>
                  <a:lnTo>
                    <a:pt x="2098548" y="573024"/>
                  </a:lnTo>
                  <a:lnTo>
                    <a:pt x="2098548" y="0"/>
                  </a:lnTo>
                  <a:close/>
                </a:path>
              </a:pathLst>
            </a:custGeom>
            <a:solidFill>
              <a:srgbClr val="A4C8D2">
                <a:alpha val="490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57216" y="5777484"/>
              <a:ext cx="440436" cy="441959"/>
            </a:xfrm>
            <a:prstGeom prst="rect">
              <a:avLst/>
            </a:prstGeom>
          </p:spPr>
        </p:pic>
      </p:grpSp>
      <p:sp>
        <p:nvSpPr>
          <p:cNvPr id="55" name="object 55"/>
          <p:cNvSpPr/>
          <p:nvPr/>
        </p:nvSpPr>
        <p:spPr>
          <a:xfrm>
            <a:off x="658368" y="5713476"/>
            <a:ext cx="2098675" cy="574675"/>
          </a:xfrm>
          <a:custGeom>
            <a:avLst/>
            <a:gdLst/>
            <a:ahLst/>
            <a:cxnLst/>
            <a:rect l="l" t="t" r="r" b="b"/>
            <a:pathLst>
              <a:path w="2098675" h="574675">
                <a:moveTo>
                  <a:pt x="2098548" y="0"/>
                </a:moveTo>
                <a:lnTo>
                  <a:pt x="0" y="0"/>
                </a:lnTo>
                <a:lnTo>
                  <a:pt x="0" y="574548"/>
                </a:lnTo>
                <a:lnTo>
                  <a:pt x="2098548" y="574548"/>
                </a:lnTo>
                <a:lnTo>
                  <a:pt x="2098548" y="0"/>
                </a:lnTo>
                <a:close/>
              </a:path>
            </a:pathLst>
          </a:custGeom>
          <a:solidFill>
            <a:srgbClr val="C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866644" y="5713476"/>
            <a:ext cx="2098675" cy="573405"/>
          </a:xfrm>
          <a:custGeom>
            <a:avLst/>
            <a:gdLst/>
            <a:ahLst/>
            <a:cxnLst/>
            <a:rect l="l" t="t" r="r" b="b"/>
            <a:pathLst>
              <a:path w="2098675" h="573404">
                <a:moveTo>
                  <a:pt x="2098548" y="0"/>
                </a:moveTo>
                <a:lnTo>
                  <a:pt x="0" y="0"/>
                </a:lnTo>
                <a:lnTo>
                  <a:pt x="0" y="573024"/>
                </a:lnTo>
                <a:lnTo>
                  <a:pt x="2098548" y="573024"/>
                </a:lnTo>
                <a:lnTo>
                  <a:pt x="2098548" y="0"/>
                </a:lnTo>
                <a:close/>
              </a:path>
            </a:pathLst>
          </a:custGeom>
          <a:solidFill>
            <a:srgbClr val="C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281671" y="5713476"/>
            <a:ext cx="2100580" cy="573405"/>
          </a:xfrm>
          <a:custGeom>
            <a:avLst/>
            <a:gdLst/>
            <a:ahLst/>
            <a:cxnLst/>
            <a:rect l="l" t="t" r="r" b="b"/>
            <a:pathLst>
              <a:path w="2100579" h="573404">
                <a:moveTo>
                  <a:pt x="2100072" y="0"/>
                </a:moveTo>
                <a:lnTo>
                  <a:pt x="0" y="0"/>
                </a:lnTo>
                <a:lnTo>
                  <a:pt x="0" y="573024"/>
                </a:lnTo>
                <a:lnTo>
                  <a:pt x="2100072" y="573024"/>
                </a:lnTo>
                <a:lnTo>
                  <a:pt x="2100072" y="0"/>
                </a:lnTo>
                <a:close/>
              </a:path>
            </a:pathLst>
          </a:custGeom>
          <a:solidFill>
            <a:srgbClr val="C000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" name="object 58"/>
          <p:cNvGrpSpPr/>
          <p:nvPr/>
        </p:nvGrpSpPr>
        <p:grpSpPr>
          <a:xfrm>
            <a:off x="9489947" y="5713476"/>
            <a:ext cx="2100580" cy="573405"/>
            <a:chOff x="9489947" y="5713476"/>
            <a:chExt cx="2100580" cy="573405"/>
          </a:xfrm>
        </p:grpSpPr>
        <p:sp>
          <p:nvSpPr>
            <p:cNvPr id="59" name="object 59"/>
            <p:cNvSpPr/>
            <p:nvPr/>
          </p:nvSpPr>
          <p:spPr>
            <a:xfrm>
              <a:off x="9489947" y="5713476"/>
              <a:ext cx="2100580" cy="573405"/>
            </a:xfrm>
            <a:custGeom>
              <a:avLst/>
              <a:gdLst/>
              <a:ahLst/>
              <a:cxnLst/>
              <a:rect l="l" t="t" r="r" b="b"/>
              <a:pathLst>
                <a:path w="2100579" h="573404">
                  <a:moveTo>
                    <a:pt x="2100072" y="0"/>
                  </a:moveTo>
                  <a:lnTo>
                    <a:pt x="0" y="0"/>
                  </a:lnTo>
                  <a:lnTo>
                    <a:pt x="0" y="573024"/>
                  </a:lnTo>
                  <a:lnTo>
                    <a:pt x="2100072" y="573024"/>
                  </a:lnTo>
                  <a:lnTo>
                    <a:pt x="2100072" y="0"/>
                  </a:lnTo>
                  <a:close/>
                </a:path>
              </a:pathLst>
            </a:custGeom>
            <a:solidFill>
              <a:srgbClr val="A4C8D2">
                <a:alpha val="490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11867" y="5777484"/>
              <a:ext cx="441959" cy="441959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658368" y="5713476"/>
            <a:ext cx="2098675" cy="57467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563245" marR="229235">
              <a:lnSpc>
                <a:spcPct val="100000"/>
              </a:lnSpc>
              <a:spcBef>
                <a:spcPts val="180"/>
              </a:spcBef>
            </a:pPr>
            <a:r>
              <a:rPr dirty="0" sz="1200" b="1">
                <a:latin typeface="Calibri"/>
                <a:cs typeface="Calibri"/>
              </a:rPr>
              <a:t>Solution: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Integrating RPA,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ML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image </a:t>
            </a:r>
            <a:r>
              <a:rPr dirty="0" sz="1200" spc="-10" b="1">
                <a:latin typeface="Calibri"/>
                <a:cs typeface="Calibri"/>
              </a:rPr>
              <a:t>analysis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866644" y="5713476"/>
            <a:ext cx="2098675" cy="57340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511175" marR="47625">
              <a:lnSpc>
                <a:spcPct val="100000"/>
              </a:lnSpc>
              <a:spcBef>
                <a:spcPts val="655"/>
              </a:spcBef>
            </a:pPr>
            <a:r>
              <a:rPr dirty="0" sz="1200" b="1">
                <a:latin typeface="Calibri"/>
                <a:cs typeface="Calibri"/>
              </a:rPr>
              <a:t>Solution: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UFH’s</a:t>
            </a:r>
            <a:r>
              <a:rPr dirty="0" sz="1200" spc="-25" b="1">
                <a:latin typeface="Calibri"/>
                <a:cs typeface="Calibri"/>
              </a:rPr>
              <a:t> New </a:t>
            </a:r>
            <a:r>
              <a:rPr dirty="0" sz="1200" b="1">
                <a:latin typeface="Calibri"/>
                <a:cs typeface="Calibri"/>
              </a:rPr>
              <a:t>Credit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Score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Mechanism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281671" y="5713476"/>
            <a:ext cx="2100580" cy="57340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597535" marR="127635">
              <a:lnSpc>
                <a:spcPct val="100000"/>
              </a:lnSpc>
              <a:spcBef>
                <a:spcPts val="695"/>
              </a:spcBef>
            </a:pPr>
            <a:r>
              <a:rPr dirty="0" sz="1200" b="1">
                <a:latin typeface="Calibri"/>
                <a:cs typeface="Calibri"/>
              </a:rPr>
              <a:t>Solution: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Automation </a:t>
            </a:r>
            <a:r>
              <a:rPr dirty="0" sz="1200" b="1">
                <a:latin typeface="Calibri"/>
                <a:cs typeface="Calibri"/>
              </a:rPr>
              <a:t>using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AI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RPA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74920" y="5713476"/>
            <a:ext cx="2098675" cy="57340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645795" marR="130175">
              <a:lnSpc>
                <a:spcPts val="1440"/>
              </a:lnSpc>
              <a:spcBef>
                <a:spcPts val="20"/>
              </a:spcBef>
            </a:pPr>
            <a:r>
              <a:rPr dirty="0" sz="1200" b="1">
                <a:latin typeface="Calibri"/>
                <a:cs typeface="Calibri"/>
              </a:rPr>
              <a:t>Solution: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Improved </a:t>
            </a:r>
            <a:r>
              <a:rPr dirty="0" sz="1200" b="1">
                <a:latin typeface="Calibri"/>
                <a:cs typeface="Calibri"/>
              </a:rPr>
              <a:t>efficiency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long </a:t>
            </a:r>
            <a:r>
              <a:rPr dirty="0" sz="1200" b="1">
                <a:latin typeface="Calibri"/>
                <a:cs typeface="Calibri"/>
              </a:rPr>
              <a:t>term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via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e-</a:t>
            </a:r>
            <a:r>
              <a:rPr dirty="0" sz="1200" spc="-25" b="1">
                <a:latin typeface="Calibri"/>
                <a:cs typeface="Calibri"/>
              </a:rPr>
              <a:t>KYC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489947" y="5713476"/>
            <a:ext cx="2100580" cy="57340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541655" marR="15875">
              <a:lnSpc>
                <a:spcPct val="100000"/>
              </a:lnSpc>
              <a:spcBef>
                <a:spcPts val="830"/>
              </a:spcBef>
            </a:pPr>
            <a:r>
              <a:rPr dirty="0" sz="1200" b="1">
                <a:latin typeface="Calibri"/>
                <a:cs typeface="Calibri"/>
              </a:rPr>
              <a:t>Solution: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Diverse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results </a:t>
            </a:r>
            <a:r>
              <a:rPr dirty="0" sz="1200" b="1">
                <a:latin typeface="Calibri"/>
                <a:cs typeface="Calibri"/>
              </a:rPr>
              <a:t>enhance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recovery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rates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2000" y="5815584"/>
            <a:ext cx="382524" cy="382523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73323" y="5818632"/>
            <a:ext cx="382524" cy="382524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94447" y="5807964"/>
            <a:ext cx="382524" cy="382524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210311" y="6516623"/>
            <a:ext cx="2098675" cy="32766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09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156961" y="6564883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04317" y="6336284"/>
            <a:ext cx="1002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Team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Analysis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6" name="object 7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25952" y="1203960"/>
            <a:ext cx="470915" cy="470915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803391" y="1178052"/>
            <a:ext cx="470915" cy="470915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79307" y="1210055"/>
            <a:ext cx="408431" cy="408432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445495" y="1123188"/>
            <a:ext cx="539496" cy="539496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747166" y="2152015"/>
            <a:ext cx="17100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Adika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28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old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farmer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Java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annual </a:t>
            </a:r>
            <a:r>
              <a:rPr dirty="0" sz="1200">
                <a:latin typeface="Calibri"/>
                <a:cs typeface="Calibri"/>
              </a:rPr>
              <a:t>income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IDR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25.5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mn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057270" y="1734439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Onset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Cropping Season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695315" y="1734439"/>
            <a:ext cx="624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730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25">
                <a:latin typeface="Calibri"/>
                <a:cs typeface="Calibri"/>
              </a:rPr>
              <a:t> for </a:t>
            </a:r>
            <a:r>
              <a:rPr dirty="0" sz="1200" spc="-10">
                <a:latin typeface="Calibri"/>
                <a:cs typeface="Calibri"/>
              </a:rPr>
              <a:t>Fertilizers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700518" y="1740534"/>
            <a:ext cx="1362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5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days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920096" y="1740534"/>
            <a:ext cx="1784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016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rejected,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Adika </a:t>
            </a:r>
            <a:r>
              <a:rPr dirty="0" sz="1200">
                <a:latin typeface="Calibri"/>
                <a:cs typeface="Calibri"/>
              </a:rPr>
              <a:t>borrows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legacy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lenders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2403348" y="1476755"/>
            <a:ext cx="624205" cy="76200"/>
          </a:xfrm>
          <a:custGeom>
            <a:avLst/>
            <a:gdLst/>
            <a:ahLst/>
            <a:cxnLst/>
            <a:rect l="l" t="t" r="r" b="b"/>
            <a:pathLst>
              <a:path w="624205" h="76200">
                <a:moveTo>
                  <a:pt x="547496" y="0"/>
                </a:moveTo>
                <a:lnTo>
                  <a:pt x="547496" y="76200"/>
                </a:lnTo>
                <a:lnTo>
                  <a:pt x="610996" y="44450"/>
                </a:lnTo>
                <a:lnTo>
                  <a:pt x="560196" y="44450"/>
                </a:lnTo>
                <a:lnTo>
                  <a:pt x="560196" y="31750"/>
                </a:lnTo>
                <a:lnTo>
                  <a:pt x="610996" y="31750"/>
                </a:lnTo>
                <a:lnTo>
                  <a:pt x="547496" y="0"/>
                </a:lnTo>
                <a:close/>
              </a:path>
              <a:path w="624205" h="76200">
                <a:moveTo>
                  <a:pt x="54749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47496" y="44450"/>
                </a:lnTo>
                <a:lnTo>
                  <a:pt x="547496" y="31750"/>
                </a:lnTo>
                <a:close/>
              </a:path>
              <a:path w="624205" h="76200">
                <a:moveTo>
                  <a:pt x="610996" y="31750"/>
                </a:moveTo>
                <a:lnTo>
                  <a:pt x="560196" y="31750"/>
                </a:lnTo>
                <a:lnTo>
                  <a:pt x="560196" y="44450"/>
                </a:lnTo>
                <a:lnTo>
                  <a:pt x="610996" y="44450"/>
                </a:lnTo>
                <a:lnTo>
                  <a:pt x="623696" y="38100"/>
                </a:lnTo>
                <a:lnTo>
                  <a:pt x="610996" y="3175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450079" y="1476755"/>
            <a:ext cx="624205" cy="76200"/>
          </a:xfrm>
          <a:custGeom>
            <a:avLst/>
            <a:gdLst/>
            <a:ahLst/>
            <a:cxnLst/>
            <a:rect l="l" t="t" r="r" b="b"/>
            <a:pathLst>
              <a:path w="624204" h="76200">
                <a:moveTo>
                  <a:pt x="547497" y="0"/>
                </a:moveTo>
                <a:lnTo>
                  <a:pt x="547497" y="76200"/>
                </a:lnTo>
                <a:lnTo>
                  <a:pt x="610997" y="44450"/>
                </a:lnTo>
                <a:lnTo>
                  <a:pt x="560197" y="44450"/>
                </a:lnTo>
                <a:lnTo>
                  <a:pt x="560197" y="31750"/>
                </a:lnTo>
                <a:lnTo>
                  <a:pt x="610997" y="31750"/>
                </a:lnTo>
                <a:lnTo>
                  <a:pt x="547497" y="0"/>
                </a:lnTo>
                <a:close/>
              </a:path>
              <a:path w="624204" h="76200">
                <a:moveTo>
                  <a:pt x="54749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47497" y="44450"/>
                </a:lnTo>
                <a:lnTo>
                  <a:pt x="547497" y="31750"/>
                </a:lnTo>
                <a:close/>
              </a:path>
              <a:path w="624204" h="76200">
                <a:moveTo>
                  <a:pt x="610997" y="31750"/>
                </a:moveTo>
                <a:lnTo>
                  <a:pt x="560197" y="31750"/>
                </a:lnTo>
                <a:lnTo>
                  <a:pt x="560197" y="44450"/>
                </a:lnTo>
                <a:lnTo>
                  <a:pt x="610997" y="44450"/>
                </a:lnTo>
                <a:lnTo>
                  <a:pt x="623697" y="38100"/>
                </a:lnTo>
                <a:lnTo>
                  <a:pt x="610997" y="3175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722364" y="1476755"/>
            <a:ext cx="623570" cy="76200"/>
          </a:xfrm>
          <a:custGeom>
            <a:avLst/>
            <a:gdLst/>
            <a:ahLst/>
            <a:cxnLst/>
            <a:rect l="l" t="t" r="r" b="b"/>
            <a:pathLst>
              <a:path w="623570" h="76200">
                <a:moveTo>
                  <a:pt x="547369" y="0"/>
                </a:moveTo>
                <a:lnTo>
                  <a:pt x="547369" y="76200"/>
                </a:lnTo>
                <a:lnTo>
                  <a:pt x="610869" y="44450"/>
                </a:lnTo>
                <a:lnTo>
                  <a:pt x="560069" y="44450"/>
                </a:lnTo>
                <a:lnTo>
                  <a:pt x="560069" y="31750"/>
                </a:lnTo>
                <a:lnTo>
                  <a:pt x="610869" y="31750"/>
                </a:lnTo>
                <a:lnTo>
                  <a:pt x="547369" y="0"/>
                </a:lnTo>
                <a:close/>
              </a:path>
              <a:path w="623570" h="76200">
                <a:moveTo>
                  <a:pt x="54736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47369" y="44450"/>
                </a:lnTo>
                <a:lnTo>
                  <a:pt x="547369" y="31750"/>
                </a:lnTo>
                <a:close/>
              </a:path>
              <a:path w="623570" h="76200">
                <a:moveTo>
                  <a:pt x="610869" y="31750"/>
                </a:moveTo>
                <a:lnTo>
                  <a:pt x="560069" y="31750"/>
                </a:lnTo>
                <a:lnTo>
                  <a:pt x="560069" y="44450"/>
                </a:lnTo>
                <a:lnTo>
                  <a:pt x="610869" y="44450"/>
                </a:lnTo>
                <a:lnTo>
                  <a:pt x="623569" y="38100"/>
                </a:lnTo>
                <a:lnTo>
                  <a:pt x="610869" y="3175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9086088" y="1476755"/>
            <a:ext cx="623570" cy="76200"/>
          </a:xfrm>
          <a:custGeom>
            <a:avLst/>
            <a:gdLst/>
            <a:ahLst/>
            <a:cxnLst/>
            <a:rect l="l" t="t" r="r" b="b"/>
            <a:pathLst>
              <a:path w="623570" h="76200">
                <a:moveTo>
                  <a:pt x="547369" y="0"/>
                </a:moveTo>
                <a:lnTo>
                  <a:pt x="547369" y="76200"/>
                </a:lnTo>
                <a:lnTo>
                  <a:pt x="610869" y="44450"/>
                </a:lnTo>
                <a:lnTo>
                  <a:pt x="560069" y="44450"/>
                </a:lnTo>
                <a:lnTo>
                  <a:pt x="560069" y="31750"/>
                </a:lnTo>
                <a:lnTo>
                  <a:pt x="610869" y="31750"/>
                </a:lnTo>
                <a:lnTo>
                  <a:pt x="547369" y="0"/>
                </a:lnTo>
                <a:close/>
              </a:path>
              <a:path w="623570" h="76200">
                <a:moveTo>
                  <a:pt x="547369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47369" y="44450"/>
                </a:lnTo>
                <a:lnTo>
                  <a:pt x="547369" y="31750"/>
                </a:lnTo>
                <a:close/>
              </a:path>
              <a:path w="623570" h="76200">
                <a:moveTo>
                  <a:pt x="610869" y="31750"/>
                </a:moveTo>
                <a:lnTo>
                  <a:pt x="560069" y="31750"/>
                </a:lnTo>
                <a:lnTo>
                  <a:pt x="560069" y="44450"/>
                </a:lnTo>
                <a:lnTo>
                  <a:pt x="610869" y="44450"/>
                </a:lnTo>
                <a:lnTo>
                  <a:pt x="623569" y="38100"/>
                </a:lnTo>
                <a:lnTo>
                  <a:pt x="610869" y="3175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623316" y="3276600"/>
            <a:ext cx="2108200" cy="21564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200">
              <a:latin typeface="Times New Roman"/>
              <a:cs typeface="Times New Roman"/>
            </a:endParaRPr>
          </a:p>
          <a:p>
            <a:pPr marL="262890" marR="672465" indent="-172720">
              <a:lnSpc>
                <a:spcPct val="100000"/>
              </a:lnSpc>
              <a:buFont typeface="Arial MT"/>
              <a:buChar char="•"/>
              <a:tabLst>
                <a:tab pos="262890" algn="l"/>
              </a:tabLst>
            </a:pPr>
            <a:r>
              <a:rPr dirty="0" sz="1200">
                <a:latin typeface="Calibri"/>
                <a:cs typeface="Calibri"/>
              </a:rPr>
              <a:t>Reliance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Legacy Systems</a:t>
            </a:r>
            <a:endParaRPr sz="1200">
              <a:latin typeface="Calibri"/>
              <a:cs typeface="Calibri"/>
            </a:endParaRPr>
          </a:p>
          <a:p>
            <a:pPr marL="263525" indent="-172720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r>
              <a:rPr dirty="0" sz="1200">
                <a:latin typeface="Calibri"/>
                <a:cs typeface="Calibri"/>
              </a:rPr>
              <a:t>Higher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Labour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Costs</a:t>
            </a:r>
            <a:endParaRPr sz="1200">
              <a:latin typeface="Calibri"/>
              <a:cs typeface="Calibri"/>
            </a:endParaRPr>
          </a:p>
          <a:p>
            <a:pPr marL="264160" indent="-17335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64160" algn="l"/>
              </a:tabLst>
            </a:pPr>
            <a:r>
              <a:rPr dirty="0" sz="1200">
                <a:latin typeface="Calibri"/>
                <a:cs typeface="Calibri"/>
              </a:rPr>
              <a:t>Lesser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831592" y="3275076"/>
            <a:ext cx="2109470" cy="2158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200">
              <a:latin typeface="Times New Roman"/>
              <a:cs typeface="Times New Roman"/>
            </a:endParaRPr>
          </a:p>
          <a:p>
            <a:pPr marL="244475" marR="502920" indent="-172720">
              <a:lnSpc>
                <a:spcPct val="100000"/>
              </a:lnSpc>
              <a:buFont typeface="Arial MT"/>
              <a:buChar char="•"/>
              <a:tabLst>
                <a:tab pos="244475" algn="l"/>
              </a:tabLst>
            </a:pPr>
            <a:r>
              <a:rPr dirty="0" sz="1200" spc="-10">
                <a:latin typeface="Calibri"/>
                <a:cs typeface="Calibri"/>
              </a:rPr>
              <a:t>Incorrect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10">
                <a:latin typeface="Calibri"/>
                <a:cs typeface="Calibri"/>
              </a:rPr>
              <a:t> score: Psychometric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self </a:t>
            </a:r>
            <a:r>
              <a:rPr dirty="0" sz="1200">
                <a:latin typeface="Calibri"/>
                <a:cs typeface="Calibri"/>
              </a:rPr>
              <a:t>claimed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Income</a:t>
            </a:r>
            <a:endParaRPr sz="1200">
              <a:latin typeface="Calibri"/>
              <a:cs typeface="Calibri"/>
            </a:endParaRPr>
          </a:p>
          <a:p>
            <a:pPr marL="244475" marR="568960" indent="-172720">
              <a:lnSpc>
                <a:spcPct val="100000"/>
              </a:lnSpc>
              <a:buFont typeface="Arial MT"/>
              <a:buChar char="•"/>
              <a:tabLst>
                <a:tab pos="244475" algn="l"/>
              </a:tabLst>
            </a:pPr>
            <a:r>
              <a:rPr dirty="0" sz="1200" spc="-10">
                <a:latin typeface="Calibri"/>
                <a:cs typeface="Calibri"/>
              </a:rPr>
              <a:t>Personal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20">
                <a:latin typeface="Calibri"/>
                <a:cs typeface="Calibri"/>
              </a:rPr>
              <a:t> score </a:t>
            </a:r>
            <a:r>
              <a:rPr dirty="0" sz="1200" spc="-10">
                <a:latin typeface="Calibri"/>
                <a:cs typeface="Calibri"/>
              </a:rPr>
              <a:t>inaccessibility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041391" y="3276600"/>
            <a:ext cx="2109470" cy="2143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Times New Roman"/>
              <a:cs typeface="Times New Roman"/>
            </a:endParaRPr>
          </a:p>
          <a:p>
            <a:pPr marL="313690" marR="365760" indent="-1727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13690" algn="l"/>
              </a:tabLst>
            </a:pPr>
            <a:r>
              <a:rPr dirty="0" sz="1200" spc="-10">
                <a:latin typeface="Calibri"/>
                <a:cs typeface="Calibri"/>
              </a:rPr>
              <a:t>Inevitability</a:t>
            </a:r>
            <a:r>
              <a:rPr dirty="0" sz="1200">
                <a:latin typeface="Calibri"/>
                <a:cs typeface="Calibri"/>
              </a:rPr>
              <a:t> to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conduct background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checks</a:t>
            </a:r>
            <a:endParaRPr sz="1200">
              <a:latin typeface="Calibri"/>
              <a:cs typeface="Calibri"/>
            </a:endParaRPr>
          </a:p>
          <a:p>
            <a:pPr marL="314960" indent="-173355">
              <a:lnSpc>
                <a:spcPct val="100000"/>
              </a:lnSpc>
              <a:buFont typeface="Arial MT"/>
              <a:buChar char="•"/>
              <a:tabLst>
                <a:tab pos="314960" algn="l"/>
              </a:tabLst>
            </a:pPr>
            <a:r>
              <a:rPr dirty="0" sz="1200">
                <a:latin typeface="Calibri"/>
                <a:cs typeface="Calibri"/>
              </a:rPr>
              <a:t>Higher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Labour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Costs</a:t>
            </a:r>
            <a:endParaRPr sz="1200">
              <a:latin typeface="Calibri"/>
              <a:cs typeface="Calibri"/>
            </a:endParaRPr>
          </a:p>
          <a:p>
            <a:pPr marL="314960" indent="-173355">
              <a:lnSpc>
                <a:spcPct val="100000"/>
              </a:lnSpc>
              <a:buFont typeface="Arial MT"/>
              <a:buChar char="•"/>
              <a:tabLst>
                <a:tab pos="314960" algn="l"/>
              </a:tabLst>
            </a:pPr>
            <a:r>
              <a:rPr dirty="0" sz="1200">
                <a:latin typeface="Calibri"/>
                <a:cs typeface="Calibri"/>
              </a:rPr>
              <a:t>Lesser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251192" y="3276600"/>
            <a:ext cx="2109470" cy="21564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200">
              <a:latin typeface="Times New Roman"/>
              <a:cs typeface="Times New Roman"/>
            </a:endParaRPr>
          </a:p>
          <a:p>
            <a:pPr marL="264160" marR="342265" indent="-1727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64160" algn="l"/>
              </a:tabLst>
            </a:pPr>
            <a:r>
              <a:rPr dirty="0" sz="1200" spc="-10">
                <a:latin typeface="Calibri"/>
                <a:cs typeface="Calibri"/>
              </a:rPr>
              <a:t>Psychometric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credit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lacking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factors</a:t>
            </a:r>
            <a:endParaRPr sz="1200">
              <a:latin typeface="Calibri"/>
              <a:cs typeface="Calibri"/>
            </a:endParaRPr>
          </a:p>
          <a:p>
            <a:pPr marL="265430" indent="-173355">
              <a:lnSpc>
                <a:spcPct val="100000"/>
              </a:lnSpc>
              <a:buFont typeface="Arial MT"/>
              <a:buChar char="•"/>
              <a:tabLst>
                <a:tab pos="265430" algn="l"/>
              </a:tabLst>
            </a:pPr>
            <a:r>
              <a:rPr dirty="0" sz="1200">
                <a:latin typeface="Calibri"/>
                <a:cs typeface="Calibri"/>
              </a:rPr>
              <a:t>Slow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rate</a:t>
            </a:r>
            <a:endParaRPr sz="1200">
              <a:latin typeface="Calibri"/>
              <a:cs typeface="Calibri"/>
            </a:endParaRPr>
          </a:p>
          <a:p>
            <a:pPr marL="265430" indent="-173355">
              <a:lnSpc>
                <a:spcPct val="100000"/>
              </a:lnSpc>
              <a:buFont typeface="Arial MT"/>
              <a:buChar char="•"/>
              <a:tabLst>
                <a:tab pos="265430" algn="l"/>
              </a:tabLst>
            </a:pPr>
            <a:r>
              <a:rPr dirty="0" sz="1200">
                <a:latin typeface="Calibri"/>
                <a:cs typeface="Calibri"/>
              </a:rPr>
              <a:t>Paper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460992" y="3261359"/>
            <a:ext cx="2108200" cy="2171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200">
              <a:latin typeface="Times New Roman"/>
              <a:cs typeface="Times New Roman"/>
            </a:endParaRPr>
          </a:p>
          <a:p>
            <a:pPr marL="285750" marR="382905" indent="-1727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85750" algn="l"/>
              </a:tabLst>
            </a:pPr>
            <a:r>
              <a:rPr dirty="0" sz="1200">
                <a:latin typeface="Calibri"/>
                <a:cs typeface="Calibri"/>
              </a:rPr>
              <a:t>Manual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processing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leading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inaccuracy</a:t>
            </a:r>
            <a:endParaRPr sz="1200">
              <a:latin typeface="Calibri"/>
              <a:cs typeface="Calibri"/>
            </a:endParaRPr>
          </a:p>
          <a:p>
            <a:pPr marL="287020" indent="-173355">
              <a:lnSpc>
                <a:spcPct val="100000"/>
              </a:lnSpc>
              <a:buFont typeface="Arial MT"/>
              <a:buChar char="•"/>
              <a:tabLst>
                <a:tab pos="287020" algn="l"/>
              </a:tabLst>
            </a:pP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rates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Indonesian Lifestyle - People in Urban and Rural Areas -  FactsofIndonesia.com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Indonesian Lifestyle - People in Urban and Rural Areas -  FactsofIndonesia.com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>
                <a:alpha val="3607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17238" y="2411729"/>
            <a:ext cx="3559175" cy="191579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102360" marR="198120" indent="-898525">
              <a:lnSpc>
                <a:spcPct val="99600"/>
              </a:lnSpc>
              <a:spcBef>
                <a:spcPts val="110"/>
              </a:spcBef>
            </a:pPr>
            <a:r>
              <a:rPr dirty="0" sz="2400">
                <a:solidFill>
                  <a:srgbClr val="BEBEBE"/>
                </a:solidFill>
              </a:rPr>
              <a:t>Analysing</a:t>
            </a:r>
            <a:r>
              <a:rPr dirty="0" sz="2400" spc="-70">
                <a:solidFill>
                  <a:srgbClr val="BEBEBE"/>
                </a:solidFill>
              </a:rPr>
              <a:t> </a:t>
            </a:r>
            <a:r>
              <a:rPr dirty="0" sz="2400">
                <a:solidFill>
                  <a:srgbClr val="BEBEBE"/>
                </a:solidFill>
              </a:rPr>
              <a:t>The</a:t>
            </a:r>
            <a:r>
              <a:rPr dirty="0" sz="2400" spc="-70">
                <a:solidFill>
                  <a:srgbClr val="BEBEBE"/>
                </a:solidFill>
              </a:rPr>
              <a:t> </a:t>
            </a:r>
            <a:r>
              <a:rPr dirty="0" sz="2400" spc="-10">
                <a:solidFill>
                  <a:srgbClr val="BEBEBE"/>
                </a:solidFill>
              </a:rPr>
              <a:t>Landscape Problems </a:t>
            </a:r>
            <a:r>
              <a:rPr dirty="0" spc="-10" i="1">
                <a:solidFill>
                  <a:srgbClr val="FFFFFF"/>
                </a:solidFill>
                <a:latin typeface="Calibri"/>
                <a:cs typeface="Calibri"/>
              </a:rPr>
              <a:t>Solutions</a:t>
            </a:r>
            <a:endParaRPr sz="2400">
              <a:latin typeface="Calibri"/>
              <a:cs typeface="Calibri"/>
            </a:endParaRPr>
          </a:p>
          <a:p>
            <a:pPr marL="1175385" marR="5080" indent="-1163320">
              <a:lnSpc>
                <a:spcPct val="100000"/>
              </a:lnSpc>
              <a:spcBef>
                <a:spcPts val="30"/>
              </a:spcBef>
            </a:pPr>
            <a:r>
              <a:rPr dirty="0" sz="2400" spc="-10">
                <a:solidFill>
                  <a:srgbClr val="BEBEBE"/>
                </a:solidFill>
              </a:rPr>
              <a:t>Implementation</a:t>
            </a:r>
            <a:r>
              <a:rPr dirty="0" sz="2400" spc="-40">
                <a:solidFill>
                  <a:srgbClr val="BEBEBE"/>
                </a:solidFill>
              </a:rPr>
              <a:t> </a:t>
            </a:r>
            <a:r>
              <a:rPr dirty="0" sz="2400">
                <a:solidFill>
                  <a:srgbClr val="BEBEBE"/>
                </a:solidFill>
              </a:rPr>
              <a:t>and</a:t>
            </a:r>
            <a:r>
              <a:rPr dirty="0" sz="2400" spc="-55">
                <a:solidFill>
                  <a:srgbClr val="BEBEBE"/>
                </a:solidFill>
              </a:rPr>
              <a:t> </a:t>
            </a:r>
            <a:r>
              <a:rPr dirty="0" sz="2400" spc="-10">
                <a:solidFill>
                  <a:srgbClr val="BEBEBE"/>
                </a:solidFill>
              </a:rPr>
              <a:t>Impact Appendix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2277110" cy="0"/>
          </a:xfrm>
          <a:custGeom>
            <a:avLst/>
            <a:gdLst/>
            <a:ahLst/>
            <a:cxnLst/>
            <a:rect l="l" t="t" r="r" b="b"/>
            <a:pathLst>
              <a:path w="2277110" h="0">
                <a:moveTo>
                  <a:pt x="0" y="0"/>
                </a:moveTo>
                <a:lnTo>
                  <a:pt x="2276856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67428" y="6516623"/>
            <a:ext cx="7418070" cy="0"/>
          </a:xfrm>
          <a:custGeom>
            <a:avLst/>
            <a:gdLst/>
            <a:ahLst/>
            <a:cxnLst/>
            <a:rect l="l" t="t" r="r" b="b"/>
            <a:pathLst>
              <a:path w="7418070" h="0">
                <a:moveTo>
                  <a:pt x="0" y="0"/>
                </a:moveTo>
                <a:lnTo>
                  <a:pt x="7417689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825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INTRODUCING</a:t>
            </a:r>
            <a:r>
              <a:rPr dirty="0" spc="-75"/>
              <a:t> </a:t>
            </a:r>
            <a:r>
              <a:rPr dirty="0" spc="-10"/>
              <a:t>PHOENIX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Implementation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Impact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Assessment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through</a:t>
            </a:r>
            <a:r>
              <a:rPr dirty="0" u="sng" sz="2000" spc="-6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breakdown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Strategy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Phoenix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0443" y="1120521"/>
            <a:ext cx="11557000" cy="5038090"/>
            <a:chOff x="350443" y="1120521"/>
            <a:chExt cx="11557000" cy="50380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493" y="1139634"/>
              <a:ext cx="11536680" cy="50032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43045" y="2413761"/>
              <a:ext cx="7864475" cy="3728720"/>
            </a:xfrm>
            <a:custGeom>
              <a:avLst/>
              <a:gdLst/>
              <a:ahLst/>
              <a:cxnLst/>
              <a:rect l="l" t="t" r="r" b="b"/>
              <a:pathLst>
                <a:path w="7864475" h="3728720">
                  <a:moveTo>
                    <a:pt x="2708275" y="2352332"/>
                  </a:moveTo>
                  <a:lnTo>
                    <a:pt x="1343914" y="2352332"/>
                  </a:lnTo>
                  <a:lnTo>
                    <a:pt x="0" y="2352332"/>
                  </a:lnTo>
                  <a:lnTo>
                    <a:pt x="0" y="3005442"/>
                  </a:lnTo>
                  <a:lnTo>
                    <a:pt x="0" y="3728580"/>
                  </a:lnTo>
                  <a:lnTo>
                    <a:pt x="1343914" y="3728580"/>
                  </a:lnTo>
                  <a:lnTo>
                    <a:pt x="2708275" y="3728580"/>
                  </a:lnTo>
                  <a:lnTo>
                    <a:pt x="2708275" y="3005455"/>
                  </a:lnTo>
                  <a:lnTo>
                    <a:pt x="2708275" y="2352332"/>
                  </a:lnTo>
                  <a:close/>
                </a:path>
                <a:path w="7864475" h="3728720">
                  <a:moveTo>
                    <a:pt x="2708275" y="0"/>
                  </a:moveTo>
                  <a:lnTo>
                    <a:pt x="1343914" y="0"/>
                  </a:lnTo>
                  <a:lnTo>
                    <a:pt x="0" y="0"/>
                  </a:lnTo>
                  <a:lnTo>
                    <a:pt x="0" y="776478"/>
                  </a:lnTo>
                  <a:lnTo>
                    <a:pt x="0" y="1552956"/>
                  </a:lnTo>
                  <a:lnTo>
                    <a:pt x="0" y="2352294"/>
                  </a:lnTo>
                  <a:lnTo>
                    <a:pt x="1343914" y="2352294"/>
                  </a:lnTo>
                  <a:lnTo>
                    <a:pt x="2708275" y="2352294"/>
                  </a:lnTo>
                  <a:lnTo>
                    <a:pt x="2708275" y="1552956"/>
                  </a:lnTo>
                  <a:lnTo>
                    <a:pt x="2708275" y="776478"/>
                  </a:lnTo>
                  <a:lnTo>
                    <a:pt x="2708275" y="0"/>
                  </a:lnTo>
                  <a:close/>
                </a:path>
                <a:path w="7864475" h="3728720">
                  <a:moveTo>
                    <a:pt x="7863967" y="2352332"/>
                  </a:moveTo>
                  <a:lnTo>
                    <a:pt x="6520053" y="2352332"/>
                  </a:lnTo>
                  <a:lnTo>
                    <a:pt x="4052062" y="2352332"/>
                  </a:lnTo>
                  <a:lnTo>
                    <a:pt x="4052062" y="3005442"/>
                  </a:lnTo>
                  <a:lnTo>
                    <a:pt x="4052062" y="3728580"/>
                  </a:lnTo>
                  <a:lnTo>
                    <a:pt x="6520053" y="3728580"/>
                  </a:lnTo>
                  <a:lnTo>
                    <a:pt x="7863967" y="3728580"/>
                  </a:lnTo>
                  <a:lnTo>
                    <a:pt x="7863967" y="3005455"/>
                  </a:lnTo>
                  <a:lnTo>
                    <a:pt x="7863967" y="2352332"/>
                  </a:lnTo>
                  <a:close/>
                </a:path>
                <a:path w="7864475" h="3728720">
                  <a:moveTo>
                    <a:pt x="7863967" y="0"/>
                  </a:moveTo>
                  <a:lnTo>
                    <a:pt x="6520053" y="0"/>
                  </a:lnTo>
                  <a:lnTo>
                    <a:pt x="4052062" y="0"/>
                  </a:lnTo>
                  <a:lnTo>
                    <a:pt x="4052062" y="776478"/>
                  </a:lnTo>
                  <a:lnTo>
                    <a:pt x="4052062" y="1552956"/>
                  </a:lnTo>
                  <a:lnTo>
                    <a:pt x="4052062" y="2352294"/>
                  </a:lnTo>
                  <a:lnTo>
                    <a:pt x="6520053" y="2352294"/>
                  </a:lnTo>
                  <a:lnTo>
                    <a:pt x="7863967" y="2352294"/>
                  </a:lnTo>
                  <a:lnTo>
                    <a:pt x="7863967" y="1552956"/>
                  </a:lnTo>
                  <a:lnTo>
                    <a:pt x="7863967" y="776478"/>
                  </a:lnTo>
                  <a:lnTo>
                    <a:pt x="78639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9968" y="1130046"/>
              <a:ext cx="10212705" cy="5019040"/>
            </a:xfrm>
            <a:custGeom>
              <a:avLst/>
              <a:gdLst/>
              <a:ahLst/>
              <a:cxnLst/>
              <a:rect l="l" t="t" r="r" b="b"/>
              <a:pathLst>
                <a:path w="10212705" h="5019040">
                  <a:moveTo>
                    <a:pt x="1992325" y="0"/>
                  </a:moveTo>
                  <a:lnTo>
                    <a:pt x="1992325" y="5018646"/>
                  </a:lnTo>
                </a:path>
                <a:path w="10212705" h="5019040">
                  <a:moveTo>
                    <a:pt x="0" y="1283715"/>
                  </a:moveTo>
                  <a:lnTo>
                    <a:pt x="10212654" y="1283715"/>
                  </a:lnTo>
                </a:path>
                <a:path w="10212705" h="5019040">
                  <a:moveTo>
                    <a:pt x="9525" y="0"/>
                  </a:moveTo>
                  <a:lnTo>
                    <a:pt x="9525" y="5018646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9968" y="1139571"/>
              <a:ext cx="10212705" cy="0"/>
            </a:xfrm>
            <a:custGeom>
              <a:avLst/>
              <a:gdLst/>
              <a:ahLst/>
              <a:cxnLst/>
              <a:rect l="l" t="t" r="r" b="b"/>
              <a:pathLst>
                <a:path w="10212705" h="0">
                  <a:moveTo>
                    <a:pt x="0" y="0"/>
                  </a:moveTo>
                  <a:lnTo>
                    <a:pt x="10212654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24993" y="914780"/>
          <a:ext cx="11706860" cy="5214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2950"/>
                <a:gridCol w="1695450"/>
                <a:gridCol w="1343660"/>
                <a:gridCol w="1363980"/>
                <a:gridCol w="1343659"/>
                <a:gridCol w="1733550"/>
                <a:gridCol w="738504"/>
                <a:gridCol w="1225550"/>
                <a:gridCol w="152400"/>
              </a:tblGrid>
              <a:tr h="21526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A4A4A4"/>
                      </a:solidFill>
                      <a:prstDash val="sysDash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900" b="1" i="1">
                          <a:latin typeface="Calibri"/>
                          <a:cs typeface="Calibri"/>
                        </a:rPr>
                        <a:t>Immediate</a:t>
                      </a:r>
                      <a:r>
                        <a:rPr dirty="0" sz="900" spc="-45" b="1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 i="1">
                          <a:latin typeface="Calibri"/>
                          <a:cs typeface="Calibri"/>
                        </a:rPr>
                        <a:t>solutions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9050">
                      <a:solidFill>
                        <a:srgbClr val="A4A4A4"/>
                      </a:solidFill>
                      <a:prstDash val="sysDash"/>
                    </a:lnL>
                    <a:lnR w="19050">
                      <a:solidFill>
                        <a:srgbClr val="A4A4A4"/>
                      </a:solidFill>
                      <a:prstDash val="sysDash"/>
                    </a:lnR>
                    <a:lnT w="19050">
                      <a:solidFill>
                        <a:srgbClr val="A4A4A4"/>
                      </a:solidFill>
                      <a:prstDash val="sysDash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A4A4A4"/>
                      </a:solidFill>
                      <a:prstDash val="sysDash"/>
                    </a:lnL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</a:tr>
              <a:tr h="4591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349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Potential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solutions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algn="ctr" marL="34290">
                        <a:lnSpc>
                          <a:spcPct val="100000"/>
                        </a:lnSpc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600" spc="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micro-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battles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46685"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5C9DAE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Parameters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of</a:t>
                      </a:r>
                      <a:r>
                        <a:rPr dirty="0" sz="16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Assessment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A4A4A4"/>
                      </a:solidFill>
                      <a:prstDash val="sysDash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C9DA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R="27940">
                        <a:lnSpc>
                          <a:spcPct val="100000"/>
                        </a:lnSpc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Overall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Attractiveness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ysDash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5C9DAE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439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6685"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5C9DA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735" marR="1600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Investment</a:t>
                      </a:r>
                      <a:r>
                        <a:rPr dirty="0" sz="12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Required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(CapEx: Small/Medium/Large)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Degree</a:t>
                      </a:r>
                      <a:r>
                        <a:rPr dirty="0" sz="12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Impact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marL="170815" marR="163830" indent="711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Complexity</a:t>
                      </a:r>
                      <a:r>
                        <a:rPr dirty="0" sz="1200" spc="-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Implementation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0655" marR="151130" indent="-19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Duration</a:t>
                      </a:r>
                      <a:r>
                        <a:rPr dirty="0" sz="1200" spc="-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Implementation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(Rankings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1-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5: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longest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fastest)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E8F0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24230" marR="217170" indent="-600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Impact</a:t>
                      </a:r>
                      <a:r>
                        <a:rPr dirty="0" sz="12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Segment</a:t>
                      </a:r>
                      <a:r>
                        <a:rPr dirty="0" sz="12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12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Identified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Choke</a:t>
                      </a:r>
                      <a:r>
                        <a:rPr dirty="0" sz="12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Points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E8F0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ysDash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5C9DAE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46125">
                <a:tc>
                  <a:txBody>
                    <a:bodyPr/>
                    <a:lstStyle/>
                    <a:p>
                      <a:pPr marL="118110" marR="3263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Automation</a:t>
                      </a:r>
                      <a:r>
                        <a:rPr dirty="0" sz="1400" spc="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Elimination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Legacy System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6670">
                    <a:lnL w="19050">
                      <a:solidFill>
                        <a:srgbClr val="A4A4A4"/>
                      </a:solidFill>
                      <a:prstDash val="sysDash"/>
                    </a:lnL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Medium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2550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 b="1">
                          <a:solidFill>
                            <a:srgbClr val="5C9DAE"/>
                          </a:solidFill>
                          <a:latin typeface="Calibri"/>
                          <a:cs typeface="Calibri"/>
                        </a:rPr>
                        <a:t>~30%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83185" marR="1111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Lesser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taken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loan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acceptance process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AB8833"/>
                          </a:solidFill>
                          <a:latin typeface="Calibri"/>
                          <a:cs typeface="Calibri"/>
                        </a:rPr>
                        <a:t>Medium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2550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baseline="-16203" sz="1800" spc="-37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rd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95250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997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Value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Chain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Inefficiency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2550">
                    <a:lnR w="19050">
                      <a:solidFill>
                        <a:srgbClr val="A4A4A4"/>
                      </a:solidFill>
                      <a:prstDash val="sysDash"/>
                    </a:lnR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75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8110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Lending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Circles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L w="19050">
                      <a:solidFill>
                        <a:srgbClr val="A4A4A4"/>
                      </a:solidFill>
                      <a:prstDash val="sysDash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Small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13030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10" b="1">
                          <a:solidFill>
                            <a:srgbClr val="5C9DAE"/>
                          </a:solidFill>
                          <a:latin typeface="Calibri"/>
                          <a:cs typeface="Calibri"/>
                        </a:rPr>
                        <a:t>~800k+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algn="just" marL="83185" marR="1809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People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impacted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by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imparting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Financial Inclusion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solidFill>
                            <a:srgbClr val="538235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13030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baseline="-16203" sz="1800" spc="-37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th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190500" marR="1566545" indent="-63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Improved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Javan-Sumatran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branch collaboration</a:t>
                      </a:r>
                      <a:r>
                        <a:rPr dirty="0" sz="12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facilitating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rural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banking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5410">
                    <a:lnR w="19050">
                      <a:solidFill>
                        <a:srgbClr val="A4A4A4"/>
                      </a:solidFill>
                      <a:prstDash val="sysDash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21055">
                <a:tc>
                  <a:txBody>
                    <a:bodyPr/>
                    <a:lstStyle/>
                    <a:p>
                      <a:pPr marL="118110" marR="58483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Revamping Credit Scores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75260">
                    <a:lnL w="19050">
                      <a:solidFill>
                        <a:srgbClr val="A4A4A4"/>
                      </a:solidFill>
                      <a:prstDash val="sysDash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0">
                          <a:latin typeface="Calibri"/>
                          <a:cs typeface="Calibri"/>
                        </a:rPr>
                        <a:t>Small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>
                    <a:lnT w="1270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400" spc="-10" b="1">
                          <a:solidFill>
                            <a:srgbClr val="5C9DAE"/>
                          </a:solidFill>
                          <a:latin typeface="Calibri"/>
                          <a:cs typeface="Calibri"/>
                        </a:rPr>
                        <a:t>~98.75%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83185" marR="6280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Accuracy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in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Repayment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Prediction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T w="1270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1">
                          <a:solidFill>
                            <a:srgbClr val="538235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>
                    <a:lnT w="1270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baseline="-16203" sz="1800" spc="-37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th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1270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E1EFD9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47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Falling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rates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loan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recovery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24460">
                    <a:lnR w="19050">
                      <a:solidFill>
                        <a:srgbClr val="A4A4A4"/>
                      </a:solidFill>
                      <a:prstDash val="sysDash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9050">
                      <a:solidFill>
                        <a:srgbClr val="A4A4A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30555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Diversification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86690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Medium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Increase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Cash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Flow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by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83185">
                        <a:lnSpc>
                          <a:spcPts val="1655"/>
                        </a:lnSpc>
                      </a:pPr>
                      <a:r>
                        <a:rPr dirty="0" sz="1400" b="1">
                          <a:solidFill>
                            <a:srgbClr val="5C9DAE"/>
                          </a:solidFill>
                          <a:latin typeface="Calibri"/>
                          <a:cs typeface="Calibri"/>
                        </a:rPr>
                        <a:t>214</a:t>
                      </a:r>
                      <a:r>
                        <a:rPr dirty="0" sz="1400" spc="-20" b="1">
                          <a:solidFill>
                            <a:srgbClr val="5C9DA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5C9DAE"/>
                          </a:solidFill>
                          <a:latin typeface="Calibri"/>
                          <a:cs typeface="Calibri"/>
                        </a:rPr>
                        <a:t>mn</a:t>
                      </a:r>
                      <a:r>
                        <a:rPr dirty="0" sz="1400" spc="-40" b="1">
                          <a:solidFill>
                            <a:srgbClr val="5C9DA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5C9DAE"/>
                          </a:solidFill>
                          <a:latin typeface="Calibri"/>
                          <a:cs typeface="Calibri"/>
                        </a:rPr>
                        <a:t>IDR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 b="1">
                          <a:solidFill>
                            <a:srgbClr val="AB8833"/>
                          </a:solidFill>
                          <a:latin typeface="Calibri"/>
                          <a:cs typeface="Calibri"/>
                        </a:rPr>
                        <a:t>Medium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baseline="-16203" sz="1800" spc="-37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00" spc="-25">
                          <a:latin typeface="Calibri"/>
                          <a:cs typeface="Calibri"/>
                        </a:rPr>
                        <a:t>nd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AE4D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579120" marR="1627505" indent="-3295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Expansion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into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Papua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other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neighbouring</a:t>
                      </a:r>
                      <a:r>
                        <a:rPr dirty="0" sz="12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regions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13030">
                    <a:lnT w="19050">
                      <a:solidFill>
                        <a:srgbClr val="A4A4A4"/>
                      </a:solidFill>
                      <a:prstDash val="sysDash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22630">
                <a:tc>
                  <a:txBody>
                    <a:bodyPr/>
                    <a:lstStyle/>
                    <a:p>
                      <a:pPr marL="118110" marR="1035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Credilink: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Changing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landscape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Indonesian economy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Large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6995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AE4D5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dirty="0" sz="1400" spc="-25" b="1">
                          <a:solidFill>
                            <a:srgbClr val="5C9DAE"/>
                          </a:solidFill>
                          <a:latin typeface="Calibri"/>
                          <a:cs typeface="Calibri"/>
                        </a:rPr>
                        <a:t>8%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Rise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Applied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Loans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64465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solidFill>
                            <a:srgbClr val="CC0000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6995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24305" sz="1200">
                          <a:latin typeface="Calibri"/>
                          <a:cs typeface="Calibri"/>
                        </a:rPr>
                        <a:t>st</a:t>
                      </a:r>
                      <a:r>
                        <a:rPr dirty="0" baseline="24305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(longest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time)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6995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AE4D5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23925" marR="1720850" indent="-58102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Driving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Fintech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changing landscape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70815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841801" y="6217729"/>
          <a:ext cx="2076450" cy="234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2940"/>
                <a:gridCol w="664210"/>
                <a:gridCol w="662939"/>
              </a:tblGrid>
              <a:tr h="234315"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9525">
                      <a:solidFill>
                        <a:srgbClr val="B4B4B4"/>
                      </a:solidFill>
                      <a:prstDash val="solid"/>
                    </a:lnL>
                    <a:lnR w="9525">
                      <a:solidFill>
                        <a:srgbClr val="B4B4B4"/>
                      </a:solidFill>
                      <a:prstDash val="solid"/>
                    </a:lnR>
                    <a:lnT w="9525">
                      <a:solidFill>
                        <a:srgbClr val="B4B4B4"/>
                      </a:solidFill>
                      <a:prstDash val="solid"/>
                    </a:lnT>
                    <a:lnB w="9525">
                      <a:solidFill>
                        <a:srgbClr val="B4B4B4"/>
                      </a:solidFill>
                      <a:prstDash val="solid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Medium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9525">
                      <a:solidFill>
                        <a:srgbClr val="B4B4B4"/>
                      </a:solidFill>
                      <a:prstDash val="solid"/>
                    </a:lnL>
                    <a:lnR w="9525">
                      <a:solidFill>
                        <a:srgbClr val="B4B4B4"/>
                      </a:solidFill>
                      <a:prstDash val="solid"/>
                    </a:lnR>
                    <a:lnT w="9525">
                      <a:solidFill>
                        <a:srgbClr val="B4B4B4"/>
                      </a:solidFill>
                      <a:prstDash val="solid"/>
                    </a:lnT>
                    <a:lnB w="9525">
                      <a:solidFill>
                        <a:srgbClr val="B4B4B4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9525">
                      <a:solidFill>
                        <a:srgbClr val="B4B4B4"/>
                      </a:solidFill>
                      <a:prstDash val="solid"/>
                    </a:lnL>
                    <a:lnR w="9525">
                      <a:solidFill>
                        <a:srgbClr val="B4B4B4"/>
                      </a:solidFill>
                      <a:prstDash val="solid"/>
                    </a:lnR>
                    <a:lnT w="9525">
                      <a:solidFill>
                        <a:srgbClr val="B4B4B4"/>
                      </a:solidFill>
                      <a:prstDash val="solid"/>
                    </a:lnT>
                    <a:lnB w="9525">
                      <a:solidFill>
                        <a:srgbClr val="B4B4B4"/>
                      </a:solidFill>
                      <a:prstDash val="solid"/>
                    </a:lnB>
                    <a:solidFill>
                      <a:srgbClr val="FAE4D5"/>
                    </a:solidFill>
                  </a:tcPr>
                </a:tc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4970" y="6255101"/>
            <a:ext cx="158308" cy="169976"/>
          </a:xfrm>
          <a:prstGeom prst="rect">
            <a:avLst/>
          </a:prstGeom>
        </p:spPr>
      </p:pic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178293" y="6283223"/>
          <a:ext cx="2553335" cy="233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/>
                <a:gridCol w="1245870"/>
                <a:gridCol w="589914"/>
              </a:tblGrid>
              <a:tr h="233045">
                <a:tc>
                  <a:txBody>
                    <a:bodyPr/>
                    <a:lstStyle/>
                    <a:p>
                      <a:pPr marL="31750">
                        <a:lnSpc>
                          <a:spcPts val="1050"/>
                        </a:lnSpc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105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Moderate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ts val="1050"/>
                        </a:lnSpc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3999" y="6255101"/>
            <a:ext cx="157828" cy="16997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93989" y="6255101"/>
            <a:ext cx="157829" cy="16946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1035093" y="2613469"/>
            <a:ext cx="405765" cy="407670"/>
            <a:chOff x="11035093" y="2613469"/>
            <a:chExt cx="405765" cy="407670"/>
          </a:xfrm>
        </p:grpSpPr>
        <p:sp>
          <p:nvSpPr>
            <p:cNvPr id="18" name="object 18"/>
            <p:cNvSpPr/>
            <p:nvPr/>
          </p:nvSpPr>
          <p:spPr>
            <a:xfrm>
              <a:off x="11237976" y="2618232"/>
              <a:ext cx="198120" cy="398145"/>
            </a:xfrm>
            <a:custGeom>
              <a:avLst/>
              <a:gdLst/>
              <a:ahLst/>
              <a:cxnLst/>
              <a:rect l="l" t="t" r="r" b="b"/>
              <a:pathLst>
                <a:path w="198120" h="398144">
                  <a:moveTo>
                    <a:pt x="0" y="0"/>
                  </a:moveTo>
                  <a:lnTo>
                    <a:pt x="0" y="397763"/>
                  </a:lnTo>
                  <a:lnTo>
                    <a:pt x="45444" y="392512"/>
                  </a:lnTo>
                  <a:lnTo>
                    <a:pt x="87152" y="377552"/>
                  </a:lnTo>
                  <a:lnTo>
                    <a:pt x="123937" y="354076"/>
                  </a:lnTo>
                  <a:lnTo>
                    <a:pt x="154612" y="323279"/>
                  </a:lnTo>
                  <a:lnTo>
                    <a:pt x="177992" y="286352"/>
                  </a:lnTo>
                  <a:lnTo>
                    <a:pt x="192890" y="244488"/>
                  </a:lnTo>
                  <a:lnTo>
                    <a:pt x="198120" y="198881"/>
                  </a:lnTo>
                  <a:lnTo>
                    <a:pt x="192890" y="153275"/>
                  </a:lnTo>
                  <a:lnTo>
                    <a:pt x="177992" y="111411"/>
                  </a:lnTo>
                  <a:lnTo>
                    <a:pt x="154612" y="74484"/>
                  </a:lnTo>
                  <a:lnTo>
                    <a:pt x="123937" y="43687"/>
                  </a:lnTo>
                  <a:lnTo>
                    <a:pt x="87152" y="20211"/>
                  </a:lnTo>
                  <a:lnTo>
                    <a:pt x="45444" y="5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039856" y="2618232"/>
              <a:ext cx="396240" cy="398145"/>
            </a:xfrm>
            <a:custGeom>
              <a:avLst/>
              <a:gdLst/>
              <a:ahLst/>
              <a:cxnLst/>
              <a:rect l="l" t="t" r="r" b="b"/>
              <a:pathLst>
                <a:path w="396240" h="398144">
                  <a:moveTo>
                    <a:pt x="0" y="198881"/>
                  </a:moveTo>
                  <a:lnTo>
                    <a:pt x="5229" y="153275"/>
                  </a:lnTo>
                  <a:lnTo>
                    <a:pt x="20127" y="111411"/>
                  </a:lnTo>
                  <a:lnTo>
                    <a:pt x="43507" y="74484"/>
                  </a:lnTo>
                  <a:lnTo>
                    <a:pt x="74182" y="43687"/>
                  </a:lnTo>
                  <a:lnTo>
                    <a:pt x="110967" y="20211"/>
                  </a:lnTo>
                  <a:lnTo>
                    <a:pt x="152675" y="5251"/>
                  </a:lnTo>
                  <a:lnTo>
                    <a:pt x="198120" y="0"/>
                  </a:lnTo>
                  <a:lnTo>
                    <a:pt x="243564" y="5251"/>
                  </a:lnTo>
                  <a:lnTo>
                    <a:pt x="285272" y="20211"/>
                  </a:lnTo>
                  <a:lnTo>
                    <a:pt x="322057" y="43687"/>
                  </a:lnTo>
                  <a:lnTo>
                    <a:pt x="352732" y="74484"/>
                  </a:lnTo>
                  <a:lnTo>
                    <a:pt x="376112" y="111411"/>
                  </a:lnTo>
                  <a:lnTo>
                    <a:pt x="391010" y="153275"/>
                  </a:lnTo>
                  <a:lnTo>
                    <a:pt x="396240" y="198881"/>
                  </a:lnTo>
                  <a:lnTo>
                    <a:pt x="391010" y="244488"/>
                  </a:lnTo>
                  <a:lnTo>
                    <a:pt x="376112" y="286352"/>
                  </a:lnTo>
                  <a:lnTo>
                    <a:pt x="352732" y="323279"/>
                  </a:lnTo>
                  <a:lnTo>
                    <a:pt x="322057" y="354076"/>
                  </a:lnTo>
                  <a:lnTo>
                    <a:pt x="285272" y="377552"/>
                  </a:lnTo>
                  <a:lnTo>
                    <a:pt x="243564" y="392512"/>
                  </a:lnTo>
                  <a:lnTo>
                    <a:pt x="198120" y="397763"/>
                  </a:lnTo>
                  <a:lnTo>
                    <a:pt x="152675" y="392512"/>
                  </a:lnTo>
                  <a:lnTo>
                    <a:pt x="110967" y="377552"/>
                  </a:lnTo>
                  <a:lnTo>
                    <a:pt x="74182" y="354076"/>
                  </a:lnTo>
                  <a:lnTo>
                    <a:pt x="43507" y="323279"/>
                  </a:lnTo>
                  <a:lnTo>
                    <a:pt x="20127" y="286352"/>
                  </a:lnTo>
                  <a:lnTo>
                    <a:pt x="5229" y="244488"/>
                  </a:lnTo>
                  <a:lnTo>
                    <a:pt x="0" y="198881"/>
                  </a:lnTo>
                  <a:close/>
                </a:path>
              </a:pathLst>
            </a:custGeom>
            <a:ln w="952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1033506" y="3346450"/>
            <a:ext cx="412115" cy="412115"/>
            <a:chOff x="11033506" y="3346450"/>
            <a:chExt cx="412115" cy="412115"/>
          </a:xfrm>
        </p:grpSpPr>
        <p:sp>
          <p:nvSpPr>
            <p:cNvPr id="21" name="object 21"/>
            <p:cNvSpPr/>
            <p:nvPr/>
          </p:nvSpPr>
          <p:spPr>
            <a:xfrm>
              <a:off x="11039856" y="3352800"/>
              <a:ext cx="399415" cy="399415"/>
            </a:xfrm>
            <a:custGeom>
              <a:avLst/>
              <a:gdLst/>
              <a:ahLst/>
              <a:cxnLst/>
              <a:rect l="l" t="t" r="r" b="b"/>
              <a:pathLst>
                <a:path w="399415" h="399414">
                  <a:moveTo>
                    <a:pt x="0" y="199644"/>
                  </a:moveTo>
                  <a:lnTo>
                    <a:pt x="5274" y="153875"/>
                  </a:lnTo>
                  <a:lnTo>
                    <a:pt x="20296" y="111856"/>
                  </a:lnTo>
                  <a:lnTo>
                    <a:pt x="43867" y="74787"/>
                  </a:lnTo>
                  <a:lnTo>
                    <a:pt x="74787" y="43867"/>
                  </a:lnTo>
                  <a:lnTo>
                    <a:pt x="111856" y="20296"/>
                  </a:lnTo>
                  <a:lnTo>
                    <a:pt x="153875" y="5274"/>
                  </a:lnTo>
                  <a:lnTo>
                    <a:pt x="199644" y="0"/>
                  </a:lnTo>
                  <a:lnTo>
                    <a:pt x="245412" y="5274"/>
                  </a:lnTo>
                  <a:lnTo>
                    <a:pt x="287431" y="20296"/>
                  </a:lnTo>
                  <a:lnTo>
                    <a:pt x="324500" y="43867"/>
                  </a:lnTo>
                  <a:lnTo>
                    <a:pt x="355420" y="74787"/>
                  </a:lnTo>
                  <a:lnTo>
                    <a:pt x="378991" y="111856"/>
                  </a:lnTo>
                  <a:lnTo>
                    <a:pt x="394013" y="153875"/>
                  </a:lnTo>
                  <a:lnTo>
                    <a:pt x="399288" y="199644"/>
                  </a:lnTo>
                  <a:lnTo>
                    <a:pt x="394013" y="245412"/>
                  </a:lnTo>
                  <a:lnTo>
                    <a:pt x="378991" y="287431"/>
                  </a:lnTo>
                  <a:lnTo>
                    <a:pt x="355420" y="324500"/>
                  </a:lnTo>
                  <a:lnTo>
                    <a:pt x="324500" y="355420"/>
                  </a:lnTo>
                  <a:lnTo>
                    <a:pt x="287431" y="378991"/>
                  </a:lnTo>
                  <a:lnTo>
                    <a:pt x="245412" y="394013"/>
                  </a:lnTo>
                  <a:lnTo>
                    <a:pt x="199644" y="399288"/>
                  </a:lnTo>
                  <a:lnTo>
                    <a:pt x="153875" y="394013"/>
                  </a:lnTo>
                  <a:lnTo>
                    <a:pt x="111856" y="378991"/>
                  </a:lnTo>
                  <a:lnTo>
                    <a:pt x="74787" y="355420"/>
                  </a:lnTo>
                  <a:lnTo>
                    <a:pt x="43867" y="324500"/>
                  </a:lnTo>
                  <a:lnTo>
                    <a:pt x="20296" y="287431"/>
                  </a:lnTo>
                  <a:lnTo>
                    <a:pt x="5274" y="245412"/>
                  </a:lnTo>
                  <a:lnTo>
                    <a:pt x="0" y="199644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039856" y="3352800"/>
              <a:ext cx="399415" cy="399415"/>
            </a:xfrm>
            <a:custGeom>
              <a:avLst/>
              <a:gdLst/>
              <a:ahLst/>
              <a:cxnLst/>
              <a:rect l="l" t="t" r="r" b="b"/>
              <a:pathLst>
                <a:path w="399415" h="399414">
                  <a:moveTo>
                    <a:pt x="199644" y="0"/>
                  </a:moveTo>
                  <a:lnTo>
                    <a:pt x="199644" y="199644"/>
                  </a:lnTo>
                  <a:lnTo>
                    <a:pt x="0" y="199644"/>
                  </a:lnTo>
                  <a:lnTo>
                    <a:pt x="5274" y="245412"/>
                  </a:lnTo>
                  <a:lnTo>
                    <a:pt x="20296" y="287431"/>
                  </a:lnTo>
                  <a:lnTo>
                    <a:pt x="43867" y="324500"/>
                  </a:lnTo>
                  <a:lnTo>
                    <a:pt x="74787" y="355420"/>
                  </a:lnTo>
                  <a:lnTo>
                    <a:pt x="111856" y="378991"/>
                  </a:lnTo>
                  <a:lnTo>
                    <a:pt x="153875" y="394013"/>
                  </a:lnTo>
                  <a:lnTo>
                    <a:pt x="199644" y="399288"/>
                  </a:lnTo>
                  <a:lnTo>
                    <a:pt x="245412" y="394013"/>
                  </a:lnTo>
                  <a:lnTo>
                    <a:pt x="287431" y="378991"/>
                  </a:lnTo>
                  <a:lnTo>
                    <a:pt x="324500" y="355420"/>
                  </a:lnTo>
                  <a:lnTo>
                    <a:pt x="355420" y="324500"/>
                  </a:lnTo>
                  <a:lnTo>
                    <a:pt x="378991" y="287431"/>
                  </a:lnTo>
                  <a:lnTo>
                    <a:pt x="394013" y="245412"/>
                  </a:lnTo>
                  <a:lnTo>
                    <a:pt x="399288" y="199644"/>
                  </a:lnTo>
                  <a:lnTo>
                    <a:pt x="394013" y="153875"/>
                  </a:lnTo>
                  <a:lnTo>
                    <a:pt x="378991" y="111856"/>
                  </a:lnTo>
                  <a:lnTo>
                    <a:pt x="355420" y="74787"/>
                  </a:lnTo>
                  <a:lnTo>
                    <a:pt x="324500" y="43867"/>
                  </a:lnTo>
                  <a:lnTo>
                    <a:pt x="287431" y="20296"/>
                  </a:lnTo>
                  <a:lnTo>
                    <a:pt x="245412" y="5274"/>
                  </a:lnTo>
                  <a:lnTo>
                    <a:pt x="19964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1039856" y="3352800"/>
              <a:ext cx="399415" cy="399415"/>
            </a:xfrm>
            <a:custGeom>
              <a:avLst/>
              <a:gdLst/>
              <a:ahLst/>
              <a:cxnLst/>
              <a:rect l="l" t="t" r="r" b="b"/>
              <a:pathLst>
                <a:path w="399415" h="399414">
                  <a:moveTo>
                    <a:pt x="199644" y="0"/>
                  </a:moveTo>
                  <a:lnTo>
                    <a:pt x="245412" y="5274"/>
                  </a:lnTo>
                  <a:lnTo>
                    <a:pt x="287431" y="20296"/>
                  </a:lnTo>
                  <a:lnTo>
                    <a:pt x="324500" y="43867"/>
                  </a:lnTo>
                  <a:lnTo>
                    <a:pt x="355420" y="74787"/>
                  </a:lnTo>
                  <a:lnTo>
                    <a:pt x="378991" y="111856"/>
                  </a:lnTo>
                  <a:lnTo>
                    <a:pt x="394013" y="153875"/>
                  </a:lnTo>
                  <a:lnTo>
                    <a:pt x="399288" y="199644"/>
                  </a:lnTo>
                  <a:lnTo>
                    <a:pt x="394013" y="245412"/>
                  </a:lnTo>
                  <a:lnTo>
                    <a:pt x="378991" y="287431"/>
                  </a:lnTo>
                  <a:lnTo>
                    <a:pt x="355420" y="324500"/>
                  </a:lnTo>
                  <a:lnTo>
                    <a:pt x="324500" y="355420"/>
                  </a:lnTo>
                  <a:lnTo>
                    <a:pt x="287431" y="378991"/>
                  </a:lnTo>
                  <a:lnTo>
                    <a:pt x="245412" y="394013"/>
                  </a:lnTo>
                  <a:lnTo>
                    <a:pt x="199644" y="399288"/>
                  </a:lnTo>
                  <a:lnTo>
                    <a:pt x="153875" y="394013"/>
                  </a:lnTo>
                  <a:lnTo>
                    <a:pt x="111856" y="378991"/>
                  </a:lnTo>
                  <a:lnTo>
                    <a:pt x="74787" y="355420"/>
                  </a:lnTo>
                  <a:lnTo>
                    <a:pt x="43867" y="324500"/>
                  </a:lnTo>
                  <a:lnTo>
                    <a:pt x="20296" y="287431"/>
                  </a:lnTo>
                  <a:lnTo>
                    <a:pt x="5274" y="245412"/>
                  </a:lnTo>
                  <a:lnTo>
                    <a:pt x="0" y="199644"/>
                  </a:lnTo>
                </a:path>
              </a:pathLst>
            </a:custGeom>
            <a:ln w="635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039856" y="3352800"/>
              <a:ext cx="399415" cy="399415"/>
            </a:xfrm>
            <a:custGeom>
              <a:avLst/>
              <a:gdLst/>
              <a:ahLst/>
              <a:cxnLst/>
              <a:rect l="l" t="t" r="r" b="b"/>
              <a:pathLst>
                <a:path w="399415" h="399414">
                  <a:moveTo>
                    <a:pt x="0" y="199644"/>
                  </a:moveTo>
                  <a:lnTo>
                    <a:pt x="5274" y="153875"/>
                  </a:lnTo>
                  <a:lnTo>
                    <a:pt x="20296" y="111856"/>
                  </a:lnTo>
                  <a:lnTo>
                    <a:pt x="43867" y="74787"/>
                  </a:lnTo>
                  <a:lnTo>
                    <a:pt x="74787" y="43867"/>
                  </a:lnTo>
                  <a:lnTo>
                    <a:pt x="111856" y="20296"/>
                  </a:lnTo>
                  <a:lnTo>
                    <a:pt x="153875" y="5274"/>
                  </a:lnTo>
                  <a:lnTo>
                    <a:pt x="199644" y="0"/>
                  </a:lnTo>
                  <a:lnTo>
                    <a:pt x="245412" y="5274"/>
                  </a:lnTo>
                  <a:lnTo>
                    <a:pt x="287431" y="20296"/>
                  </a:lnTo>
                  <a:lnTo>
                    <a:pt x="324500" y="43867"/>
                  </a:lnTo>
                  <a:lnTo>
                    <a:pt x="355420" y="74787"/>
                  </a:lnTo>
                  <a:lnTo>
                    <a:pt x="378991" y="111856"/>
                  </a:lnTo>
                  <a:lnTo>
                    <a:pt x="394013" y="153875"/>
                  </a:lnTo>
                  <a:lnTo>
                    <a:pt x="399288" y="199644"/>
                  </a:lnTo>
                  <a:lnTo>
                    <a:pt x="394013" y="245412"/>
                  </a:lnTo>
                  <a:lnTo>
                    <a:pt x="378991" y="287431"/>
                  </a:lnTo>
                  <a:lnTo>
                    <a:pt x="355420" y="324500"/>
                  </a:lnTo>
                  <a:lnTo>
                    <a:pt x="324500" y="355420"/>
                  </a:lnTo>
                  <a:lnTo>
                    <a:pt x="287431" y="378991"/>
                  </a:lnTo>
                  <a:lnTo>
                    <a:pt x="245412" y="394013"/>
                  </a:lnTo>
                  <a:lnTo>
                    <a:pt x="199644" y="399288"/>
                  </a:lnTo>
                  <a:lnTo>
                    <a:pt x="153875" y="394013"/>
                  </a:lnTo>
                  <a:lnTo>
                    <a:pt x="111856" y="378991"/>
                  </a:lnTo>
                  <a:lnTo>
                    <a:pt x="74787" y="355420"/>
                  </a:lnTo>
                  <a:lnTo>
                    <a:pt x="43867" y="324500"/>
                  </a:lnTo>
                  <a:lnTo>
                    <a:pt x="20296" y="287431"/>
                  </a:lnTo>
                  <a:lnTo>
                    <a:pt x="5274" y="245412"/>
                  </a:lnTo>
                  <a:lnTo>
                    <a:pt x="0" y="199644"/>
                  </a:lnTo>
                  <a:close/>
                </a:path>
              </a:pathLst>
            </a:custGeom>
            <a:ln w="952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11033506" y="4126738"/>
            <a:ext cx="412115" cy="412115"/>
            <a:chOff x="11033506" y="4126738"/>
            <a:chExt cx="412115" cy="412115"/>
          </a:xfrm>
        </p:grpSpPr>
        <p:sp>
          <p:nvSpPr>
            <p:cNvPr id="26" name="object 26"/>
            <p:cNvSpPr/>
            <p:nvPr/>
          </p:nvSpPr>
          <p:spPr>
            <a:xfrm>
              <a:off x="11039856" y="4133088"/>
              <a:ext cx="399415" cy="399415"/>
            </a:xfrm>
            <a:custGeom>
              <a:avLst/>
              <a:gdLst/>
              <a:ahLst/>
              <a:cxnLst/>
              <a:rect l="l" t="t" r="r" b="b"/>
              <a:pathLst>
                <a:path w="399415" h="399414">
                  <a:moveTo>
                    <a:pt x="0" y="199644"/>
                  </a:moveTo>
                  <a:lnTo>
                    <a:pt x="5274" y="153875"/>
                  </a:lnTo>
                  <a:lnTo>
                    <a:pt x="20296" y="111856"/>
                  </a:lnTo>
                  <a:lnTo>
                    <a:pt x="43867" y="74787"/>
                  </a:lnTo>
                  <a:lnTo>
                    <a:pt x="74787" y="43867"/>
                  </a:lnTo>
                  <a:lnTo>
                    <a:pt x="111856" y="20296"/>
                  </a:lnTo>
                  <a:lnTo>
                    <a:pt x="153875" y="5274"/>
                  </a:lnTo>
                  <a:lnTo>
                    <a:pt x="199644" y="0"/>
                  </a:lnTo>
                  <a:lnTo>
                    <a:pt x="245412" y="5274"/>
                  </a:lnTo>
                  <a:lnTo>
                    <a:pt x="287431" y="20296"/>
                  </a:lnTo>
                  <a:lnTo>
                    <a:pt x="324500" y="43867"/>
                  </a:lnTo>
                  <a:lnTo>
                    <a:pt x="355420" y="74787"/>
                  </a:lnTo>
                  <a:lnTo>
                    <a:pt x="378991" y="111856"/>
                  </a:lnTo>
                  <a:lnTo>
                    <a:pt x="394013" y="153875"/>
                  </a:lnTo>
                  <a:lnTo>
                    <a:pt x="399288" y="199644"/>
                  </a:lnTo>
                  <a:lnTo>
                    <a:pt x="394013" y="245412"/>
                  </a:lnTo>
                  <a:lnTo>
                    <a:pt x="378991" y="287431"/>
                  </a:lnTo>
                  <a:lnTo>
                    <a:pt x="355420" y="324500"/>
                  </a:lnTo>
                  <a:lnTo>
                    <a:pt x="324500" y="355420"/>
                  </a:lnTo>
                  <a:lnTo>
                    <a:pt x="287431" y="378991"/>
                  </a:lnTo>
                  <a:lnTo>
                    <a:pt x="245412" y="394013"/>
                  </a:lnTo>
                  <a:lnTo>
                    <a:pt x="199644" y="399288"/>
                  </a:lnTo>
                  <a:lnTo>
                    <a:pt x="153875" y="394013"/>
                  </a:lnTo>
                  <a:lnTo>
                    <a:pt x="111856" y="378991"/>
                  </a:lnTo>
                  <a:lnTo>
                    <a:pt x="74787" y="355420"/>
                  </a:lnTo>
                  <a:lnTo>
                    <a:pt x="43867" y="324500"/>
                  </a:lnTo>
                  <a:lnTo>
                    <a:pt x="20296" y="287431"/>
                  </a:lnTo>
                  <a:lnTo>
                    <a:pt x="5274" y="245412"/>
                  </a:lnTo>
                  <a:lnTo>
                    <a:pt x="0" y="199644"/>
                  </a:lnTo>
                  <a:close/>
                </a:path>
              </a:pathLst>
            </a:custGeom>
            <a:ln w="1270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039856" y="4133088"/>
              <a:ext cx="399415" cy="399415"/>
            </a:xfrm>
            <a:custGeom>
              <a:avLst/>
              <a:gdLst/>
              <a:ahLst/>
              <a:cxnLst/>
              <a:rect l="l" t="t" r="r" b="b"/>
              <a:pathLst>
                <a:path w="399415" h="399414">
                  <a:moveTo>
                    <a:pt x="199644" y="0"/>
                  </a:moveTo>
                  <a:lnTo>
                    <a:pt x="199644" y="199644"/>
                  </a:lnTo>
                  <a:lnTo>
                    <a:pt x="0" y="199644"/>
                  </a:lnTo>
                  <a:lnTo>
                    <a:pt x="5274" y="245412"/>
                  </a:lnTo>
                  <a:lnTo>
                    <a:pt x="20296" y="287431"/>
                  </a:lnTo>
                  <a:lnTo>
                    <a:pt x="43867" y="324500"/>
                  </a:lnTo>
                  <a:lnTo>
                    <a:pt x="74787" y="355420"/>
                  </a:lnTo>
                  <a:lnTo>
                    <a:pt x="111856" y="378991"/>
                  </a:lnTo>
                  <a:lnTo>
                    <a:pt x="153875" y="394013"/>
                  </a:lnTo>
                  <a:lnTo>
                    <a:pt x="199644" y="399288"/>
                  </a:lnTo>
                  <a:lnTo>
                    <a:pt x="245412" y="394013"/>
                  </a:lnTo>
                  <a:lnTo>
                    <a:pt x="287431" y="378991"/>
                  </a:lnTo>
                  <a:lnTo>
                    <a:pt x="324500" y="355420"/>
                  </a:lnTo>
                  <a:lnTo>
                    <a:pt x="355420" y="324500"/>
                  </a:lnTo>
                  <a:lnTo>
                    <a:pt x="378991" y="287431"/>
                  </a:lnTo>
                  <a:lnTo>
                    <a:pt x="394013" y="245412"/>
                  </a:lnTo>
                  <a:lnTo>
                    <a:pt x="399288" y="199644"/>
                  </a:lnTo>
                  <a:lnTo>
                    <a:pt x="394013" y="153875"/>
                  </a:lnTo>
                  <a:lnTo>
                    <a:pt x="378991" y="111856"/>
                  </a:lnTo>
                  <a:lnTo>
                    <a:pt x="355420" y="74787"/>
                  </a:lnTo>
                  <a:lnTo>
                    <a:pt x="324500" y="43867"/>
                  </a:lnTo>
                  <a:lnTo>
                    <a:pt x="287431" y="20296"/>
                  </a:lnTo>
                  <a:lnTo>
                    <a:pt x="245412" y="5274"/>
                  </a:lnTo>
                  <a:lnTo>
                    <a:pt x="199644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039856" y="4133088"/>
              <a:ext cx="399415" cy="399415"/>
            </a:xfrm>
            <a:custGeom>
              <a:avLst/>
              <a:gdLst/>
              <a:ahLst/>
              <a:cxnLst/>
              <a:rect l="l" t="t" r="r" b="b"/>
              <a:pathLst>
                <a:path w="399415" h="399414">
                  <a:moveTo>
                    <a:pt x="199644" y="0"/>
                  </a:moveTo>
                  <a:lnTo>
                    <a:pt x="245412" y="5274"/>
                  </a:lnTo>
                  <a:lnTo>
                    <a:pt x="287431" y="20296"/>
                  </a:lnTo>
                  <a:lnTo>
                    <a:pt x="324500" y="43867"/>
                  </a:lnTo>
                  <a:lnTo>
                    <a:pt x="355420" y="74787"/>
                  </a:lnTo>
                  <a:lnTo>
                    <a:pt x="378991" y="111856"/>
                  </a:lnTo>
                  <a:lnTo>
                    <a:pt x="394013" y="153875"/>
                  </a:lnTo>
                  <a:lnTo>
                    <a:pt x="399288" y="199644"/>
                  </a:lnTo>
                  <a:lnTo>
                    <a:pt x="394013" y="245412"/>
                  </a:lnTo>
                  <a:lnTo>
                    <a:pt x="378991" y="287431"/>
                  </a:lnTo>
                  <a:lnTo>
                    <a:pt x="355420" y="324500"/>
                  </a:lnTo>
                  <a:lnTo>
                    <a:pt x="324500" y="355420"/>
                  </a:lnTo>
                  <a:lnTo>
                    <a:pt x="287431" y="378991"/>
                  </a:lnTo>
                  <a:lnTo>
                    <a:pt x="245412" y="394013"/>
                  </a:lnTo>
                  <a:lnTo>
                    <a:pt x="199644" y="399288"/>
                  </a:lnTo>
                  <a:lnTo>
                    <a:pt x="153875" y="394013"/>
                  </a:lnTo>
                  <a:lnTo>
                    <a:pt x="111856" y="378991"/>
                  </a:lnTo>
                  <a:lnTo>
                    <a:pt x="74787" y="355420"/>
                  </a:lnTo>
                  <a:lnTo>
                    <a:pt x="43867" y="324500"/>
                  </a:lnTo>
                  <a:lnTo>
                    <a:pt x="20296" y="287431"/>
                  </a:lnTo>
                  <a:lnTo>
                    <a:pt x="5274" y="245412"/>
                  </a:lnTo>
                  <a:lnTo>
                    <a:pt x="0" y="199644"/>
                  </a:lnTo>
                </a:path>
              </a:pathLst>
            </a:custGeom>
            <a:ln w="6350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039856" y="4133088"/>
              <a:ext cx="399415" cy="399415"/>
            </a:xfrm>
            <a:custGeom>
              <a:avLst/>
              <a:gdLst/>
              <a:ahLst/>
              <a:cxnLst/>
              <a:rect l="l" t="t" r="r" b="b"/>
              <a:pathLst>
                <a:path w="399415" h="399414">
                  <a:moveTo>
                    <a:pt x="0" y="199644"/>
                  </a:moveTo>
                  <a:lnTo>
                    <a:pt x="5274" y="153875"/>
                  </a:lnTo>
                  <a:lnTo>
                    <a:pt x="20296" y="111856"/>
                  </a:lnTo>
                  <a:lnTo>
                    <a:pt x="43867" y="74787"/>
                  </a:lnTo>
                  <a:lnTo>
                    <a:pt x="74787" y="43867"/>
                  </a:lnTo>
                  <a:lnTo>
                    <a:pt x="111856" y="20296"/>
                  </a:lnTo>
                  <a:lnTo>
                    <a:pt x="153875" y="5274"/>
                  </a:lnTo>
                  <a:lnTo>
                    <a:pt x="199644" y="0"/>
                  </a:lnTo>
                  <a:lnTo>
                    <a:pt x="245412" y="5274"/>
                  </a:lnTo>
                  <a:lnTo>
                    <a:pt x="287431" y="20296"/>
                  </a:lnTo>
                  <a:lnTo>
                    <a:pt x="324500" y="43867"/>
                  </a:lnTo>
                  <a:lnTo>
                    <a:pt x="355420" y="74787"/>
                  </a:lnTo>
                  <a:lnTo>
                    <a:pt x="378991" y="111856"/>
                  </a:lnTo>
                  <a:lnTo>
                    <a:pt x="394013" y="153875"/>
                  </a:lnTo>
                  <a:lnTo>
                    <a:pt x="399288" y="199644"/>
                  </a:lnTo>
                  <a:lnTo>
                    <a:pt x="394013" y="245412"/>
                  </a:lnTo>
                  <a:lnTo>
                    <a:pt x="378991" y="287431"/>
                  </a:lnTo>
                  <a:lnTo>
                    <a:pt x="355420" y="324500"/>
                  </a:lnTo>
                  <a:lnTo>
                    <a:pt x="324500" y="355420"/>
                  </a:lnTo>
                  <a:lnTo>
                    <a:pt x="287431" y="378991"/>
                  </a:lnTo>
                  <a:lnTo>
                    <a:pt x="245412" y="394013"/>
                  </a:lnTo>
                  <a:lnTo>
                    <a:pt x="199644" y="399288"/>
                  </a:lnTo>
                  <a:lnTo>
                    <a:pt x="153875" y="394013"/>
                  </a:lnTo>
                  <a:lnTo>
                    <a:pt x="111856" y="378991"/>
                  </a:lnTo>
                  <a:lnTo>
                    <a:pt x="74787" y="355420"/>
                  </a:lnTo>
                  <a:lnTo>
                    <a:pt x="43867" y="324500"/>
                  </a:lnTo>
                  <a:lnTo>
                    <a:pt x="20296" y="287431"/>
                  </a:lnTo>
                  <a:lnTo>
                    <a:pt x="5274" y="245412"/>
                  </a:lnTo>
                  <a:lnTo>
                    <a:pt x="0" y="199644"/>
                  </a:lnTo>
                  <a:close/>
                </a:path>
              </a:pathLst>
            </a:custGeom>
            <a:ln w="952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11035093" y="4884229"/>
            <a:ext cx="405765" cy="405765"/>
            <a:chOff x="11035093" y="4884229"/>
            <a:chExt cx="405765" cy="405765"/>
          </a:xfrm>
        </p:grpSpPr>
        <p:sp>
          <p:nvSpPr>
            <p:cNvPr id="31" name="object 31"/>
            <p:cNvSpPr/>
            <p:nvPr/>
          </p:nvSpPr>
          <p:spPr>
            <a:xfrm>
              <a:off x="11237976" y="4888991"/>
              <a:ext cx="198120" cy="396240"/>
            </a:xfrm>
            <a:custGeom>
              <a:avLst/>
              <a:gdLst/>
              <a:ahLst/>
              <a:cxnLst/>
              <a:rect l="l" t="t" r="r" b="b"/>
              <a:pathLst>
                <a:path w="198120" h="396239">
                  <a:moveTo>
                    <a:pt x="0" y="0"/>
                  </a:moveTo>
                  <a:lnTo>
                    <a:pt x="0" y="396239"/>
                  </a:lnTo>
                  <a:lnTo>
                    <a:pt x="45444" y="391010"/>
                  </a:lnTo>
                  <a:lnTo>
                    <a:pt x="87152" y="376112"/>
                  </a:lnTo>
                  <a:lnTo>
                    <a:pt x="123937" y="352732"/>
                  </a:lnTo>
                  <a:lnTo>
                    <a:pt x="154612" y="322057"/>
                  </a:lnTo>
                  <a:lnTo>
                    <a:pt x="177992" y="285272"/>
                  </a:lnTo>
                  <a:lnTo>
                    <a:pt x="192890" y="243564"/>
                  </a:lnTo>
                  <a:lnTo>
                    <a:pt x="198120" y="198119"/>
                  </a:lnTo>
                  <a:lnTo>
                    <a:pt x="192890" y="152675"/>
                  </a:lnTo>
                  <a:lnTo>
                    <a:pt x="177992" y="110967"/>
                  </a:lnTo>
                  <a:lnTo>
                    <a:pt x="154612" y="74182"/>
                  </a:lnTo>
                  <a:lnTo>
                    <a:pt x="123937" y="43507"/>
                  </a:lnTo>
                  <a:lnTo>
                    <a:pt x="87152" y="20127"/>
                  </a:lnTo>
                  <a:lnTo>
                    <a:pt x="45444" y="5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039856" y="4888991"/>
              <a:ext cx="396240" cy="396240"/>
            </a:xfrm>
            <a:custGeom>
              <a:avLst/>
              <a:gdLst/>
              <a:ahLst/>
              <a:cxnLst/>
              <a:rect l="l" t="t" r="r" b="b"/>
              <a:pathLst>
                <a:path w="396240" h="396239">
                  <a:moveTo>
                    <a:pt x="0" y="198119"/>
                  </a:moveTo>
                  <a:lnTo>
                    <a:pt x="5229" y="152675"/>
                  </a:lnTo>
                  <a:lnTo>
                    <a:pt x="20127" y="110967"/>
                  </a:lnTo>
                  <a:lnTo>
                    <a:pt x="43507" y="74182"/>
                  </a:lnTo>
                  <a:lnTo>
                    <a:pt x="74182" y="43507"/>
                  </a:lnTo>
                  <a:lnTo>
                    <a:pt x="110967" y="20127"/>
                  </a:lnTo>
                  <a:lnTo>
                    <a:pt x="152675" y="5229"/>
                  </a:lnTo>
                  <a:lnTo>
                    <a:pt x="198120" y="0"/>
                  </a:lnTo>
                  <a:lnTo>
                    <a:pt x="243564" y="5229"/>
                  </a:lnTo>
                  <a:lnTo>
                    <a:pt x="285272" y="20127"/>
                  </a:lnTo>
                  <a:lnTo>
                    <a:pt x="322057" y="43507"/>
                  </a:lnTo>
                  <a:lnTo>
                    <a:pt x="352732" y="74182"/>
                  </a:lnTo>
                  <a:lnTo>
                    <a:pt x="376112" y="110967"/>
                  </a:lnTo>
                  <a:lnTo>
                    <a:pt x="391010" y="152675"/>
                  </a:lnTo>
                  <a:lnTo>
                    <a:pt x="396240" y="198119"/>
                  </a:lnTo>
                  <a:lnTo>
                    <a:pt x="391010" y="243564"/>
                  </a:lnTo>
                  <a:lnTo>
                    <a:pt x="376112" y="285272"/>
                  </a:lnTo>
                  <a:lnTo>
                    <a:pt x="352732" y="322057"/>
                  </a:lnTo>
                  <a:lnTo>
                    <a:pt x="322057" y="352732"/>
                  </a:lnTo>
                  <a:lnTo>
                    <a:pt x="285272" y="376112"/>
                  </a:lnTo>
                  <a:lnTo>
                    <a:pt x="243564" y="391010"/>
                  </a:lnTo>
                  <a:lnTo>
                    <a:pt x="198120" y="396239"/>
                  </a:lnTo>
                  <a:lnTo>
                    <a:pt x="152675" y="391010"/>
                  </a:lnTo>
                  <a:lnTo>
                    <a:pt x="110967" y="376112"/>
                  </a:lnTo>
                  <a:lnTo>
                    <a:pt x="74182" y="352732"/>
                  </a:lnTo>
                  <a:lnTo>
                    <a:pt x="43507" y="322057"/>
                  </a:lnTo>
                  <a:lnTo>
                    <a:pt x="20127" y="285272"/>
                  </a:lnTo>
                  <a:lnTo>
                    <a:pt x="5229" y="243564"/>
                  </a:lnTo>
                  <a:lnTo>
                    <a:pt x="0" y="198119"/>
                  </a:lnTo>
                  <a:close/>
                </a:path>
              </a:pathLst>
            </a:custGeom>
            <a:ln w="952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/>
          <p:nvPr/>
        </p:nvSpPr>
        <p:spPr>
          <a:xfrm>
            <a:off x="11039856" y="2618231"/>
            <a:ext cx="399415" cy="3377565"/>
          </a:xfrm>
          <a:custGeom>
            <a:avLst/>
            <a:gdLst/>
            <a:ahLst/>
            <a:cxnLst/>
            <a:rect l="l" t="t" r="r" b="b"/>
            <a:pathLst>
              <a:path w="399415" h="3377565">
                <a:moveTo>
                  <a:pt x="396240" y="3178302"/>
                </a:moveTo>
                <a:lnTo>
                  <a:pt x="391007" y="3132709"/>
                </a:lnTo>
                <a:lnTo>
                  <a:pt x="376110" y="3090849"/>
                </a:lnTo>
                <a:lnTo>
                  <a:pt x="352729" y="3053918"/>
                </a:lnTo>
                <a:lnTo>
                  <a:pt x="322046" y="3023120"/>
                </a:lnTo>
                <a:lnTo>
                  <a:pt x="285267" y="2999638"/>
                </a:lnTo>
                <a:lnTo>
                  <a:pt x="243560" y="2984677"/>
                </a:lnTo>
                <a:lnTo>
                  <a:pt x="198120" y="2979420"/>
                </a:lnTo>
                <a:lnTo>
                  <a:pt x="152666" y="2984677"/>
                </a:lnTo>
                <a:lnTo>
                  <a:pt x="110959" y="2999638"/>
                </a:lnTo>
                <a:lnTo>
                  <a:pt x="74180" y="3023120"/>
                </a:lnTo>
                <a:lnTo>
                  <a:pt x="43497" y="3053918"/>
                </a:lnTo>
                <a:lnTo>
                  <a:pt x="20116" y="3090849"/>
                </a:lnTo>
                <a:lnTo>
                  <a:pt x="5219" y="3132709"/>
                </a:lnTo>
                <a:lnTo>
                  <a:pt x="0" y="3178302"/>
                </a:lnTo>
                <a:lnTo>
                  <a:pt x="5219" y="3223907"/>
                </a:lnTo>
                <a:lnTo>
                  <a:pt x="20116" y="3265767"/>
                </a:lnTo>
                <a:lnTo>
                  <a:pt x="43497" y="3302698"/>
                </a:lnTo>
                <a:lnTo>
                  <a:pt x="74180" y="3333496"/>
                </a:lnTo>
                <a:lnTo>
                  <a:pt x="110959" y="3356978"/>
                </a:lnTo>
                <a:lnTo>
                  <a:pt x="152666" y="3371939"/>
                </a:lnTo>
                <a:lnTo>
                  <a:pt x="198120" y="3377184"/>
                </a:lnTo>
                <a:lnTo>
                  <a:pt x="243560" y="3371939"/>
                </a:lnTo>
                <a:lnTo>
                  <a:pt x="285267" y="3356978"/>
                </a:lnTo>
                <a:lnTo>
                  <a:pt x="322046" y="3333496"/>
                </a:lnTo>
                <a:lnTo>
                  <a:pt x="352729" y="3302698"/>
                </a:lnTo>
                <a:lnTo>
                  <a:pt x="376110" y="3265767"/>
                </a:lnTo>
                <a:lnTo>
                  <a:pt x="391007" y="3223907"/>
                </a:lnTo>
                <a:lnTo>
                  <a:pt x="396240" y="3178302"/>
                </a:lnTo>
                <a:close/>
              </a:path>
              <a:path w="399415" h="3377565">
                <a:moveTo>
                  <a:pt x="396240" y="2468880"/>
                </a:moveTo>
                <a:lnTo>
                  <a:pt x="391007" y="2423439"/>
                </a:lnTo>
                <a:lnTo>
                  <a:pt x="376110" y="2381732"/>
                </a:lnTo>
                <a:lnTo>
                  <a:pt x="352729" y="2344953"/>
                </a:lnTo>
                <a:lnTo>
                  <a:pt x="322046" y="2314270"/>
                </a:lnTo>
                <a:lnTo>
                  <a:pt x="285267" y="2290889"/>
                </a:lnTo>
                <a:lnTo>
                  <a:pt x="243560" y="2275992"/>
                </a:lnTo>
                <a:lnTo>
                  <a:pt x="198120" y="2270760"/>
                </a:lnTo>
                <a:lnTo>
                  <a:pt x="152666" y="2275992"/>
                </a:lnTo>
                <a:lnTo>
                  <a:pt x="110959" y="2290889"/>
                </a:lnTo>
                <a:lnTo>
                  <a:pt x="74180" y="2314270"/>
                </a:lnTo>
                <a:lnTo>
                  <a:pt x="43497" y="2344953"/>
                </a:lnTo>
                <a:lnTo>
                  <a:pt x="20116" y="2381732"/>
                </a:lnTo>
                <a:lnTo>
                  <a:pt x="5219" y="2423439"/>
                </a:lnTo>
                <a:lnTo>
                  <a:pt x="0" y="2468880"/>
                </a:lnTo>
                <a:lnTo>
                  <a:pt x="5219" y="2514333"/>
                </a:lnTo>
                <a:lnTo>
                  <a:pt x="20116" y="2556040"/>
                </a:lnTo>
                <a:lnTo>
                  <a:pt x="43497" y="2592819"/>
                </a:lnTo>
                <a:lnTo>
                  <a:pt x="74180" y="2623502"/>
                </a:lnTo>
                <a:lnTo>
                  <a:pt x="110959" y="2646883"/>
                </a:lnTo>
                <a:lnTo>
                  <a:pt x="152666" y="2661780"/>
                </a:lnTo>
                <a:lnTo>
                  <a:pt x="198120" y="2667000"/>
                </a:lnTo>
                <a:lnTo>
                  <a:pt x="243560" y="2661780"/>
                </a:lnTo>
                <a:lnTo>
                  <a:pt x="285267" y="2646883"/>
                </a:lnTo>
                <a:lnTo>
                  <a:pt x="322046" y="2623502"/>
                </a:lnTo>
                <a:lnTo>
                  <a:pt x="352729" y="2592819"/>
                </a:lnTo>
                <a:lnTo>
                  <a:pt x="376110" y="2556040"/>
                </a:lnTo>
                <a:lnTo>
                  <a:pt x="391007" y="2514333"/>
                </a:lnTo>
                <a:lnTo>
                  <a:pt x="396240" y="2468880"/>
                </a:lnTo>
                <a:close/>
              </a:path>
              <a:path w="399415" h="3377565">
                <a:moveTo>
                  <a:pt x="396240" y="198882"/>
                </a:moveTo>
                <a:lnTo>
                  <a:pt x="391007" y="153276"/>
                </a:lnTo>
                <a:lnTo>
                  <a:pt x="376110" y="111417"/>
                </a:lnTo>
                <a:lnTo>
                  <a:pt x="352729" y="74485"/>
                </a:lnTo>
                <a:lnTo>
                  <a:pt x="322046" y="43688"/>
                </a:lnTo>
                <a:lnTo>
                  <a:pt x="285267" y="20218"/>
                </a:lnTo>
                <a:lnTo>
                  <a:pt x="243560" y="5257"/>
                </a:lnTo>
                <a:lnTo>
                  <a:pt x="198120" y="0"/>
                </a:lnTo>
                <a:lnTo>
                  <a:pt x="152666" y="5257"/>
                </a:lnTo>
                <a:lnTo>
                  <a:pt x="110959" y="20218"/>
                </a:lnTo>
                <a:lnTo>
                  <a:pt x="74180" y="43688"/>
                </a:lnTo>
                <a:lnTo>
                  <a:pt x="43497" y="74485"/>
                </a:lnTo>
                <a:lnTo>
                  <a:pt x="20116" y="111417"/>
                </a:lnTo>
                <a:lnTo>
                  <a:pt x="5219" y="153276"/>
                </a:lnTo>
                <a:lnTo>
                  <a:pt x="0" y="198882"/>
                </a:lnTo>
                <a:lnTo>
                  <a:pt x="5219" y="244500"/>
                </a:lnTo>
                <a:lnTo>
                  <a:pt x="20116" y="286359"/>
                </a:lnTo>
                <a:lnTo>
                  <a:pt x="43497" y="323291"/>
                </a:lnTo>
                <a:lnTo>
                  <a:pt x="74180" y="354088"/>
                </a:lnTo>
                <a:lnTo>
                  <a:pt x="110959" y="377558"/>
                </a:lnTo>
                <a:lnTo>
                  <a:pt x="152666" y="392518"/>
                </a:lnTo>
                <a:lnTo>
                  <a:pt x="198120" y="397764"/>
                </a:lnTo>
                <a:lnTo>
                  <a:pt x="243560" y="392518"/>
                </a:lnTo>
                <a:lnTo>
                  <a:pt x="285267" y="377558"/>
                </a:lnTo>
                <a:lnTo>
                  <a:pt x="322046" y="354088"/>
                </a:lnTo>
                <a:lnTo>
                  <a:pt x="352729" y="323291"/>
                </a:lnTo>
                <a:lnTo>
                  <a:pt x="376110" y="286359"/>
                </a:lnTo>
                <a:lnTo>
                  <a:pt x="391007" y="244500"/>
                </a:lnTo>
                <a:lnTo>
                  <a:pt x="396240" y="198882"/>
                </a:lnTo>
                <a:close/>
              </a:path>
              <a:path w="399415" h="3377565">
                <a:moveTo>
                  <a:pt x="399288" y="1714500"/>
                </a:moveTo>
                <a:lnTo>
                  <a:pt x="394004" y="1668741"/>
                </a:lnTo>
                <a:lnTo>
                  <a:pt x="378980" y="1626717"/>
                </a:lnTo>
                <a:lnTo>
                  <a:pt x="355409" y="1589646"/>
                </a:lnTo>
                <a:lnTo>
                  <a:pt x="324497" y="1558734"/>
                </a:lnTo>
                <a:lnTo>
                  <a:pt x="287426" y="1535163"/>
                </a:lnTo>
                <a:lnTo>
                  <a:pt x="245402" y="1520139"/>
                </a:lnTo>
                <a:lnTo>
                  <a:pt x="199644" y="1514856"/>
                </a:lnTo>
                <a:lnTo>
                  <a:pt x="153873" y="1520139"/>
                </a:lnTo>
                <a:lnTo>
                  <a:pt x="111848" y="1535163"/>
                </a:lnTo>
                <a:lnTo>
                  <a:pt x="74777" y="1558734"/>
                </a:lnTo>
                <a:lnTo>
                  <a:pt x="43865" y="1589646"/>
                </a:lnTo>
                <a:lnTo>
                  <a:pt x="20294" y="1626717"/>
                </a:lnTo>
                <a:lnTo>
                  <a:pt x="5270" y="1668741"/>
                </a:lnTo>
                <a:lnTo>
                  <a:pt x="0" y="1714500"/>
                </a:lnTo>
                <a:lnTo>
                  <a:pt x="5270" y="1760270"/>
                </a:lnTo>
                <a:lnTo>
                  <a:pt x="20294" y="1802295"/>
                </a:lnTo>
                <a:lnTo>
                  <a:pt x="43865" y="1839366"/>
                </a:lnTo>
                <a:lnTo>
                  <a:pt x="74777" y="1870278"/>
                </a:lnTo>
                <a:lnTo>
                  <a:pt x="111848" y="1893849"/>
                </a:lnTo>
                <a:lnTo>
                  <a:pt x="153873" y="1908873"/>
                </a:lnTo>
                <a:lnTo>
                  <a:pt x="199644" y="1914144"/>
                </a:lnTo>
                <a:lnTo>
                  <a:pt x="245402" y="1908873"/>
                </a:lnTo>
                <a:lnTo>
                  <a:pt x="287426" y="1893849"/>
                </a:lnTo>
                <a:lnTo>
                  <a:pt x="324497" y="1870278"/>
                </a:lnTo>
                <a:lnTo>
                  <a:pt x="355409" y="1839366"/>
                </a:lnTo>
                <a:lnTo>
                  <a:pt x="378980" y="1802295"/>
                </a:lnTo>
                <a:lnTo>
                  <a:pt x="394004" y="1760270"/>
                </a:lnTo>
                <a:lnTo>
                  <a:pt x="399288" y="1714500"/>
                </a:lnTo>
                <a:close/>
              </a:path>
              <a:path w="399415" h="3377565">
                <a:moveTo>
                  <a:pt x="399288" y="934224"/>
                </a:moveTo>
                <a:lnTo>
                  <a:pt x="394004" y="888453"/>
                </a:lnTo>
                <a:lnTo>
                  <a:pt x="378980" y="846429"/>
                </a:lnTo>
                <a:lnTo>
                  <a:pt x="355409" y="809358"/>
                </a:lnTo>
                <a:lnTo>
                  <a:pt x="324497" y="778446"/>
                </a:lnTo>
                <a:lnTo>
                  <a:pt x="287426" y="754875"/>
                </a:lnTo>
                <a:lnTo>
                  <a:pt x="245402" y="739851"/>
                </a:lnTo>
                <a:lnTo>
                  <a:pt x="199644" y="734568"/>
                </a:lnTo>
                <a:lnTo>
                  <a:pt x="153873" y="739851"/>
                </a:lnTo>
                <a:lnTo>
                  <a:pt x="111848" y="754875"/>
                </a:lnTo>
                <a:lnTo>
                  <a:pt x="74777" y="778446"/>
                </a:lnTo>
                <a:lnTo>
                  <a:pt x="43865" y="809358"/>
                </a:lnTo>
                <a:lnTo>
                  <a:pt x="20294" y="846429"/>
                </a:lnTo>
                <a:lnTo>
                  <a:pt x="5270" y="888453"/>
                </a:lnTo>
                <a:lnTo>
                  <a:pt x="0" y="934224"/>
                </a:lnTo>
                <a:lnTo>
                  <a:pt x="5270" y="979982"/>
                </a:lnTo>
                <a:lnTo>
                  <a:pt x="20294" y="1022007"/>
                </a:lnTo>
                <a:lnTo>
                  <a:pt x="43865" y="1059078"/>
                </a:lnTo>
                <a:lnTo>
                  <a:pt x="74777" y="1089990"/>
                </a:lnTo>
                <a:lnTo>
                  <a:pt x="111848" y="1113561"/>
                </a:lnTo>
                <a:lnTo>
                  <a:pt x="153873" y="1128585"/>
                </a:lnTo>
                <a:lnTo>
                  <a:pt x="199644" y="1133856"/>
                </a:lnTo>
                <a:lnTo>
                  <a:pt x="245402" y="1128585"/>
                </a:lnTo>
                <a:lnTo>
                  <a:pt x="287426" y="1113561"/>
                </a:lnTo>
                <a:lnTo>
                  <a:pt x="324497" y="1089990"/>
                </a:lnTo>
                <a:lnTo>
                  <a:pt x="355409" y="1059078"/>
                </a:lnTo>
                <a:lnTo>
                  <a:pt x="378980" y="1022007"/>
                </a:lnTo>
                <a:lnTo>
                  <a:pt x="394004" y="979982"/>
                </a:lnTo>
                <a:lnTo>
                  <a:pt x="399288" y="9342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11035093" y="5592889"/>
            <a:ext cx="405765" cy="407670"/>
            <a:chOff x="11035093" y="5592889"/>
            <a:chExt cx="405765" cy="407670"/>
          </a:xfrm>
        </p:grpSpPr>
        <p:sp>
          <p:nvSpPr>
            <p:cNvPr id="35" name="object 35"/>
            <p:cNvSpPr/>
            <p:nvPr/>
          </p:nvSpPr>
          <p:spPr>
            <a:xfrm>
              <a:off x="11237976" y="5597652"/>
              <a:ext cx="198120" cy="398145"/>
            </a:xfrm>
            <a:custGeom>
              <a:avLst/>
              <a:gdLst/>
              <a:ahLst/>
              <a:cxnLst/>
              <a:rect l="l" t="t" r="r" b="b"/>
              <a:pathLst>
                <a:path w="198120" h="398145">
                  <a:moveTo>
                    <a:pt x="0" y="0"/>
                  </a:moveTo>
                  <a:lnTo>
                    <a:pt x="0" y="397764"/>
                  </a:lnTo>
                  <a:lnTo>
                    <a:pt x="45444" y="392511"/>
                  </a:lnTo>
                  <a:lnTo>
                    <a:pt x="87152" y="377549"/>
                  </a:lnTo>
                  <a:lnTo>
                    <a:pt x="123937" y="354072"/>
                  </a:lnTo>
                  <a:lnTo>
                    <a:pt x="154612" y="323273"/>
                  </a:lnTo>
                  <a:lnTo>
                    <a:pt x="177992" y="286346"/>
                  </a:lnTo>
                  <a:lnTo>
                    <a:pt x="192890" y="244484"/>
                  </a:lnTo>
                  <a:lnTo>
                    <a:pt x="198120" y="198882"/>
                  </a:lnTo>
                  <a:lnTo>
                    <a:pt x="192890" y="153279"/>
                  </a:lnTo>
                  <a:lnTo>
                    <a:pt x="177992" y="111417"/>
                  </a:lnTo>
                  <a:lnTo>
                    <a:pt x="154612" y="74490"/>
                  </a:lnTo>
                  <a:lnTo>
                    <a:pt x="123937" y="43691"/>
                  </a:lnTo>
                  <a:lnTo>
                    <a:pt x="87152" y="20214"/>
                  </a:lnTo>
                  <a:lnTo>
                    <a:pt x="45444" y="5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1039856" y="5597652"/>
              <a:ext cx="396240" cy="398145"/>
            </a:xfrm>
            <a:custGeom>
              <a:avLst/>
              <a:gdLst/>
              <a:ahLst/>
              <a:cxnLst/>
              <a:rect l="l" t="t" r="r" b="b"/>
              <a:pathLst>
                <a:path w="396240" h="398145">
                  <a:moveTo>
                    <a:pt x="0" y="198882"/>
                  </a:moveTo>
                  <a:lnTo>
                    <a:pt x="5229" y="153279"/>
                  </a:lnTo>
                  <a:lnTo>
                    <a:pt x="20127" y="111417"/>
                  </a:lnTo>
                  <a:lnTo>
                    <a:pt x="43507" y="74490"/>
                  </a:lnTo>
                  <a:lnTo>
                    <a:pt x="74182" y="43691"/>
                  </a:lnTo>
                  <a:lnTo>
                    <a:pt x="110967" y="20214"/>
                  </a:lnTo>
                  <a:lnTo>
                    <a:pt x="152675" y="5252"/>
                  </a:lnTo>
                  <a:lnTo>
                    <a:pt x="198120" y="0"/>
                  </a:lnTo>
                  <a:lnTo>
                    <a:pt x="243564" y="5252"/>
                  </a:lnTo>
                  <a:lnTo>
                    <a:pt x="285272" y="20214"/>
                  </a:lnTo>
                  <a:lnTo>
                    <a:pt x="322057" y="43691"/>
                  </a:lnTo>
                  <a:lnTo>
                    <a:pt x="352732" y="74490"/>
                  </a:lnTo>
                  <a:lnTo>
                    <a:pt x="376112" y="111417"/>
                  </a:lnTo>
                  <a:lnTo>
                    <a:pt x="391010" y="153279"/>
                  </a:lnTo>
                  <a:lnTo>
                    <a:pt x="396240" y="198882"/>
                  </a:lnTo>
                  <a:lnTo>
                    <a:pt x="391010" y="244484"/>
                  </a:lnTo>
                  <a:lnTo>
                    <a:pt x="376112" y="286346"/>
                  </a:lnTo>
                  <a:lnTo>
                    <a:pt x="352732" y="323273"/>
                  </a:lnTo>
                  <a:lnTo>
                    <a:pt x="322057" y="354072"/>
                  </a:lnTo>
                  <a:lnTo>
                    <a:pt x="285272" y="377549"/>
                  </a:lnTo>
                  <a:lnTo>
                    <a:pt x="243564" y="392511"/>
                  </a:lnTo>
                  <a:lnTo>
                    <a:pt x="198120" y="397764"/>
                  </a:lnTo>
                  <a:lnTo>
                    <a:pt x="152675" y="392511"/>
                  </a:lnTo>
                  <a:lnTo>
                    <a:pt x="110967" y="377549"/>
                  </a:lnTo>
                  <a:lnTo>
                    <a:pt x="74182" y="354072"/>
                  </a:lnTo>
                  <a:lnTo>
                    <a:pt x="43507" y="323273"/>
                  </a:lnTo>
                  <a:lnTo>
                    <a:pt x="20127" y="286346"/>
                  </a:lnTo>
                  <a:lnTo>
                    <a:pt x="5229" y="244484"/>
                  </a:lnTo>
                  <a:lnTo>
                    <a:pt x="0" y="198882"/>
                  </a:lnTo>
                  <a:close/>
                </a:path>
              </a:pathLst>
            </a:custGeom>
            <a:ln w="952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68879" y="6509004"/>
            <a:ext cx="209867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Phoenix:</a:t>
            </a:r>
            <a:r>
              <a:rPr dirty="0" sz="12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56961" y="6564883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4317" y="6336284"/>
            <a:ext cx="1002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Team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Analysis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32519" y="3092195"/>
            <a:ext cx="2669540" cy="6350"/>
          </a:xfrm>
          <a:custGeom>
            <a:avLst/>
            <a:gdLst/>
            <a:ahLst/>
            <a:cxnLst/>
            <a:rect l="l" t="t" r="r" b="b"/>
            <a:pathLst>
              <a:path w="2669540" h="6350">
                <a:moveTo>
                  <a:pt x="0" y="0"/>
                </a:moveTo>
                <a:lnTo>
                  <a:pt x="2669539" y="6095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2568" y="268224"/>
            <a:ext cx="583692" cy="58521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0"/>
            <a:ext cx="10285730" cy="116205"/>
          </a:xfrm>
          <a:custGeom>
            <a:avLst/>
            <a:gdLst/>
            <a:ahLst/>
            <a:cxnLst/>
            <a:rect l="l" t="t" r="r" b="b"/>
            <a:pathLst>
              <a:path w="10285730" h="116205">
                <a:moveTo>
                  <a:pt x="10285476" y="0"/>
                </a:moveTo>
                <a:lnTo>
                  <a:pt x="0" y="0"/>
                </a:lnTo>
                <a:lnTo>
                  <a:pt x="0" y="115824"/>
                </a:lnTo>
                <a:lnTo>
                  <a:pt x="10285476" y="115824"/>
                </a:lnTo>
                <a:lnTo>
                  <a:pt x="10285476" y="0"/>
                </a:lnTo>
                <a:close/>
              </a:path>
            </a:pathLst>
          </a:custGeom>
          <a:solidFill>
            <a:srgbClr val="0A47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556492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6E8E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85476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5C9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2023" y="6516623"/>
            <a:ext cx="2277110" cy="0"/>
          </a:xfrm>
          <a:custGeom>
            <a:avLst/>
            <a:gdLst/>
            <a:ahLst/>
            <a:cxnLst/>
            <a:rect l="l" t="t" r="r" b="b"/>
            <a:pathLst>
              <a:path w="2277110" h="0">
                <a:moveTo>
                  <a:pt x="0" y="0"/>
                </a:moveTo>
                <a:lnTo>
                  <a:pt x="2276856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67428" y="6516623"/>
            <a:ext cx="7418070" cy="0"/>
          </a:xfrm>
          <a:custGeom>
            <a:avLst/>
            <a:gdLst/>
            <a:ahLst/>
            <a:cxnLst/>
            <a:rect l="l" t="t" r="r" b="b"/>
            <a:pathLst>
              <a:path w="7418070" h="0">
                <a:moveTo>
                  <a:pt x="0" y="0"/>
                </a:moveTo>
                <a:lnTo>
                  <a:pt x="7417689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825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5.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FACILITATING</a:t>
            </a:r>
            <a:r>
              <a:rPr dirty="0" spc="-50"/>
              <a:t> </a:t>
            </a:r>
            <a:r>
              <a:rPr dirty="0"/>
              <a:t>FINANCIAL</a:t>
            </a:r>
            <a:r>
              <a:rPr dirty="0" spc="-45"/>
              <a:t> </a:t>
            </a:r>
            <a:r>
              <a:rPr dirty="0" spc="-10"/>
              <a:t>INCLUSION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85"/>
              <a:t> </a:t>
            </a:r>
            <a:r>
              <a:rPr dirty="0" spc="-20"/>
              <a:t>EXPANSION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100"/>
              <a:t> </a:t>
            </a:r>
            <a:r>
              <a:rPr dirty="0" spc="-25"/>
              <a:t>UFH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26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Phased</a:t>
            </a:r>
            <a:r>
              <a:rPr dirty="0" u="sng" sz="2000" spc="-45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implementation</a:t>
            </a:r>
            <a:r>
              <a:rPr dirty="0" u="sng" sz="2000" spc="-15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4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Lending</a:t>
            </a:r>
            <a:r>
              <a:rPr dirty="0" u="sng" sz="2000" spc="-45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Circles</a:t>
            </a:r>
            <a:r>
              <a:rPr dirty="0" u="sng" sz="2000" spc="-25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leading</a:t>
            </a:r>
            <a:r>
              <a:rPr dirty="0" u="sng" sz="2000" spc="-4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2000" spc="-3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financial</a:t>
            </a:r>
            <a:r>
              <a:rPr dirty="0" u="sng" sz="2000" spc="-3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inclusion</a:t>
            </a:r>
            <a:r>
              <a:rPr dirty="0" u="sng" sz="2000" spc="-3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45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800k+</a:t>
            </a:r>
            <a:r>
              <a:rPr dirty="0" u="sng" sz="2000" spc="-5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people</a:t>
            </a:r>
            <a:r>
              <a:rPr dirty="0" u="sng" sz="2000" spc="-4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in</a:t>
            </a:r>
            <a:r>
              <a:rPr dirty="0" u="sng" sz="2000" spc="-4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3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regions</a:t>
            </a:r>
            <a:r>
              <a:rPr dirty="0" u="sng" sz="2000" b="0">
                <a:solidFill>
                  <a:srgbClr val="A6A6A6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 descr="Map of Sumatra, a province of Indonesia. Simple flat gray icon on white  background. Suitable for Indonesia map design 17733954 Vector Art at  Vecteezy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4731" y="1062482"/>
            <a:ext cx="781165" cy="80873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105465" y="935736"/>
            <a:ext cx="5060315" cy="1114425"/>
            <a:chOff x="4105465" y="935736"/>
            <a:chExt cx="5060315" cy="1114425"/>
          </a:xfrm>
        </p:grpSpPr>
        <p:pic>
          <p:nvPicPr>
            <p:cNvPr id="13" name="object 13" descr="Map of Java island, a province of Indonesia. Simple flat gray icon on white  background. Java island illustration silhouette isolated on white  background. Suitable for Indonesia map design 17733959 Vector Art at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39036" y="1213447"/>
              <a:ext cx="1426149" cy="49004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10228" y="1466087"/>
              <a:ext cx="3693795" cy="0"/>
            </a:xfrm>
            <a:custGeom>
              <a:avLst/>
              <a:gdLst/>
              <a:ahLst/>
              <a:cxnLst/>
              <a:rect l="l" t="t" r="r" b="b"/>
              <a:pathLst>
                <a:path w="3693795" h="0">
                  <a:moveTo>
                    <a:pt x="0" y="0"/>
                  </a:moveTo>
                  <a:lnTo>
                    <a:pt x="1028192" y="0"/>
                  </a:lnTo>
                </a:path>
                <a:path w="3693795" h="0">
                  <a:moveTo>
                    <a:pt x="2665476" y="0"/>
                  </a:moveTo>
                  <a:lnTo>
                    <a:pt x="3693668" y="0"/>
                  </a:lnTo>
                </a:path>
              </a:pathLst>
            </a:custGeom>
            <a:ln w="952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091684" y="935736"/>
              <a:ext cx="1734820" cy="1114425"/>
            </a:xfrm>
            <a:custGeom>
              <a:avLst/>
              <a:gdLst/>
              <a:ahLst/>
              <a:cxnLst/>
              <a:rect l="l" t="t" r="r" b="b"/>
              <a:pathLst>
                <a:path w="1734820" h="1114425">
                  <a:moveTo>
                    <a:pt x="867155" y="0"/>
                  </a:moveTo>
                  <a:lnTo>
                    <a:pt x="810140" y="1185"/>
                  </a:lnTo>
                  <a:lnTo>
                    <a:pt x="754109" y="4691"/>
                  </a:lnTo>
                  <a:lnTo>
                    <a:pt x="699177" y="10444"/>
                  </a:lnTo>
                  <a:lnTo>
                    <a:pt x="645458" y="18372"/>
                  </a:lnTo>
                  <a:lnTo>
                    <a:pt x="593067" y="28401"/>
                  </a:lnTo>
                  <a:lnTo>
                    <a:pt x="542118" y="40457"/>
                  </a:lnTo>
                  <a:lnTo>
                    <a:pt x="492725" y="54466"/>
                  </a:lnTo>
                  <a:lnTo>
                    <a:pt x="445002" y="70357"/>
                  </a:lnTo>
                  <a:lnTo>
                    <a:pt x="399064" y="88054"/>
                  </a:lnTo>
                  <a:lnTo>
                    <a:pt x="355024" y="107484"/>
                  </a:lnTo>
                  <a:lnTo>
                    <a:pt x="312998" y="128575"/>
                  </a:lnTo>
                  <a:lnTo>
                    <a:pt x="273100" y="151252"/>
                  </a:lnTo>
                  <a:lnTo>
                    <a:pt x="235442" y="175443"/>
                  </a:lnTo>
                  <a:lnTo>
                    <a:pt x="200141" y="201073"/>
                  </a:lnTo>
                  <a:lnTo>
                    <a:pt x="167310" y="228069"/>
                  </a:lnTo>
                  <a:lnTo>
                    <a:pt x="137064" y="256358"/>
                  </a:lnTo>
                  <a:lnTo>
                    <a:pt x="109516" y="285867"/>
                  </a:lnTo>
                  <a:lnTo>
                    <a:pt x="84781" y="316522"/>
                  </a:lnTo>
                  <a:lnTo>
                    <a:pt x="62974" y="348249"/>
                  </a:lnTo>
                  <a:lnTo>
                    <a:pt x="28597" y="414627"/>
                  </a:lnTo>
                  <a:lnTo>
                    <a:pt x="7301" y="484414"/>
                  </a:lnTo>
                  <a:lnTo>
                    <a:pt x="0" y="557022"/>
                  </a:lnTo>
                  <a:lnTo>
                    <a:pt x="1844" y="593641"/>
                  </a:lnTo>
                  <a:lnTo>
                    <a:pt x="16257" y="664912"/>
                  </a:lnTo>
                  <a:lnTo>
                    <a:pt x="44208" y="733068"/>
                  </a:lnTo>
                  <a:lnTo>
                    <a:pt x="84781" y="797521"/>
                  </a:lnTo>
                  <a:lnTo>
                    <a:pt x="109516" y="828176"/>
                  </a:lnTo>
                  <a:lnTo>
                    <a:pt x="137064" y="857685"/>
                  </a:lnTo>
                  <a:lnTo>
                    <a:pt x="167310" y="885974"/>
                  </a:lnTo>
                  <a:lnTo>
                    <a:pt x="200141" y="912970"/>
                  </a:lnTo>
                  <a:lnTo>
                    <a:pt x="235442" y="938600"/>
                  </a:lnTo>
                  <a:lnTo>
                    <a:pt x="273100" y="962791"/>
                  </a:lnTo>
                  <a:lnTo>
                    <a:pt x="312998" y="985468"/>
                  </a:lnTo>
                  <a:lnTo>
                    <a:pt x="355024" y="1006559"/>
                  </a:lnTo>
                  <a:lnTo>
                    <a:pt x="399064" y="1025989"/>
                  </a:lnTo>
                  <a:lnTo>
                    <a:pt x="445002" y="1043686"/>
                  </a:lnTo>
                  <a:lnTo>
                    <a:pt x="492725" y="1059577"/>
                  </a:lnTo>
                  <a:lnTo>
                    <a:pt x="542118" y="1073586"/>
                  </a:lnTo>
                  <a:lnTo>
                    <a:pt x="593067" y="1085642"/>
                  </a:lnTo>
                  <a:lnTo>
                    <a:pt x="645458" y="1095671"/>
                  </a:lnTo>
                  <a:lnTo>
                    <a:pt x="699177" y="1103599"/>
                  </a:lnTo>
                  <a:lnTo>
                    <a:pt x="754109" y="1109352"/>
                  </a:lnTo>
                  <a:lnTo>
                    <a:pt x="810140" y="1112858"/>
                  </a:lnTo>
                  <a:lnTo>
                    <a:pt x="867155" y="1114043"/>
                  </a:lnTo>
                  <a:lnTo>
                    <a:pt x="924171" y="1112858"/>
                  </a:lnTo>
                  <a:lnTo>
                    <a:pt x="980202" y="1109352"/>
                  </a:lnTo>
                  <a:lnTo>
                    <a:pt x="1035134" y="1103599"/>
                  </a:lnTo>
                  <a:lnTo>
                    <a:pt x="1088853" y="1095671"/>
                  </a:lnTo>
                  <a:lnTo>
                    <a:pt x="1141244" y="1085642"/>
                  </a:lnTo>
                  <a:lnTo>
                    <a:pt x="1192193" y="1073586"/>
                  </a:lnTo>
                  <a:lnTo>
                    <a:pt x="1241586" y="1059577"/>
                  </a:lnTo>
                  <a:lnTo>
                    <a:pt x="1289309" y="1043686"/>
                  </a:lnTo>
                  <a:lnTo>
                    <a:pt x="1335247" y="1025989"/>
                  </a:lnTo>
                  <a:lnTo>
                    <a:pt x="1379287" y="1006559"/>
                  </a:lnTo>
                  <a:lnTo>
                    <a:pt x="1421313" y="985468"/>
                  </a:lnTo>
                  <a:lnTo>
                    <a:pt x="1461211" y="962791"/>
                  </a:lnTo>
                  <a:lnTo>
                    <a:pt x="1498869" y="938600"/>
                  </a:lnTo>
                  <a:lnTo>
                    <a:pt x="1534170" y="912970"/>
                  </a:lnTo>
                  <a:lnTo>
                    <a:pt x="1567001" y="885974"/>
                  </a:lnTo>
                  <a:lnTo>
                    <a:pt x="1597247" y="857685"/>
                  </a:lnTo>
                  <a:lnTo>
                    <a:pt x="1624795" y="828176"/>
                  </a:lnTo>
                  <a:lnTo>
                    <a:pt x="1649530" y="797521"/>
                  </a:lnTo>
                  <a:lnTo>
                    <a:pt x="1671337" y="765794"/>
                  </a:lnTo>
                  <a:lnTo>
                    <a:pt x="1705714" y="699416"/>
                  </a:lnTo>
                  <a:lnTo>
                    <a:pt x="1727010" y="629629"/>
                  </a:lnTo>
                  <a:lnTo>
                    <a:pt x="1734312" y="557022"/>
                  </a:lnTo>
                  <a:lnTo>
                    <a:pt x="1732467" y="520402"/>
                  </a:lnTo>
                  <a:lnTo>
                    <a:pt x="1718054" y="449131"/>
                  </a:lnTo>
                  <a:lnTo>
                    <a:pt x="1690103" y="380975"/>
                  </a:lnTo>
                  <a:lnTo>
                    <a:pt x="1649530" y="316522"/>
                  </a:lnTo>
                  <a:lnTo>
                    <a:pt x="1624795" y="285867"/>
                  </a:lnTo>
                  <a:lnTo>
                    <a:pt x="1597247" y="256358"/>
                  </a:lnTo>
                  <a:lnTo>
                    <a:pt x="1567001" y="228069"/>
                  </a:lnTo>
                  <a:lnTo>
                    <a:pt x="1534170" y="201073"/>
                  </a:lnTo>
                  <a:lnTo>
                    <a:pt x="1498869" y="175443"/>
                  </a:lnTo>
                  <a:lnTo>
                    <a:pt x="1461211" y="151252"/>
                  </a:lnTo>
                  <a:lnTo>
                    <a:pt x="1421313" y="128575"/>
                  </a:lnTo>
                  <a:lnTo>
                    <a:pt x="1379287" y="107484"/>
                  </a:lnTo>
                  <a:lnTo>
                    <a:pt x="1335247" y="88054"/>
                  </a:lnTo>
                  <a:lnTo>
                    <a:pt x="1289309" y="70357"/>
                  </a:lnTo>
                  <a:lnTo>
                    <a:pt x="1241586" y="54466"/>
                  </a:lnTo>
                  <a:lnTo>
                    <a:pt x="1192193" y="40457"/>
                  </a:lnTo>
                  <a:lnTo>
                    <a:pt x="1141244" y="28401"/>
                  </a:lnTo>
                  <a:lnTo>
                    <a:pt x="1088853" y="18372"/>
                  </a:lnTo>
                  <a:lnTo>
                    <a:pt x="1035134" y="10444"/>
                  </a:lnTo>
                  <a:lnTo>
                    <a:pt x="980202" y="4691"/>
                  </a:lnTo>
                  <a:lnTo>
                    <a:pt x="924171" y="1185"/>
                  </a:lnTo>
                  <a:lnTo>
                    <a:pt x="86715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311777" y="1282446"/>
            <a:ext cx="552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399BD5"/>
                </a:solidFill>
                <a:latin typeface="Calibri"/>
                <a:cs typeface="Calibri"/>
              </a:rPr>
              <a:t>Sumatra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62038" y="1282446"/>
            <a:ext cx="2990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i="1">
                <a:solidFill>
                  <a:srgbClr val="399BD5"/>
                </a:solidFill>
                <a:latin typeface="Calibri"/>
                <a:cs typeface="Calibri"/>
              </a:rPr>
              <a:t>Java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74926" y="1528063"/>
            <a:ext cx="7813040" cy="8680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8575">
              <a:lnSpc>
                <a:spcPct val="100000"/>
              </a:lnSpc>
              <a:spcBef>
                <a:spcPts val="105"/>
              </a:spcBef>
            </a:pPr>
            <a:r>
              <a:rPr dirty="0" u="sng" sz="1400" b="1">
                <a:solidFill>
                  <a:srgbClr val="0C6A6C"/>
                </a:solidFill>
                <a:uFill>
                  <a:solidFill>
                    <a:srgbClr val="0C6A6C"/>
                  </a:solidFill>
                </a:uFill>
                <a:latin typeface="Calibri"/>
                <a:cs typeface="Calibri"/>
              </a:rPr>
              <a:t>LENDING</a:t>
            </a:r>
            <a:r>
              <a:rPr dirty="0" u="sng" sz="1400" spc="-70" b="1">
                <a:solidFill>
                  <a:srgbClr val="0C6A6C"/>
                </a:solidFill>
                <a:uFill>
                  <a:solidFill>
                    <a:srgbClr val="0C6A6C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solidFill>
                  <a:srgbClr val="0C6A6C"/>
                </a:solidFill>
                <a:uFill>
                  <a:solidFill>
                    <a:srgbClr val="0C6A6C"/>
                  </a:solidFill>
                </a:uFill>
                <a:latin typeface="Calibri"/>
                <a:cs typeface="Calibri"/>
              </a:rPr>
              <a:t>CIRCLES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i="1">
                <a:latin typeface="Calibri"/>
                <a:cs typeface="Calibri"/>
              </a:rPr>
              <a:t>&gt;&gt;</a:t>
            </a:r>
            <a:r>
              <a:rPr dirty="0" sz="1400" spc="-3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Bridging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the</a:t>
            </a:r>
            <a:r>
              <a:rPr dirty="0" sz="1400" spc="-4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gap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by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b="1" i="1">
                <a:latin typeface="Calibri"/>
                <a:cs typeface="Calibri"/>
              </a:rPr>
              <a:t>Banking</a:t>
            </a:r>
            <a:r>
              <a:rPr dirty="0" sz="1400" spc="-55" b="1" i="1">
                <a:latin typeface="Calibri"/>
                <a:cs typeface="Calibri"/>
              </a:rPr>
              <a:t> </a:t>
            </a:r>
            <a:r>
              <a:rPr dirty="0" sz="1400" b="1" i="1">
                <a:latin typeface="Calibri"/>
                <a:cs typeface="Calibri"/>
              </a:rPr>
              <a:t>the</a:t>
            </a:r>
            <a:r>
              <a:rPr dirty="0" sz="1400" spc="-40" b="1" i="1">
                <a:latin typeface="Calibri"/>
                <a:cs typeface="Calibri"/>
              </a:rPr>
              <a:t> </a:t>
            </a:r>
            <a:r>
              <a:rPr dirty="0" sz="1400" spc="-10" b="1" i="1">
                <a:latin typeface="Calibri"/>
                <a:cs typeface="Calibri"/>
              </a:rPr>
              <a:t>Unbanked</a:t>
            </a:r>
            <a:r>
              <a:rPr dirty="0" sz="1400" spc="-50" b="1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in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Java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and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Sumatra</a:t>
            </a:r>
            <a:r>
              <a:rPr dirty="0" sz="1400" spc="-1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through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the</a:t>
            </a:r>
            <a:r>
              <a:rPr dirty="0" sz="1400" spc="-4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launch</a:t>
            </a:r>
            <a:r>
              <a:rPr dirty="0" sz="1400" spc="-1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of</a:t>
            </a:r>
            <a:r>
              <a:rPr dirty="0" sz="1400" spc="-4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Lending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Circles</a:t>
            </a:r>
            <a:r>
              <a:rPr dirty="0" sz="1400" spc="-40" i="1">
                <a:latin typeface="Calibri"/>
                <a:cs typeface="Calibri"/>
              </a:rPr>
              <a:t> </a:t>
            </a:r>
            <a:r>
              <a:rPr dirty="0" sz="1400" spc="-25" i="1">
                <a:latin typeface="Calibri"/>
                <a:cs typeface="Calibri"/>
              </a:rPr>
              <a:t>&lt;&lt;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4012" y="6317691"/>
            <a:ext cx="20675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Mission</a:t>
            </a:r>
            <a:r>
              <a:rPr dirty="0" sz="800" spc="-1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Asset</a:t>
            </a:r>
            <a:r>
              <a:rPr dirty="0" sz="800" spc="-4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Fund.</a:t>
            </a:r>
            <a:r>
              <a:rPr dirty="0" sz="800" spc="-2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IMF,</a:t>
            </a:r>
            <a:r>
              <a:rPr dirty="0" sz="800" spc="-4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Team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Analysis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30257" y="1374394"/>
            <a:ext cx="218440" cy="22453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61233" y="1295146"/>
            <a:ext cx="216916" cy="22453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90804" y="4157090"/>
            <a:ext cx="2923540" cy="116967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200" spc="-20" b="1">
                <a:latin typeface="Calibri"/>
                <a:cs typeface="Calibri"/>
              </a:rPr>
              <a:t>Targeting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10" b="1">
                <a:latin typeface="Calibri"/>
                <a:cs typeface="Calibri"/>
              </a:rPr>
              <a:t> Underutilized </a:t>
            </a:r>
            <a:r>
              <a:rPr dirty="0" sz="1200" b="1">
                <a:latin typeface="Calibri"/>
                <a:cs typeface="Calibri"/>
              </a:rPr>
              <a:t>Agriculture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Sector</a:t>
            </a:r>
            <a:endParaRPr sz="1200">
              <a:latin typeface="Calibri"/>
              <a:cs typeface="Calibri"/>
            </a:endParaRPr>
          </a:p>
          <a:p>
            <a:pPr marL="194945" indent="-17335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194945" algn="l"/>
              </a:tabLst>
            </a:pPr>
            <a:r>
              <a:rPr dirty="0" sz="1200" b="1">
                <a:latin typeface="Calibri"/>
                <a:cs typeface="Calibri"/>
              </a:rPr>
              <a:t>80%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farmers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Java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don’t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land</a:t>
            </a:r>
            <a:endParaRPr sz="1200">
              <a:latin typeface="Calibri"/>
              <a:cs typeface="Calibri"/>
            </a:endParaRPr>
          </a:p>
          <a:p>
            <a:pPr marL="194310" indent="-172720">
              <a:lnSpc>
                <a:spcPct val="100000"/>
              </a:lnSpc>
              <a:buFont typeface="Arial MT"/>
              <a:buChar char="•"/>
              <a:tabLst>
                <a:tab pos="194310" algn="l"/>
              </a:tabLst>
            </a:pPr>
            <a:r>
              <a:rPr dirty="0" sz="1200">
                <a:latin typeface="Calibri"/>
                <a:cs typeface="Calibri"/>
              </a:rPr>
              <a:t>Employs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50.69%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rural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population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  <a:p>
            <a:pPr marL="19367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Sumatra,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especially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palm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oil </a:t>
            </a:r>
            <a:r>
              <a:rPr dirty="0" sz="1200" spc="-10">
                <a:latin typeface="Calibri"/>
                <a:cs typeface="Calibri"/>
              </a:rPr>
              <a:t>production</a:t>
            </a:r>
            <a:endParaRPr sz="12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415"/>
              </a:spcBef>
            </a:pP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Rising Need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Agricultural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Loans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2548" y="2510408"/>
            <a:ext cx="1159510" cy="1157605"/>
            <a:chOff x="582548" y="2510408"/>
            <a:chExt cx="1159510" cy="1157605"/>
          </a:xfrm>
        </p:grpSpPr>
        <p:sp>
          <p:nvSpPr>
            <p:cNvPr id="24" name="object 24"/>
            <p:cNvSpPr/>
            <p:nvPr/>
          </p:nvSpPr>
          <p:spPr>
            <a:xfrm>
              <a:off x="592073" y="2519933"/>
              <a:ext cx="1140460" cy="1138555"/>
            </a:xfrm>
            <a:custGeom>
              <a:avLst/>
              <a:gdLst/>
              <a:ahLst/>
              <a:cxnLst/>
              <a:rect l="l" t="t" r="r" b="b"/>
              <a:pathLst>
                <a:path w="1140460" h="1138554">
                  <a:moveTo>
                    <a:pt x="569976" y="0"/>
                  </a:moveTo>
                  <a:lnTo>
                    <a:pt x="520795" y="2089"/>
                  </a:lnTo>
                  <a:lnTo>
                    <a:pt x="472776" y="8244"/>
                  </a:lnTo>
                  <a:lnTo>
                    <a:pt x="426091" y="18294"/>
                  </a:lnTo>
                  <a:lnTo>
                    <a:pt x="380909" y="32067"/>
                  </a:lnTo>
                  <a:lnTo>
                    <a:pt x="337402" y="49392"/>
                  </a:lnTo>
                  <a:lnTo>
                    <a:pt x="295742" y="70099"/>
                  </a:lnTo>
                  <a:lnTo>
                    <a:pt x="256099" y="94017"/>
                  </a:lnTo>
                  <a:lnTo>
                    <a:pt x="218644" y="120974"/>
                  </a:lnTo>
                  <a:lnTo>
                    <a:pt x="183549" y="150800"/>
                  </a:lnTo>
                  <a:lnTo>
                    <a:pt x="150984" y="183323"/>
                  </a:lnTo>
                  <a:lnTo>
                    <a:pt x="121121" y="218373"/>
                  </a:lnTo>
                  <a:lnTo>
                    <a:pt x="94130" y="255778"/>
                  </a:lnTo>
                  <a:lnTo>
                    <a:pt x="70183" y="295368"/>
                  </a:lnTo>
                  <a:lnTo>
                    <a:pt x="49451" y="336972"/>
                  </a:lnTo>
                  <a:lnTo>
                    <a:pt x="32105" y="380419"/>
                  </a:lnTo>
                  <a:lnTo>
                    <a:pt x="18315" y="425537"/>
                  </a:lnTo>
                  <a:lnTo>
                    <a:pt x="8254" y="472157"/>
                  </a:lnTo>
                  <a:lnTo>
                    <a:pt x="2092" y="520106"/>
                  </a:lnTo>
                  <a:lnTo>
                    <a:pt x="0" y="569213"/>
                  </a:lnTo>
                  <a:lnTo>
                    <a:pt x="2092" y="618321"/>
                  </a:lnTo>
                  <a:lnTo>
                    <a:pt x="8254" y="666270"/>
                  </a:lnTo>
                  <a:lnTo>
                    <a:pt x="18315" y="712890"/>
                  </a:lnTo>
                  <a:lnTo>
                    <a:pt x="32105" y="758008"/>
                  </a:lnTo>
                  <a:lnTo>
                    <a:pt x="49451" y="801455"/>
                  </a:lnTo>
                  <a:lnTo>
                    <a:pt x="70183" y="843059"/>
                  </a:lnTo>
                  <a:lnTo>
                    <a:pt x="94130" y="882649"/>
                  </a:lnTo>
                  <a:lnTo>
                    <a:pt x="121121" y="920054"/>
                  </a:lnTo>
                  <a:lnTo>
                    <a:pt x="150984" y="955104"/>
                  </a:lnTo>
                  <a:lnTo>
                    <a:pt x="183549" y="987627"/>
                  </a:lnTo>
                  <a:lnTo>
                    <a:pt x="218644" y="1017453"/>
                  </a:lnTo>
                  <a:lnTo>
                    <a:pt x="256099" y="1044410"/>
                  </a:lnTo>
                  <a:lnTo>
                    <a:pt x="295742" y="1068328"/>
                  </a:lnTo>
                  <a:lnTo>
                    <a:pt x="337402" y="1089035"/>
                  </a:lnTo>
                  <a:lnTo>
                    <a:pt x="380909" y="1106360"/>
                  </a:lnTo>
                  <a:lnTo>
                    <a:pt x="426091" y="1120133"/>
                  </a:lnTo>
                  <a:lnTo>
                    <a:pt x="472776" y="1130183"/>
                  </a:lnTo>
                  <a:lnTo>
                    <a:pt x="520795" y="1136338"/>
                  </a:lnTo>
                  <a:lnTo>
                    <a:pt x="569976" y="1138427"/>
                  </a:lnTo>
                  <a:lnTo>
                    <a:pt x="619161" y="1136338"/>
                  </a:lnTo>
                  <a:lnTo>
                    <a:pt x="667184" y="1130183"/>
                  </a:lnTo>
                  <a:lnTo>
                    <a:pt x="713873" y="1120133"/>
                  </a:lnTo>
                  <a:lnTo>
                    <a:pt x="759057" y="1106360"/>
                  </a:lnTo>
                  <a:lnTo>
                    <a:pt x="802565" y="1089035"/>
                  </a:lnTo>
                  <a:lnTo>
                    <a:pt x="844226" y="1068328"/>
                  </a:lnTo>
                  <a:lnTo>
                    <a:pt x="883869" y="1044410"/>
                  </a:lnTo>
                  <a:lnTo>
                    <a:pt x="921323" y="1017453"/>
                  </a:lnTo>
                  <a:lnTo>
                    <a:pt x="956417" y="987627"/>
                  </a:lnTo>
                  <a:lnTo>
                    <a:pt x="988981" y="955104"/>
                  </a:lnTo>
                  <a:lnTo>
                    <a:pt x="1018842" y="920054"/>
                  </a:lnTo>
                  <a:lnTo>
                    <a:pt x="1045831" y="882649"/>
                  </a:lnTo>
                  <a:lnTo>
                    <a:pt x="1069776" y="843059"/>
                  </a:lnTo>
                  <a:lnTo>
                    <a:pt x="1090506" y="801455"/>
                  </a:lnTo>
                  <a:lnTo>
                    <a:pt x="1107850" y="758008"/>
                  </a:lnTo>
                  <a:lnTo>
                    <a:pt x="1121638" y="712890"/>
                  </a:lnTo>
                  <a:lnTo>
                    <a:pt x="1131698" y="666270"/>
                  </a:lnTo>
                  <a:lnTo>
                    <a:pt x="1137860" y="618321"/>
                  </a:lnTo>
                  <a:lnTo>
                    <a:pt x="1139952" y="569213"/>
                  </a:lnTo>
                  <a:lnTo>
                    <a:pt x="1137860" y="520106"/>
                  </a:lnTo>
                  <a:lnTo>
                    <a:pt x="1131698" y="472157"/>
                  </a:lnTo>
                  <a:lnTo>
                    <a:pt x="1121638" y="425537"/>
                  </a:lnTo>
                  <a:lnTo>
                    <a:pt x="1107850" y="380419"/>
                  </a:lnTo>
                  <a:lnTo>
                    <a:pt x="1090506" y="336972"/>
                  </a:lnTo>
                  <a:lnTo>
                    <a:pt x="1069776" y="295368"/>
                  </a:lnTo>
                  <a:lnTo>
                    <a:pt x="1045831" y="255778"/>
                  </a:lnTo>
                  <a:lnTo>
                    <a:pt x="1018842" y="218373"/>
                  </a:lnTo>
                  <a:lnTo>
                    <a:pt x="988981" y="183323"/>
                  </a:lnTo>
                  <a:lnTo>
                    <a:pt x="956417" y="150800"/>
                  </a:lnTo>
                  <a:lnTo>
                    <a:pt x="921323" y="120974"/>
                  </a:lnTo>
                  <a:lnTo>
                    <a:pt x="883869" y="94017"/>
                  </a:lnTo>
                  <a:lnTo>
                    <a:pt x="844226" y="70099"/>
                  </a:lnTo>
                  <a:lnTo>
                    <a:pt x="802565" y="49392"/>
                  </a:lnTo>
                  <a:lnTo>
                    <a:pt x="759057" y="32067"/>
                  </a:lnTo>
                  <a:lnTo>
                    <a:pt x="713873" y="18294"/>
                  </a:lnTo>
                  <a:lnTo>
                    <a:pt x="667184" y="8244"/>
                  </a:lnTo>
                  <a:lnTo>
                    <a:pt x="619161" y="2089"/>
                  </a:lnTo>
                  <a:lnTo>
                    <a:pt x="5699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92073" y="2519933"/>
              <a:ext cx="1140460" cy="1138555"/>
            </a:xfrm>
            <a:custGeom>
              <a:avLst/>
              <a:gdLst/>
              <a:ahLst/>
              <a:cxnLst/>
              <a:rect l="l" t="t" r="r" b="b"/>
              <a:pathLst>
                <a:path w="1140460" h="1138554">
                  <a:moveTo>
                    <a:pt x="0" y="569213"/>
                  </a:moveTo>
                  <a:lnTo>
                    <a:pt x="2092" y="520106"/>
                  </a:lnTo>
                  <a:lnTo>
                    <a:pt x="8254" y="472157"/>
                  </a:lnTo>
                  <a:lnTo>
                    <a:pt x="18315" y="425537"/>
                  </a:lnTo>
                  <a:lnTo>
                    <a:pt x="32105" y="380419"/>
                  </a:lnTo>
                  <a:lnTo>
                    <a:pt x="49451" y="336972"/>
                  </a:lnTo>
                  <a:lnTo>
                    <a:pt x="70183" y="295368"/>
                  </a:lnTo>
                  <a:lnTo>
                    <a:pt x="94130" y="255778"/>
                  </a:lnTo>
                  <a:lnTo>
                    <a:pt x="121121" y="218373"/>
                  </a:lnTo>
                  <a:lnTo>
                    <a:pt x="150984" y="183323"/>
                  </a:lnTo>
                  <a:lnTo>
                    <a:pt x="183549" y="150800"/>
                  </a:lnTo>
                  <a:lnTo>
                    <a:pt x="218644" y="120974"/>
                  </a:lnTo>
                  <a:lnTo>
                    <a:pt x="256099" y="94017"/>
                  </a:lnTo>
                  <a:lnTo>
                    <a:pt x="295742" y="70099"/>
                  </a:lnTo>
                  <a:lnTo>
                    <a:pt x="337402" y="49392"/>
                  </a:lnTo>
                  <a:lnTo>
                    <a:pt x="380909" y="32067"/>
                  </a:lnTo>
                  <a:lnTo>
                    <a:pt x="426091" y="18294"/>
                  </a:lnTo>
                  <a:lnTo>
                    <a:pt x="472776" y="8244"/>
                  </a:lnTo>
                  <a:lnTo>
                    <a:pt x="520795" y="2089"/>
                  </a:lnTo>
                  <a:lnTo>
                    <a:pt x="569976" y="0"/>
                  </a:lnTo>
                  <a:lnTo>
                    <a:pt x="619161" y="2089"/>
                  </a:lnTo>
                  <a:lnTo>
                    <a:pt x="667184" y="8244"/>
                  </a:lnTo>
                  <a:lnTo>
                    <a:pt x="713873" y="18294"/>
                  </a:lnTo>
                  <a:lnTo>
                    <a:pt x="759057" y="32067"/>
                  </a:lnTo>
                  <a:lnTo>
                    <a:pt x="802565" y="49392"/>
                  </a:lnTo>
                  <a:lnTo>
                    <a:pt x="844226" y="70099"/>
                  </a:lnTo>
                  <a:lnTo>
                    <a:pt x="883869" y="94017"/>
                  </a:lnTo>
                  <a:lnTo>
                    <a:pt x="921323" y="120974"/>
                  </a:lnTo>
                  <a:lnTo>
                    <a:pt x="956417" y="150800"/>
                  </a:lnTo>
                  <a:lnTo>
                    <a:pt x="988981" y="183323"/>
                  </a:lnTo>
                  <a:lnTo>
                    <a:pt x="1018842" y="218373"/>
                  </a:lnTo>
                  <a:lnTo>
                    <a:pt x="1045831" y="255778"/>
                  </a:lnTo>
                  <a:lnTo>
                    <a:pt x="1069776" y="295368"/>
                  </a:lnTo>
                  <a:lnTo>
                    <a:pt x="1090506" y="336972"/>
                  </a:lnTo>
                  <a:lnTo>
                    <a:pt x="1107850" y="380419"/>
                  </a:lnTo>
                  <a:lnTo>
                    <a:pt x="1121638" y="425537"/>
                  </a:lnTo>
                  <a:lnTo>
                    <a:pt x="1131698" y="472157"/>
                  </a:lnTo>
                  <a:lnTo>
                    <a:pt x="1137860" y="520106"/>
                  </a:lnTo>
                  <a:lnTo>
                    <a:pt x="1139952" y="569213"/>
                  </a:lnTo>
                  <a:lnTo>
                    <a:pt x="1137860" y="618321"/>
                  </a:lnTo>
                  <a:lnTo>
                    <a:pt x="1131698" y="666270"/>
                  </a:lnTo>
                  <a:lnTo>
                    <a:pt x="1121638" y="712890"/>
                  </a:lnTo>
                  <a:lnTo>
                    <a:pt x="1107850" y="758008"/>
                  </a:lnTo>
                  <a:lnTo>
                    <a:pt x="1090506" y="801455"/>
                  </a:lnTo>
                  <a:lnTo>
                    <a:pt x="1069776" y="843059"/>
                  </a:lnTo>
                  <a:lnTo>
                    <a:pt x="1045831" y="882649"/>
                  </a:lnTo>
                  <a:lnTo>
                    <a:pt x="1018842" y="920054"/>
                  </a:lnTo>
                  <a:lnTo>
                    <a:pt x="988981" y="955104"/>
                  </a:lnTo>
                  <a:lnTo>
                    <a:pt x="956417" y="987627"/>
                  </a:lnTo>
                  <a:lnTo>
                    <a:pt x="921323" y="1017453"/>
                  </a:lnTo>
                  <a:lnTo>
                    <a:pt x="883869" y="1044410"/>
                  </a:lnTo>
                  <a:lnTo>
                    <a:pt x="844226" y="1068328"/>
                  </a:lnTo>
                  <a:lnTo>
                    <a:pt x="802565" y="1089035"/>
                  </a:lnTo>
                  <a:lnTo>
                    <a:pt x="759057" y="1106360"/>
                  </a:lnTo>
                  <a:lnTo>
                    <a:pt x="713873" y="1120133"/>
                  </a:lnTo>
                  <a:lnTo>
                    <a:pt x="667184" y="1130183"/>
                  </a:lnTo>
                  <a:lnTo>
                    <a:pt x="619161" y="1136338"/>
                  </a:lnTo>
                  <a:lnTo>
                    <a:pt x="569976" y="1138427"/>
                  </a:lnTo>
                  <a:lnTo>
                    <a:pt x="520795" y="1136338"/>
                  </a:lnTo>
                  <a:lnTo>
                    <a:pt x="472776" y="1130183"/>
                  </a:lnTo>
                  <a:lnTo>
                    <a:pt x="426091" y="1120133"/>
                  </a:lnTo>
                  <a:lnTo>
                    <a:pt x="380909" y="1106360"/>
                  </a:lnTo>
                  <a:lnTo>
                    <a:pt x="337402" y="1089035"/>
                  </a:lnTo>
                  <a:lnTo>
                    <a:pt x="295742" y="1068328"/>
                  </a:lnTo>
                  <a:lnTo>
                    <a:pt x="256099" y="1044410"/>
                  </a:lnTo>
                  <a:lnTo>
                    <a:pt x="218644" y="1017453"/>
                  </a:lnTo>
                  <a:lnTo>
                    <a:pt x="183549" y="987627"/>
                  </a:lnTo>
                  <a:lnTo>
                    <a:pt x="150984" y="955104"/>
                  </a:lnTo>
                  <a:lnTo>
                    <a:pt x="121121" y="920054"/>
                  </a:lnTo>
                  <a:lnTo>
                    <a:pt x="94130" y="882649"/>
                  </a:lnTo>
                  <a:lnTo>
                    <a:pt x="70183" y="843059"/>
                  </a:lnTo>
                  <a:lnTo>
                    <a:pt x="49451" y="801455"/>
                  </a:lnTo>
                  <a:lnTo>
                    <a:pt x="32105" y="758008"/>
                  </a:lnTo>
                  <a:lnTo>
                    <a:pt x="18315" y="712890"/>
                  </a:lnTo>
                  <a:lnTo>
                    <a:pt x="8254" y="666270"/>
                  </a:lnTo>
                  <a:lnTo>
                    <a:pt x="2092" y="618321"/>
                  </a:lnTo>
                  <a:lnTo>
                    <a:pt x="0" y="569213"/>
                  </a:lnTo>
                  <a:close/>
                </a:path>
              </a:pathLst>
            </a:custGeom>
            <a:ln w="19049">
              <a:solidFill>
                <a:srgbClr val="5C9DA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0767" y="2695955"/>
              <a:ext cx="701040" cy="70103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14172" y="3739896"/>
            <a:ext cx="1199515" cy="320040"/>
          </a:xfrm>
          <a:prstGeom prst="rect">
            <a:avLst/>
          </a:prstGeom>
          <a:solidFill>
            <a:srgbClr val="A4C8D2">
              <a:alpha val="18038"/>
            </a:srgbClr>
          </a:solidFill>
        </p:spPr>
        <p:txBody>
          <a:bodyPr wrap="square" lIns="0" tIns="24130" rIns="0" bIns="0" rtlCol="0" vert="horz">
            <a:spAutoFit/>
          </a:bodyPr>
          <a:lstStyle/>
          <a:p>
            <a:pPr marL="199390">
              <a:lnSpc>
                <a:spcPct val="100000"/>
              </a:lnSpc>
              <a:spcBef>
                <a:spcPts val="190"/>
              </a:spcBef>
            </a:pPr>
            <a:r>
              <a:rPr dirty="0" sz="1600" spc="-10" b="1">
                <a:solidFill>
                  <a:srgbClr val="0C6A6C"/>
                </a:solidFill>
                <a:latin typeface="Calibri"/>
                <a:cs typeface="Calibri"/>
              </a:rPr>
              <a:t>IDENTIFY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331589" y="2508885"/>
            <a:ext cx="1159510" cy="1159510"/>
            <a:chOff x="4331589" y="2508885"/>
            <a:chExt cx="1159510" cy="1159510"/>
          </a:xfrm>
        </p:grpSpPr>
        <p:sp>
          <p:nvSpPr>
            <p:cNvPr id="29" name="object 29"/>
            <p:cNvSpPr/>
            <p:nvPr/>
          </p:nvSpPr>
          <p:spPr>
            <a:xfrm>
              <a:off x="4341114" y="2518410"/>
              <a:ext cx="1140460" cy="1140460"/>
            </a:xfrm>
            <a:custGeom>
              <a:avLst/>
              <a:gdLst/>
              <a:ahLst/>
              <a:cxnLst/>
              <a:rect l="l" t="t" r="r" b="b"/>
              <a:pathLst>
                <a:path w="1140460" h="1140460">
                  <a:moveTo>
                    <a:pt x="569976" y="0"/>
                  </a:moveTo>
                  <a:lnTo>
                    <a:pt x="520790" y="2091"/>
                  </a:lnTo>
                  <a:lnTo>
                    <a:pt x="472767" y="8253"/>
                  </a:lnTo>
                  <a:lnTo>
                    <a:pt x="426078" y="18313"/>
                  </a:lnTo>
                  <a:lnTo>
                    <a:pt x="380894" y="32101"/>
                  </a:lnTo>
                  <a:lnTo>
                    <a:pt x="337386" y="49445"/>
                  </a:lnTo>
                  <a:lnTo>
                    <a:pt x="295725" y="70175"/>
                  </a:lnTo>
                  <a:lnTo>
                    <a:pt x="256082" y="94120"/>
                  </a:lnTo>
                  <a:lnTo>
                    <a:pt x="218628" y="121109"/>
                  </a:lnTo>
                  <a:lnTo>
                    <a:pt x="183534" y="150970"/>
                  </a:lnTo>
                  <a:lnTo>
                    <a:pt x="150970" y="183534"/>
                  </a:lnTo>
                  <a:lnTo>
                    <a:pt x="121109" y="218628"/>
                  </a:lnTo>
                  <a:lnTo>
                    <a:pt x="94120" y="256082"/>
                  </a:lnTo>
                  <a:lnTo>
                    <a:pt x="70175" y="295725"/>
                  </a:lnTo>
                  <a:lnTo>
                    <a:pt x="49445" y="337386"/>
                  </a:lnTo>
                  <a:lnTo>
                    <a:pt x="32101" y="380894"/>
                  </a:lnTo>
                  <a:lnTo>
                    <a:pt x="18313" y="426078"/>
                  </a:lnTo>
                  <a:lnTo>
                    <a:pt x="8253" y="472767"/>
                  </a:lnTo>
                  <a:lnTo>
                    <a:pt x="2091" y="520790"/>
                  </a:lnTo>
                  <a:lnTo>
                    <a:pt x="0" y="569976"/>
                  </a:lnTo>
                  <a:lnTo>
                    <a:pt x="2091" y="619161"/>
                  </a:lnTo>
                  <a:lnTo>
                    <a:pt x="8253" y="667184"/>
                  </a:lnTo>
                  <a:lnTo>
                    <a:pt x="18313" y="713873"/>
                  </a:lnTo>
                  <a:lnTo>
                    <a:pt x="32101" y="759057"/>
                  </a:lnTo>
                  <a:lnTo>
                    <a:pt x="49445" y="802565"/>
                  </a:lnTo>
                  <a:lnTo>
                    <a:pt x="70175" y="844226"/>
                  </a:lnTo>
                  <a:lnTo>
                    <a:pt x="94120" y="883869"/>
                  </a:lnTo>
                  <a:lnTo>
                    <a:pt x="121109" y="921323"/>
                  </a:lnTo>
                  <a:lnTo>
                    <a:pt x="150970" y="956417"/>
                  </a:lnTo>
                  <a:lnTo>
                    <a:pt x="183534" y="988981"/>
                  </a:lnTo>
                  <a:lnTo>
                    <a:pt x="218628" y="1018842"/>
                  </a:lnTo>
                  <a:lnTo>
                    <a:pt x="256082" y="1045831"/>
                  </a:lnTo>
                  <a:lnTo>
                    <a:pt x="295725" y="1069776"/>
                  </a:lnTo>
                  <a:lnTo>
                    <a:pt x="337386" y="1090506"/>
                  </a:lnTo>
                  <a:lnTo>
                    <a:pt x="380894" y="1107850"/>
                  </a:lnTo>
                  <a:lnTo>
                    <a:pt x="426078" y="1121638"/>
                  </a:lnTo>
                  <a:lnTo>
                    <a:pt x="472767" y="1131698"/>
                  </a:lnTo>
                  <a:lnTo>
                    <a:pt x="520790" y="1137860"/>
                  </a:lnTo>
                  <a:lnTo>
                    <a:pt x="569976" y="1139952"/>
                  </a:lnTo>
                  <a:lnTo>
                    <a:pt x="619161" y="1137860"/>
                  </a:lnTo>
                  <a:lnTo>
                    <a:pt x="667184" y="1131698"/>
                  </a:lnTo>
                  <a:lnTo>
                    <a:pt x="713873" y="1121638"/>
                  </a:lnTo>
                  <a:lnTo>
                    <a:pt x="759057" y="1107850"/>
                  </a:lnTo>
                  <a:lnTo>
                    <a:pt x="802565" y="1090506"/>
                  </a:lnTo>
                  <a:lnTo>
                    <a:pt x="844226" y="1069776"/>
                  </a:lnTo>
                  <a:lnTo>
                    <a:pt x="883869" y="1045831"/>
                  </a:lnTo>
                  <a:lnTo>
                    <a:pt x="921323" y="1018842"/>
                  </a:lnTo>
                  <a:lnTo>
                    <a:pt x="956417" y="988981"/>
                  </a:lnTo>
                  <a:lnTo>
                    <a:pt x="988981" y="956417"/>
                  </a:lnTo>
                  <a:lnTo>
                    <a:pt x="1018842" y="921323"/>
                  </a:lnTo>
                  <a:lnTo>
                    <a:pt x="1045831" y="883869"/>
                  </a:lnTo>
                  <a:lnTo>
                    <a:pt x="1069776" y="844226"/>
                  </a:lnTo>
                  <a:lnTo>
                    <a:pt x="1090506" y="802565"/>
                  </a:lnTo>
                  <a:lnTo>
                    <a:pt x="1107850" y="759057"/>
                  </a:lnTo>
                  <a:lnTo>
                    <a:pt x="1121638" y="713873"/>
                  </a:lnTo>
                  <a:lnTo>
                    <a:pt x="1131698" y="667184"/>
                  </a:lnTo>
                  <a:lnTo>
                    <a:pt x="1137860" y="619161"/>
                  </a:lnTo>
                  <a:lnTo>
                    <a:pt x="1139952" y="569976"/>
                  </a:lnTo>
                  <a:lnTo>
                    <a:pt x="1137860" y="520790"/>
                  </a:lnTo>
                  <a:lnTo>
                    <a:pt x="1131698" y="472767"/>
                  </a:lnTo>
                  <a:lnTo>
                    <a:pt x="1121638" y="426078"/>
                  </a:lnTo>
                  <a:lnTo>
                    <a:pt x="1107850" y="380894"/>
                  </a:lnTo>
                  <a:lnTo>
                    <a:pt x="1090506" y="337386"/>
                  </a:lnTo>
                  <a:lnTo>
                    <a:pt x="1069776" y="295725"/>
                  </a:lnTo>
                  <a:lnTo>
                    <a:pt x="1045831" y="256082"/>
                  </a:lnTo>
                  <a:lnTo>
                    <a:pt x="1018842" y="218628"/>
                  </a:lnTo>
                  <a:lnTo>
                    <a:pt x="988981" y="183534"/>
                  </a:lnTo>
                  <a:lnTo>
                    <a:pt x="956417" y="150970"/>
                  </a:lnTo>
                  <a:lnTo>
                    <a:pt x="921323" y="121109"/>
                  </a:lnTo>
                  <a:lnTo>
                    <a:pt x="883869" y="94120"/>
                  </a:lnTo>
                  <a:lnTo>
                    <a:pt x="844226" y="70175"/>
                  </a:lnTo>
                  <a:lnTo>
                    <a:pt x="802565" y="49445"/>
                  </a:lnTo>
                  <a:lnTo>
                    <a:pt x="759057" y="32101"/>
                  </a:lnTo>
                  <a:lnTo>
                    <a:pt x="713873" y="18313"/>
                  </a:lnTo>
                  <a:lnTo>
                    <a:pt x="667184" y="8253"/>
                  </a:lnTo>
                  <a:lnTo>
                    <a:pt x="619161" y="2091"/>
                  </a:lnTo>
                  <a:lnTo>
                    <a:pt x="5699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341114" y="2518410"/>
              <a:ext cx="1140460" cy="1140460"/>
            </a:xfrm>
            <a:custGeom>
              <a:avLst/>
              <a:gdLst/>
              <a:ahLst/>
              <a:cxnLst/>
              <a:rect l="l" t="t" r="r" b="b"/>
              <a:pathLst>
                <a:path w="1140460" h="1140460">
                  <a:moveTo>
                    <a:pt x="0" y="569976"/>
                  </a:moveTo>
                  <a:lnTo>
                    <a:pt x="2091" y="520790"/>
                  </a:lnTo>
                  <a:lnTo>
                    <a:pt x="8253" y="472767"/>
                  </a:lnTo>
                  <a:lnTo>
                    <a:pt x="18313" y="426078"/>
                  </a:lnTo>
                  <a:lnTo>
                    <a:pt x="32101" y="380894"/>
                  </a:lnTo>
                  <a:lnTo>
                    <a:pt x="49445" y="337386"/>
                  </a:lnTo>
                  <a:lnTo>
                    <a:pt x="70175" y="295725"/>
                  </a:lnTo>
                  <a:lnTo>
                    <a:pt x="94120" y="256082"/>
                  </a:lnTo>
                  <a:lnTo>
                    <a:pt x="121109" y="218628"/>
                  </a:lnTo>
                  <a:lnTo>
                    <a:pt x="150970" y="183534"/>
                  </a:lnTo>
                  <a:lnTo>
                    <a:pt x="183534" y="150970"/>
                  </a:lnTo>
                  <a:lnTo>
                    <a:pt x="218628" y="121109"/>
                  </a:lnTo>
                  <a:lnTo>
                    <a:pt x="256082" y="94120"/>
                  </a:lnTo>
                  <a:lnTo>
                    <a:pt x="295725" y="70175"/>
                  </a:lnTo>
                  <a:lnTo>
                    <a:pt x="337386" y="49445"/>
                  </a:lnTo>
                  <a:lnTo>
                    <a:pt x="380894" y="32101"/>
                  </a:lnTo>
                  <a:lnTo>
                    <a:pt x="426078" y="18313"/>
                  </a:lnTo>
                  <a:lnTo>
                    <a:pt x="472767" y="8253"/>
                  </a:lnTo>
                  <a:lnTo>
                    <a:pt x="520790" y="2091"/>
                  </a:lnTo>
                  <a:lnTo>
                    <a:pt x="569976" y="0"/>
                  </a:lnTo>
                  <a:lnTo>
                    <a:pt x="619161" y="2091"/>
                  </a:lnTo>
                  <a:lnTo>
                    <a:pt x="667184" y="8253"/>
                  </a:lnTo>
                  <a:lnTo>
                    <a:pt x="713873" y="18313"/>
                  </a:lnTo>
                  <a:lnTo>
                    <a:pt x="759057" y="32101"/>
                  </a:lnTo>
                  <a:lnTo>
                    <a:pt x="802565" y="49445"/>
                  </a:lnTo>
                  <a:lnTo>
                    <a:pt x="844226" y="70175"/>
                  </a:lnTo>
                  <a:lnTo>
                    <a:pt x="883869" y="94120"/>
                  </a:lnTo>
                  <a:lnTo>
                    <a:pt x="921323" y="121109"/>
                  </a:lnTo>
                  <a:lnTo>
                    <a:pt x="956417" y="150970"/>
                  </a:lnTo>
                  <a:lnTo>
                    <a:pt x="988981" y="183534"/>
                  </a:lnTo>
                  <a:lnTo>
                    <a:pt x="1018842" y="218628"/>
                  </a:lnTo>
                  <a:lnTo>
                    <a:pt x="1045831" y="256082"/>
                  </a:lnTo>
                  <a:lnTo>
                    <a:pt x="1069776" y="295725"/>
                  </a:lnTo>
                  <a:lnTo>
                    <a:pt x="1090506" y="337386"/>
                  </a:lnTo>
                  <a:lnTo>
                    <a:pt x="1107850" y="380894"/>
                  </a:lnTo>
                  <a:lnTo>
                    <a:pt x="1121638" y="426078"/>
                  </a:lnTo>
                  <a:lnTo>
                    <a:pt x="1131698" y="472767"/>
                  </a:lnTo>
                  <a:lnTo>
                    <a:pt x="1137860" y="520790"/>
                  </a:lnTo>
                  <a:lnTo>
                    <a:pt x="1139952" y="569976"/>
                  </a:lnTo>
                  <a:lnTo>
                    <a:pt x="1137860" y="619161"/>
                  </a:lnTo>
                  <a:lnTo>
                    <a:pt x="1131698" y="667184"/>
                  </a:lnTo>
                  <a:lnTo>
                    <a:pt x="1121638" y="713873"/>
                  </a:lnTo>
                  <a:lnTo>
                    <a:pt x="1107850" y="759057"/>
                  </a:lnTo>
                  <a:lnTo>
                    <a:pt x="1090506" y="802565"/>
                  </a:lnTo>
                  <a:lnTo>
                    <a:pt x="1069776" y="844226"/>
                  </a:lnTo>
                  <a:lnTo>
                    <a:pt x="1045831" y="883869"/>
                  </a:lnTo>
                  <a:lnTo>
                    <a:pt x="1018842" y="921323"/>
                  </a:lnTo>
                  <a:lnTo>
                    <a:pt x="988981" y="956417"/>
                  </a:lnTo>
                  <a:lnTo>
                    <a:pt x="956417" y="988981"/>
                  </a:lnTo>
                  <a:lnTo>
                    <a:pt x="921323" y="1018842"/>
                  </a:lnTo>
                  <a:lnTo>
                    <a:pt x="883869" y="1045831"/>
                  </a:lnTo>
                  <a:lnTo>
                    <a:pt x="844226" y="1069776"/>
                  </a:lnTo>
                  <a:lnTo>
                    <a:pt x="802565" y="1090506"/>
                  </a:lnTo>
                  <a:lnTo>
                    <a:pt x="759057" y="1107850"/>
                  </a:lnTo>
                  <a:lnTo>
                    <a:pt x="713873" y="1121638"/>
                  </a:lnTo>
                  <a:lnTo>
                    <a:pt x="667184" y="1131698"/>
                  </a:lnTo>
                  <a:lnTo>
                    <a:pt x="619161" y="1137860"/>
                  </a:lnTo>
                  <a:lnTo>
                    <a:pt x="569976" y="1139952"/>
                  </a:lnTo>
                  <a:lnTo>
                    <a:pt x="520790" y="1137860"/>
                  </a:lnTo>
                  <a:lnTo>
                    <a:pt x="472767" y="1131698"/>
                  </a:lnTo>
                  <a:lnTo>
                    <a:pt x="426078" y="1121638"/>
                  </a:lnTo>
                  <a:lnTo>
                    <a:pt x="380894" y="1107850"/>
                  </a:lnTo>
                  <a:lnTo>
                    <a:pt x="337386" y="1090506"/>
                  </a:lnTo>
                  <a:lnTo>
                    <a:pt x="295725" y="1069776"/>
                  </a:lnTo>
                  <a:lnTo>
                    <a:pt x="256082" y="1045831"/>
                  </a:lnTo>
                  <a:lnTo>
                    <a:pt x="218628" y="1018842"/>
                  </a:lnTo>
                  <a:lnTo>
                    <a:pt x="183534" y="988981"/>
                  </a:lnTo>
                  <a:lnTo>
                    <a:pt x="150970" y="956417"/>
                  </a:lnTo>
                  <a:lnTo>
                    <a:pt x="121109" y="921323"/>
                  </a:lnTo>
                  <a:lnTo>
                    <a:pt x="94120" y="883869"/>
                  </a:lnTo>
                  <a:lnTo>
                    <a:pt x="70175" y="844226"/>
                  </a:lnTo>
                  <a:lnTo>
                    <a:pt x="49445" y="802565"/>
                  </a:lnTo>
                  <a:lnTo>
                    <a:pt x="32101" y="759057"/>
                  </a:lnTo>
                  <a:lnTo>
                    <a:pt x="18313" y="713873"/>
                  </a:lnTo>
                  <a:lnTo>
                    <a:pt x="8253" y="667184"/>
                  </a:lnTo>
                  <a:lnTo>
                    <a:pt x="2091" y="619161"/>
                  </a:lnTo>
                  <a:lnTo>
                    <a:pt x="0" y="569976"/>
                  </a:lnTo>
                  <a:close/>
                </a:path>
              </a:pathLst>
            </a:custGeom>
            <a:ln w="19050">
              <a:solidFill>
                <a:srgbClr val="5C9DA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376928" y="3736847"/>
            <a:ext cx="1199515" cy="320040"/>
          </a:xfrm>
          <a:prstGeom prst="rect">
            <a:avLst/>
          </a:prstGeom>
          <a:solidFill>
            <a:srgbClr val="A4C8D2">
              <a:alpha val="18038"/>
            </a:srgbClr>
          </a:solidFill>
        </p:spPr>
        <p:txBody>
          <a:bodyPr wrap="square" lIns="0" tIns="22860" rIns="0" bIns="0" rtlCol="0" vert="horz">
            <a:spAutoFit/>
          </a:bodyPr>
          <a:lstStyle/>
          <a:p>
            <a:pPr marL="318135">
              <a:lnSpc>
                <a:spcPct val="100000"/>
              </a:lnSpc>
              <a:spcBef>
                <a:spcPts val="180"/>
              </a:spcBef>
            </a:pPr>
            <a:r>
              <a:rPr dirty="0" sz="1600" spc="-10" b="1">
                <a:solidFill>
                  <a:srgbClr val="0A4779"/>
                </a:solidFill>
                <a:latin typeface="Calibri"/>
                <a:cs typeface="Calibri"/>
              </a:rPr>
              <a:t>BUILD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955660" y="2514980"/>
            <a:ext cx="1159510" cy="1159510"/>
            <a:chOff x="7955660" y="2514980"/>
            <a:chExt cx="1159510" cy="1159510"/>
          </a:xfrm>
        </p:grpSpPr>
        <p:sp>
          <p:nvSpPr>
            <p:cNvPr id="33" name="object 33"/>
            <p:cNvSpPr/>
            <p:nvPr/>
          </p:nvSpPr>
          <p:spPr>
            <a:xfrm>
              <a:off x="7965185" y="2524505"/>
              <a:ext cx="1140460" cy="1140460"/>
            </a:xfrm>
            <a:custGeom>
              <a:avLst/>
              <a:gdLst/>
              <a:ahLst/>
              <a:cxnLst/>
              <a:rect l="l" t="t" r="r" b="b"/>
              <a:pathLst>
                <a:path w="1140459" h="1140460">
                  <a:moveTo>
                    <a:pt x="569976" y="0"/>
                  </a:moveTo>
                  <a:lnTo>
                    <a:pt x="520790" y="2091"/>
                  </a:lnTo>
                  <a:lnTo>
                    <a:pt x="472767" y="8253"/>
                  </a:lnTo>
                  <a:lnTo>
                    <a:pt x="426078" y="18313"/>
                  </a:lnTo>
                  <a:lnTo>
                    <a:pt x="380894" y="32101"/>
                  </a:lnTo>
                  <a:lnTo>
                    <a:pt x="337386" y="49445"/>
                  </a:lnTo>
                  <a:lnTo>
                    <a:pt x="295725" y="70175"/>
                  </a:lnTo>
                  <a:lnTo>
                    <a:pt x="256082" y="94120"/>
                  </a:lnTo>
                  <a:lnTo>
                    <a:pt x="218628" y="121109"/>
                  </a:lnTo>
                  <a:lnTo>
                    <a:pt x="183534" y="150970"/>
                  </a:lnTo>
                  <a:lnTo>
                    <a:pt x="150970" y="183534"/>
                  </a:lnTo>
                  <a:lnTo>
                    <a:pt x="121109" y="218628"/>
                  </a:lnTo>
                  <a:lnTo>
                    <a:pt x="94120" y="256082"/>
                  </a:lnTo>
                  <a:lnTo>
                    <a:pt x="70175" y="295725"/>
                  </a:lnTo>
                  <a:lnTo>
                    <a:pt x="49445" y="337386"/>
                  </a:lnTo>
                  <a:lnTo>
                    <a:pt x="32101" y="380894"/>
                  </a:lnTo>
                  <a:lnTo>
                    <a:pt x="18313" y="426078"/>
                  </a:lnTo>
                  <a:lnTo>
                    <a:pt x="8253" y="472767"/>
                  </a:lnTo>
                  <a:lnTo>
                    <a:pt x="2091" y="520790"/>
                  </a:lnTo>
                  <a:lnTo>
                    <a:pt x="0" y="569976"/>
                  </a:lnTo>
                  <a:lnTo>
                    <a:pt x="2091" y="619161"/>
                  </a:lnTo>
                  <a:lnTo>
                    <a:pt x="8253" y="667184"/>
                  </a:lnTo>
                  <a:lnTo>
                    <a:pt x="18313" y="713873"/>
                  </a:lnTo>
                  <a:lnTo>
                    <a:pt x="32101" y="759057"/>
                  </a:lnTo>
                  <a:lnTo>
                    <a:pt x="49445" y="802565"/>
                  </a:lnTo>
                  <a:lnTo>
                    <a:pt x="70175" y="844226"/>
                  </a:lnTo>
                  <a:lnTo>
                    <a:pt x="94120" y="883869"/>
                  </a:lnTo>
                  <a:lnTo>
                    <a:pt x="121109" y="921323"/>
                  </a:lnTo>
                  <a:lnTo>
                    <a:pt x="150970" y="956417"/>
                  </a:lnTo>
                  <a:lnTo>
                    <a:pt x="183534" y="988981"/>
                  </a:lnTo>
                  <a:lnTo>
                    <a:pt x="218628" y="1018842"/>
                  </a:lnTo>
                  <a:lnTo>
                    <a:pt x="256082" y="1045831"/>
                  </a:lnTo>
                  <a:lnTo>
                    <a:pt x="295725" y="1069776"/>
                  </a:lnTo>
                  <a:lnTo>
                    <a:pt x="337386" y="1090506"/>
                  </a:lnTo>
                  <a:lnTo>
                    <a:pt x="380894" y="1107850"/>
                  </a:lnTo>
                  <a:lnTo>
                    <a:pt x="426078" y="1121638"/>
                  </a:lnTo>
                  <a:lnTo>
                    <a:pt x="472767" y="1131698"/>
                  </a:lnTo>
                  <a:lnTo>
                    <a:pt x="520790" y="1137860"/>
                  </a:lnTo>
                  <a:lnTo>
                    <a:pt x="569976" y="1139952"/>
                  </a:lnTo>
                  <a:lnTo>
                    <a:pt x="619161" y="1137860"/>
                  </a:lnTo>
                  <a:lnTo>
                    <a:pt x="667184" y="1131698"/>
                  </a:lnTo>
                  <a:lnTo>
                    <a:pt x="713873" y="1121638"/>
                  </a:lnTo>
                  <a:lnTo>
                    <a:pt x="759057" y="1107850"/>
                  </a:lnTo>
                  <a:lnTo>
                    <a:pt x="802565" y="1090506"/>
                  </a:lnTo>
                  <a:lnTo>
                    <a:pt x="844226" y="1069776"/>
                  </a:lnTo>
                  <a:lnTo>
                    <a:pt x="883869" y="1045831"/>
                  </a:lnTo>
                  <a:lnTo>
                    <a:pt x="921323" y="1018842"/>
                  </a:lnTo>
                  <a:lnTo>
                    <a:pt x="956417" y="988981"/>
                  </a:lnTo>
                  <a:lnTo>
                    <a:pt x="988981" y="956417"/>
                  </a:lnTo>
                  <a:lnTo>
                    <a:pt x="1018842" y="921323"/>
                  </a:lnTo>
                  <a:lnTo>
                    <a:pt x="1045831" y="883869"/>
                  </a:lnTo>
                  <a:lnTo>
                    <a:pt x="1069776" y="844226"/>
                  </a:lnTo>
                  <a:lnTo>
                    <a:pt x="1090506" y="802565"/>
                  </a:lnTo>
                  <a:lnTo>
                    <a:pt x="1107850" y="759057"/>
                  </a:lnTo>
                  <a:lnTo>
                    <a:pt x="1121638" y="713873"/>
                  </a:lnTo>
                  <a:lnTo>
                    <a:pt x="1131698" y="667184"/>
                  </a:lnTo>
                  <a:lnTo>
                    <a:pt x="1137860" y="619161"/>
                  </a:lnTo>
                  <a:lnTo>
                    <a:pt x="1139952" y="569976"/>
                  </a:lnTo>
                  <a:lnTo>
                    <a:pt x="1137860" y="520790"/>
                  </a:lnTo>
                  <a:lnTo>
                    <a:pt x="1131698" y="472767"/>
                  </a:lnTo>
                  <a:lnTo>
                    <a:pt x="1121638" y="426078"/>
                  </a:lnTo>
                  <a:lnTo>
                    <a:pt x="1107850" y="380894"/>
                  </a:lnTo>
                  <a:lnTo>
                    <a:pt x="1090506" y="337386"/>
                  </a:lnTo>
                  <a:lnTo>
                    <a:pt x="1069776" y="295725"/>
                  </a:lnTo>
                  <a:lnTo>
                    <a:pt x="1045831" y="256082"/>
                  </a:lnTo>
                  <a:lnTo>
                    <a:pt x="1018842" y="218628"/>
                  </a:lnTo>
                  <a:lnTo>
                    <a:pt x="988981" y="183534"/>
                  </a:lnTo>
                  <a:lnTo>
                    <a:pt x="956417" y="150970"/>
                  </a:lnTo>
                  <a:lnTo>
                    <a:pt x="921323" y="121109"/>
                  </a:lnTo>
                  <a:lnTo>
                    <a:pt x="883869" y="94120"/>
                  </a:lnTo>
                  <a:lnTo>
                    <a:pt x="844226" y="70175"/>
                  </a:lnTo>
                  <a:lnTo>
                    <a:pt x="802565" y="49445"/>
                  </a:lnTo>
                  <a:lnTo>
                    <a:pt x="759057" y="32101"/>
                  </a:lnTo>
                  <a:lnTo>
                    <a:pt x="713873" y="18313"/>
                  </a:lnTo>
                  <a:lnTo>
                    <a:pt x="667184" y="8253"/>
                  </a:lnTo>
                  <a:lnTo>
                    <a:pt x="619161" y="2091"/>
                  </a:lnTo>
                  <a:lnTo>
                    <a:pt x="5699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965185" y="2524505"/>
              <a:ext cx="1140460" cy="1140460"/>
            </a:xfrm>
            <a:custGeom>
              <a:avLst/>
              <a:gdLst/>
              <a:ahLst/>
              <a:cxnLst/>
              <a:rect l="l" t="t" r="r" b="b"/>
              <a:pathLst>
                <a:path w="1140459" h="1140460">
                  <a:moveTo>
                    <a:pt x="0" y="569976"/>
                  </a:moveTo>
                  <a:lnTo>
                    <a:pt x="2091" y="520790"/>
                  </a:lnTo>
                  <a:lnTo>
                    <a:pt x="8253" y="472767"/>
                  </a:lnTo>
                  <a:lnTo>
                    <a:pt x="18313" y="426078"/>
                  </a:lnTo>
                  <a:lnTo>
                    <a:pt x="32101" y="380894"/>
                  </a:lnTo>
                  <a:lnTo>
                    <a:pt x="49445" y="337386"/>
                  </a:lnTo>
                  <a:lnTo>
                    <a:pt x="70175" y="295725"/>
                  </a:lnTo>
                  <a:lnTo>
                    <a:pt x="94120" y="256082"/>
                  </a:lnTo>
                  <a:lnTo>
                    <a:pt x="121109" y="218628"/>
                  </a:lnTo>
                  <a:lnTo>
                    <a:pt x="150970" y="183534"/>
                  </a:lnTo>
                  <a:lnTo>
                    <a:pt x="183534" y="150970"/>
                  </a:lnTo>
                  <a:lnTo>
                    <a:pt x="218628" y="121109"/>
                  </a:lnTo>
                  <a:lnTo>
                    <a:pt x="256082" y="94120"/>
                  </a:lnTo>
                  <a:lnTo>
                    <a:pt x="295725" y="70175"/>
                  </a:lnTo>
                  <a:lnTo>
                    <a:pt x="337386" y="49445"/>
                  </a:lnTo>
                  <a:lnTo>
                    <a:pt x="380894" y="32101"/>
                  </a:lnTo>
                  <a:lnTo>
                    <a:pt x="426078" y="18313"/>
                  </a:lnTo>
                  <a:lnTo>
                    <a:pt x="472767" y="8253"/>
                  </a:lnTo>
                  <a:lnTo>
                    <a:pt x="520790" y="2091"/>
                  </a:lnTo>
                  <a:lnTo>
                    <a:pt x="569976" y="0"/>
                  </a:lnTo>
                  <a:lnTo>
                    <a:pt x="619161" y="2091"/>
                  </a:lnTo>
                  <a:lnTo>
                    <a:pt x="667184" y="8253"/>
                  </a:lnTo>
                  <a:lnTo>
                    <a:pt x="713873" y="18313"/>
                  </a:lnTo>
                  <a:lnTo>
                    <a:pt x="759057" y="32101"/>
                  </a:lnTo>
                  <a:lnTo>
                    <a:pt x="802565" y="49445"/>
                  </a:lnTo>
                  <a:lnTo>
                    <a:pt x="844226" y="70175"/>
                  </a:lnTo>
                  <a:lnTo>
                    <a:pt x="883869" y="94120"/>
                  </a:lnTo>
                  <a:lnTo>
                    <a:pt x="921323" y="121109"/>
                  </a:lnTo>
                  <a:lnTo>
                    <a:pt x="956417" y="150970"/>
                  </a:lnTo>
                  <a:lnTo>
                    <a:pt x="988981" y="183534"/>
                  </a:lnTo>
                  <a:lnTo>
                    <a:pt x="1018842" y="218628"/>
                  </a:lnTo>
                  <a:lnTo>
                    <a:pt x="1045831" y="256082"/>
                  </a:lnTo>
                  <a:lnTo>
                    <a:pt x="1069776" y="295725"/>
                  </a:lnTo>
                  <a:lnTo>
                    <a:pt x="1090506" y="337386"/>
                  </a:lnTo>
                  <a:lnTo>
                    <a:pt x="1107850" y="380894"/>
                  </a:lnTo>
                  <a:lnTo>
                    <a:pt x="1121638" y="426078"/>
                  </a:lnTo>
                  <a:lnTo>
                    <a:pt x="1131698" y="472767"/>
                  </a:lnTo>
                  <a:lnTo>
                    <a:pt x="1137860" y="520790"/>
                  </a:lnTo>
                  <a:lnTo>
                    <a:pt x="1139952" y="569976"/>
                  </a:lnTo>
                  <a:lnTo>
                    <a:pt x="1137860" y="619161"/>
                  </a:lnTo>
                  <a:lnTo>
                    <a:pt x="1131698" y="667184"/>
                  </a:lnTo>
                  <a:lnTo>
                    <a:pt x="1121638" y="713873"/>
                  </a:lnTo>
                  <a:lnTo>
                    <a:pt x="1107850" y="759057"/>
                  </a:lnTo>
                  <a:lnTo>
                    <a:pt x="1090506" y="802565"/>
                  </a:lnTo>
                  <a:lnTo>
                    <a:pt x="1069776" y="844226"/>
                  </a:lnTo>
                  <a:lnTo>
                    <a:pt x="1045831" y="883869"/>
                  </a:lnTo>
                  <a:lnTo>
                    <a:pt x="1018842" y="921323"/>
                  </a:lnTo>
                  <a:lnTo>
                    <a:pt x="988981" y="956417"/>
                  </a:lnTo>
                  <a:lnTo>
                    <a:pt x="956417" y="988981"/>
                  </a:lnTo>
                  <a:lnTo>
                    <a:pt x="921323" y="1018842"/>
                  </a:lnTo>
                  <a:lnTo>
                    <a:pt x="883869" y="1045831"/>
                  </a:lnTo>
                  <a:lnTo>
                    <a:pt x="844226" y="1069776"/>
                  </a:lnTo>
                  <a:lnTo>
                    <a:pt x="802565" y="1090506"/>
                  </a:lnTo>
                  <a:lnTo>
                    <a:pt x="759057" y="1107850"/>
                  </a:lnTo>
                  <a:lnTo>
                    <a:pt x="713873" y="1121638"/>
                  </a:lnTo>
                  <a:lnTo>
                    <a:pt x="667184" y="1131698"/>
                  </a:lnTo>
                  <a:lnTo>
                    <a:pt x="619161" y="1137860"/>
                  </a:lnTo>
                  <a:lnTo>
                    <a:pt x="569976" y="1139952"/>
                  </a:lnTo>
                  <a:lnTo>
                    <a:pt x="520790" y="1137860"/>
                  </a:lnTo>
                  <a:lnTo>
                    <a:pt x="472767" y="1131698"/>
                  </a:lnTo>
                  <a:lnTo>
                    <a:pt x="426078" y="1121638"/>
                  </a:lnTo>
                  <a:lnTo>
                    <a:pt x="380894" y="1107850"/>
                  </a:lnTo>
                  <a:lnTo>
                    <a:pt x="337386" y="1090506"/>
                  </a:lnTo>
                  <a:lnTo>
                    <a:pt x="295725" y="1069776"/>
                  </a:lnTo>
                  <a:lnTo>
                    <a:pt x="256082" y="1045831"/>
                  </a:lnTo>
                  <a:lnTo>
                    <a:pt x="218628" y="1018842"/>
                  </a:lnTo>
                  <a:lnTo>
                    <a:pt x="183534" y="988981"/>
                  </a:lnTo>
                  <a:lnTo>
                    <a:pt x="150970" y="956417"/>
                  </a:lnTo>
                  <a:lnTo>
                    <a:pt x="121109" y="921323"/>
                  </a:lnTo>
                  <a:lnTo>
                    <a:pt x="94120" y="883869"/>
                  </a:lnTo>
                  <a:lnTo>
                    <a:pt x="70175" y="844226"/>
                  </a:lnTo>
                  <a:lnTo>
                    <a:pt x="49445" y="802565"/>
                  </a:lnTo>
                  <a:lnTo>
                    <a:pt x="32101" y="759057"/>
                  </a:lnTo>
                  <a:lnTo>
                    <a:pt x="18313" y="713873"/>
                  </a:lnTo>
                  <a:lnTo>
                    <a:pt x="8253" y="667184"/>
                  </a:lnTo>
                  <a:lnTo>
                    <a:pt x="2091" y="619161"/>
                  </a:lnTo>
                  <a:lnTo>
                    <a:pt x="0" y="569976"/>
                  </a:lnTo>
                  <a:close/>
                </a:path>
              </a:pathLst>
            </a:custGeom>
            <a:ln w="19050">
              <a:solidFill>
                <a:srgbClr val="5C9DA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970519" y="3729228"/>
            <a:ext cx="1201420" cy="320040"/>
          </a:xfrm>
          <a:prstGeom prst="rect">
            <a:avLst/>
          </a:prstGeom>
          <a:solidFill>
            <a:srgbClr val="A4C8D2">
              <a:alpha val="18038"/>
            </a:srgbClr>
          </a:solidFill>
        </p:spPr>
        <p:txBody>
          <a:bodyPr wrap="square" lIns="0" tIns="2032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60"/>
              </a:spcBef>
            </a:pPr>
            <a:r>
              <a:rPr dirty="0" sz="1600" spc="-10" b="1">
                <a:solidFill>
                  <a:srgbClr val="5C9DAE"/>
                </a:solidFill>
                <a:latin typeface="Calibri"/>
                <a:cs typeface="Calibri"/>
              </a:rPr>
              <a:t>IMPLEMENT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15389" y="2804286"/>
            <a:ext cx="2640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9750" algn="l"/>
                <a:tab pos="2626995" algn="l"/>
              </a:tabLst>
            </a:pPr>
            <a:r>
              <a:rPr dirty="0" u="sng" sz="1600" b="1">
                <a:solidFill>
                  <a:srgbClr val="399BD5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Financial</a:t>
            </a:r>
            <a:r>
              <a:rPr dirty="0" u="sng" sz="1600" spc="-55" b="1">
                <a:solidFill>
                  <a:srgbClr val="399BD5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spc="-10" b="1">
                <a:solidFill>
                  <a:srgbClr val="399BD5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Inclusion</a:t>
            </a:r>
            <a:r>
              <a:rPr dirty="0" u="sng" sz="1600" b="1">
                <a:solidFill>
                  <a:srgbClr val="399BD5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45693" y="4200080"/>
            <a:ext cx="160655" cy="1557020"/>
            <a:chOff x="345693" y="4200080"/>
            <a:chExt cx="160655" cy="1557020"/>
          </a:xfrm>
        </p:grpSpPr>
        <p:sp>
          <p:nvSpPr>
            <p:cNvPr id="38" name="object 38"/>
            <p:cNvSpPr/>
            <p:nvPr/>
          </p:nvSpPr>
          <p:spPr>
            <a:xfrm>
              <a:off x="419099" y="4201667"/>
              <a:ext cx="12700" cy="1553845"/>
            </a:xfrm>
            <a:custGeom>
              <a:avLst/>
              <a:gdLst/>
              <a:ahLst/>
              <a:cxnLst/>
              <a:rect l="l" t="t" r="r" b="b"/>
              <a:pathLst>
                <a:path w="12700" h="1553845">
                  <a:moveTo>
                    <a:pt x="12357" y="0"/>
                  </a:moveTo>
                  <a:lnTo>
                    <a:pt x="0" y="1553717"/>
                  </a:lnTo>
                </a:path>
              </a:pathLst>
            </a:custGeom>
            <a:ln w="3175">
              <a:solidFill>
                <a:srgbClr val="0C6A6C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7885" y="4315713"/>
              <a:ext cx="148336" cy="13309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693" y="5173725"/>
              <a:ext cx="148336" cy="133096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3949953" y="4195508"/>
            <a:ext cx="156210" cy="2170430"/>
            <a:chOff x="3949953" y="4195508"/>
            <a:chExt cx="156210" cy="2170430"/>
          </a:xfrm>
        </p:grpSpPr>
        <p:sp>
          <p:nvSpPr>
            <p:cNvPr id="42" name="object 42"/>
            <p:cNvSpPr/>
            <p:nvPr/>
          </p:nvSpPr>
          <p:spPr>
            <a:xfrm>
              <a:off x="4024883" y="4197096"/>
              <a:ext cx="12700" cy="2167255"/>
            </a:xfrm>
            <a:custGeom>
              <a:avLst/>
              <a:gdLst/>
              <a:ahLst/>
              <a:cxnLst/>
              <a:rect l="l" t="t" r="r" b="b"/>
              <a:pathLst>
                <a:path w="12700" h="2167254">
                  <a:moveTo>
                    <a:pt x="0" y="0"/>
                  </a:moveTo>
                  <a:lnTo>
                    <a:pt x="12573" y="2167216"/>
                  </a:lnTo>
                </a:path>
              </a:pathLst>
            </a:custGeom>
            <a:ln w="3175">
              <a:solidFill>
                <a:srgbClr val="0A4779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49953" y="4309618"/>
              <a:ext cx="148336" cy="13309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59097" y="4964938"/>
              <a:ext cx="146812" cy="13309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59097" y="5562346"/>
              <a:ext cx="146812" cy="133095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5464428" y="2820111"/>
            <a:ext cx="25171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8460" algn="l"/>
                <a:tab pos="2503805" algn="l"/>
              </a:tabLst>
            </a:pPr>
            <a:r>
              <a:rPr dirty="0" u="sng" sz="1600" b="1">
                <a:solidFill>
                  <a:srgbClr val="399BD5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Community</a:t>
            </a:r>
            <a:r>
              <a:rPr dirty="0" u="sng" sz="1600" spc="-70" b="1">
                <a:solidFill>
                  <a:srgbClr val="399BD5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spc="-10" b="1">
                <a:solidFill>
                  <a:srgbClr val="399BD5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Lending</a:t>
            </a:r>
            <a:r>
              <a:rPr dirty="0" u="sng" sz="1600" b="1">
                <a:solidFill>
                  <a:srgbClr val="399BD5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057390" y="4204652"/>
            <a:ext cx="156210" cy="2170430"/>
            <a:chOff x="7057390" y="4204652"/>
            <a:chExt cx="156210" cy="2170430"/>
          </a:xfrm>
        </p:grpSpPr>
        <p:sp>
          <p:nvSpPr>
            <p:cNvPr id="48" name="object 48"/>
            <p:cNvSpPr/>
            <p:nvPr/>
          </p:nvSpPr>
          <p:spPr>
            <a:xfrm>
              <a:off x="7130796" y="4206240"/>
              <a:ext cx="12700" cy="2167255"/>
            </a:xfrm>
            <a:custGeom>
              <a:avLst/>
              <a:gdLst/>
              <a:ahLst/>
              <a:cxnLst/>
              <a:rect l="l" t="t" r="r" b="b"/>
              <a:pathLst>
                <a:path w="12700" h="2167254">
                  <a:moveTo>
                    <a:pt x="0" y="0"/>
                  </a:moveTo>
                  <a:lnTo>
                    <a:pt x="12573" y="2167216"/>
                  </a:lnTo>
                </a:path>
              </a:pathLst>
            </a:custGeom>
            <a:ln w="3175">
              <a:solidFill>
                <a:srgbClr val="5C9DAE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57390" y="4320286"/>
              <a:ext cx="148335" cy="13157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66534" y="5435854"/>
              <a:ext cx="146812" cy="13309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4230115" y="4913503"/>
            <a:ext cx="2261870" cy="871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Joining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Group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dirty="0" sz="1200">
                <a:latin typeface="Calibri"/>
                <a:cs typeface="Calibri"/>
              </a:rPr>
              <a:t>Deciding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Order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dirty="0" sz="1200">
                <a:latin typeface="Calibri"/>
                <a:cs typeface="Calibri"/>
              </a:rPr>
              <a:t>Signing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200" b="1">
                <a:latin typeface="Calibri"/>
                <a:cs typeface="Calibri"/>
              </a:rPr>
              <a:t>Saving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Building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Credit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230115" y="4258817"/>
            <a:ext cx="1384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Applying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Loan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30115" y="4441697"/>
            <a:ext cx="1972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6055" algn="l"/>
              </a:tabLst>
            </a:pP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Survey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Education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Courses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384160" y="5422772"/>
            <a:ext cx="1431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Launch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Expansion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84160" y="5605678"/>
            <a:ext cx="22148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>
                <a:latin typeface="Calibri"/>
                <a:cs typeface="Calibri"/>
              </a:rPr>
              <a:t>Pilot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Java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Sumatra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facilitate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coordination</a:t>
            </a:r>
            <a:endParaRPr sz="1200">
              <a:latin typeface="Calibri"/>
              <a:cs typeface="Calibri"/>
            </a:endParaRPr>
          </a:p>
          <a:p>
            <a:pPr marL="184785" marR="238760" indent="-172720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 spc="-10">
                <a:latin typeface="Calibri"/>
                <a:cs typeface="Calibri"/>
              </a:rPr>
              <a:t>Expansion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Papua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East </a:t>
            </a:r>
            <a:r>
              <a:rPr dirty="0" sz="1200" b="1">
                <a:latin typeface="Calibri"/>
                <a:cs typeface="Calibri"/>
              </a:rPr>
              <a:t>Nusa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Tengarra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Phase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6" name="object 5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24443" y="2648711"/>
            <a:ext cx="850392" cy="850391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7389368" y="4245102"/>
            <a:ext cx="1381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Adopting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Dual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Model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89368" y="4427677"/>
            <a:ext cx="215519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5420" algn="l"/>
              </a:tabLst>
            </a:pPr>
            <a:r>
              <a:rPr dirty="0" sz="1200">
                <a:latin typeface="Calibri"/>
                <a:cs typeface="Calibri"/>
              </a:rPr>
              <a:t>Digital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communication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cities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towns</a:t>
            </a:r>
            <a:endParaRPr sz="1200">
              <a:latin typeface="Calibri"/>
              <a:cs typeface="Calibri"/>
            </a:endParaRPr>
          </a:p>
          <a:p>
            <a:pPr marL="184785" marR="5080" indent="-172720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dirty="0" sz="1200" spc="-10">
                <a:latin typeface="Calibri"/>
                <a:cs typeface="Calibri"/>
              </a:rPr>
              <a:t>Leveraging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existing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agent </a:t>
            </a:r>
            <a:r>
              <a:rPr dirty="0" sz="1200" spc="-10" b="1">
                <a:latin typeface="Calibri"/>
                <a:cs typeface="Calibri"/>
              </a:rPr>
              <a:t>network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Papua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NTT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with </a:t>
            </a:r>
            <a:r>
              <a:rPr dirty="0" sz="1200">
                <a:latin typeface="Calibri"/>
                <a:cs typeface="Calibri"/>
              </a:rPr>
              <a:t>poverty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illiteracy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&gt;20%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468879" y="6509004"/>
            <a:ext cx="209867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Phoenix:</a:t>
            </a:r>
            <a:r>
              <a:rPr dirty="0" sz="12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156961" y="6564883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9852406" y="2834386"/>
            <a:ext cx="1541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399BD5"/>
                </a:solidFill>
                <a:latin typeface="Calibri"/>
                <a:cs typeface="Calibri"/>
              </a:rPr>
              <a:t>Impact</a:t>
            </a:r>
            <a:r>
              <a:rPr dirty="0" sz="1600" spc="-45" b="1">
                <a:solidFill>
                  <a:srgbClr val="399BD5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399BD5"/>
                </a:solidFill>
                <a:latin typeface="Calibri"/>
                <a:cs typeface="Calibri"/>
              </a:rPr>
              <a:t>Generated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230115" y="5759907"/>
            <a:ext cx="21685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6055" algn="l"/>
              </a:tabLst>
            </a:pP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10">
                <a:latin typeface="Calibri"/>
                <a:cs typeface="Calibri"/>
              </a:rPr>
              <a:t> offered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0% </a:t>
            </a:r>
            <a:r>
              <a:rPr dirty="0" sz="1200" spc="-10" b="1">
                <a:latin typeface="Calibri"/>
                <a:cs typeface="Calibri"/>
              </a:rPr>
              <a:t>interest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rate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dirty="0" sz="1200" spc="-10">
                <a:latin typeface="Calibri"/>
                <a:cs typeface="Calibri"/>
              </a:rPr>
              <a:t>Payments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reported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UFH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dirty="0" sz="1200" b="1">
                <a:latin typeface="Calibri"/>
                <a:cs typeface="Calibri"/>
              </a:rPr>
              <a:t>Credit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Score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updated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7" name="object 6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535423" y="2703576"/>
            <a:ext cx="682751" cy="681227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34584" y="1091183"/>
            <a:ext cx="1024127" cy="460248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68451" y="5398832"/>
            <a:ext cx="644652" cy="866623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1406397" y="5614517"/>
            <a:ext cx="216979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b="1" i="1">
                <a:latin typeface="Calibri"/>
                <a:cs typeface="Calibri"/>
              </a:rPr>
              <a:t>Decline</a:t>
            </a:r>
            <a:r>
              <a:rPr dirty="0" sz="1000" spc="-10" b="1" i="1">
                <a:latin typeface="Calibri"/>
                <a:cs typeface="Calibri"/>
              </a:rPr>
              <a:t> </a:t>
            </a:r>
            <a:r>
              <a:rPr dirty="0" sz="1000" b="1" i="1">
                <a:latin typeface="Calibri"/>
                <a:cs typeface="Calibri"/>
              </a:rPr>
              <a:t>in</a:t>
            </a:r>
            <a:r>
              <a:rPr dirty="0" sz="1000" spc="-20" b="1" i="1">
                <a:latin typeface="Calibri"/>
                <a:cs typeface="Calibri"/>
              </a:rPr>
              <a:t> </a:t>
            </a:r>
            <a:r>
              <a:rPr dirty="0" sz="1000" b="1" i="1">
                <a:latin typeface="Calibri"/>
                <a:cs typeface="Calibri"/>
              </a:rPr>
              <a:t>Agricultural</a:t>
            </a:r>
            <a:r>
              <a:rPr dirty="0" sz="1000" spc="-10" b="1" i="1">
                <a:latin typeface="Calibri"/>
                <a:cs typeface="Calibri"/>
              </a:rPr>
              <a:t> </a:t>
            </a:r>
            <a:r>
              <a:rPr dirty="0" sz="1000" b="1" i="1">
                <a:latin typeface="Calibri"/>
                <a:cs typeface="Calibri"/>
              </a:rPr>
              <a:t>loans</a:t>
            </a:r>
            <a:r>
              <a:rPr dirty="0" sz="1000" spc="-10" b="1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as</a:t>
            </a:r>
            <a:r>
              <a:rPr dirty="0" sz="1000" spc="-2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%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of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 spc="-20" i="1">
                <a:latin typeface="Calibri"/>
                <a:cs typeface="Calibri"/>
              </a:rPr>
              <a:t>total </a:t>
            </a:r>
            <a:r>
              <a:rPr dirty="0" sz="1000" i="1">
                <a:latin typeface="Calibri"/>
                <a:cs typeface="Calibri"/>
              </a:rPr>
              <a:t>loans</a:t>
            </a:r>
            <a:r>
              <a:rPr dirty="0" sz="1000" spc="-2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while</a:t>
            </a:r>
            <a:r>
              <a:rPr dirty="0" sz="1000" spc="-2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increase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in</a:t>
            </a:r>
            <a:r>
              <a:rPr dirty="0" sz="1000" spc="-2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IDR</a:t>
            </a:r>
            <a:r>
              <a:rPr dirty="0" sz="1000" spc="-1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of</a:t>
            </a:r>
            <a:r>
              <a:rPr dirty="0" sz="1000" spc="-2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the</a:t>
            </a:r>
            <a:r>
              <a:rPr dirty="0" sz="1000" spc="-20" i="1">
                <a:latin typeface="Calibri"/>
                <a:cs typeface="Calibri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loans, </a:t>
            </a:r>
            <a:r>
              <a:rPr dirty="0" sz="1000" i="1">
                <a:latin typeface="Calibri"/>
                <a:cs typeface="Calibri"/>
              </a:rPr>
              <a:t>signifying</a:t>
            </a:r>
            <a:r>
              <a:rPr dirty="0" sz="1000" spc="-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the</a:t>
            </a:r>
            <a:r>
              <a:rPr dirty="0" sz="1000" spc="-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gap in</a:t>
            </a:r>
            <a:r>
              <a:rPr dirty="0" sz="1000" spc="-5" i="1">
                <a:latin typeface="Calibri"/>
                <a:cs typeface="Calibri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agricultural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credit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0123931" y="5076444"/>
            <a:ext cx="1411605" cy="1309370"/>
          </a:xfrm>
          <a:custGeom>
            <a:avLst/>
            <a:gdLst/>
            <a:ahLst/>
            <a:cxnLst/>
            <a:rect l="l" t="t" r="r" b="b"/>
            <a:pathLst>
              <a:path w="1411604" h="1309370">
                <a:moveTo>
                  <a:pt x="1193038" y="0"/>
                </a:moveTo>
                <a:lnTo>
                  <a:pt x="218186" y="0"/>
                </a:lnTo>
                <a:lnTo>
                  <a:pt x="168150" y="5761"/>
                </a:lnTo>
                <a:lnTo>
                  <a:pt x="122223" y="22172"/>
                </a:lnTo>
                <a:lnTo>
                  <a:pt x="81712" y="47926"/>
                </a:lnTo>
                <a:lnTo>
                  <a:pt x="47926" y="81712"/>
                </a:lnTo>
                <a:lnTo>
                  <a:pt x="22172" y="122223"/>
                </a:lnTo>
                <a:lnTo>
                  <a:pt x="5761" y="168150"/>
                </a:lnTo>
                <a:lnTo>
                  <a:pt x="0" y="218185"/>
                </a:lnTo>
                <a:lnTo>
                  <a:pt x="0" y="1090929"/>
                </a:lnTo>
                <a:lnTo>
                  <a:pt x="5761" y="1140957"/>
                </a:lnTo>
                <a:lnTo>
                  <a:pt x="22172" y="1186881"/>
                </a:lnTo>
                <a:lnTo>
                  <a:pt x="47926" y="1227392"/>
                </a:lnTo>
                <a:lnTo>
                  <a:pt x="81712" y="1261181"/>
                </a:lnTo>
                <a:lnTo>
                  <a:pt x="122223" y="1286938"/>
                </a:lnTo>
                <a:lnTo>
                  <a:pt x="168150" y="1303353"/>
                </a:lnTo>
                <a:lnTo>
                  <a:pt x="218186" y="1309115"/>
                </a:lnTo>
                <a:lnTo>
                  <a:pt x="1193038" y="1309115"/>
                </a:lnTo>
                <a:lnTo>
                  <a:pt x="1243073" y="1303353"/>
                </a:lnTo>
                <a:lnTo>
                  <a:pt x="1289000" y="1286938"/>
                </a:lnTo>
                <a:lnTo>
                  <a:pt x="1329511" y="1261181"/>
                </a:lnTo>
                <a:lnTo>
                  <a:pt x="1363297" y="1227392"/>
                </a:lnTo>
                <a:lnTo>
                  <a:pt x="1389051" y="1186881"/>
                </a:lnTo>
                <a:lnTo>
                  <a:pt x="1405462" y="1140957"/>
                </a:lnTo>
                <a:lnTo>
                  <a:pt x="1411224" y="1090929"/>
                </a:lnTo>
                <a:lnTo>
                  <a:pt x="1411224" y="218185"/>
                </a:lnTo>
                <a:lnTo>
                  <a:pt x="1405462" y="168150"/>
                </a:lnTo>
                <a:lnTo>
                  <a:pt x="1389051" y="122223"/>
                </a:lnTo>
                <a:lnTo>
                  <a:pt x="1363297" y="81712"/>
                </a:lnTo>
                <a:lnTo>
                  <a:pt x="1329511" y="47926"/>
                </a:lnTo>
                <a:lnTo>
                  <a:pt x="1289000" y="22172"/>
                </a:lnTo>
                <a:lnTo>
                  <a:pt x="1243073" y="5761"/>
                </a:lnTo>
                <a:lnTo>
                  <a:pt x="1193038" y="0"/>
                </a:lnTo>
                <a:close/>
              </a:path>
            </a:pathLst>
          </a:custGeom>
          <a:solidFill>
            <a:srgbClr val="C5DFB4">
              <a:alpha val="3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0123931" y="3558540"/>
            <a:ext cx="1411605" cy="1309370"/>
          </a:xfrm>
          <a:custGeom>
            <a:avLst/>
            <a:gdLst/>
            <a:ahLst/>
            <a:cxnLst/>
            <a:rect l="l" t="t" r="r" b="b"/>
            <a:pathLst>
              <a:path w="1411604" h="1309370">
                <a:moveTo>
                  <a:pt x="1193038" y="0"/>
                </a:moveTo>
                <a:lnTo>
                  <a:pt x="218186" y="0"/>
                </a:lnTo>
                <a:lnTo>
                  <a:pt x="168150" y="5761"/>
                </a:lnTo>
                <a:lnTo>
                  <a:pt x="122223" y="22172"/>
                </a:lnTo>
                <a:lnTo>
                  <a:pt x="81712" y="47926"/>
                </a:lnTo>
                <a:lnTo>
                  <a:pt x="47926" y="81712"/>
                </a:lnTo>
                <a:lnTo>
                  <a:pt x="22172" y="122223"/>
                </a:lnTo>
                <a:lnTo>
                  <a:pt x="5761" y="168150"/>
                </a:lnTo>
                <a:lnTo>
                  <a:pt x="0" y="218186"/>
                </a:lnTo>
                <a:lnTo>
                  <a:pt x="0" y="1090930"/>
                </a:lnTo>
                <a:lnTo>
                  <a:pt x="5761" y="1140965"/>
                </a:lnTo>
                <a:lnTo>
                  <a:pt x="22172" y="1186892"/>
                </a:lnTo>
                <a:lnTo>
                  <a:pt x="47926" y="1227403"/>
                </a:lnTo>
                <a:lnTo>
                  <a:pt x="81712" y="1261189"/>
                </a:lnTo>
                <a:lnTo>
                  <a:pt x="122223" y="1286943"/>
                </a:lnTo>
                <a:lnTo>
                  <a:pt x="168150" y="1303354"/>
                </a:lnTo>
                <a:lnTo>
                  <a:pt x="218186" y="1309116"/>
                </a:lnTo>
                <a:lnTo>
                  <a:pt x="1193038" y="1309116"/>
                </a:lnTo>
                <a:lnTo>
                  <a:pt x="1243073" y="1303354"/>
                </a:lnTo>
                <a:lnTo>
                  <a:pt x="1289000" y="1286943"/>
                </a:lnTo>
                <a:lnTo>
                  <a:pt x="1329511" y="1261189"/>
                </a:lnTo>
                <a:lnTo>
                  <a:pt x="1363297" y="1227403"/>
                </a:lnTo>
                <a:lnTo>
                  <a:pt x="1389051" y="1186892"/>
                </a:lnTo>
                <a:lnTo>
                  <a:pt x="1405462" y="1140965"/>
                </a:lnTo>
                <a:lnTo>
                  <a:pt x="1411224" y="1090930"/>
                </a:lnTo>
                <a:lnTo>
                  <a:pt x="1411224" y="218186"/>
                </a:lnTo>
                <a:lnTo>
                  <a:pt x="1405462" y="168150"/>
                </a:lnTo>
                <a:lnTo>
                  <a:pt x="1389051" y="122223"/>
                </a:lnTo>
                <a:lnTo>
                  <a:pt x="1363297" y="81712"/>
                </a:lnTo>
                <a:lnTo>
                  <a:pt x="1329511" y="47926"/>
                </a:lnTo>
                <a:lnTo>
                  <a:pt x="1289000" y="22172"/>
                </a:lnTo>
                <a:lnTo>
                  <a:pt x="1243073" y="5761"/>
                </a:lnTo>
                <a:lnTo>
                  <a:pt x="1193038" y="0"/>
                </a:lnTo>
                <a:close/>
              </a:path>
            </a:pathLst>
          </a:custGeom>
          <a:solidFill>
            <a:srgbClr val="C5DFB4">
              <a:alpha val="3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10362692" y="5301488"/>
            <a:ext cx="1010285" cy="8870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5C9DAE"/>
                </a:solidFill>
                <a:latin typeface="Calibri"/>
                <a:cs typeface="Calibri"/>
              </a:rPr>
              <a:t>2.36%</a:t>
            </a:r>
            <a:endParaRPr sz="2000">
              <a:latin typeface="Calibri"/>
              <a:cs typeface="Calibri"/>
            </a:endParaRPr>
          </a:p>
          <a:p>
            <a:pPr algn="ctr" marL="12700" marR="5080" indent="-1270">
              <a:lnSpc>
                <a:spcPct val="100000"/>
              </a:lnSpc>
              <a:spcBef>
                <a:spcPts val="60"/>
              </a:spcBef>
            </a:pPr>
            <a:r>
              <a:rPr dirty="0" sz="1200" spc="-10">
                <a:solidFill>
                  <a:srgbClr val="5C9DAE"/>
                </a:solidFill>
                <a:latin typeface="Calibri"/>
                <a:cs typeface="Calibri"/>
              </a:rPr>
              <a:t>Projected</a:t>
            </a:r>
            <a:r>
              <a:rPr dirty="0" sz="1200" spc="20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C9DAE"/>
                </a:solidFill>
                <a:latin typeface="Calibri"/>
                <a:cs typeface="Calibri"/>
              </a:rPr>
              <a:t>YoY </a:t>
            </a:r>
            <a:r>
              <a:rPr dirty="0" sz="1200">
                <a:solidFill>
                  <a:srgbClr val="5C9DAE"/>
                </a:solidFill>
                <a:latin typeface="Calibri"/>
                <a:cs typeface="Calibri"/>
              </a:rPr>
              <a:t>Rise</a:t>
            </a:r>
            <a:r>
              <a:rPr dirty="0" sz="1200" spc="-5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C9DAE"/>
                </a:solidFill>
                <a:latin typeface="Calibri"/>
                <a:cs typeface="Calibri"/>
              </a:rPr>
              <a:t>in</a:t>
            </a:r>
            <a:r>
              <a:rPr dirty="0" sz="1200" spc="-25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C9DAE"/>
                </a:solidFill>
                <a:latin typeface="Calibri"/>
                <a:cs typeface="Calibri"/>
              </a:rPr>
              <a:t>Financial Inclusion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0272141" y="3745229"/>
            <a:ext cx="1134745" cy="886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5C9DAE"/>
                </a:solidFill>
                <a:latin typeface="Calibri"/>
                <a:cs typeface="Calibri"/>
              </a:rPr>
              <a:t>800k</a:t>
            </a:r>
            <a:r>
              <a:rPr dirty="0" sz="20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2000" spc="-50" b="1">
                <a:solidFill>
                  <a:srgbClr val="5C9DAE"/>
                </a:solidFill>
                <a:latin typeface="Calibri"/>
                <a:cs typeface="Calibri"/>
              </a:rPr>
              <a:t>+</a:t>
            </a:r>
            <a:endParaRPr sz="2000">
              <a:latin typeface="Calibri"/>
              <a:cs typeface="Calibri"/>
            </a:endParaRPr>
          </a:p>
          <a:p>
            <a:pPr algn="ctr" marL="12700" marR="5080" indent="1270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solidFill>
                  <a:srgbClr val="5C9DAE"/>
                </a:solidFill>
                <a:latin typeface="Calibri"/>
                <a:cs typeface="Calibri"/>
              </a:rPr>
              <a:t>People</a:t>
            </a:r>
            <a:r>
              <a:rPr dirty="0" sz="1200" spc="-60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C9DAE"/>
                </a:solidFill>
                <a:latin typeface="Calibri"/>
                <a:cs typeface="Calibri"/>
              </a:rPr>
              <a:t>directly </a:t>
            </a:r>
            <a:r>
              <a:rPr dirty="0" sz="1200">
                <a:solidFill>
                  <a:srgbClr val="5C9DAE"/>
                </a:solidFill>
                <a:latin typeface="Calibri"/>
                <a:cs typeface="Calibri"/>
              </a:rPr>
              <a:t>impacted</a:t>
            </a:r>
            <a:r>
              <a:rPr dirty="0" sz="1200" spc="-50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C9DAE"/>
                </a:solidFill>
                <a:latin typeface="Calibri"/>
                <a:cs typeface="Calibri"/>
              </a:rPr>
              <a:t>through </a:t>
            </a:r>
            <a:r>
              <a:rPr dirty="0" sz="1200">
                <a:solidFill>
                  <a:srgbClr val="5C9DAE"/>
                </a:solidFill>
                <a:latin typeface="Calibri"/>
                <a:cs typeface="Calibri"/>
              </a:rPr>
              <a:t>Lending</a:t>
            </a:r>
            <a:r>
              <a:rPr dirty="0" sz="1200" spc="-45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C9DAE"/>
                </a:solidFill>
                <a:latin typeface="Calibri"/>
                <a:cs typeface="Calibri"/>
              </a:rPr>
              <a:t>Circles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0973181" y="3141979"/>
            <a:ext cx="10185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50" b="1" i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Refer</a:t>
            </a:r>
            <a:r>
              <a:rPr dirty="0" u="sng" sz="1050" spc="-20" b="1" i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dirty="0" u="sng" sz="1050" b="1" i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to</a:t>
            </a:r>
            <a:r>
              <a:rPr dirty="0" u="sng" sz="1050" spc="-35" b="1" i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dirty="0" u="sng" sz="1050" spc="-10" b="1" i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Appendix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9882378" y="3274314"/>
            <a:ext cx="1023619" cy="0"/>
          </a:xfrm>
          <a:custGeom>
            <a:avLst/>
            <a:gdLst/>
            <a:ahLst/>
            <a:cxnLst/>
            <a:rect l="l" t="t" r="r" b="b"/>
            <a:pathLst>
              <a:path w="1023620" h="0">
                <a:moveTo>
                  <a:pt x="0" y="0"/>
                </a:moveTo>
                <a:lnTo>
                  <a:pt x="1023366" y="0"/>
                </a:lnTo>
              </a:path>
            </a:pathLst>
          </a:custGeom>
          <a:ln w="19050">
            <a:solidFill>
              <a:srgbClr val="C5DFB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38015" y="3448811"/>
            <a:ext cx="975360" cy="399415"/>
          </a:xfrm>
          <a:custGeom>
            <a:avLst/>
            <a:gdLst/>
            <a:ahLst/>
            <a:cxnLst/>
            <a:rect l="l" t="t" r="r" b="b"/>
            <a:pathLst>
              <a:path w="975360" h="399414">
                <a:moveTo>
                  <a:pt x="908812" y="0"/>
                </a:moveTo>
                <a:lnTo>
                  <a:pt x="66548" y="0"/>
                </a:lnTo>
                <a:lnTo>
                  <a:pt x="40665" y="5236"/>
                </a:lnTo>
                <a:lnTo>
                  <a:pt x="19510" y="19510"/>
                </a:lnTo>
                <a:lnTo>
                  <a:pt x="5236" y="40665"/>
                </a:lnTo>
                <a:lnTo>
                  <a:pt x="0" y="66548"/>
                </a:lnTo>
                <a:lnTo>
                  <a:pt x="0" y="332739"/>
                </a:lnTo>
                <a:lnTo>
                  <a:pt x="5236" y="358622"/>
                </a:lnTo>
                <a:lnTo>
                  <a:pt x="19510" y="379777"/>
                </a:lnTo>
                <a:lnTo>
                  <a:pt x="40665" y="394051"/>
                </a:lnTo>
                <a:lnTo>
                  <a:pt x="66548" y="399288"/>
                </a:lnTo>
                <a:lnTo>
                  <a:pt x="908812" y="399288"/>
                </a:lnTo>
                <a:lnTo>
                  <a:pt x="934694" y="394051"/>
                </a:lnTo>
                <a:lnTo>
                  <a:pt x="955849" y="379777"/>
                </a:lnTo>
                <a:lnTo>
                  <a:pt x="970123" y="358622"/>
                </a:lnTo>
                <a:lnTo>
                  <a:pt x="975360" y="332739"/>
                </a:lnTo>
                <a:lnTo>
                  <a:pt x="975360" y="66548"/>
                </a:lnTo>
                <a:lnTo>
                  <a:pt x="970123" y="40665"/>
                </a:lnTo>
                <a:lnTo>
                  <a:pt x="955849" y="19510"/>
                </a:lnTo>
                <a:lnTo>
                  <a:pt x="934694" y="5236"/>
                </a:lnTo>
                <a:lnTo>
                  <a:pt x="908812" y="0"/>
                </a:lnTo>
                <a:close/>
              </a:path>
            </a:pathLst>
          </a:custGeom>
          <a:solidFill>
            <a:srgbClr val="F0C992">
              <a:alpha val="2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99176" y="3448811"/>
            <a:ext cx="977265" cy="399415"/>
          </a:xfrm>
          <a:custGeom>
            <a:avLst/>
            <a:gdLst/>
            <a:ahLst/>
            <a:cxnLst/>
            <a:rect l="l" t="t" r="r" b="b"/>
            <a:pathLst>
              <a:path w="977265" h="399414">
                <a:moveTo>
                  <a:pt x="910335" y="0"/>
                </a:moveTo>
                <a:lnTo>
                  <a:pt x="66548" y="0"/>
                </a:lnTo>
                <a:lnTo>
                  <a:pt x="40665" y="5236"/>
                </a:lnTo>
                <a:lnTo>
                  <a:pt x="19510" y="19510"/>
                </a:lnTo>
                <a:lnTo>
                  <a:pt x="5236" y="40665"/>
                </a:lnTo>
                <a:lnTo>
                  <a:pt x="0" y="66548"/>
                </a:lnTo>
                <a:lnTo>
                  <a:pt x="0" y="332739"/>
                </a:lnTo>
                <a:lnTo>
                  <a:pt x="5236" y="358622"/>
                </a:lnTo>
                <a:lnTo>
                  <a:pt x="19510" y="379777"/>
                </a:lnTo>
                <a:lnTo>
                  <a:pt x="40665" y="394051"/>
                </a:lnTo>
                <a:lnTo>
                  <a:pt x="66548" y="399288"/>
                </a:lnTo>
                <a:lnTo>
                  <a:pt x="910335" y="399288"/>
                </a:lnTo>
                <a:lnTo>
                  <a:pt x="936218" y="394051"/>
                </a:lnTo>
                <a:lnTo>
                  <a:pt x="957373" y="379777"/>
                </a:lnTo>
                <a:lnTo>
                  <a:pt x="971647" y="358622"/>
                </a:lnTo>
                <a:lnTo>
                  <a:pt x="976883" y="332739"/>
                </a:lnTo>
                <a:lnTo>
                  <a:pt x="976883" y="66548"/>
                </a:lnTo>
                <a:lnTo>
                  <a:pt x="971647" y="40665"/>
                </a:lnTo>
                <a:lnTo>
                  <a:pt x="957373" y="19510"/>
                </a:lnTo>
                <a:lnTo>
                  <a:pt x="936218" y="5236"/>
                </a:lnTo>
                <a:lnTo>
                  <a:pt x="910335" y="0"/>
                </a:lnTo>
                <a:close/>
              </a:path>
            </a:pathLst>
          </a:custGeom>
          <a:solidFill>
            <a:srgbClr val="F0C992">
              <a:alpha val="2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420356" y="3448811"/>
            <a:ext cx="977265" cy="399415"/>
          </a:xfrm>
          <a:custGeom>
            <a:avLst/>
            <a:gdLst/>
            <a:ahLst/>
            <a:cxnLst/>
            <a:rect l="l" t="t" r="r" b="b"/>
            <a:pathLst>
              <a:path w="977265" h="399414">
                <a:moveTo>
                  <a:pt x="910336" y="0"/>
                </a:moveTo>
                <a:lnTo>
                  <a:pt x="66548" y="0"/>
                </a:lnTo>
                <a:lnTo>
                  <a:pt x="40665" y="5236"/>
                </a:lnTo>
                <a:lnTo>
                  <a:pt x="19510" y="19510"/>
                </a:lnTo>
                <a:lnTo>
                  <a:pt x="5236" y="40665"/>
                </a:lnTo>
                <a:lnTo>
                  <a:pt x="0" y="66548"/>
                </a:lnTo>
                <a:lnTo>
                  <a:pt x="0" y="332739"/>
                </a:lnTo>
                <a:lnTo>
                  <a:pt x="5236" y="358622"/>
                </a:lnTo>
                <a:lnTo>
                  <a:pt x="19510" y="379777"/>
                </a:lnTo>
                <a:lnTo>
                  <a:pt x="40665" y="394051"/>
                </a:lnTo>
                <a:lnTo>
                  <a:pt x="66548" y="399288"/>
                </a:lnTo>
                <a:lnTo>
                  <a:pt x="910336" y="399288"/>
                </a:lnTo>
                <a:lnTo>
                  <a:pt x="936218" y="394051"/>
                </a:lnTo>
                <a:lnTo>
                  <a:pt x="957373" y="379777"/>
                </a:lnTo>
                <a:lnTo>
                  <a:pt x="971647" y="358622"/>
                </a:lnTo>
                <a:lnTo>
                  <a:pt x="976884" y="332739"/>
                </a:lnTo>
                <a:lnTo>
                  <a:pt x="976884" y="66548"/>
                </a:lnTo>
                <a:lnTo>
                  <a:pt x="971647" y="40665"/>
                </a:lnTo>
                <a:lnTo>
                  <a:pt x="957373" y="19510"/>
                </a:lnTo>
                <a:lnTo>
                  <a:pt x="936218" y="5236"/>
                </a:lnTo>
                <a:lnTo>
                  <a:pt x="910336" y="0"/>
                </a:lnTo>
                <a:close/>
              </a:path>
            </a:pathLst>
          </a:custGeom>
          <a:solidFill>
            <a:srgbClr val="F0C992">
              <a:alpha val="2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052559" y="3448811"/>
            <a:ext cx="977265" cy="399415"/>
          </a:xfrm>
          <a:custGeom>
            <a:avLst/>
            <a:gdLst/>
            <a:ahLst/>
            <a:cxnLst/>
            <a:rect l="l" t="t" r="r" b="b"/>
            <a:pathLst>
              <a:path w="977265" h="399414">
                <a:moveTo>
                  <a:pt x="910336" y="0"/>
                </a:moveTo>
                <a:lnTo>
                  <a:pt x="66548" y="0"/>
                </a:lnTo>
                <a:lnTo>
                  <a:pt x="40665" y="5236"/>
                </a:lnTo>
                <a:lnTo>
                  <a:pt x="19510" y="19510"/>
                </a:lnTo>
                <a:lnTo>
                  <a:pt x="5236" y="40665"/>
                </a:lnTo>
                <a:lnTo>
                  <a:pt x="0" y="66548"/>
                </a:lnTo>
                <a:lnTo>
                  <a:pt x="0" y="332739"/>
                </a:lnTo>
                <a:lnTo>
                  <a:pt x="5236" y="358622"/>
                </a:lnTo>
                <a:lnTo>
                  <a:pt x="19510" y="379777"/>
                </a:lnTo>
                <a:lnTo>
                  <a:pt x="40665" y="394051"/>
                </a:lnTo>
                <a:lnTo>
                  <a:pt x="66548" y="399288"/>
                </a:lnTo>
                <a:lnTo>
                  <a:pt x="910336" y="399288"/>
                </a:lnTo>
                <a:lnTo>
                  <a:pt x="936218" y="394051"/>
                </a:lnTo>
                <a:lnTo>
                  <a:pt x="957373" y="379777"/>
                </a:lnTo>
                <a:lnTo>
                  <a:pt x="971647" y="358622"/>
                </a:lnTo>
                <a:lnTo>
                  <a:pt x="976884" y="332739"/>
                </a:lnTo>
                <a:lnTo>
                  <a:pt x="976884" y="66548"/>
                </a:lnTo>
                <a:lnTo>
                  <a:pt x="971647" y="40665"/>
                </a:lnTo>
                <a:lnTo>
                  <a:pt x="957373" y="19510"/>
                </a:lnTo>
                <a:lnTo>
                  <a:pt x="936218" y="5236"/>
                </a:lnTo>
                <a:lnTo>
                  <a:pt x="910336" y="0"/>
                </a:lnTo>
                <a:close/>
              </a:path>
            </a:pathLst>
          </a:custGeom>
          <a:solidFill>
            <a:srgbClr val="F0C992">
              <a:alpha val="2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63723" y="3448811"/>
            <a:ext cx="975360" cy="399415"/>
          </a:xfrm>
          <a:custGeom>
            <a:avLst/>
            <a:gdLst/>
            <a:ahLst/>
            <a:cxnLst/>
            <a:rect l="l" t="t" r="r" b="b"/>
            <a:pathLst>
              <a:path w="975360" h="399414">
                <a:moveTo>
                  <a:pt x="908812" y="0"/>
                </a:moveTo>
                <a:lnTo>
                  <a:pt x="66548" y="0"/>
                </a:lnTo>
                <a:lnTo>
                  <a:pt x="40665" y="5236"/>
                </a:lnTo>
                <a:lnTo>
                  <a:pt x="19510" y="19510"/>
                </a:lnTo>
                <a:lnTo>
                  <a:pt x="5236" y="40665"/>
                </a:lnTo>
                <a:lnTo>
                  <a:pt x="0" y="66548"/>
                </a:lnTo>
                <a:lnTo>
                  <a:pt x="0" y="332739"/>
                </a:lnTo>
                <a:lnTo>
                  <a:pt x="5236" y="358622"/>
                </a:lnTo>
                <a:lnTo>
                  <a:pt x="19510" y="379777"/>
                </a:lnTo>
                <a:lnTo>
                  <a:pt x="40665" y="394051"/>
                </a:lnTo>
                <a:lnTo>
                  <a:pt x="66548" y="399288"/>
                </a:lnTo>
                <a:lnTo>
                  <a:pt x="908812" y="399288"/>
                </a:lnTo>
                <a:lnTo>
                  <a:pt x="934694" y="394051"/>
                </a:lnTo>
                <a:lnTo>
                  <a:pt x="955849" y="379777"/>
                </a:lnTo>
                <a:lnTo>
                  <a:pt x="970123" y="358622"/>
                </a:lnTo>
                <a:lnTo>
                  <a:pt x="975360" y="332739"/>
                </a:lnTo>
                <a:lnTo>
                  <a:pt x="975360" y="66548"/>
                </a:lnTo>
                <a:lnTo>
                  <a:pt x="970123" y="40665"/>
                </a:lnTo>
                <a:lnTo>
                  <a:pt x="955849" y="19510"/>
                </a:lnTo>
                <a:lnTo>
                  <a:pt x="934694" y="5236"/>
                </a:lnTo>
                <a:lnTo>
                  <a:pt x="908812" y="0"/>
                </a:lnTo>
                <a:close/>
              </a:path>
            </a:pathLst>
          </a:custGeom>
          <a:solidFill>
            <a:srgbClr val="F0C992">
              <a:alpha val="25881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2568" y="268224"/>
            <a:ext cx="583692" cy="58521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0"/>
            <a:ext cx="10285730" cy="116205"/>
          </a:xfrm>
          <a:custGeom>
            <a:avLst/>
            <a:gdLst/>
            <a:ahLst/>
            <a:cxnLst/>
            <a:rect l="l" t="t" r="r" b="b"/>
            <a:pathLst>
              <a:path w="10285730" h="116205">
                <a:moveTo>
                  <a:pt x="10285476" y="0"/>
                </a:moveTo>
                <a:lnTo>
                  <a:pt x="0" y="0"/>
                </a:lnTo>
                <a:lnTo>
                  <a:pt x="0" y="115824"/>
                </a:lnTo>
                <a:lnTo>
                  <a:pt x="10285476" y="115824"/>
                </a:lnTo>
                <a:lnTo>
                  <a:pt x="10285476" y="0"/>
                </a:lnTo>
                <a:close/>
              </a:path>
            </a:pathLst>
          </a:custGeom>
          <a:solidFill>
            <a:srgbClr val="0A47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556492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6E8E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285476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5C9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2023" y="6516623"/>
            <a:ext cx="2277110" cy="0"/>
          </a:xfrm>
          <a:custGeom>
            <a:avLst/>
            <a:gdLst/>
            <a:ahLst/>
            <a:cxnLst/>
            <a:rect l="l" t="t" r="r" b="b"/>
            <a:pathLst>
              <a:path w="2277110" h="0">
                <a:moveTo>
                  <a:pt x="0" y="0"/>
                </a:moveTo>
                <a:lnTo>
                  <a:pt x="2276856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67428" y="6516623"/>
            <a:ext cx="7418070" cy="0"/>
          </a:xfrm>
          <a:custGeom>
            <a:avLst/>
            <a:gdLst/>
            <a:ahLst/>
            <a:cxnLst/>
            <a:rect l="l" t="t" r="r" b="b"/>
            <a:pathLst>
              <a:path w="7418070" h="0">
                <a:moveTo>
                  <a:pt x="0" y="0"/>
                </a:moveTo>
                <a:lnTo>
                  <a:pt x="7417689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825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6.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34232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UFH’s</a:t>
            </a:r>
            <a:r>
              <a:rPr dirty="0" spc="-120"/>
              <a:t> </a:t>
            </a:r>
            <a:r>
              <a:rPr dirty="0"/>
              <a:t>CREDIT</a:t>
            </a:r>
            <a:r>
              <a:rPr dirty="0" spc="-110"/>
              <a:t> </a:t>
            </a:r>
            <a:r>
              <a:rPr dirty="0" spc="-10"/>
              <a:t>SCORING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9323" y="491489"/>
            <a:ext cx="110712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5789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Unveiling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Potential</a:t>
            </a:r>
            <a:r>
              <a:rPr dirty="0" u="sng" sz="2000" spc="-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Automated</a:t>
            </a:r>
            <a:r>
              <a:rPr dirty="0" u="sng" sz="2000" spc="-2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Processing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All-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encompassing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Credit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Score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2023" y="1283208"/>
            <a:ext cx="1393190" cy="2661285"/>
            <a:chOff x="192023" y="1283208"/>
            <a:chExt cx="1393190" cy="266128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023" y="1283208"/>
              <a:ext cx="1392721" cy="266090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2167" y="1676400"/>
              <a:ext cx="117475" cy="173990"/>
            </a:xfrm>
            <a:custGeom>
              <a:avLst/>
              <a:gdLst/>
              <a:ahLst/>
              <a:cxnLst/>
              <a:rect l="l" t="t" r="r" b="b"/>
              <a:pathLst>
                <a:path w="117475" h="173989">
                  <a:moveTo>
                    <a:pt x="117348" y="0"/>
                  </a:moveTo>
                  <a:lnTo>
                    <a:pt x="0" y="0"/>
                  </a:lnTo>
                  <a:lnTo>
                    <a:pt x="0" y="173736"/>
                  </a:lnTo>
                  <a:lnTo>
                    <a:pt x="117348" y="173736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82167" y="1676400"/>
              <a:ext cx="117475" cy="173990"/>
            </a:xfrm>
            <a:custGeom>
              <a:avLst/>
              <a:gdLst/>
              <a:ahLst/>
              <a:cxnLst/>
              <a:rect l="l" t="t" r="r" b="b"/>
              <a:pathLst>
                <a:path w="117475" h="173989">
                  <a:moveTo>
                    <a:pt x="0" y="173736"/>
                  </a:moveTo>
                  <a:lnTo>
                    <a:pt x="117348" y="173736"/>
                  </a:lnTo>
                  <a:lnTo>
                    <a:pt x="117348" y="0"/>
                  </a:lnTo>
                  <a:lnTo>
                    <a:pt x="0" y="0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92023" y="926591"/>
            <a:ext cx="11794490" cy="28384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2413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9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AI-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volution: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Optimising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Procedure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05811" y="1368552"/>
            <a:ext cx="914400" cy="835660"/>
            <a:chOff x="2305811" y="1368552"/>
            <a:chExt cx="914400" cy="835660"/>
          </a:xfrm>
        </p:grpSpPr>
        <p:sp>
          <p:nvSpPr>
            <p:cNvPr id="22" name="object 22"/>
            <p:cNvSpPr/>
            <p:nvPr/>
          </p:nvSpPr>
          <p:spPr>
            <a:xfrm>
              <a:off x="2305811" y="1368552"/>
              <a:ext cx="914400" cy="835660"/>
            </a:xfrm>
            <a:custGeom>
              <a:avLst/>
              <a:gdLst/>
              <a:ahLst/>
              <a:cxnLst/>
              <a:rect l="l" t="t" r="r" b="b"/>
              <a:pathLst>
                <a:path w="914400" h="835660">
                  <a:moveTo>
                    <a:pt x="457200" y="0"/>
                  </a:moveTo>
                  <a:lnTo>
                    <a:pt x="407388" y="2450"/>
                  </a:lnTo>
                  <a:lnTo>
                    <a:pt x="359128" y="9630"/>
                  </a:lnTo>
                  <a:lnTo>
                    <a:pt x="312700" y="21287"/>
                  </a:lnTo>
                  <a:lnTo>
                    <a:pt x="268382" y="37164"/>
                  </a:lnTo>
                  <a:lnTo>
                    <a:pt x="226455" y="57008"/>
                  </a:lnTo>
                  <a:lnTo>
                    <a:pt x="187195" y="80564"/>
                  </a:lnTo>
                  <a:lnTo>
                    <a:pt x="150884" y="107577"/>
                  </a:lnTo>
                  <a:lnTo>
                    <a:pt x="117800" y="137793"/>
                  </a:lnTo>
                  <a:lnTo>
                    <a:pt x="88221" y="170956"/>
                  </a:lnTo>
                  <a:lnTo>
                    <a:pt x="62427" y="206812"/>
                  </a:lnTo>
                  <a:lnTo>
                    <a:pt x="40697" y="245107"/>
                  </a:lnTo>
                  <a:lnTo>
                    <a:pt x="23311" y="285585"/>
                  </a:lnTo>
                  <a:lnTo>
                    <a:pt x="10546" y="327992"/>
                  </a:lnTo>
                  <a:lnTo>
                    <a:pt x="2683" y="372074"/>
                  </a:lnTo>
                  <a:lnTo>
                    <a:pt x="0" y="417575"/>
                  </a:lnTo>
                  <a:lnTo>
                    <a:pt x="2683" y="463077"/>
                  </a:lnTo>
                  <a:lnTo>
                    <a:pt x="10546" y="507159"/>
                  </a:lnTo>
                  <a:lnTo>
                    <a:pt x="23311" y="549566"/>
                  </a:lnTo>
                  <a:lnTo>
                    <a:pt x="40697" y="590044"/>
                  </a:lnTo>
                  <a:lnTo>
                    <a:pt x="62427" y="628339"/>
                  </a:lnTo>
                  <a:lnTo>
                    <a:pt x="88221" y="664195"/>
                  </a:lnTo>
                  <a:lnTo>
                    <a:pt x="117800" y="697358"/>
                  </a:lnTo>
                  <a:lnTo>
                    <a:pt x="150884" y="727574"/>
                  </a:lnTo>
                  <a:lnTo>
                    <a:pt x="187195" y="754587"/>
                  </a:lnTo>
                  <a:lnTo>
                    <a:pt x="226455" y="778143"/>
                  </a:lnTo>
                  <a:lnTo>
                    <a:pt x="268382" y="797987"/>
                  </a:lnTo>
                  <a:lnTo>
                    <a:pt x="312700" y="813864"/>
                  </a:lnTo>
                  <a:lnTo>
                    <a:pt x="359128" y="825521"/>
                  </a:lnTo>
                  <a:lnTo>
                    <a:pt x="407388" y="832701"/>
                  </a:lnTo>
                  <a:lnTo>
                    <a:pt x="457200" y="835151"/>
                  </a:lnTo>
                  <a:lnTo>
                    <a:pt x="507011" y="832701"/>
                  </a:lnTo>
                  <a:lnTo>
                    <a:pt x="555271" y="825521"/>
                  </a:lnTo>
                  <a:lnTo>
                    <a:pt x="601699" y="813864"/>
                  </a:lnTo>
                  <a:lnTo>
                    <a:pt x="646017" y="797987"/>
                  </a:lnTo>
                  <a:lnTo>
                    <a:pt x="687944" y="778143"/>
                  </a:lnTo>
                  <a:lnTo>
                    <a:pt x="727204" y="754587"/>
                  </a:lnTo>
                  <a:lnTo>
                    <a:pt x="763515" y="727574"/>
                  </a:lnTo>
                  <a:lnTo>
                    <a:pt x="796599" y="697358"/>
                  </a:lnTo>
                  <a:lnTo>
                    <a:pt x="826178" y="664195"/>
                  </a:lnTo>
                  <a:lnTo>
                    <a:pt x="851972" y="628339"/>
                  </a:lnTo>
                  <a:lnTo>
                    <a:pt x="873702" y="590044"/>
                  </a:lnTo>
                  <a:lnTo>
                    <a:pt x="891088" y="549566"/>
                  </a:lnTo>
                  <a:lnTo>
                    <a:pt x="903853" y="507159"/>
                  </a:lnTo>
                  <a:lnTo>
                    <a:pt x="911716" y="463077"/>
                  </a:lnTo>
                  <a:lnTo>
                    <a:pt x="914400" y="417575"/>
                  </a:lnTo>
                  <a:lnTo>
                    <a:pt x="911716" y="372074"/>
                  </a:lnTo>
                  <a:lnTo>
                    <a:pt x="903853" y="327992"/>
                  </a:lnTo>
                  <a:lnTo>
                    <a:pt x="891088" y="285585"/>
                  </a:lnTo>
                  <a:lnTo>
                    <a:pt x="873702" y="245107"/>
                  </a:lnTo>
                  <a:lnTo>
                    <a:pt x="851972" y="206812"/>
                  </a:lnTo>
                  <a:lnTo>
                    <a:pt x="826178" y="170956"/>
                  </a:lnTo>
                  <a:lnTo>
                    <a:pt x="796599" y="137793"/>
                  </a:lnTo>
                  <a:lnTo>
                    <a:pt x="763515" y="107577"/>
                  </a:lnTo>
                  <a:lnTo>
                    <a:pt x="727204" y="80564"/>
                  </a:lnTo>
                  <a:lnTo>
                    <a:pt x="687944" y="57008"/>
                  </a:lnTo>
                  <a:lnTo>
                    <a:pt x="646017" y="37164"/>
                  </a:lnTo>
                  <a:lnTo>
                    <a:pt x="601699" y="21287"/>
                  </a:lnTo>
                  <a:lnTo>
                    <a:pt x="555271" y="9630"/>
                  </a:lnTo>
                  <a:lnTo>
                    <a:pt x="507011" y="24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7835" y="1540764"/>
              <a:ext cx="513588" cy="51511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3968496" y="1368552"/>
            <a:ext cx="914400" cy="835660"/>
            <a:chOff x="3968496" y="1368552"/>
            <a:chExt cx="914400" cy="835660"/>
          </a:xfrm>
        </p:grpSpPr>
        <p:sp>
          <p:nvSpPr>
            <p:cNvPr id="25" name="object 25"/>
            <p:cNvSpPr/>
            <p:nvPr/>
          </p:nvSpPr>
          <p:spPr>
            <a:xfrm>
              <a:off x="3968496" y="1368552"/>
              <a:ext cx="914400" cy="835660"/>
            </a:xfrm>
            <a:custGeom>
              <a:avLst/>
              <a:gdLst/>
              <a:ahLst/>
              <a:cxnLst/>
              <a:rect l="l" t="t" r="r" b="b"/>
              <a:pathLst>
                <a:path w="914400" h="835660">
                  <a:moveTo>
                    <a:pt x="457200" y="0"/>
                  </a:moveTo>
                  <a:lnTo>
                    <a:pt x="407388" y="2450"/>
                  </a:lnTo>
                  <a:lnTo>
                    <a:pt x="359128" y="9630"/>
                  </a:lnTo>
                  <a:lnTo>
                    <a:pt x="312700" y="21287"/>
                  </a:lnTo>
                  <a:lnTo>
                    <a:pt x="268382" y="37164"/>
                  </a:lnTo>
                  <a:lnTo>
                    <a:pt x="226455" y="57008"/>
                  </a:lnTo>
                  <a:lnTo>
                    <a:pt x="187195" y="80564"/>
                  </a:lnTo>
                  <a:lnTo>
                    <a:pt x="150884" y="107577"/>
                  </a:lnTo>
                  <a:lnTo>
                    <a:pt x="117800" y="137793"/>
                  </a:lnTo>
                  <a:lnTo>
                    <a:pt x="88221" y="170956"/>
                  </a:lnTo>
                  <a:lnTo>
                    <a:pt x="62427" y="206812"/>
                  </a:lnTo>
                  <a:lnTo>
                    <a:pt x="40697" y="245107"/>
                  </a:lnTo>
                  <a:lnTo>
                    <a:pt x="23311" y="285585"/>
                  </a:lnTo>
                  <a:lnTo>
                    <a:pt x="10546" y="327992"/>
                  </a:lnTo>
                  <a:lnTo>
                    <a:pt x="2683" y="372074"/>
                  </a:lnTo>
                  <a:lnTo>
                    <a:pt x="0" y="417575"/>
                  </a:lnTo>
                  <a:lnTo>
                    <a:pt x="2683" y="463077"/>
                  </a:lnTo>
                  <a:lnTo>
                    <a:pt x="10546" y="507159"/>
                  </a:lnTo>
                  <a:lnTo>
                    <a:pt x="23311" y="549566"/>
                  </a:lnTo>
                  <a:lnTo>
                    <a:pt x="40697" y="590044"/>
                  </a:lnTo>
                  <a:lnTo>
                    <a:pt x="62427" y="628339"/>
                  </a:lnTo>
                  <a:lnTo>
                    <a:pt x="88221" y="664195"/>
                  </a:lnTo>
                  <a:lnTo>
                    <a:pt x="117800" y="697358"/>
                  </a:lnTo>
                  <a:lnTo>
                    <a:pt x="150884" y="727574"/>
                  </a:lnTo>
                  <a:lnTo>
                    <a:pt x="187195" y="754587"/>
                  </a:lnTo>
                  <a:lnTo>
                    <a:pt x="226455" y="778143"/>
                  </a:lnTo>
                  <a:lnTo>
                    <a:pt x="268382" y="797987"/>
                  </a:lnTo>
                  <a:lnTo>
                    <a:pt x="312700" y="813864"/>
                  </a:lnTo>
                  <a:lnTo>
                    <a:pt x="359128" y="825521"/>
                  </a:lnTo>
                  <a:lnTo>
                    <a:pt x="407388" y="832701"/>
                  </a:lnTo>
                  <a:lnTo>
                    <a:pt x="457200" y="835151"/>
                  </a:lnTo>
                  <a:lnTo>
                    <a:pt x="507011" y="832701"/>
                  </a:lnTo>
                  <a:lnTo>
                    <a:pt x="555271" y="825521"/>
                  </a:lnTo>
                  <a:lnTo>
                    <a:pt x="601699" y="813864"/>
                  </a:lnTo>
                  <a:lnTo>
                    <a:pt x="646017" y="797987"/>
                  </a:lnTo>
                  <a:lnTo>
                    <a:pt x="687944" y="778143"/>
                  </a:lnTo>
                  <a:lnTo>
                    <a:pt x="727204" y="754587"/>
                  </a:lnTo>
                  <a:lnTo>
                    <a:pt x="763515" y="727574"/>
                  </a:lnTo>
                  <a:lnTo>
                    <a:pt x="796599" y="697358"/>
                  </a:lnTo>
                  <a:lnTo>
                    <a:pt x="826178" y="664195"/>
                  </a:lnTo>
                  <a:lnTo>
                    <a:pt x="851972" y="628339"/>
                  </a:lnTo>
                  <a:lnTo>
                    <a:pt x="873702" y="590044"/>
                  </a:lnTo>
                  <a:lnTo>
                    <a:pt x="891088" y="549566"/>
                  </a:lnTo>
                  <a:lnTo>
                    <a:pt x="903853" y="507159"/>
                  </a:lnTo>
                  <a:lnTo>
                    <a:pt x="911716" y="463077"/>
                  </a:lnTo>
                  <a:lnTo>
                    <a:pt x="914400" y="417575"/>
                  </a:lnTo>
                  <a:lnTo>
                    <a:pt x="911716" y="372074"/>
                  </a:lnTo>
                  <a:lnTo>
                    <a:pt x="903853" y="327992"/>
                  </a:lnTo>
                  <a:lnTo>
                    <a:pt x="891088" y="285585"/>
                  </a:lnTo>
                  <a:lnTo>
                    <a:pt x="873702" y="245107"/>
                  </a:lnTo>
                  <a:lnTo>
                    <a:pt x="851972" y="206812"/>
                  </a:lnTo>
                  <a:lnTo>
                    <a:pt x="826178" y="170956"/>
                  </a:lnTo>
                  <a:lnTo>
                    <a:pt x="796599" y="137793"/>
                  </a:lnTo>
                  <a:lnTo>
                    <a:pt x="763515" y="107577"/>
                  </a:lnTo>
                  <a:lnTo>
                    <a:pt x="727204" y="80564"/>
                  </a:lnTo>
                  <a:lnTo>
                    <a:pt x="687944" y="57008"/>
                  </a:lnTo>
                  <a:lnTo>
                    <a:pt x="646017" y="37164"/>
                  </a:lnTo>
                  <a:lnTo>
                    <a:pt x="601699" y="21287"/>
                  </a:lnTo>
                  <a:lnTo>
                    <a:pt x="555271" y="9630"/>
                  </a:lnTo>
                  <a:lnTo>
                    <a:pt x="507011" y="24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2044" y="1478280"/>
              <a:ext cx="550163" cy="550163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661659" y="1368552"/>
            <a:ext cx="914400" cy="835660"/>
            <a:chOff x="5661659" y="1368552"/>
            <a:chExt cx="914400" cy="835660"/>
          </a:xfrm>
        </p:grpSpPr>
        <p:sp>
          <p:nvSpPr>
            <p:cNvPr id="28" name="object 28"/>
            <p:cNvSpPr/>
            <p:nvPr/>
          </p:nvSpPr>
          <p:spPr>
            <a:xfrm>
              <a:off x="5661659" y="1368552"/>
              <a:ext cx="914400" cy="835660"/>
            </a:xfrm>
            <a:custGeom>
              <a:avLst/>
              <a:gdLst/>
              <a:ahLst/>
              <a:cxnLst/>
              <a:rect l="l" t="t" r="r" b="b"/>
              <a:pathLst>
                <a:path w="914400" h="835660">
                  <a:moveTo>
                    <a:pt x="457200" y="0"/>
                  </a:moveTo>
                  <a:lnTo>
                    <a:pt x="407388" y="2450"/>
                  </a:lnTo>
                  <a:lnTo>
                    <a:pt x="359128" y="9630"/>
                  </a:lnTo>
                  <a:lnTo>
                    <a:pt x="312700" y="21287"/>
                  </a:lnTo>
                  <a:lnTo>
                    <a:pt x="268382" y="37164"/>
                  </a:lnTo>
                  <a:lnTo>
                    <a:pt x="226455" y="57008"/>
                  </a:lnTo>
                  <a:lnTo>
                    <a:pt x="187195" y="80564"/>
                  </a:lnTo>
                  <a:lnTo>
                    <a:pt x="150884" y="107577"/>
                  </a:lnTo>
                  <a:lnTo>
                    <a:pt x="117800" y="137793"/>
                  </a:lnTo>
                  <a:lnTo>
                    <a:pt x="88221" y="170956"/>
                  </a:lnTo>
                  <a:lnTo>
                    <a:pt x="62427" y="206812"/>
                  </a:lnTo>
                  <a:lnTo>
                    <a:pt x="40697" y="245107"/>
                  </a:lnTo>
                  <a:lnTo>
                    <a:pt x="23311" y="285585"/>
                  </a:lnTo>
                  <a:lnTo>
                    <a:pt x="10546" y="327992"/>
                  </a:lnTo>
                  <a:lnTo>
                    <a:pt x="2683" y="372074"/>
                  </a:lnTo>
                  <a:lnTo>
                    <a:pt x="0" y="417575"/>
                  </a:lnTo>
                  <a:lnTo>
                    <a:pt x="2683" y="463077"/>
                  </a:lnTo>
                  <a:lnTo>
                    <a:pt x="10546" y="507159"/>
                  </a:lnTo>
                  <a:lnTo>
                    <a:pt x="23311" y="549566"/>
                  </a:lnTo>
                  <a:lnTo>
                    <a:pt x="40697" y="590044"/>
                  </a:lnTo>
                  <a:lnTo>
                    <a:pt x="62427" y="628339"/>
                  </a:lnTo>
                  <a:lnTo>
                    <a:pt x="88221" y="664195"/>
                  </a:lnTo>
                  <a:lnTo>
                    <a:pt x="117800" y="697358"/>
                  </a:lnTo>
                  <a:lnTo>
                    <a:pt x="150884" y="727574"/>
                  </a:lnTo>
                  <a:lnTo>
                    <a:pt x="187195" y="754587"/>
                  </a:lnTo>
                  <a:lnTo>
                    <a:pt x="226455" y="778143"/>
                  </a:lnTo>
                  <a:lnTo>
                    <a:pt x="268382" y="797987"/>
                  </a:lnTo>
                  <a:lnTo>
                    <a:pt x="312700" y="813864"/>
                  </a:lnTo>
                  <a:lnTo>
                    <a:pt x="359128" y="825521"/>
                  </a:lnTo>
                  <a:lnTo>
                    <a:pt x="407388" y="832701"/>
                  </a:lnTo>
                  <a:lnTo>
                    <a:pt x="457200" y="835151"/>
                  </a:lnTo>
                  <a:lnTo>
                    <a:pt x="507011" y="832701"/>
                  </a:lnTo>
                  <a:lnTo>
                    <a:pt x="555271" y="825521"/>
                  </a:lnTo>
                  <a:lnTo>
                    <a:pt x="601699" y="813864"/>
                  </a:lnTo>
                  <a:lnTo>
                    <a:pt x="646017" y="797987"/>
                  </a:lnTo>
                  <a:lnTo>
                    <a:pt x="687944" y="778143"/>
                  </a:lnTo>
                  <a:lnTo>
                    <a:pt x="727204" y="754587"/>
                  </a:lnTo>
                  <a:lnTo>
                    <a:pt x="763515" y="727574"/>
                  </a:lnTo>
                  <a:lnTo>
                    <a:pt x="796599" y="697358"/>
                  </a:lnTo>
                  <a:lnTo>
                    <a:pt x="826178" y="664195"/>
                  </a:lnTo>
                  <a:lnTo>
                    <a:pt x="851972" y="628339"/>
                  </a:lnTo>
                  <a:lnTo>
                    <a:pt x="873702" y="590044"/>
                  </a:lnTo>
                  <a:lnTo>
                    <a:pt x="891088" y="549566"/>
                  </a:lnTo>
                  <a:lnTo>
                    <a:pt x="903853" y="507159"/>
                  </a:lnTo>
                  <a:lnTo>
                    <a:pt x="911716" y="463077"/>
                  </a:lnTo>
                  <a:lnTo>
                    <a:pt x="914399" y="417575"/>
                  </a:lnTo>
                  <a:lnTo>
                    <a:pt x="911716" y="372074"/>
                  </a:lnTo>
                  <a:lnTo>
                    <a:pt x="903853" y="327992"/>
                  </a:lnTo>
                  <a:lnTo>
                    <a:pt x="891088" y="285585"/>
                  </a:lnTo>
                  <a:lnTo>
                    <a:pt x="873702" y="245107"/>
                  </a:lnTo>
                  <a:lnTo>
                    <a:pt x="851972" y="206812"/>
                  </a:lnTo>
                  <a:lnTo>
                    <a:pt x="826178" y="170956"/>
                  </a:lnTo>
                  <a:lnTo>
                    <a:pt x="796599" y="137793"/>
                  </a:lnTo>
                  <a:lnTo>
                    <a:pt x="763515" y="107577"/>
                  </a:lnTo>
                  <a:lnTo>
                    <a:pt x="727204" y="80564"/>
                  </a:lnTo>
                  <a:lnTo>
                    <a:pt x="687944" y="57008"/>
                  </a:lnTo>
                  <a:lnTo>
                    <a:pt x="646017" y="37164"/>
                  </a:lnTo>
                  <a:lnTo>
                    <a:pt x="601699" y="21287"/>
                  </a:lnTo>
                  <a:lnTo>
                    <a:pt x="555271" y="9630"/>
                  </a:lnTo>
                  <a:lnTo>
                    <a:pt x="507011" y="24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9779" y="1490472"/>
              <a:ext cx="544068" cy="544067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7353300" y="1368552"/>
            <a:ext cx="914400" cy="835660"/>
            <a:chOff x="7353300" y="1368552"/>
            <a:chExt cx="914400" cy="835660"/>
          </a:xfrm>
        </p:grpSpPr>
        <p:sp>
          <p:nvSpPr>
            <p:cNvPr id="31" name="object 31"/>
            <p:cNvSpPr/>
            <p:nvPr/>
          </p:nvSpPr>
          <p:spPr>
            <a:xfrm>
              <a:off x="7353300" y="1368552"/>
              <a:ext cx="914400" cy="835660"/>
            </a:xfrm>
            <a:custGeom>
              <a:avLst/>
              <a:gdLst/>
              <a:ahLst/>
              <a:cxnLst/>
              <a:rect l="l" t="t" r="r" b="b"/>
              <a:pathLst>
                <a:path w="914400" h="835660">
                  <a:moveTo>
                    <a:pt x="457200" y="0"/>
                  </a:moveTo>
                  <a:lnTo>
                    <a:pt x="407388" y="2450"/>
                  </a:lnTo>
                  <a:lnTo>
                    <a:pt x="359128" y="9630"/>
                  </a:lnTo>
                  <a:lnTo>
                    <a:pt x="312700" y="21287"/>
                  </a:lnTo>
                  <a:lnTo>
                    <a:pt x="268382" y="37164"/>
                  </a:lnTo>
                  <a:lnTo>
                    <a:pt x="226455" y="57008"/>
                  </a:lnTo>
                  <a:lnTo>
                    <a:pt x="187195" y="80564"/>
                  </a:lnTo>
                  <a:lnTo>
                    <a:pt x="150884" y="107577"/>
                  </a:lnTo>
                  <a:lnTo>
                    <a:pt x="117800" y="137793"/>
                  </a:lnTo>
                  <a:lnTo>
                    <a:pt x="88221" y="170956"/>
                  </a:lnTo>
                  <a:lnTo>
                    <a:pt x="62427" y="206812"/>
                  </a:lnTo>
                  <a:lnTo>
                    <a:pt x="40697" y="245107"/>
                  </a:lnTo>
                  <a:lnTo>
                    <a:pt x="23311" y="285585"/>
                  </a:lnTo>
                  <a:lnTo>
                    <a:pt x="10546" y="327992"/>
                  </a:lnTo>
                  <a:lnTo>
                    <a:pt x="2683" y="372074"/>
                  </a:lnTo>
                  <a:lnTo>
                    <a:pt x="0" y="417575"/>
                  </a:lnTo>
                  <a:lnTo>
                    <a:pt x="2683" y="463077"/>
                  </a:lnTo>
                  <a:lnTo>
                    <a:pt x="10546" y="507159"/>
                  </a:lnTo>
                  <a:lnTo>
                    <a:pt x="23311" y="549566"/>
                  </a:lnTo>
                  <a:lnTo>
                    <a:pt x="40697" y="590044"/>
                  </a:lnTo>
                  <a:lnTo>
                    <a:pt x="62427" y="628339"/>
                  </a:lnTo>
                  <a:lnTo>
                    <a:pt x="88221" y="664195"/>
                  </a:lnTo>
                  <a:lnTo>
                    <a:pt x="117800" y="697358"/>
                  </a:lnTo>
                  <a:lnTo>
                    <a:pt x="150884" y="727574"/>
                  </a:lnTo>
                  <a:lnTo>
                    <a:pt x="187195" y="754587"/>
                  </a:lnTo>
                  <a:lnTo>
                    <a:pt x="226455" y="778143"/>
                  </a:lnTo>
                  <a:lnTo>
                    <a:pt x="268382" y="797987"/>
                  </a:lnTo>
                  <a:lnTo>
                    <a:pt x="312700" y="813864"/>
                  </a:lnTo>
                  <a:lnTo>
                    <a:pt x="359128" y="825521"/>
                  </a:lnTo>
                  <a:lnTo>
                    <a:pt x="407388" y="832701"/>
                  </a:lnTo>
                  <a:lnTo>
                    <a:pt x="457200" y="835151"/>
                  </a:lnTo>
                  <a:lnTo>
                    <a:pt x="507011" y="832701"/>
                  </a:lnTo>
                  <a:lnTo>
                    <a:pt x="555271" y="825521"/>
                  </a:lnTo>
                  <a:lnTo>
                    <a:pt x="601699" y="813864"/>
                  </a:lnTo>
                  <a:lnTo>
                    <a:pt x="646017" y="797987"/>
                  </a:lnTo>
                  <a:lnTo>
                    <a:pt x="687944" y="778143"/>
                  </a:lnTo>
                  <a:lnTo>
                    <a:pt x="727204" y="754587"/>
                  </a:lnTo>
                  <a:lnTo>
                    <a:pt x="763515" y="727574"/>
                  </a:lnTo>
                  <a:lnTo>
                    <a:pt x="796599" y="697358"/>
                  </a:lnTo>
                  <a:lnTo>
                    <a:pt x="826178" y="664195"/>
                  </a:lnTo>
                  <a:lnTo>
                    <a:pt x="851972" y="628339"/>
                  </a:lnTo>
                  <a:lnTo>
                    <a:pt x="873702" y="590044"/>
                  </a:lnTo>
                  <a:lnTo>
                    <a:pt x="891088" y="549566"/>
                  </a:lnTo>
                  <a:lnTo>
                    <a:pt x="903853" y="507159"/>
                  </a:lnTo>
                  <a:lnTo>
                    <a:pt x="911716" y="463077"/>
                  </a:lnTo>
                  <a:lnTo>
                    <a:pt x="914400" y="417575"/>
                  </a:lnTo>
                  <a:lnTo>
                    <a:pt x="911716" y="372074"/>
                  </a:lnTo>
                  <a:lnTo>
                    <a:pt x="903853" y="327992"/>
                  </a:lnTo>
                  <a:lnTo>
                    <a:pt x="891088" y="285585"/>
                  </a:lnTo>
                  <a:lnTo>
                    <a:pt x="873702" y="245107"/>
                  </a:lnTo>
                  <a:lnTo>
                    <a:pt x="851972" y="206812"/>
                  </a:lnTo>
                  <a:lnTo>
                    <a:pt x="826178" y="170956"/>
                  </a:lnTo>
                  <a:lnTo>
                    <a:pt x="796599" y="137793"/>
                  </a:lnTo>
                  <a:lnTo>
                    <a:pt x="763515" y="107577"/>
                  </a:lnTo>
                  <a:lnTo>
                    <a:pt x="727204" y="80564"/>
                  </a:lnTo>
                  <a:lnTo>
                    <a:pt x="687944" y="57008"/>
                  </a:lnTo>
                  <a:lnTo>
                    <a:pt x="646017" y="37164"/>
                  </a:lnTo>
                  <a:lnTo>
                    <a:pt x="601699" y="21287"/>
                  </a:lnTo>
                  <a:lnTo>
                    <a:pt x="555271" y="9630"/>
                  </a:lnTo>
                  <a:lnTo>
                    <a:pt x="507011" y="24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9895" y="1469136"/>
              <a:ext cx="588264" cy="588263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9046464" y="1368552"/>
            <a:ext cx="914400" cy="835660"/>
            <a:chOff x="9046464" y="1368552"/>
            <a:chExt cx="914400" cy="835660"/>
          </a:xfrm>
        </p:grpSpPr>
        <p:sp>
          <p:nvSpPr>
            <p:cNvPr id="34" name="object 34"/>
            <p:cNvSpPr/>
            <p:nvPr/>
          </p:nvSpPr>
          <p:spPr>
            <a:xfrm>
              <a:off x="9046464" y="1368552"/>
              <a:ext cx="914400" cy="835660"/>
            </a:xfrm>
            <a:custGeom>
              <a:avLst/>
              <a:gdLst/>
              <a:ahLst/>
              <a:cxnLst/>
              <a:rect l="l" t="t" r="r" b="b"/>
              <a:pathLst>
                <a:path w="914400" h="835660">
                  <a:moveTo>
                    <a:pt x="457200" y="0"/>
                  </a:moveTo>
                  <a:lnTo>
                    <a:pt x="407388" y="2450"/>
                  </a:lnTo>
                  <a:lnTo>
                    <a:pt x="359128" y="9630"/>
                  </a:lnTo>
                  <a:lnTo>
                    <a:pt x="312700" y="21287"/>
                  </a:lnTo>
                  <a:lnTo>
                    <a:pt x="268382" y="37164"/>
                  </a:lnTo>
                  <a:lnTo>
                    <a:pt x="226455" y="57008"/>
                  </a:lnTo>
                  <a:lnTo>
                    <a:pt x="187195" y="80564"/>
                  </a:lnTo>
                  <a:lnTo>
                    <a:pt x="150884" y="107577"/>
                  </a:lnTo>
                  <a:lnTo>
                    <a:pt x="117800" y="137793"/>
                  </a:lnTo>
                  <a:lnTo>
                    <a:pt x="88221" y="170956"/>
                  </a:lnTo>
                  <a:lnTo>
                    <a:pt x="62427" y="206812"/>
                  </a:lnTo>
                  <a:lnTo>
                    <a:pt x="40697" y="245107"/>
                  </a:lnTo>
                  <a:lnTo>
                    <a:pt x="23311" y="285585"/>
                  </a:lnTo>
                  <a:lnTo>
                    <a:pt x="10546" y="327992"/>
                  </a:lnTo>
                  <a:lnTo>
                    <a:pt x="2683" y="372074"/>
                  </a:lnTo>
                  <a:lnTo>
                    <a:pt x="0" y="417575"/>
                  </a:lnTo>
                  <a:lnTo>
                    <a:pt x="2683" y="463077"/>
                  </a:lnTo>
                  <a:lnTo>
                    <a:pt x="10546" y="507159"/>
                  </a:lnTo>
                  <a:lnTo>
                    <a:pt x="23311" y="549566"/>
                  </a:lnTo>
                  <a:lnTo>
                    <a:pt x="40697" y="590044"/>
                  </a:lnTo>
                  <a:lnTo>
                    <a:pt x="62427" y="628339"/>
                  </a:lnTo>
                  <a:lnTo>
                    <a:pt x="88221" y="664195"/>
                  </a:lnTo>
                  <a:lnTo>
                    <a:pt x="117800" y="697358"/>
                  </a:lnTo>
                  <a:lnTo>
                    <a:pt x="150884" y="727574"/>
                  </a:lnTo>
                  <a:lnTo>
                    <a:pt x="187195" y="754587"/>
                  </a:lnTo>
                  <a:lnTo>
                    <a:pt x="226455" y="778143"/>
                  </a:lnTo>
                  <a:lnTo>
                    <a:pt x="268382" y="797987"/>
                  </a:lnTo>
                  <a:lnTo>
                    <a:pt x="312700" y="813864"/>
                  </a:lnTo>
                  <a:lnTo>
                    <a:pt x="359128" y="825521"/>
                  </a:lnTo>
                  <a:lnTo>
                    <a:pt x="407388" y="832701"/>
                  </a:lnTo>
                  <a:lnTo>
                    <a:pt x="457200" y="835151"/>
                  </a:lnTo>
                  <a:lnTo>
                    <a:pt x="507011" y="832701"/>
                  </a:lnTo>
                  <a:lnTo>
                    <a:pt x="555271" y="825521"/>
                  </a:lnTo>
                  <a:lnTo>
                    <a:pt x="601699" y="813864"/>
                  </a:lnTo>
                  <a:lnTo>
                    <a:pt x="646017" y="797987"/>
                  </a:lnTo>
                  <a:lnTo>
                    <a:pt x="687944" y="778143"/>
                  </a:lnTo>
                  <a:lnTo>
                    <a:pt x="727204" y="754587"/>
                  </a:lnTo>
                  <a:lnTo>
                    <a:pt x="763515" y="727574"/>
                  </a:lnTo>
                  <a:lnTo>
                    <a:pt x="796599" y="697358"/>
                  </a:lnTo>
                  <a:lnTo>
                    <a:pt x="826178" y="664195"/>
                  </a:lnTo>
                  <a:lnTo>
                    <a:pt x="851972" y="628339"/>
                  </a:lnTo>
                  <a:lnTo>
                    <a:pt x="873702" y="590044"/>
                  </a:lnTo>
                  <a:lnTo>
                    <a:pt x="891088" y="549566"/>
                  </a:lnTo>
                  <a:lnTo>
                    <a:pt x="903853" y="507159"/>
                  </a:lnTo>
                  <a:lnTo>
                    <a:pt x="911716" y="463077"/>
                  </a:lnTo>
                  <a:lnTo>
                    <a:pt x="914400" y="417575"/>
                  </a:lnTo>
                  <a:lnTo>
                    <a:pt x="911716" y="372074"/>
                  </a:lnTo>
                  <a:lnTo>
                    <a:pt x="903853" y="327992"/>
                  </a:lnTo>
                  <a:lnTo>
                    <a:pt x="891088" y="285585"/>
                  </a:lnTo>
                  <a:lnTo>
                    <a:pt x="873702" y="245107"/>
                  </a:lnTo>
                  <a:lnTo>
                    <a:pt x="851972" y="206812"/>
                  </a:lnTo>
                  <a:lnTo>
                    <a:pt x="826178" y="170956"/>
                  </a:lnTo>
                  <a:lnTo>
                    <a:pt x="796599" y="137793"/>
                  </a:lnTo>
                  <a:lnTo>
                    <a:pt x="763515" y="107577"/>
                  </a:lnTo>
                  <a:lnTo>
                    <a:pt x="727204" y="80564"/>
                  </a:lnTo>
                  <a:lnTo>
                    <a:pt x="687944" y="57008"/>
                  </a:lnTo>
                  <a:lnTo>
                    <a:pt x="646017" y="37164"/>
                  </a:lnTo>
                  <a:lnTo>
                    <a:pt x="601699" y="21287"/>
                  </a:lnTo>
                  <a:lnTo>
                    <a:pt x="555271" y="9630"/>
                  </a:lnTo>
                  <a:lnTo>
                    <a:pt x="507011" y="24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52204" y="1507236"/>
              <a:ext cx="547116" cy="54711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2341879" y="2288794"/>
            <a:ext cx="896619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765" marR="5080" indent="-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Digital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Loan </a:t>
            </a:r>
            <a:r>
              <a:rPr dirty="0" sz="1400" spc="-10" b="1"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21684" y="2288794"/>
            <a:ext cx="122999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7625" marR="5080" indent="-3556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Online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form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and </a:t>
            </a:r>
            <a:r>
              <a:rPr dirty="0" sz="1400" spc="-10" b="1">
                <a:latin typeface="Calibri"/>
                <a:cs typeface="Calibri"/>
              </a:rPr>
              <a:t>documentation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81371" y="2288794"/>
            <a:ext cx="1506220" cy="879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3175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alibri"/>
                <a:cs typeface="Calibri"/>
              </a:rPr>
              <a:t>Automated Document Verification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through </a:t>
            </a:r>
            <a:r>
              <a:rPr dirty="0" sz="1400" spc="-25" b="1">
                <a:latin typeface="Calibri"/>
                <a:cs typeface="Calibri"/>
              </a:rPr>
              <a:t>OCR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86319" y="2288794"/>
            <a:ext cx="90106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Calibri"/>
                <a:cs typeface="Calibri"/>
              </a:rPr>
              <a:t>Loan </a:t>
            </a:r>
            <a:r>
              <a:rPr dirty="0" sz="1400" spc="-10" b="1">
                <a:latin typeface="Calibri"/>
                <a:cs typeface="Calibri"/>
              </a:rPr>
              <a:t>Eligibility Assessment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27769" y="2278761"/>
            <a:ext cx="132080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Auxiliary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Services (Training, Feedback)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183129" y="2334005"/>
            <a:ext cx="0" cy="944244"/>
          </a:xfrm>
          <a:custGeom>
            <a:avLst/>
            <a:gdLst/>
            <a:ahLst/>
            <a:cxnLst/>
            <a:rect l="l" t="t" r="r" b="b"/>
            <a:pathLst>
              <a:path w="0" h="944245">
                <a:moveTo>
                  <a:pt x="0" y="0"/>
                </a:moveTo>
                <a:lnTo>
                  <a:pt x="0" y="944245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183129" y="3429761"/>
            <a:ext cx="0" cy="437515"/>
          </a:xfrm>
          <a:custGeom>
            <a:avLst/>
            <a:gdLst/>
            <a:ahLst/>
            <a:cxnLst/>
            <a:rect l="l" t="t" r="r" b="b"/>
            <a:pathLst>
              <a:path w="0" h="437514">
                <a:moveTo>
                  <a:pt x="0" y="0"/>
                </a:moveTo>
                <a:lnTo>
                  <a:pt x="0" y="437261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42315" y="4120896"/>
            <a:ext cx="11793220" cy="28384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241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Eligibility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Assessment: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Deep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Dive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67585" y="2380185"/>
            <a:ext cx="360680" cy="7867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 sz="1200" spc="-10" b="1">
                <a:latin typeface="Calibri"/>
                <a:cs typeface="Calibri"/>
              </a:rPr>
              <a:t>Automation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Process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98422" y="3313979"/>
            <a:ext cx="543560" cy="6572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 b="1">
                <a:latin typeface="Calibri"/>
                <a:cs typeface="Calibri"/>
              </a:rPr>
              <a:t>Estimated</a:t>
            </a:r>
            <a:endParaRPr sz="1200">
              <a:latin typeface="Calibri"/>
              <a:cs typeface="Calibri"/>
            </a:endParaRPr>
          </a:p>
          <a:p>
            <a:pPr marL="170815" marR="9525" indent="-15557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Savings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in </a:t>
            </a:r>
            <a:r>
              <a:rPr dirty="0" sz="1200" spc="-20" b="1">
                <a:latin typeface="Calibri"/>
                <a:cs typeface="Calibri"/>
              </a:rPr>
              <a:t>Time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61641" y="3460826"/>
            <a:ext cx="747458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20520" algn="l"/>
                <a:tab pos="3291840" algn="l"/>
                <a:tab pos="5072380" algn="l"/>
                <a:tab pos="6753859" algn="l"/>
              </a:tabLst>
            </a:pPr>
            <a:r>
              <a:rPr dirty="0" baseline="1388" sz="3000" b="1">
                <a:solidFill>
                  <a:srgbClr val="5C9DAE"/>
                </a:solidFill>
                <a:latin typeface="Calibri"/>
                <a:cs typeface="Calibri"/>
              </a:rPr>
              <a:t>5.5</a:t>
            </a:r>
            <a:r>
              <a:rPr dirty="0" baseline="1388" sz="3000" spc="-22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baseline="1388" sz="3000" spc="-37" b="1">
                <a:solidFill>
                  <a:srgbClr val="5C9DAE"/>
                </a:solidFill>
                <a:latin typeface="Calibri"/>
                <a:cs typeface="Calibri"/>
              </a:rPr>
              <a:t>hrs</a:t>
            </a:r>
            <a:r>
              <a:rPr dirty="0" baseline="1388" sz="3000" b="1">
                <a:solidFill>
                  <a:srgbClr val="5C9DAE"/>
                </a:solidFill>
                <a:latin typeface="Calibri"/>
                <a:cs typeface="Calibri"/>
              </a:rPr>
              <a:t>	</a:t>
            </a:r>
            <a:r>
              <a:rPr dirty="0" baseline="2777" sz="3000" b="1">
                <a:solidFill>
                  <a:srgbClr val="5C9DAE"/>
                </a:solidFill>
                <a:latin typeface="Calibri"/>
                <a:cs typeface="Calibri"/>
              </a:rPr>
              <a:t>4.5</a:t>
            </a:r>
            <a:r>
              <a:rPr dirty="0" baseline="2777" sz="3000" spc="-3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baseline="2777" sz="3000" spc="-37" b="1">
                <a:solidFill>
                  <a:srgbClr val="5C9DAE"/>
                </a:solidFill>
                <a:latin typeface="Calibri"/>
                <a:cs typeface="Calibri"/>
              </a:rPr>
              <a:t>hrs</a:t>
            </a:r>
            <a:r>
              <a:rPr dirty="0" baseline="2777" sz="3000" b="1">
                <a:solidFill>
                  <a:srgbClr val="5C9DAE"/>
                </a:solidFill>
                <a:latin typeface="Calibri"/>
                <a:cs typeface="Calibri"/>
              </a:rPr>
              <a:t>	</a:t>
            </a:r>
            <a:r>
              <a:rPr dirty="0" sz="2000" b="1">
                <a:solidFill>
                  <a:srgbClr val="5C9DAE"/>
                </a:solidFill>
                <a:latin typeface="Calibri"/>
                <a:cs typeface="Calibri"/>
              </a:rPr>
              <a:t>3.2</a:t>
            </a:r>
            <a:r>
              <a:rPr dirty="0" sz="2000" spc="-2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5C9DAE"/>
                </a:solidFill>
                <a:latin typeface="Calibri"/>
                <a:cs typeface="Calibri"/>
              </a:rPr>
              <a:t>hrs</a:t>
            </a:r>
            <a:r>
              <a:rPr dirty="0" sz="2000" b="1">
                <a:solidFill>
                  <a:srgbClr val="5C9DAE"/>
                </a:solidFill>
                <a:latin typeface="Calibri"/>
                <a:cs typeface="Calibri"/>
              </a:rPr>
              <a:t>	</a:t>
            </a:r>
            <a:r>
              <a:rPr dirty="0" baseline="1388" sz="3000" b="1">
                <a:solidFill>
                  <a:srgbClr val="5C9DAE"/>
                </a:solidFill>
                <a:latin typeface="Calibri"/>
                <a:cs typeface="Calibri"/>
              </a:rPr>
              <a:t>4.9</a:t>
            </a:r>
            <a:r>
              <a:rPr dirty="0" baseline="1388" sz="3000" spc="-3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baseline="1388" sz="3000" spc="-37" b="1">
                <a:solidFill>
                  <a:srgbClr val="5C9DAE"/>
                </a:solidFill>
                <a:latin typeface="Calibri"/>
                <a:cs typeface="Calibri"/>
              </a:rPr>
              <a:t>hrs</a:t>
            </a:r>
            <a:r>
              <a:rPr dirty="0" baseline="1388" sz="3000" b="1">
                <a:solidFill>
                  <a:srgbClr val="5C9DAE"/>
                </a:solidFill>
                <a:latin typeface="Calibri"/>
                <a:cs typeface="Calibri"/>
              </a:rPr>
              <a:t>	</a:t>
            </a:r>
            <a:r>
              <a:rPr dirty="0" sz="2000" b="1">
                <a:solidFill>
                  <a:srgbClr val="5C9DAE"/>
                </a:solidFill>
                <a:latin typeface="Calibri"/>
                <a:cs typeface="Calibri"/>
              </a:rPr>
              <a:t>2.7</a:t>
            </a:r>
            <a:r>
              <a:rPr dirty="0" sz="2000" spc="-3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5C9DAE"/>
                </a:solidFill>
                <a:latin typeface="Calibri"/>
                <a:cs typeface="Calibri"/>
              </a:rPr>
              <a:t>hrs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7" name="object 4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64469" y="2520442"/>
            <a:ext cx="184911" cy="177292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10684764" y="2798064"/>
            <a:ext cx="1201420" cy="992505"/>
          </a:xfrm>
          <a:custGeom>
            <a:avLst/>
            <a:gdLst/>
            <a:ahLst/>
            <a:cxnLst/>
            <a:rect l="l" t="t" r="r" b="b"/>
            <a:pathLst>
              <a:path w="1201420" h="992504">
                <a:moveTo>
                  <a:pt x="1035557" y="0"/>
                </a:moveTo>
                <a:lnTo>
                  <a:pt x="165353" y="0"/>
                </a:lnTo>
                <a:lnTo>
                  <a:pt x="121399" y="5907"/>
                </a:lnTo>
                <a:lnTo>
                  <a:pt x="81900" y="22577"/>
                </a:lnTo>
                <a:lnTo>
                  <a:pt x="48434" y="48434"/>
                </a:lnTo>
                <a:lnTo>
                  <a:pt x="22577" y="81900"/>
                </a:lnTo>
                <a:lnTo>
                  <a:pt x="5907" y="121399"/>
                </a:lnTo>
                <a:lnTo>
                  <a:pt x="0" y="165353"/>
                </a:lnTo>
                <a:lnTo>
                  <a:pt x="0" y="826769"/>
                </a:lnTo>
                <a:lnTo>
                  <a:pt x="5907" y="870724"/>
                </a:lnTo>
                <a:lnTo>
                  <a:pt x="22577" y="910223"/>
                </a:lnTo>
                <a:lnTo>
                  <a:pt x="48434" y="943689"/>
                </a:lnTo>
                <a:lnTo>
                  <a:pt x="81900" y="969546"/>
                </a:lnTo>
                <a:lnTo>
                  <a:pt x="121399" y="986216"/>
                </a:lnTo>
                <a:lnTo>
                  <a:pt x="165353" y="992124"/>
                </a:lnTo>
                <a:lnTo>
                  <a:pt x="1035557" y="992124"/>
                </a:lnTo>
                <a:lnTo>
                  <a:pt x="1079512" y="986216"/>
                </a:lnTo>
                <a:lnTo>
                  <a:pt x="1119011" y="969546"/>
                </a:lnTo>
                <a:lnTo>
                  <a:pt x="1152477" y="943689"/>
                </a:lnTo>
                <a:lnTo>
                  <a:pt x="1178334" y="910223"/>
                </a:lnTo>
                <a:lnTo>
                  <a:pt x="1195004" y="870724"/>
                </a:lnTo>
                <a:lnTo>
                  <a:pt x="1200911" y="826769"/>
                </a:lnTo>
                <a:lnTo>
                  <a:pt x="1200911" y="165353"/>
                </a:lnTo>
                <a:lnTo>
                  <a:pt x="1195004" y="121399"/>
                </a:lnTo>
                <a:lnTo>
                  <a:pt x="1178334" y="81900"/>
                </a:lnTo>
                <a:lnTo>
                  <a:pt x="1152477" y="48434"/>
                </a:lnTo>
                <a:lnTo>
                  <a:pt x="1119011" y="22577"/>
                </a:lnTo>
                <a:lnTo>
                  <a:pt x="1079512" y="5907"/>
                </a:lnTo>
                <a:lnTo>
                  <a:pt x="1035557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684764" y="1667255"/>
            <a:ext cx="1201420" cy="992505"/>
          </a:xfrm>
          <a:custGeom>
            <a:avLst/>
            <a:gdLst/>
            <a:ahLst/>
            <a:cxnLst/>
            <a:rect l="l" t="t" r="r" b="b"/>
            <a:pathLst>
              <a:path w="1201420" h="992505">
                <a:moveTo>
                  <a:pt x="1035557" y="0"/>
                </a:moveTo>
                <a:lnTo>
                  <a:pt x="165353" y="0"/>
                </a:lnTo>
                <a:lnTo>
                  <a:pt x="121399" y="5907"/>
                </a:lnTo>
                <a:lnTo>
                  <a:pt x="81900" y="22577"/>
                </a:lnTo>
                <a:lnTo>
                  <a:pt x="48434" y="48434"/>
                </a:lnTo>
                <a:lnTo>
                  <a:pt x="22577" y="81900"/>
                </a:lnTo>
                <a:lnTo>
                  <a:pt x="5907" y="121399"/>
                </a:lnTo>
                <a:lnTo>
                  <a:pt x="0" y="165354"/>
                </a:lnTo>
                <a:lnTo>
                  <a:pt x="0" y="826770"/>
                </a:lnTo>
                <a:lnTo>
                  <a:pt x="5907" y="870724"/>
                </a:lnTo>
                <a:lnTo>
                  <a:pt x="22577" y="910223"/>
                </a:lnTo>
                <a:lnTo>
                  <a:pt x="48434" y="943689"/>
                </a:lnTo>
                <a:lnTo>
                  <a:pt x="81900" y="969546"/>
                </a:lnTo>
                <a:lnTo>
                  <a:pt x="121399" y="986216"/>
                </a:lnTo>
                <a:lnTo>
                  <a:pt x="165353" y="992124"/>
                </a:lnTo>
                <a:lnTo>
                  <a:pt x="1035557" y="992124"/>
                </a:lnTo>
                <a:lnTo>
                  <a:pt x="1079512" y="986216"/>
                </a:lnTo>
                <a:lnTo>
                  <a:pt x="1119011" y="969546"/>
                </a:lnTo>
                <a:lnTo>
                  <a:pt x="1152477" y="943689"/>
                </a:lnTo>
                <a:lnTo>
                  <a:pt x="1178334" y="910223"/>
                </a:lnTo>
                <a:lnTo>
                  <a:pt x="1195004" y="870724"/>
                </a:lnTo>
                <a:lnTo>
                  <a:pt x="1200911" y="826770"/>
                </a:lnTo>
                <a:lnTo>
                  <a:pt x="1200911" y="165354"/>
                </a:lnTo>
                <a:lnTo>
                  <a:pt x="1195004" y="121399"/>
                </a:lnTo>
                <a:lnTo>
                  <a:pt x="1178334" y="81900"/>
                </a:lnTo>
                <a:lnTo>
                  <a:pt x="1152477" y="48434"/>
                </a:lnTo>
                <a:lnTo>
                  <a:pt x="1119011" y="22577"/>
                </a:lnTo>
                <a:lnTo>
                  <a:pt x="1079512" y="5907"/>
                </a:lnTo>
                <a:lnTo>
                  <a:pt x="1035557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0899140" y="1741117"/>
            <a:ext cx="747395" cy="73596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1200" spc="-20" b="1">
                <a:latin typeface="Calibri"/>
                <a:cs typeface="Calibri"/>
              </a:rPr>
              <a:t>Upto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dirty="0" sz="2000" b="1">
                <a:latin typeface="Calibri"/>
                <a:cs typeface="Calibri"/>
              </a:rPr>
              <a:t>3 </a:t>
            </a:r>
            <a:r>
              <a:rPr dirty="0" sz="2000" spc="-20" b="1">
                <a:latin typeface="Calibri"/>
                <a:cs typeface="Calibri"/>
              </a:rPr>
              <a:t>days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 sz="1200" b="1">
                <a:latin typeface="Calibri"/>
                <a:cs typeface="Calibri"/>
              </a:rPr>
              <a:t>Time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Saved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782681" y="2747899"/>
            <a:ext cx="974090" cy="1008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IDR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512</a:t>
            </a:r>
            <a:endParaRPr sz="200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</a:pPr>
            <a:r>
              <a:rPr dirty="0" sz="2000" spc="-25" b="1">
                <a:latin typeface="Calibri"/>
                <a:cs typeface="Calibri"/>
              </a:rPr>
              <a:t>mn</a:t>
            </a:r>
            <a:endParaRPr sz="20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55"/>
              </a:spcBef>
            </a:pPr>
            <a:r>
              <a:rPr dirty="0" sz="1200" spc="-10" b="1">
                <a:latin typeface="Calibri"/>
                <a:cs typeface="Calibri"/>
              </a:rPr>
              <a:t>Aggregate </a:t>
            </a:r>
            <a:r>
              <a:rPr dirty="0" sz="1200" spc="-20" b="1">
                <a:latin typeface="Calibri"/>
                <a:cs typeface="Calibri"/>
              </a:rPr>
              <a:t>Cost </a:t>
            </a:r>
            <a:r>
              <a:rPr dirty="0" sz="1200" spc="-10" b="1">
                <a:latin typeface="Calibri"/>
                <a:cs typeface="Calibri"/>
              </a:rPr>
              <a:t>Savings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987531" y="1389710"/>
            <a:ext cx="5384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Impact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64944" y="4433507"/>
            <a:ext cx="8912860" cy="49974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904240">
              <a:lnSpc>
                <a:spcPct val="100000"/>
              </a:lnSpc>
              <a:spcBef>
                <a:spcPts val="280"/>
              </a:spcBef>
              <a:tabLst>
                <a:tab pos="6636384" algn="l"/>
              </a:tabLst>
            </a:pPr>
            <a:r>
              <a:rPr dirty="0" baseline="1984" sz="2100" spc="-15" b="1">
                <a:latin typeface="Calibri"/>
                <a:cs typeface="Calibri"/>
              </a:rPr>
              <a:t>Current</a:t>
            </a:r>
            <a:r>
              <a:rPr dirty="0" baseline="1984" sz="2100" spc="-22" b="1">
                <a:latin typeface="Calibri"/>
                <a:cs typeface="Calibri"/>
              </a:rPr>
              <a:t> </a:t>
            </a:r>
            <a:r>
              <a:rPr dirty="0" baseline="1984" sz="2100" spc="-15" b="1">
                <a:latin typeface="Calibri"/>
                <a:cs typeface="Calibri"/>
              </a:rPr>
              <a:t>Methodology</a:t>
            </a:r>
            <a:r>
              <a:rPr dirty="0" baseline="1984" sz="2100" b="1">
                <a:latin typeface="Calibri"/>
                <a:cs typeface="Calibri"/>
              </a:rPr>
              <a:t>	</a:t>
            </a:r>
            <a:r>
              <a:rPr dirty="0" sz="1400" b="1">
                <a:latin typeface="Calibri"/>
                <a:cs typeface="Calibri"/>
              </a:rPr>
              <a:t>Our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Solution: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UFH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Score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2449830" algn="l"/>
              </a:tabLst>
            </a:pPr>
            <a:r>
              <a:rPr dirty="0" sz="1400" spc="-10" b="1">
                <a:latin typeface="Calibri"/>
                <a:cs typeface="Calibri"/>
              </a:rPr>
              <a:t>Psychometric</a:t>
            </a:r>
            <a:r>
              <a:rPr dirty="0" sz="1400" b="1">
                <a:latin typeface="Calibri"/>
                <a:cs typeface="Calibri"/>
              </a:rPr>
              <a:t>	</a:t>
            </a:r>
            <a:r>
              <a:rPr dirty="0" sz="1400" spc="-10" b="1">
                <a:latin typeface="Calibri"/>
                <a:cs typeface="Calibri"/>
              </a:rPr>
              <a:t>Retrospective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78483" y="5838545"/>
            <a:ext cx="1973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0715" marR="5080" indent="-62865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Measured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23</a:t>
            </a:r>
            <a:r>
              <a:rPr dirty="0" sz="1200" spc="-10">
                <a:latin typeface="Calibri"/>
                <a:cs typeface="Calibri"/>
              </a:rPr>
              <a:t> statements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Likert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Scale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62528" y="6068567"/>
            <a:ext cx="12890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10">
                <a:latin typeface="Calibri"/>
                <a:cs typeface="Calibri"/>
              </a:rPr>
              <a:t>Weighted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Average </a:t>
            </a:r>
            <a:r>
              <a:rPr dirty="0" sz="1200" spc="-25">
                <a:latin typeface="Calibri"/>
                <a:cs typeface="Calibri"/>
              </a:rPr>
              <a:t>of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85991" y="6068567"/>
            <a:ext cx="45974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20">
                <a:latin typeface="Calibri"/>
                <a:cs typeface="Calibri"/>
              </a:rPr>
              <a:t>Income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30396" y="6251447"/>
            <a:ext cx="85026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Factors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219190" y="5300217"/>
            <a:ext cx="262890" cy="294640"/>
            <a:chOff x="6219190" y="5300217"/>
            <a:chExt cx="262890" cy="294640"/>
          </a:xfrm>
        </p:grpSpPr>
        <p:sp>
          <p:nvSpPr>
            <p:cNvPr id="59" name="object 59"/>
            <p:cNvSpPr/>
            <p:nvPr/>
          </p:nvSpPr>
          <p:spPr>
            <a:xfrm>
              <a:off x="6225540" y="5306567"/>
              <a:ext cx="250190" cy="281940"/>
            </a:xfrm>
            <a:custGeom>
              <a:avLst/>
              <a:gdLst/>
              <a:ahLst/>
              <a:cxnLst/>
              <a:rect l="l" t="t" r="r" b="b"/>
              <a:pathLst>
                <a:path w="250189" h="281939">
                  <a:moveTo>
                    <a:pt x="124968" y="0"/>
                  </a:moveTo>
                  <a:lnTo>
                    <a:pt x="0" y="0"/>
                  </a:lnTo>
                  <a:lnTo>
                    <a:pt x="124968" y="140969"/>
                  </a:lnTo>
                  <a:lnTo>
                    <a:pt x="0" y="281939"/>
                  </a:lnTo>
                  <a:lnTo>
                    <a:pt x="124968" y="281939"/>
                  </a:lnTo>
                  <a:lnTo>
                    <a:pt x="249936" y="140969"/>
                  </a:lnTo>
                  <a:lnTo>
                    <a:pt x="124968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225540" y="5306567"/>
              <a:ext cx="250190" cy="281940"/>
            </a:xfrm>
            <a:custGeom>
              <a:avLst/>
              <a:gdLst/>
              <a:ahLst/>
              <a:cxnLst/>
              <a:rect l="l" t="t" r="r" b="b"/>
              <a:pathLst>
                <a:path w="250189" h="281939">
                  <a:moveTo>
                    <a:pt x="0" y="0"/>
                  </a:moveTo>
                  <a:lnTo>
                    <a:pt x="124968" y="0"/>
                  </a:lnTo>
                  <a:lnTo>
                    <a:pt x="249936" y="140969"/>
                  </a:lnTo>
                  <a:lnTo>
                    <a:pt x="124968" y="281939"/>
                  </a:lnTo>
                  <a:lnTo>
                    <a:pt x="0" y="281939"/>
                  </a:lnTo>
                  <a:lnTo>
                    <a:pt x="124968" y="14096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7399273" y="4724908"/>
          <a:ext cx="3728085" cy="1278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7145"/>
                <a:gridCol w="1082040"/>
              </a:tblGrid>
              <a:tr h="2736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Factor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0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Weightage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Psychometric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0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0.3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Retrospective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0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0.4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marL="92075" marR="2959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Peer</a:t>
                      </a:r>
                      <a:r>
                        <a:rPr dirty="0" sz="12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Scoring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(through</a:t>
                      </a:r>
                      <a:r>
                        <a:rPr dirty="0"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Vision</a:t>
                      </a:r>
                      <a:r>
                        <a:rPr dirty="0" sz="1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Credit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Re-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imagined)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0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0.3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483870">
                        <a:lnSpc>
                          <a:spcPts val="760"/>
                        </a:lnSpc>
                        <a:spcBef>
                          <a:spcPts val="1005"/>
                        </a:spcBef>
                      </a:pPr>
                      <a:r>
                        <a:rPr dirty="0" u="sng" sz="900" b="1" i="1">
                          <a:solidFill>
                            <a:srgbClr val="6E8EB5"/>
                          </a:solidFill>
                          <a:uFill>
                            <a:solidFill>
                              <a:srgbClr val="6E8EB5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Refer</a:t>
                      </a:r>
                      <a:r>
                        <a:rPr dirty="0" u="sng" sz="900" spc="-30" b="1" i="1">
                          <a:solidFill>
                            <a:srgbClr val="6E8EB5"/>
                          </a:solidFill>
                          <a:uFill>
                            <a:solidFill>
                              <a:srgbClr val="6E8EB5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 </a:t>
                      </a:r>
                      <a:r>
                        <a:rPr dirty="0" u="sng" sz="900" b="1" i="1">
                          <a:solidFill>
                            <a:srgbClr val="6E8EB5"/>
                          </a:solidFill>
                          <a:uFill>
                            <a:solidFill>
                              <a:srgbClr val="6E8EB5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to</a:t>
                      </a:r>
                      <a:r>
                        <a:rPr dirty="0" u="sng" sz="900" spc="-5" b="1" i="1">
                          <a:solidFill>
                            <a:srgbClr val="6E8EB5"/>
                          </a:solidFill>
                          <a:uFill>
                            <a:solidFill>
                              <a:srgbClr val="6E8EB5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 </a:t>
                      </a:r>
                      <a:r>
                        <a:rPr dirty="0" u="sng" sz="900" spc="-25" b="1" i="1">
                          <a:solidFill>
                            <a:srgbClr val="6E8EB5"/>
                          </a:solidFill>
                          <a:uFill>
                            <a:solidFill>
                              <a:srgbClr val="6E8EB5"/>
                            </a:solidFill>
                          </a:uFill>
                          <a:latin typeface="Calibri"/>
                          <a:cs typeface="Calibri"/>
                          <a:hlinkClick r:id="rId10" action="ppaction://hlinksldjump"/>
                        </a:rPr>
                        <a:t>App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2" name="object 62"/>
          <p:cNvGrpSpPr/>
          <p:nvPr/>
        </p:nvGrpSpPr>
        <p:grpSpPr>
          <a:xfrm>
            <a:off x="3269615" y="6194285"/>
            <a:ext cx="2336800" cy="264160"/>
            <a:chOff x="3269615" y="6194285"/>
            <a:chExt cx="2336800" cy="264160"/>
          </a:xfrm>
        </p:grpSpPr>
        <p:sp>
          <p:nvSpPr>
            <p:cNvPr id="63" name="object 63"/>
            <p:cNvSpPr/>
            <p:nvPr/>
          </p:nvSpPr>
          <p:spPr>
            <a:xfrm>
              <a:off x="3275965" y="6200648"/>
              <a:ext cx="2324100" cy="251460"/>
            </a:xfrm>
            <a:custGeom>
              <a:avLst/>
              <a:gdLst/>
              <a:ahLst/>
              <a:cxnLst/>
              <a:rect l="l" t="t" r="r" b="b"/>
              <a:pathLst>
                <a:path w="2324100" h="251460">
                  <a:moveTo>
                    <a:pt x="1527810" y="0"/>
                  </a:moveTo>
                  <a:lnTo>
                    <a:pt x="0" y="0"/>
                  </a:lnTo>
                  <a:lnTo>
                    <a:pt x="0" y="251447"/>
                  </a:lnTo>
                  <a:lnTo>
                    <a:pt x="1527810" y="251447"/>
                  </a:lnTo>
                  <a:lnTo>
                    <a:pt x="1527810" y="0"/>
                  </a:lnTo>
                  <a:close/>
                </a:path>
                <a:path w="2324100" h="251460">
                  <a:moveTo>
                    <a:pt x="2323947" y="0"/>
                  </a:moveTo>
                  <a:lnTo>
                    <a:pt x="1527937" y="0"/>
                  </a:lnTo>
                  <a:lnTo>
                    <a:pt x="1527937" y="251447"/>
                  </a:lnTo>
                  <a:lnTo>
                    <a:pt x="2323947" y="251447"/>
                  </a:lnTo>
                  <a:lnTo>
                    <a:pt x="2323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269615" y="6200635"/>
              <a:ext cx="2336800" cy="251460"/>
            </a:xfrm>
            <a:custGeom>
              <a:avLst/>
              <a:gdLst/>
              <a:ahLst/>
              <a:cxnLst/>
              <a:rect l="l" t="t" r="r" b="b"/>
              <a:pathLst>
                <a:path w="2336800" h="251460">
                  <a:moveTo>
                    <a:pt x="0" y="0"/>
                  </a:moveTo>
                  <a:lnTo>
                    <a:pt x="2336546" y="0"/>
                  </a:lnTo>
                </a:path>
                <a:path w="2336800" h="251460">
                  <a:moveTo>
                    <a:pt x="0" y="251460"/>
                  </a:moveTo>
                  <a:lnTo>
                    <a:pt x="2336546" y="25146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5" name="object 65"/>
          <p:cNvGraphicFramePr>
            <a:graphicFrameLocks noGrp="1"/>
          </p:cNvGraphicFramePr>
          <p:nvPr/>
        </p:nvGraphicFramePr>
        <p:xfrm>
          <a:off x="3269614" y="4936997"/>
          <a:ext cx="2413000" cy="1512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810"/>
                <a:gridCol w="795654"/>
              </a:tblGrid>
              <a:tr h="2508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Factor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10" b="1">
                          <a:latin typeface="Calibri"/>
                          <a:cs typeface="Calibri"/>
                        </a:rPr>
                        <a:t>Weightage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Payment</a:t>
                      </a:r>
                      <a:r>
                        <a:rPr dirty="0" sz="10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History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35%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Credit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Mix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F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Amounts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Owed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30%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Length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Credit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History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15%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FEFE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050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Credit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10%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66" name="object 66"/>
          <p:cNvSpPr/>
          <p:nvPr/>
        </p:nvSpPr>
        <p:spPr>
          <a:xfrm>
            <a:off x="1203960" y="5088635"/>
            <a:ext cx="745490" cy="725805"/>
          </a:xfrm>
          <a:custGeom>
            <a:avLst/>
            <a:gdLst/>
            <a:ahLst/>
            <a:cxnLst/>
            <a:rect l="l" t="t" r="r" b="b"/>
            <a:pathLst>
              <a:path w="745489" h="725804">
                <a:moveTo>
                  <a:pt x="372618" y="0"/>
                </a:moveTo>
                <a:lnTo>
                  <a:pt x="325887" y="2826"/>
                </a:lnTo>
                <a:lnTo>
                  <a:pt x="280886" y="11080"/>
                </a:lnTo>
                <a:lnTo>
                  <a:pt x="237964" y="24419"/>
                </a:lnTo>
                <a:lnTo>
                  <a:pt x="197471" y="42505"/>
                </a:lnTo>
                <a:lnTo>
                  <a:pt x="159755" y="64997"/>
                </a:lnTo>
                <a:lnTo>
                  <a:pt x="125168" y="91554"/>
                </a:lnTo>
                <a:lnTo>
                  <a:pt x="94057" y="121837"/>
                </a:lnTo>
                <a:lnTo>
                  <a:pt x="66774" y="155504"/>
                </a:lnTo>
                <a:lnTo>
                  <a:pt x="43668" y="192217"/>
                </a:lnTo>
                <a:lnTo>
                  <a:pt x="25087" y="231634"/>
                </a:lnTo>
                <a:lnTo>
                  <a:pt x="11383" y="273416"/>
                </a:lnTo>
                <a:lnTo>
                  <a:pt x="2904" y="317222"/>
                </a:lnTo>
                <a:lnTo>
                  <a:pt x="0" y="362711"/>
                </a:lnTo>
                <a:lnTo>
                  <a:pt x="2904" y="408209"/>
                </a:lnTo>
                <a:lnTo>
                  <a:pt x="11383" y="452020"/>
                </a:lnTo>
                <a:lnTo>
                  <a:pt x="25087" y="493804"/>
                </a:lnTo>
                <a:lnTo>
                  <a:pt x="43668" y="533223"/>
                </a:lnTo>
                <a:lnTo>
                  <a:pt x="66774" y="569935"/>
                </a:lnTo>
                <a:lnTo>
                  <a:pt x="94057" y="603602"/>
                </a:lnTo>
                <a:lnTo>
                  <a:pt x="125168" y="633882"/>
                </a:lnTo>
                <a:lnTo>
                  <a:pt x="159755" y="660437"/>
                </a:lnTo>
                <a:lnTo>
                  <a:pt x="197471" y="682925"/>
                </a:lnTo>
                <a:lnTo>
                  <a:pt x="237964" y="701008"/>
                </a:lnTo>
                <a:lnTo>
                  <a:pt x="280886" y="714346"/>
                </a:lnTo>
                <a:lnTo>
                  <a:pt x="325887" y="722597"/>
                </a:lnTo>
                <a:lnTo>
                  <a:pt x="372618" y="725423"/>
                </a:lnTo>
                <a:lnTo>
                  <a:pt x="419348" y="722597"/>
                </a:lnTo>
                <a:lnTo>
                  <a:pt x="464349" y="714346"/>
                </a:lnTo>
                <a:lnTo>
                  <a:pt x="507271" y="701008"/>
                </a:lnTo>
                <a:lnTo>
                  <a:pt x="547764" y="682925"/>
                </a:lnTo>
                <a:lnTo>
                  <a:pt x="585480" y="660437"/>
                </a:lnTo>
                <a:lnTo>
                  <a:pt x="620067" y="633882"/>
                </a:lnTo>
                <a:lnTo>
                  <a:pt x="651178" y="603602"/>
                </a:lnTo>
                <a:lnTo>
                  <a:pt x="678461" y="569935"/>
                </a:lnTo>
                <a:lnTo>
                  <a:pt x="701567" y="533223"/>
                </a:lnTo>
                <a:lnTo>
                  <a:pt x="720148" y="493804"/>
                </a:lnTo>
                <a:lnTo>
                  <a:pt x="733852" y="452020"/>
                </a:lnTo>
                <a:lnTo>
                  <a:pt x="742331" y="408209"/>
                </a:lnTo>
                <a:lnTo>
                  <a:pt x="745235" y="362711"/>
                </a:lnTo>
                <a:lnTo>
                  <a:pt x="742331" y="317222"/>
                </a:lnTo>
                <a:lnTo>
                  <a:pt x="733852" y="273416"/>
                </a:lnTo>
                <a:lnTo>
                  <a:pt x="720148" y="231634"/>
                </a:lnTo>
                <a:lnTo>
                  <a:pt x="701567" y="192217"/>
                </a:lnTo>
                <a:lnTo>
                  <a:pt x="678461" y="155504"/>
                </a:lnTo>
                <a:lnTo>
                  <a:pt x="651178" y="121837"/>
                </a:lnTo>
                <a:lnTo>
                  <a:pt x="620067" y="91554"/>
                </a:lnTo>
                <a:lnTo>
                  <a:pt x="585480" y="64997"/>
                </a:lnTo>
                <a:lnTo>
                  <a:pt x="547764" y="42505"/>
                </a:lnTo>
                <a:lnTo>
                  <a:pt x="507271" y="24419"/>
                </a:lnTo>
                <a:lnTo>
                  <a:pt x="464349" y="11080"/>
                </a:lnTo>
                <a:lnTo>
                  <a:pt x="419348" y="2826"/>
                </a:lnTo>
                <a:lnTo>
                  <a:pt x="372618" y="0"/>
                </a:lnTo>
                <a:close/>
              </a:path>
            </a:pathLst>
          </a:custGeom>
          <a:solidFill>
            <a:srgbClr val="E8F0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125979" y="5085588"/>
            <a:ext cx="745490" cy="723900"/>
          </a:xfrm>
          <a:custGeom>
            <a:avLst/>
            <a:gdLst/>
            <a:ahLst/>
            <a:cxnLst/>
            <a:rect l="l" t="t" r="r" b="b"/>
            <a:pathLst>
              <a:path w="745489" h="723900">
                <a:moveTo>
                  <a:pt x="372618" y="0"/>
                </a:moveTo>
                <a:lnTo>
                  <a:pt x="325887" y="2820"/>
                </a:lnTo>
                <a:lnTo>
                  <a:pt x="280886" y="11054"/>
                </a:lnTo>
                <a:lnTo>
                  <a:pt x="237964" y="24363"/>
                </a:lnTo>
                <a:lnTo>
                  <a:pt x="197471" y="42408"/>
                </a:lnTo>
                <a:lnTo>
                  <a:pt x="159755" y="64849"/>
                </a:lnTo>
                <a:lnTo>
                  <a:pt x="125168" y="91348"/>
                </a:lnTo>
                <a:lnTo>
                  <a:pt x="94057" y="121565"/>
                </a:lnTo>
                <a:lnTo>
                  <a:pt x="66774" y="155160"/>
                </a:lnTo>
                <a:lnTo>
                  <a:pt x="43668" y="191796"/>
                </a:lnTo>
                <a:lnTo>
                  <a:pt x="25087" y="231131"/>
                </a:lnTo>
                <a:lnTo>
                  <a:pt x="11383" y="272828"/>
                </a:lnTo>
                <a:lnTo>
                  <a:pt x="2904" y="316548"/>
                </a:lnTo>
                <a:lnTo>
                  <a:pt x="0" y="361950"/>
                </a:lnTo>
                <a:lnTo>
                  <a:pt x="2904" y="407351"/>
                </a:lnTo>
                <a:lnTo>
                  <a:pt x="11383" y="451071"/>
                </a:lnTo>
                <a:lnTo>
                  <a:pt x="25087" y="492768"/>
                </a:lnTo>
                <a:lnTo>
                  <a:pt x="43668" y="532103"/>
                </a:lnTo>
                <a:lnTo>
                  <a:pt x="66774" y="568739"/>
                </a:lnTo>
                <a:lnTo>
                  <a:pt x="94057" y="602334"/>
                </a:lnTo>
                <a:lnTo>
                  <a:pt x="125168" y="632551"/>
                </a:lnTo>
                <a:lnTo>
                  <a:pt x="159755" y="659050"/>
                </a:lnTo>
                <a:lnTo>
                  <a:pt x="197471" y="681491"/>
                </a:lnTo>
                <a:lnTo>
                  <a:pt x="237964" y="699536"/>
                </a:lnTo>
                <a:lnTo>
                  <a:pt x="280886" y="712845"/>
                </a:lnTo>
                <a:lnTo>
                  <a:pt x="325887" y="721079"/>
                </a:lnTo>
                <a:lnTo>
                  <a:pt x="372618" y="723900"/>
                </a:lnTo>
                <a:lnTo>
                  <a:pt x="419348" y="721079"/>
                </a:lnTo>
                <a:lnTo>
                  <a:pt x="464349" y="712845"/>
                </a:lnTo>
                <a:lnTo>
                  <a:pt x="507271" y="699536"/>
                </a:lnTo>
                <a:lnTo>
                  <a:pt x="547764" y="681491"/>
                </a:lnTo>
                <a:lnTo>
                  <a:pt x="585480" y="659050"/>
                </a:lnTo>
                <a:lnTo>
                  <a:pt x="620067" y="632551"/>
                </a:lnTo>
                <a:lnTo>
                  <a:pt x="651178" y="602334"/>
                </a:lnTo>
                <a:lnTo>
                  <a:pt x="678461" y="568739"/>
                </a:lnTo>
                <a:lnTo>
                  <a:pt x="701567" y="532103"/>
                </a:lnTo>
                <a:lnTo>
                  <a:pt x="720148" y="492768"/>
                </a:lnTo>
                <a:lnTo>
                  <a:pt x="733852" y="451071"/>
                </a:lnTo>
                <a:lnTo>
                  <a:pt x="742331" y="407351"/>
                </a:lnTo>
                <a:lnTo>
                  <a:pt x="745236" y="361950"/>
                </a:lnTo>
                <a:lnTo>
                  <a:pt x="742331" y="316548"/>
                </a:lnTo>
                <a:lnTo>
                  <a:pt x="733852" y="272828"/>
                </a:lnTo>
                <a:lnTo>
                  <a:pt x="720148" y="231131"/>
                </a:lnTo>
                <a:lnTo>
                  <a:pt x="701567" y="191796"/>
                </a:lnTo>
                <a:lnTo>
                  <a:pt x="678461" y="155160"/>
                </a:lnTo>
                <a:lnTo>
                  <a:pt x="651178" y="121565"/>
                </a:lnTo>
                <a:lnTo>
                  <a:pt x="620067" y="91348"/>
                </a:lnTo>
                <a:lnTo>
                  <a:pt x="585480" y="64849"/>
                </a:lnTo>
                <a:lnTo>
                  <a:pt x="547764" y="42408"/>
                </a:lnTo>
                <a:lnTo>
                  <a:pt x="507271" y="24363"/>
                </a:lnTo>
                <a:lnTo>
                  <a:pt x="464349" y="11054"/>
                </a:lnTo>
                <a:lnTo>
                  <a:pt x="419348" y="2820"/>
                </a:lnTo>
                <a:lnTo>
                  <a:pt x="372618" y="0"/>
                </a:lnTo>
                <a:close/>
              </a:path>
            </a:pathLst>
          </a:custGeom>
          <a:solidFill>
            <a:srgbClr val="E8F0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269238" y="5196585"/>
            <a:ext cx="636905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libri"/>
                <a:cs typeface="Calibri"/>
              </a:rPr>
              <a:t>50%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latin typeface="Calibri"/>
                <a:cs typeface="Calibri"/>
              </a:rPr>
              <a:t>Honesty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131314" y="5191505"/>
            <a:ext cx="76517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latin typeface="Calibri"/>
                <a:cs typeface="Calibri"/>
              </a:rPr>
              <a:t>50%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-10" b="1">
                <a:latin typeface="Calibri"/>
                <a:cs typeface="Calibri"/>
              </a:rPr>
              <a:t>Reliability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468879" y="6509004"/>
            <a:ext cx="209867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Phoenix:</a:t>
            </a:r>
            <a:r>
              <a:rPr dirty="0" sz="12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60132" y="6074765"/>
            <a:ext cx="4401185" cy="69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1965" marR="5080" indent="-39052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calculated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weights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accelerated repayment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10" b="1">
                <a:latin typeface="Calibri"/>
                <a:cs typeface="Calibri"/>
              </a:rPr>
              <a:t> progressive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lending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plan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for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low </a:t>
            </a:r>
            <a:r>
              <a:rPr dirty="0" sz="1200" spc="-10" b="1">
                <a:latin typeface="Calibri"/>
                <a:cs typeface="Calibri"/>
              </a:rPr>
              <a:t>scorers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2841625" algn="l"/>
              </a:tabLst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156961" y="6564883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04317" y="6336284"/>
            <a:ext cx="179641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2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GBG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Indonesia,</a:t>
            </a:r>
            <a:r>
              <a:rPr dirty="0" sz="800" spc="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McKinsey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reports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505155" y="1692021"/>
            <a:ext cx="1917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585858"/>
                </a:solidFill>
                <a:latin typeface="Calibri"/>
                <a:cs typeface="Calibri"/>
              </a:rPr>
              <a:t>IDR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342645" y="1950466"/>
            <a:ext cx="793115" cy="187960"/>
            <a:chOff x="342645" y="1950466"/>
            <a:chExt cx="793115" cy="187960"/>
          </a:xfrm>
        </p:grpSpPr>
        <p:sp>
          <p:nvSpPr>
            <p:cNvPr id="78" name="object 78"/>
            <p:cNvSpPr/>
            <p:nvPr/>
          </p:nvSpPr>
          <p:spPr>
            <a:xfrm>
              <a:off x="1046987" y="1956816"/>
              <a:ext cx="82550" cy="175260"/>
            </a:xfrm>
            <a:custGeom>
              <a:avLst/>
              <a:gdLst/>
              <a:ahLst/>
              <a:cxnLst/>
              <a:rect l="l" t="t" r="r" b="b"/>
              <a:pathLst>
                <a:path w="82550" h="175260">
                  <a:moveTo>
                    <a:pt x="82296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82296" y="175260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046987" y="1956816"/>
              <a:ext cx="82550" cy="175260"/>
            </a:xfrm>
            <a:custGeom>
              <a:avLst/>
              <a:gdLst/>
              <a:ahLst/>
              <a:cxnLst/>
              <a:rect l="l" t="t" r="r" b="b"/>
              <a:pathLst>
                <a:path w="82550" h="175260">
                  <a:moveTo>
                    <a:pt x="0" y="175260"/>
                  </a:moveTo>
                  <a:lnTo>
                    <a:pt x="82296" y="175260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48995" y="1956816"/>
              <a:ext cx="81280" cy="175260"/>
            </a:xfrm>
            <a:custGeom>
              <a:avLst/>
              <a:gdLst/>
              <a:ahLst/>
              <a:cxnLst/>
              <a:rect l="l" t="t" r="r" b="b"/>
              <a:pathLst>
                <a:path w="81279" h="175260">
                  <a:moveTo>
                    <a:pt x="80772" y="0"/>
                  </a:moveTo>
                  <a:lnTo>
                    <a:pt x="0" y="0"/>
                  </a:lnTo>
                  <a:lnTo>
                    <a:pt x="0" y="175260"/>
                  </a:lnTo>
                  <a:lnTo>
                    <a:pt x="80772" y="175260"/>
                  </a:lnTo>
                  <a:lnTo>
                    <a:pt x="80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48995" y="1956816"/>
              <a:ext cx="81280" cy="175260"/>
            </a:xfrm>
            <a:custGeom>
              <a:avLst/>
              <a:gdLst/>
              <a:ahLst/>
              <a:cxnLst/>
              <a:rect l="l" t="t" r="r" b="b"/>
              <a:pathLst>
                <a:path w="81279" h="175260">
                  <a:moveTo>
                    <a:pt x="0" y="175260"/>
                  </a:moveTo>
                  <a:lnTo>
                    <a:pt x="80772" y="175260"/>
                  </a:lnTo>
                  <a:lnTo>
                    <a:pt x="80772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11028490" y="5892495"/>
            <a:ext cx="28384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00" spc="-10" b="1" i="1">
                <a:solidFill>
                  <a:srgbClr val="6E8EB5"/>
                </a:solidFill>
                <a:uFill>
                  <a:solidFill>
                    <a:srgbClr val="6E8EB5"/>
                  </a:solidFill>
                </a:uFill>
                <a:latin typeface="Calibri"/>
                <a:cs typeface="Calibri"/>
                <a:hlinkClick r:id="rId10" action="ppaction://hlinksldjump"/>
              </a:rPr>
              <a:t>endix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4537075" cy="0"/>
          </a:xfrm>
          <a:custGeom>
            <a:avLst/>
            <a:gdLst/>
            <a:ahLst/>
            <a:cxnLst/>
            <a:rect l="l" t="t" r="r" b="b"/>
            <a:pathLst>
              <a:path w="4537075" h="0">
                <a:moveTo>
                  <a:pt x="0" y="0"/>
                </a:moveTo>
                <a:lnTo>
                  <a:pt x="4536948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25995" y="6516623"/>
            <a:ext cx="5159375" cy="0"/>
          </a:xfrm>
          <a:custGeom>
            <a:avLst/>
            <a:gdLst/>
            <a:ahLst/>
            <a:cxnLst/>
            <a:rect l="l" t="t" r="r" b="b"/>
            <a:pathLst>
              <a:path w="5159375" h="0">
                <a:moveTo>
                  <a:pt x="0" y="0"/>
                </a:moveTo>
                <a:lnTo>
                  <a:pt x="5159121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825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7.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87820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INTRODUCING</a:t>
            </a:r>
            <a:r>
              <a:rPr dirty="0" spc="-35"/>
              <a:t> </a:t>
            </a:r>
            <a:r>
              <a:rPr dirty="0"/>
              <a:t>CREDILINK</a:t>
            </a:r>
            <a:r>
              <a:rPr dirty="0" spc="-35"/>
              <a:t> </a:t>
            </a:r>
            <a:r>
              <a:rPr dirty="0"/>
              <a:t>: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3-</a:t>
            </a:r>
            <a:r>
              <a:rPr dirty="0" spc="-55"/>
              <a:t> </a:t>
            </a:r>
            <a:r>
              <a:rPr dirty="0"/>
              <a:t>PRONGED</a:t>
            </a:r>
            <a:r>
              <a:rPr dirty="0" spc="-65"/>
              <a:t> </a:t>
            </a:r>
            <a:r>
              <a:rPr dirty="0"/>
              <a:t>FINANCE</a:t>
            </a:r>
            <a:r>
              <a:rPr dirty="0" spc="-35"/>
              <a:t> </a:t>
            </a:r>
            <a:r>
              <a:rPr dirty="0" spc="-10"/>
              <a:t>(1/4)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33400" y="2342388"/>
            <a:ext cx="1219200" cy="1181100"/>
            <a:chOff x="533400" y="2342388"/>
            <a:chExt cx="1219200" cy="1181100"/>
          </a:xfrm>
        </p:grpSpPr>
        <p:sp>
          <p:nvSpPr>
            <p:cNvPr id="7" name="object 7"/>
            <p:cNvSpPr/>
            <p:nvPr/>
          </p:nvSpPr>
          <p:spPr>
            <a:xfrm>
              <a:off x="533400" y="2342388"/>
              <a:ext cx="1219200" cy="1181100"/>
            </a:xfrm>
            <a:custGeom>
              <a:avLst/>
              <a:gdLst/>
              <a:ahLst/>
              <a:cxnLst/>
              <a:rect l="l" t="t" r="r" b="b"/>
              <a:pathLst>
                <a:path w="1219200" h="1181100">
                  <a:moveTo>
                    <a:pt x="609600" y="0"/>
                  </a:moveTo>
                  <a:lnTo>
                    <a:pt x="561959" y="1776"/>
                  </a:lnTo>
                  <a:lnTo>
                    <a:pt x="515322" y="7019"/>
                  </a:lnTo>
                  <a:lnTo>
                    <a:pt x="469822" y="15597"/>
                  </a:lnTo>
                  <a:lnTo>
                    <a:pt x="425597" y="27379"/>
                  </a:lnTo>
                  <a:lnTo>
                    <a:pt x="382782" y="42232"/>
                  </a:lnTo>
                  <a:lnTo>
                    <a:pt x="341511" y="60026"/>
                  </a:lnTo>
                  <a:lnTo>
                    <a:pt x="301921" y="80630"/>
                  </a:lnTo>
                  <a:lnTo>
                    <a:pt x="264147" y="103913"/>
                  </a:lnTo>
                  <a:lnTo>
                    <a:pt x="228324" y="129742"/>
                  </a:lnTo>
                  <a:lnTo>
                    <a:pt x="194588" y="157986"/>
                  </a:lnTo>
                  <a:lnTo>
                    <a:pt x="163075" y="188515"/>
                  </a:lnTo>
                  <a:lnTo>
                    <a:pt x="133920" y="221197"/>
                  </a:lnTo>
                  <a:lnTo>
                    <a:pt x="107259" y="255901"/>
                  </a:lnTo>
                  <a:lnTo>
                    <a:pt x="83227" y="292495"/>
                  </a:lnTo>
                  <a:lnTo>
                    <a:pt x="61959" y="330847"/>
                  </a:lnTo>
                  <a:lnTo>
                    <a:pt x="43592" y="370828"/>
                  </a:lnTo>
                  <a:lnTo>
                    <a:pt x="28260" y="412305"/>
                  </a:lnTo>
                  <a:lnTo>
                    <a:pt x="16099" y="455147"/>
                  </a:lnTo>
                  <a:lnTo>
                    <a:pt x="7245" y="499222"/>
                  </a:lnTo>
                  <a:lnTo>
                    <a:pt x="1834" y="544400"/>
                  </a:lnTo>
                  <a:lnTo>
                    <a:pt x="0" y="590550"/>
                  </a:lnTo>
                  <a:lnTo>
                    <a:pt x="1834" y="636699"/>
                  </a:lnTo>
                  <a:lnTo>
                    <a:pt x="7245" y="681877"/>
                  </a:lnTo>
                  <a:lnTo>
                    <a:pt x="16099" y="725952"/>
                  </a:lnTo>
                  <a:lnTo>
                    <a:pt x="28260" y="768794"/>
                  </a:lnTo>
                  <a:lnTo>
                    <a:pt x="43592" y="810271"/>
                  </a:lnTo>
                  <a:lnTo>
                    <a:pt x="61959" y="850252"/>
                  </a:lnTo>
                  <a:lnTo>
                    <a:pt x="83227" y="888604"/>
                  </a:lnTo>
                  <a:lnTo>
                    <a:pt x="107259" y="925198"/>
                  </a:lnTo>
                  <a:lnTo>
                    <a:pt x="133920" y="959902"/>
                  </a:lnTo>
                  <a:lnTo>
                    <a:pt x="163075" y="992584"/>
                  </a:lnTo>
                  <a:lnTo>
                    <a:pt x="194588" y="1023113"/>
                  </a:lnTo>
                  <a:lnTo>
                    <a:pt x="228324" y="1051357"/>
                  </a:lnTo>
                  <a:lnTo>
                    <a:pt x="264147" y="1077186"/>
                  </a:lnTo>
                  <a:lnTo>
                    <a:pt x="301921" y="1100469"/>
                  </a:lnTo>
                  <a:lnTo>
                    <a:pt x="341511" y="1121073"/>
                  </a:lnTo>
                  <a:lnTo>
                    <a:pt x="382782" y="1138867"/>
                  </a:lnTo>
                  <a:lnTo>
                    <a:pt x="425597" y="1153720"/>
                  </a:lnTo>
                  <a:lnTo>
                    <a:pt x="469822" y="1165502"/>
                  </a:lnTo>
                  <a:lnTo>
                    <a:pt x="515322" y="1174080"/>
                  </a:lnTo>
                  <a:lnTo>
                    <a:pt x="561959" y="1179323"/>
                  </a:lnTo>
                  <a:lnTo>
                    <a:pt x="609600" y="1181100"/>
                  </a:lnTo>
                  <a:lnTo>
                    <a:pt x="657240" y="1179323"/>
                  </a:lnTo>
                  <a:lnTo>
                    <a:pt x="703877" y="1174080"/>
                  </a:lnTo>
                  <a:lnTo>
                    <a:pt x="749377" y="1165502"/>
                  </a:lnTo>
                  <a:lnTo>
                    <a:pt x="793602" y="1153720"/>
                  </a:lnTo>
                  <a:lnTo>
                    <a:pt x="836417" y="1138867"/>
                  </a:lnTo>
                  <a:lnTo>
                    <a:pt x="877688" y="1121073"/>
                  </a:lnTo>
                  <a:lnTo>
                    <a:pt x="917278" y="1100469"/>
                  </a:lnTo>
                  <a:lnTo>
                    <a:pt x="955052" y="1077186"/>
                  </a:lnTo>
                  <a:lnTo>
                    <a:pt x="990875" y="1051357"/>
                  </a:lnTo>
                  <a:lnTo>
                    <a:pt x="1024611" y="1023113"/>
                  </a:lnTo>
                  <a:lnTo>
                    <a:pt x="1056124" y="992584"/>
                  </a:lnTo>
                  <a:lnTo>
                    <a:pt x="1085279" y="959902"/>
                  </a:lnTo>
                  <a:lnTo>
                    <a:pt x="1111940" y="925198"/>
                  </a:lnTo>
                  <a:lnTo>
                    <a:pt x="1135972" y="888604"/>
                  </a:lnTo>
                  <a:lnTo>
                    <a:pt x="1157240" y="850252"/>
                  </a:lnTo>
                  <a:lnTo>
                    <a:pt x="1175607" y="810271"/>
                  </a:lnTo>
                  <a:lnTo>
                    <a:pt x="1190939" y="768794"/>
                  </a:lnTo>
                  <a:lnTo>
                    <a:pt x="1203100" y="725952"/>
                  </a:lnTo>
                  <a:lnTo>
                    <a:pt x="1211954" y="681877"/>
                  </a:lnTo>
                  <a:lnTo>
                    <a:pt x="1217365" y="636699"/>
                  </a:lnTo>
                  <a:lnTo>
                    <a:pt x="1219200" y="590550"/>
                  </a:lnTo>
                  <a:lnTo>
                    <a:pt x="1217365" y="544400"/>
                  </a:lnTo>
                  <a:lnTo>
                    <a:pt x="1211954" y="499222"/>
                  </a:lnTo>
                  <a:lnTo>
                    <a:pt x="1203100" y="455147"/>
                  </a:lnTo>
                  <a:lnTo>
                    <a:pt x="1190939" y="412305"/>
                  </a:lnTo>
                  <a:lnTo>
                    <a:pt x="1175607" y="370828"/>
                  </a:lnTo>
                  <a:lnTo>
                    <a:pt x="1157240" y="330847"/>
                  </a:lnTo>
                  <a:lnTo>
                    <a:pt x="1135972" y="292495"/>
                  </a:lnTo>
                  <a:lnTo>
                    <a:pt x="1111940" y="255901"/>
                  </a:lnTo>
                  <a:lnTo>
                    <a:pt x="1085279" y="221197"/>
                  </a:lnTo>
                  <a:lnTo>
                    <a:pt x="1056124" y="188515"/>
                  </a:lnTo>
                  <a:lnTo>
                    <a:pt x="1024611" y="157986"/>
                  </a:lnTo>
                  <a:lnTo>
                    <a:pt x="990875" y="129742"/>
                  </a:lnTo>
                  <a:lnTo>
                    <a:pt x="955052" y="103913"/>
                  </a:lnTo>
                  <a:lnTo>
                    <a:pt x="917278" y="80630"/>
                  </a:lnTo>
                  <a:lnTo>
                    <a:pt x="877688" y="60026"/>
                  </a:lnTo>
                  <a:lnTo>
                    <a:pt x="836417" y="42232"/>
                  </a:lnTo>
                  <a:lnTo>
                    <a:pt x="793602" y="27379"/>
                  </a:lnTo>
                  <a:lnTo>
                    <a:pt x="749377" y="15597"/>
                  </a:lnTo>
                  <a:lnTo>
                    <a:pt x="703877" y="7019"/>
                  </a:lnTo>
                  <a:lnTo>
                    <a:pt x="657240" y="1776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407" y="2420112"/>
              <a:ext cx="1091184" cy="110337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87476" y="3605021"/>
            <a:ext cx="12325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54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Adika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28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year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Old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Farmer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24902" y="918972"/>
            <a:ext cx="8988425" cy="1294765"/>
            <a:chOff x="1124902" y="918972"/>
            <a:chExt cx="8988425" cy="1294765"/>
          </a:xfrm>
        </p:grpSpPr>
        <p:sp>
          <p:nvSpPr>
            <p:cNvPr id="11" name="object 11"/>
            <p:cNvSpPr/>
            <p:nvPr/>
          </p:nvSpPr>
          <p:spPr>
            <a:xfrm>
              <a:off x="1139189" y="1059942"/>
              <a:ext cx="1537970" cy="1139825"/>
            </a:xfrm>
            <a:custGeom>
              <a:avLst/>
              <a:gdLst/>
              <a:ahLst/>
              <a:cxnLst/>
              <a:rect l="l" t="t" r="r" b="b"/>
              <a:pathLst>
                <a:path w="1537970" h="1139825">
                  <a:moveTo>
                    <a:pt x="4470" y="15240"/>
                  </a:moveTo>
                  <a:lnTo>
                    <a:pt x="0" y="1139317"/>
                  </a:lnTo>
                </a:path>
                <a:path w="1537970" h="1139825">
                  <a:moveTo>
                    <a:pt x="3047" y="12573"/>
                  </a:moveTo>
                  <a:lnTo>
                    <a:pt x="1537461" y="0"/>
                  </a:lnTo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676143" y="918972"/>
              <a:ext cx="7437120" cy="281940"/>
            </a:xfrm>
            <a:custGeom>
              <a:avLst/>
              <a:gdLst/>
              <a:ahLst/>
              <a:cxnLst/>
              <a:rect l="l" t="t" r="r" b="b"/>
              <a:pathLst>
                <a:path w="7437120" h="281940">
                  <a:moveTo>
                    <a:pt x="7437120" y="0"/>
                  </a:moveTo>
                  <a:lnTo>
                    <a:pt x="0" y="0"/>
                  </a:lnTo>
                  <a:lnTo>
                    <a:pt x="0" y="281939"/>
                  </a:lnTo>
                  <a:lnTo>
                    <a:pt x="7437120" y="281939"/>
                  </a:lnTo>
                  <a:lnTo>
                    <a:pt x="743712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1048" y="491489"/>
            <a:ext cx="11139805" cy="13900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0645">
              <a:lnSpc>
                <a:spcPct val="100000"/>
              </a:lnSpc>
              <a:spcBef>
                <a:spcPts val="105"/>
              </a:spcBef>
              <a:tabLst>
                <a:tab pos="1112647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Transforming</a:t>
            </a:r>
            <a:r>
              <a:rPr dirty="0" u="sng" sz="2000" spc="-7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Micro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Loan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procedure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through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  <a:p>
            <a:pPr marL="4937760">
              <a:lnSpc>
                <a:spcPct val="100000"/>
              </a:lnSpc>
              <a:spcBef>
                <a:spcPts val="104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Functioning</a:t>
            </a:r>
            <a:r>
              <a:rPr dirty="0" sz="14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Credilink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proposal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IDR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3.5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mn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51305" y="1047178"/>
            <a:ext cx="10970260" cy="1630680"/>
            <a:chOff x="1051305" y="1047178"/>
            <a:chExt cx="10970260" cy="1630680"/>
          </a:xfrm>
        </p:grpSpPr>
        <p:sp>
          <p:nvSpPr>
            <p:cNvPr id="15" name="object 15"/>
            <p:cNvSpPr/>
            <p:nvPr/>
          </p:nvSpPr>
          <p:spPr>
            <a:xfrm>
              <a:off x="9141713" y="1061466"/>
              <a:ext cx="2793365" cy="0"/>
            </a:xfrm>
            <a:custGeom>
              <a:avLst/>
              <a:gdLst/>
              <a:ahLst/>
              <a:cxnLst/>
              <a:rect l="l" t="t" r="r" b="b"/>
              <a:pathLst>
                <a:path w="2793365" h="0">
                  <a:moveTo>
                    <a:pt x="0" y="0"/>
                  </a:moveTo>
                  <a:lnTo>
                    <a:pt x="2793237" y="0"/>
                  </a:lnTo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1305" y="1630426"/>
              <a:ext cx="175768" cy="1849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936729" y="1053846"/>
              <a:ext cx="0" cy="1044575"/>
            </a:xfrm>
            <a:custGeom>
              <a:avLst/>
              <a:gdLst/>
              <a:ahLst/>
              <a:cxnLst/>
              <a:rect l="l" t="t" r="r" b="b"/>
              <a:pathLst>
                <a:path w="0" h="1044575">
                  <a:moveTo>
                    <a:pt x="0" y="0"/>
                  </a:moveTo>
                  <a:lnTo>
                    <a:pt x="0" y="1044193"/>
                  </a:lnTo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44274" y="1631950"/>
              <a:ext cx="177292" cy="18338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1327" y="2167127"/>
              <a:ext cx="1539240" cy="297179"/>
            </a:xfrm>
            <a:prstGeom prst="rect">
              <a:avLst/>
            </a:prstGeom>
          </p:spPr>
        </p:pic>
        <p:pic>
          <p:nvPicPr>
            <p:cNvPr id="20" name="object 20" descr="A blue and white logo  Description automatically generated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64901" y="1949196"/>
              <a:ext cx="1616258" cy="7097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70591" y="2276855"/>
              <a:ext cx="1705355" cy="2956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20234" y="2060546"/>
              <a:ext cx="604983" cy="617024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057402" y="4125658"/>
            <a:ext cx="10944860" cy="1602105"/>
            <a:chOff x="1057402" y="4125658"/>
            <a:chExt cx="10944860" cy="1602105"/>
          </a:xfrm>
        </p:grpSpPr>
        <p:sp>
          <p:nvSpPr>
            <p:cNvPr id="24" name="object 24"/>
            <p:cNvSpPr/>
            <p:nvPr/>
          </p:nvSpPr>
          <p:spPr>
            <a:xfrm>
              <a:off x="1139190" y="4139946"/>
              <a:ext cx="10777220" cy="1447165"/>
            </a:xfrm>
            <a:custGeom>
              <a:avLst/>
              <a:gdLst/>
              <a:ahLst/>
              <a:cxnLst/>
              <a:rect l="l" t="t" r="r" b="b"/>
              <a:pathLst>
                <a:path w="10777220" h="1447164">
                  <a:moveTo>
                    <a:pt x="0" y="0"/>
                  </a:moveTo>
                  <a:lnTo>
                    <a:pt x="2146" y="1429511"/>
                  </a:lnTo>
                </a:path>
                <a:path w="10777220" h="1447164">
                  <a:moveTo>
                    <a:pt x="0" y="1429511"/>
                  </a:moveTo>
                  <a:lnTo>
                    <a:pt x="10767187" y="1429511"/>
                  </a:lnTo>
                </a:path>
                <a:path w="10777220" h="1447164">
                  <a:moveTo>
                    <a:pt x="10774680" y="790955"/>
                  </a:moveTo>
                  <a:lnTo>
                    <a:pt x="10776839" y="1446656"/>
                  </a:lnTo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24461" y="5106670"/>
              <a:ext cx="177292" cy="1849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57402" y="4923790"/>
              <a:ext cx="177291" cy="18491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676144" y="5445252"/>
              <a:ext cx="7437120" cy="281940"/>
            </a:xfrm>
            <a:custGeom>
              <a:avLst/>
              <a:gdLst/>
              <a:ahLst/>
              <a:cxnLst/>
              <a:rect l="l" t="t" r="r" b="b"/>
              <a:pathLst>
                <a:path w="7437120" h="281939">
                  <a:moveTo>
                    <a:pt x="7437120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7437120" y="281940"/>
                  </a:lnTo>
                  <a:lnTo>
                    <a:pt x="743712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456688" y="3255264"/>
            <a:ext cx="2295525" cy="118300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174625" marR="193040" indent="127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like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tax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returns, </a:t>
            </a:r>
            <a:r>
              <a:rPr dirty="0" sz="1200">
                <a:latin typeface="Calibri"/>
                <a:cs typeface="Calibri"/>
              </a:rPr>
              <a:t>financials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KYC </a:t>
            </a:r>
            <a:r>
              <a:rPr dirty="0" sz="1200" spc="-10">
                <a:latin typeface="Calibri"/>
                <a:cs typeface="Calibri"/>
              </a:rPr>
              <a:t>compliances</a:t>
            </a:r>
            <a:r>
              <a:rPr dirty="0" sz="1200">
                <a:latin typeface="Calibri"/>
                <a:cs typeface="Calibri"/>
              </a:rPr>
              <a:t> through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proposed structure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04232" y="3255264"/>
            <a:ext cx="2286000" cy="118300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 marL="170180" marR="80010" indent="-635">
              <a:lnSpc>
                <a:spcPct val="100000"/>
              </a:lnSpc>
              <a:spcBef>
                <a:spcPts val="295"/>
              </a:spcBef>
            </a:pPr>
            <a:r>
              <a:rPr dirty="0" sz="1200" spc="-10">
                <a:latin typeface="Calibri"/>
                <a:cs typeface="Calibri"/>
              </a:rPr>
              <a:t>Account-Aggregator(AA)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credit </a:t>
            </a:r>
            <a:r>
              <a:rPr dirty="0" sz="1200">
                <a:latin typeface="Calibri"/>
                <a:cs typeface="Calibri"/>
              </a:rPr>
              <a:t>history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verification,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combining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alternate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data-</a:t>
            </a:r>
            <a:r>
              <a:rPr dirty="0" sz="1200" spc="-20">
                <a:latin typeface="Calibri"/>
                <a:cs typeface="Calibri"/>
              </a:rPr>
              <a:t>sets, </a:t>
            </a:r>
            <a:r>
              <a:rPr dirty="0" sz="1200" spc="-10">
                <a:latin typeface="Calibri"/>
                <a:cs typeface="Calibri"/>
              </a:rPr>
              <a:t>monitoring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repayment tools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781031" y="3232404"/>
            <a:ext cx="2286000" cy="120142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234950" marR="248920" indent="-63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finalized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structures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terms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 spc="-10">
                <a:latin typeface="Calibri"/>
                <a:cs typeface="Calibri"/>
              </a:rPr>
              <a:t>Ayocnnect,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Open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Platform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loan </a:t>
            </a:r>
            <a:r>
              <a:rPr dirty="0" sz="1200" spc="-10">
                <a:latin typeface="Calibri"/>
                <a:cs typeface="Calibri"/>
              </a:rPr>
              <a:t>disbursement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76144" y="5583745"/>
            <a:ext cx="7437120" cy="14351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775"/>
              </a:lnSpc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Disbursement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 Processing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33488" y="3255264"/>
            <a:ext cx="2295525" cy="118300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4290" rIns="0" bIns="0" rtlCol="0" vert="horz">
            <a:spAutoFit/>
          </a:bodyPr>
          <a:lstStyle/>
          <a:p>
            <a:pPr algn="ctr" marL="204470" marR="190500" indent="2540">
              <a:lnSpc>
                <a:spcPct val="100000"/>
              </a:lnSpc>
              <a:spcBef>
                <a:spcPts val="27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UFH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in. </a:t>
            </a:r>
            <a:r>
              <a:rPr dirty="0" sz="1200">
                <a:latin typeface="Calibri"/>
                <a:cs typeface="Calibri"/>
              </a:rPr>
              <a:t>Being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like </a:t>
            </a:r>
            <a:r>
              <a:rPr dirty="0" sz="1200">
                <a:latin typeface="Calibri"/>
                <a:cs typeface="Calibri"/>
              </a:rPr>
              <a:t>Credilink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solves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problems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inclusion,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operational inefficiency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enables expansion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465832" y="2886455"/>
            <a:ext cx="2286635" cy="0"/>
          </a:xfrm>
          <a:custGeom>
            <a:avLst/>
            <a:gdLst/>
            <a:ahLst/>
            <a:cxnLst/>
            <a:rect l="l" t="t" r="r" b="b"/>
            <a:pathLst>
              <a:path w="2286635" h="0">
                <a:moveTo>
                  <a:pt x="0" y="0"/>
                </a:moveTo>
                <a:lnTo>
                  <a:pt x="2286508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476500" y="3166872"/>
            <a:ext cx="2286635" cy="0"/>
          </a:xfrm>
          <a:custGeom>
            <a:avLst/>
            <a:gdLst/>
            <a:ahLst/>
            <a:cxnLst/>
            <a:rect l="l" t="t" r="r" b="b"/>
            <a:pathLst>
              <a:path w="2286635" h="0">
                <a:moveTo>
                  <a:pt x="0" y="0"/>
                </a:moveTo>
                <a:lnTo>
                  <a:pt x="2286508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112389" y="2890520"/>
            <a:ext cx="9912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Data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Feeding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904232" y="2880360"/>
            <a:ext cx="2286635" cy="0"/>
          </a:xfrm>
          <a:custGeom>
            <a:avLst/>
            <a:gdLst/>
            <a:ahLst/>
            <a:cxnLst/>
            <a:rect l="l" t="t" r="r" b="b"/>
            <a:pathLst>
              <a:path w="2286634" h="0">
                <a:moveTo>
                  <a:pt x="0" y="0"/>
                </a:moveTo>
                <a:lnTo>
                  <a:pt x="2286508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914900" y="3160776"/>
            <a:ext cx="2286635" cy="0"/>
          </a:xfrm>
          <a:custGeom>
            <a:avLst/>
            <a:gdLst/>
            <a:ahLst/>
            <a:cxnLst/>
            <a:rect l="l" t="t" r="r" b="b"/>
            <a:pathLst>
              <a:path w="2286634" h="0">
                <a:moveTo>
                  <a:pt x="0" y="0"/>
                </a:moveTo>
                <a:lnTo>
                  <a:pt x="2286507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336540" y="2890774"/>
            <a:ext cx="14839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Account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Aggregator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322819" y="2880360"/>
            <a:ext cx="2286635" cy="0"/>
          </a:xfrm>
          <a:custGeom>
            <a:avLst/>
            <a:gdLst/>
            <a:ahLst/>
            <a:cxnLst/>
            <a:rect l="l" t="t" r="r" b="b"/>
            <a:pathLst>
              <a:path w="2286634" h="0">
                <a:moveTo>
                  <a:pt x="0" y="0"/>
                </a:moveTo>
                <a:lnTo>
                  <a:pt x="2286507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333488" y="3160776"/>
            <a:ext cx="2286635" cy="0"/>
          </a:xfrm>
          <a:custGeom>
            <a:avLst/>
            <a:gdLst/>
            <a:ahLst/>
            <a:cxnLst/>
            <a:rect l="l" t="t" r="r" b="b"/>
            <a:pathLst>
              <a:path w="2286634" h="0">
                <a:moveTo>
                  <a:pt x="0" y="0"/>
                </a:moveTo>
                <a:lnTo>
                  <a:pt x="2286507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661909" y="2881960"/>
            <a:ext cx="16656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Loan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Product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Provider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744456" y="2880360"/>
            <a:ext cx="2286635" cy="0"/>
          </a:xfrm>
          <a:custGeom>
            <a:avLst/>
            <a:gdLst/>
            <a:ahLst/>
            <a:cxnLst/>
            <a:rect l="l" t="t" r="r" b="b"/>
            <a:pathLst>
              <a:path w="2286634" h="0">
                <a:moveTo>
                  <a:pt x="0" y="0"/>
                </a:moveTo>
                <a:lnTo>
                  <a:pt x="2286508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756647" y="3160776"/>
            <a:ext cx="2286635" cy="0"/>
          </a:xfrm>
          <a:custGeom>
            <a:avLst/>
            <a:gdLst/>
            <a:ahLst/>
            <a:cxnLst/>
            <a:rect l="l" t="t" r="r" b="b"/>
            <a:pathLst>
              <a:path w="2286634" h="0">
                <a:moveTo>
                  <a:pt x="0" y="0"/>
                </a:moveTo>
                <a:lnTo>
                  <a:pt x="2286507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0193528" y="2890774"/>
            <a:ext cx="14509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Loan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Disbursement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16655" y="5187441"/>
            <a:ext cx="6483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Loan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Disbursal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Assortments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choose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amongst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varied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amounts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interest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88742" y="5757773"/>
            <a:ext cx="7011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Ayoconnect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disburses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loans</a:t>
            </a:r>
            <a:r>
              <a:rPr dirty="0" sz="12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on behalf</a:t>
            </a:r>
            <a:r>
              <a:rPr dirty="0" sz="1200" spc="-1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of</a:t>
            </a:r>
            <a:r>
              <a:rPr dirty="0" sz="1200" spc="-2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UFH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with</a:t>
            </a:r>
            <a:r>
              <a:rPr dirty="0" sz="12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customer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consent</a:t>
            </a:r>
            <a:r>
              <a:rPr dirty="0" sz="12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using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data-layer</a:t>
            </a:r>
            <a:r>
              <a:rPr dirty="0" sz="12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architecture</a:t>
            </a:r>
            <a:r>
              <a:rPr dirty="0" sz="12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intelligent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48020" y="5940653"/>
            <a:ext cx="1294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solutions</a:t>
            </a:r>
            <a:r>
              <a:rPr dirty="0" sz="12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like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BI-</a:t>
            </a:r>
            <a:r>
              <a:rPr dirty="0" sz="1200" spc="-20" b="1">
                <a:solidFill>
                  <a:srgbClr val="1F1F1F"/>
                </a:solidFill>
                <a:latin typeface="Calibri"/>
                <a:cs typeface="Calibri"/>
              </a:rPr>
              <a:t>Fast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728971" y="6509004"/>
            <a:ext cx="209740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Phoenix: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04317" y="6336284"/>
            <a:ext cx="11398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4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Finatier's</a:t>
            </a:r>
            <a:r>
              <a:rPr dirty="0" sz="800" spc="-4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website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456688" y="4518659"/>
            <a:ext cx="2295525" cy="306705"/>
          </a:xfrm>
          <a:prstGeom prst="rect">
            <a:avLst/>
          </a:prstGeom>
          <a:solidFill>
            <a:srgbClr val="E1EFD9"/>
          </a:solidFill>
        </p:spPr>
        <p:txBody>
          <a:bodyPr wrap="square" lIns="0" tIns="53340" rIns="0" bIns="0" rtlCol="0" vert="horz">
            <a:spAutoFit/>
          </a:bodyPr>
          <a:lstStyle/>
          <a:p>
            <a:pPr marL="426084">
              <a:lnSpc>
                <a:spcPct val="100000"/>
              </a:lnSpc>
              <a:spcBef>
                <a:spcPts val="420"/>
              </a:spcBef>
            </a:pPr>
            <a:r>
              <a:rPr dirty="0" sz="1200" spc="-10" b="1">
                <a:latin typeface="Calibri"/>
                <a:cs typeface="Calibri"/>
              </a:rPr>
              <a:t>IDENTIFICATION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LAYER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904232" y="4530852"/>
            <a:ext cx="2295525" cy="30480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520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dirty="0" sz="1200" spc="-60" b="1">
                <a:latin typeface="Calibri"/>
                <a:cs typeface="Calibri"/>
              </a:rPr>
              <a:t>DATA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LAYER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333488" y="4509515"/>
            <a:ext cx="4729480" cy="30480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5334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20"/>
              </a:spcBef>
            </a:pPr>
            <a:r>
              <a:rPr dirty="0" sz="1200" spc="-25" b="1">
                <a:latin typeface="Calibri"/>
                <a:cs typeface="Calibri"/>
              </a:rPr>
              <a:t>PAYMENT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LAYER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627107" y="6010655"/>
            <a:ext cx="2402205" cy="306705"/>
          </a:xfrm>
          <a:prstGeom prst="rect">
            <a:avLst/>
          </a:prstGeom>
          <a:solidFill>
            <a:srgbClr val="E1EFD9"/>
          </a:solidFill>
        </p:spPr>
        <p:txBody>
          <a:bodyPr wrap="square" lIns="0" tIns="53975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425"/>
              </a:spcBef>
            </a:pPr>
            <a:r>
              <a:rPr dirty="0" sz="1200" b="1">
                <a:latin typeface="Calibri"/>
                <a:cs typeface="Calibri"/>
              </a:rPr>
              <a:t>COST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30" b="1">
                <a:latin typeface="Calibri"/>
                <a:cs typeface="Calibri"/>
              </a:rPr>
              <a:t>OUTLAY: </a:t>
            </a:r>
            <a:r>
              <a:rPr dirty="0" sz="1200" b="1">
                <a:latin typeface="Calibri"/>
                <a:cs typeface="Calibri"/>
              </a:rPr>
              <a:t>IDR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806.25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mn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087481" y="6305803"/>
            <a:ext cx="87756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 i="1">
                <a:solidFill>
                  <a:srgbClr val="6E8EB5"/>
                </a:solidFill>
                <a:latin typeface="Calibri"/>
                <a:cs typeface="Calibri"/>
                <a:hlinkClick r:id="rId11" action="ppaction://hlinksldjump"/>
              </a:rPr>
              <a:t>Refer</a:t>
            </a:r>
            <a:r>
              <a:rPr dirty="0" sz="900" spc="-30" b="1" i="1">
                <a:solidFill>
                  <a:srgbClr val="6E8EB5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dirty="0" sz="900" b="1" i="1">
                <a:solidFill>
                  <a:srgbClr val="6E8EB5"/>
                </a:solidFill>
                <a:latin typeface="Calibri"/>
                <a:cs typeface="Calibri"/>
                <a:hlinkClick r:id="rId11" action="ppaction://hlinksldjump"/>
              </a:rPr>
              <a:t>to</a:t>
            </a:r>
            <a:r>
              <a:rPr dirty="0" sz="900" spc="-15" b="1" i="1">
                <a:solidFill>
                  <a:srgbClr val="6E8EB5"/>
                </a:solid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dirty="0" sz="900" spc="-10" b="1" i="1">
                <a:solidFill>
                  <a:srgbClr val="6E8EB5"/>
                </a:solidFill>
                <a:latin typeface="Calibri"/>
                <a:cs typeface="Calibri"/>
                <a:hlinkClick r:id="rId11" action="ppaction://hlinksldjump"/>
              </a:rPr>
              <a:t>Appendix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0162793" y="6392036"/>
            <a:ext cx="1788160" cy="59055"/>
            <a:chOff x="10162793" y="6392036"/>
            <a:chExt cx="1788160" cy="59055"/>
          </a:xfrm>
        </p:grpSpPr>
        <p:sp>
          <p:nvSpPr>
            <p:cNvPr id="61" name="object 61"/>
            <p:cNvSpPr/>
            <p:nvPr/>
          </p:nvSpPr>
          <p:spPr>
            <a:xfrm>
              <a:off x="11099037" y="6443408"/>
              <a:ext cx="852169" cy="7620"/>
            </a:xfrm>
            <a:custGeom>
              <a:avLst/>
              <a:gdLst/>
              <a:ahLst/>
              <a:cxnLst/>
              <a:rect l="l" t="t" r="r" b="b"/>
              <a:pathLst>
                <a:path w="852170" h="7620">
                  <a:moveTo>
                    <a:pt x="851915" y="0"/>
                  </a:moveTo>
                  <a:lnTo>
                    <a:pt x="0" y="0"/>
                  </a:lnTo>
                  <a:lnTo>
                    <a:pt x="0" y="7619"/>
                  </a:lnTo>
                  <a:lnTo>
                    <a:pt x="851915" y="7619"/>
                  </a:lnTo>
                  <a:lnTo>
                    <a:pt x="851915" y="0"/>
                  </a:lnTo>
                  <a:close/>
                </a:path>
              </a:pathLst>
            </a:custGeom>
            <a:solidFill>
              <a:srgbClr val="6E8E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0162793" y="6401561"/>
              <a:ext cx="918210" cy="0"/>
            </a:xfrm>
            <a:custGeom>
              <a:avLst/>
              <a:gdLst/>
              <a:ahLst/>
              <a:cxnLst/>
              <a:rect l="l" t="t" r="r" b="b"/>
              <a:pathLst>
                <a:path w="918209" h="0">
                  <a:moveTo>
                    <a:pt x="0" y="0"/>
                  </a:moveTo>
                  <a:lnTo>
                    <a:pt x="917701" y="0"/>
                  </a:lnTo>
                </a:path>
              </a:pathLst>
            </a:custGeom>
            <a:ln w="19050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4537075" cy="0"/>
          </a:xfrm>
          <a:custGeom>
            <a:avLst/>
            <a:gdLst/>
            <a:ahLst/>
            <a:cxnLst/>
            <a:rect l="l" t="t" r="r" b="b"/>
            <a:pathLst>
              <a:path w="4537075" h="0">
                <a:moveTo>
                  <a:pt x="0" y="0"/>
                </a:moveTo>
                <a:lnTo>
                  <a:pt x="4536948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25995" y="6516623"/>
            <a:ext cx="5159375" cy="0"/>
          </a:xfrm>
          <a:custGeom>
            <a:avLst/>
            <a:gdLst/>
            <a:ahLst/>
            <a:cxnLst/>
            <a:rect l="l" t="t" r="r" b="b"/>
            <a:pathLst>
              <a:path w="5159375" h="0">
                <a:moveTo>
                  <a:pt x="0" y="0"/>
                </a:moveTo>
                <a:lnTo>
                  <a:pt x="5159121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825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8.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66700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CREDILINK</a:t>
            </a:r>
            <a:r>
              <a:rPr dirty="0" spc="-35"/>
              <a:t> </a:t>
            </a:r>
            <a:r>
              <a:rPr dirty="0"/>
              <a:t>: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 spc="-25"/>
              <a:t>IDENTIFICATION</a:t>
            </a:r>
            <a:r>
              <a:rPr dirty="0" spc="-15"/>
              <a:t> </a:t>
            </a:r>
            <a:r>
              <a:rPr dirty="0" spc="-30"/>
              <a:t>LAYER</a:t>
            </a:r>
            <a:r>
              <a:rPr dirty="0" spc="-70"/>
              <a:t> </a:t>
            </a:r>
            <a:r>
              <a:rPr dirty="0" spc="-10"/>
              <a:t>(2/4)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323" y="491489"/>
            <a:ext cx="111232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E-KYC:</a:t>
            </a:r>
            <a:r>
              <a:rPr dirty="0" u="sng" sz="2000" spc="-8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Addressing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Inefficiencies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6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Current</a:t>
            </a:r>
            <a:r>
              <a:rPr dirty="0" u="sng" sz="2000" spc="-6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Credit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Lending</a:t>
            </a:r>
            <a:r>
              <a:rPr dirty="0" u="sng" sz="2000" spc="-6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System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by</a:t>
            </a:r>
            <a:r>
              <a:rPr dirty="0" u="sng" sz="2000" spc="-6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Addressing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Current</a:t>
            </a:r>
            <a:r>
              <a:rPr dirty="0" u="sng" sz="2000" spc="-6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Players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340" y="1642872"/>
            <a:ext cx="1492250" cy="594360"/>
          </a:xfrm>
          <a:prstGeom prst="rect">
            <a:avLst/>
          </a:prstGeom>
          <a:solidFill>
            <a:srgbClr val="DFE6EE"/>
          </a:solidFill>
        </p:spPr>
        <p:txBody>
          <a:bodyPr wrap="square" lIns="0" tIns="285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Times New Roman"/>
              <a:cs typeface="Times New Roman"/>
            </a:endParaRPr>
          </a:p>
          <a:p>
            <a:pPr marL="195580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E-</a:t>
            </a:r>
            <a:r>
              <a:rPr dirty="0" sz="1200" b="1">
                <a:latin typeface="Calibri"/>
                <a:cs typeface="Calibri"/>
              </a:rPr>
              <a:t>money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players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244" y="2324100"/>
            <a:ext cx="1492250" cy="594360"/>
          </a:xfrm>
          <a:prstGeom prst="rect">
            <a:avLst/>
          </a:prstGeom>
          <a:solidFill>
            <a:srgbClr val="DFE6EE"/>
          </a:solidFill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Calibri"/>
                <a:cs typeface="Calibri"/>
              </a:rPr>
              <a:t>P2P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Lenders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523" y="1319911"/>
            <a:ext cx="42176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04975" algn="l"/>
                <a:tab pos="3125470" algn="l"/>
              </a:tabLst>
            </a:pPr>
            <a:r>
              <a:rPr dirty="0" baseline="3968" sz="2100" spc="-15" b="1">
                <a:latin typeface="Calibri"/>
                <a:cs typeface="Calibri"/>
              </a:rPr>
              <a:t>SOURCE</a:t>
            </a:r>
            <a:r>
              <a:rPr dirty="0" baseline="3968" sz="2100" b="1">
                <a:latin typeface="Calibri"/>
                <a:cs typeface="Calibri"/>
              </a:rPr>
              <a:t>	</a:t>
            </a:r>
            <a:r>
              <a:rPr dirty="0" sz="1400" spc="-20" b="1">
                <a:latin typeface="Calibri"/>
                <a:cs typeface="Calibri"/>
              </a:rPr>
              <a:t>COST</a:t>
            </a:r>
            <a:r>
              <a:rPr dirty="0" sz="1400" b="1">
                <a:latin typeface="Calibri"/>
                <a:cs typeface="Calibri"/>
              </a:rPr>
              <a:t>	PROCESS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TIME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244" y="2988564"/>
            <a:ext cx="1492250" cy="594360"/>
          </a:xfrm>
          <a:prstGeom prst="rect">
            <a:avLst/>
          </a:prstGeom>
          <a:solidFill>
            <a:srgbClr val="DFE6EE"/>
          </a:solidFill>
        </p:spPr>
        <p:txBody>
          <a:bodyPr wrap="square" lIns="0" tIns="173990" rIns="0" bIns="0" rtlCol="0" vert="horz">
            <a:spAutoFit/>
          </a:bodyPr>
          <a:lstStyle/>
          <a:p>
            <a:pPr algn="ctr" marR="43815">
              <a:lnSpc>
                <a:spcPct val="100000"/>
              </a:lnSpc>
              <a:spcBef>
                <a:spcPts val="1370"/>
              </a:spcBef>
            </a:pPr>
            <a:r>
              <a:rPr dirty="0" sz="1200" spc="-10" b="1">
                <a:latin typeface="Calibri"/>
                <a:cs typeface="Calibri"/>
              </a:rPr>
              <a:t>Banks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5116" y="1806066"/>
            <a:ext cx="813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IDR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16,000 </a:t>
            </a:r>
            <a:r>
              <a:rPr dirty="0" sz="1200" spc="-60"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115,000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25116" y="2457450"/>
            <a:ext cx="813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IDR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26,000 </a:t>
            </a:r>
            <a:r>
              <a:rPr dirty="0" sz="1200" spc="-60"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76,000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8351" y="3083433"/>
            <a:ext cx="8483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IDR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24,000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–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64,000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73017" y="1658873"/>
            <a:ext cx="1670685" cy="1922145"/>
          </a:xfrm>
          <a:prstGeom prst="rect">
            <a:avLst/>
          </a:prstGeom>
          <a:solidFill>
            <a:srgbClr val="C00000">
              <a:alpha val="5882"/>
            </a:srgbClr>
          </a:solidFill>
          <a:ln w="19050">
            <a:solidFill>
              <a:srgbClr val="6E8EB5"/>
            </a:solidFill>
          </a:ln>
        </p:spPr>
        <p:txBody>
          <a:bodyPr wrap="square" lIns="0" tIns="135255" rIns="0" bIns="0" rtlCol="0" vert="horz">
            <a:spAutoFit/>
          </a:bodyPr>
          <a:lstStyle/>
          <a:p>
            <a:pPr algn="ctr" marL="59690">
              <a:lnSpc>
                <a:spcPct val="100000"/>
              </a:lnSpc>
              <a:spcBef>
                <a:spcPts val="1065"/>
              </a:spcBef>
            </a:pPr>
            <a:r>
              <a:rPr dirty="0" sz="1200" spc="-10">
                <a:latin typeface="Calibri"/>
                <a:cs typeface="Calibri"/>
              </a:rPr>
              <a:t>1-</a:t>
            </a:r>
            <a:r>
              <a:rPr dirty="0" sz="1200">
                <a:latin typeface="Calibri"/>
                <a:cs typeface="Calibri"/>
              </a:rPr>
              <a:t>2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Days(customer)</a:t>
            </a:r>
            <a:endParaRPr sz="1200">
              <a:latin typeface="Calibri"/>
              <a:cs typeface="Calibri"/>
            </a:endParaRPr>
          </a:p>
          <a:p>
            <a:pPr algn="ctr" marL="59055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3-</a:t>
            </a:r>
            <a:r>
              <a:rPr dirty="0" sz="1200">
                <a:latin typeface="Calibri"/>
                <a:cs typeface="Calibri"/>
              </a:rPr>
              <a:t>10 </a:t>
            </a:r>
            <a:r>
              <a:rPr dirty="0" sz="1200" spc="-10">
                <a:latin typeface="Calibri"/>
                <a:cs typeface="Calibri"/>
              </a:rPr>
              <a:t>Days(Merchant)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200">
              <a:latin typeface="Calibri"/>
              <a:cs typeface="Calibri"/>
            </a:endParaRPr>
          </a:p>
          <a:p>
            <a:pPr algn="ctr" marL="5905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1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day(customer)</a:t>
            </a:r>
            <a:endParaRPr sz="1200">
              <a:latin typeface="Calibri"/>
              <a:cs typeface="Calibri"/>
            </a:endParaRPr>
          </a:p>
          <a:p>
            <a:pPr algn="ctr" marL="5969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1-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Days(Merchants)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>
              <a:latin typeface="Calibri"/>
              <a:cs typeface="Calibri"/>
            </a:endParaRPr>
          </a:p>
          <a:p>
            <a:pPr marL="330200" marR="262890" indent="23622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Months </a:t>
            </a:r>
            <a:r>
              <a:rPr dirty="0" sz="1200">
                <a:latin typeface="Calibri"/>
                <a:cs typeface="Calibri"/>
              </a:rPr>
              <a:t>(G2P</a:t>
            </a:r>
            <a:r>
              <a:rPr dirty="0" sz="1200" spc="-10">
                <a:latin typeface="Calibri"/>
                <a:cs typeface="Calibri"/>
              </a:rPr>
              <a:t> beneficiary)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2927" y="3631819"/>
            <a:ext cx="380872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 i="1">
                <a:solidFill>
                  <a:srgbClr val="6E8EB5"/>
                </a:solidFill>
                <a:latin typeface="Calibri"/>
                <a:cs typeface="Calibri"/>
              </a:rPr>
              <a:t>Prolonged</a:t>
            </a:r>
            <a:r>
              <a:rPr dirty="0" sz="1200" spc="-35" b="1" i="1">
                <a:solidFill>
                  <a:srgbClr val="6E8EB5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6E8EB5"/>
                </a:solidFill>
                <a:latin typeface="Calibri"/>
                <a:cs typeface="Calibri"/>
              </a:rPr>
              <a:t>Loan</a:t>
            </a:r>
            <a:r>
              <a:rPr dirty="0" sz="1200" spc="-30" b="1" i="1">
                <a:solidFill>
                  <a:srgbClr val="6E8EB5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6E8EB5"/>
                </a:solidFill>
                <a:latin typeface="Calibri"/>
                <a:cs typeface="Calibri"/>
              </a:rPr>
              <a:t>Approval</a:t>
            </a:r>
            <a:r>
              <a:rPr dirty="0" sz="1200" spc="-35" b="1" i="1">
                <a:solidFill>
                  <a:srgbClr val="6E8EB5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6E8EB5"/>
                </a:solidFill>
                <a:latin typeface="Calibri"/>
                <a:cs typeface="Calibri"/>
              </a:rPr>
              <a:t>Duration</a:t>
            </a:r>
            <a:r>
              <a:rPr dirty="0" sz="1200" spc="-20" b="1" i="1">
                <a:solidFill>
                  <a:srgbClr val="6E8EB5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6E8EB5"/>
                </a:solidFill>
                <a:latin typeface="Calibri"/>
                <a:cs typeface="Calibri"/>
              </a:rPr>
              <a:t>Leading</a:t>
            </a:r>
            <a:r>
              <a:rPr dirty="0" sz="1200" spc="-25" b="1" i="1">
                <a:solidFill>
                  <a:srgbClr val="6E8EB5"/>
                </a:solidFill>
                <a:latin typeface="Calibri"/>
                <a:cs typeface="Calibri"/>
              </a:rPr>
              <a:t> </a:t>
            </a:r>
            <a:r>
              <a:rPr dirty="0" sz="1200" spc="-30" b="1" i="1">
                <a:solidFill>
                  <a:srgbClr val="6E8EB5"/>
                </a:solidFill>
                <a:latin typeface="Calibri"/>
                <a:cs typeface="Calibri"/>
              </a:rPr>
              <a:t>To</a:t>
            </a:r>
            <a:r>
              <a:rPr dirty="0" sz="1200" spc="-40" b="1" i="1">
                <a:solidFill>
                  <a:srgbClr val="6E8EB5"/>
                </a:solidFill>
                <a:latin typeface="Calibri"/>
                <a:cs typeface="Calibri"/>
              </a:rPr>
              <a:t> </a:t>
            </a:r>
            <a:r>
              <a:rPr dirty="0" sz="1200" spc="-10" b="1" i="1">
                <a:solidFill>
                  <a:srgbClr val="6E8EB5"/>
                </a:solidFill>
                <a:latin typeface="Calibri"/>
                <a:cs typeface="Calibri"/>
              </a:rPr>
              <a:t>Inefficiencies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60990" y="4002532"/>
            <a:ext cx="852169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900" b="1" i="1">
                <a:solidFill>
                  <a:srgbClr val="6E8EB5"/>
                </a:solidFill>
                <a:latin typeface="Calibri"/>
                <a:cs typeface="Calibri"/>
              </a:rPr>
              <a:t>Refer</a:t>
            </a:r>
            <a:r>
              <a:rPr dirty="0" sz="900" spc="-30" b="1" i="1">
                <a:solidFill>
                  <a:srgbClr val="6E8EB5"/>
                </a:solidFill>
                <a:latin typeface="Calibri"/>
                <a:cs typeface="Calibri"/>
              </a:rPr>
              <a:t> </a:t>
            </a:r>
            <a:r>
              <a:rPr dirty="0" sz="900" b="1" i="1">
                <a:solidFill>
                  <a:srgbClr val="6E8EB5"/>
                </a:solidFill>
                <a:latin typeface="Calibri"/>
                <a:cs typeface="Calibri"/>
              </a:rPr>
              <a:t>to</a:t>
            </a:r>
            <a:r>
              <a:rPr dirty="0" sz="900" spc="-15" b="1" i="1">
                <a:solidFill>
                  <a:srgbClr val="6E8EB5"/>
                </a:solidFill>
                <a:latin typeface="Calibri"/>
                <a:cs typeface="Calibri"/>
              </a:rPr>
              <a:t> </a:t>
            </a:r>
            <a:r>
              <a:rPr dirty="0" sz="900" spc="-10" b="1" i="1">
                <a:solidFill>
                  <a:srgbClr val="6E8EB5"/>
                </a:solidFill>
                <a:latin typeface="Calibri"/>
                <a:cs typeface="Calibri"/>
              </a:rPr>
              <a:t>Appendix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9456" y="992124"/>
            <a:ext cx="5511165" cy="28511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1905" rIns="0" bIns="0" rtlCol="0" vert="horz">
            <a:spAutoFit/>
          </a:bodyPr>
          <a:lstStyle/>
          <a:p>
            <a:pPr algn="ctr" marL="115570">
              <a:lnSpc>
                <a:spcPct val="100000"/>
              </a:lnSpc>
              <a:spcBef>
                <a:spcPts val="1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dirty="0" sz="1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6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  <a:r>
              <a:rPr dirty="0" sz="16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6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Lending</a:t>
            </a:r>
            <a:r>
              <a:rPr dirty="0" sz="1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8566" y="3745229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19050">
            <a:solidFill>
              <a:srgbClr val="C5DF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9456" y="3927347"/>
            <a:ext cx="5511165" cy="28511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11430" rIns="0" bIns="0" rtlCol="0" vert="horz">
            <a:spAutoFit/>
          </a:bodyPr>
          <a:lstStyle/>
          <a:p>
            <a:pPr algn="ctr" marR="317500">
              <a:lnSpc>
                <a:spcPct val="100000"/>
              </a:lnSpc>
              <a:spcBef>
                <a:spcPts val="90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Assessing</a:t>
            </a: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Industry's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 Value</a:t>
            </a: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Chain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79142" y="5507532"/>
            <a:ext cx="14833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Risk</a:t>
            </a:r>
            <a:r>
              <a:rPr dirty="0" sz="1200" spc="-3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of</a:t>
            </a:r>
            <a:r>
              <a:rPr dirty="0" sz="1200" spc="-40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manipulation</a:t>
            </a:r>
            <a:r>
              <a:rPr dirty="0" sz="1200" spc="-1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entered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customer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56759" y="5445252"/>
            <a:ext cx="974090" cy="579120"/>
          </a:xfrm>
          <a:prstGeom prst="rect">
            <a:avLst/>
          </a:prstGeom>
          <a:solidFill>
            <a:srgbClr val="FAEFEF"/>
          </a:solidFill>
        </p:spPr>
        <p:txBody>
          <a:bodyPr wrap="square" lIns="0" tIns="4445" rIns="0" bIns="0" rtlCol="0" vert="horz">
            <a:spAutoFit/>
          </a:bodyPr>
          <a:lstStyle/>
          <a:p>
            <a:pPr marL="126364" indent="25400">
              <a:lnSpc>
                <a:spcPct val="100000"/>
              </a:lnSpc>
              <a:spcBef>
                <a:spcPts val="35"/>
              </a:spcBef>
            </a:pP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Increase</a:t>
            </a:r>
            <a:r>
              <a:rPr dirty="0" sz="1200" spc="-5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0A4779"/>
                </a:solidFill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  <a:p>
            <a:pPr marL="316865" marR="106045" indent="-1905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A4779"/>
                </a:solidFill>
                <a:latin typeface="Calibri"/>
                <a:cs typeface="Calibri"/>
              </a:rPr>
              <a:t>operational costs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69314" y="4526660"/>
            <a:ext cx="1490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errors</a:t>
            </a:r>
            <a:r>
              <a:rPr dirty="0" sz="1200" spc="-5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algn="ctr" marL="34290">
              <a:lnSpc>
                <a:spcPct val="100000"/>
              </a:lnSpc>
            </a:pP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false</a:t>
            </a:r>
            <a:r>
              <a:rPr dirty="0" sz="1200" spc="-50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A4779"/>
                </a:solidFill>
                <a:latin typeface="Calibri"/>
                <a:cs typeface="Calibri"/>
              </a:rPr>
              <a:t>positives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9382" y="5518810"/>
            <a:ext cx="15265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source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verify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A4779"/>
                </a:solidFill>
                <a:latin typeface="Calibri"/>
                <a:cs typeface="Calibri"/>
              </a:rPr>
              <a:t>customer</a:t>
            </a:r>
            <a:r>
              <a:rPr dirty="0" sz="1200" spc="-1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A4779"/>
                </a:solidFill>
                <a:latin typeface="Calibri"/>
                <a:cs typeface="Calibri"/>
              </a:rPr>
              <a:t>identity </a:t>
            </a:r>
            <a:r>
              <a:rPr dirty="0" sz="1200" spc="-20" b="1">
                <a:solidFill>
                  <a:srgbClr val="0A4779"/>
                </a:solidFill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84041" y="4485258"/>
            <a:ext cx="13506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4659" marR="5080" indent="-441959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Dependence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A4779"/>
                </a:solidFill>
                <a:latin typeface="Calibri"/>
                <a:cs typeface="Calibri"/>
              </a:rPr>
              <a:t>on </a:t>
            </a:r>
            <a:r>
              <a:rPr dirty="0" sz="1200" spc="-20" b="1">
                <a:solidFill>
                  <a:srgbClr val="0A4779"/>
                </a:solidFill>
                <a:latin typeface="Calibri"/>
                <a:cs typeface="Calibri"/>
              </a:rPr>
              <a:t>third </a:t>
            </a:r>
            <a:r>
              <a:rPr dirty="0" sz="1200" spc="-10" b="1">
                <a:solidFill>
                  <a:srgbClr val="0A4779"/>
                </a:solidFill>
                <a:latin typeface="Calibri"/>
                <a:cs typeface="Calibri"/>
              </a:rPr>
              <a:t>parties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52298" y="4831128"/>
            <a:ext cx="4591685" cy="638810"/>
            <a:chOff x="652298" y="4831128"/>
            <a:chExt cx="4591685" cy="63881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298" y="4951502"/>
              <a:ext cx="528775" cy="5181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3812" y="4831128"/>
              <a:ext cx="560758" cy="55616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4926" y="4876799"/>
              <a:ext cx="399026" cy="48158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85672" y="5172455"/>
              <a:ext cx="512445" cy="76200"/>
            </a:xfrm>
            <a:custGeom>
              <a:avLst/>
              <a:gdLst/>
              <a:ahLst/>
              <a:cxnLst/>
              <a:rect l="l" t="t" r="r" b="b"/>
              <a:pathLst>
                <a:path w="512444" h="76200">
                  <a:moveTo>
                    <a:pt x="435991" y="0"/>
                  </a:moveTo>
                  <a:lnTo>
                    <a:pt x="435991" y="76200"/>
                  </a:lnTo>
                  <a:lnTo>
                    <a:pt x="499491" y="44450"/>
                  </a:lnTo>
                  <a:lnTo>
                    <a:pt x="448691" y="44450"/>
                  </a:lnTo>
                  <a:lnTo>
                    <a:pt x="448691" y="31750"/>
                  </a:lnTo>
                  <a:lnTo>
                    <a:pt x="499491" y="31750"/>
                  </a:lnTo>
                  <a:lnTo>
                    <a:pt x="435991" y="0"/>
                  </a:lnTo>
                  <a:close/>
                </a:path>
                <a:path w="512444" h="76200">
                  <a:moveTo>
                    <a:pt x="43599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35991" y="44450"/>
                  </a:lnTo>
                  <a:lnTo>
                    <a:pt x="435991" y="31750"/>
                  </a:lnTo>
                  <a:close/>
                </a:path>
                <a:path w="512444" h="76200">
                  <a:moveTo>
                    <a:pt x="499491" y="31750"/>
                  </a:moveTo>
                  <a:lnTo>
                    <a:pt x="448691" y="31750"/>
                  </a:lnTo>
                  <a:lnTo>
                    <a:pt x="448691" y="44450"/>
                  </a:lnTo>
                  <a:lnTo>
                    <a:pt x="499491" y="44450"/>
                  </a:lnTo>
                  <a:lnTo>
                    <a:pt x="512191" y="38100"/>
                  </a:lnTo>
                  <a:lnTo>
                    <a:pt x="499491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2788" y="4969763"/>
              <a:ext cx="423672" cy="42367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156460" y="5143499"/>
              <a:ext cx="1576070" cy="105410"/>
            </a:xfrm>
            <a:custGeom>
              <a:avLst/>
              <a:gdLst/>
              <a:ahLst/>
              <a:cxnLst/>
              <a:rect l="l" t="t" r="r" b="b"/>
              <a:pathLst>
                <a:path w="1576070" h="105410">
                  <a:moveTo>
                    <a:pt x="512191" y="67056"/>
                  </a:moveTo>
                  <a:lnTo>
                    <a:pt x="499491" y="60706"/>
                  </a:lnTo>
                  <a:lnTo>
                    <a:pt x="435991" y="28956"/>
                  </a:lnTo>
                  <a:lnTo>
                    <a:pt x="435991" y="60706"/>
                  </a:lnTo>
                  <a:lnTo>
                    <a:pt x="0" y="60706"/>
                  </a:lnTo>
                  <a:lnTo>
                    <a:pt x="0" y="73406"/>
                  </a:lnTo>
                  <a:lnTo>
                    <a:pt x="435991" y="73406"/>
                  </a:lnTo>
                  <a:lnTo>
                    <a:pt x="435991" y="105156"/>
                  </a:lnTo>
                  <a:lnTo>
                    <a:pt x="499491" y="73406"/>
                  </a:lnTo>
                  <a:lnTo>
                    <a:pt x="512191" y="67056"/>
                  </a:lnTo>
                  <a:close/>
                </a:path>
                <a:path w="1576070" h="105410">
                  <a:moveTo>
                    <a:pt x="1575943" y="38100"/>
                  </a:moveTo>
                  <a:lnTo>
                    <a:pt x="1563243" y="31750"/>
                  </a:lnTo>
                  <a:lnTo>
                    <a:pt x="1499743" y="0"/>
                  </a:lnTo>
                  <a:lnTo>
                    <a:pt x="1499743" y="31750"/>
                  </a:lnTo>
                  <a:lnTo>
                    <a:pt x="1063752" y="31750"/>
                  </a:lnTo>
                  <a:lnTo>
                    <a:pt x="1063752" y="44450"/>
                  </a:lnTo>
                  <a:lnTo>
                    <a:pt x="1499743" y="44450"/>
                  </a:lnTo>
                  <a:lnTo>
                    <a:pt x="1499743" y="76200"/>
                  </a:lnTo>
                  <a:lnTo>
                    <a:pt x="1563243" y="44450"/>
                  </a:lnTo>
                  <a:lnTo>
                    <a:pt x="1575943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7515" y="4931663"/>
              <a:ext cx="534924" cy="53492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309872" y="5143500"/>
              <a:ext cx="512445" cy="76200"/>
            </a:xfrm>
            <a:custGeom>
              <a:avLst/>
              <a:gdLst/>
              <a:ahLst/>
              <a:cxnLst/>
              <a:rect l="l" t="t" r="r" b="b"/>
              <a:pathLst>
                <a:path w="512445" h="76200">
                  <a:moveTo>
                    <a:pt x="435990" y="0"/>
                  </a:moveTo>
                  <a:lnTo>
                    <a:pt x="435990" y="76200"/>
                  </a:lnTo>
                  <a:lnTo>
                    <a:pt x="499490" y="44450"/>
                  </a:lnTo>
                  <a:lnTo>
                    <a:pt x="448690" y="44450"/>
                  </a:lnTo>
                  <a:lnTo>
                    <a:pt x="448690" y="31750"/>
                  </a:lnTo>
                  <a:lnTo>
                    <a:pt x="499490" y="31750"/>
                  </a:lnTo>
                  <a:lnTo>
                    <a:pt x="435990" y="0"/>
                  </a:lnTo>
                  <a:close/>
                </a:path>
                <a:path w="512445" h="76200">
                  <a:moveTo>
                    <a:pt x="43599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35990" y="44450"/>
                  </a:lnTo>
                  <a:lnTo>
                    <a:pt x="435990" y="31750"/>
                  </a:lnTo>
                  <a:close/>
                </a:path>
                <a:path w="512445" h="76200">
                  <a:moveTo>
                    <a:pt x="499490" y="31750"/>
                  </a:moveTo>
                  <a:lnTo>
                    <a:pt x="448690" y="31750"/>
                  </a:lnTo>
                  <a:lnTo>
                    <a:pt x="448690" y="44450"/>
                  </a:lnTo>
                  <a:lnTo>
                    <a:pt x="499490" y="44450"/>
                  </a:lnTo>
                  <a:lnTo>
                    <a:pt x="512190" y="38100"/>
                  </a:lnTo>
                  <a:lnTo>
                    <a:pt x="499490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452615" y="1002791"/>
            <a:ext cx="5511165" cy="28511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14604" rIns="0" bIns="0" rtlCol="0" vert="horz">
            <a:spAutoFit/>
          </a:bodyPr>
          <a:lstStyle/>
          <a:p>
            <a:pPr algn="ctr" marR="168275">
              <a:lnSpc>
                <a:spcPct val="100000"/>
              </a:lnSpc>
              <a:spcBef>
                <a:spcPts val="114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Mapping</a:t>
            </a:r>
            <a:r>
              <a:rPr dirty="0" sz="16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dirty="0" sz="16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Forward:</a:t>
            </a:r>
            <a:r>
              <a:rPr dirty="0" sz="16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Utilising</a:t>
            </a:r>
            <a:r>
              <a:rPr dirty="0" sz="16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e-</a:t>
            </a: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KYCs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099047" y="1466088"/>
            <a:ext cx="2901950" cy="772795"/>
          </a:xfrm>
          <a:custGeom>
            <a:avLst/>
            <a:gdLst/>
            <a:ahLst/>
            <a:cxnLst/>
            <a:rect l="l" t="t" r="r" b="b"/>
            <a:pathLst>
              <a:path w="2901950" h="772794">
                <a:moveTo>
                  <a:pt x="2901696" y="0"/>
                </a:moveTo>
                <a:lnTo>
                  <a:pt x="0" y="0"/>
                </a:lnTo>
                <a:lnTo>
                  <a:pt x="0" y="772668"/>
                </a:lnTo>
                <a:lnTo>
                  <a:pt x="2901696" y="772668"/>
                </a:lnTo>
                <a:lnTo>
                  <a:pt x="290169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182614" y="1491742"/>
            <a:ext cx="2146300" cy="638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001F5F"/>
                </a:solidFill>
                <a:latin typeface="Calibri"/>
                <a:cs typeface="Calibri"/>
              </a:rPr>
              <a:t>98%</a:t>
            </a:r>
            <a:endParaRPr sz="1600">
              <a:latin typeface="Calibri"/>
              <a:cs typeface="Calibri"/>
            </a:endParaRPr>
          </a:p>
          <a:p>
            <a:pPr marL="114300" marR="5715" indent="-10223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 adult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population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001F5F"/>
                </a:solidFill>
                <a:latin typeface="Calibri"/>
                <a:cs typeface="Calibri"/>
              </a:rPr>
              <a:t>Kartu Tanda</a:t>
            </a:r>
            <a:r>
              <a:rPr dirty="0" sz="1200" spc="-1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1F5F"/>
                </a:solidFill>
                <a:latin typeface="Calibri"/>
                <a:cs typeface="Calibri"/>
              </a:rPr>
              <a:t>Penduduk </a:t>
            </a:r>
            <a:r>
              <a:rPr dirty="0" sz="1200" spc="-10" b="1">
                <a:solidFill>
                  <a:srgbClr val="001F5F"/>
                </a:solidFill>
                <a:latin typeface="Calibri"/>
                <a:cs typeface="Calibri"/>
              </a:rPr>
              <a:t>(e-</a:t>
            </a:r>
            <a:r>
              <a:rPr dirty="0" sz="1200" b="1">
                <a:solidFill>
                  <a:srgbClr val="001F5F"/>
                </a:solidFill>
                <a:latin typeface="Calibri"/>
                <a:cs typeface="Calibri"/>
              </a:rPr>
              <a:t>KTP)</a:t>
            </a:r>
            <a:r>
              <a:rPr dirty="0" sz="1200" spc="-2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1F5F"/>
                </a:solidFill>
                <a:latin typeface="Calibri"/>
                <a:cs typeface="Calibri"/>
              </a:rPr>
              <a:t>ID</a:t>
            </a:r>
            <a:r>
              <a:rPr dirty="0" sz="1200" spc="-25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card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028176" y="1476755"/>
            <a:ext cx="2900680" cy="772795"/>
          </a:xfrm>
          <a:custGeom>
            <a:avLst/>
            <a:gdLst/>
            <a:ahLst/>
            <a:cxnLst/>
            <a:rect l="l" t="t" r="r" b="b"/>
            <a:pathLst>
              <a:path w="2900679" h="772794">
                <a:moveTo>
                  <a:pt x="2900172" y="0"/>
                </a:moveTo>
                <a:lnTo>
                  <a:pt x="0" y="0"/>
                </a:lnTo>
                <a:lnTo>
                  <a:pt x="0" y="772668"/>
                </a:lnTo>
                <a:lnTo>
                  <a:pt x="2900172" y="772668"/>
                </a:lnTo>
                <a:lnTo>
                  <a:pt x="29001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9028176" y="1458594"/>
            <a:ext cx="2900680" cy="821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1976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001F5F"/>
                </a:solidFill>
                <a:latin typeface="Calibri"/>
                <a:cs typeface="Calibri"/>
              </a:rPr>
              <a:t>Feasibility</a:t>
            </a:r>
            <a:endParaRPr sz="1600">
              <a:latin typeface="Calibri"/>
              <a:cs typeface="Calibri"/>
            </a:endParaRPr>
          </a:p>
          <a:p>
            <a:pPr marL="619760" marR="8255">
              <a:lnSpc>
                <a:spcPct val="100000"/>
              </a:lnSpc>
              <a:spcBef>
                <a:spcPts val="30"/>
              </a:spcBef>
            </a:pP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digital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identity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1F5F"/>
                </a:solidFill>
                <a:latin typeface="Calibri"/>
                <a:cs typeface="Calibri"/>
              </a:rPr>
              <a:t>e-KYC solution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1F5F"/>
                </a:solidFill>
                <a:latin typeface="Calibri"/>
                <a:cs typeface="Calibri"/>
              </a:rPr>
              <a:t>financial</a:t>
            </a:r>
            <a:r>
              <a:rPr dirty="0" sz="12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1F5F"/>
                </a:solidFill>
                <a:latin typeface="Calibri"/>
                <a:cs typeface="Calibri"/>
              </a:rPr>
              <a:t>inclusion</a:t>
            </a:r>
            <a:r>
              <a:rPr dirty="0" sz="1200" spc="-3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1F5F"/>
                </a:solidFill>
                <a:latin typeface="Calibri"/>
                <a:cs typeface="Calibri"/>
              </a:rPr>
              <a:t>highlighted</a:t>
            </a:r>
            <a:r>
              <a:rPr dirty="0" sz="1200" spc="50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dirty="0" sz="1200" spc="-1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001F5F"/>
                </a:solidFill>
                <a:latin typeface="Calibri"/>
                <a:cs typeface="Calibri"/>
              </a:rPr>
              <a:t>GoI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555992" y="1600200"/>
            <a:ext cx="2901950" cy="1447800"/>
            <a:chOff x="7555992" y="1600200"/>
            <a:chExt cx="2901950" cy="1447800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06384" y="1600200"/>
              <a:ext cx="487679" cy="48767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31808" y="1618488"/>
              <a:ext cx="425196" cy="42519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555992" y="2275331"/>
              <a:ext cx="2901950" cy="772795"/>
            </a:xfrm>
            <a:custGeom>
              <a:avLst/>
              <a:gdLst/>
              <a:ahLst/>
              <a:cxnLst/>
              <a:rect l="l" t="t" r="r" b="b"/>
              <a:pathLst>
                <a:path w="2901950" h="772794">
                  <a:moveTo>
                    <a:pt x="2901696" y="0"/>
                  </a:moveTo>
                  <a:lnTo>
                    <a:pt x="0" y="0"/>
                  </a:lnTo>
                  <a:lnTo>
                    <a:pt x="0" y="772668"/>
                  </a:lnTo>
                  <a:lnTo>
                    <a:pt x="2901696" y="772668"/>
                  </a:lnTo>
                  <a:lnTo>
                    <a:pt x="29016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7555992" y="2275332"/>
            <a:ext cx="2901950" cy="772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200">
              <a:latin typeface="Times New Roman"/>
              <a:cs typeface="Times New Roman"/>
            </a:endParaRPr>
          </a:p>
          <a:p>
            <a:pPr marL="6413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Booming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1F5F"/>
                </a:solidFill>
                <a:latin typeface="Calibri"/>
                <a:cs typeface="Calibri"/>
              </a:rPr>
              <a:t>digital</a:t>
            </a:r>
            <a:r>
              <a:rPr dirty="0" sz="1200" spc="-2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1F5F"/>
                </a:solidFill>
                <a:latin typeface="Calibri"/>
                <a:cs typeface="Calibri"/>
              </a:rPr>
              <a:t>economy</a:t>
            </a:r>
            <a:r>
              <a:rPr dirty="0" sz="1200" spc="-3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01F5F"/>
                </a:solidFill>
                <a:latin typeface="Calibri"/>
                <a:cs typeface="Calibri"/>
              </a:rPr>
              <a:t>fintech</a:t>
            </a:r>
            <a:r>
              <a:rPr dirty="0" sz="1200" spc="-5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01F5F"/>
                </a:solidFill>
                <a:latin typeface="Calibri"/>
                <a:cs typeface="Calibri"/>
              </a:rPr>
              <a:t>sector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72143" y="2336292"/>
            <a:ext cx="445007" cy="445008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6012179" y="3139439"/>
            <a:ext cx="6022975" cy="52324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600" b="1">
                <a:solidFill>
                  <a:srgbClr val="001F5F"/>
                </a:solidFill>
                <a:latin typeface="Calibri"/>
                <a:cs typeface="Calibri"/>
              </a:rPr>
              <a:t>USD</a:t>
            </a:r>
            <a:r>
              <a:rPr dirty="0" sz="1600" spc="-5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001F5F"/>
                </a:solidFill>
                <a:latin typeface="Calibri"/>
                <a:cs typeface="Calibri"/>
              </a:rPr>
              <a:t>3.9-</a:t>
            </a:r>
            <a:r>
              <a:rPr dirty="0" sz="1600" b="1">
                <a:solidFill>
                  <a:srgbClr val="001F5F"/>
                </a:solidFill>
                <a:latin typeface="Calibri"/>
                <a:cs typeface="Calibri"/>
              </a:rPr>
              <a:t>4.2</a:t>
            </a:r>
            <a:r>
              <a:rPr dirty="0" sz="1600" spc="-20" b="1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001F5F"/>
                </a:solidFill>
                <a:latin typeface="Calibri"/>
                <a:cs typeface="Calibri"/>
              </a:rPr>
              <a:t>billion</a:t>
            </a:r>
            <a:endParaRPr sz="16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30"/>
              </a:spcBef>
            </a:pPr>
            <a:r>
              <a:rPr dirty="0" sz="1200">
                <a:latin typeface="Calibri"/>
                <a:cs typeface="Calibri"/>
              </a:rPr>
              <a:t>Savings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 </a:t>
            </a:r>
            <a:r>
              <a:rPr dirty="0" sz="1200" spc="-10">
                <a:latin typeface="Calibri"/>
                <a:cs typeface="Calibri"/>
              </a:rPr>
              <a:t>Indonesian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FinTech</a:t>
            </a:r>
            <a:r>
              <a:rPr dirty="0" sz="1200">
                <a:latin typeface="Calibri"/>
                <a:cs typeface="Calibri"/>
              </a:rPr>
              <a:t> 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e-</a:t>
            </a:r>
            <a:r>
              <a:rPr dirty="0" sz="1200" spc="-25">
                <a:latin typeface="Calibri"/>
                <a:cs typeface="Calibri"/>
              </a:rPr>
              <a:t>KYC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04012" y="6317691"/>
            <a:ext cx="8566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2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MSC</a:t>
            </a:r>
            <a:r>
              <a:rPr dirty="0" sz="800" spc="-4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Policy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952744" y="3994403"/>
            <a:ext cx="6166485" cy="2423160"/>
          </a:xfrm>
          <a:custGeom>
            <a:avLst/>
            <a:gdLst/>
            <a:ahLst/>
            <a:cxnLst/>
            <a:rect l="l" t="t" r="r" b="b"/>
            <a:pathLst>
              <a:path w="6166484" h="2423160">
                <a:moveTo>
                  <a:pt x="6166104" y="0"/>
                </a:moveTo>
                <a:lnTo>
                  <a:pt x="0" y="0"/>
                </a:lnTo>
                <a:lnTo>
                  <a:pt x="0" y="2423160"/>
                </a:lnTo>
                <a:lnTo>
                  <a:pt x="6166104" y="2423160"/>
                </a:lnTo>
                <a:lnTo>
                  <a:pt x="6166104" y="0"/>
                </a:lnTo>
                <a:close/>
              </a:path>
            </a:pathLst>
          </a:custGeom>
          <a:solidFill>
            <a:srgbClr val="F1F1F1">
              <a:alpha val="6313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1326368" y="4194047"/>
            <a:ext cx="660400" cy="165100"/>
          </a:xfrm>
          <a:prstGeom prst="rect">
            <a:avLst/>
          </a:prstGeom>
          <a:solidFill>
            <a:srgbClr val="C5DFB4">
              <a:alpha val="45881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30480">
              <a:lnSpc>
                <a:spcPts val="1125"/>
              </a:lnSpc>
            </a:pPr>
            <a:r>
              <a:rPr dirty="0" sz="1100" spc="-10">
                <a:latin typeface="Calibri"/>
                <a:cs typeface="Calibri"/>
              </a:rPr>
              <a:t>Successful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320271" y="4594859"/>
            <a:ext cx="780415" cy="129539"/>
          </a:xfrm>
          <a:prstGeom prst="rect">
            <a:avLst/>
          </a:prstGeom>
          <a:solidFill>
            <a:srgbClr val="FF0000">
              <a:alpha val="27842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7780">
              <a:lnSpc>
                <a:spcPts val="1019"/>
              </a:lnSpc>
            </a:pPr>
            <a:r>
              <a:rPr dirty="0" sz="1100" spc="-10">
                <a:latin typeface="Calibri"/>
                <a:cs typeface="Calibri"/>
              </a:rPr>
              <a:t>Unsuccessful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083808" y="3718940"/>
            <a:ext cx="6023610" cy="2552700"/>
            <a:chOff x="6083808" y="3718940"/>
            <a:chExt cx="6023610" cy="2552700"/>
          </a:xfrm>
        </p:grpSpPr>
        <p:sp>
          <p:nvSpPr>
            <p:cNvPr id="51" name="object 51"/>
            <p:cNvSpPr/>
            <p:nvPr/>
          </p:nvSpPr>
          <p:spPr>
            <a:xfrm>
              <a:off x="9827514" y="3728465"/>
              <a:ext cx="918210" cy="0"/>
            </a:xfrm>
            <a:custGeom>
              <a:avLst/>
              <a:gdLst/>
              <a:ahLst/>
              <a:cxnLst/>
              <a:rect l="l" t="t" r="r" b="b"/>
              <a:pathLst>
                <a:path w="918209" h="0">
                  <a:moveTo>
                    <a:pt x="0" y="0"/>
                  </a:moveTo>
                  <a:lnTo>
                    <a:pt x="917701" y="0"/>
                  </a:lnTo>
                </a:path>
              </a:pathLst>
            </a:custGeom>
            <a:ln w="19050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8520684" y="3855719"/>
              <a:ext cx="3580129" cy="226060"/>
            </a:xfrm>
            <a:custGeom>
              <a:avLst/>
              <a:gdLst/>
              <a:ahLst/>
              <a:cxnLst/>
              <a:rect l="l" t="t" r="r" b="b"/>
              <a:pathLst>
                <a:path w="3580129" h="226060">
                  <a:moveTo>
                    <a:pt x="3579876" y="0"/>
                  </a:moveTo>
                  <a:lnTo>
                    <a:pt x="0" y="0"/>
                  </a:lnTo>
                  <a:lnTo>
                    <a:pt x="0" y="225551"/>
                  </a:lnTo>
                  <a:lnTo>
                    <a:pt x="3579876" y="225551"/>
                  </a:lnTo>
                  <a:lnTo>
                    <a:pt x="3579876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520684" y="3855719"/>
              <a:ext cx="3580129" cy="226060"/>
            </a:xfrm>
            <a:custGeom>
              <a:avLst/>
              <a:gdLst/>
              <a:ahLst/>
              <a:cxnLst/>
              <a:rect l="l" t="t" r="r" b="b"/>
              <a:pathLst>
                <a:path w="3580129" h="226060">
                  <a:moveTo>
                    <a:pt x="0" y="225551"/>
                  </a:moveTo>
                  <a:lnTo>
                    <a:pt x="3579876" y="225551"/>
                  </a:lnTo>
                  <a:lnTo>
                    <a:pt x="3579876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12700">
              <a:solidFill>
                <a:srgbClr val="DFE6E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83808" y="4198619"/>
              <a:ext cx="359663" cy="3611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1500" y="4430267"/>
              <a:ext cx="451103" cy="45110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17836" y="4142231"/>
              <a:ext cx="576072" cy="57454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431779" y="5820155"/>
              <a:ext cx="451103" cy="451103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6219190" y="4584953"/>
            <a:ext cx="98361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Online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Customer onboarding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952744" y="4591811"/>
            <a:ext cx="217931" cy="217931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6011036" y="4588509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1" name="object 6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973568" y="4949952"/>
            <a:ext cx="217931" cy="219456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8032242" y="4947666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217154" y="4941189"/>
            <a:ext cx="114173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Web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transferring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details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961376" y="5957315"/>
            <a:ext cx="1792605" cy="445134"/>
          </a:xfrm>
          <a:prstGeom prst="rect">
            <a:avLst/>
          </a:prstGeom>
          <a:solidFill>
            <a:srgbClr val="DFECD9"/>
          </a:solidFill>
        </p:spPr>
        <p:txBody>
          <a:bodyPr wrap="square" lIns="0" tIns="15875" rIns="0" bIns="0" rtlCol="0" vert="horz">
            <a:spAutoFit/>
          </a:bodyPr>
          <a:lstStyle/>
          <a:p>
            <a:pPr algn="ctr" marL="86995">
              <a:lnSpc>
                <a:spcPct val="100000"/>
              </a:lnSpc>
              <a:spcBef>
                <a:spcPts val="125"/>
              </a:spcBef>
            </a:pP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Provider</a:t>
            </a:r>
            <a:endParaRPr sz="1200">
              <a:latin typeface="Calibri"/>
              <a:cs typeface="Calibri"/>
            </a:endParaRPr>
          </a:p>
          <a:p>
            <a:pPr algn="ctr" marL="87630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(in-</a:t>
            </a:r>
            <a:r>
              <a:rPr dirty="0" sz="1200">
                <a:latin typeface="Calibri"/>
                <a:cs typeface="Calibri"/>
              </a:rPr>
              <a:t>house</a:t>
            </a:r>
            <a:r>
              <a:rPr dirty="0" sz="1200" spc="-10">
                <a:latin typeface="Calibri"/>
                <a:cs typeface="Calibri"/>
              </a:rPr>
              <a:t> application)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5" name="object 6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386316" y="5705855"/>
            <a:ext cx="217931" cy="219456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9444355" y="5703519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9826752" y="5588508"/>
            <a:ext cx="448945" cy="584200"/>
          </a:xfrm>
          <a:custGeom>
            <a:avLst/>
            <a:gdLst/>
            <a:ahLst/>
            <a:cxnLst/>
            <a:rect l="l" t="t" r="r" b="b"/>
            <a:pathLst>
              <a:path w="448945" h="584200">
                <a:moveTo>
                  <a:pt x="404114" y="571068"/>
                </a:moveTo>
                <a:lnTo>
                  <a:pt x="0" y="571068"/>
                </a:lnTo>
                <a:lnTo>
                  <a:pt x="0" y="583768"/>
                </a:lnTo>
                <a:lnTo>
                  <a:pt x="416814" y="583768"/>
                </a:lnTo>
                <a:lnTo>
                  <a:pt x="416814" y="577418"/>
                </a:lnTo>
                <a:lnTo>
                  <a:pt x="404114" y="577418"/>
                </a:lnTo>
                <a:lnTo>
                  <a:pt x="404114" y="571068"/>
                </a:lnTo>
                <a:close/>
              </a:path>
              <a:path w="448945" h="584200">
                <a:moveTo>
                  <a:pt x="416814" y="63499"/>
                </a:moveTo>
                <a:lnTo>
                  <a:pt x="404114" y="63499"/>
                </a:lnTo>
                <a:lnTo>
                  <a:pt x="404114" y="577418"/>
                </a:lnTo>
                <a:lnTo>
                  <a:pt x="410464" y="571068"/>
                </a:lnTo>
                <a:lnTo>
                  <a:pt x="416814" y="571068"/>
                </a:lnTo>
                <a:lnTo>
                  <a:pt x="416814" y="63499"/>
                </a:lnTo>
                <a:close/>
              </a:path>
              <a:path w="448945" h="584200">
                <a:moveTo>
                  <a:pt x="416814" y="571068"/>
                </a:moveTo>
                <a:lnTo>
                  <a:pt x="410464" y="571068"/>
                </a:lnTo>
                <a:lnTo>
                  <a:pt x="404114" y="577418"/>
                </a:lnTo>
                <a:lnTo>
                  <a:pt x="416814" y="577418"/>
                </a:lnTo>
                <a:lnTo>
                  <a:pt x="416814" y="571068"/>
                </a:lnTo>
                <a:close/>
              </a:path>
              <a:path w="448945" h="584200">
                <a:moveTo>
                  <a:pt x="410464" y="0"/>
                </a:moveTo>
                <a:lnTo>
                  <a:pt x="372364" y="76199"/>
                </a:lnTo>
                <a:lnTo>
                  <a:pt x="404114" y="76199"/>
                </a:lnTo>
                <a:lnTo>
                  <a:pt x="404114" y="63499"/>
                </a:lnTo>
                <a:lnTo>
                  <a:pt x="442214" y="63499"/>
                </a:lnTo>
                <a:lnTo>
                  <a:pt x="410464" y="0"/>
                </a:lnTo>
                <a:close/>
              </a:path>
              <a:path w="448945" h="584200">
                <a:moveTo>
                  <a:pt x="442214" y="63499"/>
                </a:moveTo>
                <a:lnTo>
                  <a:pt x="416814" y="63499"/>
                </a:lnTo>
                <a:lnTo>
                  <a:pt x="416814" y="76199"/>
                </a:lnTo>
                <a:lnTo>
                  <a:pt x="448564" y="76199"/>
                </a:lnTo>
                <a:lnTo>
                  <a:pt x="442214" y="63499"/>
                </a:lnTo>
                <a:close/>
              </a:path>
            </a:pathLst>
          </a:custGeom>
          <a:solidFill>
            <a:srgbClr val="0A47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9938004" y="5094732"/>
            <a:ext cx="1300480" cy="480059"/>
          </a:xfrm>
          <a:prstGeom prst="rect">
            <a:avLst/>
          </a:prstGeom>
          <a:solidFill>
            <a:srgbClr val="DFE6EE"/>
          </a:solidFill>
        </p:spPr>
        <p:txBody>
          <a:bodyPr wrap="square" lIns="0" tIns="44450" rIns="0" bIns="0" rtlCol="0" vert="horz">
            <a:spAutoFit/>
          </a:bodyPr>
          <a:lstStyle/>
          <a:p>
            <a:pPr marL="237490" marR="107314" indent="-121920">
              <a:lnSpc>
                <a:spcPct val="100000"/>
              </a:lnSpc>
              <a:spcBef>
                <a:spcPts val="350"/>
              </a:spcBef>
            </a:pPr>
            <a:r>
              <a:rPr dirty="0" sz="1200" b="1">
                <a:latin typeface="Calibri"/>
                <a:cs typeface="Calibri"/>
              </a:rPr>
              <a:t>Authorised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Party Intermediary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9" name="object 6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42931" y="5221223"/>
            <a:ext cx="217932" cy="219456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9801225" y="5218938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9973056" y="4271771"/>
            <a:ext cx="683260" cy="830580"/>
            <a:chOff x="9973056" y="4271771"/>
            <a:chExt cx="683260" cy="830580"/>
          </a:xfrm>
        </p:grpSpPr>
        <p:sp>
          <p:nvSpPr>
            <p:cNvPr id="72" name="object 72"/>
            <p:cNvSpPr/>
            <p:nvPr/>
          </p:nvSpPr>
          <p:spPr>
            <a:xfrm>
              <a:off x="10152888" y="4640579"/>
              <a:ext cx="76200" cy="443865"/>
            </a:xfrm>
            <a:custGeom>
              <a:avLst/>
              <a:gdLst/>
              <a:ahLst/>
              <a:cxnLst/>
              <a:rect l="l" t="t" r="r" b="b"/>
              <a:pathLst>
                <a:path w="76200" h="44386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443357"/>
                  </a:lnTo>
                  <a:lnTo>
                    <a:pt x="44450" y="443357"/>
                  </a:lnTo>
                  <a:lnTo>
                    <a:pt x="44450" y="63500"/>
                  </a:lnTo>
                  <a:close/>
                </a:path>
                <a:path w="76200" h="44386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4386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579608" y="4651247"/>
              <a:ext cx="76200" cy="451484"/>
            </a:xfrm>
            <a:custGeom>
              <a:avLst/>
              <a:gdLst/>
              <a:ahLst/>
              <a:cxnLst/>
              <a:rect l="l" t="t" r="r" b="b"/>
              <a:pathLst>
                <a:path w="76200" h="451485">
                  <a:moveTo>
                    <a:pt x="31750" y="374776"/>
                  </a:moveTo>
                  <a:lnTo>
                    <a:pt x="0" y="374776"/>
                  </a:lnTo>
                  <a:lnTo>
                    <a:pt x="38100" y="450976"/>
                  </a:lnTo>
                  <a:lnTo>
                    <a:pt x="69850" y="387476"/>
                  </a:lnTo>
                  <a:lnTo>
                    <a:pt x="31750" y="387476"/>
                  </a:lnTo>
                  <a:lnTo>
                    <a:pt x="31750" y="374776"/>
                  </a:lnTo>
                  <a:close/>
                </a:path>
                <a:path w="76200" h="451485">
                  <a:moveTo>
                    <a:pt x="44450" y="0"/>
                  </a:moveTo>
                  <a:lnTo>
                    <a:pt x="31750" y="0"/>
                  </a:lnTo>
                  <a:lnTo>
                    <a:pt x="31750" y="387476"/>
                  </a:lnTo>
                  <a:lnTo>
                    <a:pt x="44450" y="387476"/>
                  </a:lnTo>
                  <a:lnTo>
                    <a:pt x="44450" y="0"/>
                  </a:lnTo>
                  <a:close/>
                </a:path>
                <a:path w="76200" h="451485">
                  <a:moveTo>
                    <a:pt x="76200" y="374776"/>
                  </a:moveTo>
                  <a:lnTo>
                    <a:pt x="44450" y="374776"/>
                  </a:lnTo>
                  <a:lnTo>
                    <a:pt x="44450" y="387476"/>
                  </a:lnTo>
                  <a:lnTo>
                    <a:pt x="69850" y="387476"/>
                  </a:lnTo>
                  <a:lnTo>
                    <a:pt x="76200" y="374776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73056" y="4271771"/>
              <a:ext cx="217932" cy="217931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10031730" y="4267911"/>
            <a:ext cx="102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6" name="object 7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216640" y="5237988"/>
            <a:ext cx="217931" cy="217931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11275568" y="5235066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744961" y="4883277"/>
            <a:ext cx="8731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Authentication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0913109" y="5898896"/>
            <a:ext cx="12350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AML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+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Enhanced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Due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913109" y="6066535"/>
            <a:ext cx="5791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Dilligence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1" name="object 8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222992" y="6054852"/>
            <a:ext cx="217931" cy="217932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10281666" y="6052210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345682" y="4224528"/>
            <a:ext cx="4919345" cy="2158365"/>
            <a:chOff x="6345682" y="4224528"/>
            <a:chExt cx="4919345" cy="2158365"/>
          </a:xfrm>
        </p:grpSpPr>
        <p:sp>
          <p:nvSpPr>
            <p:cNvPr id="84" name="object 84"/>
            <p:cNvSpPr/>
            <p:nvPr/>
          </p:nvSpPr>
          <p:spPr>
            <a:xfrm>
              <a:off x="7482840" y="6194984"/>
              <a:ext cx="461645" cy="76200"/>
            </a:xfrm>
            <a:custGeom>
              <a:avLst/>
              <a:gdLst/>
              <a:ahLst/>
              <a:cxnLst/>
              <a:rect l="l" t="t" r="r" b="b"/>
              <a:pathLst>
                <a:path w="461645" h="76200">
                  <a:moveTo>
                    <a:pt x="76961" y="0"/>
                  </a:moveTo>
                  <a:lnTo>
                    <a:pt x="0" y="36652"/>
                  </a:lnTo>
                  <a:lnTo>
                    <a:pt x="75437" y="76187"/>
                  </a:lnTo>
                  <a:lnTo>
                    <a:pt x="76072" y="44449"/>
                  </a:lnTo>
                  <a:lnTo>
                    <a:pt x="63373" y="44208"/>
                  </a:lnTo>
                  <a:lnTo>
                    <a:pt x="63476" y="39039"/>
                  </a:lnTo>
                  <a:lnTo>
                    <a:pt x="63524" y="36652"/>
                  </a:lnTo>
                  <a:lnTo>
                    <a:pt x="63626" y="31508"/>
                  </a:lnTo>
                  <a:lnTo>
                    <a:pt x="76331" y="31508"/>
                  </a:lnTo>
                  <a:lnTo>
                    <a:pt x="76961" y="0"/>
                  </a:lnTo>
                  <a:close/>
                </a:path>
                <a:path w="461645" h="76200">
                  <a:moveTo>
                    <a:pt x="76326" y="31749"/>
                  </a:moveTo>
                  <a:lnTo>
                    <a:pt x="76228" y="36652"/>
                  </a:lnTo>
                  <a:lnTo>
                    <a:pt x="76181" y="39039"/>
                  </a:lnTo>
                  <a:lnTo>
                    <a:pt x="76072" y="44449"/>
                  </a:lnTo>
                  <a:lnTo>
                    <a:pt x="461009" y="51739"/>
                  </a:lnTo>
                  <a:lnTo>
                    <a:pt x="461155" y="44449"/>
                  </a:lnTo>
                  <a:lnTo>
                    <a:pt x="461263" y="39039"/>
                  </a:lnTo>
                  <a:lnTo>
                    <a:pt x="76326" y="31749"/>
                  </a:lnTo>
                  <a:close/>
                </a:path>
                <a:path w="461645" h="76200">
                  <a:moveTo>
                    <a:pt x="63626" y="31508"/>
                  </a:moveTo>
                  <a:lnTo>
                    <a:pt x="63524" y="36652"/>
                  </a:lnTo>
                  <a:lnTo>
                    <a:pt x="63476" y="39039"/>
                  </a:lnTo>
                  <a:lnTo>
                    <a:pt x="63373" y="44208"/>
                  </a:lnTo>
                  <a:lnTo>
                    <a:pt x="76072" y="44449"/>
                  </a:lnTo>
                  <a:lnTo>
                    <a:pt x="76181" y="39039"/>
                  </a:lnTo>
                  <a:lnTo>
                    <a:pt x="76228" y="36652"/>
                  </a:lnTo>
                  <a:lnTo>
                    <a:pt x="76326" y="31749"/>
                  </a:lnTo>
                  <a:lnTo>
                    <a:pt x="63626" y="31508"/>
                  </a:lnTo>
                  <a:close/>
                </a:path>
                <a:path w="461645" h="76200">
                  <a:moveTo>
                    <a:pt x="76331" y="31508"/>
                  </a:moveTo>
                  <a:lnTo>
                    <a:pt x="63626" y="31508"/>
                  </a:lnTo>
                  <a:lnTo>
                    <a:pt x="76326" y="31749"/>
                  </a:lnTo>
                  <a:lnTo>
                    <a:pt x="76331" y="31508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234428" y="4224528"/>
              <a:ext cx="4030345" cy="873760"/>
            </a:xfrm>
            <a:custGeom>
              <a:avLst/>
              <a:gdLst/>
              <a:ahLst/>
              <a:cxnLst/>
              <a:rect l="l" t="t" r="r" b="b"/>
              <a:pathLst>
                <a:path w="4030345" h="873760">
                  <a:moveTo>
                    <a:pt x="738759" y="835279"/>
                  </a:moveTo>
                  <a:lnTo>
                    <a:pt x="726059" y="828929"/>
                  </a:lnTo>
                  <a:lnTo>
                    <a:pt x="662559" y="797179"/>
                  </a:lnTo>
                  <a:lnTo>
                    <a:pt x="662559" y="828929"/>
                  </a:lnTo>
                  <a:lnTo>
                    <a:pt x="375666" y="828929"/>
                  </a:lnTo>
                  <a:lnTo>
                    <a:pt x="375666" y="577850"/>
                  </a:lnTo>
                  <a:lnTo>
                    <a:pt x="375666" y="571500"/>
                  </a:lnTo>
                  <a:lnTo>
                    <a:pt x="375666" y="565150"/>
                  </a:lnTo>
                  <a:lnTo>
                    <a:pt x="0" y="565150"/>
                  </a:lnTo>
                  <a:lnTo>
                    <a:pt x="0" y="577850"/>
                  </a:lnTo>
                  <a:lnTo>
                    <a:pt x="362966" y="577850"/>
                  </a:lnTo>
                  <a:lnTo>
                    <a:pt x="362966" y="841629"/>
                  </a:lnTo>
                  <a:lnTo>
                    <a:pt x="662559" y="841629"/>
                  </a:lnTo>
                  <a:lnTo>
                    <a:pt x="662559" y="873379"/>
                  </a:lnTo>
                  <a:lnTo>
                    <a:pt x="726059" y="841629"/>
                  </a:lnTo>
                  <a:lnTo>
                    <a:pt x="738759" y="835279"/>
                  </a:lnTo>
                  <a:close/>
                </a:path>
                <a:path w="4030345" h="873760">
                  <a:moveTo>
                    <a:pt x="4010914" y="431292"/>
                  </a:moveTo>
                  <a:lnTo>
                    <a:pt x="4000042" y="426085"/>
                  </a:lnTo>
                  <a:lnTo>
                    <a:pt x="3934079" y="394462"/>
                  </a:lnTo>
                  <a:lnTo>
                    <a:pt x="3934650" y="426085"/>
                  </a:lnTo>
                  <a:lnTo>
                    <a:pt x="3934650" y="426300"/>
                  </a:lnTo>
                  <a:lnTo>
                    <a:pt x="3729101" y="429768"/>
                  </a:lnTo>
                  <a:lnTo>
                    <a:pt x="3729278" y="438785"/>
                  </a:lnTo>
                  <a:lnTo>
                    <a:pt x="3729355" y="442468"/>
                  </a:lnTo>
                  <a:lnTo>
                    <a:pt x="3934891" y="439000"/>
                  </a:lnTo>
                  <a:lnTo>
                    <a:pt x="3935476" y="470662"/>
                  </a:lnTo>
                  <a:lnTo>
                    <a:pt x="4010914" y="431292"/>
                  </a:lnTo>
                  <a:close/>
                </a:path>
                <a:path w="4030345" h="873760">
                  <a:moveTo>
                    <a:pt x="4030091" y="38100"/>
                  </a:moveTo>
                  <a:lnTo>
                    <a:pt x="4017391" y="31750"/>
                  </a:lnTo>
                  <a:lnTo>
                    <a:pt x="3953891" y="0"/>
                  </a:lnTo>
                  <a:lnTo>
                    <a:pt x="3953891" y="31750"/>
                  </a:lnTo>
                  <a:lnTo>
                    <a:pt x="3707638" y="31750"/>
                  </a:lnTo>
                  <a:lnTo>
                    <a:pt x="3707638" y="679323"/>
                  </a:lnTo>
                  <a:lnTo>
                    <a:pt x="3720338" y="679323"/>
                  </a:lnTo>
                  <a:lnTo>
                    <a:pt x="3720338" y="44450"/>
                  </a:lnTo>
                  <a:lnTo>
                    <a:pt x="3953891" y="44450"/>
                  </a:lnTo>
                  <a:lnTo>
                    <a:pt x="3953891" y="76200"/>
                  </a:lnTo>
                  <a:lnTo>
                    <a:pt x="4017391" y="44450"/>
                  </a:lnTo>
                  <a:lnTo>
                    <a:pt x="4030091" y="38100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352032" y="6050280"/>
              <a:ext cx="1130935" cy="326390"/>
            </a:xfrm>
            <a:custGeom>
              <a:avLst/>
              <a:gdLst/>
              <a:ahLst/>
              <a:cxnLst/>
              <a:rect l="l" t="t" r="r" b="b"/>
              <a:pathLst>
                <a:path w="1130934" h="326389">
                  <a:moveTo>
                    <a:pt x="1076451" y="0"/>
                  </a:moveTo>
                  <a:lnTo>
                    <a:pt x="54355" y="0"/>
                  </a:lnTo>
                  <a:lnTo>
                    <a:pt x="33218" y="4271"/>
                  </a:lnTo>
                  <a:lnTo>
                    <a:pt x="15938" y="15919"/>
                  </a:lnTo>
                  <a:lnTo>
                    <a:pt x="4278" y="33197"/>
                  </a:lnTo>
                  <a:lnTo>
                    <a:pt x="0" y="54356"/>
                  </a:lnTo>
                  <a:lnTo>
                    <a:pt x="0" y="271780"/>
                  </a:lnTo>
                  <a:lnTo>
                    <a:pt x="4278" y="292938"/>
                  </a:lnTo>
                  <a:lnTo>
                    <a:pt x="15938" y="310216"/>
                  </a:lnTo>
                  <a:lnTo>
                    <a:pt x="33218" y="321864"/>
                  </a:lnTo>
                  <a:lnTo>
                    <a:pt x="54355" y="326136"/>
                  </a:lnTo>
                  <a:lnTo>
                    <a:pt x="1076451" y="326136"/>
                  </a:lnTo>
                  <a:lnTo>
                    <a:pt x="1097589" y="321864"/>
                  </a:lnTo>
                  <a:lnTo>
                    <a:pt x="1114869" y="310216"/>
                  </a:lnTo>
                  <a:lnTo>
                    <a:pt x="1126529" y="292938"/>
                  </a:lnTo>
                  <a:lnTo>
                    <a:pt x="1130808" y="271780"/>
                  </a:lnTo>
                  <a:lnTo>
                    <a:pt x="1130808" y="54356"/>
                  </a:lnTo>
                  <a:lnTo>
                    <a:pt x="1126529" y="33197"/>
                  </a:lnTo>
                  <a:lnTo>
                    <a:pt x="1114869" y="15919"/>
                  </a:lnTo>
                  <a:lnTo>
                    <a:pt x="1097589" y="4271"/>
                  </a:lnTo>
                  <a:lnTo>
                    <a:pt x="1076451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352032" y="6050280"/>
              <a:ext cx="1130935" cy="326390"/>
            </a:xfrm>
            <a:custGeom>
              <a:avLst/>
              <a:gdLst/>
              <a:ahLst/>
              <a:cxnLst/>
              <a:rect l="l" t="t" r="r" b="b"/>
              <a:pathLst>
                <a:path w="1130934" h="326389">
                  <a:moveTo>
                    <a:pt x="0" y="54356"/>
                  </a:moveTo>
                  <a:lnTo>
                    <a:pt x="4278" y="33197"/>
                  </a:lnTo>
                  <a:lnTo>
                    <a:pt x="15938" y="15919"/>
                  </a:lnTo>
                  <a:lnTo>
                    <a:pt x="33218" y="4271"/>
                  </a:lnTo>
                  <a:lnTo>
                    <a:pt x="54355" y="0"/>
                  </a:lnTo>
                  <a:lnTo>
                    <a:pt x="1076451" y="0"/>
                  </a:lnTo>
                  <a:lnTo>
                    <a:pt x="1097589" y="4271"/>
                  </a:lnTo>
                  <a:lnTo>
                    <a:pt x="1114869" y="15919"/>
                  </a:lnTo>
                  <a:lnTo>
                    <a:pt x="1126529" y="33197"/>
                  </a:lnTo>
                  <a:lnTo>
                    <a:pt x="1130808" y="54356"/>
                  </a:lnTo>
                  <a:lnTo>
                    <a:pt x="1130808" y="271780"/>
                  </a:lnTo>
                  <a:lnTo>
                    <a:pt x="1126529" y="292938"/>
                  </a:lnTo>
                  <a:lnTo>
                    <a:pt x="1114869" y="310216"/>
                  </a:lnTo>
                  <a:lnTo>
                    <a:pt x="1097589" y="321864"/>
                  </a:lnTo>
                  <a:lnTo>
                    <a:pt x="1076451" y="326136"/>
                  </a:lnTo>
                  <a:lnTo>
                    <a:pt x="54355" y="326136"/>
                  </a:lnTo>
                  <a:lnTo>
                    <a:pt x="33218" y="321864"/>
                  </a:lnTo>
                  <a:lnTo>
                    <a:pt x="15938" y="310216"/>
                  </a:lnTo>
                  <a:lnTo>
                    <a:pt x="4278" y="292938"/>
                  </a:lnTo>
                  <a:lnTo>
                    <a:pt x="0" y="271780"/>
                  </a:lnTo>
                  <a:lnTo>
                    <a:pt x="0" y="543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6605143" y="6019596"/>
            <a:ext cx="643890" cy="361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Calibri"/>
                <a:cs typeface="Calibri"/>
              </a:rPr>
              <a:t>Account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10" b="1">
                <a:latin typeface="Calibri"/>
                <a:cs typeface="Calibri"/>
              </a:rPr>
              <a:t>Generated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9" name="object 8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09359" y="5967984"/>
            <a:ext cx="217932" cy="217931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6367653" y="5965342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5946394" y="3841750"/>
            <a:ext cx="2509520" cy="255270"/>
            <a:chOff x="5946394" y="3841750"/>
            <a:chExt cx="2509520" cy="255270"/>
          </a:xfrm>
        </p:grpSpPr>
        <p:sp>
          <p:nvSpPr>
            <p:cNvPr id="92" name="object 92"/>
            <p:cNvSpPr/>
            <p:nvPr/>
          </p:nvSpPr>
          <p:spPr>
            <a:xfrm>
              <a:off x="5952744" y="3848100"/>
              <a:ext cx="2496820" cy="242570"/>
            </a:xfrm>
            <a:custGeom>
              <a:avLst/>
              <a:gdLst/>
              <a:ahLst/>
              <a:cxnLst/>
              <a:rect l="l" t="t" r="r" b="b"/>
              <a:pathLst>
                <a:path w="2496820" h="242570">
                  <a:moveTo>
                    <a:pt x="2496311" y="0"/>
                  </a:moveTo>
                  <a:lnTo>
                    <a:pt x="0" y="0"/>
                  </a:lnTo>
                  <a:lnTo>
                    <a:pt x="0" y="242316"/>
                  </a:lnTo>
                  <a:lnTo>
                    <a:pt x="2496311" y="242316"/>
                  </a:lnTo>
                  <a:lnTo>
                    <a:pt x="2496311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5952744" y="3848100"/>
              <a:ext cx="2496820" cy="242570"/>
            </a:xfrm>
            <a:custGeom>
              <a:avLst/>
              <a:gdLst/>
              <a:ahLst/>
              <a:cxnLst/>
              <a:rect l="l" t="t" r="r" b="b"/>
              <a:pathLst>
                <a:path w="2496820" h="242570">
                  <a:moveTo>
                    <a:pt x="0" y="242316"/>
                  </a:moveTo>
                  <a:lnTo>
                    <a:pt x="2496311" y="242316"/>
                  </a:lnTo>
                  <a:lnTo>
                    <a:pt x="2496311" y="0"/>
                  </a:lnTo>
                  <a:lnTo>
                    <a:pt x="0" y="0"/>
                  </a:lnTo>
                  <a:lnTo>
                    <a:pt x="0" y="242316"/>
                  </a:lnTo>
                  <a:close/>
                </a:path>
              </a:pathLst>
            </a:custGeom>
            <a:ln w="12700">
              <a:solidFill>
                <a:srgbClr val="DFE6E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6100064" y="3870197"/>
            <a:ext cx="5622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50795" algn="l"/>
              </a:tabLst>
            </a:pPr>
            <a:r>
              <a:rPr dirty="0" sz="1200" b="1">
                <a:latin typeface="Calibri"/>
                <a:cs typeface="Calibri"/>
              </a:rPr>
              <a:t>Real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Time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Biometric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Authentication</a:t>
            </a:r>
            <a:r>
              <a:rPr dirty="0" sz="1200" b="1">
                <a:latin typeface="Calibri"/>
                <a:cs typeface="Calibri"/>
              </a:rPr>
              <a:t>	Customer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Verification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Activities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Automation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5842253" y="992886"/>
            <a:ext cx="6182360" cy="5201920"/>
            <a:chOff x="5842253" y="992886"/>
            <a:chExt cx="6182360" cy="5201920"/>
          </a:xfrm>
        </p:grpSpPr>
        <p:sp>
          <p:nvSpPr>
            <p:cNvPr id="96" name="object 96"/>
            <p:cNvSpPr/>
            <p:nvPr/>
          </p:nvSpPr>
          <p:spPr>
            <a:xfrm>
              <a:off x="8883141" y="5347715"/>
              <a:ext cx="443230" cy="488315"/>
            </a:xfrm>
            <a:custGeom>
              <a:avLst/>
              <a:gdLst/>
              <a:ahLst/>
              <a:cxnLst/>
              <a:rect l="l" t="t" r="r" b="b"/>
              <a:pathLst>
                <a:path w="443229" h="488314">
                  <a:moveTo>
                    <a:pt x="398779" y="412000"/>
                  </a:moveTo>
                  <a:lnTo>
                    <a:pt x="367029" y="412000"/>
                  </a:lnTo>
                  <a:lnTo>
                    <a:pt x="405129" y="488200"/>
                  </a:lnTo>
                  <a:lnTo>
                    <a:pt x="436879" y="424700"/>
                  </a:lnTo>
                  <a:lnTo>
                    <a:pt x="398779" y="424700"/>
                  </a:lnTo>
                  <a:lnTo>
                    <a:pt x="398779" y="412000"/>
                  </a:lnTo>
                  <a:close/>
                </a:path>
                <a:path w="443229" h="488314">
                  <a:moveTo>
                    <a:pt x="398779" y="48768"/>
                  </a:moveTo>
                  <a:lnTo>
                    <a:pt x="398779" y="424700"/>
                  </a:lnTo>
                  <a:lnTo>
                    <a:pt x="411479" y="424700"/>
                  </a:lnTo>
                  <a:lnTo>
                    <a:pt x="411479" y="55118"/>
                  </a:lnTo>
                  <a:lnTo>
                    <a:pt x="405129" y="55118"/>
                  </a:lnTo>
                  <a:lnTo>
                    <a:pt x="398779" y="48768"/>
                  </a:lnTo>
                  <a:close/>
                </a:path>
                <a:path w="443229" h="488314">
                  <a:moveTo>
                    <a:pt x="443229" y="412000"/>
                  </a:moveTo>
                  <a:lnTo>
                    <a:pt x="411479" y="412000"/>
                  </a:lnTo>
                  <a:lnTo>
                    <a:pt x="411479" y="424700"/>
                  </a:lnTo>
                  <a:lnTo>
                    <a:pt x="436879" y="424700"/>
                  </a:lnTo>
                  <a:lnTo>
                    <a:pt x="443229" y="412000"/>
                  </a:lnTo>
                  <a:close/>
                </a:path>
                <a:path w="443229" h="488314">
                  <a:moveTo>
                    <a:pt x="12700" y="0"/>
                  </a:moveTo>
                  <a:lnTo>
                    <a:pt x="0" y="0"/>
                  </a:lnTo>
                  <a:lnTo>
                    <a:pt x="0" y="55118"/>
                  </a:lnTo>
                  <a:lnTo>
                    <a:pt x="398779" y="55118"/>
                  </a:lnTo>
                  <a:lnTo>
                    <a:pt x="398779" y="48768"/>
                  </a:lnTo>
                  <a:lnTo>
                    <a:pt x="12700" y="48768"/>
                  </a:lnTo>
                  <a:lnTo>
                    <a:pt x="6350" y="42418"/>
                  </a:lnTo>
                  <a:lnTo>
                    <a:pt x="12700" y="42418"/>
                  </a:lnTo>
                  <a:lnTo>
                    <a:pt x="12700" y="0"/>
                  </a:lnTo>
                  <a:close/>
                </a:path>
                <a:path w="443229" h="488314">
                  <a:moveTo>
                    <a:pt x="411479" y="42418"/>
                  </a:moveTo>
                  <a:lnTo>
                    <a:pt x="12700" y="42418"/>
                  </a:lnTo>
                  <a:lnTo>
                    <a:pt x="12700" y="48768"/>
                  </a:lnTo>
                  <a:lnTo>
                    <a:pt x="398779" y="48768"/>
                  </a:lnTo>
                  <a:lnTo>
                    <a:pt x="405129" y="55118"/>
                  </a:lnTo>
                  <a:lnTo>
                    <a:pt x="411479" y="55118"/>
                  </a:lnTo>
                  <a:lnTo>
                    <a:pt x="411479" y="42418"/>
                  </a:lnTo>
                  <a:close/>
                </a:path>
                <a:path w="443229" h="488314">
                  <a:moveTo>
                    <a:pt x="12700" y="42418"/>
                  </a:moveTo>
                  <a:lnTo>
                    <a:pt x="6350" y="42418"/>
                  </a:lnTo>
                  <a:lnTo>
                    <a:pt x="12700" y="48768"/>
                  </a:lnTo>
                  <a:lnTo>
                    <a:pt x="12700" y="42418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5842253" y="992886"/>
              <a:ext cx="76200" cy="5201920"/>
            </a:xfrm>
            <a:custGeom>
              <a:avLst/>
              <a:gdLst/>
              <a:ahLst/>
              <a:cxnLst/>
              <a:rect l="l" t="t" r="r" b="b"/>
              <a:pathLst>
                <a:path w="76200" h="5201920">
                  <a:moveTo>
                    <a:pt x="28575" y="74282"/>
                  </a:moveTo>
                  <a:lnTo>
                    <a:pt x="28575" y="114300"/>
                  </a:lnTo>
                  <a:lnTo>
                    <a:pt x="47625" y="114300"/>
                  </a:lnTo>
                  <a:lnTo>
                    <a:pt x="47625" y="76200"/>
                  </a:lnTo>
                  <a:lnTo>
                    <a:pt x="38100" y="76200"/>
                  </a:lnTo>
                  <a:lnTo>
                    <a:pt x="28575" y="74282"/>
                  </a:lnTo>
                  <a:close/>
                </a:path>
                <a:path w="76200" h="5201920">
                  <a:moveTo>
                    <a:pt x="47625" y="38100"/>
                  </a:moveTo>
                  <a:lnTo>
                    <a:pt x="28575" y="38100"/>
                  </a:lnTo>
                  <a:lnTo>
                    <a:pt x="28575" y="74282"/>
                  </a:lnTo>
                  <a:lnTo>
                    <a:pt x="38100" y="76200"/>
                  </a:lnTo>
                  <a:lnTo>
                    <a:pt x="47625" y="74282"/>
                  </a:lnTo>
                  <a:lnTo>
                    <a:pt x="47625" y="38100"/>
                  </a:lnTo>
                  <a:close/>
                </a:path>
                <a:path w="76200" h="5201920">
                  <a:moveTo>
                    <a:pt x="47625" y="74282"/>
                  </a:moveTo>
                  <a:lnTo>
                    <a:pt x="38100" y="76200"/>
                  </a:lnTo>
                  <a:lnTo>
                    <a:pt x="47625" y="76200"/>
                  </a:lnTo>
                  <a:lnTo>
                    <a:pt x="47625" y="74282"/>
                  </a:lnTo>
                  <a:close/>
                </a:path>
                <a:path w="76200" h="520192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28575" y="74282"/>
                  </a:lnTo>
                  <a:lnTo>
                    <a:pt x="28575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5201920">
                  <a:moveTo>
                    <a:pt x="76200" y="38100"/>
                  </a:moveTo>
                  <a:lnTo>
                    <a:pt x="47625" y="38100"/>
                  </a:lnTo>
                  <a:lnTo>
                    <a:pt x="47625" y="74282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  <a:path w="76200" h="5201920">
                  <a:moveTo>
                    <a:pt x="47625" y="171450"/>
                  </a:moveTo>
                  <a:lnTo>
                    <a:pt x="28575" y="171450"/>
                  </a:lnTo>
                  <a:lnTo>
                    <a:pt x="28575" y="247650"/>
                  </a:lnTo>
                  <a:lnTo>
                    <a:pt x="47625" y="247650"/>
                  </a:lnTo>
                  <a:lnTo>
                    <a:pt x="47625" y="171450"/>
                  </a:lnTo>
                  <a:close/>
                </a:path>
                <a:path w="76200" h="5201920">
                  <a:moveTo>
                    <a:pt x="47625" y="304800"/>
                  </a:moveTo>
                  <a:lnTo>
                    <a:pt x="28575" y="304800"/>
                  </a:lnTo>
                  <a:lnTo>
                    <a:pt x="28575" y="381000"/>
                  </a:lnTo>
                  <a:lnTo>
                    <a:pt x="47625" y="381000"/>
                  </a:lnTo>
                  <a:lnTo>
                    <a:pt x="47625" y="304800"/>
                  </a:lnTo>
                  <a:close/>
                </a:path>
                <a:path w="76200" h="5201920">
                  <a:moveTo>
                    <a:pt x="47625" y="438150"/>
                  </a:moveTo>
                  <a:lnTo>
                    <a:pt x="28575" y="438150"/>
                  </a:lnTo>
                  <a:lnTo>
                    <a:pt x="28575" y="514350"/>
                  </a:lnTo>
                  <a:lnTo>
                    <a:pt x="47625" y="514350"/>
                  </a:lnTo>
                  <a:lnTo>
                    <a:pt x="47625" y="438150"/>
                  </a:lnTo>
                  <a:close/>
                </a:path>
                <a:path w="76200" h="5201920">
                  <a:moveTo>
                    <a:pt x="47625" y="571500"/>
                  </a:moveTo>
                  <a:lnTo>
                    <a:pt x="28575" y="571500"/>
                  </a:lnTo>
                  <a:lnTo>
                    <a:pt x="28575" y="647700"/>
                  </a:lnTo>
                  <a:lnTo>
                    <a:pt x="47625" y="647700"/>
                  </a:lnTo>
                  <a:lnTo>
                    <a:pt x="47625" y="571500"/>
                  </a:lnTo>
                  <a:close/>
                </a:path>
                <a:path w="76200" h="5201920">
                  <a:moveTo>
                    <a:pt x="47625" y="704850"/>
                  </a:moveTo>
                  <a:lnTo>
                    <a:pt x="28575" y="704850"/>
                  </a:lnTo>
                  <a:lnTo>
                    <a:pt x="28575" y="781050"/>
                  </a:lnTo>
                  <a:lnTo>
                    <a:pt x="47625" y="781050"/>
                  </a:lnTo>
                  <a:lnTo>
                    <a:pt x="47625" y="704850"/>
                  </a:lnTo>
                  <a:close/>
                </a:path>
                <a:path w="76200" h="5201920">
                  <a:moveTo>
                    <a:pt x="47625" y="838200"/>
                  </a:moveTo>
                  <a:lnTo>
                    <a:pt x="28575" y="838200"/>
                  </a:lnTo>
                  <a:lnTo>
                    <a:pt x="28575" y="914400"/>
                  </a:lnTo>
                  <a:lnTo>
                    <a:pt x="47625" y="914400"/>
                  </a:lnTo>
                  <a:lnTo>
                    <a:pt x="47625" y="838200"/>
                  </a:lnTo>
                  <a:close/>
                </a:path>
                <a:path w="76200" h="5201920">
                  <a:moveTo>
                    <a:pt x="47625" y="971550"/>
                  </a:moveTo>
                  <a:lnTo>
                    <a:pt x="28575" y="971550"/>
                  </a:lnTo>
                  <a:lnTo>
                    <a:pt x="28575" y="1047750"/>
                  </a:lnTo>
                  <a:lnTo>
                    <a:pt x="47625" y="1047750"/>
                  </a:lnTo>
                  <a:lnTo>
                    <a:pt x="47625" y="971550"/>
                  </a:lnTo>
                  <a:close/>
                </a:path>
                <a:path w="76200" h="5201920">
                  <a:moveTo>
                    <a:pt x="47625" y="1104900"/>
                  </a:moveTo>
                  <a:lnTo>
                    <a:pt x="28575" y="1104900"/>
                  </a:lnTo>
                  <a:lnTo>
                    <a:pt x="28575" y="1181100"/>
                  </a:lnTo>
                  <a:lnTo>
                    <a:pt x="47625" y="1181100"/>
                  </a:lnTo>
                  <a:lnTo>
                    <a:pt x="47625" y="1104900"/>
                  </a:lnTo>
                  <a:close/>
                </a:path>
                <a:path w="76200" h="5201920">
                  <a:moveTo>
                    <a:pt x="47625" y="1238250"/>
                  </a:moveTo>
                  <a:lnTo>
                    <a:pt x="28575" y="1238250"/>
                  </a:lnTo>
                  <a:lnTo>
                    <a:pt x="28575" y="1314450"/>
                  </a:lnTo>
                  <a:lnTo>
                    <a:pt x="47625" y="1314450"/>
                  </a:lnTo>
                  <a:lnTo>
                    <a:pt x="47625" y="1238250"/>
                  </a:lnTo>
                  <a:close/>
                </a:path>
                <a:path w="76200" h="5201920">
                  <a:moveTo>
                    <a:pt x="47625" y="1371600"/>
                  </a:moveTo>
                  <a:lnTo>
                    <a:pt x="28575" y="1371600"/>
                  </a:lnTo>
                  <a:lnTo>
                    <a:pt x="28575" y="1447800"/>
                  </a:lnTo>
                  <a:lnTo>
                    <a:pt x="47625" y="1447800"/>
                  </a:lnTo>
                  <a:lnTo>
                    <a:pt x="47625" y="1371600"/>
                  </a:lnTo>
                  <a:close/>
                </a:path>
                <a:path w="76200" h="5201920">
                  <a:moveTo>
                    <a:pt x="47625" y="1504950"/>
                  </a:moveTo>
                  <a:lnTo>
                    <a:pt x="28575" y="1504950"/>
                  </a:lnTo>
                  <a:lnTo>
                    <a:pt x="28575" y="1581150"/>
                  </a:lnTo>
                  <a:lnTo>
                    <a:pt x="47625" y="1581150"/>
                  </a:lnTo>
                  <a:lnTo>
                    <a:pt x="47625" y="1504950"/>
                  </a:lnTo>
                  <a:close/>
                </a:path>
                <a:path w="76200" h="5201920">
                  <a:moveTo>
                    <a:pt x="47625" y="1638300"/>
                  </a:moveTo>
                  <a:lnTo>
                    <a:pt x="28575" y="1638300"/>
                  </a:lnTo>
                  <a:lnTo>
                    <a:pt x="28575" y="1714500"/>
                  </a:lnTo>
                  <a:lnTo>
                    <a:pt x="47625" y="1714500"/>
                  </a:lnTo>
                  <a:lnTo>
                    <a:pt x="47625" y="1638300"/>
                  </a:lnTo>
                  <a:close/>
                </a:path>
                <a:path w="76200" h="5201920">
                  <a:moveTo>
                    <a:pt x="47625" y="1771650"/>
                  </a:moveTo>
                  <a:lnTo>
                    <a:pt x="28575" y="1771650"/>
                  </a:lnTo>
                  <a:lnTo>
                    <a:pt x="28575" y="1847850"/>
                  </a:lnTo>
                  <a:lnTo>
                    <a:pt x="47625" y="1847850"/>
                  </a:lnTo>
                  <a:lnTo>
                    <a:pt x="47625" y="1771650"/>
                  </a:lnTo>
                  <a:close/>
                </a:path>
                <a:path w="76200" h="5201920">
                  <a:moveTo>
                    <a:pt x="47625" y="1905000"/>
                  </a:moveTo>
                  <a:lnTo>
                    <a:pt x="28575" y="1905000"/>
                  </a:lnTo>
                  <a:lnTo>
                    <a:pt x="28575" y="1981200"/>
                  </a:lnTo>
                  <a:lnTo>
                    <a:pt x="47625" y="1981200"/>
                  </a:lnTo>
                  <a:lnTo>
                    <a:pt x="47625" y="1905000"/>
                  </a:lnTo>
                  <a:close/>
                </a:path>
                <a:path w="76200" h="5201920">
                  <a:moveTo>
                    <a:pt x="47625" y="2038350"/>
                  </a:moveTo>
                  <a:lnTo>
                    <a:pt x="28575" y="2038350"/>
                  </a:lnTo>
                  <a:lnTo>
                    <a:pt x="28575" y="2114550"/>
                  </a:lnTo>
                  <a:lnTo>
                    <a:pt x="47625" y="2114550"/>
                  </a:lnTo>
                  <a:lnTo>
                    <a:pt x="47625" y="2038350"/>
                  </a:lnTo>
                  <a:close/>
                </a:path>
                <a:path w="76200" h="5201920">
                  <a:moveTo>
                    <a:pt x="47625" y="2171700"/>
                  </a:moveTo>
                  <a:lnTo>
                    <a:pt x="28575" y="2171700"/>
                  </a:lnTo>
                  <a:lnTo>
                    <a:pt x="28575" y="2247900"/>
                  </a:lnTo>
                  <a:lnTo>
                    <a:pt x="47625" y="2247900"/>
                  </a:lnTo>
                  <a:lnTo>
                    <a:pt x="47625" y="2171700"/>
                  </a:lnTo>
                  <a:close/>
                </a:path>
                <a:path w="76200" h="5201920">
                  <a:moveTo>
                    <a:pt x="47625" y="2305050"/>
                  </a:moveTo>
                  <a:lnTo>
                    <a:pt x="28575" y="2305050"/>
                  </a:lnTo>
                  <a:lnTo>
                    <a:pt x="28575" y="2381250"/>
                  </a:lnTo>
                  <a:lnTo>
                    <a:pt x="47625" y="2381250"/>
                  </a:lnTo>
                  <a:lnTo>
                    <a:pt x="47625" y="2305050"/>
                  </a:lnTo>
                  <a:close/>
                </a:path>
                <a:path w="76200" h="5201920">
                  <a:moveTo>
                    <a:pt x="47625" y="2438400"/>
                  </a:moveTo>
                  <a:lnTo>
                    <a:pt x="28575" y="2438400"/>
                  </a:lnTo>
                  <a:lnTo>
                    <a:pt x="28575" y="2514600"/>
                  </a:lnTo>
                  <a:lnTo>
                    <a:pt x="47625" y="2514600"/>
                  </a:lnTo>
                  <a:lnTo>
                    <a:pt x="47625" y="2438400"/>
                  </a:lnTo>
                  <a:close/>
                </a:path>
                <a:path w="76200" h="5201920">
                  <a:moveTo>
                    <a:pt x="47625" y="2571750"/>
                  </a:moveTo>
                  <a:lnTo>
                    <a:pt x="28575" y="2571750"/>
                  </a:lnTo>
                  <a:lnTo>
                    <a:pt x="28575" y="2647950"/>
                  </a:lnTo>
                  <a:lnTo>
                    <a:pt x="47625" y="2647950"/>
                  </a:lnTo>
                  <a:lnTo>
                    <a:pt x="47625" y="2571750"/>
                  </a:lnTo>
                  <a:close/>
                </a:path>
                <a:path w="76200" h="5201920">
                  <a:moveTo>
                    <a:pt x="47625" y="2705100"/>
                  </a:moveTo>
                  <a:lnTo>
                    <a:pt x="28575" y="2705100"/>
                  </a:lnTo>
                  <a:lnTo>
                    <a:pt x="28575" y="2781300"/>
                  </a:lnTo>
                  <a:lnTo>
                    <a:pt x="47625" y="2781300"/>
                  </a:lnTo>
                  <a:lnTo>
                    <a:pt x="47625" y="2705100"/>
                  </a:lnTo>
                  <a:close/>
                </a:path>
                <a:path w="76200" h="5201920">
                  <a:moveTo>
                    <a:pt x="47625" y="2838450"/>
                  </a:moveTo>
                  <a:lnTo>
                    <a:pt x="28575" y="2838450"/>
                  </a:lnTo>
                  <a:lnTo>
                    <a:pt x="28575" y="2914650"/>
                  </a:lnTo>
                  <a:lnTo>
                    <a:pt x="47625" y="2914650"/>
                  </a:lnTo>
                  <a:lnTo>
                    <a:pt x="47625" y="2838450"/>
                  </a:lnTo>
                  <a:close/>
                </a:path>
                <a:path w="76200" h="5201920">
                  <a:moveTo>
                    <a:pt x="47625" y="2971800"/>
                  </a:moveTo>
                  <a:lnTo>
                    <a:pt x="28575" y="2971800"/>
                  </a:lnTo>
                  <a:lnTo>
                    <a:pt x="28575" y="3048000"/>
                  </a:lnTo>
                  <a:lnTo>
                    <a:pt x="47625" y="3048000"/>
                  </a:lnTo>
                  <a:lnTo>
                    <a:pt x="47625" y="2971800"/>
                  </a:lnTo>
                  <a:close/>
                </a:path>
                <a:path w="76200" h="5201920">
                  <a:moveTo>
                    <a:pt x="47625" y="3105150"/>
                  </a:moveTo>
                  <a:lnTo>
                    <a:pt x="28575" y="3105150"/>
                  </a:lnTo>
                  <a:lnTo>
                    <a:pt x="28575" y="3181350"/>
                  </a:lnTo>
                  <a:lnTo>
                    <a:pt x="47625" y="3181350"/>
                  </a:lnTo>
                  <a:lnTo>
                    <a:pt x="47625" y="3105150"/>
                  </a:lnTo>
                  <a:close/>
                </a:path>
                <a:path w="76200" h="5201920">
                  <a:moveTo>
                    <a:pt x="47625" y="3238500"/>
                  </a:moveTo>
                  <a:lnTo>
                    <a:pt x="28575" y="3238500"/>
                  </a:lnTo>
                  <a:lnTo>
                    <a:pt x="28575" y="3314700"/>
                  </a:lnTo>
                  <a:lnTo>
                    <a:pt x="47625" y="3314700"/>
                  </a:lnTo>
                  <a:lnTo>
                    <a:pt x="47625" y="3238500"/>
                  </a:lnTo>
                  <a:close/>
                </a:path>
                <a:path w="76200" h="5201920">
                  <a:moveTo>
                    <a:pt x="47625" y="3371850"/>
                  </a:moveTo>
                  <a:lnTo>
                    <a:pt x="28575" y="3371850"/>
                  </a:lnTo>
                  <a:lnTo>
                    <a:pt x="28575" y="3448050"/>
                  </a:lnTo>
                  <a:lnTo>
                    <a:pt x="47625" y="3448050"/>
                  </a:lnTo>
                  <a:lnTo>
                    <a:pt x="47625" y="3371850"/>
                  </a:lnTo>
                  <a:close/>
                </a:path>
                <a:path w="76200" h="5201920">
                  <a:moveTo>
                    <a:pt x="47625" y="3505200"/>
                  </a:moveTo>
                  <a:lnTo>
                    <a:pt x="28575" y="3505200"/>
                  </a:lnTo>
                  <a:lnTo>
                    <a:pt x="28575" y="3581400"/>
                  </a:lnTo>
                  <a:lnTo>
                    <a:pt x="47625" y="3581400"/>
                  </a:lnTo>
                  <a:lnTo>
                    <a:pt x="47625" y="3505200"/>
                  </a:lnTo>
                  <a:close/>
                </a:path>
                <a:path w="76200" h="5201920">
                  <a:moveTo>
                    <a:pt x="47625" y="3638550"/>
                  </a:moveTo>
                  <a:lnTo>
                    <a:pt x="28575" y="3638550"/>
                  </a:lnTo>
                  <a:lnTo>
                    <a:pt x="28575" y="3714750"/>
                  </a:lnTo>
                  <a:lnTo>
                    <a:pt x="47625" y="3714750"/>
                  </a:lnTo>
                  <a:lnTo>
                    <a:pt x="47625" y="3638550"/>
                  </a:lnTo>
                  <a:close/>
                </a:path>
                <a:path w="76200" h="5201920">
                  <a:moveTo>
                    <a:pt x="47625" y="3771900"/>
                  </a:moveTo>
                  <a:lnTo>
                    <a:pt x="28575" y="3771900"/>
                  </a:lnTo>
                  <a:lnTo>
                    <a:pt x="28575" y="3848100"/>
                  </a:lnTo>
                  <a:lnTo>
                    <a:pt x="47625" y="3848100"/>
                  </a:lnTo>
                  <a:lnTo>
                    <a:pt x="47625" y="3771900"/>
                  </a:lnTo>
                  <a:close/>
                </a:path>
                <a:path w="76200" h="5201920">
                  <a:moveTo>
                    <a:pt x="47625" y="3905250"/>
                  </a:moveTo>
                  <a:lnTo>
                    <a:pt x="28575" y="3905250"/>
                  </a:lnTo>
                  <a:lnTo>
                    <a:pt x="28575" y="3981450"/>
                  </a:lnTo>
                  <a:lnTo>
                    <a:pt x="47625" y="3981450"/>
                  </a:lnTo>
                  <a:lnTo>
                    <a:pt x="47625" y="3905250"/>
                  </a:lnTo>
                  <a:close/>
                </a:path>
                <a:path w="76200" h="5201920">
                  <a:moveTo>
                    <a:pt x="47625" y="4038600"/>
                  </a:moveTo>
                  <a:lnTo>
                    <a:pt x="28575" y="4038600"/>
                  </a:lnTo>
                  <a:lnTo>
                    <a:pt x="28575" y="4114800"/>
                  </a:lnTo>
                  <a:lnTo>
                    <a:pt x="47625" y="4114800"/>
                  </a:lnTo>
                  <a:lnTo>
                    <a:pt x="47625" y="4038600"/>
                  </a:lnTo>
                  <a:close/>
                </a:path>
                <a:path w="76200" h="5201920">
                  <a:moveTo>
                    <a:pt x="47625" y="4171950"/>
                  </a:moveTo>
                  <a:lnTo>
                    <a:pt x="28575" y="4171950"/>
                  </a:lnTo>
                  <a:lnTo>
                    <a:pt x="28575" y="4248150"/>
                  </a:lnTo>
                  <a:lnTo>
                    <a:pt x="47625" y="4248150"/>
                  </a:lnTo>
                  <a:lnTo>
                    <a:pt x="47625" y="4171950"/>
                  </a:lnTo>
                  <a:close/>
                </a:path>
                <a:path w="76200" h="5201920">
                  <a:moveTo>
                    <a:pt x="47625" y="4305300"/>
                  </a:moveTo>
                  <a:lnTo>
                    <a:pt x="28575" y="4305300"/>
                  </a:lnTo>
                  <a:lnTo>
                    <a:pt x="28575" y="4381500"/>
                  </a:lnTo>
                  <a:lnTo>
                    <a:pt x="47625" y="4381500"/>
                  </a:lnTo>
                  <a:lnTo>
                    <a:pt x="47625" y="4305300"/>
                  </a:lnTo>
                  <a:close/>
                </a:path>
                <a:path w="76200" h="5201920">
                  <a:moveTo>
                    <a:pt x="47625" y="4438650"/>
                  </a:moveTo>
                  <a:lnTo>
                    <a:pt x="28575" y="4438650"/>
                  </a:lnTo>
                  <a:lnTo>
                    <a:pt x="28575" y="4514850"/>
                  </a:lnTo>
                  <a:lnTo>
                    <a:pt x="47625" y="4514850"/>
                  </a:lnTo>
                  <a:lnTo>
                    <a:pt x="47625" y="4438650"/>
                  </a:lnTo>
                  <a:close/>
                </a:path>
                <a:path w="76200" h="5201920">
                  <a:moveTo>
                    <a:pt x="47625" y="4572000"/>
                  </a:moveTo>
                  <a:lnTo>
                    <a:pt x="28575" y="4572000"/>
                  </a:lnTo>
                  <a:lnTo>
                    <a:pt x="28575" y="4648200"/>
                  </a:lnTo>
                  <a:lnTo>
                    <a:pt x="47625" y="4648200"/>
                  </a:lnTo>
                  <a:lnTo>
                    <a:pt x="47625" y="4572000"/>
                  </a:lnTo>
                  <a:close/>
                </a:path>
                <a:path w="76200" h="5201920">
                  <a:moveTo>
                    <a:pt x="47625" y="4705350"/>
                  </a:moveTo>
                  <a:lnTo>
                    <a:pt x="28575" y="4705350"/>
                  </a:lnTo>
                  <a:lnTo>
                    <a:pt x="28575" y="4781550"/>
                  </a:lnTo>
                  <a:lnTo>
                    <a:pt x="47625" y="4781550"/>
                  </a:lnTo>
                  <a:lnTo>
                    <a:pt x="47625" y="4705350"/>
                  </a:lnTo>
                  <a:close/>
                </a:path>
                <a:path w="76200" h="5201920">
                  <a:moveTo>
                    <a:pt x="47625" y="4838700"/>
                  </a:moveTo>
                  <a:lnTo>
                    <a:pt x="28575" y="4838700"/>
                  </a:lnTo>
                  <a:lnTo>
                    <a:pt x="28575" y="4914900"/>
                  </a:lnTo>
                  <a:lnTo>
                    <a:pt x="47625" y="4914900"/>
                  </a:lnTo>
                  <a:lnTo>
                    <a:pt x="47625" y="4838700"/>
                  </a:lnTo>
                  <a:close/>
                </a:path>
                <a:path w="76200" h="5201920">
                  <a:moveTo>
                    <a:pt x="47625" y="4972050"/>
                  </a:moveTo>
                  <a:lnTo>
                    <a:pt x="28575" y="4972050"/>
                  </a:lnTo>
                  <a:lnTo>
                    <a:pt x="28575" y="5048250"/>
                  </a:lnTo>
                  <a:lnTo>
                    <a:pt x="47625" y="5048250"/>
                  </a:lnTo>
                  <a:lnTo>
                    <a:pt x="47625" y="4972050"/>
                  </a:lnTo>
                  <a:close/>
                </a:path>
                <a:path w="76200" h="5201920">
                  <a:moveTo>
                    <a:pt x="28575" y="5127119"/>
                  </a:moveTo>
                  <a:lnTo>
                    <a:pt x="23252" y="5128193"/>
                  </a:lnTo>
                  <a:lnTo>
                    <a:pt x="11144" y="5136357"/>
                  </a:lnTo>
                  <a:lnTo>
                    <a:pt x="2988" y="5148468"/>
                  </a:lnTo>
                  <a:lnTo>
                    <a:pt x="0" y="5163299"/>
                  </a:lnTo>
                  <a:lnTo>
                    <a:pt x="2988" y="5178130"/>
                  </a:lnTo>
                  <a:lnTo>
                    <a:pt x="11144" y="5190240"/>
                  </a:lnTo>
                  <a:lnTo>
                    <a:pt x="23252" y="5198405"/>
                  </a:lnTo>
                  <a:lnTo>
                    <a:pt x="38100" y="5201399"/>
                  </a:lnTo>
                  <a:lnTo>
                    <a:pt x="52947" y="5198405"/>
                  </a:lnTo>
                  <a:lnTo>
                    <a:pt x="65055" y="5190240"/>
                  </a:lnTo>
                  <a:lnTo>
                    <a:pt x="73211" y="5178130"/>
                  </a:lnTo>
                  <a:lnTo>
                    <a:pt x="76200" y="5163299"/>
                  </a:lnTo>
                  <a:lnTo>
                    <a:pt x="28575" y="5163299"/>
                  </a:lnTo>
                  <a:lnTo>
                    <a:pt x="28575" y="5127119"/>
                  </a:lnTo>
                  <a:close/>
                </a:path>
                <a:path w="76200" h="5201920">
                  <a:moveTo>
                    <a:pt x="38100" y="5125199"/>
                  </a:moveTo>
                  <a:lnTo>
                    <a:pt x="28575" y="5127119"/>
                  </a:lnTo>
                  <a:lnTo>
                    <a:pt x="28575" y="5163299"/>
                  </a:lnTo>
                  <a:lnTo>
                    <a:pt x="47625" y="5163299"/>
                  </a:lnTo>
                  <a:lnTo>
                    <a:pt x="47625" y="5127119"/>
                  </a:lnTo>
                  <a:lnTo>
                    <a:pt x="38100" y="5125199"/>
                  </a:lnTo>
                  <a:close/>
                </a:path>
                <a:path w="76200" h="5201920">
                  <a:moveTo>
                    <a:pt x="47625" y="5127119"/>
                  </a:moveTo>
                  <a:lnTo>
                    <a:pt x="47625" y="5163299"/>
                  </a:lnTo>
                  <a:lnTo>
                    <a:pt x="76200" y="5163299"/>
                  </a:lnTo>
                  <a:lnTo>
                    <a:pt x="73211" y="5148468"/>
                  </a:lnTo>
                  <a:lnTo>
                    <a:pt x="65055" y="5136357"/>
                  </a:lnTo>
                  <a:lnTo>
                    <a:pt x="52947" y="5128193"/>
                  </a:lnTo>
                  <a:lnTo>
                    <a:pt x="47625" y="5127119"/>
                  </a:lnTo>
                  <a:close/>
                </a:path>
                <a:path w="76200" h="5201920">
                  <a:moveTo>
                    <a:pt x="47625" y="5105400"/>
                  </a:moveTo>
                  <a:lnTo>
                    <a:pt x="28575" y="5105400"/>
                  </a:lnTo>
                  <a:lnTo>
                    <a:pt x="28575" y="5127119"/>
                  </a:lnTo>
                  <a:lnTo>
                    <a:pt x="38100" y="5125199"/>
                  </a:lnTo>
                  <a:lnTo>
                    <a:pt x="47625" y="5125199"/>
                  </a:lnTo>
                  <a:lnTo>
                    <a:pt x="47625" y="5105400"/>
                  </a:lnTo>
                  <a:close/>
                </a:path>
                <a:path w="76200" h="5201920">
                  <a:moveTo>
                    <a:pt x="47625" y="5125199"/>
                  </a:moveTo>
                  <a:lnTo>
                    <a:pt x="38100" y="5125199"/>
                  </a:lnTo>
                  <a:lnTo>
                    <a:pt x="47625" y="5127119"/>
                  </a:lnTo>
                  <a:lnTo>
                    <a:pt x="47625" y="5125199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951219" y="3706368"/>
              <a:ext cx="6073140" cy="76200"/>
            </a:xfrm>
            <a:custGeom>
              <a:avLst/>
              <a:gdLst/>
              <a:ahLst/>
              <a:cxnLst/>
              <a:rect l="l" t="t" r="r" b="b"/>
              <a:pathLst>
                <a:path w="6073140" h="76200">
                  <a:moveTo>
                    <a:pt x="38100" y="0"/>
                  </a:moveTo>
                  <a:lnTo>
                    <a:pt x="0" y="38099"/>
                  </a:lnTo>
                  <a:lnTo>
                    <a:pt x="38100" y="76199"/>
                  </a:lnTo>
                  <a:lnTo>
                    <a:pt x="69850" y="44449"/>
                  </a:lnTo>
                  <a:lnTo>
                    <a:pt x="38100" y="44449"/>
                  </a:lnTo>
                  <a:lnTo>
                    <a:pt x="38100" y="31749"/>
                  </a:lnTo>
                  <a:lnTo>
                    <a:pt x="69850" y="31749"/>
                  </a:lnTo>
                  <a:lnTo>
                    <a:pt x="38100" y="0"/>
                  </a:lnTo>
                  <a:close/>
                </a:path>
                <a:path w="6073140" h="76200">
                  <a:moveTo>
                    <a:pt x="6034912" y="0"/>
                  </a:moveTo>
                  <a:lnTo>
                    <a:pt x="5996812" y="38099"/>
                  </a:lnTo>
                  <a:lnTo>
                    <a:pt x="6034912" y="76199"/>
                  </a:lnTo>
                  <a:lnTo>
                    <a:pt x="6066662" y="44449"/>
                  </a:lnTo>
                  <a:lnTo>
                    <a:pt x="6034912" y="44449"/>
                  </a:lnTo>
                  <a:lnTo>
                    <a:pt x="6034912" y="31749"/>
                  </a:lnTo>
                  <a:lnTo>
                    <a:pt x="6066662" y="31749"/>
                  </a:lnTo>
                  <a:lnTo>
                    <a:pt x="6034912" y="0"/>
                  </a:lnTo>
                  <a:close/>
                </a:path>
                <a:path w="6073140" h="76200">
                  <a:moveTo>
                    <a:pt x="69850" y="31749"/>
                  </a:moveTo>
                  <a:lnTo>
                    <a:pt x="38100" y="31749"/>
                  </a:lnTo>
                  <a:lnTo>
                    <a:pt x="38100" y="44449"/>
                  </a:lnTo>
                  <a:lnTo>
                    <a:pt x="69850" y="44449"/>
                  </a:lnTo>
                  <a:lnTo>
                    <a:pt x="76200" y="38099"/>
                  </a:lnTo>
                  <a:lnTo>
                    <a:pt x="69850" y="31749"/>
                  </a:lnTo>
                  <a:close/>
                </a:path>
                <a:path w="6073140" h="76200">
                  <a:moveTo>
                    <a:pt x="6003162" y="31749"/>
                  </a:moveTo>
                  <a:lnTo>
                    <a:pt x="69850" y="31749"/>
                  </a:lnTo>
                  <a:lnTo>
                    <a:pt x="76200" y="38099"/>
                  </a:lnTo>
                  <a:lnTo>
                    <a:pt x="69850" y="44449"/>
                  </a:lnTo>
                  <a:lnTo>
                    <a:pt x="6003162" y="44449"/>
                  </a:lnTo>
                  <a:lnTo>
                    <a:pt x="5996812" y="38099"/>
                  </a:lnTo>
                  <a:lnTo>
                    <a:pt x="6003162" y="31749"/>
                  </a:lnTo>
                  <a:close/>
                </a:path>
                <a:path w="6073140" h="76200">
                  <a:moveTo>
                    <a:pt x="6066662" y="31749"/>
                  </a:moveTo>
                  <a:lnTo>
                    <a:pt x="6034912" y="31749"/>
                  </a:lnTo>
                  <a:lnTo>
                    <a:pt x="6034912" y="44449"/>
                  </a:lnTo>
                  <a:lnTo>
                    <a:pt x="6066662" y="44449"/>
                  </a:lnTo>
                  <a:lnTo>
                    <a:pt x="6073012" y="38099"/>
                  </a:lnTo>
                  <a:lnTo>
                    <a:pt x="6066662" y="317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/>
          <p:cNvSpPr/>
          <p:nvPr/>
        </p:nvSpPr>
        <p:spPr>
          <a:xfrm>
            <a:off x="10920983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4728971" y="6509004"/>
            <a:ext cx="209740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Phoenix: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4537075" cy="0"/>
          </a:xfrm>
          <a:custGeom>
            <a:avLst/>
            <a:gdLst/>
            <a:ahLst/>
            <a:cxnLst/>
            <a:rect l="l" t="t" r="r" b="b"/>
            <a:pathLst>
              <a:path w="4537075" h="0">
                <a:moveTo>
                  <a:pt x="0" y="0"/>
                </a:moveTo>
                <a:lnTo>
                  <a:pt x="4536948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25995" y="6516623"/>
            <a:ext cx="5159375" cy="0"/>
          </a:xfrm>
          <a:custGeom>
            <a:avLst/>
            <a:gdLst/>
            <a:ahLst/>
            <a:cxnLst/>
            <a:rect l="l" t="t" r="r" b="b"/>
            <a:pathLst>
              <a:path w="5159375" h="0">
                <a:moveTo>
                  <a:pt x="0" y="0"/>
                </a:moveTo>
                <a:lnTo>
                  <a:pt x="5159121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6985" rIns="0" bIns="0" rtlCol="0" vert="horz">
            <a:spAutoFit/>
          </a:bodyPr>
          <a:lstStyle/>
          <a:p>
            <a:pPr marL="150495">
              <a:lnSpc>
                <a:spcPct val="100000"/>
              </a:lnSpc>
              <a:spcBef>
                <a:spcPts val="5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9.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CREDILINK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70"/>
              <a:t>PAYMENT</a:t>
            </a:r>
            <a:r>
              <a:rPr dirty="0" spc="-50"/>
              <a:t> </a:t>
            </a:r>
            <a:r>
              <a:rPr dirty="0" spc="-30"/>
              <a:t>LAYER</a:t>
            </a:r>
            <a:r>
              <a:rPr dirty="0" spc="-65"/>
              <a:t> </a:t>
            </a:r>
            <a:r>
              <a:rPr dirty="0" spc="-10"/>
              <a:t>(3/4)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Moving</a:t>
            </a:r>
            <a:r>
              <a:rPr dirty="0" u="sng" sz="2000" spc="-7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Away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From</a:t>
            </a:r>
            <a:r>
              <a:rPr dirty="0" u="sng" sz="2000" spc="-3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Legacy</a:t>
            </a:r>
            <a:r>
              <a:rPr dirty="0" u="sng" sz="2000" spc="-6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Systems</a:t>
            </a:r>
            <a:r>
              <a:rPr dirty="0" u="sng" sz="2000" spc="-1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6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Leveraging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BI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–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Fast</a:t>
            </a:r>
            <a:r>
              <a:rPr dirty="0" u="sng" sz="2000" spc="-3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Service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For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Loan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Disbursement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15105" y="1155953"/>
            <a:ext cx="76200" cy="5201920"/>
          </a:xfrm>
          <a:custGeom>
            <a:avLst/>
            <a:gdLst/>
            <a:ahLst/>
            <a:cxnLst/>
            <a:rect l="l" t="t" r="r" b="b"/>
            <a:pathLst>
              <a:path w="76200" h="5201920">
                <a:moveTo>
                  <a:pt x="28575" y="74282"/>
                </a:moveTo>
                <a:lnTo>
                  <a:pt x="28575" y="114300"/>
                </a:lnTo>
                <a:lnTo>
                  <a:pt x="47625" y="114300"/>
                </a:lnTo>
                <a:lnTo>
                  <a:pt x="47625" y="76200"/>
                </a:lnTo>
                <a:lnTo>
                  <a:pt x="38100" y="76200"/>
                </a:lnTo>
                <a:lnTo>
                  <a:pt x="28575" y="74282"/>
                </a:lnTo>
                <a:close/>
              </a:path>
              <a:path w="76200" h="5201920">
                <a:moveTo>
                  <a:pt x="47625" y="38100"/>
                </a:moveTo>
                <a:lnTo>
                  <a:pt x="28575" y="38100"/>
                </a:lnTo>
                <a:lnTo>
                  <a:pt x="28575" y="74282"/>
                </a:lnTo>
                <a:lnTo>
                  <a:pt x="38100" y="76200"/>
                </a:lnTo>
                <a:lnTo>
                  <a:pt x="47625" y="74282"/>
                </a:lnTo>
                <a:lnTo>
                  <a:pt x="47625" y="38100"/>
                </a:lnTo>
                <a:close/>
              </a:path>
              <a:path w="76200" h="5201920">
                <a:moveTo>
                  <a:pt x="47625" y="74282"/>
                </a:moveTo>
                <a:lnTo>
                  <a:pt x="38100" y="76200"/>
                </a:lnTo>
                <a:lnTo>
                  <a:pt x="47625" y="76200"/>
                </a:lnTo>
                <a:lnTo>
                  <a:pt x="47625" y="74282"/>
                </a:lnTo>
                <a:close/>
              </a:path>
              <a:path w="76200" h="520192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28575" y="74282"/>
                </a:lnTo>
                <a:lnTo>
                  <a:pt x="28575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76200" h="5201920">
                <a:moveTo>
                  <a:pt x="76200" y="38100"/>
                </a:moveTo>
                <a:lnTo>
                  <a:pt x="47625" y="38100"/>
                </a:lnTo>
                <a:lnTo>
                  <a:pt x="47625" y="74282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  <a:path w="76200" h="5201920">
                <a:moveTo>
                  <a:pt x="47625" y="171450"/>
                </a:moveTo>
                <a:lnTo>
                  <a:pt x="28575" y="171450"/>
                </a:lnTo>
                <a:lnTo>
                  <a:pt x="28575" y="247650"/>
                </a:lnTo>
                <a:lnTo>
                  <a:pt x="47625" y="247650"/>
                </a:lnTo>
                <a:lnTo>
                  <a:pt x="47625" y="171450"/>
                </a:lnTo>
                <a:close/>
              </a:path>
              <a:path w="76200" h="5201920">
                <a:moveTo>
                  <a:pt x="47625" y="304800"/>
                </a:moveTo>
                <a:lnTo>
                  <a:pt x="28575" y="304800"/>
                </a:lnTo>
                <a:lnTo>
                  <a:pt x="28575" y="381000"/>
                </a:lnTo>
                <a:lnTo>
                  <a:pt x="47625" y="381000"/>
                </a:lnTo>
                <a:lnTo>
                  <a:pt x="47625" y="304800"/>
                </a:lnTo>
                <a:close/>
              </a:path>
              <a:path w="76200" h="5201920">
                <a:moveTo>
                  <a:pt x="47625" y="438150"/>
                </a:moveTo>
                <a:lnTo>
                  <a:pt x="28575" y="438150"/>
                </a:lnTo>
                <a:lnTo>
                  <a:pt x="28575" y="514350"/>
                </a:lnTo>
                <a:lnTo>
                  <a:pt x="47625" y="514350"/>
                </a:lnTo>
                <a:lnTo>
                  <a:pt x="47625" y="438150"/>
                </a:lnTo>
                <a:close/>
              </a:path>
              <a:path w="76200" h="5201920">
                <a:moveTo>
                  <a:pt x="47625" y="571500"/>
                </a:moveTo>
                <a:lnTo>
                  <a:pt x="28575" y="571500"/>
                </a:lnTo>
                <a:lnTo>
                  <a:pt x="28575" y="647700"/>
                </a:lnTo>
                <a:lnTo>
                  <a:pt x="47625" y="647700"/>
                </a:lnTo>
                <a:lnTo>
                  <a:pt x="47625" y="571500"/>
                </a:lnTo>
                <a:close/>
              </a:path>
              <a:path w="76200" h="5201920">
                <a:moveTo>
                  <a:pt x="47625" y="704850"/>
                </a:moveTo>
                <a:lnTo>
                  <a:pt x="28575" y="704850"/>
                </a:lnTo>
                <a:lnTo>
                  <a:pt x="28575" y="781050"/>
                </a:lnTo>
                <a:lnTo>
                  <a:pt x="47625" y="781050"/>
                </a:lnTo>
                <a:lnTo>
                  <a:pt x="47625" y="704850"/>
                </a:lnTo>
                <a:close/>
              </a:path>
              <a:path w="76200" h="5201920">
                <a:moveTo>
                  <a:pt x="47625" y="838200"/>
                </a:moveTo>
                <a:lnTo>
                  <a:pt x="28575" y="838200"/>
                </a:lnTo>
                <a:lnTo>
                  <a:pt x="28575" y="914400"/>
                </a:lnTo>
                <a:lnTo>
                  <a:pt x="47625" y="914400"/>
                </a:lnTo>
                <a:lnTo>
                  <a:pt x="47625" y="838200"/>
                </a:lnTo>
                <a:close/>
              </a:path>
              <a:path w="76200" h="5201920">
                <a:moveTo>
                  <a:pt x="47625" y="971550"/>
                </a:moveTo>
                <a:lnTo>
                  <a:pt x="28575" y="971550"/>
                </a:lnTo>
                <a:lnTo>
                  <a:pt x="28575" y="1047750"/>
                </a:lnTo>
                <a:lnTo>
                  <a:pt x="47625" y="1047750"/>
                </a:lnTo>
                <a:lnTo>
                  <a:pt x="47625" y="971550"/>
                </a:lnTo>
                <a:close/>
              </a:path>
              <a:path w="76200" h="5201920">
                <a:moveTo>
                  <a:pt x="47625" y="1104900"/>
                </a:moveTo>
                <a:lnTo>
                  <a:pt x="28575" y="1104900"/>
                </a:lnTo>
                <a:lnTo>
                  <a:pt x="28575" y="1181100"/>
                </a:lnTo>
                <a:lnTo>
                  <a:pt x="47625" y="1181100"/>
                </a:lnTo>
                <a:lnTo>
                  <a:pt x="47625" y="1104900"/>
                </a:lnTo>
                <a:close/>
              </a:path>
              <a:path w="76200" h="5201920">
                <a:moveTo>
                  <a:pt x="47625" y="1238250"/>
                </a:moveTo>
                <a:lnTo>
                  <a:pt x="28575" y="1238250"/>
                </a:lnTo>
                <a:lnTo>
                  <a:pt x="28575" y="1314450"/>
                </a:lnTo>
                <a:lnTo>
                  <a:pt x="47625" y="1314450"/>
                </a:lnTo>
                <a:lnTo>
                  <a:pt x="47625" y="1238250"/>
                </a:lnTo>
                <a:close/>
              </a:path>
              <a:path w="76200" h="5201920">
                <a:moveTo>
                  <a:pt x="47625" y="1371600"/>
                </a:moveTo>
                <a:lnTo>
                  <a:pt x="28575" y="1371600"/>
                </a:lnTo>
                <a:lnTo>
                  <a:pt x="28575" y="1447800"/>
                </a:lnTo>
                <a:lnTo>
                  <a:pt x="47625" y="1447800"/>
                </a:lnTo>
                <a:lnTo>
                  <a:pt x="47625" y="1371600"/>
                </a:lnTo>
                <a:close/>
              </a:path>
              <a:path w="76200" h="5201920">
                <a:moveTo>
                  <a:pt x="47625" y="1504950"/>
                </a:moveTo>
                <a:lnTo>
                  <a:pt x="28575" y="1504950"/>
                </a:lnTo>
                <a:lnTo>
                  <a:pt x="28575" y="1581150"/>
                </a:lnTo>
                <a:lnTo>
                  <a:pt x="47625" y="1581150"/>
                </a:lnTo>
                <a:lnTo>
                  <a:pt x="47625" y="1504950"/>
                </a:lnTo>
                <a:close/>
              </a:path>
              <a:path w="76200" h="5201920">
                <a:moveTo>
                  <a:pt x="47625" y="1638300"/>
                </a:moveTo>
                <a:lnTo>
                  <a:pt x="28575" y="1638300"/>
                </a:lnTo>
                <a:lnTo>
                  <a:pt x="28575" y="1714500"/>
                </a:lnTo>
                <a:lnTo>
                  <a:pt x="47625" y="1714500"/>
                </a:lnTo>
                <a:lnTo>
                  <a:pt x="47625" y="1638300"/>
                </a:lnTo>
                <a:close/>
              </a:path>
              <a:path w="76200" h="5201920">
                <a:moveTo>
                  <a:pt x="47625" y="1771650"/>
                </a:moveTo>
                <a:lnTo>
                  <a:pt x="28575" y="1771650"/>
                </a:lnTo>
                <a:lnTo>
                  <a:pt x="28575" y="1847850"/>
                </a:lnTo>
                <a:lnTo>
                  <a:pt x="47625" y="1847850"/>
                </a:lnTo>
                <a:lnTo>
                  <a:pt x="47625" y="1771650"/>
                </a:lnTo>
                <a:close/>
              </a:path>
              <a:path w="76200" h="5201920">
                <a:moveTo>
                  <a:pt x="47625" y="1905000"/>
                </a:moveTo>
                <a:lnTo>
                  <a:pt x="28575" y="1905000"/>
                </a:lnTo>
                <a:lnTo>
                  <a:pt x="28575" y="1981200"/>
                </a:lnTo>
                <a:lnTo>
                  <a:pt x="47625" y="1981200"/>
                </a:lnTo>
                <a:lnTo>
                  <a:pt x="47625" y="1905000"/>
                </a:lnTo>
                <a:close/>
              </a:path>
              <a:path w="76200" h="5201920">
                <a:moveTo>
                  <a:pt x="47625" y="2038350"/>
                </a:moveTo>
                <a:lnTo>
                  <a:pt x="28575" y="2038350"/>
                </a:lnTo>
                <a:lnTo>
                  <a:pt x="28575" y="2114550"/>
                </a:lnTo>
                <a:lnTo>
                  <a:pt x="47625" y="2114550"/>
                </a:lnTo>
                <a:lnTo>
                  <a:pt x="47625" y="2038350"/>
                </a:lnTo>
                <a:close/>
              </a:path>
              <a:path w="76200" h="5201920">
                <a:moveTo>
                  <a:pt x="47625" y="2171700"/>
                </a:moveTo>
                <a:lnTo>
                  <a:pt x="28575" y="2171700"/>
                </a:lnTo>
                <a:lnTo>
                  <a:pt x="28575" y="2247900"/>
                </a:lnTo>
                <a:lnTo>
                  <a:pt x="47625" y="2247900"/>
                </a:lnTo>
                <a:lnTo>
                  <a:pt x="47625" y="2171700"/>
                </a:lnTo>
                <a:close/>
              </a:path>
              <a:path w="76200" h="5201920">
                <a:moveTo>
                  <a:pt x="47625" y="2305050"/>
                </a:moveTo>
                <a:lnTo>
                  <a:pt x="28575" y="2305050"/>
                </a:lnTo>
                <a:lnTo>
                  <a:pt x="28575" y="2381250"/>
                </a:lnTo>
                <a:lnTo>
                  <a:pt x="47625" y="2381250"/>
                </a:lnTo>
                <a:lnTo>
                  <a:pt x="47625" y="2305050"/>
                </a:lnTo>
                <a:close/>
              </a:path>
              <a:path w="76200" h="5201920">
                <a:moveTo>
                  <a:pt x="47625" y="2438400"/>
                </a:moveTo>
                <a:lnTo>
                  <a:pt x="28575" y="2438400"/>
                </a:lnTo>
                <a:lnTo>
                  <a:pt x="28575" y="2514600"/>
                </a:lnTo>
                <a:lnTo>
                  <a:pt x="47625" y="2514600"/>
                </a:lnTo>
                <a:lnTo>
                  <a:pt x="47625" y="2438400"/>
                </a:lnTo>
                <a:close/>
              </a:path>
              <a:path w="76200" h="5201920">
                <a:moveTo>
                  <a:pt x="47625" y="2571750"/>
                </a:moveTo>
                <a:lnTo>
                  <a:pt x="28575" y="2571750"/>
                </a:lnTo>
                <a:lnTo>
                  <a:pt x="28575" y="2647950"/>
                </a:lnTo>
                <a:lnTo>
                  <a:pt x="47625" y="2647950"/>
                </a:lnTo>
                <a:lnTo>
                  <a:pt x="47625" y="2571750"/>
                </a:lnTo>
                <a:close/>
              </a:path>
              <a:path w="76200" h="5201920">
                <a:moveTo>
                  <a:pt x="47625" y="2705100"/>
                </a:moveTo>
                <a:lnTo>
                  <a:pt x="28575" y="2705100"/>
                </a:lnTo>
                <a:lnTo>
                  <a:pt x="28575" y="2781300"/>
                </a:lnTo>
                <a:lnTo>
                  <a:pt x="47625" y="2781300"/>
                </a:lnTo>
                <a:lnTo>
                  <a:pt x="47625" y="2705100"/>
                </a:lnTo>
                <a:close/>
              </a:path>
              <a:path w="76200" h="5201920">
                <a:moveTo>
                  <a:pt x="47625" y="2838450"/>
                </a:moveTo>
                <a:lnTo>
                  <a:pt x="28575" y="2838450"/>
                </a:lnTo>
                <a:lnTo>
                  <a:pt x="28575" y="2914650"/>
                </a:lnTo>
                <a:lnTo>
                  <a:pt x="47625" y="2914650"/>
                </a:lnTo>
                <a:lnTo>
                  <a:pt x="47625" y="2838450"/>
                </a:lnTo>
                <a:close/>
              </a:path>
              <a:path w="76200" h="5201920">
                <a:moveTo>
                  <a:pt x="47625" y="2971800"/>
                </a:moveTo>
                <a:lnTo>
                  <a:pt x="28575" y="2971800"/>
                </a:lnTo>
                <a:lnTo>
                  <a:pt x="28575" y="3048000"/>
                </a:lnTo>
                <a:lnTo>
                  <a:pt x="47625" y="3048000"/>
                </a:lnTo>
                <a:lnTo>
                  <a:pt x="47625" y="2971800"/>
                </a:lnTo>
                <a:close/>
              </a:path>
              <a:path w="76200" h="5201920">
                <a:moveTo>
                  <a:pt x="47625" y="3105150"/>
                </a:moveTo>
                <a:lnTo>
                  <a:pt x="28575" y="3105150"/>
                </a:lnTo>
                <a:lnTo>
                  <a:pt x="28575" y="3181350"/>
                </a:lnTo>
                <a:lnTo>
                  <a:pt x="47625" y="3181350"/>
                </a:lnTo>
                <a:lnTo>
                  <a:pt x="47625" y="3105150"/>
                </a:lnTo>
                <a:close/>
              </a:path>
              <a:path w="76200" h="5201920">
                <a:moveTo>
                  <a:pt x="47625" y="3238500"/>
                </a:moveTo>
                <a:lnTo>
                  <a:pt x="28575" y="3238500"/>
                </a:lnTo>
                <a:lnTo>
                  <a:pt x="28575" y="3314700"/>
                </a:lnTo>
                <a:lnTo>
                  <a:pt x="47625" y="3314700"/>
                </a:lnTo>
                <a:lnTo>
                  <a:pt x="47625" y="3238500"/>
                </a:lnTo>
                <a:close/>
              </a:path>
              <a:path w="76200" h="5201920">
                <a:moveTo>
                  <a:pt x="47625" y="3371850"/>
                </a:moveTo>
                <a:lnTo>
                  <a:pt x="28575" y="3371850"/>
                </a:lnTo>
                <a:lnTo>
                  <a:pt x="28575" y="3448050"/>
                </a:lnTo>
                <a:lnTo>
                  <a:pt x="47625" y="3448050"/>
                </a:lnTo>
                <a:lnTo>
                  <a:pt x="47625" y="3371850"/>
                </a:lnTo>
                <a:close/>
              </a:path>
              <a:path w="76200" h="5201920">
                <a:moveTo>
                  <a:pt x="47625" y="3505200"/>
                </a:moveTo>
                <a:lnTo>
                  <a:pt x="28575" y="3505200"/>
                </a:lnTo>
                <a:lnTo>
                  <a:pt x="28575" y="3581400"/>
                </a:lnTo>
                <a:lnTo>
                  <a:pt x="47625" y="3581400"/>
                </a:lnTo>
                <a:lnTo>
                  <a:pt x="47625" y="3505200"/>
                </a:lnTo>
                <a:close/>
              </a:path>
              <a:path w="76200" h="5201920">
                <a:moveTo>
                  <a:pt x="47625" y="3638550"/>
                </a:moveTo>
                <a:lnTo>
                  <a:pt x="28575" y="3638550"/>
                </a:lnTo>
                <a:lnTo>
                  <a:pt x="28575" y="3714750"/>
                </a:lnTo>
                <a:lnTo>
                  <a:pt x="47625" y="3714750"/>
                </a:lnTo>
                <a:lnTo>
                  <a:pt x="47625" y="3638550"/>
                </a:lnTo>
                <a:close/>
              </a:path>
              <a:path w="76200" h="5201920">
                <a:moveTo>
                  <a:pt x="47625" y="3771900"/>
                </a:moveTo>
                <a:lnTo>
                  <a:pt x="28575" y="3771900"/>
                </a:lnTo>
                <a:lnTo>
                  <a:pt x="28575" y="3848100"/>
                </a:lnTo>
                <a:lnTo>
                  <a:pt x="47625" y="3848100"/>
                </a:lnTo>
                <a:lnTo>
                  <a:pt x="47625" y="3771900"/>
                </a:lnTo>
                <a:close/>
              </a:path>
              <a:path w="76200" h="5201920">
                <a:moveTo>
                  <a:pt x="47625" y="3905250"/>
                </a:moveTo>
                <a:lnTo>
                  <a:pt x="28575" y="3905250"/>
                </a:lnTo>
                <a:lnTo>
                  <a:pt x="28575" y="3981450"/>
                </a:lnTo>
                <a:lnTo>
                  <a:pt x="47625" y="3981450"/>
                </a:lnTo>
                <a:lnTo>
                  <a:pt x="47625" y="3905250"/>
                </a:lnTo>
                <a:close/>
              </a:path>
              <a:path w="76200" h="5201920">
                <a:moveTo>
                  <a:pt x="47625" y="4038600"/>
                </a:moveTo>
                <a:lnTo>
                  <a:pt x="28575" y="4038600"/>
                </a:lnTo>
                <a:lnTo>
                  <a:pt x="28575" y="4114800"/>
                </a:lnTo>
                <a:lnTo>
                  <a:pt x="47625" y="4114800"/>
                </a:lnTo>
                <a:lnTo>
                  <a:pt x="47625" y="4038600"/>
                </a:lnTo>
                <a:close/>
              </a:path>
              <a:path w="76200" h="5201920">
                <a:moveTo>
                  <a:pt x="47625" y="4171950"/>
                </a:moveTo>
                <a:lnTo>
                  <a:pt x="28575" y="4171950"/>
                </a:lnTo>
                <a:lnTo>
                  <a:pt x="28575" y="4248150"/>
                </a:lnTo>
                <a:lnTo>
                  <a:pt x="47625" y="4248150"/>
                </a:lnTo>
                <a:lnTo>
                  <a:pt x="47625" y="4171950"/>
                </a:lnTo>
                <a:close/>
              </a:path>
              <a:path w="76200" h="5201920">
                <a:moveTo>
                  <a:pt x="47625" y="4305300"/>
                </a:moveTo>
                <a:lnTo>
                  <a:pt x="28575" y="4305300"/>
                </a:lnTo>
                <a:lnTo>
                  <a:pt x="28575" y="4381500"/>
                </a:lnTo>
                <a:lnTo>
                  <a:pt x="47625" y="4381500"/>
                </a:lnTo>
                <a:lnTo>
                  <a:pt x="47625" y="4305300"/>
                </a:lnTo>
                <a:close/>
              </a:path>
              <a:path w="76200" h="5201920">
                <a:moveTo>
                  <a:pt x="47625" y="4438650"/>
                </a:moveTo>
                <a:lnTo>
                  <a:pt x="28575" y="4438650"/>
                </a:lnTo>
                <a:lnTo>
                  <a:pt x="28575" y="4514850"/>
                </a:lnTo>
                <a:lnTo>
                  <a:pt x="47625" y="4514850"/>
                </a:lnTo>
                <a:lnTo>
                  <a:pt x="47625" y="4438650"/>
                </a:lnTo>
                <a:close/>
              </a:path>
              <a:path w="76200" h="5201920">
                <a:moveTo>
                  <a:pt x="47625" y="4572000"/>
                </a:moveTo>
                <a:lnTo>
                  <a:pt x="28575" y="4572000"/>
                </a:lnTo>
                <a:lnTo>
                  <a:pt x="28575" y="4648200"/>
                </a:lnTo>
                <a:lnTo>
                  <a:pt x="47625" y="4648200"/>
                </a:lnTo>
                <a:lnTo>
                  <a:pt x="47625" y="4572000"/>
                </a:lnTo>
                <a:close/>
              </a:path>
              <a:path w="76200" h="5201920">
                <a:moveTo>
                  <a:pt x="47625" y="4705350"/>
                </a:moveTo>
                <a:lnTo>
                  <a:pt x="28575" y="4705350"/>
                </a:lnTo>
                <a:lnTo>
                  <a:pt x="28575" y="4781550"/>
                </a:lnTo>
                <a:lnTo>
                  <a:pt x="47625" y="4781550"/>
                </a:lnTo>
                <a:lnTo>
                  <a:pt x="47625" y="4705350"/>
                </a:lnTo>
                <a:close/>
              </a:path>
              <a:path w="76200" h="5201920">
                <a:moveTo>
                  <a:pt x="47625" y="4838700"/>
                </a:moveTo>
                <a:lnTo>
                  <a:pt x="28575" y="4838700"/>
                </a:lnTo>
                <a:lnTo>
                  <a:pt x="28575" y="4914900"/>
                </a:lnTo>
                <a:lnTo>
                  <a:pt x="47625" y="4914900"/>
                </a:lnTo>
                <a:lnTo>
                  <a:pt x="47625" y="4838700"/>
                </a:lnTo>
                <a:close/>
              </a:path>
              <a:path w="76200" h="5201920">
                <a:moveTo>
                  <a:pt x="47625" y="4972050"/>
                </a:moveTo>
                <a:lnTo>
                  <a:pt x="28575" y="4972050"/>
                </a:lnTo>
                <a:lnTo>
                  <a:pt x="28575" y="5048250"/>
                </a:lnTo>
                <a:lnTo>
                  <a:pt x="47625" y="5048250"/>
                </a:lnTo>
                <a:lnTo>
                  <a:pt x="47625" y="4972050"/>
                </a:lnTo>
                <a:close/>
              </a:path>
              <a:path w="76200" h="5201920">
                <a:moveTo>
                  <a:pt x="28575" y="5127119"/>
                </a:moveTo>
                <a:lnTo>
                  <a:pt x="23252" y="5128193"/>
                </a:lnTo>
                <a:lnTo>
                  <a:pt x="11144" y="5136357"/>
                </a:lnTo>
                <a:lnTo>
                  <a:pt x="2988" y="5148468"/>
                </a:lnTo>
                <a:lnTo>
                  <a:pt x="0" y="5163299"/>
                </a:lnTo>
                <a:lnTo>
                  <a:pt x="2988" y="5178130"/>
                </a:lnTo>
                <a:lnTo>
                  <a:pt x="11144" y="5190240"/>
                </a:lnTo>
                <a:lnTo>
                  <a:pt x="23252" y="5198405"/>
                </a:lnTo>
                <a:lnTo>
                  <a:pt x="38100" y="5201399"/>
                </a:lnTo>
                <a:lnTo>
                  <a:pt x="52947" y="5198405"/>
                </a:lnTo>
                <a:lnTo>
                  <a:pt x="65055" y="5190240"/>
                </a:lnTo>
                <a:lnTo>
                  <a:pt x="73211" y="5178130"/>
                </a:lnTo>
                <a:lnTo>
                  <a:pt x="76200" y="5163299"/>
                </a:lnTo>
                <a:lnTo>
                  <a:pt x="28575" y="5163299"/>
                </a:lnTo>
                <a:lnTo>
                  <a:pt x="28575" y="5127119"/>
                </a:lnTo>
                <a:close/>
              </a:path>
              <a:path w="76200" h="5201920">
                <a:moveTo>
                  <a:pt x="38100" y="5125199"/>
                </a:moveTo>
                <a:lnTo>
                  <a:pt x="28575" y="5127119"/>
                </a:lnTo>
                <a:lnTo>
                  <a:pt x="28575" y="5163299"/>
                </a:lnTo>
                <a:lnTo>
                  <a:pt x="47625" y="5163299"/>
                </a:lnTo>
                <a:lnTo>
                  <a:pt x="47625" y="5127119"/>
                </a:lnTo>
                <a:lnTo>
                  <a:pt x="38100" y="5125199"/>
                </a:lnTo>
                <a:close/>
              </a:path>
              <a:path w="76200" h="5201920">
                <a:moveTo>
                  <a:pt x="47625" y="5127119"/>
                </a:moveTo>
                <a:lnTo>
                  <a:pt x="47625" y="5163299"/>
                </a:lnTo>
                <a:lnTo>
                  <a:pt x="76200" y="5163299"/>
                </a:lnTo>
                <a:lnTo>
                  <a:pt x="73211" y="5148468"/>
                </a:lnTo>
                <a:lnTo>
                  <a:pt x="65055" y="5136357"/>
                </a:lnTo>
                <a:lnTo>
                  <a:pt x="52947" y="5128193"/>
                </a:lnTo>
                <a:lnTo>
                  <a:pt x="47625" y="5127119"/>
                </a:lnTo>
                <a:close/>
              </a:path>
              <a:path w="76200" h="5201920">
                <a:moveTo>
                  <a:pt x="47625" y="5105400"/>
                </a:moveTo>
                <a:lnTo>
                  <a:pt x="28575" y="5105400"/>
                </a:lnTo>
                <a:lnTo>
                  <a:pt x="28575" y="5127119"/>
                </a:lnTo>
                <a:lnTo>
                  <a:pt x="38100" y="5125199"/>
                </a:lnTo>
                <a:lnTo>
                  <a:pt x="47625" y="5125199"/>
                </a:lnTo>
                <a:lnTo>
                  <a:pt x="47625" y="5105400"/>
                </a:lnTo>
                <a:close/>
              </a:path>
              <a:path w="76200" h="5201920">
                <a:moveTo>
                  <a:pt x="47625" y="5125199"/>
                </a:moveTo>
                <a:lnTo>
                  <a:pt x="38100" y="5125199"/>
                </a:lnTo>
                <a:lnTo>
                  <a:pt x="47625" y="5127119"/>
                </a:lnTo>
                <a:lnTo>
                  <a:pt x="47625" y="5125199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9184385" y="1245869"/>
            <a:ext cx="1917700" cy="5201920"/>
            <a:chOff x="9184385" y="1245869"/>
            <a:chExt cx="1917700" cy="5201920"/>
          </a:xfrm>
        </p:grpSpPr>
        <p:sp>
          <p:nvSpPr>
            <p:cNvPr id="8" name="object 8"/>
            <p:cNvSpPr/>
            <p:nvPr/>
          </p:nvSpPr>
          <p:spPr>
            <a:xfrm>
              <a:off x="9184385" y="1245869"/>
              <a:ext cx="76200" cy="5201920"/>
            </a:xfrm>
            <a:custGeom>
              <a:avLst/>
              <a:gdLst/>
              <a:ahLst/>
              <a:cxnLst/>
              <a:rect l="l" t="t" r="r" b="b"/>
              <a:pathLst>
                <a:path w="76200" h="5201920">
                  <a:moveTo>
                    <a:pt x="28575" y="74282"/>
                  </a:moveTo>
                  <a:lnTo>
                    <a:pt x="28575" y="114300"/>
                  </a:lnTo>
                  <a:lnTo>
                    <a:pt x="47625" y="114300"/>
                  </a:lnTo>
                  <a:lnTo>
                    <a:pt x="47625" y="76200"/>
                  </a:lnTo>
                  <a:lnTo>
                    <a:pt x="38100" y="76200"/>
                  </a:lnTo>
                  <a:lnTo>
                    <a:pt x="28575" y="74282"/>
                  </a:lnTo>
                  <a:close/>
                </a:path>
                <a:path w="76200" h="5201920">
                  <a:moveTo>
                    <a:pt x="47625" y="38100"/>
                  </a:moveTo>
                  <a:lnTo>
                    <a:pt x="28575" y="38100"/>
                  </a:lnTo>
                  <a:lnTo>
                    <a:pt x="28575" y="74282"/>
                  </a:lnTo>
                  <a:lnTo>
                    <a:pt x="38100" y="76200"/>
                  </a:lnTo>
                  <a:lnTo>
                    <a:pt x="47625" y="74282"/>
                  </a:lnTo>
                  <a:lnTo>
                    <a:pt x="47625" y="38100"/>
                  </a:lnTo>
                  <a:close/>
                </a:path>
                <a:path w="76200" h="5201920">
                  <a:moveTo>
                    <a:pt x="47625" y="74282"/>
                  </a:moveTo>
                  <a:lnTo>
                    <a:pt x="38100" y="76200"/>
                  </a:lnTo>
                  <a:lnTo>
                    <a:pt x="47625" y="76200"/>
                  </a:lnTo>
                  <a:lnTo>
                    <a:pt x="47625" y="74282"/>
                  </a:lnTo>
                  <a:close/>
                </a:path>
                <a:path w="76200" h="520192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28575" y="74282"/>
                  </a:lnTo>
                  <a:lnTo>
                    <a:pt x="28575" y="381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76200" h="5201920">
                  <a:moveTo>
                    <a:pt x="76200" y="38100"/>
                  </a:moveTo>
                  <a:lnTo>
                    <a:pt x="47625" y="38100"/>
                  </a:lnTo>
                  <a:lnTo>
                    <a:pt x="47625" y="74282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close/>
                </a:path>
                <a:path w="76200" h="5201920">
                  <a:moveTo>
                    <a:pt x="47625" y="171450"/>
                  </a:moveTo>
                  <a:lnTo>
                    <a:pt x="28575" y="171450"/>
                  </a:lnTo>
                  <a:lnTo>
                    <a:pt x="28575" y="247650"/>
                  </a:lnTo>
                  <a:lnTo>
                    <a:pt x="47625" y="247650"/>
                  </a:lnTo>
                  <a:lnTo>
                    <a:pt x="47625" y="171450"/>
                  </a:lnTo>
                  <a:close/>
                </a:path>
                <a:path w="76200" h="5201920">
                  <a:moveTo>
                    <a:pt x="47625" y="304800"/>
                  </a:moveTo>
                  <a:lnTo>
                    <a:pt x="28575" y="304800"/>
                  </a:lnTo>
                  <a:lnTo>
                    <a:pt x="28575" y="381000"/>
                  </a:lnTo>
                  <a:lnTo>
                    <a:pt x="47625" y="381000"/>
                  </a:lnTo>
                  <a:lnTo>
                    <a:pt x="47625" y="304800"/>
                  </a:lnTo>
                  <a:close/>
                </a:path>
                <a:path w="76200" h="5201920">
                  <a:moveTo>
                    <a:pt x="47625" y="438150"/>
                  </a:moveTo>
                  <a:lnTo>
                    <a:pt x="28575" y="438150"/>
                  </a:lnTo>
                  <a:lnTo>
                    <a:pt x="28575" y="514350"/>
                  </a:lnTo>
                  <a:lnTo>
                    <a:pt x="47625" y="514350"/>
                  </a:lnTo>
                  <a:lnTo>
                    <a:pt x="47625" y="438150"/>
                  </a:lnTo>
                  <a:close/>
                </a:path>
                <a:path w="76200" h="5201920">
                  <a:moveTo>
                    <a:pt x="47625" y="571500"/>
                  </a:moveTo>
                  <a:lnTo>
                    <a:pt x="28575" y="571500"/>
                  </a:lnTo>
                  <a:lnTo>
                    <a:pt x="28575" y="647700"/>
                  </a:lnTo>
                  <a:lnTo>
                    <a:pt x="47625" y="647700"/>
                  </a:lnTo>
                  <a:lnTo>
                    <a:pt x="47625" y="571500"/>
                  </a:lnTo>
                  <a:close/>
                </a:path>
                <a:path w="76200" h="5201920">
                  <a:moveTo>
                    <a:pt x="47625" y="704850"/>
                  </a:moveTo>
                  <a:lnTo>
                    <a:pt x="28575" y="704850"/>
                  </a:lnTo>
                  <a:lnTo>
                    <a:pt x="28575" y="781050"/>
                  </a:lnTo>
                  <a:lnTo>
                    <a:pt x="47625" y="781050"/>
                  </a:lnTo>
                  <a:lnTo>
                    <a:pt x="47625" y="704850"/>
                  </a:lnTo>
                  <a:close/>
                </a:path>
                <a:path w="76200" h="5201920">
                  <a:moveTo>
                    <a:pt x="47625" y="838200"/>
                  </a:moveTo>
                  <a:lnTo>
                    <a:pt x="28575" y="838200"/>
                  </a:lnTo>
                  <a:lnTo>
                    <a:pt x="28575" y="914400"/>
                  </a:lnTo>
                  <a:lnTo>
                    <a:pt x="47625" y="914400"/>
                  </a:lnTo>
                  <a:lnTo>
                    <a:pt x="47625" y="838200"/>
                  </a:lnTo>
                  <a:close/>
                </a:path>
                <a:path w="76200" h="5201920">
                  <a:moveTo>
                    <a:pt x="47625" y="971550"/>
                  </a:moveTo>
                  <a:lnTo>
                    <a:pt x="28575" y="971550"/>
                  </a:lnTo>
                  <a:lnTo>
                    <a:pt x="28575" y="1047750"/>
                  </a:lnTo>
                  <a:lnTo>
                    <a:pt x="47625" y="1047750"/>
                  </a:lnTo>
                  <a:lnTo>
                    <a:pt x="47625" y="971550"/>
                  </a:lnTo>
                  <a:close/>
                </a:path>
                <a:path w="76200" h="5201920">
                  <a:moveTo>
                    <a:pt x="47625" y="1104900"/>
                  </a:moveTo>
                  <a:lnTo>
                    <a:pt x="28575" y="1104900"/>
                  </a:lnTo>
                  <a:lnTo>
                    <a:pt x="28575" y="1181100"/>
                  </a:lnTo>
                  <a:lnTo>
                    <a:pt x="47625" y="1181100"/>
                  </a:lnTo>
                  <a:lnTo>
                    <a:pt x="47625" y="1104900"/>
                  </a:lnTo>
                  <a:close/>
                </a:path>
                <a:path w="76200" h="5201920">
                  <a:moveTo>
                    <a:pt x="47625" y="1238250"/>
                  </a:moveTo>
                  <a:lnTo>
                    <a:pt x="28575" y="1238250"/>
                  </a:lnTo>
                  <a:lnTo>
                    <a:pt x="28575" y="1314450"/>
                  </a:lnTo>
                  <a:lnTo>
                    <a:pt x="47625" y="1314450"/>
                  </a:lnTo>
                  <a:lnTo>
                    <a:pt x="47625" y="1238250"/>
                  </a:lnTo>
                  <a:close/>
                </a:path>
                <a:path w="76200" h="5201920">
                  <a:moveTo>
                    <a:pt x="47625" y="1371600"/>
                  </a:moveTo>
                  <a:lnTo>
                    <a:pt x="28575" y="1371600"/>
                  </a:lnTo>
                  <a:lnTo>
                    <a:pt x="28575" y="1447800"/>
                  </a:lnTo>
                  <a:lnTo>
                    <a:pt x="47625" y="1447800"/>
                  </a:lnTo>
                  <a:lnTo>
                    <a:pt x="47625" y="1371600"/>
                  </a:lnTo>
                  <a:close/>
                </a:path>
                <a:path w="76200" h="5201920">
                  <a:moveTo>
                    <a:pt x="47625" y="1504950"/>
                  </a:moveTo>
                  <a:lnTo>
                    <a:pt x="28575" y="1504950"/>
                  </a:lnTo>
                  <a:lnTo>
                    <a:pt x="28575" y="1581150"/>
                  </a:lnTo>
                  <a:lnTo>
                    <a:pt x="47625" y="1581150"/>
                  </a:lnTo>
                  <a:lnTo>
                    <a:pt x="47625" y="1504950"/>
                  </a:lnTo>
                  <a:close/>
                </a:path>
                <a:path w="76200" h="5201920">
                  <a:moveTo>
                    <a:pt x="47625" y="1638300"/>
                  </a:moveTo>
                  <a:lnTo>
                    <a:pt x="28575" y="1638300"/>
                  </a:lnTo>
                  <a:lnTo>
                    <a:pt x="28575" y="1714500"/>
                  </a:lnTo>
                  <a:lnTo>
                    <a:pt x="47625" y="1714500"/>
                  </a:lnTo>
                  <a:lnTo>
                    <a:pt x="47625" y="1638300"/>
                  </a:lnTo>
                  <a:close/>
                </a:path>
                <a:path w="76200" h="5201920">
                  <a:moveTo>
                    <a:pt x="47625" y="1771650"/>
                  </a:moveTo>
                  <a:lnTo>
                    <a:pt x="28575" y="1771650"/>
                  </a:lnTo>
                  <a:lnTo>
                    <a:pt x="28575" y="1847850"/>
                  </a:lnTo>
                  <a:lnTo>
                    <a:pt x="47625" y="1847850"/>
                  </a:lnTo>
                  <a:lnTo>
                    <a:pt x="47625" y="1771650"/>
                  </a:lnTo>
                  <a:close/>
                </a:path>
                <a:path w="76200" h="5201920">
                  <a:moveTo>
                    <a:pt x="47625" y="1905000"/>
                  </a:moveTo>
                  <a:lnTo>
                    <a:pt x="28575" y="1905000"/>
                  </a:lnTo>
                  <a:lnTo>
                    <a:pt x="28575" y="1981200"/>
                  </a:lnTo>
                  <a:lnTo>
                    <a:pt x="47625" y="1981200"/>
                  </a:lnTo>
                  <a:lnTo>
                    <a:pt x="47625" y="1905000"/>
                  </a:lnTo>
                  <a:close/>
                </a:path>
                <a:path w="76200" h="5201920">
                  <a:moveTo>
                    <a:pt x="47625" y="2038350"/>
                  </a:moveTo>
                  <a:lnTo>
                    <a:pt x="28575" y="2038350"/>
                  </a:lnTo>
                  <a:lnTo>
                    <a:pt x="28575" y="2114550"/>
                  </a:lnTo>
                  <a:lnTo>
                    <a:pt x="47625" y="2114550"/>
                  </a:lnTo>
                  <a:lnTo>
                    <a:pt x="47625" y="2038350"/>
                  </a:lnTo>
                  <a:close/>
                </a:path>
                <a:path w="76200" h="5201920">
                  <a:moveTo>
                    <a:pt x="47625" y="2171700"/>
                  </a:moveTo>
                  <a:lnTo>
                    <a:pt x="28575" y="2171700"/>
                  </a:lnTo>
                  <a:lnTo>
                    <a:pt x="28575" y="2247900"/>
                  </a:lnTo>
                  <a:lnTo>
                    <a:pt x="47625" y="2247900"/>
                  </a:lnTo>
                  <a:lnTo>
                    <a:pt x="47625" y="2171700"/>
                  </a:lnTo>
                  <a:close/>
                </a:path>
                <a:path w="76200" h="5201920">
                  <a:moveTo>
                    <a:pt x="47625" y="2305050"/>
                  </a:moveTo>
                  <a:lnTo>
                    <a:pt x="28575" y="2305050"/>
                  </a:lnTo>
                  <a:lnTo>
                    <a:pt x="28575" y="2381249"/>
                  </a:lnTo>
                  <a:lnTo>
                    <a:pt x="47625" y="2381249"/>
                  </a:lnTo>
                  <a:lnTo>
                    <a:pt x="47625" y="2305050"/>
                  </a:lnTo>
                  <a:close/>
                </a:path>
                <a:path w="76200" h="5201920">
                  <a:moveTo>
                    <a:pt x="47625" y="2438399"/>
                  </a:moveTo>
                  <a:lnTo>
                    <a:pt x="28575" y="2438399"/>
                  </a:lnTo>
                  <a:lnTo>
                    <a:pt x="28575" y="2514599"/>
                  </a:lnTo>
                  <a:lnTo>
                    <a:pt x="47625" y="2514599"/>
                  </a:lnTo>
                  <a:lnTo>
                    <a:pt x="47625" y="2438399"/>
                  </a:lnTo>
                  <a:close/>
                </a:path>
                <a:path w="76200" h="5201920">
                  <a:moveTo>
                    <a:pt x="47625" y="2571749"/>
                  </a:moveTo>
                  <a:lnTo>
                    <a:pt x="28575" y="2571749"/>
                  </a:lnTo>
                  <a:lnTo>
                    <a:pt x="28575" y="2647949"/>
                  </a:lnTo>
                  <a:lnTo>
                    <a:pt x="47625" y="2647949"/>
                  </a:lnTo>
                  <a:lnTo>
                    <a:pt x="47625" y="2571749"/>
                  </a:lnTo>
                  <a:close/>
                </a:path>
                <a:path w="76200" h="5201920">
                  <a:moveTo>
                    <a:pt x="47625" y="2705099"/>
                  </a:moveTo>
                  <a:lnTo>
                    <a:pt x="28575" y="2705099"/>
                  </a:lnTo>
                  <a:lnTo>
                    <a:pt x="28575" y="2781299"/>
                  </a:lnTo>
                  <a:lnTo>
                    <a:pt x="47625" y="2781299"/>
                  </a:lnTo>
                  <a:lnTo>
                    <a:pt x="47625" y="2705099"/>
                  </a:lnTo>
                  <a:close/>
                </a:path>
                <a:path w="76200" h="5201920">
                  <a:moveTo>
                    <a:pt x="47625" y="2838449"/>
                  </a:moveTo>
                  <a:lnTo>
                    <a:pt x="28575" y="2838449"/>
                  </a:lnTo>
                  <a:lnTo>
                    <a:pt x="28575" y="2914649"/>
                  </a:lnTo>
                  <a:lnTo>
                    <a:pt x="47625" y="2914649"/>
                  </a:lnTo>
                  <a:lnTo>
                    <a:pt x="47625" y="2838449"/>
                  </a:lnTo>
                  <a:close/>
                </a:path>
                <a:path w="76200" h="5201920">
                  <a:moveTo>
                    <a:pt x="47625" y="2971799"/>
                  </a:moveTo>
                  <a:lnTo>
                    <a:pt x="28575" y="2971799"/>
                  </a:lnTo>
                  <a:lnTo>
                    <a:pt x="28575" y="3047999"/>
                  </a:lnTo>
                  <a:lnTo>
                    <a:pt x="47625" y="3047999"/>
                  </a:lnTo>
                  <a:lnTo>
                    <a:pt x="47625" y="2971799"/>
                  </a:lnTo>
                  <a:close/>
                </a:path>
                <a:path w="76200" h="5201920">
                  <a:moveTo>
                    <a:pt x="47625" y="3105149"/>
                  </a:moveTo>
                  <a:lnTo>
                    <a:pt x="28575" y="3105149"/>
                  </a:lnTo>
                  <a:lnTo>
                    <a:pt x="28575" y="3181349"/>
                  </a:lnTo>
                  <a:lnTo>
                    <a:pt x="47625" y="3181349"/>
                  </a:lnTo>
                  <a:lnTo>
                    <a:pt x="47625" y="3105149"/>
                  </a:lnTo>
                  <a:close/>
                </a:path>
                <a:path w="76200" h="5201920">
                  <a:moveTo>
                    <a:pt x="47625" y="3238499"/>
                  </a:moveTo>
                  <a:lnTo>
                    <a:pt x="28575" y="3238499"/>
                  </a:lnTo>
                  <a:lnTo>
                    <a:pt x="28575" y="3314700"/>
                  </a:lnTo>
                  <a:lnTo>
                    <a:pt x="47625" y="3314700"/>
                  </a:lnTo>
                  <a:lnTo>
                    <a:pt x="47625" y="3238499"/>
                  </a:lnTo>
                  <a:close/>
                </a:path>
                <a:path w="76200" h="5201920">
                  <a:moveTo>
                    <a:pt x="47625" y="3371850"/>
                  </a:moveTo>
                  <a:lnTo>
                    <a:pt x="28575" y="3371850"/>
                  </a:lnTo>
                  <a:lnTo>
                    <a:pt x="28575" y="3448050"/>
                  </a:lnTo>
                  <a:lnTo>
                    <a:pt x="47625" y="3448050"/>
                  </a:lnTo>
                  <a:lnTo>
                    <a:pt x="47625" y="3371850"/>
                  </a:lnTo>
                  <a:close/>
                </a:path>
                <a:path w="76200" h="5201920">
                  <a:moveTo>
                    <a:pt x="47625" y="3505200"/>
                  </a:moveTo>
                  <a:lnTo>
                    <a:pt x="28575" y="3505200"/>
                  </a:lnTo>
                  <a:lnTo>
                    <a:pt x="28575" y="3581400"/>
                  </a:lnTo>
                  <a:lnTo>
                    <a:pt x="47625" y="3581400"/>
                  </a:lnTo>
                  <a:lnTo>
                    <a:pt x="47625" y="3505200"/>
                  </a:lnTo>
                  <a:close/>
                </a:path>
                <a:path w="76200" h="5201920">
                  <a:moveTo>
                    <a:pt x="47625" y="3638550"/>
                  </a:moveTo>
                  <a:lnTo>
                    <a:pt x="28575" y="3638550"/>
                  </a:lnTo>
                  <a:lnTo>
                    <a:pt x="28575" y="3714750"/>
                  </a:lnTo>
                  <a:lnTo>
                    <a:pt x="47625" y="3714750"/>
                  </a:lnTo>
                  <a:lnTo>
                    <a:pt x="47625" y="3638550"/>
                  </a:lnTo>
                  <a:close/>
                </a:path>
                <a:path w="76200" h="5201920">
                  <a:moveTo>
                    <a:pt x="47625" y="3771900"/>
                  </a:moveTo>
                  <a:lnTo>
                    <a:pt x="28575" y="3771900"/>
                  </a:lnTo>
                  <a:lnTo>
                    <a:pt x="28575" y="3848100"/>
                  </a:lnTo>
                  <a:lnTo>
                    <a:pt x="47625" y="3848100"/>
                  </a:lnTo>
                  <a:lnTo>
                    <a:pt x="47625" y="3771900"/>
                  </a:lnTo>
                  <a:close/>
                </a:path>
                <a:path w="76200" h="5201920">
                  <a:moveTo>
                    <a:pt x="47625" y="3905250"/>
                  </a:moveTo>
                  <a:lnTo>
                    <a:pt x="28575" y="3905250"/>
                  </a:lnTo>
                  <a:lnTo>
                    <a:pt x="28575" y="3981450"/>
                  </a:lnTo>
                  <a:lnTo>
                    <a:pt x="47625" y="3981450"/>
                  </a:lnTo>
                  <a:lnTo>
                    <a:pt x="47625" y="3905250"/>
                  </a:lnTo>
                  <a:close/>
                </a:path>
                <a:path w="76200" h="5201920">
                  <a:moveTo>
                    <a:pt x="47625" y="4038600"/>
                  </a:moveTo>
                  <a:lnTo>
                    <a:pt x="28575" y="4038600"/>
                  </a:lnTo>
                  <a:lnTo>
                    <a:pt x="28575" y="4114800"/>
                  </a:lnTo>
                  <a:lnTo>
                    <a:pt x="47625" y="4114800"/>
                  </a:lnTo>
                  <a:lnTo>
                    <a:pt x="47625" y="4038600"/>
                  </a:lnTo>
                  <a:close/>
                </a:path>
                <a:path w="76200" h="5201920">
                  <a:moveTo>
                    <a:pt x="47625" y="4171950"/>
                  </a:moveTo>
                  <a:lnTo>
                    <a:pt x="28575" y="4171950"/>
                  </a:lnTo>
                  <a:lnTo>
                    <a:pt x="28575" y="4248150"/>
                  </a:lnTo>
                  <a:lnTo>
                    <a:pt x="47625" y="4248150"/>
                  </a:lnTo>
                  <a:lnTo>
                    <a:pt x="47625" y="4171950"/>
                  </a:lnTo>
                  <a:close/>
                </a:path>
                <a:path w="76200" h="5201920">
                  <a:moveTo>
                    <a:pt x="47625" y="4305300"/>
                  </a:moveTo>
                  <a:lnTo>
                    <a:pt x="28575" y="4305300"/>
                  </a:lnTo>
                  <a:lnTo>
                    <a:pt x="28575" y="4381500"/>
                  </a:lnTo>
                  <a:lnTo>
                    <a:pt x="47625" y="4381500"/>
                  </a:lnTo>
                  <a:lnTo>
                    <a:pt x="47625" y="4305300"/>
                  </a:lnTo>
                  <a:close/>
                </a:path>
                <a:path w="76200" h="5201920">
                  <a:moveTo>
                    <a:pt x="47625" y="4438650"/>
                  </a:moveTo>
                  <a:lnTo>
                    <a:pt x="28575" y="4438650"/>
                  </a:lnTo>
                  <a:lnTo>
                    <a:pt x="28575" y="4514850"/>
                  </a:lnTo>
                  <a:lnTo>
                    <a:pt x="47625" y="4514850"/>
                  </a:lnTo>
                  <a:lnTo>
                    <a:pt x="47625" y="4438650"/>
                  </a:lnTo>
                  <a:close/>
                </a:path>
                <a:path w="76200" h="5201920">
                  <a:moveTo>
                    <a:pt x="47625" y="4572000"/>
                  </a:moveTo>
                  <a:lnTo>
                    <a:pt x="28575" y="4572000"/>
                  </a:lnTo>
                  <a:lnTo>
                    <a:pt x="28575" y="4648200"/>
                  </a:lnTo>
                  <a:lnTo>
                    <a:pt x="47625" y="4648200"/>
                  </a:lnTo>
                  <a:lnTo>
                    <a:pt x="47625" y="4572000"/>
                  </a:lnTo>
                  <a:close/>
                </a:path>
                <a:path w="76200" h="5201920">
                  <a:moveTo>
                    <a:pt x="47625" y="4705350"/>
                  </a:moveTo>
                  <a:lnTo>
                    <a:pt x="28575" y="4705350"/>
                  </a:lnTo>
                  <a:lnTo>
                    <a:pt x="28575" y="4781550"/>
                  </a:lnTo>
                  <a:lnTo>
                    <a:pt x="47625" y="4781550"/>
                  </a:lnTo>
                  <a:lnTo>
                    <a:pt x="47625" y="4705350"/>
                  </a:lnTo>
                  <a:close/>
                </a:path>
                <a:path w="76200" h="5201920">
                  <a:moveTo>
                    <a:pt x="47625" y="4838700"/>
                  </a:moveTo>
                  <a:lnTo>
                    <a:pt x="28575" y="4838700"/>
                  </a:lnTo>
                  <a:lnTo>
                    <a:pt x="28575" y="4914900"/>
                  </a:lnTo>
                  <a:lnTo>
                    <a:pt x="47625" y="4914900"/>
                  </a:lnTo>
                  <a:lnTo>
                    <a:pt x="47625" y="4838700"/>
                  </a:lnTo>
                  <a:close/>
                </a:path>
                <a:path w="76200" h="5201920">
                  <a:moveTo>
                    <a:pt x="47625" y="4972050"/>
                  </a:moveTo>
                  <a:lnTo>
                    <a:pt x="28575" y="4972050"/>
                  </a:lnTo>
                  <a:lnTo>
                    <a:pt x="28575" y="5048250"/>
                  </a:lnTo>
                  <a:lnTo>
                    <a:pt x="47625" y="5048250"/>
                  </a:lnTo>
                  <a:lnTo>
                    <a:pt x="47625" y="4972050"/>
                  </a:lnTo>
                  <a:close/>
                </a:path>
                <a:path w="76200" h="5201920">
                  <a:moveTo>
                    <a:pt x="28575" y="5127119"/>
                  </a:moveTo>
                  <a:lnTo>
                    <a:pt x="23252" y="5128193"/>
                  </a:lnTo>
                  <a:lnTo>
                    <a:pt x="11144" y="5136357"/>
                  </a:lnTo>
                  <a:lnTo>
                    <a:pt x="2988" y="5148468"/>
                  </a:lnTo>
                  <a:lnTo>
                    <a:pt x="0" y="5163299"/>
                  </a:lnTo>
                  <a:lnTo>
                    <a:pt x="2988" y="5178130"/>
                  </a:lnTo>
                  <a:lnTo>
                    <a:pt x="11144" y="5190240"/>
                  </a:lnTo>
                  <a:lnTo>
                    <a:pt x="23252" y="5198405"/>
                  </a:lnTo>
                  <a:lnTo>
                    <a:pt x="38100" y="5201399"/>
                  </a:lnTo>
                  <a:lnTo>
                    <a:pt x="52947" y="5198405"/>
                  </a:lnTo>
                  <a:lnTo>
                    <a:pt x="65055" y="5190240"/>
                  </a:lnTo>
                  <a:lnTo>
                    <a:pt x="73211" y="5178130"/>
                  </a:lnTo>
                  <a:lnTo>
                    <a:pt x="76200" y="5163299"/>
                  </a:lnTo>
                  <a:lnTo>
                    <a:pt x="28575" y="5163299"/>
                  </a:lnTo>
                  <a:lnTo>
                    <a:pt x="28575" y="5127119"/>
                  </a:lnTo>
                  <a:close/>
                </a:path>
                <a:path w="76200" h="5201920">
                  <a:moveTo>
                    <a:pt x="38100" y="5125199"/>
                  </a:moveTo>
                  <a:lnTo>
                    <a:pt x="28575" y="5127119"/>
                  </a:lnTo>
                  <a:lnTo>
                    <a:pt x="28575" y="5163299"/>
                  </a:lnTo>
                  <a:lnTo>
                    <a:pt x="47625" y="5163299"/>
                  </a:lnTo>
                  <a:lnTo>
                    <a:pt x="47625" y="5127119"/>
                  </a:lnTo>
                  <a:lnTo>
                    <a:pt x="38100" y="5125199"/>
                  </a:lnTo>
                  <a:close/>
                </a:path>
                <a:path w="76200" h="5201920">
                  <a:moveTo>
                    <a:pt x="47625" y="5127119"/>
                  </a:moveTo>
                  <a:lnTo>
                    <a:pt x="47625" y="5163299"/>
                  </a:lnTo>
                  <a:lnTo>
                    <a:pt x="76200" y="5163299"/>
                  </a:lnTo>
                  <a:lnTo>
                    <a:pt x="73211" y="5148468"/>
                  </a:lnTo>
                  <a:lnTo>
                    <a:pt x="65055" y="5136357"/>
                  </a:lnTo>
                  <a:lnTo>
                    <a:pt x="52947" y="5128193"/>
                  </a:lnTo>
                  <a:lnTo>
                    <a:pt x="47625" y="5127119"/>
                  </a:lnTo>
                  <a:close/>
                </a:path>
                <a:path w="76200" h="5201920">
                  <a:moveTo>
                    <a:pt x="47625" y="5105400"/>
                  </a:moveTo>
                  <a:lnTo>
                    <a:pt x="28575" y="5105400"/>
                  </a:lnTo>
                  <a:lnTo>
                    <a:pt x="28575" y="5127119"/>
                  </a:lnTo>
                  <a:lnTo>
                    <a:pt x="38100" y="5125199"/>
                  </a:lnTo>
                  <a:lnTo>
                    <a:pt x="47625" y="5125199"/>
                  </a:lnTo>
                  <a:lnTo>
                    <a:pt x="47625" y="5105400"/>
                  </a:lnTo>
                  <a:close/>
                </a:path>
                <a:path w="76200" h="5201920">
                  <a:moveTo>
                    <a:pt x="47625" y="5125199"/>
                  </a:moveTo>
                  <a:lnTo>
                    <a:pt x="38100" y="5125199"/>
                  </a:lnTo>
                  <a:lnTo>
                    <a:pt x="47625" y="5127119"/>
                  </a:lnTo>
                  <a:lnTo>
                    <a:pt x="47625" y="5125199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6691" y="3616452"/>
              <a:ext cx="1552955" cy="6934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410445" y="4097781"/>
              <a:ext cx="11430" cy="217170"/>
            </a:xfrm>
            <a:custGeom>
              <a:avLst/>
              <a:gdLst/>
              <a:ahLst/>
              <a:cxnLst/>
              <a:rect l="l" t="t" r="r" b="b"/>
              <a:pathLst>
                <a:path w="11429" h="217170">
                  <a:moveTo>
                    <a:pt x="0" y="216789"/>
                  </a:moveTo>
                  <a:lnTo>
                    <a:pt x="11049" y="216789"/>
                  </a:lnTo>
                  <a:lnTo>
                    <a:pt x="11049" y="0"/>
                  </a:lnTo>
                  <a:lnTo>
                    <a:pt x="0" y="0"/>
                  </a:lnTo>
                  <a:lnTo>
                    <a:pt x="0" y="216789"/>
                  </a:lnTo>
                  <a:close/>
                </a:path>
              </a:pathLst>
            </a:custGeom>
            <a:ln w="9524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7831" y="4102608"/>
              <a:ext cx="1524" cy="20726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843005" y="4097781"/>
              <a:ext cx="11430" cy="217170"/>
            </a:xfrm>
            <a:custGeom>
              <a:avLst/>
              <a:gdLst/>
              <a:ahLst/>
              <a:cxnLst/>
              <a:rect l="l" t="t" r="r" b="b"/>
              <a:pathLst>
                <a:path w="11429" h="217170">
                  <a:moveTo>
                    <a:pt x="0" y="216789"/>
                  </a:moveTo>
                  <a:lnTo>
                    <a:pt x="11049" y="216789"/>
                  </a:lnTo>
                  <a:lnTo>
                    <a:pt x="11049" y="0"/>
                  </a:lnTo>
                  <a:lnTo>
                    <a:pt x="0" y="0"/>
                  </a:lnTo>
                  <a:lnTo>
                    <a:pt x="0" y="216789"/>
                  </a:lnTo>
                  <a:close/>
                </a:path>
              </a:pathLst>
            </a:custGeom>
            <a:ln w="9524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48315" y="4102608"/>
              <a:ext cx="1524" cy="2072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143489" y="4097781"/>
              <a:ext cx="11430" cy="217170"/>
            </a:xfrm>
            <a:custGeom>
              <a:avLst/>
              <a:gdLst/>
              <a:ahLst/>
              <a:cxnLst/>
              <a:rect l="l" t="t" r="r" b="b"/>
              <a:pathLst>
                <a:path w="11429" h="217170">
                  <a:moveTo>
                    <a:pt x="0" y="216789"/>
                  </a:moveTo>
                  <a:lnTo>
                    <a:pt x="11049" y="216789"/>
                  </a:lnTo>
                  <a:lnTo>
                    <a:pt x="11049" y="0"/>
                  </a:lnTo>
                  <a:lnTo>
                    <a:pt x="0" y="0"/>
                  </a:lnTo>
                  <a:lnTo>
                    <a:pt x="0" y="216789"/>
                  </a:lnTo>
                  <a:close/>
                </a:path>
              </a:pathLst>
            </a:custGeom>
            <a:ln w="9524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A red and black logo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0387" y="4343399"/>
              <a:ext cx="530351" cy="434339"/>
            </a:xfrm>
            <a:prstGeom prst="rect">
              <a:avLst/>
            </a:prstGeom>
          </p:spPr>
        </p:pic>
        <p:pic>
          <p:nvPicPr>
            <p:cNvPr id="16" name="object 16" descr="A yellow square with black text  Description automatically generated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99991" y="4340352"/>
              <a:ext cx="501808" cy="4022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12354" y="4393802"/>
              <a:ext cx="531350" cy="37016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56975" y="4821360"/>
              <a:ext cx="1523" cy="10877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852150" y="4814061"/>
              <a:ext cx="11430" cy="121285"/>
            </a:xfrm>
            <a:custGeom>
              <a:avLst/>
              <a:gdLst/>
              <a:ahLst/>
              <a:cxnLst/>
              <a:rect l="l" t="t" r="r" b="b"/>
              <a:pathLst>
                <a:path w="11429" h="121285">
                  <a:moveTo>
                    <a:pt x="0" y="120776"/>
                  </a:moveTo>
                  <a:lnTo>
                    <a:pt x="11049" y="120776"/>
                  </a:lnTo>
                  <a:lnTo>
                    <a:pt x="11049" y="0"/>
                  </a:lnTo>
                  <a:lnTo>
                    <a:pt x="0" y="0"/>
                  </a:lnTo>
                  <a:lnTo>
                    <a:pt x="0" y="120776"/>
                  </a:lnTo>
                  <a:close/>
                </a:path>
              </a:pathLst>
            </a:custGeom>
            <a:ln w="952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24415" y="4821360"/>
              <a:ext cx="1523" cy="1087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419589" y="4814061"/>
              <a:ext cx="11430" cy="121285"/>
            </a:xfrm>
            <a:custGeom>
              <a:avLst/>
              <a:gdLst/>
              <a:ahLst/>
              <a:cxnLst/>
              <a:rect l="l" t="t" r="r" b="b"/>
              <a:pathLst>
                <a:path w="11429" h="121285">
                  <a:moveTo>
                    <a:pt x="0" y="120776"/>
                  </a:moveTo>
                  <a:lnTo>
                    <a:pt x="11049" y="120776"/>
                  </a:lnTo>
                  <a:lnTo>
                    <a:pt x="11049" y="0"/>
                  </a:lnTo>
                  <a:lnTo>
                    <a:pt x="0" y="0"/>
                  </a:lnTo>
                  <a:lnTo>
                    <a:pt x="0" y="120776"/>
                  </a:lnTo>
                  <a:close/>
                </a:path>
              </a:pathLst>
            </a:custGeom>
            <a:ln w="952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22407" y="4821360"/>
              <a:ext cx="1523" cy="10877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117581" y="4814061"/>
              <a:ext cx="11430" cy="121285"/>
            </a:xfrm>
            <a:custGeom>
              <a:avLst/>
              <a:gdLst/>
              <a:ahLst/>
              <a:cxnLst/>
              <a:rect l="l" t="t" r="r" b="b"/>
              <a:pathLst>
                <a:path w="11429" h="121285">
                  <a:moveTo>
                    <a:pt x="0" y="120776"/>
                  </a:moveTo>
                  <a:lnTo>
                    <a:pt x="11049" y="120776"/>
                  </a:lnTo>
                  <a:lnTo>
                    <a:pt x="11049" y="0"/>
                  </a:lnTo>
                  <a:lnTo>
                    <a:pt x="0" y="0"/>
                  </a:lnTo>
                  <a:lnTo>
                    <a:pt x="0" y="120776"/>
                  </a:lnTo>
                  <a:close/>
                </a:path>
              </a:pathLst>
            </a:custGeom>
            <a:ln w="952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425177" y="4930902"/>
              <a:ext cx="1433195" cy="0"/>
            </a:xfrm>
            <a:custGeom>
              <a:avLst/>
              <a:gdLst/>
              <a:ahLst/>
              <a:cxnLst/>
              <a:rect l="l" t="t" r="r" b="b"/>
              <a:pathLst>
                <a:path w="1433195" h="0">
                  <a:moveTo>
                    <a:pt x="0" y="0"/>
                  </a:moveTo>
                  <a:lnTo>
                    <a:pt x="1432814" y="0"/>
                  </a:lnTo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2451" y="1589531"/>
              <a:ext cx="728472" cy="729995"/>
            </a:xfrm>
            <a:prstGeom prst="rect">
              <a:avLst/>
            </a:prstGeom>
          </p:spPr>
        </p:pic>
      </p:grpSp>
      <p:pic>
        <p:nvPicPr>
          <p:cNvPr id="26" name="object 26" descr="A screenshot of a phone  Description automatically generated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88680" y="1614916"/>
            <a:ext cx="1854678" cy="2350238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3715511" y="1525524"/>
            <a:ext cx="3168650" cy="2458720"/>
          </a:xfrm>
          <a:custGeom>
            <a:avLst/>
            <a:gdLst/>
            <a:ahLst/>
            <a:cxnLst/>
            <a:rect l="l" t="t" r="r" b="b"/>
            <a:pathLst>
              <a:path w="3168650" h="2458720">
                <a:moveTo>
                  <a:pt x="3168395" y="0"/>
                </a:moveTo>
                <a:lnTo>
                  <a:pt x="0" y="0"/>
                </a:lnTo>
                <a:lnTo>
                  <a:pt x="0" y="2458212"/>
                </a:lnTo>
                <a:lnTo>
                  <a:pt x="3168395" y="2458212"/>
                </a:lnTo>
                <a:lnTo>
                  <a:pt x="316839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178808" y="1609089"/>
            <a:ext cx="23666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Why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partner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with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A4779"/>
                </a:solidFill>
                <a:latin typeface="Calibri"/>
                <a:cs typeface="Calibri"/>
              </a:rPr>
              <a:t>AyoConnect</a:t>
            </a:r>
            <a:r>
              <a:rPr dirty="0" sz="1400" spc="-45" b="1">
                <a:solidFill>
                  <a:srgbClr val="0A4779"/>
                </a:solidFill>
                <a:latin typeface="Calibri"/>
                <a:cs typeface="Calibri"/>
              </a:rPr>
              <a:t> </a:t>
            </a:r>
            <a:r>
              <a:rPr dirty="0" sz="1400" spc="-50" b="1">
                <a:solidFill>
                  <a:srgbClr val="0A4779"/>
                </a:solidFill>
                <a:latin typeface="Calibri"/>
                <a:cs typeface="Calibri"/>
              </a:rPr>
              <a:t>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14571" y="2008378"/>
            <a:ext cx="2077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 sz="1200">
                <a:latin typeface="Calibri"/>
                <a:cs typeface="Calibri"/>
              </a:rPr>
              <a:t>Licensed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Bank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Indonesia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14571" y="2373833"/>
            <a:ext cx="2912110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 sz="1200">
                <a:latin typeface="Calibri"/>
                <a:cs typeface="Calibri"/>
              </a:rPr>
              <a:t>Flexibility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funds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70+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banks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  <a:p>
            <a:pPr marL="3429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Indonesia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together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 </a:t>
            </a:r>
            <a:r>
              <a:rPr dirty="0" sz="1200" b="1">
                <a:latin typeface="Calibri"/>
                <a:cs typeface="Calibri"/>
              </a:rPr>
              <a:t>real</a:t>
            </a:r>
            <a:r>
              <a:rPr dirty="0" sz="1200" spc="-20" b="1">
                <a:latin typeface="Calibri"/>
                <a:cs typeface="Calibri"/>
              </a:rPr>
              <a:t> time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14571" y="2923159"/>
            <a:ext cx="30911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2900" algn="l"/>
              </a:tabLst>
            </a:pPr>
            <a:r>
              <a:rPr dirty="0" sz="1200" spc="-10" b="1">
                <a:latin typeface="Calibri"/>
                <a:cs typeface="Calibri"/>
              </a:rPr>
              <a:t>State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Art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Dashboard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keep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payment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scores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14571" y="3471798"/>
            <a:ext cx="3074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2900" algn="l"/>
              </a:tabLst>
            </a:pPr>
            <a:r>
              <a:rPr dirty="0" sz="1200">
                <a:latin typeface="Calibri"/>
                <a:cs typeface="Calibri"/>
              </a:rPr>
              <a:t>Lower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transfer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rate,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priced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IDR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2400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($0.16)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2608" y="1133855"/>
            <a:ext cx="3138170" cy="23812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0" rIns="0" bIns="0" rtlCol="0" vert="horz">
            <a:spAutoFit/>
          </a:bodyPr>
          <a:lstStyle/>
          <a:p>
            <a:pPr marL="870585"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started…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72840" y="1133855"/>
            <a:ext cx="5459095" cy="24257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2540" rIns="0" bIns="0" rtlCol="0" vert="horz">
            <a:spAutoFit/>
          </a:bodyPr>
          <a:lstStyle/>
          <a:p>
            <a:pPr marL="535940">
              <a:lnSpc>
                <a:spcPct val="100000"/>
              </a:lnSpc>
              <a:spcBef>
                <a:spcPts val="2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…to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AyoConnect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Disbursement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 powered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4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BI-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Fast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331452" y="1133855"/>
            <a:ext cx="2567940" cy="26225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12700" rIns="0" bIns="0" rtlCol="0" vert="horz">
            <a:spAutoFit/>
          </a:bodyPr>
          <a:lstStyle/>
          <a:p>
            <a:pPr marL="47942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Loan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Journey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05670" y="2162555"/>
            <a:ext cx="2302933" cy="408279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279298" y="5431942"/>
            <a:ext cx="1141730" cy="791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5C9DAE"/>
                </a:solidFill>
                <a:latin typeface="Calibri"/>
                <a:cs typeface="Calibri"/>
              </a:rPr>
              <a:t>2017</a:t>
            </a:r>
            <a:endParaRPr sz="1400">
              <a:latin typeface="Calibri"/>
              <a:cs typeface="Calibri"/>
            </a:endParaRPr>
          </a:p>
          <a:p>
            <a:pPr algn="r" marL="12700" marR="5080" indent="18542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Launch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QRIS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National Payment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Gateway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9427" y="4531614"/>
            <a:ext cx="1211580" cy="60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5C9DAE"/>
                </a:solidFill>
                <a:latin typeface="Calibri"/>
                <a:cs typeface="Calibri"/>
              </a:rPr>
              <a:t>2019</a:t>
            </a:r>
            <a:endParaRPr sz="1400">
              <a:latin typeface="Calibri"/>
              <a:cs typeface="Calibri"/>
            </a:endParaRPr>
          </a:p>
          <a:p>
            <a:pPr algn="r" marL="283845" marR="6350" indent="-27178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latin typeface="Calibri"/>
                <a:cs typeface="Calibri"/>
              </a:rPr>
              <a:t>Rollout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Financial Blueprint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41194" y="3326079"/>
            <a:ext cx="926465" cy="791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5C9DAE"/>
                </a:solidFill>
                <a:latin typeface="Calibri"/>
                <a:cs typeface="Calibri"/>
              </a:rPr>
              <a:t>2020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dirty="0" sz="1200" spc="-10">
                <a:latin typeface="Calibri"/>
                <a:cs typeface="Calibri"/>
              </a:rPr>
              <a:t>Smartphone Penetration </a:t>
            </a:r>
            <a:r>
              <a:rPr dirty="0" sz="1200">
                <a:latin typeface="Calibri"/>
                <a:cs typeface="Calibri"/>
              </a:rPr>
              <a:t>surpasses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75%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13507" y="2685033"/>
            <a:ext cx="1078230" cy="424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5C9DAE"/>
                </a:solidFill>
                <a:latin typeface="Calibri"/>
                <a:cs typeface="Calibri"/>
              </a:rPr>
              <a:t>2021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Launch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BI-</a:t>
            </a:r>
            <a:r>
              <a:rPr dirty="0" sz="1200" spc="-20">
                <a:latin typeface="Calibri"/>
                <a:cs typeface="Calibri"/>
              </a:rPr>
              <a:t>Fast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496" y="2237613"/>
            <a:ext cx="1231265" cy="790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5C9DAE"/>
                </a:solidFill>
                <a:latin typeface="Calibri"/>
                <a:cs typeface="Calibri"/>
              </a:rPr>
              <a:t>2022</a:t>
            </a:r>
            <a:endParaRPr sz="1400">
              <a:latin typeface="Calibri"/>
              <a:cs typeface="Calibri"/>
            </a:endParaRPr>
          </a:p>
          <a:p>
            <a:pPr algn="r" marL="12700" marR="5080" indent="91440">
              <a:lnSpc>
                <a:spcPct val="1000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Phased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Expansion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Adoption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BI-</a:t>
            </a:r>
            <a:endParaRPr sz="1200">
              <a:latin typeface="Calibri"/>
              <a:cs typeface="Calibri"/>
            </a:endParaRPr>
          </a:p>
          <a:p>
            <a:pPr algn="r" marR="5715">
              <a:lnSpc>
                <a:spcPct val="100000"/>
              </a:lnSpc>
            </a:pPr>
            <a:r>
              <a:rPr dirty="0" sz="1200" spc="-20">
                <a:latin typeface="Calibri"/>
                <a:cs typeface="Calibri"/>
              </a:rPr>
              <a:t>Fast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48588" y="1464056"/>
            <a:ext cx="1429385" cy="424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solidFill>
                  <a:srgbClr val="5C9DAE"/>
                </a:solidFill>
                <a:latin typeface="Calibri"/>
                <a:cs typeface="Calibri"/>
              </a:rPr>
              <a:t>2024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90%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inclusion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235963" y="2014727"/>
            <a:ext cx="927100" cy="3731260"/>
            <a:chOff x="1235963" y="2014727"/>
            <a:chExt cx="927100" cy="3731260"/>
          </a:xfrm>
        </p:grpSpPr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31620" y="5326380"/>
              <a:ext cx="417575" cy="4191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11807" y="4480560"/>
              <a:ext cx="419100" cy="4191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84019" y="3425952"/>
              <a:ext cx="417575" cy="4191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44980" y="2644140"/>
              <a:ext cx="417575" cy="4191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5963" y="2014727"/>
              <a:ext cx="419100" cy="417575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812540" y="4376166"/>
            <a:ext cx="579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Payment </a:t>
            </a:r>
            <a:r>
              <a:rPr dirty="0" sz="1200" spc="-10" b="1"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72661" y="4888229"/>
            <a:ext cx="967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79265" y="5168595"/>
            <a:ext cx="3429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RTGS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744277" y="5458764"/>
            <a:ext cx="519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BI-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Fast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775964" y="5757773"/>
            <a:ext cx="394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SKNBI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73551" y="6061659"/>
            <a:ext cx="341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RTOL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10403" y="4390390"/>
            <a:ext cx="6934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Real-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Time </a:t>
            </a:r>
            <a:r>
              <a:rPr dirty="0" sz="1200" spc="-10" b="1">
                <a:latin typeface="Calibri"/>
                <a:cs typeface="Calibri"/>
              </a:rPr>
              <a:t>Transfer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61659" y="4375150"/>
            <a:ext cx="643890" cy="39624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06680" marR="5080" indent="-94615">
              <a:lnSpc>
                <a:spcPct val="102499"/>
              </a:lnSpc>
              <a:spcBef>
                <a:spcPts val="60"/>
              </a:spcBef>
            </a:pPr>
            <a:r>
              <a:rPr dirty="0" sz="1200" spc="-10" b="1">
                <a:latin typeface="Calibri"/>
                <a:cs typeface="Calibri"/>
              </a:rPr>
              <a:t>Enhanced Security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736085" y="4373117"/>
            <a:ext cx="5300345" cy="0"/>
          </a:xfrm>
          <a:custGeom>
            <a:avLst/>
            <a:gdLst/>
            <a:ahLst/>
            <a:cxnLst/>
            <a:rect l="l" t="t" r="r" b="b"/>
            <a:pathLst>
              <a:path w="5300345" h="0">
                <a:moveTo>
                  <a:pt x="0" y="0"/>
                </a:moveTo>
                <a:lnTo>
                  <a:pt x="5300218" y="0"/>
                </a:lnTo>
              </a:path>
            </a:pathLst>
          </a:custGeom>
          <a:ln w="19050">
            <a:solidFill>
              <a:srgbClr val="0D0D0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8" name="object 58"/>
          <p:cNvGrpSpPr/>
          <p:nvPr/>
        </p:nvGrpSpPr>
        <p:grpSpPr>
          <a:xfrm>
            <a:off x="3715702" y="4870703"/>
            <a:ext cx="5339080" cy="1452880"/>
            <a:chOff x="3715702" y="4870703"/>
            <a:chExt cx="5339080" cy="1452880"/>
          </a:xfrm>
        </p:grpSpPr>
        <p:sp>
          <p:nvSpPr>
            <p:cNvPr id="59" name="object 59"/>
            <p:cNvSpPr/>
            <p:nvPr/>
          </p:nvSpPr>
          <p:spPr>
            <a:xfrm>
              <a:off x="3729990" y="5124449"/>
              <a:ext cx="5306695" cy="276225"/>
            </a:xfrm>
            <a:custGeom>
              <a:avLst/>
              <a:gdLst/>
              <a:ahLst/>
              <a:cxnLst/>
              <a:rect l="l" t="t" r="r" b="b"/>
              <a:pathLst>
                <a:path w="5306695" h="276225">
                  <a:moveTo>
                    <a:pt x="0" y="275844"/>
                  </a:moveTo>
                  <a:lnTo>
                    <a:pt x="5214874" y="275844"/>
                  </a:lnTo>
                </a:path>
                <a:path w="5306695" h="276225">
                  <a:moveTo>
                    <a:pt x="6096" y="0"/>
                  </a:moveTo>
                  <a:lnTo>
                    <a:pt x="5306314" y="0"/>
                  </a:lnTo>
                </a:path>
              </a:pathLst>
            </a:custGeom>
            <a:ln w="190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47851" y="5472905"/>
              <a:ext cx="217868" cy="179388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729990" y="5714237"/>
              <a:ext cx="5215255" cy="0"/>
            </a:xfrm>
            <a:custGeom>
              <a:avLst/>
              <a:gdLst/>
              <a:ahLst/>
              <a:cxnLst/>
              <a:rect l="l" t="t" r="r" b="b"/>
              <a:pathLst>
                <a:path w="5215255" h="0">
                  <a:moveTo>
                    <a:pt x="0" y="0"/>
                  </a:moveTo>
                  <a:lnTo>
                    <a:pt x="5214874" y="0"/>
                  </a:lnTo>
                </a:path>
              </a:pathLst>
            </a:custGeom>
            <a:ln w="190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57895" y="5486649"/>
              <a:ext cx="219360" cy="17938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3736086" y="6003797"/>
              <a:ext cx="5318760" cy="303530"/>
            </a:xfrm>
            <a:custGeom>
              <a:avLst/>
              <a:gdLst/>
              <a:ahLst/>
              <a:cxnLst/>
              <a:rect l="l" t="t" r="r" b="b"/>
              <a:pathLst>
                <a:path w="5318759" h="303529">
                  <a:moveTo>
                    <a:pt x="0" y="0"/>
                  </a:moveTo>
                  <a:lnTo>
                    <a:pt x="5313934" y="0"/>
                  </a:lnTo>
                </a:path>
                <a:path w="5318759" h="303529">
                  <a:moveTo>
                    <a:pt x="4572" y="303275"/>
                  </a:moveTo>
                  <a:lnTo>
                    <a:pt x="5318506" y="303275"/>
                  </a:lnTo>
                </a:path>
              </a:pathLst>
            </a:custGeom>
            <a:ln w="190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6896" y="5756147"/>
              <a:ext cx="224027" cy="25298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53228" y="6070091"/>
              <a:ext cx="224027" cy="25298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47851" y="4899881"/>
              <a:ext cx="217868" cy="17938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14611" y="5457665"/>
              <a:ext cx="219360" cy="17938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426259" y="5485125"/>
              <a:ext cx="217868" cy="17938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427815" y="5175753"/>
              <a:ext cx="219360" cy="179388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729990" y="5415533"/>
              <a:ext cx="5221605" cy="279400"/>
            </a:xfrm>
            <a:custGeom>
              <a:avLst/>
              <a:gdLst/>
              <a:ahLst/>
              <a:cxnLst/>
              <a:rect l="l" t="t" r="r" b="b"/>
              <a:pathLst>
                <a:path w="5221605" h="279400">
                  <a:moveTo>
                    <a:pt x="0" y="278892"/>
                  </a:moveTo>
                  <a:lnTo>
                    <a:pt x="5221223" y="278892"/>
                  </a:lnTo>
                  <a:lnTo>
                    <a:pt x="5221223" y="0"/>
                  </a:lnTo>
                  <a:lnTo>
                    <a:pt x="0" y="0"/>
                  </a:lnTo>
                  <a:lnTo>
                    <a:pt x="0" y="278892"/>
                  </a:lnTo>
                  <a:close/>
                </a:path>
              </a:pathLst>
            </a:custGeom>
            <a:ln w="28574">
              <a:solidFill>
                <a:srgbClr val="5C9DA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48656" y="4870703"/>
              <a:ext cx="224027" cy="25298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6896" y="5126735"/>
              <a:ext cx="224027" cy="25298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43216" y="5756147"/>
              <a:ext cx="222503" cy="25298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97752" y="6054851"/>
              <a:ext cx="224027" cy="25298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23148" y="6067043"/>
              <a:ext cx="224027" cy="252984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7308342" y="4398391"/>
            <a:ext cx="523875" cy="396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Low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200" spc="-10" b="1">
                <a:latin typeface="Calibri"/>
                <a:cs typeface="Calibri"/>
              </a:rPr>
              <a:t>Charges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074279" y="4398391"/>
            <a:ext cx="858519" cy="396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High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Transfer</a:t>
            </a:r>
            <a:endParaRPr sz="1200">
              <a:latin typeface="Calibri"/>
              <a:cs typeface="Calibri"/>
            </a:endParaRPr>
          </a:p>
          <a:p>
            <a:pPr marL="309245">
              <a:lnSpc>
                <a:spcPct val="100000"/>
              </a:lnSpc>
              <a:spcBef>
                <a:spcPts val="35"/>
              </a:spcBef>
            </a:pPr>
            <a:r>
              <a:rPr dirty="0" sz="1200" spc="-10" b="1">
                <a:latin typeface="Calibri"/>
                <a:cs typeface="Calibri"/>
              </a:rPr>
              <a:t>Limit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545838" y="4080509"/>
            <a:ext cx="362457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Choice</a:t>
            </a:r>
            <a:r>
              <a:rPr dirty="0" sz="1400" spc="-5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C9DAE"/>
                </a:solidFill>
                <a:latin typeface="Calibri"/>
                <a:cs typeface="Calibri"/>
              </a:rPr>
              <a:t>of</a:t>
            </a:r>
            <a:r>
              <a:rPr dirty="0" sz="1400" spc="-4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5C9DAE"/>
                </a:solidFill>
                <a:latin typeface="Calibri"/>
                <a:cs typeface="Calibri"/>
              </a:rPr>
              <a:t>Payment</a:t>
            </a:r>
            <a:r>
              <a:rPr dirty="0" sz="1400" spc="-5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Service</a:t>
            </a:r>
            <a:r>
              <a:rPr dirty="0" sz="1400" spc="-3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for</a:t>
            </a:r>
            <a:r>
              <a:rPr dirty="0" sz="1400" spc="-3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Loan</a:t>
            </a:r>
            <a:r>
              <a:rPr dirty="0" sz="1400" spc="-5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Disbursement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717797" y="4816602"/>
            <a:ext cx="5300345" cy="0"/>
          </a:xfrm>
          <a:custGeom>
            <a:avLst/>
            <a:gdLst/>
            <a:ahLst/>
            <a:cxnLst/>
            <a:rect l="l" t="t" r="r" b="b"/>
            <a:pathLst>
              <a:path w="5300345" h="0">
                <a:moveTo>
                  <a:pt x="0" y="0"/>
                </a:moveTo>
                <a:lnTo>
                  <a:pt x="5300218" y="0"/>
                </a:lnTo>
              </a:path>
            </a:pathLst>
          </a:custGeom>
          <a:ln w="19050">
            <a:solidFill>
              <a:srgbClr val="0D0D0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728971" y="6509004"/>
            <a:ext cx="209740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Phoenix: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04317" y="6336284"/>
            <a:ext cx="1796414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2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GBG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Indonesia,</a:t>
            </a:r>
            <a:r>
              <a:rPr dirty="0" sz="800" spc="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McKinsey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reports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7" name="object 87" descr="A logo on a white background  Description automatically generated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32298" y="5015626"/>
            <a:ext cx="751220" cy="206811"/>
          </a:xfrm>
          <a:prstGeom prst="rect">
            <a:avLst/>
          </a:prstGeom>
        </p:spPr>
      </p:pic>
      <p:pic>
        <p:nvPicPr>
          <p:cNvPr id="88" name="object 88" descr="A blue and white logo  Description automatically generated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326873" y="2827020"/>
            <a:ext cx="1446282" cy="537413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10593451" y="1930653"/>
            <a:ext cx="1231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760" marR="5080" indent="-353695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Calibri"/>
                <a:cs typeface="Calibri"/>
              </a:rPr>
              <a:t>Adika</a:t>
            </a:r>
            <a:r>
              <a:rPr dirty="0" sz="900" spc="10" i="1">
                <a:latin typeface="Calibri"/>
                <a:cs typeface="Calibri"/>
              </a:rPr>
              <a:t> </a:t>
            </a:r>
            <a:r>
              <a:rPr dirty="0" sz="900" spc="-10" i="1">
                <a:latin typeface="Calibri"/>
                <a:cs typeface="Calibri"/>
              </a:rPr>
              <a:t>approaches</a:t>
            </a:r>
            <a:r>
              <a:rPr dirty="0" sz="900" spc="-40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UFH </a:t>
            </a:r>
            <a:r>
              <a:rPr dirty="0" sz="900" spc="-25" i="1">
                <a:latin typeface="Calibri"/>
                <a:cs typeface="Calibri"/>
              </a:rPr>
              <a:t>for</a:t>
            </a:r>
            <a:r>
              <a:rPr dirty="0" sz="900" spc="500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loan</a:t>
            </a:r>
            <a:r>
              <a:rPr dirty="0" sz="900" spc="-30" i="1">
                <a:latin typeface="Calibri"/>
                <a:cs typeface="Calibri"/>
              </a:rPr>
              <a:t> </a:t>
            </a:r>
            <a:r>
              <a:rPr dirty="0" sz="900" spc="-10" i="1">
                <a:latin typeface="Calibri"/>
                <a:cs typeface="Calibri"/>
              </a:rPr>
              <a:t>needs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0823193" y="2946019"/>
            <a:ext cx="11125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Calibri"/>
                <a:cs typeface="Calibri"/>
              </a:rPr>
              <a:t>UFH </a:t>
            </a:r>
            <a:r>
              <a:rPr dirty="0" sz="900" spc="-10" i="1">
                <a:latin typeface="Calibri"/>
                <a:cs typeface="Calibri"/>
              </a:rPr>
              <a:t>connects</a:t>
            </a:r>
            <a:r>
              <a:rPr dirty="0" sz="900" spc="-20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with</a:t>
            </a:r>
            <a:r>
              <a:rPr dirty="0" sz="900" spc="-10" i="1">
                <a:latin typeface="Calibri"/>
                <a:cs typeface="Calibri"/>
              </a:rPr>
              <a:t> </a:t>
            </a:r>
            <a:r>
              <a:rPr dirty="0" sz="900" spc="-20" i="1">
                <a:latin typeface="Calibri"/>
                <a:cs typeface="Calibri"/>
              </a:rPr>
              <a:t>loan</a:t>
            </a:r>
            <a:r>
              <a:rPr dirty="0" sz="900" spc="500" i="1">
                <a:latin typeface="Calibri"/>
                <a:cs typeface="Calibri"/>
              </a:rPr>
              <a:t> </a:t>
            </a:r>
            <a:r>
              <a:rPr dirty="0" sz="900" spc="-10" i="1">
                <a:latin typeface="Calibri"/>
                <a:cs typeface="Calibri"/>
              </a:rPr>
              <a:t>disbursement</a:t>
            </a:r>
            <a:r>
              <a:rPr dirty="0" sz="900" spc="60" i="1">
                <a:latin typeface="Calibri"/>
                <a:cs typeface="Calibri"/>
              </a:rPr>
              <a:t> </a:t>
            </a:r>
            <a:r>
              <a:rPr dirty="0" sz="900" spc="-10" i="1">
                <a:latin typeface="Calibri"/>
                <a:cs typeface="Calibri"/>
              </a:rPr>
              <a:t>facility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1094211" y="4178045"/>
            <a:ext cx="8642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Calibri"/>
                <a:cs typeface="Calibri"/>
              </a:rPr>
              <a:t>Processing</a:t>
            </a:r>
            <a:r>
              <a:rPr dirty="0" sz="900" spc="-35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of</a:t>
            </a:r>
            <a:r>
              <a:rPr dirty="0" sz="900" spc="-40" i="1">
                <a:latin typeface="Calibri"/>
                <a:cs typeface="Calibri"/>
              </a:rPr>
              <a:t> </a:t>
            </a:r>
            <a:r>
              <a:rPr dirty="0" sz="900" spc="-20" i="1">
                <a:latin typeface="Calibri"/>
                <a:cs typeface="Calibri"/>
              </a:rPr>
              <a:t>loan</a:t>
            </a:r>
            <a:r>
              <a:rPr dirty="0" sz="900" spc="500" i="1">
                <a:latin typeface="Calibri"/>
                <a:cs typeface="Calibri"/>
              </a:rPr>
              <a:t> </a:t>
            </a:r>
            <a:r>
              <a:rPr dirty="0" sz="900" spc="-25" i="1">
                <a:latin typeface="Calibri"/>
                <a:cs typeface="Calibri"/>
              </a:rPr>
              <a:t>via</a:t>
            </a:r>
            <a:endParaRPr sz="9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900" i="1">
                <a:latin typeface="Calibri"/>
                <a:cs typeface="Calibri"/>
              </a:rPr>
              <a:t>BI</a:t>
            </a:r>
            <a:r>
              <a:rPr dirty="0" sz="900" spc="-10" i="1">
                <a:latin typeface="Calibri"/>
                <a:cs typeface="Calibri"/>
              </a:rPr>
              <a:t> </a:t>
            </a:r>
            <a:r>
              <a:rPr dirty="0" sz="900" spc="-20" i="1">
                <a:latin typeface="Calibri"/>
                <a:cs typeface="Calibri"/>
              </a:rPr>
              <a:t>Fast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0734547" y="5770879"/>
            <a:ext cx="108394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3175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Calibri"/>
                <a:cs typeface="Calibri"/>
              </a:rPr>
              <a:t>Loan</a:t>
            </a:r>
            <a:r>
              <a:rPr dirty="0" sz="900" spc="35" i="1">
                <a:latin typeface="Calibri"/>
                <a:cs typeface="Calibri"/>
              </a:rPr>
              <a:t> </a:t>
            </a:r>
            <a:r>
              <a:rPr dirty="0" sz="900" spc="-10" i="1">
                <a:latin typeface="Calibri"/>
                <a:cs typeface="Calibri"/>
              </a:rPr>
              <a:t>Transferred </a:t>
            </a:r>
            <a:r>
              <a:rPr dirty="0" sz="900" spc="-25" i="1">
                <a:latin typeface="Calibri"/>
                <a:cs typeface="Calibri"/>
              </a:rPr>
              <a:t>and</a:t>
            </a:r>
            <a:r>
              <a:rPr dirty="0" sz="900" spc="500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Adika’s</a:t>
            </a:r>
            <a:r>
              <a:rPr dirty="0" sz="900" spc="-45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financial</a:t>
            </a:r>
            <a:r>
              <a:rPr dirty="0" sz="900" spc="-40" i="1">
                <a:latin typeface="Calibri"/>
                <a:cs typeface="Calibri"/>
              </a:rPr>
              <a:t> </a:t>
            </a:r>
            <a:r>
              <a:rPr dirty="0" sz="900" spc="-10" i="1">
                <a:latin typeface="Calibri"/>
                <a:cs typeface="Calibri"/>
              </a:rPr>
              <a:t>needs</a:t>
            </a:r>
            <a:r>
              <a:rPr dirty="0" sz="900" spc="500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are</a:t>
            </a:r>
            <a:r>
              <a:rPr dirty="0" sz="900" spc="-15" i="1">
                <a:latin typeface="Calibri"/>
                <a:cs typeface="Calibri"/>
              </a:rPr>
              <a:t> </a:t>
            </a:r>
            <a:r>
              <a:rPr dirty="0" sz="900" spc="-25" i="1">
                <a:latin typeface="Calibri"/>
                <a:cs typeface="Calibri"/>
              </a:rPr>
              <a:t>met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9416033" y="2509773"/>
            <a:ext cx="1433195" cy="3735704"/>
            <a:chOff x="9416033" y="2509773"/>
            <a:chExt cx="1433195" cy="3735704"/>
          </a:xfrm>
        </p:grpSpPr>
        <p:sp>
          <p:nvSpPr>
            <p:cNvPr id="94" name="object 94"/>
            <p:cNvSpPr/>
            <p:nvPr/>
          </p:nvSpPr>
          <p:spPr>
            <a:xfrm>
              <a:off x="9416033" y="4103369"/>
              <a:ext cx="1433195" cy="0"/>
            </a:xfrm>
            <a:custGeom>
              <a:avLst/>
              <a:gdLst/>
              <a:ahLst/>
              <a:cxnLst/>
              <a:rect l="l" t="t" r="r" b="b"/>
              <a:pathLst>
                <a:path w="1433195" h="0">
                  <a:moveTo>
                    <a:pt x="0" y="0"/>
                  </a:moveTo>
                  <a:lnTo>
                    <a:pt x="1432814" y="0"/>
                  </a:lnTo>
                </a:path>
              </a:pathLst>
            </a:custGeom>
            <a:ln w="1905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48315" y="3980687"/>
              <a:ext cx="1524" cy="207263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10143489" y="3975861"/>
              <a:ext cx="11430" cy="217170"/>
            </a:xfrm>
            <a:custGeom>
              <a:avLst/>
              <a:gdLst/>
              <a:ahLst/>
              <a:cxnLst/>
              <a:rect l="l" t="t" r="r" b="b"/>
              <a:pathLst>
                <a:path w="11429" h="217170">
                  <a:moveTo>
                    <a:pt x="0" y="216788"/>
                  </a:moveTo>
                  <a:lnTo>
                    <a:pt x="11049" y="216788"/>
                  </a:lnTo>
                  <a:lnTo>
                    <a:pt x="11049" y="0"/>
                  </a:lnTo>
                  <a:lnTo>
                    <a:pt x="0" y="0"/>
                  </a:lnTo>
                  <a:lnTo>
                    <a:pt x="0" y="216788"/>
                  </a:lnTo>
                  <a:close/>
                </a:path>
              </a:pathLst>
            </a:custGeom>
            <a:ln w="9524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764267" y="5646454"/>
              <a:ext cx="609600" cy="59886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97439" y="2516123"/>
              <a:ext cx="251459" cy="173736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9997439" y="2516123"/>
              <a:ext cx="251460" cy="173990"/>
            </a:xfrm>
            <a:custGeom>
              <a:avLst/>
              <a:gdLst/>
              <a:ahLst/>
              <a:cxnLst/>
              <a:rect l="l" t="t" r="r" b="b"/>
              <a:pathLst>
                <a:path w="251459" h="173989">
                  <a:moveTo>
                    <a:pt x="251459" y="0"/>
                  </a:moveTo>
                  <a:lnTo>
                    <a:pt x="251459" y="86867"/>
                  </a:lnTo>
                  <a:lnTo>
                    <a:pt x="125729" y="173736"/>
                  </a:lnTo>
                  <a:lnTo>
                    <a:pt x="0" y="86867"/>
                  </a:lnTo>
                  <a:lnTo>
                    <a:pt x="0" y="0"/>
                  </a:lnTo>
                  <a:lnTo>
                    <a:pt x="125729" y="86867"/>
                  </a:lnTo>
                  <a:lnTo>
                    <a:pt x="251459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97439" y="3468623"/>
              <a:ext cx="251459" cy="173736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9997439" y="3468623"/>
              <a:ext cx="251460" cy="173990"/>
            </a:xfrm>
            <a:custGeom>
              <a:avLst/>
              <a:gdLst/>
              <a:ahLst/>
              <a:cxnLst/>
              <a:rect l="l" t="t" r="r" b="b"/>
              <a:pathLst>
                <a:path w="251459" h="173989">
                  <a:moveTo>
                    <a:pt x="251459" y="0"/>
                  </a:moveTo>
                  <a:lnTo>
                    <a:pt x="251459" y="86867"/>
                  </a:lnTo>
                  <a:lnTo>
                    <a:pt x="125729" y="173736"/>
                  </a:lnTo>
                  <a:lnTo>
                    <a:pt x="0" y="86867"/>
                  </a:lnTo>
                  <a:lnTo>
                    <a:pt x="0" y="0"/>
                  </a:lnTo>
                  <a:lnTo>
                    <a:pt x="125729" y="86867"/>
                  </a:lnTo>
                  <a:lnTo>
                    <a:pt x="251459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97439" y="5326379"/>
              <a:ext cx="251459" cy="175259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9997439" y="5326379"/>
              <a:ext cx="251460" cy="175260"/>
            </a:xfrm>
            <a:custGeom>
              <a:avLst/>
              <a:gdLst/>
              <a:ahLst/>
              <a:cxnLst/>
              <a:rect l="l" t="t" r="r" b="b"/>
              <a:pathLst>
                <a:path w="251459" h="175260">
                  <a:moveTo>
                    <a:pt x="251459" y="0"/>
                  </a:moveTo>
                  <a:lnTo>
                    <a:pt x="251459" y="87630"/>
                  </a:lnTo>
                  <a:lnTo>
                    <a:pt x="125729" y="175260"/>
                  </a:lnTo>
                  <a:lnTo>
                    <a:pt x="0" y="87630"/>
                  </a:lnTo>
                  <a:lnTo>
                    <a:pt x="0" y="0"/>
                  </a:lnTo>
                  <a:lnTo>
                    <a:pt x="125729" y="87630"/>
                  </a:lnTo>
                  <a:lnTo>
                    <a:pt x="251459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4537075" cy="0"/>
          </a:xfrm>
          <a:custGeom>
            <a:avLst/>
            <a:gdLst/>
            <a:ahLst/>
            <a:cxnLst/>
            <a:rect l="l" t="t" r="r" b="b"/>
            <a:pathLst>
              <a:path w="4537075" h="0">
                <a:moveTo>
                  <a:pt x="0" y="0"/>
                </a:moveTo>
                <a:lnTo>
                  <a:pt x="4536948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25995" y="6516623"/>
            <a:ext cx="5159375" cy="0"/>
          </a:xfrm>
          <a:custGeom>
            <a:avLst/>
            <a:gdLst/>
            <a:ahLst/>
            <a:cxnLst/>
            <a:rect l="l" t="t" r="r" b="b"/>
            <a:pathLst>
              <a:path w="5159375" h="0">
                <a:moveTo>
                  <a:pt x="0" y="0"/>
                </a:moveTo>
                <a:lnTo>
                  <a:pt x="5159121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6985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5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10.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4434" y="67767"/>
            <a:ext cx="489394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CREDILINK: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140"/>
              <a:t>DATA</a:t>
            </a:r>
            <a:r>
              <a:rPr dirty="0" spc="-20"/>
              <a:t> </a:t>
            </a:r>
            <a:r>
              <a:rPr dirty="0" spc="-10"/>
              <a:t>LAYER(4/4)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323" y="501141"/>
            <a:ext cx="110712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5789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Leveraging</a:t>
            </a:r>
            <a:r>
              <a:rPr dirty="0" u="sng" sz="2000" spc="-7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Bank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Indonesia's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BI-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FAST</a:t>
            </a:r>
            <a:r>
              <a:rPr dirty="0" u="sng" sz="2000" spc="-6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Service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7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Facilitate</a:t>
            </a:r>
            <a:r>
              <a:rPr dirty="0" u="sng" sz="2000" spc="-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Real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Time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Transfer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Micro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Loans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8971" y="6509004"/>
            <a:ext cx="209740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Phoenix: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9632" y="1144650"/>
            <a:ext cx="556260" cy="2635250"/>
          </a:xfrm>
          <a:custGeom>
            <a:avLst/>
            <a:gdLst/>
            <a:ahLst/>
            <a:cxnLst/>
            <a:rect l="l" t="t" r="r" b="b"/>
            <a:pathLst>
              <a:path w="556260" h="2635250">
                <a:moveTo>
                  <a:pt x="464388" y="2550795"/>
                </a:moveTo>
                <a:lnTo>
                  <a:pt x="479044" y="2635250"/>
                </a:lnTo>
                <a:lnTo>
                  <a:pt x="520124" y="2604960"/>
                </a:lnTo>
                <a:lnTo>
                  <a:pt x="485864" y="2604960"/>
                </a:lnTo>
                <a:lnTo>
                  <a:pt x="485806" y="2593086"/>
                </a:lnTo>
                <a:lnTo>
                  <a:pt x="485724" y="2576408"/>
                </a:lnTo>
                <a:lnTo>
                  <a:pt x="549726" y="2576408"/>
                </a:lnTo>
                <a:lnTo>
                  <a:pt x="464388" y="2550795"/>
                </a:lnTo>
                <a:close/>
              </a:path>
              <a:path w="556260" h="2635250">
                <a:moveTo>
                  <a:pt x="259537" y="0"/>
                </a:moveTo>
                <a:lnTo>
                  <a:pt x="0" y="0"/>
                </a:lnTo>
                <a:lnTo>
                  <a:pt x="0" y="2607437"/>
                </a:lnTo>
                <a:lnTo>
                  <a:pt x="473787" y="2604960"/>
                </a:lnTo>
                <a:lnTo>
                  <a:pt x="471727" y="2593086"/>
                </a:lnTo>
                <a:lnTo>
                  <a:pt x="28575" y="2593086"/>
                </a:lnTo>
                <a:lnTo>
                  <a:pt x="14211" y="2578735"/>
                </a:lnTo>
                <a:lnTo>
                  <a:pt x="28575" y="2578735"/>
                </a:lnTo>
                <a:lnTo>
                  <a:pt x="28575" y="28575"/>
                </a:lnTo>
                <a:lnTo>
                  <a:pt x="14287" y="28575"/>
                </a:lnTo>
                <a:lnTo>
                  <a:pt x="28575" y="14350"/>
                </a:lnTo>
                <a:lnTo>
                  <a:pt x="259537" y="14350"/>
                </a:lnTo>
                <a:lnTo>
                  <a:pt x="259537" y="0"/>
                </a:lnTo>
                <a:close/>
              </a:path>
              <a:path w="556260" h="2635250">
                <a:moveTo>
                  <a:pt x="549726" y="2576408"/>
                </a:moveTo>
                <a:lnTo>
                  <a:pt x="485724" y="2576408"/>
                </a:lnTo>
                <a:lnTo>
                  <a:pt x="485806" y="2593086"/>
                </a:lnTo>
                <a:lnTo>
                  <a:pt x="485864" y="2604960"/>
                </a:lnTo>
                <a:lnTo>
                  <a:pt x="520124" y="2604960"/>
                </a:lnTo>
                <a:lnTo>
                  <a:pt x="556209" y="2578354"/>
                </a:lnTo>
                <a:lnTo>
                  <a:pt x="549726" y="2576408"/>
                </a:lnTo>
                <a:close/>
              </a:path>
              <a:path w="556260" h="2635250">
                <a:moveTo>
                  <a:pt x="468832" y="2576408"/>
                </a:moveTo>
                <a:lnTo>
                  <a:pt x="14211" y="2578735"/>
                </a:lnTo>
                <a:lnTo>
                  <a:pt x="28575" y="2593086"/>
                </a:lnTo>
                <a:lnTo>
                  <a:pt x="28575" y="2578735"/>
                </a:lnTo>
                <a:lnTo>
                  <a:pt x="469236" y="2578735"/>
                </a:lnTo>
                <a:lnTo>
                  <a:pt x="468832" y="2576408"/>
                </a:lnTo>
                <a:close/>
              </a:path>
              <a:path w="556260" h="2635250">
                <a:moveTo>
                  <a:pt x="469236" y="2578735"/>
                </a:moveTo>
                <a:lnTo>
                  <a:pt x="28575" y="2578735"/>
                </a:lnTo>
                <a:lnTo>
                  <a:pt x="28575" y="2593086"/>
                </a:lnTo>
                <a:lnTo>
                  <a:pt x="471727" y="2593086"/>
                </a:lnTo>
                <a:lnTo>
                  <a:pt x="469236" y="2578735"/>
                </a:lnTo>
                <a:close/>
              </a:path>
              <a:path w="556260" h="2635250">
                <a:moveTo>
                  <a:pt x="28575" y="14350"/>
                </a:moveTo>
                <a:lnTo>
                  <a:pt x="14287" y="28575"/>
                </a:lnTo>
                <a:lnTo>
                  <a:pt x="28575" y="28575"/>
                </a:lnTo>
                <a:lnTo>
                  <a:pt x="28575" y="14350"/>
                </a:lnTo>
                <a:close/>
              </a:path>
              <a:path w="556260" h="2635250">
                <a:moveTo>
                  <a:pt x="259537" y="14350"/>
                </a:moveTo>
                <a:lnTo>
                  <a:pt x="28575" y="14350"/>
                </a:lnTo>
                <a:lnTo>
                  <a:pt x="28575" y="28575"/>
                </a:lnTo>
                <a:lnTo>
                  <a:pt x="259537" y="28575"/>
                </a:lnTo>
                <a:lnTo>
                  <a:pt x="259537" y="14350"/>
                </a:lnTo>
                <a:close/>
              </a:path>
            </a:pathLst>
          </a:custGeom>
          <a:solidFill>
            <a:srgbClr val="5C9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527030" y="1084325"/>
            <a:ext cx="76835" cy="2432050"/>
          </a:xfrm>
          <a:custGeom>
            <a:avLst/>
            <a:gdLst/>
            <a:ahLst/>
            <a:cxnLst/>
            <a:rect l="l" t="t" r="r" b="b"/>
            <a:pathLst>
              <a:path w="76834" h="2432050">
                <a:moveTo>
                  <a:pt x="46505" y="72567"/>
                </a:moveTo>
                <a:lnTo>
                  <a:pt x="17968" y="86954"/>
                </a:lnTo>
                <a:lnTo>
                  <a:pt x="24256" y="2431541"/>
                </a:lnTo>
                <a:lnTo>
                  <a:pt x="52831" y="2431541"/>
                </a:lnTo>
                <a:lnTo>
                  <a:pt x="46568" y="95885"/>
                </a:lnTo>
                <a:lnTo>
                  <a:pt x="46505" y="72567"/>
                </a:lnTo>
                <a:close/>
              </a:path>
              <a:path w="76834" h="2432050">
                <a:moveTo>
                  <a:pt x="0" y="0"/>
                </a:moveTo>
                <a:lnTo>
                  <a:pt x="151" y="57276"/>
                </a:lnTo>
                <a:lnTo>
                  <a:pt x="253" y="95885"/>
                </a:lnTo>
                <a:lnTo>
                  <a:pt x="17968" y="86954"/>
                </a:lnTo>
                <a:lnTo>
                  <a:pt x="17906" y="63881"/>
                </a:lnTo>
                <a:lnTo>
                  <a:pt x="63987" y="63753"/>
                </a:lnTo>
                <a:lnTo>
                  <a:pt x="76835" y="57276"/>
                </a:lnTo>
                <a:lnTo>
                  <a:pt x="0" y="0"/>
                </a:lnTo>
                <a:close/>
              </a:path>
              <a:path w="76834" h="2432050">
                <a:moveTo>
                  <a:pt x="46481" y="63753"/>
                </a:moveTo>
                <a:lnTo>
                  <a:pt x="17906" y="63881"/>
                </a:lnTo>
                <a:lnTo>
                  <a:pt x="17968" y="86954"/>
                </a:lnTo>
                <a:lnTo>
                  <a:pt x="46505" y="72567"/>
                </a:lnTo>
                <a:lnTo>
                  <a:pt x="46481" y="63753"/>
                </a:lnTo>
                <a:close/>
              </a:path>
              <a:path w="76834" h="2432050">
                <a:moveTo>
                  <a:pt x="63987" y="63753"/>
                </a:moveTo>
                <a:lnTo>
                  <a:pt x="46481" y="63753"/>
                </a:lnTo>
                <a:lnTo>
                  <a:pt x="46505" y="72567"/>
                </a:lnTo>
                <a:lnTo>
                  <a:pt x="63987" y="63753"/>
                </a:lnTo>
                <a:close/>
              </a:path>
            </a:pathLst>
          </a:custGeom>
          <a:solidFill>
            <a:srgbClr val="5C9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89075" y="909827"/>
            <a:ext cx="9537700" cy="34798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39369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309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Virtuous</a:t>
            </a:r>
            <a:r>
              <a:rPr dirty="0" sz="16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Cycle</a:t>
            </a:r>
            <a:r>
              <a:rPr dirty="0" sz="1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6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1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MSME</a:t>
            </a:r>
            <a:r>
              <a:rPr dirty="0" sz="16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Entrepreneur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85097" y="2686621"/>
            <a:ext cx="1772285" cy="1391920"/>
            <a:chOff x="2685097" y="2686621"/>
            <a:chExt cx="1772285" cy="1391920"/>
          </a:xfrm>
        </p:grpSpPr>
        <p:sp>
          <p:nvSpPr>
            <p:cNvPr id="16" name="object 16"/>
            <p:cNvSpPr/>
            <p:nvPr/>
          </p:nvSpPr>
          <p:spPr>
            <a:xfrm>
              <a:off x="3714877" y="2813735"/>
              <a:ext cx="130175" cy="27940"/>
            </a:xfrm>
            <a:custGeom>
              <a:avLst/>
              <a:gdLst/>
              <a:ahLst/>
              <a:cxnLst/>
              <a:rect l="l" t="t" r="r" b="b"/>
              <a:pathLst>
                <a:path w="130175" h="27939">
                  <a:moveTo>
                    <a:pt x="50711" y="0"/>
                  </a:moveTo>
                  <a:lnTo>
                    <a:pt x="0" y="0"/>
                  </a:lnTo>
                  <a:lnTo>
                    <a:pt x="0" y="15824"/>
                  </a:lnTo>
                  <a:lnTo>
                    <a:pt x="50711" y="15824"/>
                  </a:lnTo>
                  <a:lnTo>
                    <a:pt x="50711" y="0"/>
                  </a:lnTo>
                  <a:close/>
                </a:path>
                <a:path w="130175" h="27939">
                  <a:moveTo>
                    <a:pt x="130175" y="76"/>
                  </a:moveTo>
                  <a:lnTo>
                    <a:pt x="88773" y="76"/>
                  </a:lnTo>
                  <a:lnTo>
                    <a:pt x="88773" y="15824"/>
                  </a:lnTo>
                  <a:lnTo>
                    <a:pt x="117475" y="15824"/>
                  </a:lnTo>
                  <a:lnTo>
                    <a:pt x="117475" y="27508"/>
                  </a:lnTo>
                  <a:lnTo>
                    <a:pt x="130175" y="27508"/>
                  </a:lnTo>
                  <a:lnTo>
                    <a:pt x="130175" y="15824"/>
                  </a:lnTo>
                  <a:lnTo>
                    <a:pt x="130175" y="7950"/>
                  </a:lnTo>
                  <a:lnTo>
                    <a:pt x="130175" y="76"/>
                  </a:lnTo>
                  <a:close/>
                </a:path>
              </a:pathLst>
            </a:custGeom>
            <a:solidFill>
              <a:srgbClr val="6E8E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38501" y="2821646"/>
              <a:ext cx="938530" cy="0"/>
            </a:xfrm>
            <a:custGeom>
              <a:avLst/>
              <a:gdLst/>
              <a:ahLst/>
              <a:cxnLst/>
              <a:rect l="l" t="t" r="r" b="b"/>
              <a:pathLst>
                <a:path w="938529" h="0">
                  <a:moveTo>
                    <a:pt x="0" y="0"/>
                  </a:moveTo>
                  <a:lnTo>
                    <a:pt x="938324" y="0"/>
                  </a:lnTo>
                </a:path>
              </a:pathLst>
            </a:custGeom>
            <a:ln w="15826">
              <a:solidFill>
                <a:srgbClr val="6E8EB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89860" y="2691383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50800" h="63500">
                  <a:moveTo>
                    <a:pt x="50673" y="63246"/>
                  </a:moveTo>
                  <a:lnTo>
                    <a:pt x="46482" y="52705"/>
                  </a:lnTo>
                  <a:lnTo>
                    <a:pt x="25400" y="0"/>
                  </a:lnTo>
                  <a:lnTo>
                    <a:pt x="0" y="63246"/>
                  </a:lnTo>
                  <a:lnTo>
                    <a:pt x="19050" y="63246"/>
                  </a:lnTo>
                  <a:lnTo>
                    <a:pt x="19050" y="52705"/>
                  </a:lnTo>
                  <a:lnTo>
                    <a:pt x="31750" y="52705"/>
                  </a:lnTo>
                  <a:lnTo>
                    <a:pt x="31750" y="63246"/>
                  </a:lnTo>
                  <a:lnTo>
                    <a:pt x="50673" y="63246"/>
                  </a:lnTo>
                  <a:close/>
                </a:path>
              </a:pathLst>
            </a:custGeom>
            <a:solidFill>
              <a:srgbClr val="6E8E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03650" y="2813811"/>
              <a:ext cx="41910" cy="138430"/>
            </a:xfrm>
            <a:custGeom>
              <a:avLst/>
              <a:gdLst/>
              <a:ahLst/>
              <a:cxnLst/>
              <a:rect l="l" t="t" r="r" b="b"/>
              <a:pathLst>
                <a:path w="41910" h="138430">
                  <a:moveTo>
                    <a:pt x="28701" y="138175"/>
                  </a:moveTo>
                  <a:lnTo>
                    <a:pt x="41382" y="138175"/>
                  </a:lnTo>
                  <a:lnTo>
                    <a:pt x="41382" y="74871"/>
                  </a:lnTo>
                  <a:lnTo>
                    <a:pt x="28701" y="74871"/>
                  </a:lnTo>
                  <a:lnTo>
                    <a:pt x="28701" y="138175"/>
                  </a:lnTo>
                  <a:close/>
                </a:path>
                <a:path w="41910" h="138430">
                  <a:moveTo>
                    <a:pt x="28701" y="7874"/>
                  </a:moveTo>
                  <a:lnTo>
                    <a:pt x="28701" y="27432"/>
                  </a:lnTo>
                  <a:lnTo>
                    <a:pt x="41401" y="27432"/>
                  </a:lnTo>
                  <a:lnTo>
                    <a:pt x="41401" y="15748"/>
                  </a:lnTo>
                  <a:lnTo>
                    <a:pt x="35051" y="15748"/>
                  </a:lnTo>
                  <a:lnTo>
                    <a:pt x="28701" y="7874"/>
                  </a:lnTo>
                  <a:close/>
                </a:path>
                <a:path w="41910" h="138430">
                  <a:moveTo>
                    <a:pt x="41401" y="0"/>
                  </a:moveTo>
                  <a:lnTo>
                    <a:pt x="0" y="0"/>
                  </a:lnTo>
                  <a:lnTo>
                    <a:pt x="0" y="15748"/>
                  </a:lnTo>
                  <a:lnTo>
                    <a:pt x="28701" y="15748"/>
                  </a:lnTo>
                  <a:lnTo>
                    <a:pt x="28701" y="7874"/>
                  </a:lnTo>
                  <a:lnTo>
                    <a:pt x="41401" y="7874"/>
                  </a:lnTo>
                  <a:lnTo>
                    <a:pt x="41401" y="0"/>
                  </a:lnTo>
                  <a:close/>
                </a:path>
                <a:path w="41910" h="138430">
                  <a:moveTo>
                    <a:pt x="41401" y="7874"/>
                  </a:moveTo>
                  <a:lnTo>
                    <a:pt x="28701" y="7874"/>
                  </a:lnTo>
                  <a:lnTo>
                    <a:pt x="35051" y="15748"/>
                  </a:lnTo>
                  <a:lnTo>
                    <a:pt x="41401" y="15748"/>
                  </a:lnTo>
                  <a:lnTo>
                    <a:pt x="41401" y="7874"/>
                  </a:lnTo>
                  <a:close/>
                </a:path>
              </a:pathLst>
            </a:custGeom>
            <a:ln w="9525">
              <a:solidFill>
                <a:srgbClr val="6E8EB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33738" y="2821646"/>
              <a:ext cx="1036955" cy="0"/>
            </a:xfrm>
            <a:custGeom>
              <a:avLst/>
              <a:gdLst/>
              <a:ahLst/>
              <a:cxnLst/>
              <a:rect l="l" t="t" r="r" b="b"/>
              <a:pathLst>
                <a:path w="1036954" h="0">
                  <a:moveTo>
                    <a:pt x="0" y="0"/>
                  </a:moveTo>
                  <a:lnTo>
                    <a:pt x="1036622" y="0"/>
                  </a:lnTo>
                </a:path>
              </a:pathLst>
            </a:custGeom>
            <a:ln w="25351">
              <a:solidFill>
                <a:srgbClr val="6E8EB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689860" y="2691383"/>
              <a:ext cx="50800" cy="112395"/>
            </a:xfrm>
            <a:custGeom>
              <a:avLst/>
              <a:gdLst/>
              <a:ahLst/>
              <a:cxnLst/>
              <a:rect l="l" t="t" r="r" b="b"/>
              <a:pathLst>
                <a:path w="50800" h="112394">
                  <a:moveTo>
                    <a:pt x="19050" y="111887"/>
                  </a:moveTo>
                  <a:lnTo>
                    <a:pt x="31730" y="111887"/>
                  </a:lnTo>
                  <a:lnTo>
                    <a:pt x="31730" y="52802"/>
                  </a:lnTo>
                  <a:lnTo>
                    <a:pt x="19050" y="52802"/>
                  </a:lnTo>
                  <a:lnTo>
                    <a:pt x="19050" y="111887"/>
                  </a:lnTo>
                  <a:close/>
                </a:path>
                <a:path w="50800" h="112394">
                  <a:moveTo>
                    <a:pt x="25400" y="0"/>
                  </a:moveTo>
                  <a:lnTo>
                    <a:pt x="0" y="63245"/>
                  </a:lnTo>
                  <a:lnTo>
                    <a:pt x="19050" y="63245"/>
                  </a:lnTo>
                  <a:lnTo>
                    <a:pt x="19050" y="52704"/>
                  </a:lnTo>
                  <a:lnTo>
                    <a:pt x="46481" y="52704"/>
                  </a:lnTo>
                  <a:lnTo>
                    <a:pt x="25400" y="0"/>
                  </a:lnTo>
                  <a:close/>
                </a:path>
                <a:path w="50800" h="112394">
                  <a:moveTo>
                    <a:pt x="46481" y="52704"/>
                  </a:moveTo>
                  <a:lnTo>
                    <a:pt x="31750" y="52704"/>
                  </a:lnTo>
                  <a:lnTo>
                    <a:pt x="31750" y="63245"/>
                  </a:lnTo>
                  <a:lnTo>
                    <a:pt x="50672" y="63245"/>
                  </a:lnTo>
                  <a:lnTo>
                    <a:pt x="46481" y="52704"/>
                  </a:lnTo>
                  <a:close/>
                </a:path>
              </a:pathLst>
            </a:custGeom>
            <a:ln w="9525">
              <a:solidFill>
                <a:srgbClr val="6E8EB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302508" y="2980943"/>
              <a:ext cx="1155065" cy="1097280"/>
            </a:xfrm>
            <a:custGeom>
              <a:avLst/>
              <a:gdLst/>
              <a:ahLst/>
              <a:cxnLst/>
              <a:rect l="l" t="t" r="r" b="b"/>
              <a:pathLst>
                <a:path w="1155064" h="1097279">
                  <a:moveTo>
                    <a:pt x="577341" y="0"/>
                  </a:moveTo>
                  <a:lnTo>
                    <a:pt x="534288" y="1523"/>
                  </a:lnTo>
                  <a:lnTo>
                    <a:pt x="491997" y="5968"/>
                  </a:lnTo>
                  <a:lnTo>
                    <a:pt x="450850" y="13207"/>
                  </a:lnTo>
                  <a:lnTo>
                    <a:pt x="410590" y="23240"/>
                  </a:lnTo>
                  <a:lnTo>
                    <a:pt x="371601" y="35813"/>
                  </a:lnTo>
                  <a:lnTo>
                    <a:pt x="334009" y="50926"/>
                  </a:lnTo>
                  <a:lnTo>
                    <a:pt x="297688" y="68579"/>
                  </a:lnTo>
                  <a:lnTo>
                    <a:pt x="263016" y="88391"/>
                  </a:lnTo>
                  <a:lnTo>
                    <a:pt x="229869" y="110362"/>
                  </a:lnTo>
                  <a:lnTo>
                    <a:pt x="198627" y="134492"/>
                  </a:lnTo>
                  <a:lnTo>
                    <a:pt x="169163" y="160654"/>
                  </a:lnTo>
                  <a:lnTo>
                    <a:pt x="141604" y="188721"/>
                  </a:lnTo>
                  <a:lnTo>
                    <a:pt x="116204" y="218439"/>
                  </a:lnTo>
                  <a:lnTo>
                    <a:pt x="92963" y="249808"/>
                  </a:lnTo>
                  <a:lnTo>
                    <a:pt x="72136" y="282828"/>
                  </a:lnTo>
                  <a:lnTo>
                    <a:pt x="53720" y="317245"/>
                  </a:lnTo>
                  <a:lnTo>
                    <a:pt x="37718" y="353059"/>
                  </a:lnTo>
                  <a:lnTo>
                    <a:pt x="24383" y="390143"/>
                  </a:lnTo>
                  <a:lnTo>
                    <a:pt x="13969" y="428370"/>
                  </a:lnTo>
                  <a:lnTo>
                    <a:pt x="6222" y="467486"/>
                  </a:lnTo>
                  <a:lnTo>
                    <a:pt x="1524" y="507618"/>
                  </a:lnTo>
                  <a:lnTo>
                    <a:pt x="0" y="548639"/>
                  </a:lnTo>
                  <a:lnTo>
                    <a:pt x="1524" y="589533"/>
                  </a:lnTo>
                  <a:lnTo>
                    <a:pt x="6222" y="629665"/>
                  </a:lnTo>
                  <a:lnTo>
                    <a:pt x="13969" y="668908"/>
                  </a:lnTo>
                  <a:lnTo>
                    <a:pt x="24383" y="707008"/>
                  </a:lnTo>
                  <a:lnTo>
                    <a:pt x="37718" y="744092"/>
                  </a:lnTo>
                  <a:lnTo>
                    <a:pt x="53720" y="779906"/>
                  </a:lnTo>
                  <a:lnTo>
                    <a:pt x="72136" y="814323"/>
                  </a:lnTo>
                  <a:lnTo>
                    <a:pt x="92963" y="847343"/>
                  </a:lnTo>
                  <a:lnTo>
                    <a:pt x="116204" y="878712"/>
                  </a:lnTo>
                  <a:lnTo>
                    <a:pt x="141604" y="908557"/>
                  </a:lnTo>
                  <a:lnTo>
                    <a:pt x="169163" y="936497"/>
                  </a:lnTo>
                  <a:lnTo>
                    <a:pt x="198627" y="962659"/>
                  </a:lnTo>
                  <a:lnTo>
                    <a:pt x="229869" y="986789"/>
                  </a:lnTo>
                  <a:lnTo>
                    <a:pt x="263016" y="1008760"/>
                  </a:lnTo>
                  <a:lnTo>
                    <a:pt x="297688" y="1028699"/>
                  </a:lnTo>
                  <a:lnTo>
                    <a:pt x="334009" y="1046225"/>
                  </a:lnTo>
                  <a:lnTo>
                    <a:pt x="371601" y="1061338"/>
                  </a:lnTo>
                  <a:lnTo>
                    <a:pt x="410590" y="1073911"/>
                  </a:lnTo>
                  <a:lnTo>
                    <a:pt x="450850" y="1083944"/>
                  </a:lnTo>
                  <a:lnTo>
                    <a:pt x="491997" y="1091183"/>
                  </a:lnTo>
                  <a:lnTo>
                    <a:pt x="534288" y="1095628"/>
                  </a:lnTo>
                  <a:lnTo>
                    <a:pt x="577341" y="1097152"/>
                  </a:lnTo>
                  <a:lnTo>
                    <a:pt x="620521" y="1095628"/>
                  </a:lnTo>
                  <a:lnTo>
                    <a:pt x="662686" y="1091183"/>
                  </a:lnTo>
                  <a:lnTo>
                    <a:pt x="703961" y="1083944"/>
                  </a:lnTo>
                  <a:lnTo>
                    <a:pt x="744092" y="1073911"/>
                  </a:lnTo>
                  <a:lnTo>
                    <a:pt x="783081" y="1061338"/>
                  </a:lnTo>
                  <a:lnTo>
                    <a:pt x="820801" y="1046225"/>
                  </a:lnTo>
                  <a:lnTo>
                    <a:pt x="856995" y="1028699"/>
                  </a:lnTo>
                  <a:lnTo>
                    <a:pt x="891793" y="1008760"/>
                  </a:lnTo>
                  <a:lnTo>
                    <a:pt x="924813" y="986789"/>
                  </a:lnTo>
                  <a:lnTo>
                    <a:pt x="956182" y="962659"/>
                  </a:lnTo>
                  <a:lnTo>
                    <a:pt x="985646" y="936497"/>
                  </a:lnTo>
                  <a:lnTo>
                    <a:pt x="1013078" y="908557"/>
                  </a:lnTo>
                  <a:lnTo>
                    <a:pt x="1038478" y="878712"/>
                  </a:lnTo>
                  <a:lnTo>
                    <a:pt x="1061719" y="847343"/>
                  </a:lnTo>
                  <a:lnTo>
                    <a:pt x="1082675" y="814323"/>
                  </a:lnTo>
                  <a:lnTo>
                    <a:pt x="1101089" y="779906"/>
                  </a:lnTo>
                  <a:lnTo>
                    <a:pt x="1116964" y="744092"/>
                  </a:lnTo>
                  <a:lnTo>
                    <a:pt x="1130300" y="707008"/>
                  </a:lnTo>
                  <a:lnTo>
                    <a:pt x="1140840" y="668908"/>
                  </a:lnTo>
                  <a:lnTo>
                    <a:pt x="1148461" y="629665"/>
                  </a:lnTo>
                  <a:lnTo>
                    <a:pt x="1153159" y="589533"/>
                  </a:lnTo>
                  <a:lnTo>
                    <a:pt x="1154811" y="548639"/>
                  </a:lnTo>
                  <a:lnTo>
                    <a:pt x="1153159" y="507618"/>
                  </a:lnTo>
                  <a:lnTo>
                    <a:pt x="1148461" y="467486"/>
                  </a:lnTo>
                  <a:lnTo>
                    <a:pt x="1140840" y="428370"/>
                  </a:lnTo>
                  <a:lnTo>
                    <a:pt x="1130300" y="390143"/>
                  </a:lnTo>
                  <a:lnTo>
                    <a:pt x="1116964" y="353059"/>
                  </a:lnTo>
                  <a:lnTo>
                    <a:pt x="1101089" y="317245"/>
                  </a:lnTo>
                  <a:lnTo>
                    <a:pt x="1082675" y="282828"/>
                  </a:lnTo>
                  <a:lnTo>
                    <a:pt x="1061719" y="249808"/>
                  </a:lnTo>
                  <a:lnTo>
                    <a:pt x="1038478" y="218439"/>
                  </a:lnTo>
                  <a:lnTo>
                    <a:pt x="1013078" y="188721"/>
                  </a:lnTo>
                  <a:lnTo>
                    <a:pt x="985646" y="160654"/>
                  </a:lnTo>
                  <a:lnTo>
                    <a:pt x="956182" y="134492"/>
                  </a:lnTo>
                  <a:lnTo>
                    <a:pt x="924813" y="110362"/>
                  </a:lnTo>
                  <a:lnTo>
                    <a:pt x="891793" y="88391"/>
                  </a:lnTo>
                  <a:lnTo>
                    <a:pt x="856995" y="68579"/>
                  </a:lnTo>
                  <a:lnTo>
                    <a:pt x="820801" y="50926"/>
                  </a:lnTo>
                  <a:lnTo>
                    <a:pt x="783081" y="35813"/>
                  </a:lnTo>
                  <a:lnTo>
                    <a:pt x="744092" y="23240"/>
                  </a:lnTo>
                  <a:lnTo>
                    <a:pt x="703961" y="13207"/>
                  </a:lnTo>
                  <a:lnTo>
                    <a:pt x="662686" y="5968"/>
                  </a:lnTo>
                  <a:lnTo>
                    <a:pt x="620521" y="1523"/>
                  </a:lnTo>
                  <a:lnTo>
                    <a:pt x="577341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387852" y="3070859"/>
              <a:ext cx="993775" cy="941705"/>
            </a:xfrm>
            <a:custGeom>
              <a:avLst/>
              <a:gdLst/>
              <a:ahLst/>
              <a:cxnLst/>
              <a:rect l="l" t="t" r="r" b="b"/>
              <a:pathLst>
                <a:path w="993775" h="941704">
                  <a:moveTo>
                    <a:pt x="496697" y="0"/>
                  </a:moveTo>
                  <a:lnTo>
                    <a:pt x="453771" y="1777"/>
                  </a:lnTo>
                  <a:lnTo>
                    <a:pt x="411988" y="6857"/>
                  </a:lnTo>
                  <a:lnTo>
                    <a:pt x="371221" y="15112"/>
                  </a:lnTo>
                  <a:lnTo>
                    <a:pt x="331850" y="26542"/>
                  </a:lnTo>
                  <a:lnTo>
                    <a:pt x="294005" y="40893"/>
                  </a:lnTo>
                  <a:lnTo>
                    <a:pt x="257683" y="58038"/>
                  </a:lnTo>
                  <a:lnTo>
                    <a:pt x="223138" y="77724"/>
                  </a:lnTo>
                  <a:lnTo>
                    <a:pt x="190500" y="100075"/>
                  </a:lnTo>
                  <a:lnTo>
                    <a:pt x="159893" y="124713"/>
                  </a:lnTo>
                  <a:lnTo>
                    <a:pt x="131572" y="151637"/>
                  </a:lnTo>
                  <a:lnTo>
                    <a:pt x="105537" y="180593"/>
                  </a:lnTo>
                  <a:lnTo>
                    <a:pt x="82042" y="211581"/>
                  </a:lnTo>
                  <a:lnTo>
                    <a:pt x="61213" y="244220"/>
                  </a:lnTo>
                  <a:lnTo>
                    <a:pt x="43052" y="278638"/>
                  </a:lnTo>
                  <a:lnTo>
                    <a:pt x="27939" y="314578"/>
                  </a:lnTo>
                  <a:lnTo>
                    <a:pt x="16001" y="351916"/>
                  </a:lnTo>
                  <a:lnTo>
                    <a:pt x="7238" y="390525"/>
                  </a:lnTo>
                  <a:lnTo>
                    <a:pt x="1777" y="430149"/>
                  </a:lnTo>
                  <a:lnTo>
                    <a:pt x="0" y="470788"/>
                  </a:lnTo>
                  <a:lnTo>
                    <a:pt x="1777" y="511301"/>
                  </a:lnTo>
                  <a:lnTo>
                    <a:pt x="7238" y="551052"/>
                  </a:lnTo>
                  <a:lnTo>
                    <a:pt x="16001" y="589533"/>
                  </a:lnTo>
                  <a:lnTo>
                    <a:pt x="27939" y="626871"/>
                  </a:lnTo>
                  <a:lnTo>
                    <a:pt x="43052" y="662813"/>
                  </a:lnTo>
                  <a:lnTo>
                    <a:pt x="61213" y="697229"/>
                  </a:lnTo>
                  <a:lnTo>
                    <a:pt x="82042" y="729995"/>
                  </a:lnTo>
                  <a:lnTo>
                    <a:pt x="105537" y="760857"/>
                  </a:lnTo>
                  <a:lnTo>
                    <a:pt x="131572" y="789939"/>
                  </a:lnTo>
                  <a:lnTo>
                    <a:pt x="159893" y="816737"/>
                  </a:lnTo>
                  <a:lnTo>
                    <a:pt x="190500" y="841501"/>
                  </a:lnTo>
                  <a:lnTo>
                    <a:pt x="223138" y="863726"/>
                  </a:lnTo>
                  <a:lnTo>
                    <a:pt x="257683" y="883538"/>
                  </a:lnTo>
                  <a:lnTo>
                    <a:pt x="294005" y="900683"/>
                  </a:lnTo>
                  <a:lnTo>
                    <a:pt x="331850" y="915034"/>
                  </a:lnTo>
                  <a:lnTo>
                    <a:pt x="371221" y="926338"/>
                  </a:lnTo>
                  <a:lnTo>
                    <a:pt x="411988" y="934719"/>
                  </a:lnTo>
                  <a:lnTo>
                    <a:pt x="453771" y="939800"/>
                  </a:lnTo>
                  <a:lnTo>
                    <a:pt x="496697" y="941451"/>
                  </a:lnTo>
                  <a:lnTo>
                    <a:pt x="539496" y="939800"/>
                  </a:lnTo>
                  <a:lnTo>
                    <a:pt x="581406" y="934719"/>
                  </a:lnTo>
                  <a:lnTo>
                    <a:pt x="622046" y="926338"/>
                  </a:lnTo>
                  <a:lnTo>
                    <a:pt x="661415" y="915034"/>
                  </a:lnTo>
                  <a:lnTo>
                    <a:pt x="699262" y="900683"/>
                  </a:lnTo>
                  <a:lnTo>
                    <a:pt x="735584" y="883538"/>
                  </a:lnTo>
                  <a:lnTo>
                    <a:pt x="770127" y="863726"/>
                  </a:lnTo>
                  <a:lnTo>
                    <a:pt x="802767" y="841501"/>
                  </a:lnTo>
                  <a:lnTo>
                    <a:pt x="833374" y="816737"/>
                  </a:lnTo>
                  <a:lnTo>
                    <a:pt x="861695" y="789939"/>
                  </a:lnTo>
                  <a:lnTo>
                    <a:pt x="887730" y="760857"/>
                  </a:lnTo>
                  <a:lnTo>
                    <a:pt x="911351" y="729995"/>
                  </a:lnTo>
                  <a:lnTo>
                    <a:pt x="932180" y="697229"/>
                  </a:lnTo>
                  <a:lnTo>
                    <a:pt x="950213" y="662813"/>
                  </a:lnTo>
                  <a:lnTo>
                    <a:pt x="965326" y="626871"/>
                  </a:lnTo>
                  <a:lnTo>
                    <a:pt x="977392" y="589533"/>
                  </a:lnTo>
                  <a:lnTo>
                    <a:pt x="986155" y="551052"/>
                  </a:lnTo>
                  <a:lnTo>
                    <a:pt x="991488" y="511301"/>
                  </a:lnTo>
                  <a:lnTo>
                    <a:pt x="993267" y="470788"/>
                  </a:lnTo>
                  <a:lnTo>
                    <a:pt x="991488" y="430149"/>
                  </a:lnTo>
                  <a:lnTo>
                    <a:pt x="986155" y="390525"/>
                  </a:lnTo>
                  <a:lnTo>
                    <a:pt x="977392" y="351916"/>
                  </a:lnTo>
                  <a:lnTo>
                    <a:pt x="965326" y="314578"/>
                  </a:lnTo>
                  <a:lnTo>
                    <a:pt x="950213" y="278638"/>
                  </a:lnTo>
                  <a:lnTo>
                    <a:pt x="932180" y="244220"/>
                  </a:lnTo>
                  <a:lnTo>
                    <a:pt x="911351" y="211581"/>
                  </a:lnTo>
                  <a:lnTo>
                    <a:pt x="887730" y="180593"/>
                  </a:lnTo>
                  <a:lnTo>
                    <a:pt x="861695" y="151637"/>
                  </a:lnTo>
                  <a:lnTo>
                    <a:pt x="833374" y="124713"/>
                  </a:lnTo>
                  <a:lnTo>
                    <a:pt x="802767" y="100075"/>
                  </a:lnTo>
                  <a:lnTo>
                    <a:pt x="770127" y="77724"/>
                  </a:lnTo>
                  <a:lnTo>
                    <a:pt x="735584" y="58038"/>
                  </a:lnTo>
                  <a:lnTo>
                    <a:pt x="699262" y="40893"/>
                  </a:lnTo>
                  <a:lnTo>
                    <a:pt x="661415" y="26542"/>
                  </a:lnTo>
                  <a:lnTo>
                    <a:pt x="622046" y="15112"/>
                  </a:lnTo>
                  <a:lnTo>
                    <a:pt x="581406" y="6857"/>
                  </a:lnTo>
                  <a:lnTo>
                    <a:pt x="539496" y="1777"/>
                  </a:lnTo>
                  <a:lnTo>
                    <a:pt x="496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87852" y="3070859"/>
              <a:ext cx="993775" cy="941705"/>
            </a:xfrm>
            <a:custGeom>
              <a:avLst/>
              <a:gdLst/>
              <a:ahLst/>
              <a:cxnLst/>
              <a:rect l="l" t="t" r="r" b="b"/>
              <a:pathLst>
                <a:path w="993775" h="941704">
                  <a:moveTo>
                    <a:pt x="0" y="470788"/>
                  </a:moveTo>
                  <a:lnTo>
                    <a:pt x="1777" y="430149"/>
                  </a:lnTo>
                  <a:lnTo>
                    <a:pt x="7238" y="390525"/>
                  </a:lnTo>
                  <a:lnTo>
                    <a:pt x="16001" y="351916"/>
                  </a:lnTo>
                  <a:lnTo>
                    <a:pt x="27939" y="314578"/>
                  </a:lnTo>
                  <a:lnTo>
                    <a:pt x="43052" y="278638"/>
                  </a:lnTo>
                  <a:lnTo>
                    <a:pt x="61213" y="244220"/>
                  </a:lnTo>
                  <a:lnTo>
                    <a:pt x="82042" y="211581"/>
                  </a:lnTo>
                  <a:lnTo>
                    <a:pt x="105537" y="180593"/>
                  </a:lnTo>
                  <a:lnTo>
                    <a:pt x="131572" y="151637"/>
                  </a:lnTo>
                  <a:lnTo>
                    <a:pt x="159893" y="124713"/>
                  </a:lnTo>
                  <a:lnTo>
                    <a:pt x="190500" y="100075"/>
                  </a:lnTo>
                  <a:lnTo>
                    <a:pt x="223138" y="77724"/>
                  </a:lnTo>
                  <a:lnTo>
                    <a:pt x="257683" y="58038"/>
                  </a:lnTo>
                  <a:lnTo>
                    <a:pt x="294005" y="40893"/>
                  </a:lnTo>
                  <a:lnTo>
                    <a:pt x="331850" y="26542"/>
                  </a:lnTo>
                  <a:lnTo>
                    <a:pt x="371221" y="15112"/>
                  </a:lnTo>
                  <a:lnTo>
                    <a:pt x="411988" y="6857"/>
                  </a:lnTo>
                  <a:lnTo>
                    <a:pt x="453771" y="1777"/>
                  </a:lnTo>
                  <a:lnTo>
                    <a:pt x="496697" y="0"/>
                  </a:lnTo>
                  <a:lnTo>
                    <a:pt x="539496" y="1777"/>
                  </a:lnTo>
                  <a:lnTo>
                    <a:pt x="581406" y="6857"/>
                  </a:lnTo>
                  <a:lnTo>
                    <a:pt x="622046" y="15112"/>
                  </a:lnTo>
                  <a:lnTo>
                    <a:pt x="661415" y="26542"/>
                  </a:lnTo>
                  <a:lnTo>
                    <a:pt x="699262" y="40893"/>
                  </a:lnTo>
                  <a:lnTo>
                    <a:pt x="735584" y="58038"/>
                  </a:lnTo>
                  <a:lnTo>
                    <a:pt x="770127" y="77724"/>
                  </a:lnTo>
                  <a:lnTo>
                    <a:pt x="802767" y="100075"/>
                  </a:lnTo>
                  <a:lnTo>
                    <a:pt x="833374" y="124713"/>
                  </a:lnTo>
                  <a:lnTo>
                    <a:pt x="861695" y="151637"/>
                  </a:lnTo>
                  <a:lnTo>
                    <a:pt x="887730" y="180593"/>
                  </a:lnTo>
                  <a:lnTo>
                    <a:pt x="911351" y="211581"/>
                  </a:lnTo>
                  <a:lnTo>
                    <a:pt x="932180" y="244220"/>
                  </a:lnTo>
                  <a:lnTo>
                    <a:pt x="950213" y="278638"/>
                  </a:lnTo>
                  <a:lnTo>
                    <a:pt x="965326" y="314578"/>
                  </a:lnTo>
                  <a:lnTo>
                    <a:pt x="977392" y="351916"/>
                  </a:lnTo>
                  <a:lnTo>
                    <a:pt x="986155" y="390525"/>
                  </a:lnTo>
                  <a:lnTo>
                    <a:pt x="991488" y="430149"/>
                  </a:lnTo>
                  <a:lnTo>
                    <a:pt x="993267" y="470788"/>
                  </a:lnTo>
                  <a:lnTo>
                    <a:pt x="991488" y="511301"/>
                  </a:lnTo>
                  <a:lnTo>
                    <a:pt x="986155" y="551052"/>
                  </a:lnTo>
                  <a:lnTo>
                    <a:pt x="977392" y="589533"/>
                  </a:lnTo>
                  <a:lnTo>
                    <a:pt x="965326" y="626871"/>
                  </a:lnTo>
                  <a:lnTo>
                    <a:pt x="950213" y="662813"/>
                  </a:lnTo>
                  <a:lnTo>
                    <a:pt x="932180" y="697229"/>
                  </a:lnTo>
                  <a:lnTo>
                    <a:pt x="911351" y="729995"/>
                  </a:lnTo>
                  <a:lnTo>
                    <a:pt x="887730" y="760857"/>
                  </a:lnTo>
                  <a:lnTo>
                    <a:pt x="861695" y="789939"/>
                  </a:lnTo>
                  <a:lnTo>
                    <a:pt x="833374" y="816737"/>
                  </a:lnTo>
                  <a:lnTo>
                    <a:pt x="802767" y="841501"/>
                  </a:lnTo>
                  <a:lnTo>
                    <a:pt x="770127" y="863726"/>
                  </a:lnTo>
                  <a:lnTo>
                    <a:pt x="735584" y="883538"/>
                  </a:lnTo>
                  <a:lnTo>
                    <a:pt x="699262" y="900683"/>
                  </a:lnTo>
                  <a:lnTo>
                    <a:pt x="661415" y="915034"/>
                  </a:lnTo>
                  <a:lnTo>
                    <a:pt x="622046" y="926338"/>
                  </a:lnTo>
                  <a:lnTo>
                    <a:pt x="581406" y="934719"/>
                  </a:lnTo>
                  <a:lnTo>
                    <a:pt x="539496" y="939800"/>
                  </a:lnTo>
                  <a:lnTo>
                    <a:pt x="496697" y="941451"/>
                  </a:lnTo>
                  <a:lnTo>
                    <a:pt x="453771" y="939800"/>
                  </a:lnTo>
                  <a:lnTo>
                    <a:pt x="411988" y="934719"/>
                  </a:lnTo>
                  <a:lnTo>
                    <a:pt x="371221" y="926338"/>
                  </a:lnTo>
                  <a:lnTo>
                    <a:pt x="331850" y="915034"/>
                  </a:lnTo>
                  <a:lnTo>
                    <a:pt x="294005" y="900683"/>
                  </a:lnTo>
                  <a:lnTo>
                    <a:pt x="257683" y="883538"/>
                  </a:lnTo>
                  <a:lnTo>
                    <a:pt x="223138" y="863726"/>
                  </a:lnTo>
                  <a:lnTo>
                    <a:pt x="190500" y="841501"/>
                  </a:lnTo>
                  <a:lnTo>
                    <a:pt x="159893" y="816737"/>
                  </a:lnTo>
                  <a:lnTo>
                    <a:pt x="131572" y="789939"/>
                  </a:lnTo>
                  <a:lnTo>
                    <a:pt x="105537" y="760857"/>
                  </a:lnTo>
                  <a:lnTo>
                    <a:pt x="82042" y="729995"/>
                  </a:lnTo>
                  <a:lnTo>
                    <a:pt x="61213" y="697229"/>
                  </a:lnTo>
                  <a:lnTo>
                    <a:pt x="43052" y="662813"/>
                  </a:lnTo>
                  <a:lnTo>
                    <a:pt x="27939" y="626871"/>
                  </a:lnTo>
                  <a:lnTo>
                    <a:pt x="16001" y="589533"/>
                  </a:lnTo>
                  <a:lnTo>
                    <a:pt x="7238" y="551052"/>
                  </a:lnTo>
                  <a:lnTo>
                    <a:pt x="1777" y="511301"/>
                  </a:lnTo>
                  <a:lnTo>
                    <a:pt x="0" y="470788"/>
                  </a:lnTo>
                  <a:close/>
                </a:path>
              </a:pathLst>
            </a:custGeom>
            <a:ln w="190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881627" y="3742944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810" y="0"/>
                  </a:moveTo>
                  <a:lnTo>
                    <a:pt x="0" y="0"/>
                  </a:lnTo>
                  <a:lnTo>
                    <a:pt x="762" y="2412"/>
                  </a:lnTo>
                  <a:lnTo>
                    <a:pt x="3048" y="2412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4636" y="3195827"/>
              <a:ext cx="650748" cy="65074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2584195" y="3580002"/>
            <a:ext cx="2921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b="1">
                <a:solidFill>
                  <a:srgbClr val="538235"/>
                </a:solidFill>
                <a:latin typeface="Calibri"/>
                <a:cs typeface="Calibri"/>
              </a:rPr>
              <a:t>STEP</a:t>
            </a:r>
            <a:r>
              <a:rPr dirty="0" sz="800" spc="-65" b="1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538235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61357" y="3580002"/>
            <a:ext cx="2921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b="1">
                <a:solidFill>
                  <a:srgbClr val="538235"/>
                </a:solidFill>
                <a:latin typeface="Calibri"/>
                <a:cs typeface="Calibri"/>
              </a:rPr>
              <a:t>STEP</a:t>
            </a:r>
            <a:r>
              <a:rPr dirty="0" sz="800" spc="-65" b="1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538235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17563" y="3580002"/>
            <a:ext cx="2921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b="1">
                <a:solidFill>
                  <a:srgbClr val="538235"/>
                </a:solidFill>
                <a:latin typeface="Calibri"/>
                <a:cs typeface="Calibri"/>
              </a:rPr>
              <a:t>STEP</a:t>
            </a:r>
            <a:r>
              <a:rPr dirty="0" sz="800" spc="-65" b="1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538235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49257" y="3580002"/>
            <a:ext cx="2921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 b="1">
                <a:solidFill>
                  <a:srgbClr val="538235"/>
                </a:solidFill>
                <a:latin typeface="Calibri"/>
                <a:cs typeface="Calibri"/>
              </a:rPr>
              <a:t>STEP</a:t>
            </a:r>
            <a:r>
              <a:rPr dirty="0" sz="800" spc="-65" b="1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538235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45922" y="2348229"/>
            <a:ext cx="1664335" cy="1727200"/>
            <a:chOff x="645922" y="2348229"/>
            <a:chExt cx="1664335" cy="172720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5294" y="3657345"/>
              <a:ext cx="184912" cy="17729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922" y="2348229"/>
              <a:ext cx="180340" cy="18034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150620" y="2973323"/>
              <a:ext cx="1155065" cy="1097280"/>
            </a:xfrm>
            <a:custGeom>
              <a:avLst/>
              <a:gdLst/>
              <a:ahLst/>
              <a:cxnLst/>
              <a:rect l="l" t="t" r="r" b="b"/>
              <a:pathLst>
                <a:path w="1155064" h="1097279">
                  <a:moveTo>
                    <a:pt x="577342" y="0"/>
                  </a:moveTo>
                  <a:lnTo>
                    <a:pt x="534288" y="1524"/>
                  </a:lnTo>
                  <a:lnTo>
                    <a:pt x="491998" y="5968"/>
                  </a:lnTo>
                  <a:lnTo>
                    <a:pt x="450850" y="13208"/>
                  </a:lnTo>
                  <a:lnTo>
                    <a:pt x="410591" y="23240"/>
                  </a:lnTo>
                  <a:lnTo>
                    <a:pt x="371602" y="35813"/>
                  </a:lnTo>
                  <a:lnTo>
                    <a:pt x="334010" y="50926"/>
                  </a:lnTo>
                  <a:lnTo>
                    <a:pt x="297688" y="68579"/>
                  </a:lnTo>
                  <a:lnTo>
                    <a:pt x="263017" y="88391"/>
                  </a:lnTo>
                  <a:lnTo>
                    <a:pt x="229870" y="110362"/>
                  </a:lnTo>
                  <a:lnTo>
                    <a:pt x="198628" y="134492"/>
                  </a:lnTo>
                  <a:lnTo>
                    <a:pt x="169164" y="160654"/>
                  </a:lnTo>
                  <a:lnTo>
                    <a:pt x="141605" y="188722"/>
                  </a:lnTo>
                  <a:lnTo>
                    <a:pt x="116217" y="218439"/>
                  </a:lnTo>
                  <a:lnTo>
                    <a:pt x="93014" y="249809"/>
                  </a:lnTo>
                  <a:lnTo>
                    <a:pt x="72123" y="282828"/>
                  </a:lnTo>
                  <a:lnTo>
                    <a:pt x="53657" y="317246"/>
                  </a:lnTo>
                  <a:lnTo>
                    <a:pt x="37731" y="353060"/>
                  </a:lnTo>
                  <a:lnTo>
                    <a:pt x="24447" y="390143"/>
                  </a:lnTo>
                  <a:lnTo>
                    <a:pt x="13919" y="428371"/>
                  </a:lnTo>
                  <a:lnTo>
                    <a:pt x="6261" y="467487"/>
                  </a:lnTo>
                  <a:lnTo>
                    <a:pt x="1587" y="507618"/>
                  </a:lnTo>
                  <a:lnTo>
                    <a:pt x="0" y="548639"/>
                  </a:lnTo>
                  <a:lnTo>
                    <a:pt x="1587" y="589534"/>
                  </a:lnTo>
                  <a:lnTo>
                    <a:pt x="6261" y="629665"/>
                  </a:lnTo>
                  <a:lnTo>
                    <a:pt x="13919" y="668908"/>
                  </a:lnTo>
                  <a:lnTo>
                    <a:pt x="24447" y="707008"/>
                  </a:lnTo>
                  <a:lnTo>
                    <a:pt x="37731" y="744093"/>
                  </a:lnTo>
                  <a:lnTo>
                    <a:pt x="53657" y="779907"/>
                  </a:lnTo>
                  <a:lnTo>
                    <a:pt x="72123" y="814324"/>
                  </a:lnTo>
                  <a:lnTo>
                    <a:pt x="93014" y="847344"/>
                  </a:lnTo>
                  <a:lnTo>
                    <a:pt x="116217" y="878713"/>
                  </a:lnTo>
                  <a:lnTo>
                    <a:pt x="141605" y="908557"/>
                  </a:lnTo>
                  <a:lnTo>
                    <a:pt x="169164" y="936498"/>
                  </a:lnTo>
                  <a:lnTo>
                    <a:pt x="198628" y="962659"/>
                  </a:lnTo>
                  <a:lnTo>
                    <a:pt x="229870" y="986789"/>
                  </a:lnTo>
                  <a:lnTo>
                    <a:pt x="263017" y="1008761"/>
                  </a:lnTo>
                  <a:lnTo>
                    <a:pt x="297688" y="1028700"/>
                  </a:lnTo>
                  <a:lnTo>
                    <a:pt x="334010" y="1046226"/>
                  </a:lnTo>
                  <a:lnTo>
                    <a:pt x="371602" y="1061339"/>
                  </a:lnTo>
                  <a:lnTo>
                    <a:pt x="410591" y="1073912"/>
                  </a:lnTo>
                  <a:lnTo>
                    <a:pt x="450850" y="1083945"/>
                  </a:lnTo>
                  <a:lnTo>
                    <a:pt x="491998" y="1091183"/>
                  </a:lnTo>
                  <a:lnTo>
                    <a:pt x="534288" y="1095628"/>
                  </a:lnTo>
                  <a:lnTo>
                    <a:pt x="577342" y="1097152"/>
                  </a:lnTo>
                  <a:lnTo>
                    <a:pt x="620522" y="1095628"/>
                  </a:lnTo>
                  <a:lnTo>
                    <a:pt x="662686" y="1091183"/>
                  </a:lnTo>
                  <a:lnTo>
                    <a:pt x="703961" y="1083945"/>
                  </a:lnTo>
                  <a:lnTo>
                    <a:pt x="744093" y="1073912"/>
                  </a:lnTo>
                  <a:lnTo>
                    <a:pt x="783082" y="1061339"/>
                  </a:lnTo>
                  <a:lnTo>
                    <a:pt x="820801" y="1046226"/>
                  </a:lnTo>
                  <a:lnTo>
                    <a:pt x="856996" y="1028700"/>
                  </a:lnTo>
                  <a:lnTo>
                    <a:pt x="891794" y="1008761"/>
                  </a:lnTo>
                  <a:lnTo>
                    <a:pt x="924813" y="986789"/>
                  </a:lnTo>
                  <a:lnTo>
                    <a:pt x="956182" y="962659"/>
                  </a:lnTo>
                  <a:lnTo>
                    <a:pt x="985647" y="936498"/>
                  </a:lnTo>
                  <a:lnTo>
                    <a:pt x="1013079" y="908557"/>
                  </a:lnTo>
                  <a:lnTo>
                    <a:pt x="1038479" y="878713"/>
                  </a:lnTo>
                  <a:lnTo>
                    <a:pt x="1061720" y="847344"/>
                  </a:lnTo>
                  <a:lnTo>
                    <a:pt x="1082675" y="814324"/>
                  </a:lnTo>
                  <a:lnTo>
                    <a:pt x="1101090" y="779907"/>
                  </a:lnTo>
                  <a:lnTo>
                    <a:pt x="1116965" y="744093"/>
                  </a:lnTo>
                  <a:lnTo>
                    <a:pt x="1130300" y="707008"/>
                  </a:lnTo>
                  <a:lnTo>
                    <a:pt x="1140841" y="668908"/>
                  </a:lnTo>
                  <a:lnTo>
                    <a:pt x="1148461" y="629665"/>
                  </a:lnTo>
                  <a:lnTo>
                    <a:pt x="1153160" y="589534"/>
                  </a:lnTo>
                  <a:lnTo>
                    <a:pt x="1154811" y="548639"/>
                  </a:lnTo>
                  <a:lnTo>
                    <a:pt x="1153160" y="507618"/>
                  </a:lnTo>
                  <a:lnTo>
                    <a:pt x="1148461" y="467487"/>
                  </a:lnTo>
                  <a:lnTo>
                    <a:pt x="1140841" y="428371"/>
                  </a:lnTo>
                  <a:lnTo>
                    <a:pt x="1130300" y="390143"/>
                  </a:lnTo>
                  <a:lnTo>
                    <a:pt x="1116965" y="353060"/>
                  </a:lnTo>
                  <a:lnTo>
                    <a:pt x="1101090" y="317246"/>
                  </a:lnTo>
                  <a:lnTo>
                    <a:pt x="1082675" y="282828"/>
                  </a:lnTo>
                  <a:lnTo>
                    <a:pt x="1061720" y="249809"/>
                  </a:lnTo>
                  <a:lnTo>
                    <a:pt x="1038479" y="218439"/>
                  </a:lnTo>
                  <a:lnTo>
                    <a:pt x="1013079" y="188722"/>
                  </a:lnTo>
                  <a:lnTo>
                    <a:pt x="985647" y="160654"/>
                  </a:lnTo>
                  <a:lnTo>
                    <a:pt x="956182" y="134492"/>
                  </a:lnTo>
                  <a:lnTo>
                    <a:pt x="924813" y="110362"/>
                  </a:lnTo>
                  <a:lnTo>
                    <a:pt x="891794" y="88391"/>
                  </a:lnTo>
                  <a:lnTo>
                    <a:pt x="856996" y="68579"/>
                  </a:lnTo>
                  <a:lnTo>
                    <a:pt x="820801" y="50926"/>
                  </a:lnTo>
                  <a:lnTo>
                    <a:pt x="783082" y="35813"/>
                  </a:lnTo>
                  <a:lnTo>
                    <a:pt x="744093" y="23240"/>
                  </a:lnTo>
                  <a:lnTo>
                    <a:pt x="703961" y="13208"/>
                  </a:lnTo>
                  <a:lnTo>
                    <a:pt x="662686" y="5968"/>
                  </a:lnTo>
                  <a:lnTo>
                    <a:pt x="620522" y="1524"/>
                  </a:lnTo>
                  <a:lnTo>
                    <a:pt x="57734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150620" y="2973323"/>
              <a:ext cx="1155065" cy="1097280"/>
            </a:xfrm>
            <a:custGeom>
              <a:avLst/>
              <a:gdLst/>
              <a:ahLst/>
              <a:cxnLst/>
              <a:rect l="l" t="t" r="r" b="b"/>
              <a:pathLst>
                <a:path w="1155064" h="1097279">
                  <a:moveTo>
                    <a:pt x="577342" y="0"/>
                  </a:moveTo>
                  <a:lnTo>
                    <a:pt x="534288" y="1524"/>
                  </a:lnTo>
                  <a:lnTo>
                    <a:pt x="491998" y="5968"/>
                  </a:lnTo>
                  <a:lnTo>
                    <a:pt x="450850" y="13208"/>
                  </a:lnTo>
                  <a:lnTo>
                    <a:pt x="410591" y="23240"/>
                  </a:lnTo>
                  <a:lnTo>
                    <a:pt x="371602" y="35813"/>
                  </a:lnTo>
                  <a:lnTo>
                    <a:pt x="334010" y="50926"/>
                  </a:lnTo>
                  <a:lnTo>
                    <a:pt x="297688" y="68579"/>
                  </a:lnTo>
                  <a:lnTo>
                    <a:pt x="263017" y="88391"/>
                  </a:lnTo>
                  <a:lnTo>
                    <a:pt x="229870" y="110362"/>
                  </a:lnTo>
                  <a:lnTo>
                    <a:pt x="198628" y="134492"/>
                  </a:lnTo>
                  <a:lnTo>
                    <a:pt x="169164" y="160654"/>
                  </a:lnTo>
                  <a:lnTo>
                    <a:pt x="141605" y="188722"/>
                  </a:lnTo>
                  <a:lnTo>
                    <a:pt x="116217" y="218439"/>
                  </a:lnTo>
                  <a:lnTo>
                    <a:pt x="93014" y="249809"/>
                  </a:lnTo>
                  <a:lnTo>
                    <a:pt x="72123" y="282828"/>
                  </a:lnTo>
                  <a:lnTo>
                    <a:pt x="53657" y="317246"/>
                  </a:lnTo>
                  <a:lnTo>
                    <a:pt x="37731" y="353060"/>
                  </a:lnTo>
                  <a:lnTo>
                    <a:pt x="24447" y="390143"/>
                  </a:lnTo>
                  <a:lnTo>
                    <a:pt x="13919" y="428371"/>
                  </a:lnTo>
                  <a:lnTo>
                    <a:pt x="6261" y="467487"/>
                  </a:lnTo>
                  <a:lnTo>
                    <a:pt x="1587" y="507618"/>
                  </a:lnTo>
                  <a:lnTo>
                    <a:pt x="0" y="548639"/>
                  </a:lnTo>
                  <a:lnTo>
                    <a:pt x="1587" y="589534"/>
                  </a:lnTo>
                  <a:lnTo>
                    <a:pt x="6261" y="629665"/>
                  </a:lnTo>
                  <a:lnTo>
                    <a:pt x="13919" y="668908"/>
                  </a:lnTo>
                  <a:lnTo>
                    <a:pt x="24447" y="707008"/>
                  </a:lnTo>
                  <a:lnTo>
                    <a:pt x="37731" y="744093"/>
                  </a:lnTo>
                  <a:lnTo>
                    <a:pt x="53657" y="779907"/>
                  </a:lnTo>
                  <a:lnTo>
                    <a:pt x="72123" y="814324"/>
                  </a:lnTo>
                  <a:lnTo>
                    <a:pt x="93014" y="847344"/>
                  </a:lnTo>
                  <a:lnTo>
                    <a:pt x="116217" y="878713"/>
                  </a:lnTo>
                  <a:lnTo>
                    <a:pt x="141605" y="908557"/>
                  </a:lnTo>
                  <a:lnTo>
                    <a:pt x="169164" y="936498"/>
                  </a:lnTo>
                  <a:lnTo>
                    <a:pt x="198628" y="962659"/>
                  </a:lnTo>
                  <a:lnTo>
                    <a:pt x="229870" y="986789"/>
                  </a:lnTo>
                  <a:lnTo>
                    <a:pt x="263017" y="1008761"/>
                  </a:lnTo>
                  <a:lnTo>
                    <a:pt x="297688" y="1028700"/>
                  </a:lnTo>
                  <a:lnTo>
                    <a:pt x="334010" y="1046226"/>
                  </a:lnTo>
                  <a:lnTo>
                    <a:pt x="371602" y="1061339"/>
                  </a:lnTo>
                  <a:lnTo>
                    <a:pt x="410591" y="1073912"/>
                  </a:lnTo>
                  <a:lnTo>
                    <a:pt x="450850" y="1083945"/>
                  </a:lnTo>
                  <a:lnTo>
                    <a:pt x="491998" y="1091183"/>
                  </a:lnTo>
                  <a:lnTo>
                    <a:pt x="534288" y="1095628"/>
                  </a:lnTo>
                  <a:lnTo>
                    <a:pt x="577342" y="1097152"/>
                  </a:lnTo>
                  <a:lnTo>
                    <a:pt x="620522" y="1095628"/>
                  </a:lnTo>
                  <a:lnTo>
                    <a:pt x="662686" y="1091183"/>
                  </a:lnTo>
                  <a:lnTo>
                    <a:pt x="703961" y="1083945"/>
                  </a:lnTo>
                  <a:lnTo>
                    <a:pt x="744093" y="1073912"/>
                  </a:lnTo>
                  <a:lnTo>
                    <a:pt x="783082" y="1061339"/>
                  </a:lnTo>
                  <a:lnTo>
                    <a:pt x="820801" y="1046226"/>
                  </a:lnTo>
                  <a:lnTo>
                    <a:pt x="856996" y="1028700"/>
                  </a:lnTo>
                  <a:lnTo>
                    <a:pt x="891794" y="1008761"/>
                  </a:lnTo>
                  <a:lnTo>
                    <a:pt x="924813" y="986789"/>
                  </a:lnTo>
                  <a:lnTo>
                    <a:pt x="956182" y="962659"/>
                  </a:lnTo>
                  <a:lnTo>
                    <a:pt x="985647" y="936498"/>
                  </a:lnTo>
                  <a:lnTo>
                    <a:pt x="1013079" y="908557"/>
                  </a:lnTo>
                  <a:lnTo>
                    <a:pt x="1038479" y="878713"/>
                  </a:lnTo>
                  <a:lnTo>
                    <a:pt x="1061720" y="847344"/>
                  </a:lnTo>
                  <a:lnTo>
                    <a:pt x="1082675" y="814324"/>
                  </a:lnTo>
                  <a:lnTo>
                    <a:pt x="1101090" y="779907"/>
                  </a:lnTo>
                  <a:lnTo>
                    <a:pt x="1116965" y="744093"/>
                  </a:lnTo>
                  <a:lnTo>
                    <a:pt x="1130300" y="707008"/>
                  </a:lnTo>
                  <a:lnTo>
                    <a:pt x="1140841" y="668908"/>
                  </a:lnTo>
                  <a:lnTo>
                    <a:pt x="1148461" y="629665"/>
                  </a:lnTo>
                  <a:lnTo>
                    <a:pt x="1153160" y="589534"/>
                  </a:lnTo>
                  <a:lnTo>
                    <a:pt x="1154811" y="548639"/>
                  </a:lnTo>
                  <a:lnTo>
                    <a:pt x="1153160" y="507618"/>
                  </a:lnTo>
                  <a:lnTo>
                    <a:pt x="1148461" y="467487"/>
                  </a:lnTo>
                  <a:lnTo>
                    <a:pt x="1140841" y="428371"/>
                  </a:lnTo>
                  <a:lnTo>
                    <a:pt x="1130300" y="390143"/>
                  </a:lnTo>
                  <a:lnTo>
                    <a:pt x="1116965" y="353060"/>
                  </a:lnTo>
                  <a:lnTo>
                    <a:pt x="1101090" y="317246"/>
                  </a:lnTo>
                  <a:lnTo>
                    <a:pt x="1082675" y="282828"/>
                  </a:lnTo>
                  <a:lnTo>
                    <a:pt x="1061720" y="249809"/>
                  </a:lnTo>
                  <a:lnTo>
                    <a:pt x="1038479" y="218439"/>
                  </a:lnTo>
                  <a:lnTo>
                    <a:pt x="1013079" y="188722"/>
                  </a:lnTo>
                  <a:lnTo>
                    <a:pt x="985647" y="160654"/>
                  </a:lnTo>
                  <a:lnTo>
                    <a:pt x="956182" y="134492"/>
                  </a:lnTo>
                  <a:lnTo>
                    <a:pt x="924813" y="110362"/>
                  </a:lnTo>
                  <a:lnTo>
                    <a:pt x="891794" y="88391"/>
                  </a:lnTo>
                  <a:lnTo>
                    <a:pt x="856996" y="68579"/>
                  </a:lnTo>
                  <a:lnTo>
                    <a:pt x="820801" y="50926"/>
                  </a:lnTo>
                  <a:lnTo>
                    <a:pt x="783082" y="35813"/>
                  </a:lnTo>
                  <a:lnTo>
                    <a:pt x="744093" y="23240"/>
                  </a:lnTo>
                  <a:lnTo>
                    <a:pt x="703961" y="13208"/>
                  </a:lnTo>
                  <a:lnTo>
                    <a:pt x="662686" y="5968"/>
                  </a:lnTo>
                  <a:lnTo>
                    <a:pt x="620522" y="1524"/>
                  </a:lnTo>
                  <a:lnTo>
                    <a:pt x="577342" y="0"/>
                  </a:lnTo>
                  <a:close/>
                </a:path>
              </a:pathLst>
            </a:custGeom>
            <a:ln w="9525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235963" y="3061715"/>
              <a:ext cx="993775" cy="941705"/>
            </a:xfrm>
            <a:custGeom>
              <a:avLst/>
              <a:gdLst/>
              <a:ahLst/>
              <a:cxnLst/>
              <a:rect l="l" t="t" r="r" b="b"/>
              <a:pathLst>
                <a:path w="993775" h="941704">
                  <a:moveTo>
                    <a:pt x="496697" y="0"/>
                  </a:moveTo>
                  <a:lnTo>
                    <a:pt x="453771" y="1778"/>
                  </a:lnTo>
                  <a:lnTo>
                    <a:pt x="411988" y="6858"/>
                  </a:lnTo>
                  <a:lnTo>
                    <a:pt x="371221" y="15112"/>
                  </a:lnTo>
                  <a:lnTo>
                    <a:pt x="331851" y="26543"/>
                  </a:lnTo>
                  <a:lnTo>
                    <a:pt x="294005" y="40894"/>
                  </a:lnTo>
                  <a:lnTo>
                    <a:pt x="257683" y="58038"/>
                  </a:lnTo>
                  <a:lnTo>
                    <a:pt x="223139" y="77724"/>
                  </a:lnTo>
                  <a:lnTo>
                    <a:pt x="190500" y="100075"/>
                  </a:lnTo>
                  <a:lnTo>
                    <a:pt x="159893" y="124713"/>
                  </a:lnTo>
                  <a:lnTo>
                    <a:pt x="131572" y="151637"/>
                  </a:lnTo>
                  <a:lnTo>
                    <a:pt x="105537" y="180594"/>
                  </a:lnTo>
                  <a:lnTo>
                    <a:pt x="82042" y="211582"/>
                  </a:lnTo>
                  <a:lnTo>
                    <a:pt x="61214" y="244221"/>
                  </a:lnTo>
                  <a:lnTo>
                    <a:pt x="43053" y="278638"/>
                  </a:lnTo>
                  <a:lnTo>
                    <a:pt x="27978" y="314579"/>
                  </a:lnTo>
                  <a:lnTo>
                    <a:pt x="15963" y="351917"/>
                  </a:lnTo>
                  <a:lnTo>
                    <a:pt x="7188" y="390525"/>
                  </a:lnTo>
                  <a:lnTo>
                    <a:pt x="1828" y="430149"/>
                  </a:lnTo>
                  <a:lnTo>
                    <a:pt x="0" y="470788"/>
                  </a:lnTo>
                  <a:lnTo>
                    <a:pt x="1828" y="511301"/>
                  </a:lnTo>
                  <a:lnTo>
                    <a:pt x="7188" y="551053"/>
                  </a:lnTo>
                  <a:lnTo>
                    <a:pt x="15963" y="589534"/>
                  </a:lnTo>
                  <a:lnTo>
                    <a:pt x="27978" y="626872"/>
                  </a:lnTo>
                  <a:lnTo>
                    <a:pt x="43053" y="662813"/>
                  </a:lnTo>
                  <a:lnTo>
                    <a:pt x="61214" y="697230"/>
                  </a:lnTo>
                  <a:lnTo>
                    <a:pt x="82042" y="729996"/>
                  </a:lnTo>
                  <a:lnTo>
                    <a:pt x="105537" y="760857"/>
                  </a:lnTo>
                  <a:lnTo>
                    <a:pt x="131572" y="789940"/>
                  </a:lnTo>
                  <a:lnTo>
                    <a:pt x="159893" y="816737"/>
                  </a:lnTo>
                  <a:lnTo>
                    <a:pt x="190500" y="841502"/>
                  </a:lnTo>
                  <a:lnTo>
                    <a:pt x="223139" y="863727"/>
                  </a:lnTo>
                  <a:lnTo>
                    <a:pt x="257683" y="883539"/>
                  </a:lnTo>
                  <a:lnTo>
                    <a:pt x="294005" y="900684"/>
                  </a:lnTo>
                  <a:lnTo>
                    <a:pt x="331851" y="915035"/>
                  </a:lnTo>
                  <a:lnTo>
                    <a:pt x="371221" y="926338"/>
                  </a:lnTo>
                  <a:lnTo>
                    <a:pt x="411988" y="934720"/>
                  </a:lnTo>
                  <a:lnTo>
                    <a:pt x="453771" y="939800"/>
                  </a:lnTo>
                  <a:lnTo>
                    <a:pt x="496697" y="941451"/>
                  </a:lnTo>
                  <a:lnTo>
                    <a:pt x="539496" y="939800"/>
                  </a:lnTo>
                  <a:lnTo>
                    <a:pt x="581406" y="934720"/>
                  </a:lnTo>
                  <a:lnTo>
                    <a:pt x="622046" y="926338"/>
                  </a:lnTo>
                  <a:lnTo>
                    <a:pt x="661416" y="915035"/>
                  </a:lnTo>
                  <a:lnTo>
                    <a:pt x="699262" y="900684"/>
                  </a:lnTo>
                  <a:lnTo>
                    <a:pt x="735584" y="883539"/>
                  </a:lnTo>
                  <a:lnTo>
                    <a:pt x="770128" y="863727"/>
                  </a:lnTo>
                  <a:lnTo>
                    <a:pt x="802767" y="841502"/>
                  </a:lnTo>
                  <a:lnTo>
                    <a:pt x="833374" y="816737"/>
                  </a:lnTo>
                  <a:lnTo>
                    <a:pt x="861694" y="789940"/>
                  </a:lnTo>
                  <a:lnTo>
                    <a:pt x="887730" y="760857"/>
                  </a:lnTo>
                  <a:lnTo>
                    <a:pt x="911352" y="729996"/>
                  </a:lnTo>
                  <a:lnTo>
                    <a:pt x="932180" y="697230"/>
                  </a:lnTo>
                  <a:lnTo>
                    <a:pt x="950213" y="662813"/>
                  </a:lnTo>
                  <a:lnTo>
                    <a:pt x="965327" y="626872"/>
                  </a:lnTo>
                  <a:lnTo>
                    <a:pt x="977392" y="589534"/>
                  </a:lnTo>
                  <a:lnTo>
                    <a:pt x="986155" y="551053"/>
                  </a:lnTo>
                  <a:lnTo>
                    <a:pt x="991488" y="511301"/>
                  </a:lnTo>
                  <a:lnTo>
                    <a:pt x="993267" y="470788"/>
                  </a:lnTo>
                  <a:lnTo>
                    <a:pt x="991488" y="430149"/>
                  </a:lnTo>
                  <a:lnTo>
                    <a:pt x="986155" y="390525"/>
                  </a:lnTo>
                  <a:lnTo>
                    <a:pt x="977392" y="351917"/>
                  </a:lnTo>
                  <a:lnTo>
                    <a:pt x="965327" y="314579"/>
                  </a:lnTo>
                  <a:lnTo>
                    <a:pt x="950213" y="278638"/>
                  </a:lnTo>
                  <a:lnTo>
                    <a:pt x="932180" y="244221"/>
                  </a:lnTo>
                  <a:lnTo>
                    <a:pt x="911352" y="211582"/>
                  </a:lnTo>
                  <a:lnTo>
                    <a:pt x="887730" y="180594"/>
                  </a:lnTo>
                  <a:lnTo>
                    <a:pt x="861694" y="151637"/>
                  </a:lnTo>
                  <a:lnTo>
                    <a:pt x="833374" y="124713"/>
                  </a:lnTo>
                  <a:lnTo>
                    <a:pt x="802767" y="100075"/>
                  </a:lnTo>
                  <a:lnTo>
                    <a:pt x="770128" y="77724"/>
                  </a:lnTo>
                  <a:lnTo>
                    <a:pt x="735584" y="58038"/>
                  </a:lnTo>
                  <a:lnTo>
                    <a:pt x="699262" y="40894"/>
                  </a:lnTo>
                  <a:lnTo>
                    <a:pt x="661416" y="26543"/>
                  </a:lnTo>
                  <a:lnTo>
                    <a:pt x="622046" y="15112"/>
                  </a:lnTo>
                  <a:lnTo>
                    <a:pt x="581406" y="6858"/>
                  </a:lnTo>
                  <a:lnTo>
                    <a:pt x="539496" y="1778"/>
                  </a:lnTo>
                  <a:lnTo>
                    <a:pt x="496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235963" y="3061715"/>
              <a:ext cx="993775" cy="941705"/>
            </a:xfrm>
            <a:custGeom>
              <a:avLst/>
              <a:gdLst/>
              <a:ahLst/>
              <a:cxnLst/>
              <a:rect l="l" t="t" r="r" b="b"/>
              <a:pathLst>
                <a:path w="993775" h="941704">
                  <a:moveTo>
                    <a:pt x="0" y="470788"/>
                  </a:moveTo>
                  <a:lnTo>
                    <a:pt x="1828" y="430149"/>
                  </a:lnTo>
                  <a:lnTo>
                    <a:pt x="7188" y="390525"/>
                  </a:lnTo>
                  <a:lnTo>
                    <a:pt x="15963" y="351917"/>
                  </a:lnTo>
                  <a:lnTo>
                    <a:pt x="27978" y="314579"/>
                  </a:lnTo>
                  <a:lnTo>
                    <a:pt x="43053" y="278638"/>
                  </a:lnTo>
                  <a:lnTo>
                    <a:pt x="61214" y="244221"/>
                  </a:lnTo>
                  <a:lnTo>
                    <a:pt x="82042" y="211582"/>
                  </a:lnTo>
                  <a:lnTo>
                    <a:pt x="105537" y="180594"/>
                  </a:lnTo>
                  <a:lnTo>
                    <a:pt x="131572" y="151637"/>
                  </a:lnTo>
                  <a:lnTo>
                    <a:pt x="159893" y="124713"/>
                  </a:lnTo>
                  <a:lnTo>
                    <a:pt x="190500" y="100075"/>
                  </a:lnTo>
                  <a:lnTo>
                    <a:pt x="223139" y="77724"/>
                  </a:lnTo>
                  <a:lnTo>
                    <a:pt x="257683" y="58038"/>
                  </a:lnTo>
                  <a:lnTo>
                    <a:pt x="294005" y="40894"/>
                  </a:lnTo>
                  <a:lnTo>
                    <a:pt x="331851" y="26543"/>
                  </a:lnTo>
                  <a:lnTo>
                    <a:pt x="371221" y="15112"/>
                  </a:lnTo>
                  <a:lnTo>
                    <a:pt x="411988" y="6858"/>
                  </a:lnTo>
                  <a:lnTo>
                    <a:pt x="453771" y="1778"/>
                  </a:lnTo>
                  <a:lnTo>
                    <a:pt x="496697" y="0"/>
                  </a:lnTo>
                  <a:lnTo>
                    <a:pt x="539496" y="1778"/>
                  </a:lnTo>
                  <a:lnTo>
                    <a:pt x="581406" y="6858"/>
                  </a:lnTo>
                  <a:lnTo>
                    <a:pt x="622046" y="15112"/>
                  </a:lnTo>
                  <a:lnTo>
                    <a:pt x="661416" y="26543"/>
                  </a:lnTo>
                  <a:lnTo>
                    <a:pt x="699262" y="40894"/>
                  </a:lnTo>
                  <a:lnTo>
                    <a:pt x="735584" y="58038"/>
                  </a:lnTo>
                  <a:lnTo>
                    <a:pt x="770128" y="77724"/>
                  </a:lnTo>
                  <a:lnTo>
                    <a:pt x="802767" y="100075"/>
                  </a:lnTo>
                  <a:lnTo>
                    <a:pt x="833374" y="124713"/>
                  </a:lnTo>
                  <a:lnTo>
                    <a:pt x="861694" y="151637"/>
                  </a:lnTo>
                  <a:lnTo>
                    <a:pt x="887730" y="180594"/>
                  </a:lnTo>
                  <a:lnTo>
                    <a:pt x="911352" y="211582"/>
                  </a:lnTo>
                  <a:lnTo>
                    <a:pt x="932180" y="244221"/>
                  </a:lnTo>
                  <a:lnTo>
                    <a:pt x="950213" y="278638"/>
                  </a:lnTo>
                  <a:lnTo>
                    <a:pt x="965327" y="314579"/>
                  </a:lnTo>
                  <a:lnTo>
                    <a:pt x="977392" y="351917"/>
                  </a:lnTo>
                  <a:lnTo>
                    <a:pt x="986155" y="390525"/>
                  </a:lnTo>
                  <a:lnTo>
                    <a:pt x="991488" y="430149"/>
                  </a:lnTo>
                  <a:lnTo>
                    <a:pt x="993267" y="470788"/>
                  </a:lnTo>
                  <a:lnTo>
                    <a:pt x="991488" y="511301"/>
                  </a:lnTo>
                  <a:lnTo>
                    <a:pt x="986155" y="551053"/>
                  </a:lnTo>
                  <a:lnTo>
                    <a:pt x="977392" y="589534"/>
                  </a:lnTo>
                  <a:lnTo>
                    <a:pt x="965327" y="626872"/>
                  </a:lnTo>
                  <a:lnTo>
                    <a:pt x="950213" y="662813"/>
                  </a:lnTo>
                  <a:lnTo>
                    <a:pt x="932180" y="697230"/>
                  </a:lnTo>
                  <a:lnTo>
                    <a:pt x="911352" y="729996"/>
                  </a:lnTo>
                  <a:lnTo>
                    <a:pt x="887730" y="760857"/>
                  </a:lnTo>
                  <a:lnTo>
                    <a:pt x="861694" y="789940"/>
                  </a:lnTo>
                  <a:lnTo>
                    <a:pt x="833374" y="816737"/>
                  </a:lnTo>
                  <a:lnTo>
                    <a:pt x="802767" y="841502"/>
                  </a:lnTo>
                  <a:lnTo>
                    <a:pt x="770128" y="863727"/>
                  </a:lnTo>
                  <a:lnTo>
                    <a:pt x="735584" y="883539"/>
                  </a:lnTo>
                  <a:lnTo>
                    <a:pt x="699262" y="900684"/>
                  </a:lnTo>
                  <a:lnTo>
                    <a:pt x="661416" y="915035"/>
                  </a:lnTo>
                  <a:lnTo>
                    <a:pt x="622046" y="926338"/>
                  </a:lnTo>
                  <a:lnTo>
                    <a:pt x="581406" y="934720"/>
                  </a:lnTo>
                  <a:lnTo>
                    <a:pt x="539496" y="939800"/>
                  </a:lnTo>
                  <a:lnTo>
                    <a:pt x="496697" y="941451"/>
                  </a:lnTo>
                  <a:lnTo>
                    <a:pt x="453771" y="939800"/>
                  </a:lnTo>
                  <a:lnTo>
                    <a:pt x="411988" y="934720"/>
                  </a:lnTo>
                  <a:lnTo>
                    <a:pt x="371221" y="926338"/>
                  </a:lnTo>
                  <a:lnTo>
                    <a:pt x="331851" y="915035"/>
                  </a:lnTo>
                  <a:lnTo>
                    <a:pt x="294005" y="900684"/>
                  </a:lnTo>
                  <a:lnTo>
                    <a:pt x="257683" y="883539"/>
                  </a:lnTo>
                  <a:lnTo>
                    <a:pt x="223139" y="863727"/>
                  </a:lnTo>
                  <a:lnTo>
                    <a:pt x="190500" y="841502"/>
                  </a:lnTo>
                  <a:lnTo>
                    <a:pt x="159893" y="816737"/>
                  </a:lnTo>
                  <a:lnTo>
                    <a:pt x="131572" y="789940"/>
                  </a:lnTo>
                  <a:lnTo>
                    <a:pt x="105537" y="760857"/>
                  </a:lnTo>
                  <a:lnTo>
                    <a:pt x="82042" y="729996"/>
                  </a:lnTo>
                  <a:lnTo>
                    <a:pt x="61214" y="697230"/>
                  </a:lnTo>
                  <a:lnTo>
                    <a:pt x="43053" y="662813"/>
                  </a:lnTo>
                  <a:lnTo>
                    <a:pt x="27978" y="626872"/>
                  </a:lnTo>
                  <a:lnTo>
                    <a:pt x="15963" y="589534"/>
                  </a:lnTo>
                  <a:lnTo>
                    <a:pt x="7188" y="551053"/>
                  </a:lnTo>
                  <a:lnTo>
                    <a:pt x="1828" y="511301"/>
                  </a:lnTo>
                  <a:lnTo>
                    <a:pt x="0" y="470788"/>
                  </a:lnTo>
                  <a:close/>
                </a:path>
              </a:pathLst>
            </a:custGeom>
            <a:ln w="190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729739" y="3735323"/>
              <a:ext cx="3810" cy="1270"/>
            </a:xfrm>
            <a:custGeom>
              <a:avLst/>
              <a:gdLst/>
              <a:ahLst/>
              <a:cxnLst/>
              <a:rect l="l" t="t" r="r" b="b"/>
              <a:pathLst>
                <a:path w="3810" h="1270">
                  <a:moveTo>
                    <a:pt x="3810" y="0"/>
                  </a:moveTo>
                  <a:lnTo>
                    <a:pt x="0" y="0"/>
                  </a:lnTo>
                  <a:lnTo>
                    <a:pt x="762" y="1269"/>
                  </a:lnTo>
                  <a:lnTo>
                    <a:pt x="3048" y="1269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9031" y="3136391"/>
              <a:ext cx="681228" cy="681228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9756647" y="2206498"/>
            <a:ext cx="1156335" cy="1862455"/>
            <a:chOff x="9756647" y="2206498"/>
            <a:chExt cx="1156335" cy="1862455"/>
          </a:xfrm>
        </p:grpSpPr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74197" y="2206498"/>
              <a:ext cx="181863" cy="18033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756647" y="2971800"/>
              <a:ext cx="1156335" cy="1097280"/>
            </a:xfrm>
            <a:custGeom>
              <a:avLst/>
              <a:gdLst/>
              <a:ahLst/>
              <a:cxnLst/>
              <a:rect l="l" t="t" r="r" b="b"/>
              <a:pathLst>
                <a:path w="1156334" h="1097279">
                  <a:moveTo>
                    <a:pt x="578103" y="0"/>
                  </a:moveTo>
                  <a:lnTo>
                    <a:pt x="534924" y="1524"/>
                  </a:lnTo>
                  <a:lnTo>
                    <a:pt x="492759" y="5969"/>
                  </a:lnTo>
                  <a:lnTo>
                    <a:pt x="451357" y="13208"/>
                  </a:lnTo>
                  <a:lnTo>
                    <a:pt x="411099" y="23240"/>
                  </a:lnTo>
                  <a:lnTo>
                    <a:pt x="372109" y="35813"/>
                  </a:lnTo>
                  <a:lnTo>
                    <a:pt x="334391" y="50926"/>
                  </a:lnTo>
                  <a:lnTo>
                    <a:pt x="298069" y="68579"/>
                  </a:lnTo>
                  <a:lnTo>
                    <a:pt x="263271" y="88391"/>
                  </a:lnTo>
                  <a:lnTo>
                    <a:pt x="230250" y="110362"/>
                  </a:lnTo>
                  <a:lnTo>
                    <a:pt x="198881" y="134492"/>
                  </a:lnTo>
                  <a:lnTo>
                    <a:pt x="169291" y="160654"/>
                  </a:lnTo>
                  <a:lnTo>
                    <a:pt x="141858" y="188722"/>
                  </a:lnTo>
                  <a:lnTo>
                    <a:pt x="116331" y="218439"/>
                  </a:lnTo>
                  <a:lnTo>
                    <a:pt x="93091" y="249809"/>
                  </a:lnTo>
                  <a:lnTo>
                    <a:pt x="72262" y="282828"/>
                  </a:lnTo>
                  <a:lnTo>
                    <a:pt x="53721" y="317246"/>
                  </a:lnTo>
                  <a:lnTo>
                    <a:pt x="37719" y="353060"/>
                  </a:lnTo>
                  <a:lnTo>
                    <a:pt x="24510" y="390144"/>
                  </a:lnTo>
                  <a:lnTo>
                    <a:pt x="13970" y="428371"/>
                  </a:lnTo>
                  <a:lnTo>
                    <a:pt x="6223" y="467487"/>
                  </a:lnTo>
                  <a:lnTo>
                    <a:pt x="1524" y="507619"/>
                  </a:lnTo>
                  <a:lnTo>
                    <a:pt x="0" y="548639"/>
                  </a:lnTo>
                  <a:lnTo>
                    <a:pt x="1524" y="589534"/>
                  </a:lnTo>
                  <a:lnTo>
                    <a:pt x="6223" y="629665"/>
                  </a:lnTo>
                  <a:lnTo>
                    <a:pt x="13970" y="668908"/>
                  </a:lnTo>
                  <a:lnTo>
                    <a:pt x="24510" y="707008"/>
                  </a:lnTo>
                  <a:lnTo>
                    <a:pt x="37719" y="744093"/>
                  </a:lnTo>
                  <a:lnTo>
                    <a:pt x="53721" y="779907"/>
                  </a:lnTo>
                  <a:lnTo>
                    <a:pt x="72262" y="814324"/>
                  </a:lnTo>
                  <a:lnTo>
                    <a:pt x="93091" y="847344"/>
                  </a:lnTo>
                  <a:lnTo>
                    <a:pt x="116331" y="878713"/>
                  </a:lnTo>
                  <a:lnTo>
                    <a:pt x="141858" y="908557"/>
                  </a:lnTo>
                  <a:lnTo>
                    <a:pt x="169291" y="936498"/>
                  </a:lnTo>
                  <a:lnTo>
                    <a:pt x="198881" y="962660"/>
                  </a:lnTo>
                  <a:lnTo>
                    <a:pt x="230250" y="986789"/>
                  </a:lnTo>
                  <a:lnTo>
                    <a:pt x="263271" y="1008761"/>
                  </a:lnTo>
                  <a:lnTo>
                    <a:pt x="298069" y="1028700"/>
                  </a:lnTo>
                  <a:lnTo>
                    <a:pt x="334391" y="1046226"/>
                  </a:lnTo>
                  <a:lnTo>
                    <a:pt x="372109" y="1061339"/>
                  </a:lnTo>
                  <a:lnTo>
                    <a:pt x="411099" y="1073912"/>
                  </a:lnTo>
                  <a:lnTo>
                    <a:pt x="451357" y="1083945"/>
                  </a:lnTo>
                  <a:lnTo>
                    <a:pt x="492759" y="1091183"/>
                  </a:lnTo>
                  <a:lnTo>
                    <a:pt x="534924" y="1095629"/>
                  </a:lnTo>
                  <a:lnTo>
                    <a:pt x="578103" y="1097152"/>
                  </a:lnTo>
                  <a:lnTo>
                    <a:pt x="621283" y="1095629"/>
                  </a:lnTo>
                  <a:lnTo>
                    <a:pt x="663575" y="1091183"/>
                  </a:lnTo>
                  <a:lnTo>
                    <a:pt x="704850" y="1083945"/>
                  </a:lnTo>
                  <a:lnTo>
                    <a:pt x="745108" y="1073912"/>
                  </a:lnTo>
                  <a:lnTo>
                    <a:pt x="784098" y="1061339"/>
                  </a:lnTo>
                  <a:lnTo>
                    <a:pt x="821817" y="1046226"/>
                  </a:lnTo>
                  <a:lnTo>
                    <a:pt x="858138" y="1028700"/>
                  </a:lnTo>
                  <a:lnTo>
                    <a:pt x="892936" y="1008761"/>
                  </a:lnTo>
                  <a:lnTo>
                    <a:pt x="926083" y="986789"/>
                  </a:lnTo>
                  <a:lnTo>
                    <a:pt x="957452" y="962660"/>
                  </a:lnTo>
                  <a:lnTo>
                    <a:pt x="986917" y="936498"/>
                  </a:lnTo>
                  <a:lnTo>
                    <a:pt x="1014476" y="908557"/>
                  </a:lnTo>
                  <a:lnTo>
                    <a:pt x="1039876" y="878713"/>
                  </a:lnTo>
                  <a:lnTo>
                    <a:pt x="1063117" y="847344"/>
                  </a:lnTo>
                  <a:lnTo>
                    <a:pt x="1084072" y="814324"/>
                  </a:lnTo>
                  <a:lnTo>
                    <a:pt x="1102486" y="779907"/>
                  </a:lnTo>
                  <a:lnTo>
                    <a:pt x="1118488" y="744093"/>
                  </a:lnTo>
                  <a:lnTo>
                    <a:pt x="1131824" y="707008"/>
                  </a:lnTo>
                  <a:lnTo>
                    <a:pt x="1142365" y="668908"/>
                  </a:lnTo>
                  <a:lnTo>
                    <a:pt x="1149984" y="629665"/>
                  </a:lnTo>
                  <a:lnTo>
                    <a:pt x="1154683" y="589534"/>
                  </a:lnTo>
                  <a:lnTo>
                    <a:pt x="1156207" y="548639"/>
                  </a:lnTo>
                  <a:lnTo>
                    <a:pt x="1154683" y="507619"/>
                  </a:lnTo>
                  <a:lnTo>
                    <a:pt x="1149984" y="467487"/>
                  </a:lnTo>
                  <a:lnTo>
                    <a:pt x="1142365" y="428371"/>
                  </a:lnTo>
                  <a:lnTo>
                    <a:pt x="1131824" y="390144"/>
                  </a:lnTo>
                  <a:lnTo>
                    <a:pt x="1118488" y="353060"/>
                  </a:lnTo>
                  <a:lnTo>
                    <a:pt x="1102486" y="317246"/>
                  </a:lnTo>
                  <a:lnTo>
                    <a:pt x="1084072" y="282828"/>
                  </a:lnTo>
                  <a:lnTo>
                    <a:pt x="1063117" y="249809"/>
                  </a:lnTo>
                  <a:lnTo>
                    <a:pt x="1039876" y="218439"/>
                  </a:lnTo>
                  <a:lnTo>
                    <a:pt x="1014476" y="188722"/>
                  </a:lnTo>
                  <a:lnTo>
                    <a:pt x="986917" y="160654"/>
                  </a:lnTo>
                  <a:lnTo>
                    <a:pt x="957452" y="134492"/>
                  </a:lnTo>
                  <a:lnTo>
                    <a:pt x="926083" y="110362"/>
                  </a:lnTo>
                  <a:lnTo>
                    <a:pt x="892936" y="88391"/>
                  </a:lnTo>
                  <a:lnTo>
                    <a:pt x="858138" y="68579"/>
                  </a:lnTo>
                  <a:lnTo>
                    <a:pt x="821817" y="50926"/>
                  </a:lnTo>
                  <a:lnTo>
                    <a:pt x="784098" y="35813"/>
                  </a:lnTo>
                  <a:lnTo>
                    <a:pt x="745108" y="23240"/>
                  </a:lnTo>
                  <a:lnTo>
                    <a:pt x="704850" y="13208"/>
                  </a:lnTo>
                  <a:lnTo>
                    <a:pt x="663575" y="5969"/>
                  </a:lnTo>
                  <a:lnTo>
                    <a:pt x="621283" y="1524"/>
                  </a:lnTo>
                  <a:lnTo>
                    <a:pt x="57810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843515" y="3061716"/>
              <a:ext cx="993775" cy="941705"/>
            </a:xfrm>
            <a:custGeom>
              <a:avLst/>
              <a:gdLst/>
              <a:ahLst/>
              <a:cxnLst/>
              <a:rect l="l" t="t" r="r" b="b"/>
              <a:pathLst>
                <a:path w="993775" h="941704">
                  <a:moveTo>
                    <a:pt x="496697" y="0"/>
                  </a:moveTo>
                  <a:lnTo>
                    <a:pt x="453770" y="1778"/>
                  </a:lnTo>
                  <a:lnTo>
                    <a:pt x="411987" y="6858"/>
                  </a:lnTo>
                  <a:lnTo>
                    <a:pt x="371220" y="15112"/>
                  </a:lnTo>
                  <a:lnTo>
                    <a:pt x="331850" y="26543"/>
                  </a:lnTo>
                  <a:lnTo>
                    <a:pt x="294004" y="40894"/>
                  </a:lnTo>
                  <a:lnTo>
                    <a:pt x="257682" y="58038"/>
                  </a:lnTo>
                  <a:lnTo>
                    <a:pt x="223138" y="77724"/>
                  </a:lnTo>
                  <a:lnTo>
                    <a:pt x="190500" y="100075"/>
                  </a:lnTo>
                  <a:lnTo>
                    <a:pt x="159892" y="124713"/>
                  </a:lnTo>
                  <a:lnTo>
                    <a:pt x="131572" y="151637"/>
                  </a:lnTo>
                  <a:lnTo>
                    <a:pt x="105536" y="180594"/>
                  </a:lnTo>
                  <a:lnTo>
                    <a:pt x="82041" y="211582"/>
                  </a:lnTo>
                  <a:lnTo>
                    <a:pt x="61213" y="244221"/>
                  </a:lnTo>
                  <a:lnTo>
                    <a:pt x="43052" y="278638"/>
                  </a:lnTo>
                  <a:lnTo>
                    <a:pt x="27939" y="314579"/>
                  </a:lnTo>
                  <a:lnTo>
                    <a:pt x="16001" y="351917"/>
                  </a:lnTo>
                  <a:lnTo>
                    <a:pt x="7238" y="390525"/>
                  </a:lnTo>
                  <a:lnTo>
                    <a:pt x="1777" y="430149"/>
                  </a:lnTo>
                  <a:lnTo>
                    <a:pt x="0" y="470788"/>
                  </a:lnTo>
                  <a:lnTo>
                    <a:pt x="1777" y="511301"/>
                  </a:lnTo>
                  <a:lnTo>
                    <a:pt x="7238" y="551053"/>
                  </a:lnTo>
                  <a:lnTo>
                    <a:pt x="16001" y="589534"/>
                  </a:lnTo>
                  <a:lnTo>
                    <a:pt x="27939" y="626872"/>
                  </a:lnTo>
                  <a:lnTo>
                    <a:pt x="43052" y="662813"/>
                  </a:lnTo>
                  <a:lnTo>
                    <a:pt x="61213" y="697230"/>
                  </a:lnTo>
                  <a:lnTo>
                    <a:pt x="82041" y="729996"/>
                  </a:lnTo>
                  <a:lnTo>
                    <a:pt x="105536" y="760857"/>
                  </a:lnTo>
                  <a:lnTo>
                    <a:pt x="131572" y="789940"/>
                  </a:lnTo>
                  <a:lnTo>
                    <a:pt x="159892" y="816737"/>
                  </a:lnTo>
                  <a:lnTo>
                    <a:pt x="190500" y="841502"/>
                  </a:lnTo>
                  <a:lnTo>
                    <a:pt x="223138" y="863727"/>
                  </a:lnTo>
                  <a:lnTo>
                    <a:pt x="257682" y="883539"/>
                  </a:lnTo>
                  <a:lnTo>
                    <a:pt x="294004" y="900684"/>
                  </a:lnTo>
                  <a:lnTo>
                    <a:pt x="331850" y="915035"/>
                  </a:lnTo>
                  <a:lnTo>
                    <a:pt x="371220" y="926338"/>
                  </a:lnTo>
                  <a:lnTo>
                    <a:pt x="411987" y="934720"/>
                  </a:lnTo>
                  <a:lnTo>
                    <a:pt x="453770" y="939800"/>
                  </a:lnTo>
                  <a:lnTo>
                    <a:pt x="496697" y="941451"/>
                  </a:lnTo>
                  <a:lnTo>
                    <a:pt x="539495" y="939800"/>
                  </a:lnTo>
                  <a:lnTo>
                    <a:pt x="581405" y="934720"/>
                  </a:lnTo>
                  <a:lnTo>
                    <a:pt x="622045" y="926338"/>
                  </a:lnTo>
                  <a:lnTo>
                    <a:pt x="661415" y="915035"/>
                  </a:lnTo>
                  <a:lnTo>
                    <a:pt x="699261" y="900684"/>
                  </a:lnTo>
                  <a:lnTo>
                    <a:pt x="735583" y="883539"/>
                  </a:lnTo>
                  <a:lnTo>
                    <a:pt x="770127" y="863727"/>
                  </a:lnTo>
                  <a:lnTo>
                    <a:pt x="802766" y="841502"/>
                  </a:lnTo>
                  <a:lnTo>
                    <a:pt x="833374" y="816737"/>
                  </a:lnTo>
                  <a:lnTo>
                    <a:pt x="861694" y="789940"/>
                  </a:lnTo>
                  <a:lnTo>
                    <a:pt x="887729" y="760857"/>
                  </a:lnTo>
                  <a:lnTo>
                    <a:pt x="911351" y="729996"/>
                  </a:lnTo>
                  <a:lnTo>
                    <a:pt x="932179" y="697230"/>
                  </a:lnTo>
                  <a:lnTo>
                    <a:pt x="950213" y="662813"/>
                  </a:lnTo>
                  <a:lnTo>
                    <a:pt x="965326" y="626872"/>
                  </a:lnTo>
                  <a:lnTo>
                    <a:pt x="977391" y="589534"/>
                  </a:lnTo>
                  <a:lnTo>
                    <a:pt x="986154" y="551053"/>
                  </a:lnTo>
                  <a:lnTo>
                    <a:pt x="991488" y="511301"/>
                  </a:lnTo>
                  <a:lnTo>
                    <a:pt x="993266" y="470788"/>
                  </a:lnTo>
                  <a:lnTo>
                    <a:pt x="991488" y="430149"/>
                  </a:lnTo>
                  <a:lnTo>
                    <a:pt x="986154" y="390525"/>
                  </a:lnTo>
                  <a:lnTo>
                    <a:pt x="977391" y="351917"/>
                  </a:lnTo>
                  <a:lnTo>
                    <a:pt x="965326" y="314579"/>
                  </a:lnTo>
                  <a:lnTo>
                    <a:pt x="950213" y="278638"/>
                  </a:lnTo>
                  <a:lnTo>
                    <a:pt x="932179" y="244221"/>
                  </a:lnTo>
                  <a:lnTo>
                    <a:pt x="911351" y="211582"/>
                  </a:lnTo>
                  <a:lnTo>
                    <a:pt x="887729" y="180594"/>
                  </a:lnTo>
                  <a:lnTo>
                    <a:pt x="861694" y="151637"/>
                  </a:lnTo>
                  <a:lnTo>
                    <a:pt x="833374" y="124713"/>
                  </a:lnTo>
                  <a:lnTo>
                    <a:pt x="802766" y="100075"/>
                  </a:lnTo>
                  <a:lnTo>
                    <a:pt x="770127" y="77724"/>
                  </a:lnTo>
                  <a:lnTo>
                    <a:pt x="735583" y="58038"/>
                  </a:lnTo>
                  <a:lnTo>
                    <a:pt x="699261" y="40894"/>
                  </a:lnTo>
                  <a:lnTo>
                    <a:pt x="661415" y="26543"/>
                  </a:lnTo>
                  <a:lnTo>
                    <a:pt x="622045" y="15112"/>
                  </a:lnTo>
                  <a:lnTo>
                    <a:pt x="581405" y="6858"/>
                  </a:lnTo>
                  <a:lnTo>
                    <a:pt x="539495" y="1778"/>
                  </a:lnTo>
                  <a:lnTo>
                    <a:pt x="496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9843515" y="3061716"/>
              <a:ext cx="993775" cy="941705"/>
            </a:xfrm>
            <a:custGeom>
              <a:avLst/>
              <a:gdLst/>
              <a:ahLst/>
              <a:cxnLst/>
              <a:rect l="l" t="t" r="r" b="b"/>
              <a:pathLst>
                <a:path w="993775" h="941704">
                  <a:moveTo>
                    <a:pt x="0" y="470788"/>
                  </a:moveTo>
                  <a:lnTo>
                    <a:pt x="1777" y="430149"/>
                  </a:lnTo>
                  <a:lnTo>
                    <a:pt x="7238" y="390525"/>
                  </a:lnTo>
                  <a:lnTo>
                    <a:pt x="16001" y="351917"/>
                  </a:lnTo>
                  <a:lnTo>
                    <a:pt x="27939" y="314579"/>
                  </a:lnTo>
                  <a:lnTo>
                    <a:pt x="43052" y="278638"/>
                  </a:lnTo>
                  <a:lnTo>
                    <a:pt x="61213" y="244221"/>
                  </a:lnTo>
                  <a:lnTo>
                    <a:pt x="82041" y="211582"/>
                  </a:lnTo>
                  <a:lnTo>
                    <a:pt x="105536" y="180594"/>
                  </a:lnTo>
                  <a:lnTo>
                    <a:pt x="131572" y="151637"/>
                  </a:lnTo>
                  <a:lnTo>
                    <a:pt x="159892" y="124713"/>
                  </a:lnTo>
                  <a:lnTo>
                    <a:pt x="190500" y="100075"/>
                  </a:lnTo>
                  <a:lnTo>
                    <a:pt x="223138" y="77724"/>
                  </a:lnTo>
                  <a:lnTo>
                    <a:pt x="257682" y="58038"/>
                  </a:lnTo>
                  <a:lnTo>
                    <a:pt x="294004" y="40894"/>
                  </a:lnTo>
                  <a:lnTo>
                    <a:pt x="331850" y="26543"/>
                  </a:lnTo>
                  <a:lnTo>
                    <a:pt x="371220" y="15112"/>
                  </a:lnTo>
                  <a:lnTo>
                    <a:pt x="411987" y="6858"/>
                  </a:lnTo>
                  <a:lnTo>
                    <a:pt x="453770" y="1778"/>
                  </a:lnTo>
                  <a:lnTo>
                    <a:pt x="496697" y="0"/>
                  </a:lnTo>
                  <a:lnTo>
                    <a:pt x="539495" y="1778"/>
                  </a:lnTo>
                  <a:lnTo>
                    <a:pt x="581405" y="6858"/>
                  </a:lnTo>
                  <a:lnTo>
                    <a:pt x="622045" y="15112"/>
                  </a:lnTo>
                  <a:lnTo>
                    <a:pt x="661415" y="26543"/>
                  </a:lnTo>
                  <a:lnTo>
                    <a:pt x="699261" y="40894"/>
                  </a:lnTo>
                  <a:lnTo>
                    <a:pt x="735583" y="58038"/>
                  </a:lnTo>
                  <a:lnTo>
                    <a:pt x="770127" y="77724"/>
                  </a:lnTo>
                  <a:lnTo>
                    <a:pt x="802766" y="100075"/>
                  </a:lnTo>
                  <a:lnTo>
                    <a:pt x="833374" y="124713"/>
                  </a:lnTo>
                  <a:lnTo>
                    <a:pt x="861694" y="151637"/>
                  </a:lnTo>
                  <a:lnTo>
                    <a:pt x="887729" y="180594"/>
                  </a:lnTo>
                  <a:lnTo>
                    <a:pt x="911351" y="211582"/>
                  </a:lnTo>
                  <a:lnTo>
                    <a:pt x="932179" y="244221"/>
                  </a:lnTo>
                  <a:lnTo>
                    <a:pt x="950213" y="278638"/>
                  </a:lnTo>
                  <a:lnTo>
                    <a:pt x="965326" y="314579"/>
                  </a:lnTo>
                  <a:lnTo>
                    <a:pt x="977391" y="351917"/>
                  </a:lnTo>
                  <a:lnTo>
                    <a:pt x="986154" y="390525"/>
                  </a:lnTo>
                  <a:lnTo>
                    <a:pt x="991488" y="430149"/>
                  </a:lnTo>
                  <a:lnTo>
                    <a:pt x="993266" y="470788"/>
                  </a:lnTo>
                  <a:lnTo>
                    <a:pt x="991488" y="511301"/>
                  </a:lnTo>
                  <a:lnTo>
                    <a:pt x="986154" y="551053"/>
                  </a:lnTo>
                  <a:lnTo>
                    <a:pt x="977391" y="589534"/>
                  </a:lnTo>
                  <a:lnTo>
                    <a:pt x="965326" y="626872"/>
                  </a:lnTo>
                  <a:lnTo>
                    <a:pt x="950213" y="662813"/>
                  </a:lnTo>
                  <a:lnTo>
                    <a:pt x="932179" y="697230"/>
                  </a:lnTo>
                  <a:lnTo>
                    <a:pt x="911351" y="729996"/>
                  </a:lnTo>
                  <a:lnTo>
                    <a:pt x="887729" y="760857"/>
                  </a:lnTo>
                  <a:lnTo>
                    <a:pt x="861694" y="789940"/>
                  </a:lnTo>
                  <a:lnTo>
                    <a:pt x="833374" y="816737"/>
                  </a:lnTo>
                  <a:lnTo>
                    <a:pt x="802766" y="841502"/>
                  </a:lnTo>
                  <a:lnTo>
                    <a:pt x="770127" y="863727"/>
                  </a:lnTo>
                  <a:lnTo>
                    <a:pt x="735583" y="883539"/>
                  </a:lnTo>
                  <a:lnTo>
                    <a:pt x="699261" y="900684"/>
                  </a:lnTo>
                  <a:lnTo>
                    <a:pt x="661415" y="915035"/>
                  </a:lnTo>
                  <a:lnTo>
                    <a:pt x="622045" y="926338"/>
                  </a:lnTo>
                  <a:lnTo>
                    <a:pt x="581405" y="934720"/>
                  </a:lnTo>
                  <a:lnTo>
                    <a:pt x="539495" y="939800"/>
                  </a:lnTo>
                  <a:lnTo>
                    <a:pt x="496697" y="941451"/>
                  </a:lnTo>
                  <a:lnTo>
                    <a:pt x="453770" y="939800"/>
                  </a:lnTo>
                  <a:lnTo>
                    <a:pt x="411987" y="934720"/>
                  </a:lnTo>
                  <a:lnTo>
                    <a:pt x="371220" y="926338"/>
                  </a:lnTo>
                  <a:lnTo>
                    <a:pt x="331850" y="915035"/>
                  </a:lnTo>
                  <a:lnTo>
                    <a:pt x="294004" y="900684"/>
                  </a:lnTo>
                  <a:lnTo>
                    <a:pt x="257682" y="883539"/>
                  </a:lnTo>
                  <a:lnTo>
                    <a:pt x="223138" y="863727"/>
                  </a:lnTo>
                  <a:lnTo>
                    <a:pt x="190500" y="841502"/>
                  </a:lnTo>
                  <a:lnTo>
                    <a:pt x="159892" y="816737"/>
                  </a:lnTo>
                  <a:lnTo>
                    <a:pt x="131572" y="789940"/>
                  </a:lnTo>
                  <a:lnTo>
                    <a:pt x="105536" y="760857"/>
                  </a:lnTo>
                  <a:lnTo>
                    <a:pt x="82041" y="729996"/>
                  </a:lnTo>
                  <a:lnTo>
                    <a:pt x="61213" y="697230"/>
                  </a:lnTo>
                  <a:lnTo>
                    <a:pt x="43052" y="662813"/>
                  </a:lnTo>
                  <a:lnTo>
                    <a:pt x="27939" y="626872"/>
                  </a:lnTo>
                  <a:lnTo>
                    <a:pt x="16001" y="589534"/>
                  </a:lnTo>
                  <a:lnTo>
                    <a:pt x="7238" y="551053"/>
                  </a:lnTo>
                  <a:lnTo>
                    <a:pt x="1777" y="511301"/>
                  </a:lnTo>
                  <a:lnTo>
                    <a:pt x="0" y="470788"/>
                  </a:lnTo>
                  <a:close/>
                </a:path>
              </a:pathLst>
            </a:custGeom>
            <a:ln w="190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0336148" y="3733800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39">
                  <a:moveTo>
                    <a:pt x="4825" y="0"/>
                  </a:moveTo>
                  <a:lnTo>
                    <a:pt x="0" y="0"/>
                  </a:lnTo>
                  <a:lnTo>
                    <a:pt x="889" y="2412"/>
                  </a:lnTo>
                  <a:lnTo>
                    <a:pt x="3809" y="2412"/>
                  </a:lnTo>
                  <a:lnTo>
                    <a:pt x="4825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85831" y="3230880"/>
              <a:ext cx="551687" cy="553212"/>
            </a:xfrm>
            <a:prstGeom prst="rect">
              <a:avLst/>
            </a:prstGeom>
          </p:spPr>
        </p:pic>
      </p:grp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2545079" y="1571244"/>
          <a:ext cx="6842759" cy="1075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0864"/>
                <a:gridCol w="3017519"/>
                <a:gridCol w="1908175"/>
              </a:tblGrid>
              <a:tr h="1075690">
                <a:tc>
                  <a:txBody>
                    <a:bodyPr/>
                    <a:lstStyle/>
                    <a:p>
                      <a:pPr algn="ctr" marL="148590" marR="13271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dirty="0" sz="12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technology</a:t>
                      </a:r>
                      <a:r>
                        <a:rPr dirty="0"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standard</a:t>
                      </a:r>
                      <a:r>
                        <a:rPr dirty="0"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replace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all-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permissive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terms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conditions forms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14935"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10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100" spc="-25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Open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all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100" spc="-2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Revocable(By</a:t>
                      </a:r>
                      <a:r>
                        <a:rPr dirty="0" sz="10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Individuals)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G</a:t>
                      </a:r>
                      <a:r>
                        <a:rPr dirty="0" sz="1100" spc="-25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Granular</a:t>
                      </a:r>
                      <a:r>
                        <a:rPr dirty="0" sz="105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(Sets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access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time)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2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–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Auditable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100" spc="-1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0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Notice (Provides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0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parties)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100" spc="-1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Secure</a:t>
                      </a:r>
                      <a:r>
                        <a:rPr dirty="0" sz="10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(By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latin typeface="Calibri"/>
                          <a:cs typeface="Calibri"/>
                        </a:rPr>
                        <a:t>design)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4465" marR="1009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 spc="-1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Account-Aggregators</a:t>
                      </a:r>
                      <a:r>
                        <a:rPr dirty="0" sz="1200" spc="5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(AA)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like</a:t>
                      </a:r>
                      <a:r>
                        <a:rPr dirty="0"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Finfini</a:t>
                      </a:r>
                      <a:r>
                        <a:rPr dirty="0" sz="1200" spc="-25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7692B8"/>
                          </a:solidFill>
                          <a:latin typeface="Calibri"/>
                          <a:cs typeface="Calibri"/>
                        </a:rPr>
                        <a:t>Finantier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could</a:t>
                      </a:r>
                      <a:r>
                        <a:rPr dirty="0"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process</a:t>
                      </a:r>
                      <a:r>
                        <a:rPr dirty="0"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latin typeface="Calibri"/>
                          <a:cs typeface="Calibri"/>
                        </a:rPr>
                        <a:t>loan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dirty="0" sz="12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instead</a:t>
                      </a:r>
                      <a:r>
                        <a:rPr dirty="0"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multiple</a:t>
                      </a:r>
                      <a:r>
                        <a:rPr dirty="0" sz="12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banks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57150">
                      <a:solidFill>
                        <a:srgbClr val="FFFFFF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963269" y="4126738"/>
            <a:ext cx="15773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latin typeface="Calibri"/>
                <a:cs typeface="Calibri"/>
              </a:rPr>
              <a:t>DIGITAL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FOOTPRINTS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599803" y="4111244"/>
            <a:ext cx="141541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100"/>
              </a:spcBef>
            </a:pPr>
            <a:r>
              <a:rPr dirty="0" sz="1400" spc="-30" b="1">
                <a:latin typeface="Calibri"/>
                <a:cs typeface="Calibri"/>
              </a:rPr>
              <a:t>TAX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RETURNS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AND </a:t>
            </a:r>
            <a:r>
              <a:rPr dirty="0" sz="1400" b="1">
                <a:latin typeface="Calibri"/>
                <a:cs typeface="Calibri"/>
              </a:rPr>
              <a:t>BANK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STATEMENT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452871" y="2980944"/>
            <a:ext cx="1156335" cy="1097280"/>
            <a:chOff x="5452871" y="2980944"/>
            <a:chExt cx="1156335" cy="1097280"/>
          </a:xfrm>
        </p:grpSpPr>
        <p:sp>
          <p:nvSpPr>
            <p:cNvPr id="51" name="object 51"/>
            <p:cNvSpPr/>
            <p:nvPr/>
          </p:nvSpPr>
          <p:spPr>
            <a:xfrm>
              <a:off x="5452871" y="2980944"/>
              <a:ext cx="1156335" cy="1097280"/>
            </a:xfrm>
            <a:custGeom>
              <a:avLst/>
              <a:gdLst/>
              <a:ahLst/>
              <a:cxnLst/>
              <a:rect l="l" t="t" r="r" b="b"/>
              <a:pathLst>
                <a:path w="1156334" h="1097279">
                  <a:moveTo>
                    <a:pt x="578103" y="0"/>
                  </a:moveTo>
                  <a:lnTo>
                    <a:pt x="535051" y="1523"/>
                  </a:lnTo>
                  <a:lnTo>
                    <a:pt x="492760" y="5968"/>
                  </a:lnTo>
                  <a:lnTo>
                    <a:pt x="451357" y="13207"/>
                  </a:lnTo>
                  <a:lnTo>
                    <a:pt x="411099" y="23240"/>
                  </a:lnTo>
                  <a:lnTo>
                    <a:pt x="372110" y="35813"/>
                  </a:lnTo>
                  <a:lnTo>
                    <a:pt x="334390" y="50926"/>
                  </a:lnTo>
                  <a:lnTo>
                    <a:pt x="298068" y="68579"/>
                  </a:lnTo>
                  <a:lnTo>
                    <a:pt x="263398" y="88391"/>
                  </a:lnTo>
                  <a:lnTo>
                    <a:pt x="230250" y="110362"/>
                  </a:lnTo>
                  <a:lnTo>
                    <a:pt x="198881" y="134492"/>
                  </a:lnTo>
                  <a:lnTo>
                    <a:pt x="169290" y="160654"/>
                  </a:lnTo>
                  <a:lnTo>
                    <a:pt x="141858" y="188721"/>
                  </a:lnTo>
                  <a:lnTo>
                    <a:pt x="116331" y="218439"/>
                  </a:lnTo>
                  <a:lnTo>
                    <a:pt x="93090" y="249808"/>
                  </a:lnTo>
                  <a:lnTo>
                    <a:pt x="72262" y="282828"/>
                  </a:lnTo>
                  <a:lnTo>
                    <a:pt x="53720" y="317245"/>
                  </a:lnTo>
                  <a:lnTo>
                    <a:pt x="37718" y="353059"/>
                  </a:lnTo>
                  <a:lnTo>
                    <a:pt x="24511" y="390143"/>
                  </a:lnTo>
                  <a:lnTo>
                    <a:pt x="13969" y="428370"/>
                  </a:lnTo>
                  <a:lnTo>
                    <a:pt x="6223" y="467486"/>
                  </a:lnTo>
                  <a:lnTo>
                    <a:pt x="1524" y="507618"/>
                  </a:lnTo>
                  <a:lnTo>
                    <a:pt x="0" y="548639"/>
                  </a:lnTo>
                  <a:lnTo>
                    <a:pt x="1524" y="589533"/>
                  </a:lnTo>
                  <a:lnTo>
                    <a:pt x="6223" y="629665"/>
                  </a:lnTo>
                  <a:lnTo>
                    <a:pt x="13969" y="668908"/>
                  </a:lnTo>
                  <a:lnTo>
                    <a:pt x="24511" y="707008"/>
                  </a:lnTo>
                  <a:lnTo>
                    <a:pt x="37718" y="744092"/>
                  </a:lnTo>
                  <a:lnTo>
                    <a:pt x="53720" y="779906"/>
                  </a:lnTo>
                  <a:lnTo>
                    <a:pt x="72262" y="814323"/>
                  </a:lnTo>
                  <a:lnTo>
                    <a:pt x="93090" y="847343"/>
                  </a:lnTo>
                  <a:lnTo>
                    <a:pt x="116331" y="878712"/>
                  </a:lnTo>
                  <a:lnTo>
                    <a:pt x="141858" y="908557"/>
                  </a:lnTo>
                  <a:lnTo>
                    <a:pt x="169290" y="936497"/>
                  </a:lnTo>
                  <a:lnTo>
                    <a:pt x="198881" y="962659"/>
                  </a:lnTo>
                  <a:lnTo>
                    <a:pt x="230250" y="986789"/>
                  </a:lnTo>
                  <a:lnTo>
                    <a:pt x="263398" y="1008760"/>
                  </a:lnTo>
                  <a:lnTo>
                    <a:pt x="298068" y="1028699"/>
                  </a:lnTo>
                  <a:lnTo>
                    <a:pt x="334390" y="1046225"/>
                  </a:lnTo>
                  <a:lnTo>
                    <a:pt x="372110" y="1061338"/>
                  </a:lnTo>
                  <a:lnTo>
                    <a:pt x="411099" y="1073911"/>
                  </a:lnTo>
                  <a:lnTo>
                    <a:pt x="451357" y="1083944"/>
                  </a:lnTo>
                  <a:lnTo>
                    <a:pt x="492760" y="1091183"/>
                  </a:lnTo>
                  <a:lnTo>
                    <a:pt x="535051" y="1095628"/>
                  </a:lnTo>
                  <a:lnTo>
                    <a:pt x="578103" y="1097152"/>
                  </a:lnTo>
                  <a:lnTo>
                    <a:pt x="621283" y="1095628"/>
                  </a:lnTo>
                  <a:lnTo>
                    <a:pt x="663575" y="1091183"/>
                  </a:lnTo>
                  <a:lnTo>
                    <a:pt x="704850" y="1083944"/>
                  </a:lnTo>
                  <a:lnTo>
                    <a:pt x="745108" y="1073911"/>
                  </a:lnTo>
                  <a:lnTo>
                    <a:pt x="784098" y="1061338"/>
                  </a:lnTo>
                  <a:lnTo>
                    <a:pt x="821816" y="1046225"/>
                  </a:lnTo>
                  <a:lnTo>
                    <a:pt x="858138" y="1028699"/>
                  </a:lnTo>
                  <a:lnTo>
                    <a:pt x="892937" y="1008760"/>
                  </a:lnTo>
                  <a:lnTo>
                    <a:pt x="926083" y="986789"/>
                  </a:lnTo>
                  <a:lnTo>
                    <a:pt x="957452" y="962659"/>
                  </a:lnTo>
                  <a:lnTo>
                    <a:pt x="986916" y="936497"/>
                  </a:lnTo>
                  <a:lnTo>
                    <a:pt x="1014476" y="908557"/>
                  </a:lnTo>
                  <a:lnTo>
                    <a:pt x="1039876" y="878712"/>
                  </a:lnTo>
                  <a:lnTo>
                    <a:pt x="1063117" y="847343"/>
                  </a:lnTo>
                  <a:lnTo>
                    <a:pt x="1084072" y="814323"/>
                  </a:lnTo>
                  <a:lnTo>
                    <a:pt x="1102486" y="779906"/>
                  </a:lnTo>
                  <a:lnTo>
                    <a:pt x="1118488" y="744092"/>
                  </a:lnTo>
                  <a:lnTo>
                    <a:pt x="1131824" y="707008"/>
                  </a:lnTo>
                  <a:lnTo>
                    <a:pt x="1142364" y="668908"/>
                  </a:lnTo>
                  <a:lnTo>
                    <a:pt x="1149984" y="629665"/>
                  </a:lnTo>
                  <a:lnTo>
                    <a:pt x="1154683" y="589533"/>
                  </a:lnTo>
                  <a:lnTo>
                    <a:pt x="1156334" y="548639"/>
                  </a:lnTo>
                  <a:lnTo>
                    <a:pt x="1154683" y="507618"/>
                  </a:lnTo>
                  <a:lnTo>
                    <a:pt x="1149984" y="467486"/>
                  </a:lnTo>
                  <a:lnTo>
                    <a:pt x="1142364" y="428370"/>
                  </a:lnTo>
                  <a:lnTo>
                    <a:pt x="1131824" y="390143"/>
                  </a:lnTo>
                  <a:lnTo>
                    <a:pt x="1118488" y="353059"/>
                  </a:lnTo>
                  <a:lnTo>
                    <a:pt x="1102486" y="317245"/>
                  </a:lnTo>
                  <a:lnTo>
                    <a:pt x="1084072" y="282828"/>
                  </a:lnTo>
                  <a:lnTo>
                    <a:pt x="1063117" y="249808"/>
                  </a:lnTo>
                  <a:lnTo>
                    <a:pt x="1039876" y="218439"/>
                  </a:lnTo>
                  <a:lnTo>
                    <a:pt x="1014476" y="188721"/>
                  </a:lnTo>
                  <a:lnTo>
                    <a:pt x="986916" y="160654"/>
                  </a:lnTo>
                  <a:lnTo>
                    <a:pt x="957452" y="134492"/>
                  </a:lnTo>
                  <a:lnTo>
                    <a:pt x="926083" y="110362"/>
                  </a:lnTo>
                  <a:lnTo>
                    <a:pt x="892937" y="88391"/>
                  </a:lnTo>
                  <a:lnTo>
                    <a:pt x="858138" y="68579"/>
                  </a:lnTo>
                  <a:lnTo>
                    <a:pt x="821816" y="50926"/>
                  </a:lnTo>
                  <a:lnTo>
                    <a:pt x="784098" y="35813"/>
                  </a:lnTo>
                  <a:lnTo>
                    <a:pt x="745108" y="23240"/>
                  </a:lnTo>
                  <a:lnTo>
                    <a:pt x="704850" y="13207"/>
                  </a:lnTo>
                  <a:lnTo>
                    <a:pt x="663575" y="5968"/>
                  </a:lnTo>
                  <a:lnTo>
                    <a:pt x="621283" y="1523"/>
                  </a:lnTo>
                  <a:lnTo>
                    <a:pt x="57810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539739" y="3070860"/>
              <a:ext cx="993775" cy="941705"/>
            </a:xfrm>
            <a:custGeom>
              <a:avLst/>
              <a:gdLst/>
              <a:ahLst/>
              <a:cxnLst/>
              <a:rect l="l" t="t" r="r" b="b"/>
              <a:pathLst>
                <a:path w="993775" h="941704">
                  <a:moveTo>
                    <a:pt x="496697" y="0"/>
                  </a:moveTo>
                  <a:lnTo>
                    <a:pt x="453771" y="1777"/>
                  </a:lnTo>
                  <a:lnTo>
                    <a:pt x="411988" y="6857"/>
                  </a:lnTo>
                  <a:lnTo>
                    <a:pt x="371221" y="15112"/>
                  </a:lnTo>
                  <a:lnTo>
                    <a:pt x="331850" y="26542"/>
                  </a:lnTo>
                  <a:lnTo>
                    <a:pt x="294005" y="40893"/>
                  </a:lnTo>
                  <a:lnTo>
                    <a:pt x="257683" y="58038"/>
                  </a:lnTo>
                  <a:lnTo>
                    <a:pt x="223138" y="77724"/>
                  </a:lnTo>
                  <a:lnTo>
                    <a:pt x="190500" y="100075"/>
                  </a:lnTo>
                  <a:lnTo>
                    <a:pt x="159893" y="124713"/>
                  </a:lnTo>
                  <a:lnTo>
                    <a:pt x="131572" y="151637"/>
                  </a:lnTo>
                  <a:lnTo>
                    <a:pt x="105537" y="180593"/>
                  </a:lnTo>
                  <a:lnTo>
                    <a:pt x="82042" y="211581"/>
                  </a:lnTo>
                  <a:lnTo>
                    <a:pt x="61213" y="244220"/>
                  </a:lnTo>
                  <a:lnTo>
                    <a:pt x="43052" y="278638"/>
                  </a:lnTo>
                  <a:lnTo>
                    <a:pt x="27939" y="314578"/>
                  </a:lnTo>
                  <a:lnTo>
                    <a:pt x="16001" y="351916"/>
                  </a:lnTo>
                  <a:lnTo>
                    <a:pt x="7238" y="390525"/>
                  </a:lnTo>
                  <a:lnTo>
                    <a:pt x="1777" y="430149"/>
                  </a:lnTo>
                  <a:lnTo>
                    <a:pt x="0" y="470788"/>
                  </a:lnTo>
                  <a:lnTo>
                    <a:pt x="1777" y="511301"/>
                  </a:lnTo>
                  <a:lnTo>
                    <a:pt x="7238" y="551052"/>
                  </a:lnTo>
                  <a:lnTo>
                    <a:pt x="16001" y="589533"/>
                  </a:lnTo>
                  <a:lnTo>
                    <a:pt x="27939" y="626871"/>
                  </a:lnTo>
                  <a:lnTo>
                    <a:pt x="43052" y="662813"/>
                  </a:lnTo>
                  <a:lnTo>
                    <a:pt x="61213" y="697229"/>
                  </a:lnTo>
                  <a:lnTo>
                    <a:pt x="82042" y="729995"/>
                  </a:lnTo>
                  <a:lnTo>
                    <a:pt x="105537" y="760857"/>
                  </a:lnTo>
                  <a:lnTo>
                    <a:pt x="131572" y="789939"/>
                  </a:lnTo>
                  <a:lnTo>
                    <a:pt x="159893" y="816737"/>
                  </a:lnTo>
                  <a:lnTo>
                    <a:pt x="190500" y="841501"/>
                  </a:lnTo>
                  <a:lnTo>
                    <a:pt x="223138" y="863726"/>
                  </a:lnTo>
                  <a:lnTo>
                    <a:pt x="257683" y="883538"/>
                  </a:lnTo>
                  <a:lnTo>
                    <a:pt x="294005" y="900683"/>
                  </a:lnTo>
                  <a:lnTo>
                    <a:pt x="331850" y="915034"/>
                  </a:lnTo>
                  <a:lnTo>
                    <a:pt x="371221" y="926338"/>
                  </a:lnTo>
                  <a:lnTo>
                    <a:pt x="411988" y="934719"/>
                  </a:lnTo>
                  <a:lnTo>
                    <a:pt x="453771" y="939800"/>
                  </a:lnTo>
                  <a:lnTo>
                    <a:pt x="496697" y="941451"/>
                  </a:lnTo>
                  <a:lnTo>
                    <a:pt x="539496" y="939800"/>
                  </a:lnTo>
                  <a:lnTo>
                    <a:pt x="581406" y="934719"/>
                  </a:lnTo>
                  <a:lnTo>
                    <a:pt x="622046" y="926338"/>
                  </a:lnTo>
                  <a:lnTo>
                    <a:pt x="661415" y="915034"/>
                  </a:lnTo>
                  <a:lnTo>
                    <a:pt x="699262" y="900683"/>
                  </a:lnTo>
                  <a:lnTo>
                    <a:pt x="735584" y="883538"/>
                  </a:lnTo>
                  <a:lnTo>
                    <a:pt x="770127" y="863726"/>
                  </a:lnTo>
                  <a:lnTo>
                    <a:pt x="802767" y="841501"/>
                  </a:lnTo>
                  <a:lnTo>
                    <a:pt x="833374" y="816737"/>
                  </a:lnTo>
                  <a:lnTo>
                    <a:pt x="861695" y="789939"/>
                  </a:lnTo>
                  <a:lnTo>
                    <a:pt x="887730" y="760857"/>
                  </a:lnTo>
                  <a:lnTo>
                    <a:pt x="911351" y="729995"/>
                  </a:lnTo>
                  <a:lnTo>
                    <a:pt x="932180" y="697229"/>
                  </a:lnTo>
                  <a:lnTo>
                    <a:pt x="950213" y="662813"/>
                  </a:lnTo>
                  <a:lnTo>
                    <a:pt x="965327" y="626871"/>
                  </a:lnTo>
                  <a:lnTo>
                    <a:pt x="977391" y="589533"/>
                  </a:lnTo>
                  <a:lnTo>
                    <a:pt x="986155" y="551052"/>
                  </a:lnTo>
                  <a:lnTo>
                    <a:pt x="991488" y="511301"/>
                  </a:lnTo>
                  <a:lnTo>
                    <a:pt x="993266" y="470788"/>
                  </a:lnTo>
                  <a:lnTo>
                    <a:pt x="991488" y="430149"/>
                  </a:lnTo>
                  <a:lnTo>
                    <a:pt x="986155" y="390525"/>
                  </a:lnTo>
                  <a:lnTo>
                    <a:pt x="977391" y="351916"/>
                  </a:lnTo>
                  <a:lnTo>
                    <a:pt x="965327" y="314578"/>
                  </a:lnTo>
                  <a:lnTo>
                    <a:pt x="950213" y="278638"/>
                  </a:lnTo>
                  <a:lnTo>
                    <a:pt x="932180" y="244220"/>
                  </a:lnTo>
                  <a:lnTo>
                    <a:pt x="911351" y="211581"/>
                  </a:lnTo>
                  <a:lnTo>
                    <a:pt x="887730" y="180593"/>
                  </a:lnTo>
                  <a:lnTo>
                    <a:pt x="861695" y="151637"/>
                  </a:lnTo>
                  <a:lnTo>
                    <a:pt x="833374" y="124713"/>
                  </a:lnTo>
                  <a:lnTo>
                    <a:pt x="802767" y="100075"/>
                  </a:lnTo>
                  <a:lnTo>
                    <a:pt x="770127" y="77724"/>
                  </a:lnTo>
                  <a:lnTo>
                    <a:pt x="735584" y="58038"/>
                  </a:lnTo>
                  <a:lnTo>
                    <a:pt x="699262" y="40893"/>
                  </a:lnTo>
                  <a:lnTo>
                    <a:pt x="661415" y="26542"/>
                  </a:lnTo>
                  <a:lnTo>
                    <a:pt x="622046" y="15112"/>
                  </a:lnTo>
                  <a:lnTo>
                    <a:pt x="581406" y="6857"/>
                  </a:lnTo>
                  <a:lnTo>
                    <a:pt x="539496" y="1777"/>
                  </a:lnTo>
                  <a:lnTo>
                    <a:pt x="49669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539739" y="3070860"/>
              <a:ext cx="993775" cy="941705"/>
            </a:xfrm>
            <a:custGeom>
              <a:avLst/>
              <a:gdLst/>
              <a:ahLst/>
              <a:cxnLst/>
              <a:rect l="l" t="t" r="r" b="b"/>
              <a:pathLst>
                <a:path w="993775" h="941704">
                  <a:moveTo>
                    <a:pt x="0" y="470788"/>
                  </a:moveTo>
                  <a:lnTo>
                    <a:pt x="1777" y="430149"/>
                  </a:lnTo>
                  <a:lnTo>
                    <a:pt x="7238" y="390525"/>
                  </a:lnTo>
                  <a:lnTo>
                    <a:pt x="16001" y="351916"/>
                  </a:lnTo>
                  <a:lnTo>
                    <a:pt x="27939" y="314578"/>
                  </a:lnTo>
                  <a:lnTo>
                    <a:pt x="43052" y="278638"/>
                  </a:lnTo>
                  <a:lnTo>
                    <a:pt x="61213" y="244220"/>
                  </a:lnTo>
                  <a:lnTo>
                    <a:pt x="82042" y="211581"/>
                  </a:lnTo>
                  <a:lnTo>
                    <a:pt x="105537" y="180593"/>
                  </a:lnTo>
                  <a:lnTo>
                    <a:pt x="131572" y="151637"/>
                  </a:lnTo>
                  <a:lnTo>
                    <a:pt x="159893" y="124713"/>
                  </a:lnTo>
                  <a:lnTo>
                    <a:pt x="190500" y="100075"/>
                  </a:lnTo>
                  <a:lnTo>
                    <a:pt x="223138" y="77724"/>
                  </a:lnTo>
                  <a:lnTo>
                    <a:pt x="257683" y="58038"/>
                  </a:lnTo>
                  <a:lnTo>
                    <a:pt x="294005" y="40893"/>
                  </a:lnTo>
                  <a:lnTo>
                    <a:pt x="331850" y="26542"/>
                  </a:lnTo>
                  <a:lnTo>
                    <a:pt x="371221" y="15112"/>
                  </a:lnTo>
                  <a:lnTo>
                    <a:pt x="411988" y="6857"/>
                  </a:lnTo>
                  <a:lnTo>
                    <a:pt x="453771" y="1777"/>
                  </a:lnTo>
                  <a:lnTo>
                    <a:pt x="496697" y="0"/>
                  </a:lnTo>
                  <a:lnTo>
                    <a:pt x="539496" y="1777"/>
                  </a:lnTo>
                  <a:lnTo>
                    <a:pt x="581406" y="6857"/>
                  </a:lnTo>
                  <a:lnTo>
                    <a:pt x="622046" y="15112"/>
                  </a:lnTo>
                  <a:lnTo>
                    <a:pt x="661415" y="26542"/>
                  </a:lnTo>
                  <a:lnTo>
                    <a:pt x="699262" y="40893"/>
                  </a:lnTo>
                  <a:lnTo>
                    <a:pt x="735584" y="58038"/>
                  </a:lnTo>
                  <a:lnTo>
                    <a:pt x="770127" y="77724"/>
                  </a:lnTo>
                  <a:lnTo>
                    <a:pt x="802767" y="100075"/>
                  </a:lnTo>
                  <a:lnTo>
                    <a:pt x="833374" y="124713"/>
                  </a:lnTo>
                  <a:lnTo>
                    <a:pt x="861695" y="151637"/>
                  </a:lnTo>
                  <a:lnTo>
                    <a:pt x="887730" y="180593"/>
                  </a:lnTo>
                  <a:lnTo>
                    <a:pt x="911351" y="211581"/>
                  </a:lnTo>
                  <a:lnTo>
                    <a:pt x="932180" y="244220"/>
                  </a:lnTo>
                  <a:lnTo>
                    <a:pt x="950213" y="278638"/>
                  </a:lnTo>
                  <a:lnTo>
                    <a:pt x="965327" y="314578"/>
                  </a:lnTo>
                  <a:lnTo>
                    <a:pt x="977391" y="351916"/>
                  </a:lnTo>
                  <a:lnTo>
                    <a:pt x="986155" y="390525"/>
                  </a:lnTo>
                  <a:lnTo>
                    <a:pt x="991488" y="430149"/>
                  </a:lnTo>
                  <a:lnTo>
                    <a:pt x="993266" y="470788"/>
                  </a:lnTo>
                  <a:lnTo>
                    <a:pt x="991488" y="511301"/>
                  </a:lnTo>
                  <a:lnTo>
                    <a:pt x="986155" y="551052"/>
                  </a:lnTo>
                  <a:lnTo>
                    <a:pt x="977391" y="589533"/>
                  </a:lnTo>
                  <a:lnTo>
                    <a:pt x="965327" y="626871"/>
                  </a:lnTo>
                  <a:lnTo>
                    <a:pt x="950213" y="662813"/>
                  </a:lnTo>
                  <a:lnTo>
                    <a:pt x="932180" y="697229"/>
                  </a:lnTo>
                  <a:lnTo>
                    <a:pt x="911351" y="729995"/>
                  </a:lnTo>
                  <a:lnTo>
                    <a:pt x="887730" y="760857"/>
                  </a:lnTo>
                  <a:lnTo>
                    <a:pt x="861695" y="789939"/>
                  </a:lnTo>
                  <a:lnTo>
                    <a:pt x="833374" y="816737"/>
                  </a:lnTo>
                  <a:lnTo>
                    <a:pt x="802767" y="841501"/>
                  </a:lnTo>
                  <a:lnTo>
                    <a:pt x="770127" y="863726"/>
                  </a:lnTo>
                  <a:lnTo>
                    <a:pt x="735584" y="883538"/>
                  </a:lnTo>
                  <a:lnTo>
                    <a:pt x="699262" y="900683"/>
                  </a:lnTo>
                  <a:lnTo>
                    <a:pt x="661415" y="915034"/>
                  </a:lnTo>
                  <a:lnTo>
                    <a:pt x="622046" y="926338"/>
                  </a:lnTo>
                  <a:lnTo>
                    <a:pt x="581406" y="934719"/>
                  </a:lnTo>
                  <a:lnTo>
                    <a:pt x="539496" y="939800"/>
                  </a:lnTo>
                  <a:lnTo>
                    <a:pt x="496697" y="941451"/>
                  </a:lnTo>
                  <a:lnTo>
                    <a:pt x="453771" y="939800"/>
                  </a:lnTo>
                  <a:lnTo>
                    <a:pt x="411988" y="934719"/>
                  </a:lnTo>
                  <a:lnTo>
                    <a:pt x="371221" y="926338"/>
                  </a:lnTo>
                  <a:lnTo>
                    <a:pt x="331850" y="915034"/>
                  </a:lnTo>
                  <a:lnTo>
                    <a:pt x="294005" y="900683"/>
                  </a:lnTo>
                  <a:lnTo>
                    <a:pt x="257683" y="883538"/>
                  </a:lnTo>
                  <a:lnTo>
                    <a:pt x="223138" y="863726"/>
                  </a:lnTo>
                  <a:lnTo>
                    <a:pt x="190500" y="841501"/>
                  </a:lnTo>
                  <a:lnTo>
                    <a:pt x="159893" y="816737"/>
                  </a:lnTo>
                  <a:lnTo>
                    <a:pt x="131572" y="789939"/>
                  </a:lnTo>
                  <a:lnTo>
                    <a:pt x="105537" y="760857"/>
                  </a:lnTo>
                  <a:lnTo>
                    <a:pt x="82042" y="729995"/>
                  </a:lnTo>
                  <a:lnTo>
                    <a:pt x="61213" y="697229"/>
                  </a:lnTo>
                  <a:lnTo>
                    <a:pt x="43052" y="662813"/>
                  </a:lnTo>
                  <a:lnTo>
                    <a:pt x="27939" y="626871"/>
                  </a:lnTo>
                  <a:lnTo>
                    <a:pt x="16001" y="589533"/>
                  </a:lnTo>
                  <a:lnTo>
                    <a:pt x="7238" y="551052"/>
                  </a:lnTo>
                  <a:lnTo>
                    <a:pt x="1777" y="511301"/>
                  </a:lnTo>
                  <a:lnTo>
                    <a:pt x="0" y="470788"/>
                  </a:lnTo>
                  <a:close/>
                </a:path>
              </a:pathLst>
            </a:custGeom>
            <a:ln w="190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033515" y="3742944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39">
                  <a:moveTo>
                    <a:pt x="3810" y="0"/>
                  </a:moveTo>
                  <a:lnTo>
                    <a:pt x="0" y="0"/>
                  </a:lnTo>
                  <a:lnTo>
                    <a:pt x="762" y="2412"/>
                  </a:lnTo>
                  <a:lnTo>
                    <a:pt x="3048" y="2412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2619" y="3226308"/>
              <a:ext cx="629412" cy="629412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7604759" y="2967227"/>
            <a:ext cx="1156335" cy="1111250"/>
            <a:chOff x="7604759" y="2967227"/>
            <a:chExt cx="1156335" cy="1111250"/>
          </a:xfrm>
        </p:grpSpPr>
        <p:sp>
          <p:nvSpPr>
            <p:cNvPr id="57" name="object 57"/>
            <p:cNvSpPr/>
            <p:nvPr/>
          </p:nvSpPr>
          <p:spPr>
            <a:xfrm>
              <a:off x="7604759" y="2967227"/>
              <a:ext cx="1156335" cy="1111250"/>
            </a:xfrm>
            <a:custGeom>
              <a:avLst/>
              <a:gdLst/>
              <a:ahLst/>
              <a:cxnLst/>
              <a:rect l="l" t="t" r="r" b="b"/>
              <a:pathLst>
                <a:path w="1156334" h="1111250">
                  <a:moveTo>
                    <a:pt x="578104" y="0"/>
                  </a:moveTo>
                  <a:lnTo>
                    <a:pt x="534924" y="1524"/>
                  </a:lnTo>
                  <a:lnTo>
                    <a:pt x="492760" y="5969"/>
                  </a:lnTo>
                  <a:lnTo>
                    <a:pt x="451358" y="13335"/>
                  </a:lnTo>
                  <a:lnTo>
                    <a:pt x="411099" y="23495"/>
                  </a:lnTo>
                  <a:lnTo>
                    <a:pt x="372110" y="36322"/>
                  </a:lnTo>
                  <a:lnTo>
                    <a:pt x="334391" y="51562"/>
                  </a:lnTo>
                  <a:lnTo>
                    <a:pt x="298069" y="69342"/>
                  </a:lnTo>
                  <a:lnTo>
                    <a:pt x="263271" y="89535"/>
                  </a:lnTo>
                  <a:lnTo>
                    <a:pt x="230250" y="111760"/>
                  </a:lnTo>
                  <a:lnTo>
                    <a:pt x="198882" y="136271"/>
                  </a:lnTo>
                  <a:lnTo>
                    <a:pt x="169291" y="162687"/>
                  </a:lnTo>
                  <a:lnTo>
                    <a:pt x="141859" y="191008"/>
                  </a:lnTo>
                  <a:lnTo>
                    <a:pt x="116332" y="221107"/>
                  </a:lnTo>
                  <a:lnTo>
                    <a:pt x="93091" y="252984"/>
                  </a:lnTo>
                  <a:lnTo>
                    <a:pt x="72263" y="286385"/>
                  </a:lnTo>
                  <a:lnTo>
                    <a:pt x="53721" y="321310"/>
                  </a:lnTo>
                  <a:lnTo>
                    <a:pt x="37719" y="357505"/>
                  </a:lnTo>
                  <a:lnTo>
                    <a:pt x="24511" y="394970"/>
                  </a:lnTo>
                  <a:lnTo>
                    <a:pt x="13970" y="433705"/>
                  </a:lnTo>
                  <a:lnTo>
                    <a:pt x="6223" y="473329"/>
                  </a:lnTo>
                  <a:lnTo>
                    <a:pt x="1524" y="513969"/>
                  </a:lnTo>
                  <a:lnTo>
                    <a:pt x="0" y="555498"/>
                  </a:lnTo>
                  <a:lnTo>
                    <a:pt x="1524" y="596900"/>
                  </a:lnTo>
                  <a:lnTo>
                    <a:pt x="6223" y="637539"/>
                  </a:lnTo>
                  <a:lnTo>
                    <a:pt x="13970" y="677164"/>
                  </a:lnTo>
                  <a:lnTo>
                    <a:pt x="24511" y="715899"/>
                  </a:lnTo>
                  <a:lnTo>
                    <a:pt x="37719" y="753364"/>
                  </a:lnTo>
                  <a:lnTo>
                    <a:pt x="53721" y="789559"/>
                  </a:lnTo>
                  <a:lnTo>
                    <a:pt x="72263" y="824484"/>
                  </a:lnTo>
                  <a:lnTo>
                    <a:pt x="93091" y="857885"/>
                  </a:lnTo>
                  <a:lnTo>
                    <a:pt x="116332" y="889762"/>
                  </a:lnTo>
                  <a:lnTo>
                    <a:pt x="141859" y="919861"/>
                  </a:lnTo>
                  <a:lnTo>
                    <a:pt x="169291" y="948182"/>
                  </a:lnTo>
                  <a:lnTo>
                    <a:pt x="198882" y="974598"/>
                  </a:lnTo>
                  <a:lnTo>
                    <a:pt x="230250" y="999109"/>
                  </a:lnTo>
                  <a:lnTo>
                    <a:pt x="263271" y="1021461"/>
                  </a:lnTo>
                  <a:lnTo>
                    <a:pt x="298069" y="1041527"/>
                  </a:lnTo>
                  <a:lnTo>
                    <a:pt x="334391" y="1059307"/>
                  </a:lnTo>
                  <a:lnTo>
                    <a:pt x="372110" y="1074547"/>
                  </a:lnTo>
                  <a:lnTo>
                    <a:pt x="411099" y="1087374"/>
                  </a:lnTo>
                  <a:lnTo>
                    <a:pt x="451358" y="1097534"/>
                  </a:lnTo>
                  <a:lnTo>
                    <a:pt x="492760" y="1104900"/>
                  </a:lnTo>
                  <a:lnTo>
                    <a:pt x="534924" y="1109345"/>
                  </a:lnTo>
                  <a:lnTo>
                    <a:pt x="578104" y="1110869"/>
                  </a:lnTo>
                  <a:lnTo>
                    <a:pt x="621284" y="1109345"/>
                  </a:lnTo>
                  <a:lnTo>
                    <a:pt x="663575" y="1104900"/>
                  </a:lnTo>
                  <a:lnTo>
                    <a:pt x="704850" y="1097534"/>
                  </a:lnTo>
                  <a:lnTo>
                    <a:pt x="745109" y="1087374"/>
                  </a:lnTo>
                  <a:lnTo>
                    <a:pt x="784098" y="1074547"/>
                  </a:lnTo>
                  <a:lnTo>
                    <a:pt x="821817" y="1059307"/>
                  </a:lnTo>
                  <a:lnTo>
                    <a:pt x="858139" y="1041527"/>
                  </a:lnTo>
                  <a:lnTo>
                    <a:pt x="892937" y="1021461"/>
                  </a:lnTo>
                  <a:lnTo>
                    <a:pt x="926084" y="999109"/>
                  </a:lnTo>
                  <a:lnTo>
                    <a:pt x="957453" y="974598"/>
                  </a:lnTo>
                  <a:lnTo>
                    <a:pt x="986917" y="948182"/>
                  </a:lnTo>
                  <a:lnTo>
                    <a:pt x="1014476" y="919861"/>
                  </a:lnTo>
                  <a:lnTo>
                    <a:pt x="1039876" y="889762"/>
                  </a:lnTo>
                  <a:lnTo>
                    <a:pt x="1063117" y="857885"/>
                  </a:lnTo>
                  <a:lnTo>
                    <a:pt x="1084072" y="824484"/>
                  </a:lnTo>
                  <a:lnTo>
                    <a:pt x="1102487" y="789559"/>
                  </a:lnTo>
                  <a:lnTo>
                    <a:pt x="1118489" y="753364"/>
                  </a:lnTo>
                  <a:lnTo>
                    <a:pt x="1131824" y="715899"/>
                  </a:lnTo>
                  <a:lnTo>
                    <a:pt x="1142365" y="677164"/>
                  </a:lnTo>
                  <a:lnTo>
                    <a:pt x="1149985" y="637539"/>
                  </a:lnTo>
                  <a:lnTo>
                    <a:pt x="1154684" y="596900"/>
                  </a:lnTo>
                  <a:lnTo>
                    <a:pt x="1156208" y="555498"/>
                  </a:lnTo>
                  <a:lnTo>
                    <a:pt x="1154684" y="513969"/>
                  </a:lnTo>
                  <a:lnTo>
                    <a:pt x="1149985" y="473329"/>
                  </a:lnTo>
                  <a:lnTo>
                    <a:pt x="1142365" y="433705"/>
                  </a:lnTo>
                  <a:lnTo>
                    <a:pt x="1131824" y="394970"/>
                  </a:lnTo>
                  <a:lnTo>
                    <a:pt x="1118489" y="357505"/>
                  </a:lnTo>
                  <a:lnTo>
                    <a:pt x="1102487" y="321310"/>
                  </a:lnTo>
                  <a:lnTo>
                    <a:pt x="1084072" y="286385"/>
                  </a:lnTo>
                  <a:lnTo>
                    <a:pt x="1063117" y="252984"/>
                  </a:lnTo>
                  <a:lnTo>
                    <a:pt x="1039876" y="221107"/>
                  </a:lnTo>
                  <a:lnTo>
                    <a:pt x="1014476" y="191008"/>
                  </a:lnTo>
                  <a:lnTo>
                    <a:pt x="986917" y="162687"/>
                  </a:lnTo>
                  <a:lnTo>
                    <a:pt x="957453" y="136271"/>
                  </a:lnTo>
                  <a:lnTo>
                    <a:pt x="926084" y="111760"/>
                  </a:lnTo>
                  <a:lnTo>
                    <a:pt x="892937" y="89535"/>
                  </a:lnTo>
                  <a:lnTo>
                    <a:pt x="858139" y="69342"/>
                  </a:lnTo>
                  <a:lnTo>
                    <a:pt x="821817" y="51562"/>
                  </a:lnTo>
                  <a:lnTo>
                    <a:pt x="784098" y="36322"/>
                  </a:lnTo>
                  <a:lnTo>
                    <a:pt x="745109" y="23495"/>
                  </a:lnTo>
                  <a:lnTo>
                    <a:pt x="704850" y="13335"/>
                  </a:lnTo>
                  <a:lnTo>
                    <a:pt x="663575" y="5969"/>
                  </a:lnTo>
                  <a:lnTo>
                    <a:pt x="621284" y="1524"/>
                  </a:lnTo>
                  <a:lnTo>
                    <a:pt x="57810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691627" y="3070859"/>
              <a:ext cx="993775" cy="941705"/>
            </a:xfrm>
            <a:custGeom>
              <a:avLst/>
              <a:gdLst/>
              <a:ahLst/>
              <a:cxnLst/>
              <a:rect l="l" t="t" r="r" b="b"/>
              <a:pathLst>
                <a:path w="993775" h="941704">
                  <a:moveTo>
                    <a:pt x="0" y="470788"/>
                  </a:moveTo>
                  <a:lnTo>
                    <a:pt x="1777" y="430149"/>
                  </a:lnTo>
                  <a:lnTo>
                    <a:pt x="7239" y="390525"/>
                  </a:lnTo>
                  <a:lnTo>
                    <a:pt x="16001" y="351916"/>
                  </a:lnTo>
                  <a:lnTo>
                    <a:pt x="27940" y="314578"/>
                  </a:lnTo>
                  <a:lnTo>
                    <a:pt x="43052" y="278638"/>
                  </a:lnTo>
                  <a:lnTo>
                    <a:pt x="61214" y="244220"/>
                  </a:lnTo>
                  <a:lnTo>
                    <a:pt x="82042" y="211581"/>
                  </a:lnTo>
                  <a:lnTo>
                    <a:pt x="105537" y="180593"/>
                  </a:lnTo>
                  <a:lnTo>
                    <a:pt x="131572" y="151637"/>
                  </a:lnTo>
                  <a:lnTo>
                    <a:pt x="159893" y="124713"/>
                  </a:lnTo>
                  <a:lnTo>
                    <a:pt x="190500" y="100075"/>
                  </a:lnTo>
                  <a:lnTo>
                    <a:pt x="223139" y="77724"/>
                  </a:lnTo>
                  <a:lnTo>
                    <a:pt x="257682" y="58038"/>
                  </a:lnTo>
                  <a:lnTo>
                    <a:pt x="294004" y="40893"/>
                  </a:lnTo>
                  <a:lnTo>
                    <a:pt x="331850" y="26542"/>
                  </a:lnTo>
                  <a:lnTo>
                    <a:pt x="371221" y="15112"/>
                  </a:lnTo>
                  <a:lnTo>
                    <a:pt x="411988" y="6857"/>
                  </a:lnTo>
                  <a:lnTo>
                    <a:pt x="453771" y="1777"/>
                  </a:lnTo>
                  <a:lnTo>
                    <a:pt x="496697" y="0"/>
                  </a:lnTo>
                  <a:lnTo>
                    <a:pt x="539496" y="1777"/>
                  </a:lnTo>
                  <a:lnTo>
                    <a:pt x="581405" y="6857"/>
                  </a:lnTo>
                  <a:lnTo>
                    <a:pt x="622046" y="15112"/>
                  </a:lnTo>
                  <a:lnTo>
                    <a:pt x="661416" y="26542"/>
                  </a:lnTo>
                  <a:lnTo>
                    <a:pt x="699262" y="40893"/>
                  </a:lnTo>
                  <a:lnTo>
                    <a:pt x="735583" y="58038"/>
                  </a:lnTo>
                  <a:lnTo>
                    <a:pt x="770127" y="77724"/>
                  </a:lnTo>
                  <a:lnTo>
                    <a:pt x="802767" y="100075"/>
                  </a:lnTo>
                  <a:lnTo>
                    <a:pt x="833374" y="124713"/>
                  </a:lnTo>
                  <a:lnTo>
                    <a:pt x="861695" y="151637"/>
                  </a:lnTo>
                  <a:lnTo>
                    <a:pt x="887729" y="180593"/>
                  </a:lnTo>
                  <a:lnTo>
                    <a:pt x="911351" y="211581"/>
                  </a:lnTo>
                  <a:lnTo>
                    <a:pt x="932179" y="244220"/>
                  </a:lnTo>
                  <a:lnTo>
                    <a:pt x="950214" y="278638"/>
                  </a:lnTo>
                  <a:lnTo>
                    <a:pt x="965326" y="314578"/>
                  </a:lnTo>
                  <a:lnTo>
                    <a:pt x="977392" y="351916"/>
                  </a:lnTo>
                  <a:lnTo>
                    <a:pt x="986154" y="390525"/>
                  </a:lnTo>
                  <a:lnTo>
                    <a:pt x="991489" y="430149"/>
                  </a:lnTo>
                  <a:lnTo>
                    <a:pt x="993267" y="470788"/>
                  </a:lnTo>
                  <a:lnTo>
                    <a:pt x="991489" y="511301"/>
                  </a:lnTo>
                  <a:lnTo>
                    <a:pt x="986154" y="551052"/>
                  </a:lnTo>
                  <a:lnTo>
                    <a:pt x="977392" y="589533"/>
                  </a:lnTo>
                  <a:lnTo>
                    <a:pt x="965326" y="626871"/>
                  </a:lnTo>
                  <a:lnTo>
                    <a:pt x="950214" y="662813"/>
                  </a:lnTo>
                  <a:lnTo>
                    <a:pt x="932179" y="697229"/>
                  </a:lnTo>
                  <a:lnTo>
                    <a:pt x="911351" y="729995"/>
                  </a:lnTo>
                  <a:lnTo>
                    <a:pt x="887729" y="760857"/>
                  </a:lnTo>
                  <a:lnTo>
                    <a:pt x="861695" y="789939"/>
                  </a:lnTo>
                  <a:lnTo>
                    <a:pt x="833374" y="816737"/>
                  </a:lnTo>
                  <a:lnTo>
                    <a:pt x="802767" y="841501"/>
                  </a:lnTo>
                  <a:lnTo>
                    <a:pt x="770127" y="863726"/>
                  </a:lnTo>
                  <a:lnTo>
                    <a:pt x="735583" y="883538"/>
                  </a:lnTo>
                  <a:lnTo>
                    <a:pt x="699262" y="900683"/>
                  </a:lnTo>
                  <a:lnTo>
                    <a:pt x="661416" y="915034"/>
                  </a:lnTo>
                  <a:lnTo>
                    <a:pt x="622046" y="926338"/>
                  </a:lnTo>
                  <a:lnTo>
                    <a:pt x="581405" y="934719"/>
                  </a:lnTo>
                  <a:lnTo>
                    <a:pt x="539496" y="939800"/>
                  </a:lnTo>
                  <a:lnTo>
                    <a:pt x="496697" y="941451"/>
                  </a:lnTo>
                  <a:lnTo>
                    <a:pt x="453771" y="939800"/>
                  </a:lnTo>
                  <a:lnTo>
                    <a:pt x="411988" y="934719"/>
                  </a:lnTo>
                  <a:lnTo>
                    <a:pt x="371221" y="926338"/>
                  </a:lnTo>
                  <a:lnTo>
                    <a:pt x="331850" y="915034"/>
                  </a:lnTo>
                  <a:lnTo>
                    <a:pt x="294004" y="900683"/>
                  </a:lnTo>
                  <a:lnTo>
                    <a:pt x="257682" y="883538"/>
                  </a:lnTo>
                  <a:lnTo>
                    <a:pt x="223139" y="863726"/>
                  </a:lnTo>
                  <a:lnTo>
                    <a:pt x="190500" y="841501"/>
                  </a:lnTo>
                  <a:lnTo>
                    <a:pt x="159893" y="816737"/>
                  </a:lnTo>
                  <a:lnTo>
                    <a:pt x="131572" y="789939"/>
                  </a:lnTo>
                  <a:lnTo>
                    <a:pt x="105537" y="760857"/>
                  </a:lnTo>
                  <a:lnTo>
                    <a:pt x="82042" y="729995"/>
                  </a:lnTo>
                  <a:lnTo>
                    <a:pt x="61214" y="697229"/>
                  </a:lnTo>
                  <a:lnTo>
                    <a:pt x="43052" y="662813"/>
                  </a:lnTo>
                  <a:lnTo>
                    <a:pt x="27940" y="626871"/>
                  </a:lnTo>
                  <a:lnTo>
                    <a:pt x="16001" y="589533"/>
                  </a:lnTo>
                  <a:lnTo>
                    <a:pt x="7239" y="551052"/>
                  </a:lnTo>
                  <a:lnTo>
                    <a:pt x="1777" y="511301"/>
                  </a:lnTo>
                  <a:lnTo>
                    <a:pt x="0" y="470788"/>
                  </a:lnTo>
                  <a:close/>
                </a:path>
              </a:pathLst>
            </a:custGeom>
            <a:ln w="190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184260" y="3742944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39">
                  <a:moveTo>
                    <a:pt x="4699" y="0"/>
                  </a:moveTo>
                  <a:lnTo>
                    <a:pt x="0" y="0"/>
                  </a:lnTo>
                  <a:lnTo>
                    <a:pt x="889" y="2412"/>
                  </a:lnTo>
                  <a:lnTo>
                    <a:pt x="3810" y="2412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708391" y="3070859"/>
              <a:ext cx="976630" cy="941705"/>
            </a:xfrm>
            <a:custGeom>
              <a:avLst/>
              <a:gdLst/>
              <a:ahLst/>
              <a:cxnLst/>
              <a:rect l="l" t="t" r="r" b="b"/>
              <a:pathLst>
                <a:path w="976629" h="941704">
                  <a:moveTo>
                    <a:pt x="488314" y="0"/>
                  </a:moveTo>
                  <a:lnTo>
                    <a:pt x="446150" y="1777"/>
                  </a:lnTo>
                  <a:lnTo>
                    <a:pt x="405002" y="6857"/>
                  </a:lnTo>
                  <a:lnTo>
                    <a:pt x="364998" y="15112"/>
                  </a:lnTo>
                  <a:lnTo>
                    <a:pt x="326262" y="26542"/>
                  </a:lnTo>
                  <a:lnTo>
                    <a:pt x="289051" y="40893"/>
                  </a:lnTo>
                  <a:lnTo>
                    <a:pt x="253364" y="58038"/>
                  </a:lnTo>
                  <a:lnTo>
                    <a:pt x="219455" y="77724"/>
                  </a:lnTo>
                  <a:lnTo>
                    <a:pt x="187325" y="100075"/>
                  </a:lnTo>
                  <a:lnTo>
                    <a:pt x="157225" y="124713"/>
                  </a:lnTo>
                  <a:lnTo>
                    <a:pt x="129285" y="151637"/>
                  </a:lnTo>
                  <a:lnTo>
                    <a:pt x="103758" y="180593"/>
                  </a:lnTo>
                  <a:lnTo>
                    <a:pt x="80644" y="211581"/>
                  </a:lnTo>
                  <a:lnTo>
                    <a:pt x="60071" y="244220"/>
                  </a:lnTo>
                  <a:lnTo>
                    <a:pt x="42417" y="278638"/>
                  </a:lnTo>
                  <a:lnTo>
                    <a:pt x="27558" y="314578"/>
                  </a:lnTo>
                  <a:lnTo>
                    <a:pt x="15748" y="351916"/>
                  </a:lnTo>
                  <a:lnTo>
                    <a:pt x="7111" y="390525"/>
                  </a:lnTo>
                  <a:lnTo>
                    <a:pt x="1777" y="430149"/>
                  </a:lnTo>
                  <a:lnTo>
                    <a:pt x="0" y="470788"/>
                  </a:lnTo>
                  <a:lnTo>
                    <a:pt x="1777" y="511301"/>
                  </a:lnTo>
                  <a:lnTo>
                    <a:pt x="7111" y="551052"/>
                  </a:lnTo>
                  <a:lnTo>
                    <a:pt x="15748" y="589533"/>
                  </a:lnTo>
                  <a:lnTo>
                    <a:pt x="27558" y="626871"/>
                  </a:lnTo>
                  <a:lnTo>
                    <a:pt x="42417" y="662813"/>
                  </a:lnTo>
                  <a:lnTo>
                    <a:pt x="60071" y="697229"/>
                  </a:lnTo>
                  <a:lnTo>
                    <a:pt x="80644" y="729995"/>
                  </a:lnTo>
                  <a:lnTo>
                    <a:pt x="103758" y="760857"/>
                  </a:lnTo>
                  <a:lnTo>
                    <a:pt x="129285" y="789939"/>
                  </a:lnTo>
                  <a:lnTo>
                    <a:pt x="157225" y="816737"/>
                  </a:lnTo>
                  <a:lnTo>
                    <a:pt x="187325" y="841501"/>
                  </a:lnTo>
                  <a:lnTo>
                    <a:pt x="219455" y="863726"/>
                  </a:lnTo>
                  <a:lnTo>
                    <a:pt x="253364" y="883538"/>
                  </a:lnTo>
                  <a:lnTo>
                    <a:pt x="289051" y="900683"/>
                  </a:lnTo>
                  <a:lnTo>
                    <a:pt x="326262" y="915034"/>
                  </a:lnTo>
                  <a:lnTo>
                    <a:pt x="364998" y="926338"/>
                  </a:lnTo>
                  <a:lnTo>
                    <a:pt x="405002" y="934719"/>
                  </a:lnTo>
                  <a:lnTo>
                    <a:pt x="446150" y="939800"/>
                  </a:lnTo>
                  <a:lnTo>
                    <a:pt x="488314" y="941451"/>
                  </a:lnTo>
                  <a:lnTo>
                    <a:pt x="530351" y="939800"/>
                  </a:lnTo>
                  <a:lnTo>
                    <a:pt x="571500" y="934719"/>
                  </a:lnTo>
                  <a:lnTo>
                    <a:pt x="611504" y="926338"/>
                  </a:lnTo>
                  <a:lnTo>
                    <a:pt x="650239" y="915034"/>
                  </a:lnTo>
                  <a:lnTo>
                    <a:pt x="687451" y="900683"/>
                  </a:lnTo>
                  <a:lnTo>
                    <a:pt x="723137" y="883538"/>
                  </a:lnTo>
                  <a:lnTo>
                    <a:pt x="757174" y="863726"/>
                  </a:lnTo>
                  <a:lnTo>
                    <a:pt x="789304" y="841501"/>
                  </a:lnTo>
                  <a:lnTo>
                    <a:pt x="819276" y="816737"/>
                  </a:lnTo>
                  <a:lnTo>
                    <a:pt x="847216" y="789939"/>
                  </a:lnTo>
                  <a:lnTo>
                    <a:pt x="872743" y="760857"/>
                  </a:lnTo>
                  <a:lnTo>
                    <a:pt x="895857" y="729995"/>
                  </a:lnTo>
                  <a:lnTo>
                    <a:pt x="916431" y="697229"/>
                  </a:lnTo>
                  <a:lnTo>
                    <a:pt x="934211" y="662813"/>
                  </a:lnTo>
                  <a:lnTo>
                    <a:pt x="949071" y="626871"/>
                  </a:lnTo>
                  <a:lnTo>
                    <a:pt x="960881" y="589533"/>
                  </a:lnTo>
                  <a:lnTo>
                    <a:pt x="969517" y="551052"/>
                  </a:lnTo>
                  <a:lnTo>
                    <a:pt x="974725" y="511301"/>
                  </a:lnTo>
                  <a:lnTo>
                    <a:pt x="976502" y="470788"/>
                  </a:lnTo>
                  <a:lnTo>
                    <a:pt x="974725" y="430149"/>
                  </a:lnTo>
                  <a:lnTo>
                    <a:pt x="969517" y="390525"/>
                  </a:lnTo>
                  <a:lnTo>
                    <a:pt x="960881" y="351916"/>
                  </a:lnTo>
                  <a:lnTo>
                    <a:pt x="949071" y="314578"/>
                  </a:lnTo>
                  <a:lnTo>
                    <a:pt x="934211" y="278638"/>
                  </a:lnTo>
                  <a:lnTo>
                    <a:pt x="916431" y="244220"/>
                  </a:lnTo>
                  <a:lnTo>
                    <a:pt x="895857" y="211581"/>
                  </a:lnTo>
                  <a:lnTo>
                    <a:pt x="872743" y="180593"/>
                  </a:lnTo>
                  <a:lnTo>
                    <a:pt x="847216" y="151637"/>
                  </a:lnTo>
                  <a:lnTo>
                    <a:pt x="819276" y="124713"/>
                  </a:lnTo>
                  <a:lnTo>
                    <a:pt x="789304" y="100075"/>
                  </a:lnTo>
                  <a:lnTo>
                    <a:pt x="757174" y="77724"/>
                  </a:lnTo>
                  <a:lnTo>
                    <a:pt x="723137" y="58038"/>
                  </a:lnTo>
                  <a:lnTo>
                    <a:pt x="687451" y="40893"/>
                  </a:lnTo>
                  <a:lnTo>
                    <a:pt x="650239" y="26542"/>
                  </a:lnTo>
                  <a:lnTo>
                    <a:pt x="611504" y="15112"/>
                  </a:lnTo>
                  <a:lnTo>
                    <a:pt x="571500" y="6857"/>
                  </a:lnTo>
                  <a:lnTo>
                    <a:pt x="530351" y="1777"/>
                  </a:lnTo>
                  <a:lnTo>
                    <a:pt x="48831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1647" y="3166871"/>
              <a:ext cx="598931" cy="597407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4969002" y="1342390"/>
            <a:ext cx="44634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70125" algn="l"/>
              </a:tabLst>
            </a:pPr>
            <a:r>
              <a:rPr dirty="0" sz="1200" b="1">
                <a:latin typeface="Calibri"/>
                <a:cs typeface="Calibri"/>
              </a:rPr>
              <a:t>I.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Consent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Artefact</a:t>
            </a:r>
            <a:r>
              <a:rPr dirty="0" sz="1200" b="1">
                <a:latin typeface="Calibri"/>
                <a:cs typeface="Calibri"/>
              </a:rPr>
              <a:t>	II.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Financial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Information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Standards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3" name="object 63" descr="A screenshot of a computer  Description automatically generated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90331" y="5583935"/>
            <a:ext cx="3566160" cy="819912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4326382" y="5819343"/>
            <a:ext cx="3237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Auli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can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now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securely</a:t>
            </a:r>
            <a:r>
              <a:rPr dirty="0" sz="12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share</a:t>
            </a:r>
            <a:r>
              <a:rPr dirty="0" sz="12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their</a:t>
            </a:r>
            <a:r>
              <a:rPr dirty="0" sz="1200" spc="-4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financial</a:t>
            </a:r>
            <a:r>
              <a:rPr dirty="0" sz="12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data</a:t>
            </a:r>
            <a:r>
              <a:rPr dirty="0" sz="12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F1F1F"/>
                </a:solidFill>
                <a:latin typeface="Calibri"/>
                <a:cs typeface="Calibri"/>
              </a:rPr>
              <a:t>with</a:t>
            </a:r>
            <a:endParaRPr sz="12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financial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institutions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in</a:t>
            </a:r>
            <a:r>
              <a:rPr dirty="0" sz="12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7692B8"/>
                </a:solidFill>
                <a:latin typeface="Calibri"/>
                <a:cs typeface="Calibri"/>
              </a:rPr>
              <a:t>AA</a:t>
            </a:r>
            <a:r>
              <a:rPr dirty="0" sz="1200" spc="-25" b="1">
                <a:solidFill>
                  <a:srgbClr val="7692B8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7692B8"/>
                </a:solidFill>
                <a:latin typeface="Calibri"/>
                <a:cs typeface="Calibri"/>
              </a:rPr>
              <a:t>model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04317" y="6336284"/>
            <a:ext cx="1002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Team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Analysis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13508" y="5666232"/>
            <a:ext cx="666623" cy="658368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2615945" y="5824524"/>
            <a:ext cx="118872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5720" marR="5080" indent="-33655">
              <a:lnSpc>
                <a:spcPct val="100000"/>
              </a:lnSpc>
              <a:spcBef>
                <a:spcPts val="105"/>
              </a:spcBef>
            </a:pPr>
            <a:r>
              <a:rPr dirty="0" sz="1050" i="1">
                <a:latin typeface="Calibri"/>
                <a:cs typeface="Calibri"/>
              </a:rPr>
              <a:t>Auli</a:t>
            </a:r>
            <a:r>
              <a:rPr dirty="0" sz="1050" spc="-15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is</a:t>
            </a:r>
            <a:r>
              <a:rPr dirty="0" sz="1050" spc="-5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an</a:t>
            </a:r>
            <a:r>
              <a:rPr dirty="0" sz="1050" spc="-5" i="1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empowered </a:t>
            </a:r>
            <a:r>
              <a:rPr dirty="0" sz="1050" i="1">
                <a:latin typeface="Calibri"/>
                <a:cs typeface="Calibri"/>
              </a:rPr>
              <a:t>MSME</a:t>
            </a:r>
            <a:r>
              <a:rPr dirty="0" sz="1050" spc="-30" i="1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entrepreneur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613153" y="5750814"/>
            <a:ext cx="0" cy="525780"/>
          </a:xfrm>
          <a:custGeom>
            <a:avLst/>
            <a:gdLst/>
            <a:ahLst/>
            <a:cxnLst/>
            <a:rect l="l" t="t" r="r" b="b"/>
            <a:pathLst>
              <a:path w="0" h="525779">
                <a:moveTo>
                  <a:pt x="0" y="0"/>
                </a:moveTo>
                <a:lnTo>
                  <a:pt x="0" y="525513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637031" y="5753100"/>
            <a:ext cx="927100" cy="52324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0805" marR="90805">
              <a:lnSpc>
                <a:spcPct val="100000"/>
              </a:lnSpc>
              <a:spcBef>
                <a:spcPts val="275"/>
              </a:spcBef>
            </a:pPr>
            <a:r>
              <a:rPr dirty="0" sz="1400" b="1">
                <a:solidFill>
                  <a:srgbClr val="5C9DAE"/>
                </a:solidFill>
                <a:latin typeface="Calibri"/>
                <a:cs typeface="Calibri"/>
              </a:rPr>
              <a:t>USP</a:t>
            </a:r>
            <a:r>
              <a:rPr dirty="0" sz="1400" spc="-3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5C9DAE"/>
                </a:solidFill>
                <a:latin typeface="Calibri"/>
                <a:cs typeface="Calibri"/>
              </a:rPr>
              <a:t>of</a:t>
            </a:r>
            <a:r>
              <a:rPr dirty="0" sz="1400" spc="50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C9DAE"/>
                </a:solidFill>
                <a:latin typeface="Calibri"/>
                <a:cs typeface="Calibri"/>
              </a:rPr>
              <a:t>AA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Model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249295" y="4111244"/>
            <a:ext cx="13569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7185" marR="5080" indent="-32512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CONSENTED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spc="-55" b="1">
                <a:latin typeface="Calibri"/>
                <a:cs typeface="Calibri"/>
              </a:rPr>
              <a:t>DATA </a:t>
            </a:r>
            <a:r>
              <a:rPr dirty="0" sz="1400" spc="-10" b="1">
                <a:latin typeface="Calibri"/>
                <a:cs typeface="Calibri"/>
              </a:rPr>
              <a:t>SHARING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374385" y="4117594"/>
            <a:ext cx="14808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4345" marR="5080" indent="-4622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REGULAR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BUSINESS CREDIT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3" name="object 7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76473" y="4192270"/>
            <a:ext cx="180339" cy="180340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59782" y="4195317"/>
            <a:ext cx="180339" cy="18033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47306" y="4192270"/>
            <a:ext cx="180340" cy="180340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90406" y="4195317"/>
            <a:ext cx="180340" cy="181863"/>
          </a:xfrm>
          <a:prstGeom prst="rect">
            <a:avLst/>
          </a:prstGeom>
        </p:spPr>
      </p:pic>
      <p:sp>
        <p:nvSpPr>
          <p:cNvPr id="77" name="object 77"/>
          <p:cNvSpPr/>
          <p:nvPr/>
        </p:nvSpPr>
        <p:spPr>
          <a:xfrm>
            <a:off x="313943" y="5449823"/>
            <a:ext cx="11557000" cy="0"/>
          </a:xfrm>
          <a:custGeom>
            <a:avLst/>
            <a:gdLst/>
            <a:ahLst/>
            <a:cxnLst/>
            <a:rect l="l" t="t" r="r" b="b"/>
            <a:pathLst>
              <a:path w="11557000" h="0">
                <a:moveTo>
                  <a:pt x="0" y="0"/>
                </a:moveTo>
                <a:lnTo>
                  <a:pt x="11556619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8" name="object 7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013961" y="5894578"/>
            <a:ext cx="180339" cy="181864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95945" y="5894578"/>
            <a:ext cx="180339" cy="181864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9256776" y="4585715"/>
            <a:ext cx="2098675" cy="7518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88900" rIns="0" bIns="0" rtlCol="0" vert="horz">
            <a:spAutoFit/>
          </a:bodyPr>
          <a:lstStyle/>
          <a:p>
            <a:pPr algn="ctr" marL="70485" marR="10160">
              <a:lnSpc>
                <a:spcPct val="100000"/>
              </a:lnSpc>
              <a:spcBef>
                <a:spcPts val="700"/>
              </a:spcBef>
            </a:pP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complete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picture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borrower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simplifies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lending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decisions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033771" y="4585715"/>
            <a:ext cx="2120265" cy="741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4445">
              <a:lnSpc>
                <a:spcPts val="1410"/>
              </a:lnSpc>
            </a:pPr>
            <a:r>
              <a:rPr dirty="0" sz="1200">
                <a:latin typeface="Calibri"/>
                <a:cs typeface="Calibri"/>
              </a:rPr>
              <a:t>Helping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entrepreneurs</a:t>
            </a:r>
            <a:r>
              <a:rPr dirty="0" sz="1200" spc="-25">
                <a:latin typeface="Calibri"/>
                <a:cs typeface="Calibri"/>
              </a:rPr>
              <a:t> get</a:t>
            </a:r>
            <a:endParaRPr sz="1200">
              <a:latin typeface="Calibri"/>
              <a:cs typeface="Calibri"/>
            </a:endParaRPr>
          </a:p>
          <a:p>
            <a:pPr algn="ctr" marL="153670" marR="157480" indent="254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capital,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flow,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credit, credibility,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lower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interest rates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529321" y="4165219"/>
            <a:ext cx="14789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BUSINESS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GROWTH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4537075" cy="0"/>
          </a:xfrm>
          <a:custGeom>
            <a:avLst/>
            <a:gdLst/>
            <a:ahLst/>
            <a:cxnLst/>
            <a:rect l="l" t="t" r="r" b="b"/>
            <a:pathLst>
              <a:path w="4537075" h="0">
                <a:moveTo>
                  <a:pt x="0" y="0"/>
                </a:moveTo>
                <a:lnTo>
                  <a:pt x="4536948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25995" y="6516623"/>
            <a:ext cx="5159375" cy="0"/>
          </a:xfrm>
          <a:custGeom>
            <a:avLst/>
            <a:gdLst/>
            <a:ahLst/>
            <a:cxnLst/>
            <a:rect l="l" t="t" r="r" b="b"/>
            <a:pathLst>
              <a:path w="5159375" h="0">
                <a:moveTo>
                  <a:pt x="0" y="0"/>
                </a:moveTo>
                <a:lnTo>
                  <a:pt x="5159121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8255" rIns="0" bIns="0" rtlCol="0" vert="horz">
            <a:spAutoFit/>
          </a:bodyPr>
          <a:lstStyle/>
          <a:p>
            <a:pPr marL="154940">
              <a:lnSpc>
                <a:spcPct val="100000"/>
              </a:lnSpc>
              <a:spcBef>
                <a:spcPts val="6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11.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4434" y="67767"/>
            <a:ext cx="70973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dirty="0" spc="-45"/>
              <a:t> </a:t>
            </a:r>
            <a:r>
              <a:rPr dirty="0"/>
              <a:t>DEEPER</a:t>
            </a:r>
            <a:r>
              <a:rPr dirty="0" spc="-55"/>
              <a:t> </a:t>
            </a:r>
            <a:r>
              <a:rPr dirty="0"/>
              <a:t>LOOK</a:t>
            </a:r>
            <a:r>
              <a:rPr dirty="0" spc="-60"/>
              <a:t> </a:t>
            </a:r>
            <a:r>
              <a:rPr dirty="0"/>
              <a:t>INTO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PRODUCT</a:t>
            </a:r>
            <a:r>
              <a:rPr dirty="0" spc="-45"/>
              <a:t> </a:t>
            </a:r>
            <a:r>
              <a:rPr dirty="0" spc="-10"/>
              <a:t>OFFERINGS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323" y="501141"/>
            <a:ext cx="110712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5789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Agriculture</a:t>
            </a:r>
            <a:r>
              <a:rPr dirty="0" u="sng" sz="2000" spc="-9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Financing</a:t>
            </a:r>
            <a:r>
              <a:rPr dirty="0" u="sng" sz="2000" spc="-6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enables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tapping</a:t>
            </a:r>
            <a:r>
              <a:rPr dirty="0" u="sng" sz="2000" spc="-7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Unexplored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Market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Potential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6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facilitates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Expansion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0124" y="943355"/>
            <a:ext cx="2987040" cy="326390"/>
          </a:xfrm>
          <a:custGeom>
            <a:avLst/>
            <a:gdLst/>
            <a:ahLst/>
            <a:cxnLst/>
            <a:rect l="l" t="t" r="r" b="b"/>
            <a:pathLst>
              <a:path w="2987040" h="326390">
                <a:moveTo>
                  <a:pt x="0" y="326136"/>
                </a:moveTo>
                <a:lnTo>
                  <a:pt x="2987040" y="326136"/>
                </a:lnTo>
                <a:lnTo>
                  <a:pt x="2987040" y="0"/>
                </a:lnTo>
                <a:lnTo>
                  <a:pt x="0" y="0"/>
                </a:lnTo>
                <a:lnTo>
                  <a:pt x="0" y="326136"/>
                </a:lnTo>
                <a:close/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3774" y="937005"/>
            <a:ext cx="2999740" cy="33909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51435" rIns="0" bIns="0" rtlCol="0" vert="horz">
            <a:spAutoFit/>
          </a:bodyPr>
          <a:lstStyle/>
          <a:p>
            <a:pPr marL="861694">
              <a:lnSpc>
                <a:spcPct val="100000"/>
              </a:lnSpc>
              <a:spcBef>
                <a:spcPts val="40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Current</a:t>
            </a:r>
            <a:r>
              <a:rPr dirty="0" sz="1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Offerings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30523" y="943355"/>
            <a:ext cx="8555990" cy="332740"/>
          </a:xfrm>
          <a:custGeom>
            <a:avLst/>
            <a:gdLst/>
            <a:ahLst/>
            <a:cxnLst/>
            <a:rect l="l" t="t" r="r" b="b"/>
            <a:pathLst>
              <a:path w="8555990" h="332740">
                <a:moveTo>
                  <a:pt x="0" y="332232"/>
                </a:moveTo>
                <a:lnTo>
                  <a:pt x="8555736" y="332232"/>
                </a:lnTo>
                <a:lnTo>
                  <a:pt x="8555736" y="0"/>
                </a:lnTo>
                <a:lnTo>
                  <a:pt x="0" y="0"/>
                </a:lnTo>
                <a:lnTo>
                  <a:pt x="0" y="332232"/>
                </a:lnTo>
                <a:close/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24173" y="937005"/>
            <a:ext cx="8568690" cy="34544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546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Offering: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Reasons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expand</a:t>
            </a:r>
            <a:r>
              <a:rPr dirty="0" sz="1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Agriculture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7530" y="1396364"/>
            <a:ext cx="62172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46980" algn="l"/>
              </a:tabLst>
            </a:pPr>
            <a:r>
              <a:rPr dirty="0" sz="1400" b="1">
                <a:latin typeface="Calibri"/>
                <a:cs typeface="Calibri"/>
              </a:rPr>
              <a:t>Exploring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Demand-Supply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Gap</a:t>
            </a:r>
            <a:r>
              <a:rPr dirty="0" sz="1400" b="1">
                <a:latin typeface="Calibri"/>
                <a:cs typeface="Calibri"/>
              </a:rPr>
              <a:t>	</a:t>
            </a:r>
            <a:r>
              <a:rPr dirty="0" sz="1400" spc="-10" b="1">
                <a:latin typeface="Calibri"/>
                <a:cs typeface="Calibri"/>
              </a:rPr>
              <a:t>Political</a:t>
            </a:r>
            <a:r>
              <a:rPr dirty="0" sz="1400" spc="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Factors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2879" y="1411224"/>
            <a:ext cx="904240" cy="890269"/>
          </a:xfrm>
          <a:custGeom>
            <a:avLst/>
            <a:gdLst/>
            <a:ahLst/>
            <a:cxnLst/>
            <a:rect l="l" t="t" r="r" b="b"/>
            <a:pathLst>
              <a:path w="904240" h="890269">
                <a:moveTo>
                  <a:pt x="451866" y="0"/>
                </a:moveTo>
                <a:lnTo>
                  <a:pt x="402630" y="2611"/>
                </a:lnTo>
                <a:lnTo>
                  <a:pt x="354931" y="10265"/>
                </a:lnTo>
                <a:lnTo>
                  <a:pt x="309042" y="22689"/>
                </a:lnTo>
                <a:lnTo>
                  <a:pt x="265241" y="39612"/>
                </a:lnTo>
                <a:lnTo>
                  <a:pt x="223802" y="60762"/>
                </a:lnTo>
                <a:lnTo>
                  <a:pt x="185001" y="85868"/>
                </a:lnTo>
                <a:lnTo>
                  <a:pt x="149114" y="114658"/>
                </a:lnTo>
                <a:lnTo>
                  <a:pt x="116417" y="146860"/>
                </a:lnTo>
                <a:lnTo>
                  <a:pt x="87184" y="182203"/>
                </a:lnTo>
                <a:lnTo>
                  <a:pt x="61693" y="220415"/>
                </a:lnTo>
                <a:lnTo>
                  <a:pt x="40219" y="261225"/>
                </a:lnTo>
                <a:lnTo>
                  <a:pt x="23036" y="304361"/>
                </a:lnTo>
                <a:lnTo>
                  <a:pt x="10422" y="349551"/>
                </a:lnTo>
                <a:lnTo>
                  <a:pt x="2651" y="396524"/>
                </a:lnTo>
                <a:lnTo>
                  <a:pt x="0" y="445008"/>
                </a:lnTo>
                <a:lnTo>
                  <a:pt x="2651" y="493491"/>
                </a:lnTo>
                <a:lnTo>
                  <a:pt x="10422" y="540464"/>
                </a:lnTo>
                <a:lnTo>
                  <a:pt x="23036" y="585654"/>
                </a:lnTo>
                <a:lnTo>
                  <a:pt x="40219" y="628790"/>
                </a:lnTo>
                <a:lnTo>
                  <a:pt x="61693" y="669600"/>
                </a:lnTo>
                <a:lnTo>
                  <a:pt x="87184" y="707812"/>
                </a:lnTo>
                <a:lnTo>
                  <a:pt x="116417" y="743155"/>
                </a:lnTo>
                <a:lnTo>
                  <a:pt x="149114" y="775357"/>
                </a:lnTo>
                <a:lnTo>
                  <a:pt x="185001" y="804147"/>
                </a:lnTo>
                <a:lnTo>
                  <a:pt x="223802" y="829253"/>
                </a:lnTo>
                <a:lnTo>
                  <a:pt x="265241" y="850403"/>
                </a:lnTo>
                <a:lnTo>
                  <a:pt x="309042" y="867326"/>
                </a:lnTo>
                <a:lnTo>
                  <a:pt x="354931" y="879750"/>
                </a:lnTo>
                <a:lnTo>
                  <a:pt x="402630" y="887404"/>
                </a:lnTo>
                <a:lnTo>
                  <a:pt x="451866" y="890015"/>
                </a:lnTo>
                <a:lnTo>
                  <a:pt x="501101" y="887404"/>
                </a:lnTo>
                <a:lnTo>
                  <a:pt x="548800" y="879750"/>
                </a:lnTo>
                <a:lnTo>
                  <a:pt x="594689" y="867326"/>
                </a:lnTo>
                <a:lnTo>
                  <a:pt x="638490" y="850403"/>
                </a:lnTo>
                <a:lnTo>
                  <a:pt x="679929" y="829253"/>
                </a:lnTo>
                <a:lnTo>
                  <a:pt x="718730" y="804147"/>
                </a:lnTo>
                <a:lnTo>
                  <a:pt x="754617" y="775357"/>
                </a:lnTo>
                <a:lnTo>
                  <a:pt x="787314" y="743155"/>
                </a:lnTo>
                <a:lnTo>
                  <a:pt x="816547" y="707812"/>
                </a:lnTo>
                <a:lnTo>
                  <a:pt x="842038" y="669600"/>
                </a:lnTo>
                <a:lnTo>
                  <a:pt x="863512" y="628790"/>
                </a:lnTo>
                <a:lnTo>
                  <a:pt x="880695" y="585654"/>
                </a:lnTo>
                <a:lnTo>
                  <a:pt x="893309" y="540464"/>
                </a:lnTo>
                <a:lnTo>
                  <a:pt x="901080" y="493491"/>
                </a:lnTo>
                <a:lnTo>
                  <a:pt x="903732" y="445008"/>
                </a:lnTo>
                <a:lnTo>
                  <a:pt x="901080" y="396524"/>
                </a:lnTo>
                <a:lnTo>
                  <a:pt x="893309" y="349551"/>
                </a:lnTo>
                <a:lnTo>
                  <a:pt x="880695" y="304361"/>
                </a:lnTo>
                <a:lnTo>
                  <a:pt x="863512" y="261225"/>
                </a:lnTo>
                <a:lnTo>
                  <a:pt x="842038" y="220415"/>
                </a:lnTo>
                <a:lnTo>
                  <a:pt x="816547" y="182203"/>
                </a:lnTo>
                <a:lnTo>
                  <a:pt x="787314" y="146860"/>
                </a:lnTo>
                <a:lnTo>
                  <a:pt x="754617" y="114658"/>
                </a:lnTo>
                <a:lnTo>
                  <a:pt x="718730" y="85868"/>
                </a:lnTo>
                <a:lnTo>
                  <a:pt x="679929" y="60762"/>
                </a:lnTo>
                <a:lnTo>
                  <a:pt x="638490" y="39612"/>
                </a:lnTo>
                <a:lnTo>
                  <a:pt x="594689" y="22689"/>
                </a:lnTo>
                <a:lnTo>
                  <a:pt x="548800" y="10265"/>
                </a:lnTo>
                <a:lnTo>
                  <a:pt x="501101" y="2611"/>
                </a:lnTo>
                <a:lnTo>
                  <a:pt x="45186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7677" y="1710054"/>
            <a:ext cx="434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Calibri"/>
                <a:cs typeface="Calibri"/>
              </a:rPr>
              <a:t>1051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0697" y="1462277"/>
            <a:ext cx="762000" cy="782320"/>
          </a:xfrm>
          <a:custGeom>
            <a:avLst/>
            <a:gdLst/>
            <a:ahLst/>
            <a:cxnLst/>
            <a:rect l="l" t="t" r="r" b="b"/>
            <a:pathLst>
              <a:path w="762000" h="782319">
                <a:moveTo>
                  <a:pt x="0" y="390906"/>
                </a:moveTo>
                <a:lnTo>
                  <a:pt x="2968" y="341869"/>
                </a:lnTo>
                <a:lnTo>
                  <a:pt x="11635" y="294651"/>
                </a:lnTo>
                <a:lnTo>
                  <a:pt x="25644" y="249618"/>
                </a:lnTo>
                <a:lnTo>
                  <a:pt x="44638" y="207135"/>
                </a:lnTo>
                <a:lnTo>
                  <a:pt x="68260" y="167569"/>
                </a:lnTo>
                <a:lnTo>
                  <a:pt x="96153" y="131286"/>
                </a:lnTo>
                <a:lnTo>
                  <a:pt x="127960" y="98652"/>
                </a:lnTo>
                <a:lnTo>
                  <a:pt x="163323" y="70034"/>
                </a:lnTo>
                <a:lnTo>
                  <a:pt x="201887" y="45799"/>
                </a:lnTo>
                <a:lnTo>
                  <a:pt x="243293" y="26311"/>
                </a:lnTo>
                <a:lnTo>
                  <a:pt x="287185" y="11938"/>
                </a:lnTo>
                <a:lnTo>
                  <a:pt x="333207" y="3045"/>
                </a:lnTo>
                <a:lnTo>
                  <a:pt x="381000" y="0"/>
                </a:lnTo>
                <a:lnTo>
                  <a:pt x="428792" y="3045"/>
                </a:lnTo>
                <a:lnTo>
                  <a:pt x="474814" y="11938"/>
                </a:lnTo>
                <a:lnTo>
                  <a:pt x="518706" y="26311"/>
                </a:lnTo>
                <a:lnTo>
                  <a:pt x="560112" y="45799"/>
                </a:lnTo>
                <a:lnTo>
                  <a:pt x="598676" y="70034"/>
                </a:lnTo>
                <a:lnTo>
                  <a:pt x="634039" y="98652"/>
                </a:lnTo>
                <a:lnTo>
                  <a:pt x="665846" y="131286"/>
                </a:lnTo>
                <a:lnTo>
                  <a:pt x="693739" y="167569"/>
                </a:lnTo>
                <a:lnTo>
                  <a:pt x="717361" y="207135"/>
                </a:lnTo>
                <a:lnTo>
                  <a:pt x="736355" y="249618"/>
                </a:lnTo>
                <a:lnTo>
                  <a:pt x="750364" y="294651"/>
                </a:lnTo>
                <a:lnTo>
                  <a:pt x="759031" y="341869"/>
                </a:lnTo>
                <a:lnTo>
                  <a:pt x="762000" y="390906"/>
                </a:lnTo>
                <a:lnTo>
                  <a:pt x="759031" y="439942"/>
                </a:lnTo>
                <a:lnTo>
                  <a:pt x="750364" y="487160"/>
                </a:lnTo>
                <a:lnTo>
                  <a:pt x="736355" y="532193"/>
                </a:lnTo>
                <a:lnTo>
                  <a:pt x="717361" y="574676"/>
                </a:lnTo>
                <a:lnTo>
                  <a:pt x="693739" y="614242"/>
                </a:lnTo>
                <a:lnTo>
                  <a:pt x="665846" y="650525"/>
                </a:lnTo>
                <a:lnTo>
                  <a:pt x="634039" y="683159"/>
                </a:lnTo>
                <a:lnTo>
                  <a:pt x="598676" y="711777"/>
                </a:lnTo>
                <a:lnTo>
                  <a:pt x="560112" y="736012"/>
                </a:lnTo>
                <a:lnTo>
                  <a:pt x="518706" y="755500"/>
                </a:lnTo>
                <a:lnTo>
                  <a:pt x="474814" y="769873"/>
                </a:lnTo>
                <a:lnTo>
                  <a:pt x="428792" y="778766"/>
                </a:lnTo>
                <a:lnTo>
                  <a:pt x="381000" y="781812"/>
                </a:lnTo>
                <a:lnTo>
                  <a:pt x="333207" y="778766"/>
                </a:lnTo>
                <a:lnTo>
                  <a:pt x="287185" y="769873"/>
                </a:lnTo>
                <a:lnTo>
                  <a:pt x="243293" y="755500"/>
                </a:lnTo>
                <a:lnTo>
                  <a:pt x="201887" y="736012"/>
                </a:lnTo>
                <a:lnTo>
                  <a:pt x="163323" y="711777"/>
                </a:lnTo>
                <a:lnTo>
                  <a:pt x="127960" y="683159"/>
                </a:lnTo>
                <a:lnTo>
                  <a:pt x="96153" y="650525"/>
                </a:lnTo>
                <a:lnTo>
                  <a:pt x="68260" y="614242"/>
                </a:lnTo>
                <a:lnTo>
                  <a:pt x="44638" y="574676"/>
                </a:lnTo>
                <a:lnTo>
                  <a:pt x="25644" y="532193"/>
                </a:lnTo>
                <a:lnTo>
                  <a:pt x="11635" y="487160"/>
                </a:lnTo>
                <a:lnTo>
                  <a:pt x="2968" y="439942"/>
                </a:lnTo>
                <a:lnTo>
                  <a:pt x="0" y="390906"/>
                </a:lnTo>
                <a:close/>
              </a:path>
            </a:pathLst>
          </a:custGeom>
          <a:ln w="19050">
            <a:solidFill>
              <a:srgbClr val="5C9DA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2879" y="3858767"/>
            <a:ext cx="904240" cy="890269"/>
          </a:xfrm>
          <a:custGeom>
            <a:avLst/>
            <a:gdLst/>
            <a:ahLst/>
            <a:cxnLst/>
            <a:rect l="l" t="t" r="r" b="b"/>
            <a:pathLst>
              <a:path w="904240" h="890270">
                <a:moveTo>
                  <a:pt x="451866" y="0"/>
                </a:moveTo>
                <a:lnTo>
                  <a:pt x="402630" y="2611"/>
                </a:lnTo>
                <a:lnTo>
                  <a:pt x="354931" y="10265"/>
                </a:lnTo>
                <a:lnTo>
                  <a:pt x="309042" y="22689"/>
                </a:lnTo>
                <a:lnTo>
                  <a:pt x="265241" y="39612"/>
                </a:lnTo>
                <a:lnTo>
                  <a:pt x="223802" y="60762"/>
                </a:lnTo>
                <a:lnTo>
                  <a:pt x="185001" y="85868"/>
                </a:lnTo>
                <a:lnTo>
                  <a:pt x="149114" y="114658"/>
                </a:lnTo>
                <a:lnTo>
                  <a:pt x="116417" y="146860"/>
                </a:lnTo>
                <a:lnTo>
                  <a:pt x="87184" y="182203"/>
                </a:lnTo>
                <a:lnTo>
                  <a:pt x="61693" y="220415"/>
                </a:lnTo>
                <a:lnTo>
                  <a:pt x="40219" y="261225"/>
                </a:lnTo>
                <a:lnTo>
                  <a:pt x="23036" y="304361"/>
                </a:lnTo>
                <a:lnTo>
                  <a:pt x="10422" y="349551"/>
                </a:lnTo>
                <a:lnTo>
                  <a:pt x="2651" y="396524"/>
                </a:lnTo>
                <a:lnTo>
                  <a:pt x="0" y="445007"/>
                </a:lnTo>
                <a:lnTo>
                  <a:pt x="2651" y="493491"/>
                </a:lnTo>
                <a:lnTo>
                  <a:pt x="10422" y="540464"/>
                </a:lnTo>
                <a:lnTo>
                  <a:pt x="23036" y="585654"/>
                </a:lnTo>
                <a:lnTo>
                  <a:pt x="40219" y="628790"/>
                </a:lnTo>
                <a:lnTo>
                  <a:pt x="61693" y="669600"/>
                </a:lnTo>
                <a:lnTo>
                  <a:pt x="87184" y="707812"/>
                </a:lnTo>
                <a:lnTo>
                  <a:pt x="116417" y="743155"/>
                </a:lnTo>
                <a:lnTo>
                  <a:pt x="149114" y="775357"/>
                </a:lnTo>
                <a:lnTo>
                  <a:pt x="185001" y="804147"/>
                </a:lnTo>
                <a:lnTo>
                  <a:pt x="223802" y="829253"/>
                </a:lnTo>
                <a:lnTo>
                  <a:pt x="265241" y="850403"/>
                </a:lnTo>
                <a:lnTo>
                  <a:pt x="309042" y="867326"/>
                </a:lnTo>
                <a:lnTo>
                  <a:pt x="354931" y="879750"/>
                </a:lnTo>
                <a:lnTo>
                  <a:pt x="402630" y="887404"/>
                </a:lnTo>
                <a:lnTo>
                  <a:pt x="451866" y="890015"/>
                </a:lnTo>
                <a:lnTo>
                  <a:pt x="501101" y="887404"/>
                </a:lnTo>
                <a:lnTo>
                  <a:pt x="548800" y="879750"/>
                </a:lnTo>
                <a:lnTo>
                  <a:pt x="594689" y="867326"/>
                </a:lnTo>
                <a:lnTo>
                  <a:pt x="638490" y="850403"/>
                </a:lnTo>
                <a:lnTo>
                  <a:pt x="679929" y="829253"/>
                </a:lnTo>
                <a:lnTo>
                  <a:pt x="718730" y="804147"/>
                </a:lnTo>
                <a:lnTo>
                  <a:pt x="754617" y="775357"/>
                </a:lnTo>
                <a:lnTo>
                  <a:pt x="787314" y="743155"/>
                </a:lnTo>
                <a:lnTo>
                  <a:pt x="816547" y="707812"/>
                </a:lnTo>
                <a:lnTo>
                  <a:pt x="842038" y="669600"/>
                </a:lnTo>
                <a:lnTo>
                  <a:pt x="863512" y="628790"/>
                </a:lnTo>
                <a:lnTo>
                  <a:pt x="880695" y="585654"/>
                </a:lnTo>
                <a:lnTo>
                  <a:pt x="893309" y="540464"/>
                </a:lnTo>
                <a:lnTo>
                  <a:pt x="901080" y="493491"/>
                </a:lnTo>
                <a:lnTo>
                  <a:pt x="903732" y="445007"/>
                </a:lnTo>
                <a:lnTo>
                  <a:pt x="901080" y="396524"/>
                </a:lnTo>
                <a:lnTo>
                  <a:pt x="893309" y="349551"/>
                </a:lnTo>
                <a:lnTo>
                  <a:pt x="880695" y="304361"/>
                </a:lnTo>
                <a:lnTo>
                  <a:pt x="863512" y="261225"/>
                </a:lnTo>
                <a:lnTo>
                  <a:pt x="842038" y="220415"/>
                </a:lnTo>
                <a:lnTo>
                  <a:pt x="816547" y="182203"/>
                </a:lnTo>
                <a:lnTo>
                  <a:pt x="787314" y="146860"/>
                </a:lnTo>
                <a:lnTo>
                  <a:pt x="754617" y="114658"/>
                </a:lnTo>
                <a:lnTo>
                  <a:pt x="718730" y="85868"/>
                </a:lnTo>
                <a:lnTo>
                  <a:pt x="679929" y="60762"/>
                </a:lnTo>
                <a:lnTo>
                  <a:pt x="638490" y="39612"/>
                </a:lnTo>
                <a:lnTo>
                  <a:pt x="594689" y="22689"/>
                </a:lnTo>
                <a:lnTo>
                  <a:pt x="548800" y="10265"/>
                </a:lnTo>
                <a:lnTo>
                  <a:pt x="501101" y="2611"/>
                </a:lnTo>
                <a:lnTo>
                  <a:pt x="45186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19785" y="4158234"/>
            <a:ext cx="229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alibri"/>
                <a:cs typeface="Calibri"/>
              </a:rPr>
              <a:t>54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5270" y="3914394"/>
            <a:ext cx="762000" cy="782320"/>
          </a:xfrm>
          <a:custGeom>
            <a:avLst/>
            <a:gdLst/>
            <a:ahLst/>
            <a:cxnLst/>
            <a:rect l="l" t="t" r="r" b="b"/>
            <a:pathLst>
              <a:path w="762000" h="782320">
                <a:moveTo>
                  <a:pt x="0" y="390905"/>
                </a:moveTo>
                <a:lnTo>
                  <a:pt x="2968" y="341869"/>
                </a:lnTo>
                <a:lnTo>
                  <a:pt x="11635" y="294651"/>
                </a:lnTo>
                <a:lnTo>
                  <a:pt x="25644" y="249618"/>
                </a:lnTo>
                <a:lnTo>
                  <a:pt x="44638" y="207135"/>
                </a:lnTo>
                <a:lnTo>
                  <a:pt x="68260" y="167569"/>
                </a:lnTo>
                <a:lnTo>
                  <a:pt x="96153" y="131286"/>
                </a:lnTo>
                <a:lnTo>
                  <a:pt x="127960" y="98652"/>
                </a:lnTo>
                <a:lnTo>
                  <a:pt x="163323" y="70034"/>
                </a:lnTo>
                <a:lnTo>
                  <a:pt x="201887" y="45799"/>
                </a:lnTo>
                <a:lnTo>
                  <a:pt x="243293" y="26311"/>
                </a:lnTo>
                <a:lnTo>
                  <a:pt x="287185" y="11938"/>
                </a:lnTo>
                <a:lnTo>
                  <a:pt x="333207" y="3045"/>
                </a:lnTo>
                <a:lnTo>
                  <a:pt x="381000" y="0"/>
                </a:lnTo>
                <a:lnTo>
                  <a:pt x="428792" y="3045"/>
                </a:lnTo>
                <a:lnTo>
                  <a:pt x="474814" y="11938"/>
                </a:lnTo>
                <a:lnTo>
                  <a:pt x="518706" y="26311"/>
                </a:lnTo>
                <a:lnTo>
                  <a:pt x="560112" y="45799"/>
                </a:lnTo>
                <a:lnTo>
                  <a:pt x="598676" y="70034"/>
                </a:lnTo>
                <a:lnTo>
                  <a:pt x="634039" y="98652"/>
                </a:lnTo>
                <a:lnTo>
                  <a:pt x="665846" y="131286"/>
                </a:lnTo>
                <a:lnTo>
                  <a:pt x="693739" y="167569"/>
                </a:lnTo>
                <a:lnTo>
                  <a:pt x="717361" y="207135"/>
                </a:lnTo>
                <a:lnTo>
                  <a:pt x="736355" y="249618"/>
                </a:lnTo>
                <a:lnTo>
                  <a:pt x="750364" y="294651"/>
                </a:lnTo>
                <a:lnTo>
                  <a:pt x="759031" y="341869"/>
                </a:lnTo>
                <a:lnTo>
                  <a:pt x="761999" y="390905"/>
                </a:lnTo>
                <a:lnTo>
                  <a:pt x="759031" y="439942"/>
                </a:lnTo>
                <a:lnTo>
                  <a:pt x="750364" y="487160"/>
                </a:lnTo>
                <a:lnTo>
                  <a:pt x="736355" y="532193"/>
                </a:lnTo>
                <a:lnTo>
                  <a:pt x="717361" y="574676"/>
                </a:lnTo>
                <a:lnTo>
                  <a:pt x="693739" y="614242"/>
                </a:lnTo>
                <a:lnTo>
                  <a:pt x="665846" y="650525"/>
                </a:lnTo>
                <a:lnTo>
                  <a:pt x="634039" y="683159"/>
                </a:lnTo>
                <a:lnTo>
                  <a:pt x="598676" y="711777"/>
                </a:lnTo>
                <a:lnTo>
                  <a:pt x="560112" y="736012"/>
                </a:lnTo>
                <a:lnTo>
                  <a:pt x="518706" y="755500"/>
                </a:lnTo>
                <a:lnTo>
                  <a:pt x="474814" y="769873"/>
                </a:lnTo>
                <a:lnTo>
                  <a:pt x="428792" y="778766"/>
                </a:lnTo>
                <a:lnTo>
                  <a:pt x="381000" y="781811"/>
                </a:lnTo>
                <a:lnTo>
                  <a:pt x="333207" y="778766"/>
                </a:lnTo>
                <a:lnTo>
                  <a:pt x="287185" y="769873"/>
                </a:lnTo>
                <a:lnTo>
                  <a:pt x="243293" y="755500"/>
                </a:lnTo>
                <a:lnTo>
                  <a:pt x="201887" y="736012"/>
                </a:lnTo>
                <a:lnTo>
                  <a:pt x="163323" y="711777"/>
                </a:lnTo>
                <a:lnTo>
                  <a:pt x="127960" y="683159"/>
                </a:lnTo>
                <a:lnTo>
                  <a:pt x="96153" y="650525"/>
                </a:lnTo>
                <a:lnTo>
                  <a:pt x="68260" y="614242"/>
                </a:lnTo>
                <a:lnTo>
                  <a:pt x="44638" y="574676"/>
                </a:lnTo>
                <a:lnTo>
                  <a:pt x="25644" y="532193"/>
                </a:lnTo>
                <a:lnTo>
                  <a:pt x="11635" y="487160"/>
                </a:lnTo>
                <a:lnTo>
                  <a:pt x="2968" y="439942"/>
                </a:lnTo>
                <a:lnTo>
                  <a:pt x="0" y="390905"/>
                </a:lnTo>
                <a:close/>
              </a:path>
            </a:pathLst>
          </a:custGeom>
          <a:ln w="19050">
            <a:solidFill>
              <a:srgbClr val="5C9DA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2879" y="2616707"/>
            <a:ext cx="904240" cy="889000"/>
          </a:xfrm>
          <a:custGeom>
            <a:avLst/>
            <a:gdLst/>
            <a:ahLst/>
            <a:cxnLst/>
            <a:rect l="l" t="t" r="r" b="b"/>
            <a:pathLst>
              <a:path w="904240" h="889000">
                <a:moveTo>
                  <a:pt x="451866" y="0"/>
                </a:moveTo>
                <a:lnTo>
                  <a:pt x="402630" y="2606"/>
                </a:lnTo>
                <a:lnTo>
                  <a:pt x="354931" y="10245"/>
                </a:lnTo>
                <a:lnTo>
                  <a:pt x="309042" y="22646"/>
                </a:lnTo>
                <a:lnTo>
                  <a:pt x="265241" y="39538"/>
                </a:lnTo>
                <a:lnTo>
                  <a:pt x="223802" y="60649"/>
                </a:lnTo>
                <a:lnTo>
                  <a:pt x="185001" y="85709"/>
                </a:lnTo>
                <a:lnTo>
                  <a:pt x="149114" y="114447"/>
                </a:lnTo>
                <a:lnTo>
                  <a:pt x="116417" y="146592"/>
                </a:lnTo>
                <a:lnTo>
                  <a:pt x="87184" y="181874"/>
                </a:lnTo>
                <a:lnTo>
                  <a:pt x="61693" y="220020"/>
                </a:lnTo>
                <a:lnTo>
                  <a:pt x="40219" y="260760"/>
                </a:lnTo>
                <a:lnTo>
                  <a:pt x="23036" y="303824"/>
                </a:lnTo>
                <a:lnTo>
                  <a:pt x="10422" y="348940"/>
                </a:lnTo>
                <a:lnTo>
                  <a:pt x="2651" y="395838"/>
                </a:lnTo>
                <a:lnTo>
                  <a:pt x="0" y="444245"/>
                </a:lnTo>
                <a:lnTo>
                  <a:pt x="2651" y="492653"/>
                </a:lnTo>
                <a:lnTo>
                  <a:pt x="10422" y="539551"/>
                </a:lnTo>
                <a:lnTo>
                  <a:pt x="23036" y="584667"/>
                </a:lnTo>
                <a:lnTo>
                  <a:pt x="40219" y="627731"/>
                </a:lnTo>
                <a:lnTo>
                  <a:pt x="61693" y="668471"/>
                </a:lnTo>
                <a:lnTo>
                  <a:pt x="87184" y="706617"/>
                </a:lnTo>
                <a:lnTo>
                  <a:pt x="116417" y="741899"/>
                </a:lnTo>
                <a:lnTo>
                  <a:pt x="149114" y="774044"/>
                </a:lnTo>
                <a:lnTo>
                  <a:pt x="185001" y="802782"/>
                </a:lnTo>
                <a:lnTo>
                  <a:pt x="223802" y="827842"/>
                </a:lnTo>
                <a:lnTo>
                  <a:pt x="265241" y="848953"/>
                </a:lnTo>
                <a:lnTo>
                  <a:pt x="309042" y="865845"/>
                </a:lnTo>
                <a:lnTo>
                  <a:pt x="354931" y="878246"/>
                </a:lnTo>
                <a:lnTo>
                  <a:pt x="402630" y="885885"/>
                </a:lnTo>
                <a:lnTo>
                  <a:pt x="451866" y="888491"/>
                </a:lnTo>
                <a:lnTo>
                  <a:pt x="501101" y="885885"/>
                </a:lnTo>
                <a:lnTo>
                  <a:pt x="548800" y="878246"/>
                </a:lnTo>
                <a:lnTo>
                  <a:pt x="594689" y="865845"/>
                </a:lnTo>
                <a:lnTo>
                  <a:pt x="638490" y="848953"/>
                </a:lnTo>
                <a:lnTo>
                  <a:pt x="679929" y="827842"/>
                </a:lnTo>
                <a:lnTo>
                  <a:pt x="718730" y="802782"/>
                </a:lnTo>
                <a:lnTo>
                  <a:pt x="754617" y="774044"/>
                </a:lnTo>
                <a:lnTo>
                  <a:pt x="787314" y="741899"/>
                </a:lnTo>
                <a:lnTo>
                  <a:pt x="816547" y="706617"/>
                </a:lnTo>
                <a:lnTo>
                  <a:pt x="842038" y="668471"/>
                </a:lnTo>
                <a:lnTo>
                  <a:pt x="863512" y="627731"/>
                </a:lnTo>
                <a:lnTo>
                  <a:pt x="880695" y="584667"/>
                </a:lnTo>
                <a:lnTo>
                  <a:pt x="893309" y="539551"/>
                </a:lnTo>
                <a:lnTo>
                  <a:pt x="901080" y="492653"/>
                </a:lnTo>
                <a:lnTo>
                  <a:pt x="903732" y="444245"/>
                </a:lnTo>
                <a:lnTo>
                  <a:pt x="901080" y="395838"/>
                </a:lnTo>
                <a:lnTo>
                  <a:pt x="893309" y="348940"/>
                </a:lnTo>
                <a:lnTo>
                  <a:pt x="880695" y="303824"/>
                </a:lnTo>
                <a:lnTo>
                  <a:pt x="863512" y="260760"/>
                </a:lnTo>
                <a:lnTo>
                  <a:pt x="842038" y="220020"/>
                </a:lnTo>
                <a:lnTo>
                  <a:pt x="816547" y="181874"/>
                </a:lnTo>
                <a:lnTo>
                  <a:pt x="787314" y="146592"/>
                </a:lnTo>
                <a:lnTo>
                  <a:pt x="754617" y="114447"/>
                </a:lnTo>
                <a:lnTo>
                  <a:pt x="718730" y="85709"/>
                </a:lnTo>
                <a:lnTo>
                  <a:pt x="679929" y="60649"/>
                </a:lnTo>
                <a:lnTo>
                  <a:pt x="638490" y="39538"/>
                </a:lnTo>
                <a:lnTo>
                  <a:pt x="594689" y="22646"/>
                </a:lnTo>
                <a:lnTo>
                  <a:pt x="548800" y="10245"/>
                </a:lnTo>
                <a:lnTo>
                  <a:pt x="501101" y="2606"/>
                </a:lnTo>
                <a:lnTo>
                  <a:pt x="45186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69493" y="2915157"/>
            <a:ext cx="3321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alibri"/>
                <a:cs typeface="Calibri"/>
              </a:rPr>
              <a:t>671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5270" y="2675382"/>
            <a:ext cx="762000" cy="782320"/>
          </a:xfrm>
          <a:custGeom>
            <a:avLst/>
            <a:gdLst/>
            <a:ahLst/>
            <a:cxnLst/>
            <a:rect l="l" t="t" r="r" b="b"/>
            <a:pathLst>
              <a:path w="762000" h="782320">
                <a:moveTo>
                  <a:pt x="0" y="390905"/>
                </a:moveTo>
                <a:lnTo>
                  <a:pt x="2968" y="341869"/>
                </a:lnTo>
                <a:lnTo>
                  <a:pt x="11635" y="294651"/>
                </a:lnTo>
                <a:lnTo>
                  <a:pt x="25644" y="249618"/>
                </a:lnTo>
                <a:lnTo>
                  <a:pt x="44638" y="207135"/>
                </a:lnTo>
                <a:lnTo>
                  <a:pt x="68260" y="167569"/>
                </a:lnTo>
                <a:lnTo>
                  <a:pt x="96153" y="131286"/>
                </a:lnTo>
                <a:lnTo>
                  <a:pt x="127960" y="98652"/>
                </a:lnTo>
                <a:lnTo>
                  <a:pt x="163323" y="70034"/>
                </a:lnTo>
                <a:lnTo>
                  <a:pt x="201887" y="45799"/>
                </a:lnTo>
                <a:lnTo>
                  <a:pt x="243293" y="26311"/>
                </a:lnTo>
                <a:lnTo>
                  <a:pt x="287185" y="11938"/>
                </a:lnTo>
                <a:lnTo>
                  <a:pt x="333207" y="3045"/>
                </a:lnTo>
                <a:lnTo>
                  <a:pt x="381000" y="0"/>
                </a:lnTo>
                <a:lnTo>
                  <a:pt x="428792" y="3045"/>
                </a:lnTo>
                <a:lnTo>
                  <a:pt x="474814" y="11938"/>
                </a:lnTo>
                <a:lnTo>
                  <a:pt x="518706" y="26311"/>
                </a:lnTo>
                <a:lnTo>
                  <a:pt x="560112" y="45799"/>
                </a:lnTo>
                <a:lnTo>
                  <a:pt x="598676" y="70034"/>
                </a:lnTo>
                <a:lnTo>
                  <a:pt x="634039" y="98652"/>
                </a:lnTo>
                <a:lnTo>
                  <a:pt x="665846" y="131286"/>
                </a:lnTo>
                <a:lnTo>
                  <a:pt x="693739" y="167569"/>
                </a:lnTo>
                <a:lnTo>
                  <a:pt x="717361" y="207135"/>
                </a:lnTo>
                <a:lnTo>
                  <a:pt x="736355" y="249618"/>
                </a:lnTo>
                <a:lnTo>
                  <a:pt x="750364" y="294651"/>
                </a:lnTo>
                <a:lnTo>
                  <a:pt x="759031" y="341869"/>
                </a:lnTo>
                <a:lnTo>
                  <a:pt x="761999" y="390905"/>
                </a:lnTo>
                <a:lnTo>
                  <a:pt x="759031" y="439942"/>
                </a:lnTo>
                <a:lnTo>
                  <a:pt x="750364" y="487160"/>
                </a:lnTo>
                <a:lnTo>
                  <a:pt x="736355" y="532193"/>
                </a:lnTo>
                <a:lnTo>
                  <a:pt x="717361" y="574676"/>
                </a:lnTo>
                <a:lnTo>
                  <a:pt x="693739" y="614242"/>
                </a:lnTo>
                <a:lnTo>
                  <a:pt x="665846" y="650525"/>
                </a:lnTo>
                <a:lnTo>
                  <a:pt x="634039" y="683159"/>
                </a:lnTo>
                <a:lnTo>
                  <a:pt x="598676" y="711777"/>
                </a:lnTo>
                <a:lnTo>
                  <a:pt x="560112" y="736012"/>
                </a:lnTo>
                <a:lnTo>
                  <a:pt x="518706" y="755500"/>
                </a:lnTo>
                <a:lnTo>
                  <a:pt x="474814" y="769873"/>
                </a:lnTo>
                <a:lnTo>
                  <a:pt x="428792" y="778766"/>
                </a:lnTo>
                <a:lnTo>
                  <a:pt x="381000" y="781812"/>
                </a:lnTo>
                <a:lnTo>
                  <a:pt x="333207" y="778766"/>
                </a:lnTo>
                <a:lnTo>
                  <a:pt x="287185" y="769873"/>
                </a:lnTo>
                <a:lnTo>
                  <a:pt x="243293" y="755500"/>
                </a:lnTo>
                <a:lnTo>
                  <a:pt x="201887" y="736012"/>
                </a:lnTo>
                <a:lnTo>
                  <a:pt x="163323" y="711777"/>
                </a:lnTo>
                <a:lnTo>
                  <a:pt x="127960" y="683159"/>
                </a:lnTo>
                <a:lnTo>
                  <a:pt x="96153" y="650525"/>
                </a:lnTo>
                <a:lnTo>
                  <a:pt x="68260" y="614242"/>
                </a:lnTo>
                <a:lnTo>
                  <a:pt x="44638" y="574676"/>
                </a:lnTo>
                <a:lnTo>
                  <a:pt x="25644" y="532193"/>
                </a:lnTo>
                <a:lnTo>
                  <a:pt x="11635" y="487160"/>
                </a:lnTo>
                <a:lnTo>
                  <a:pt x="2968" y="439942"/>
                </a:lnTo>
                <a:lnTo>
                  <a:pt x="0" y="390905"/>
                </a:lnTo>
                <a:close/>
              </a:path>
            </a:pathLst>
          </a:custGeom>
          <a:ln w="19050">
            <a:solidFill>
              <a:srgbClr val="5C9DA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5138928" y="2715767"/>
            <a:ext cx="2613660" cy="1621790"/>
            <a:chOff x="5138928" y="2715767"/>
            <a:chExt cx="2613660" cy="1621790"/>
          </a:xfrm>
        </p:grpSpPr>
        <p:sp>
          <p:nvSpPr>
            <p:cNvPr id="22" name="object 22"/>
            <p:cNvSpPr/>
            <p:nvPr/>
          </p:nvSpPr>
          <p:spPr>
            <a:xfrm>
              <a:off x="5138928" y="2715767"/>
              <a:ext cx="2613660" cy="1621790"/>
            </a:xfrm>
            <a:custGeom>
              <a:avLst/>
              <a:gdLst/>
              <a:ahLst/>
              <a:cxnLst/>
              <a:rect l="l" t="t" r="r" b="b"/>
              <a:pathLst>
                <a:path w="2613659" h="1621789">
                  <a:moveTo>
                    <a:pt x="131064" y="39624"/>
                  </a:moveTo>
                  <a:lnTo>
                    <a:pt x="0" y="39624"/>
                  </a:lnTo>
                  <a:lnTo>
                    <a:pt x="0" y="1621536"/>
                  </a:lnTo>
                  <a:lnTo>
                    <a:pt x="131064" y="1621536"/>
                  </a:lnTo>
                  <a:lnTo>
                    <a:pt x="131064" y="39624"/>
                  </a:lnTo>
                  <a:close/>
                </a:path>
                <a:path w="2613659" h="1621789">
                  <a:moveTo>
                    <a:pt x="544068" y="0"/>
                  </a:moveTo>
                  <a:lnTo>
                    <a:pt x="414528" y="0"/>
                  </a:lnTo>
                  <a:lnTo>
                    <a:pt x="414528" y="1621536"/>
                  </a:lnTo>
                  <a:lnTo>
                    <a:pt x="544068" y="1621536"/>
                  </a:lnTo>
                  <a:lnTo>
                    <a:pt x="544068" y="0"/>
                  </a:lnTo>
                  <a:close/>
                </a:path>
                <a:path w="2613659" h="1621789">
                  <a:moveTo>
                    <a:pt x="958596" y="109728"/>
                  </a:moveTo>
                  <a:lnTo>
                    <a:pt x="827532" y="109728"/>
                  </a:lnTo>
                  <a:lnTo>
                    <a:pt x="827532" y="1621536"/>
                  </a:lnTo>
                  <a:lnTo>
                    <a:pt x="958596" y="1621536"/>
                  </a:lnTo>
                  <a:lnTo>
                    <a:pt x="958596" y="109728"/>
                  </a:lnTo>
                  <a:close/>
                </a:path>
                <a:path w="2613659" h="1621789">
                  <a:moveTo>
                    <a:pt x="1371600" y="358140"/>
                  </a:moveTo>
                  <a:lnTo>
                    <a:pt x="1242060" y="358140"/>
                  </a:lnTo>
                  <a:lnTo>
                    <a:pt x="1242060" y="1621536"/>
                  </a:lnTo>
                  <a:lnTo>
                    <a:pt x="1371600" y="1621536"/>
                  </a:lnTo>
                  <a:lnTo>
                    <a:pt x="1371600" y="358140"/>
                  </a:lnTo>
                  <a:close/>
                </a:path>
                <a:path w="2613659" h="1621789">
                  <a:moveTo>
                    <a:pt x="1786128" y="736092"/>
                  </a:moveTo>
                  <a:lnTo>
                    <a:pt x="1655064" y="736092"/>
                  </a:lnTo>
                  <a:lnTo>
                    <a:pt x="1655064" y="1621536"/>
                  </a:lnTo>
                  <a:lnTo>
                    <a:pt x="1786128" y="1621536"/>
                  </a:lnTo>
                  <a:lnTo>
                    <a:pt x="1786128" y="736092"/>
                  </a:lnTo>
                  <a:close/>
                </a:path>
                <a:path w="2613659" h="1621789">
                  <a:moveTo>
                    <a:pt x="2199132" y="746760"/>
                  </a:moveTo>
                  <a:lnTo>
                    <a:pt x="2069592" y="746760"/>
                  </a:lnTo>
                  <a:lnTo>
                    <a:pt x="2069592" y="1621536"/>
                  </a:lnTo>
                  <a:lnTo>
                    <a:pt x="2199132" y="1621536"/>
                  </a:lnTo>
                  <a:lnTo>
                    <a:pt x="2199132" y="746760"/>
                  </a:lnTo>
                  <a:close/>
                </a:path>
                <a:path w="2613659" h="1621789">
                  <a:moveTo>
                    <a:pt x="2613660" y="1063752"/>
                  </a:moveTo>
                  <a:lnTo>
                    <a:pt x="2482596" y="1063752"/>
                  </a:lnTo>
                  <a:lnTo>
                    <a:pt x="2482596" y="1621536"/>
                  </a:lnTo>
                  <a:lnTo>
                    <a:pt x="2613660" y="1621536"/>
                  </a:lnTo>
                  <a:lnTo>
                    <a:pt x="2613660" y="1063752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203698" y="2803397"/>
              <a:ext cx="2482850" cy="767080"/>
            </a:xfrm>
            <a:custGeom>
              <a:avLst/>
              <a:gdLst/>
              <a:ahLst/>
              <a:cxnLst/>
              <a:rect l="l" t="t" r="r" b="b"/>
              <a:pathLst>
                <a:path w="2482850" h="767079">
                  <a:moveTo>
                    <a:pt x="0" y="0"/>
                  </a:moveTo>
                  <a:lnTo>
                    <a:pt x="414527" y="152400"/>
                  </a:lnTo>
                  <a:lnTo>
                    <a:pt x="827531" y="254507"/>
                  </a:lnTo>
                  <a:lnTo>
                    <a:pt x="1242060" y="408431"/>
                  </a:lnTo>
                  <a:lnTo>
                    <a:pt x="1655063" y="766572"/>
                  </a:lnTo>
                  <a:lnTo>
                    <a:pt x="2069592" y="664463"/>
                  </a:lnTo>
                  <a:lnTo>
                    <a:pt x="2482596" y="510539"/>
                  </a:lnTo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203698" y="4234433"/>
              <a:ext cx="2482850" cy="41275"/>
            </a:xfrm>
            <a:custGeom>
              <a:avLst/>
              <a:gdLst/>
              <a:ahLst/>
              <a:cxnLst/>
              <a:rect l="l" t="t" r="r" b="b"/>
              <a:pathLst>
                <a:path w="2482850" h="41275">
                  <a:moveTo>
                    <a:pt x="0" y="41148"/>
                  </a:moveTo>
                  <a:lnTo>
                    <a:pt x="414527" y="0"/>
                  </a:lnTo>
                  <a:lnTo>
                    <a:pt x="827531" y="0"/>
                  </a:lnTo>
                  <a:lnTo>
                    <a:pt x="1242060" y="25908"/>
                  </a:lnTo>
                  <a:lnTo>
                    <a:pt x="1655063" y="25908"/>
                  </a:lnTo>
                  <a:lnTo>
                    <a:pt x="2069592" y="15240"/>
                  </a:lnTo>
                  <a:lnTo>
                    <a:pt x="2482596" y="2590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988045" y="3987165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88045" y="3731514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88045" y="3475735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88045" y="3219958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88045" y="2964560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88045" y="2708909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88045" y="2453132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35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76647" y="2391537"/>
            <a:ext cx="228600" cy="201358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85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14.4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84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14.2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84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14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84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13.8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84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13.6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89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13.4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8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13.2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9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13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84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12.8</a:t>
            </a: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484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12.6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14994" y="3222247"/>
            <a:ext cx="152400" cy="6064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Percentage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16933" y="3317048"/>
            <a:ext cx="152400" cy="6172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10">
                <a:solidFill>
                  <a:srgbClr val="585858"/>
                </a:solidFill>
                <a:latin typeface="Calibri"/>
                <a:cs typeface="Calibri"/>
              </a:rPr>
              <a:t>Share(GDP)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803647" y="4622291"/>
            <a:ext cx="243840" cy="64135"/>
          </a:xfrm>
          <a:custGeom>
            <a:avLst/>
            <a:gdLst/>
            <a:ahLst/>
            <a:cxnLst/>
            <a:rect l="l" t="t" r="r" b="b"/>
            <a:pathLst>
              <a:path w="243839" h="64135">
                <a:moveTo>
                  <a:pt x="243839" y="0"/>
                </a:moveTo>
                <a:lnTo>
                  <a:pt x="0" y="0"/>
                </a:lnTo>
                <a:lnTo>
                  <a:pt x="0" y="64007"/>
                </a:lnTo>
                <a:lnTo>
                  <a:pt x="243839" y="64007"/>
                </a:lnTo>
                <a:lnTo>
                  <a:pt x="243839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915405" y="465353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78445" y="4653534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060696" y="4242561"/>
            <a:ext cx="3094355" cy="48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0050">
              <a:lnSpc>
                <a:spcPts val="915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  <a:p>
            <a:pPr marL="311785">
              <a:lnSpc>
                <a:spcPts val="1035"/>
              </a:lnSpc>
            </a:pPr>
            <a:r>
              <a:rPr dirty="0" sz="1000">
                <a:solidFill>
                  <a:srgbClr val="585858"/>
                </a:solidFill>
                <a:latin typeface="Calibri"/>
                <a:cs typeface="Calibri"/>
              </a:rPr>
              <a:t>2011</a:t>
            </a:r>
            <a:r>
              <a:rPr dirty="0" sz="1000" spc="18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858"/>
                </a:solidFill>
                <a:latin typeface="Calibri"/>
                <a:cs typeface="Calibri"/>
              </a:rPr>
              <a:t>2012</a:t>
            </a:r>
            <a:r>
              <a:rPr dirty="0" sz="1000" spc="18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858"/>
                </a:solidFill>
                <a:latin typeface="Calibri"/>
                <a:cs typeface="Calibri"/>
              </a:rPr>
              <a:t>2013</a:t>
            </a:r>
            <a:r>
              <a:rPr dirty="0" sz="1000" spc="19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858"/>
                </a:solidFill>
                <a:latin typeface="Calibri"/>
                <a:cs typeface="Calibri"/>
              </a:rPr>
              <a:t>2014</a:t>
            </a:r>
            <a:r>
              <a:rPr dirty="0" sz="1000" spc="19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858"/>
                </a:solidFill>
                <a:latin typeface="Calibri"/>
                <a:cs typeface="Calibri"/>
              </a:rPr>
              <a:t>2015</a:t>
            </a:r>
            <a:r>
              <a:rPr dirty="0" sz="1000" spc="18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858"/>
                </a:solidFill>
                <a:latin typeface="Calibri"/>
                <a:cs typeface="Calibri"/>
              </a:rPr>
              <a:t>2016</a:t>
            </a:r>
            <a:r>
              <a:rPr dirty="0" sz="1000" spc="18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585858"/>
                </a:solidFill>
                <a:latin typeface="Calibri"/>
                <a:cs typeface="Calibri"/>
              </a:rPr>
              <a:t>2017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  <a:tabLst>
                <a:tab pos="1123950" algn="l"/>
                <a:tab pos="2588260" algn="l"/>
              </a:tabLst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Share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GDP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YoY</a:t>
            </a: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Growth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in</a:t>
            </a:r>
            <a:r>
              <a:rPr dirty="0" sz="900" spc="-3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Loans</a:t>
            </a: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	NPL 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Ratios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7080" y="5083809"/>
            <a:ext cx="13519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C9DAE"/>
                </a:solidFill>
                <a:latin typeface="Calibri"/>
                <a:cs typeface="Calibri"/>
              </a:rPr>
              <a:t>Our</a:t>
            </a:r>
            <a:r>
              <a:rPr dirty="0" sz="1200" spc="-3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C9DAE"/>
                </a:solidFill>
                <a:latin typeface="Calibri"/>
                <a:cs typeface="Calibri"/>
              </a:rPr>
              <a:t>Product</a:t>
            </a:r>
            <a:r>
              <a:rPr dirty="0" sz="12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C9DAE"/>
                </a:solidFill>
                <a:latin typeface="Calibri"/>
                <a:cs typeface="Calibri"/>
              </a:rPr>
              <a:t>Offering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30523" y="1734311"/>
            <a:ext cx="5794375" cy="64643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6830" rIns="0" bIns="0" rtlCol="0" vert="horz">
            <a:spAutoFit/>
          </a:bodyPr>
          <a:lstStyle/>
          <a:p>
            <a:pPr marL="264795" indent="-17335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64795" algn="l"/>
              </a:tabLst>
            </a:pPr>
            <a:r>
              <a:rPr dirty="0" sz="1200" spc="-10">
                <a:latin typeface="Calibri"/>
                <a:cs typeface="Calibri"/>
              </a:rPr>
              <a:t>Relative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GDP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Contribution,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Agriculture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underfunded</a:t>
            </a:r>
            <a:endParaRPr sz="1200">
              <a:latin typeface="Calibri"/>
              <a:cs typeface="Calibri"/>
            </a:endParaRPr>
          </a:p>
          <a:p>
            <a:pPr marL="263525" marR="113664" indent="-172720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r>
              <a:rPr dirty="0" sz="1200">
                <a:latin typeface="Calibri"/>
                <a:cs typeface="Calibri"/>
              </a:rPr>
              <a:t>MiBank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Women’s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Micro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only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financial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institutions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introduced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aimed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rural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agricultural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communities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14884" y="5052059"/>
            <a:ext cx="11648440" cy="0"/>
          </a:xfrm>
          <a:custGeom>
            <a:avLst/>
            <a:gdLst/>
            <a:ahLst/>
            <a:cxnLst/>
            <a:rect l="l" t="t" r="r" b="b"/>
            <a:pathLst>
              <a:path w="11648440" h="0">
                <a:moveTo>
                  <a:pt x="0" y="0"/>
                </a:moveTo>
                <a:lnTo>
                  <a:pt x="11648313" y="0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44779" y="5353811"/>
            <a:ext cx="1737360" cy="937260"/>
          </a:xfrm>
          <a:custGeom>
            <a:avLst/>
            <a:gdLst/>
            <a:ahLst/>
            <a:cxnLst/>
            <a:rect l="l" t="t" r="r" b="b"/>
            <a:pathLst>
              <a:path w="1737360" h="937260">
                <a:moveTo>
                  <a:pt x="0" y="937260"/>
                </a:moveTo>
                <a:lnTo>
                  <a:pt x="1737360" y="937260"/>
                </a:lnTo>
                <a:lnTo>
                  <a:pt x="1737360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38429" y="5347461"/>
            <a:ext cx="1750060" cy="94996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9525" rIns="0" bIns="0" rtlCol="0" vert="horz">
            <a:spAutoFit/>
          </a:bodyPr>
          <a:lstStyle/>
          <a:p>
            <a:pPr algn="ctr" marL="114935" marR="107950">
              <a:lnSpc>
                <a:spcPct val="100000"/>
              </a:lnSpc>
              <a:spcBef>
                <a:spcPts val="75"/>
              </a:spcBef>
            </a:pPr>
            <a:r>
              <a:rPr dirty="0" sz="1200" spc="-10" b="1">
                <a:latin typeface="Calibri"/>
                <a:cs typeface="Calibri"/>
              </a:rPr>
              <a:t>Agricultural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Value</a:t>
            </a:r>
            <a:r>
              <a:rPr dirty="0" sz="120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Chain </a:t>
            </a:r>
            <a:r>
              <a:rPr dirty="0" sz="1200" spc="-10" b="1">
                <a:latin typeface="Calibri"/>
                <a:cs typeface="Calibri"/>
              </a:rPr>
              <a:t>Loans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Loan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Amount:</a:t>
            </a:r>
            <a:r>
              <a:rPr dirty="0" sz="1200" spc="-25" b="1">
                <a:latin typeface="Calibri"/>
                <a:cs typeface="Calibri"/>
              </a:rPr>
              <a:t> IDR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7500(000)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 b="1">
                <a:latin typeface="Calibri"/>
                <a:cs typeface="Calibri"/>
              </a:rPr>
              <a:t>Interest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C9DAE"/>
                </a:solidFill>
                <a:latin typeface="Calibri"/>
                <a:cs typeface="Calibri"/>
              </a:rPr>
              <a:t>21.2%</a:t>
            </a:r>
            <a:r>
              <a:rPr dirty="0" sz="1200" spc="-1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5C9DAE"/>
                </a:solidFill>
                <a:latin typeface="Calibri"/>
                <a:cs typeface="Calibri"/>
              </a:rPr>
              <a:t>p.a.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654" y="5694934"/>
            <a:ext cx="184912" cy="177291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8578" y="5694934"/>
            <a:ext cx="184912" cy="17729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8978" y="5694934"/>
            <a:ext cx="184912" cy="17729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5438" y="5694934"/>
            <a:ext cx="183387" cy="177291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345" y="5694934"/>
            <a:ext cx="184911" cy="177291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2335148" y="5101208"/>
            <a:ext cx="819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Introduction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79545" y="4753102"/>
            <a:ext cx="4718050" cy="556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5"/>
              </a:spcBef>
            </a:pPr>
            <a:r>
              <a:rPr dirty="0" sz="1050" i="1">
                <a:latin typeface="Calibri"/>
                <a:cs typeface="Calibri"/>
              </a:rPr>
              <a:t>Graph</a:t>
            </a:r>
            <a:r>
              <a:rPr dirty="0" sz="1050" spc="-5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showing</a:t>
            </a:r>
            <a:r>
              <a:rPr dirty="0" sz="1050" spc="-2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the</a:t>
            </a:r>
            <a:r>
              <a:rPr dirty="0" sz="1050" spc="10" i="1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Demand-Supply</a:t>
            </a:r>
            <a:r>
              <a:rPr dirty="0" sz="1050" spc="-15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Gap</a:t>
            </a:r>
            <a:r>
              <a:rPr dirty="0" sz="1050" spc="-2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through</a:t>
            </a:r>
            <a:r>
              <a:rPr dirty="0" sz="1050" spc="10" i="1">
                <a:latin typeface="Calibri"/>
                <a:cs typeface="Calibri"/>
              </a:rPr>
              <a:t> </a:t>
            </a:r>
            <a:r>
              <a:rPr dirty="0" sz="1050" spc="-10" i="1">
                <a:latin typeface="Calibri"/>
                <a:cs typeface="Calibri"/>
              </a:rPr>
              <a:t>underfunding</a:t>
            </a:r>
            <a:r>
              <a:rPr dirty="0" sz="1050" spc="-30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via MFIs</a:t>
            </a:r>
            <a:r>
              <a:rPr dirty="0" sz="1050" spc="15" i="1">
                <a:latin typeface="Calibri"/>
                <a:cs typeface="Calibri"/>
              </a:rPr>
              <a:t> </a:t>
            </a:r>
            <a:r>
              <a:rPr dirty="0" sz="1050" i="1">
                <a:latin typeface="Calibri"/>
                <a:cs typeface="Calibri"/>
              </a:rPr>
              <a:t>in </a:t>
            </a:r>
            <a:r>
              <a:rPr dirty="0" sz="1050" spc="-10" i="1">
                <a:latin typeface="Calibri"/>
                <a:cs typeface="Calibri"/>
              </a:rPr>
              <a:t>Agriculture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218180" algn="l"/>
              </a:tabLst>
            </a:pPr>
            <a:r>
              <a:rPr dirty="0" sz="1200" b="1">
                <a:latin typeface="Calibri"/>
                <a:cs typeface="Calibri"/>
              </a:rPr>
              <a:t>Loan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Application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Assessment</a:t>
            </a:r>
            <a:r>
              <a:rPr dirty="0" sz="1200" b="1">
                <a:latin typeface="Calibri"/>
                <a:cs typeface="Calibri"/>
              </a:rPr>
              <a:t>	</a:t>
            </a:r>
            <a:r>
              <a:rPr dirty="0" sz="1200" spc="-10" b="1">
                <a:latin typeface="Calibri"/>
                <a:cs typeface="Calibri"/>
              </a:rPr>
              <a:t>Collateral</a:t>
            </a:r>
            <a:r>
              <a:rPr dirty="0" sz="120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Identification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143745" y="5089016"/>
            <a:ext cx="1248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Loan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Disbursement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950702" y="5101208"/>
            <a:ext cx="744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Repayment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209545" y="5540146"/>
            <a:ext cx="13398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Introduction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meeting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farmers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 b="1">
                <a:latin typeface="Calibri"/>
                <a:cs typeface="Calibri"/>
              </a:rPr>
              <a:t>identification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his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loan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876802" y="5503875"/>
            <a:ext cx="2853690" cy="810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105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details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25">
                <a:latin typeface="Calibri"/>
                <a:cs typeface="Calibri"/>
              </a:rPr>
              <a:t> the </a:t>
            </a:r>
            <a:r>
              <a:rPr dirty="0" sz="1200" spc="-10">
                <a:latin typeface="Calibri"/>
                <a:cs typeface="Calibri"/>
              </a:rPr>
              <a:t>borrower’s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intended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use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funds.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Analysis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borrower's </a:t>
            </a:r>
            <a:r>
              <a:rPr dirty="0" sz="1200" spc="-10" b="1">
                <a:latin typeface="Calibri"/>
                <a:cs typeface="Calibri"/>
              </a:rPr>
              <a:t>creditworthiness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UFH’s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devised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084314" y="5475223"/>
            <a:ext cx="1788795" cy="810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7200"/>
              </a:lnSpc>
              <a:spcBef>
                <a:spcPts val="105"/>
              </a:spcBef>
            </a:pPr>
            <a:r>
              <a:rPr dirty="0" sz="1200">
                <a:latin typeface="Calibri"/>
                <a:cs typeface="Calibri"/>
              </a:rPr>
              <a:t>UFH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taps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contracts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executed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farmer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value </a:t>
            </a:r>
            <a:r>
              <a:rPr dirty="0" sz="1200">
                <a:latin typeface="Calibri"/>
                <a:cs typeface="Calibri"/>
              </a:rPr>
              <a:t>chain;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terms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render </a:t>
            </a:r>
            <a:r>
              <a:rPr dirty="0" sz="1200">
                <a:latin typeface="Calibri"/>
                <a:cs typeface="Calibri"/>
              </a:rPr>
              <a:t>loans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subsidized </a:t>
            </a:r>
            <a:r>
              <a:rPr dirty="0" sz="1200" spc="-20" b="1">
                <a:latin typeface="Calibri"/>
                <a:cs typeface="Calibri"/>
              </a:rPr>
              <a:t>rates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266301" y="5483148"/>
            <a:ext cx="1152525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done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3-</a:t>
            </a:r>
            <a:r>
              <a:rPr dirty="0" sz="1200" b="1">
                <a:latin typeface="Calibri"/>
                <a:cs typeface="Calibri"/>
              </a:rPr>
              <a:t>pronged</a:t>
            </a:r>
            <a:r>
              <a:rPr dirty="0" sz="1200" spc="-7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Credilink strategy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776966" y="5472176"/>
            <a:ext cx="1261745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3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 spc="-10">
                <a:latin typeface="Calibri"/>
                <a:cs typeface="Calibri"/>
              </a:rPr>
              <a:t>completion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contract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guarantees </a:t>
            </a:r>
            <a:r>
              <a:rPr dirty="0" sz="1200" spc="-10" b="1">
                <a:latin typeface="Calibri"/>
                <a:cs typeface="Calibri"/>
              </a:rPr>
              <a:t>repayment </a:t>
            </a:r>
            <a:r>
              <a:rPr dirty="0" sz="1200" b="1">
                <a:latin typeface="Calibri"/>
                <a:cs typeface="Calibri"/>
              </a:rPr>
              <a:t>of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loan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9573768" y="1711451"/>
            <a:ext cx="2321560" cy="832485"/>
          </a:xfrm>
          <a:custGeom>
            <a:avLst/>
            <a:gdLst/>
            <a:ahLst/>
            <a:cxnLst/>
            <a:rect l="l" t="t" r="r" b="b"/>
            <a:pathLst>
              <a:path w="2321559" h="832485">
                <a:moveTo>
                  <a:pt x="2321052" y="0"/>
                </a:moveTo>
                <a:lnTo>
                  <a:pt x="0" y="0"/>
                </a:lnTo>
                <a:lnTo>
                  <a:pt x="0" y="832103"/>
                </a:lnTo>
                <a:lnTo>
                  <a:pt x="2321052" y="832103"/>
                </a:lnTo>
                <a:lnTo>
                  <a:pt x="232105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9654031" y="1736216"/>
            <a:ext cx="204216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Failed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Policy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Initiatives:</a:t>
            </a:r>
            <a:r>
              <a:rPr dirty="0" sz="1200" spc="19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Kredit </a:t>
            </a:r>
            <a:r>
              <a:rPr dirty="0" sz="1200">
                <a:latin typeface="Calibri"/>
                <a:cs typeface="Calibri"/>
              </a:rPr>
              <a:t>Usaya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Rukyat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limited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202429"/>
                </a:solidFill>
                <a:latin typeface="Calibri"/>
                <a:cs typeface="Calibri"/>
              </a:rPr>
              <a:t>26% </a:t>
            </a:r>
            <a:r>
              <a:rPr dirty="0" sz="1200">
                <a:solidFill>
                  <a:srgbClr val="202429"/>
                </a:solidFill>
                <a:latin typeface="Calibri"/>
                <a:cs typeface="Calibri"/>
              </a:rPr>
              <a:t>or</a:t>
            </a:r>
            <a:r>
              <a:rPr dirty="0" sz="12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429"/>
                </a:solidFill>
                <a:latin typeface="Calibri"/>
                <a:cs typeface="Calibri"/>
              </a:rPr>
              <a:t>IDR</a:t>
            </a:r>
            <a:r>
              <a:rPr dirty="0" sz="12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429"/>
                </a:solidFill>
                <a:latin typeface="Calibri"/>
                <a:cs typeface="Calibri"/>
              </a:rPr>
              <a:t>36.4</a:t>
            </a:r>
            <a:r>
              <a:rPr dirty="0" sz="12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429"/>
                </a:solidFill>
                <a:latin typeface="Calibri"/>
                <a:cs typeface="Calibri"/>
              </a:rPr>
              <a:t>trillion</a:t>
            </a:r>
            <a:r>
              <a:rPr dirty="0" sz="120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429"/>
                </a:solidFill>
                <a:latin typeface="Calibri"/>
                <a:cs typeface="Calibri"/>
              </a:rPr>
              <a:t>of</a:t>
            </a:r>
            <a:r>
              <a:rPr dirty="0" sz="120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02429"/>
                </a:solidFill>
                <a:latin typeface="Calibri"/>
                <a:cs typeface="Calibri"/>
              </a:rPr>
              <a:t>all </a:t>
            </a:r>
            <a:r>
              <a:rPr dirty="0" sz="1200" spc="-10">
                <a:solidFill>
                  <a:srgbClr val="202429"/>
                </a:solidFill>
                <a:latin typeface="Calibri"/>
                <a:cs typeface="Calibri"/>
              </a:rPr>
              <a:t>agricultural</a:t>
            </a:r>
            <a:r>
              <a:rPr dirty="0" sz="1200" spc="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Calibri"/>
                <a:cs typeface="Calibri"/>
              </a:rPr>
              <a:t>commodities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9573768" y="3933444"/>
            <a:ext cx="2321560" cy="830580"/>
          </a:xfrm>
          <a:custGeom>
            <a:avLst/>
            <a:gdLst/>
            <a:ahLst/>
            <a:cxnLst/>
            <a:rect l="l" t="t" r="r" b="b"/>
            <a:pathLst>
              <a:path w="2321559" h="830579">
                <a:moveTo>
                  <a:pt x="2321052" y="0"/>
                </a:moveTo>
                <a:lnTo>
                  <a:pt x="0" y="0"/>
                </a:lnTo>
                <a:lnTo>
                  <a:pt x="0" y="830579"/>
                </a:lnTo>
                <a:lnTo>
                  <a:pt x="2321052" y="830579"/>
                </a:lnTo>
                <a:lnTo>
                  <a:pt x="232105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9654031" y="3957573"/>
            <a:ext cx="1964689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Russia-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Ukraine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War: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Effect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prices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fertilisers</a:t>
            </a:r>
            <a:r>
              <a:rPr dirty="0" sz="1200" spc="-10" b="1">
                <a:latin typeface="Calibri"/>
                <a:cs typeface="Calibri"/>
              </a:rPr>
              <a:t>,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</a:t>
            </a:r>
            <a:r>
              <a:rPr dirty="0" sz="1200" spc="-10">
                <a:latin typeface="Calibri"/>
                <a:cs typeface="Calibri"/>
              </a:rPr>
              <a:t>necessary </a:t>
            </a:r>
            <a:r>
              <a:rPr dirty="0" sz="1200">
                <a:latin typeface="Calibri"/>
                <a:cs typeface="Calibri"/>
              </a:rPr>
              <a:t>raw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material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agriculture sector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819322" y="2766250"/>
            <a:ext cx="889635" cy="859155"/>
            <a:chOff x="9819322" y="2766250"/>
            <a:chExt cx="889635" cy="859155"/>
          </a:xfrm>
        </p:grpSpPr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7017" y="2927604"/>
              <a:ext cx="440151" cy="54254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9833609" y="2780538"/>
              <a:ext cx="861060" cy="830580"/>
            </a:xfrm>
            <a:custGeom>
              <a:avLst/>
              <a:gdLst/>
              <a:ahLst/>
              <a:cxnLst/>
              <a:rect l="l" t="t" r="r" b="b"/>
              <a:pathLst>
                <a:path w="861059" h="830579">
                  <a:moveTo>
                    <a:pt x="0" y="415289"/>
                  </a:moveTo>
                  <a:lnTo>
                    <a:pt x="2896" y="366857"/>
                  </a:lnTo>
                  <a:lnTo>
                    <a:pt x="11372" y="320066"/>
                  </a:lnTo>
                  <a:lnTo>
                    <a:pt x="25102" y="275228"/>
                  </a:lnTo>
                  <a:lnTo>
                    <a:pt x="43765" y="232654"/>
                  </a:lnTo>
                  <a:lnTo>
                    <a:pt x="67036" y="192656"/>
                  </a:lnTo>
                  <a:lnTo>
                    <a:pt x="94592" y="155545"/>
                  </a:lnTo>
                  <a:lnTo>
                    <a:pt x="126110" y="121634"/>
                  </a:lnTo>
                  <a:lnTo>
                    <a:pt x="161268" y="91233"/>
                  </a:lnTo>
                  <a:lnTo>
                    <a:pt x="199741" y="64654"/>
                  </a:lnTo>
                  <a:lnTo>
                    <a:pt x="241207" y="42209"/>
                  </a:lnTo>
                  <a:lnTo>
                    <a:pt x="285342" y="24210"/>
                  </a:lnTo>
                  <a:lnTo>
                    <a:pt x="331823" y="10967"/>
                  </a:lnTo>
                  <a:lnTo>
                    <a:pt x="380326" y="2793"/>
                  </a:lnTo>
                  <a:lnTo>
                    <a:pt x="430530" y="0"/>
                  </a:lnTo>
                  <a:lnTo>
                    <a:pt x="480733" y="2793"/>
                  </a:lnTo>
                  <a:lnTo>
                    <a:pt x="529236" y="10967"/>
                  </a:lnTo>
                  <a:lnTo>
                    <a:pt x="575717" y="24210"/>
                  </a:lnTo>
                  <a:lnTo>
                    <a:pt x="619852" y="42209"/>
                  </a:lnTo>
                  <a:lnTo>
                    <a:pt x="661318" y="64654"/>
                  </a:lnTo>
                  <a:lnTo>
                    <a:pt x="699791" y="91233"/>
                  </a:lnTo>
                  <a:lnTo>
                    <a:pt x="734948" y="121634"/>
                  </a:lnTo>
                  <a:lnTo>
                    <a:pt x="766467" y="155545"/>
                  </a:lnTo>
                  <a:lnTo>
                    <a:pt x="794023" y="192656"/>
                  </a:lnTo>
                  <a:lnTo>
                    <a:pt x="817294" y="232654"/>
                  </a:lnTo>
                  <a:lnTo>
                    <a:pt x="835957" y="275228"/>
                  </a:lnTo>
                  <a:lnTo>
                    <a:pt x="849687" y="320066"/>
                  </a:lnTo>
                  <a:lnTo>
                    <a:pt x="858163" y="366857"/>
                  </a:lnTo>
                  <a:lnTo>
                    <a:pt x="861060" y="415289"/>
                  </a:lnTo>
                  <a:lnTo>
                    <a:pt x="858163" y="463722"/>
                  </a:lnTo>
                  <a:lnTo>
                    <a:pt x="849687" y="510513"/>
                  </a:lnTo>
                  <a:lnTo>
                    <a:pt x="835957" y="555351"/>
                  </a:lnTo>
                  <a:lnTo>
                    <a:pt x="817294" y="597925"/>
                  </a:lnTo>
                  <a:lnTo>
                    <a:pt x="794023" y="637923"/>
                  </a:lnTo>
                  <a:lnTo>
                    <a:pt x="766467" y="675034"/>
                  </a:lnTo>
                  <a:lnTo>
                    <a:pt x="734949" y="708945"/>
                  </a:lnTo>
                  <a:lnTo>
                    <a:pt x="699791" y="739346"/>
                  </a:lnTo>
                  <a:lnTo>
                    <a:pt x="661318" y="765925"/>
                  </a:lnTo>
                  <a:lnTo>
                    <a:pt x="619852" y="788370"/>
                  </a:lnTo>
                  <a:lnTo>
                    <a:pt x="575717" y="806369"/>
                  </a:lnTo>
                  <a:lnTo>
                    <a:pt x="529236" y="819612"/>
                  </a:lnTo>
                  <a:lnTo>
                    <a:pt x="480733" y="827786"/>
                  </a:lnTo>
                  <a:lnTo>
                    <a:pt x="430530" y="830580"/>
                  </a:lnTo>
                  <a:lnTo>
                    <a:pt x="380326" y="827786"/>
                  </a:lnTo>
                  <a:lnTo>
                    <a:pt x="331823" y="819612"/>
                  </a:lnTo>
                  <a:lnTo>
                    <a:pt x="285342" y="806369"/>
                  </a:lnTo>
                  <a:lnTo>
                    <a:pt x="241207" y="788370"/>
                  </a:lnTo>
                  <a:lnTo>
                    <a:pt x="199741" y="765925"/>
                  </a:lnTo>
                  <a:lnTo>
                    <a:pt x="161268" y="739346"/>
                  </a:lnTo>
                  <a:lnTo>
                    <a:pt x="126111" y="708945"/>
                  </a:lnTo>
                  <a:lnTo>
                    <a:pt x="94592" y="675034"/>
                  </a:lnTo>
                  <a:lnTo>
                    <a:pt x="67036" y="637923"/>
                  </a:lnTo>
                  <a:lnTo>
                    <a:pt x="43765" y="597925"/>
                  </a:lnTo>
                  <a:lnTo>
                    <a:pt x="25102" y="555351"/>
                  </a:lnTo>
                  <a:lnTo>
                    <a:pt x="11372" y="510513"/>
                  </a:lnTo>
                  <a:lnTo>
                    <a:pt x="2896" y="463722"/>
                  </a:lnTo>
                  <a:lnTo>
                    <a:pt x="0" y="415289"/>
                  </a:lnTo>
                  <a:close/>
                </a:path>
              </a:pathLst>
            </a:custGeom>
            <a:ln w="28574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10794682" y="2766250"/>
            <a:ext cx="889635" cy="859155"/>
            <a:chOff x="10794682" y="2766250"/>
            <a:chExt cx="889635" cy="859155"/>
          </a:xfrm>
        </p:grpSpPr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72799" y="2906268"/>
              <a:ext cx="588264" cy="588263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0808969" y="2780538"/>
              <a:ext cx="861060" cy="830580"/>
            </a:xfrm>
            <a:custGeom>
              <a:avLst/>
              <a:gdLst/>
              <a:ahLst/>
              <a:cxnLst/>
              <a:rect l="l" t="t" r="r" b="b"/>
              <a:pathLst>
                <a:path w="861059" h="830579">
                  <a:moveTo>
                    <a:pt x="0" y="415289"/>
                  </a:moveTo>
                  <a:lnTo>
                    <a:pt x="2896" y="366857"/>
                  </a:lnTo>
                  <a:lnTo>
                    <a:pt x="11372" y="320066"/>
                  </a:lnTo>
                  <a:lnTo>
                    <a:pt x="25102" y="275228"/>
                  </a:lnTo>
                  <a:lnTo>
                    <a:pt x="43765" y="232654"/>
                  </a:lnTo>
                  <a:lnTo>
                    <a:pt x="67036" y="192656"/>
                  </a:lnTo>
                  <a:lnTo>
                    <a:pt x="94592" y="155545"/>
                  </a:lnTo>
                  <a:lnTo>
                    <a:pt x="126110" y="121634"/>
                  </a:lnTo>
                  <a:lnTo>
                    <a:pt x="161268" y="91233"/>
                  </a:lnTo>
                  <a:lnTo>
                    <a:pt x="199741" y="64654"/>
                  </a:lnTo>
                  <a:lnTo>
                    <a:pt x="241207" y="42209"/>
                  </a:lnTo>
                  <a:lnTo>
                    <a:pt x="285342" y="24210"/>
                  </a:lnTo>
                  <a:lnTo>
                    <a:pt x="331823" y="10967"/>
                  </a:lnTo>
                  <a:lnTo>
                    <a:pt x="380326" y="2793"/>
                  </a:lnTo>
                  <a:lnTo>
                    <a:pt x="430529" y="0"/>
                  </a:lnTo>
                  <a:lnTo>
                    <a:pt x="480733" y="2793"/>
                  </a:lnTo>
                  <a:lnTo>
                    <a:pt x="529236" y="10967"/>
                  </a:lnTo>
                  <a:lnTo>
                    <a:pt x="575717" y="24210"/>
                  </a:lnTo>
                  <a:lnTo>
                    <a:pt x="619852" y="42209"/>
                  </a:lnTo>
                  <a:lnTo>
                    <a:pt x="661318" y="64654"/>
                  </a:lnTo>
                  <a:lnTo>
                    <a:pt x="699791" y="91233"/>
                  </a:lnTo>
                  <a:lnTo>
                    <a:pt x="734948" y="121634"/>
                  </a:lnTo>
                  <a:lnTo>
                    <a:pt x="766467" y="155545"/>
                  </a:lnTo>
                  <a:lnTo>
                    <a:pt x="794023" y="192656"/>
                  </a:lnTo>
                  <a:lnTo>
                    <a:pt x="817294" y="232654"/>
                  </a:lnTo>
                  <a:lnTo>
                    <a:pt x="835957" y="275228"/>
                  </a:lnTo>
                  <a:lnTo>
                    <a:pt x="849687" y="320066"/>
                  </a:lnTo>
                  <a:lnTo>
                    <a:pt x="858163" y="366857"/>
                  </a:lnTo>
                  <a:lnTo>
                    <a:pt x="861059" y="415289"/>
                  </a:lnTo>
                  <a:lnTo>
                    <a:pt x="858163" y="463722"/>
                  </a:lnTo>
                  <a:lnTo>
                    <a:pt x="849687" y="510513"/>
                  </a:lnTo>
                  <a:lnTo>
                    <a:pt x="835957" y="555351"/>
                  </a:lnTo>
                  <a:lnTo>
                    <a:pt x="817294" y="597925"/>
                  </a:lnTo>
                  <a:lnTo>
                    <a:pt x="794023" y="637923"/>
                  </a:lnTo>
                  <a:lnTo>
                    <a:pt x="766467" y="675034"/>
                  </a:lnTo>
                  <a:lnTo>
                    <a:pt x="734949" y="708945"/>
                  </a:lnTo>
                  <a:lnTo>
                    <a:pt x="699791" y="739346"/>
                  </a:lnTo>
                  <a:lnTo>
                    <a:pt x="661318" y="765925"/>
                  </a:lnTo>
                  <a:lnTo>
                    <a:pt x="619852" y="788370"/>
                  </a:lnTo>
                  <a:lnTo>
                    <a:pt x="575717" y="806369"/>
                  </a:lnTo>
                  <a:lnTo>
                    <a:pt x="529236" y="819612"/>
                  </a:lnTo>
                  <a:lnTo>
                    <a:pt x="480733" y="827786"/>
                  </a:lnTo>
                  <a:lnTo>
                    <a:pt x="430529" y="830580"/>
                  </a:lnTo>
                  <a:lnTo>
                    <a:pt x="380326" y="827786"/>
                  </a:lnTo>
                  <a:lnTo>
                    <a:pt x="331823" y="819612"/>
                  </a:lnTo>
                  <a:lnTo>
                    <a:pt x="285342" y="806369"/>
                  </a:lnTo>
                  <a:lnTo>
                    <a:pt x="241207" y="788370"/>
                  </a:lnTo>
                  <a:lnTo>
                    <a:pt x="199741" y="765925"/>
                  </a:lnTo>
                  <a:lnTo>
                    <a:pt x="161268" y="739346"/>
                  </a:lnTo>
                  <a:lnTo>
                    <a:pt x="126111" y="708945"/>
                  </a:lnTo>
                  <a:lnTo>
                    <a:pt x="94592" y="675034"/>
                  </a:lnTo>
                  <a:lnTo>
                    <a:pt x="67036" y="637923"/>
                  </a:lnTo>
                  <a:lnTo>
                    <a:pt x="43765" y="597925"/>
                  </a:lnTo>
                  <a:lnTo>
                    <a:pt x="25102" y="555351"/>
                  </a:lnTo>
                  <a:lnTo>
                    <a:pt x="11372" y="510513"/>
                  </a:lnTo>
                  <a:lnTo>
                    <a:pt x="2896" y="463722"/>
                  </a:lnTo>
                  <a:lnTo>
                    <a:pt x="0" y="415289"/>
                  </a:lnTo>
                  <a:close/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1197965" y="1494535"/>
            <a:ext cx="17818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17475" marR="10922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Individual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Loans </a:t>
            </a:r>
            <a:r>
              <a:rPr dirty="0" sz="1200">
                <a:latin typeface="Calibri"/>
                <a:cs typeface="Calibri"/>
              </a:rPr>
              <a:t>Problems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solved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through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Reimagined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with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improved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Financial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Inclusion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46733" y="2765297"/>
            <a:ext cx="166179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Calibri"/>
                <a:cs typeface="Calibri"/>
              </a:rPr>
              <a:t>SMEs</a:t>
            </a:r>
            <a:endParaRPr sz="12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Aided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Agricultural Value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Credilink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18386" y="4103370"/>
            <a:ext cx="1579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Established </a:t>
            </a:r>
            <a:r>
              <a:rPr dirty="0" sz="1200" b="1">
                <a:latin typeface="Calibri"/>
                <a:cs typeface="Calibri"/>
              </a:rPr>
              <a:t>Loyal </a:t>
            </a:r>
            <a:r>
              <a:rPr dirty="0" sz="1200" spc="-10" b="1">
                <a:latin typeface="Calibri"/>
                <a:cs typeface="Calibri"/>
              </a:rPr>
              <a:t>Clients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0">
                <a:latin typeface="Calibri"/>
                <a:cs typeface="Calibri"/>
              </a:rPr>
              <a:t>Tapped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Credilink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374647" y="1430782"/>
            <a:ext cx="1794510" cy="873760"/>
            <a:chOff x="1374647" y="1430782"/>
            <a:chExt cx="1794510" cy="873760"/>
          </a:xfrm>
        </p:grpSpPr>
        <p:sp>
          <p:nvSpPr>
            <p:cNvPr id="72" name="object 72"/>
            <p:cNvSpPr/>
            <p:nvPr/>
          </p:nvSpPr>
          <p:spPr>
            <a:xfrm>
              <a:off x="1374647" y="1470660"/>
              <a:ext cx="1734820" cy="830580"/>
            </a:xfrm>
            <a:custGeom>
              <a:avLst/>
              <a:gdLst/>
              <a:ahLst/>
              <a:cxnLst/>
              <a:rect l="l" t="t" r="r" b="b"/>
              <a:pathLst>
                <a:path w="1734820" h="830580">
                  <a:moveTo>
                    <a:pt x="1734312" y="0"/>
                  </a:moveTo>
                  <a:lnTo>
                    <a:pt x="1734312" y="830579"/>
                  </a:lnTo>
                </a:path>
                <a:path w="1734820" h="830580">
                  <a:moveTo>
                    <a:pt x="0" y="830579"/>
                  </a:moveTo>
                  <a:lnTo>
                    <a:pt x="1733550" y="830579"/>
                  </a:lnTo>
                </a:path>
              </a:pathLst>
            </a:custGeom>
            <a:ln w="6350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6221" y="1430782"/>
              <a:ext cx="122427" cy="99567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1374647" y="2697226"/>
            <a:ext cx="1794510" cy="873760"/>
            <a:chOff x="1374647" y="2697226"/>
            <a:chExt cx="1794510" cy="873760"/>
          </a:xfrm>
        </p:grpSpPr>
        <p:sp>
          <p:nvSpPr>
            <p:cNvPr id="75" name="object 75"/>
            <p:cNvSpPr/>
            <p:nvPr/>
          </p:nvSpPr>
          <p:spPr>
            <a:xfrm>
              <a:off x="1374647" y="2737104"/>
              <a:ext cx="1734820" cy="830580"/>
            </a:xfrm>
            <a:custGeom>
              <a:avLst/>
              <a:gdLst/>
              <a:ahLst/>
              <a:cxnLst/>
              <a:rect l="l" t="t" r="r" b="b"/>
              <a:pathLst>
                <a:path w="1734820" h="830579">
                  <a:moveTo>
                    <a:pt x="1734312" y="0"/>
                  </a:moveTo>
                  <a:lnTo>
                    <a:pt x="1734312" y="830580"/>
                  </a:lnTo>
                </a:path>
                <a:path w="1734820" h="830579">
                  <a:moveTo>
                    <a:pt x="0" y="830580"/>
                  </a:moveTo>
                  <a:lnTo>
                    <a:pt x="1733550" y="830580"/>
                  </a:lnTo>
                </a:path>
              </a:pathLst>
            </a:custGeom>
            <a:ln w="6350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6221" y="2697226"/>
              <a:ext cx="122427" cy="99568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1374647" y="3850894"/>
            <a:ext cx="1794510" cy="873760"/>
            <a:chOff x="1374647" y="3850894"/>
            <a:chExt cx="1794510" cy="873760"/>
          </a:xfrm>
        </p:grpSpPr>
        <p:sp>
          <p:nvSpPr>
            <p:cNvPr id="78" name="object 78"/>
            <p:cNvSpPr/>
            <p:nvPr/>
          </p:nvSpPr>
          <p:spPr>
            <a:xfrm>
              <a:off x="1374647" y="3890772"/>
              <a:ext cx="1734820" cy="830580"/>
            </a:xfrm>
            <a:custGeom>
              <a:avLst/>
              <a:gdLst/>
              <a:ahLst/>
              <a:cxnLst/>
              <a:rect l="l" t="t" r="r" b="b"/>
              <a:pathLst>
                <a:path w="1734820" h="830579">
                  <a:moveTo>
                    <a:pt x="1734312" y="0"/>
                  </a:moveTo>
                  <a:lnTo>
                    <a:pt x="1734312" y="830579"/>
                  </a:lnTo>
                </a:path>
                <a:path w="1734820" h="830579">
                  <a:moveTo>
                    <a:pt x="0" y="830579"/>
                  </a:moveTo>
                  <a:lnTo>
                    <a:pt x="1733550" y="830579"/>
                  </a:lnTo>
                </a:path>
              </a:pathLst>
            </a:custGeom>
            <a:ln w="6350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6221" y="3850894"/>
              <a:ext cx="122427" cy="99568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728971" y="6509004"/>
            <a:ext cx="209740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Phoenix: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04317" y="6336284"/>
            <a:ext cx="12623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2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OJK,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OECD</a:t>
            </a:r>
            <a:r>
              <a:rPr dirty="0" sz="800" spc="-4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Database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7" name="object 87"/>
          <p:cNvGrpSpPr/>
          <p:nvPr/>
        </p:nvGrpSpPr>
        <p:grpSpPr>
          <a:xfrm>
            <a:off x="9280906" y="1624330"/>
            <a:ext cx="370840" cy="351155"/>
            <a:chOff x="9280906" y="1624330"/>
            <a:chExt cx="370840" cy="351155"/>
          </a:xfrm>
        </p:grpSpPr>
        <p:sp>
          <p:nvSpPr>
            <p:cNvPr id="88" name="object 88"/>
            <p:cNvSpPr/>
            <p:nvPr/>
          </p:nvSpPr>
          <p:spPr>
            <a:xfrm>
              <a:off x="9287256" y="1630680"/>
              <a:ext cx="358140" cy="338455"/>
            </a:xfrm>
            <a:custGeom>
              <a:avLst/>
              <a:gdLst/>
              <a:ahLst/>
              <a:cxnLst/>
              <a:rect l="l" t="t" r="r" b="b"/>
              <a:pathLst>
                <a:path w="358140" h="338455">
                  <a:moveTo>
                    <a:pt x="179070" y="0"/>
                  </a:moveTo>
                  <a:lnTo>
                    <a:pt x="131453" y="6039"/>
                  </a:lnTo>
                  <a:lnTo>
                    <a:pt x="88674" y="23085"/>
                  </a:lnTo>
                  <a:lnTo>
                    <a:pt x="52435" y="49530"/>
                  </a:lnTo>
                  <a:lnTo>
                    <a:pt x="24440" y="83763"/>
                  </a:lnTo>
                  <a:lnTo>
                    <a:pt x="6394" y="124177"/>
                  </a:lnTo>
                  <a:lnTo>
                    <a:pt x="0" y="169164"/>
                  </a:lnTo>
                  <a:lnTo>
                    <a:pt x="6394" y="214150"/>
                  </a:lnTo>
                  <a:lnTo>
                    <a:pt x="24440" y="254564"/>
                  </a:lnTo>
                  <a:lnTo>
                    <a:pt x="52435" y="288798"/>
                  </a:lnTo>
                  <a:lnTo>
                    <a:pt x="88674" y="315242"/>
                  </a:lnTo>
                  <a:lnTo>
                    <a:pt x="131453" y="332288"/>
                  </a:lnTo>
                  <a:lnTo>
                    <a:pt x="179070" y="338328"/>
                  </a:lnTo>
                  <a:lnTo>
                    <a:pt x="226686" y="332288"/>
                  </a:lnTo>
                  <a:lnTo>
                    <a:pt x="269465" y="315242"/>
                  </a:lnTo>
                  <a:lnTo>
                    <a:pt x="305704" y="288798"/>
                  </a:lnTo>
                  <a:lnTo>
                    <a:pt x="333699" y="254564"/>
                  </a:lnTo>
                  <a:lnTo>
                    <a:pt x="351745" y="214150"/>
                  </a:lnTo>
                  <a:lnTo>
                    <a:pt x="358140" y="169164"/>
                  </a:lnTo>
                  <a:lnTo>
                    <a:pt x="351745" y="124177"/>
                  </a:lnTo>
                  <a:lnTo>
                    <a:pt x="333699" y="83763"/>
                  </a:lnTo>
                  <a:lnTo>
                    <a:pt x="305704" y="49530"/>
                  </a:lnTo>
                  <a:lnTo>
                    <a:pt x="269465" y="23085"/>
                  </a:lnTo>
                  <a:lnTo>
                    <a:pt x="226686" y="6039"/>
                  </a:lnTo>
                  <a:lnTo>
                    <a:pt x="1790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9287256" y="1630680"/>
              <a:ext cx="358140" cy="338455"/>
            </a:xfrm>
            <a:custGeom>
              <a:avLst/>
              <a:gdLst/>
              <a:ahLst/>
              <a:cxnLst/>
              <a:rect l="l" t="t" r="r" b="b"/>
              <a:pathLst>
                <a:path w="358140" h="338455">
                  <a:moveTo>
                    <a:pt x="0" y="169164"/>
                  </a:moveTo>
                  <a:lnTo>
                    <a:pt x="6394" y="124177"/>
                  </a:lnTo>
                  <a:lnTo>
                    <a:pt x="24440" y="83763"/>
                  </a:lnTo>
                  <a:lnTo>
                    <a:pt x="52435" y="49530"/>
                  </a:lnTo>
                  <a:lnTo>
                    <a:pt x="88674" y="23085"/>
                  </a:lnTo>
                  <a:lnTo>
                    <a:pt x="131453" y="6039"/>
                  </a:lnTo>
                  <a:lnTo>
                    <a:pt x="179070" y="0"/>
                  </a:lnTo>
                  <a:lnTo>
                    <a:pt x="226686" y="6039"/>
                  </a:lnTo>
                  <a:lnTo>
                    <a:pt x="269465" y="23085"/>
                  </a:lnTo>
                  <a:lnTo>
                    <a:pt x="305704" y="49530"/>
                  </a:lnTo>
                  <a:lnTo>
                    <a:pt x="333699" y="83763"/>
                  </a:lnTo>
                  <a:lnTo>
                    <a:pt x="351745" y="124177"/>
                  </a:lnTo>
                  <a:lnTo>
                    <a:pt x="358140" y="169164"/>
                  </a:lnTo>
                  <a:lnTo>
                    <a:pt x="351745" y="214150"/>
                  </a:lnTo>
                  <a:lnTo>
                    <a:pt x="333699" y="254564"/>
                  </a:lnTo>
                  <a:lnTo>
                    <a:pt x="305704" y="288798"/>
                  </a:lnTo>
                  <a:lnTo>
                    <a:pt x="269465" y="315242"/>
                  </a:lnTo>
                  <a:lnTo>
                    <a:pt x="226686" y="332288"/>
                  </a:lnTo>
                  <a:lnTo>
                    <a:pt x="179070" y="338328"/>
                  </a:lnTo>
                  <a:lnTo>
                    <a:pt x="131453" y="332288"/>
                  </a:lnTo>
                  <a:lnTo>
                    <a:pt x="88674" y="315242"/>
                  </a:lnTo>
                  <a:lnTo>
                    <a:pt x="52435" y="288798"/>
                  </a:lnTo>
                  <a:lnTo>
                    <a:pt x="24440" y="254564"/>
                  </a:lnTo>
                  <a:lnTo>
                    <a:pt x="6394" y="214150"/>
                  </a:lnTo>
                  <a:lnTo>
                    <a:pt x="0" y="169164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9396730" y="1634997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5C9DAE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9280906" y="3783838"/>
            <a:ext cx="370840" cy="351155"/>
            <a:chOff x="9280906" y="3783838"/>
            <a:chExt cx="370840" cy="351155"/>
          </a:xfrm>
        </p:grpSpPr>
        <p:sp>
          <p:nvSpPr>
            <p:cNvPr id="92" name="object 92"/>
            <p:cNvSpPr/>
            <p:nvPr/>
          </p:nvSpPr>
          <p:spPr>
            <a:xfrm>
              <a:off x="9287256" y="3790188"/>
              <a:ext cx="358140" cy="338455"/>
            </a:xfrm>
            <a:custGeom>
              <a:avLst/>
              <a:gdLst/>
              <a:ahLst/>
              <a:cxnLst/>
              <a:rect l="l" t="t" r="r" b="b"/>
              <a:pathLst>
                <a:path w="358140" h="338454">
                  <a:moveTo>
                    <a:pt x="179070" y="0"/>
                  </a:moveTo>
                  <a:lnTo>
                    <a:pt x="131453" y="6039"/>
                  </a:lnTo>
                  <a:lnTo>
                    <a:pt x="88674" y="23085"/>
                  </a:lnTo>
                  <a:lnTo>
                    <a:pt x="52435" y="49530"/>
                  </a:lnTo>
                  <a:lnTo>
                    <a:pt x="24440" y="83763"/>
                  </a:lnTo>
                  <a:lnTo>
                    <a:pt x="6394" y="124177"/>
                  </a:lnTo>
                  <a:lnTo>
                    <a:pt x="0" y="169163"/>
                  </a:lnTo>
                  <a:lnTo>
                    <a:pt x="6394" y="214150"/>
                  </a:lnTo>
                  <a:lnTo>
                    <a:pt x="24440" y="254564"/>
                  </a:lnTo>
                  <a:lnTo>
                    <a:pt x="52435" y="288798"/>
                  </a:lnTo>
                  <a:lnTo>
                    <a:pt x="88674" y="315242"/>
                  </a:lnTo>
                  <a:lnTo>
                    <a:pt x="131453" y="332288"/>
                  </a:lnTo>
                  <a:lnTo>
                    <a:pt x="179070" y="338328"/>
                  </a:lnTo>
                  <a:lnTo>
                    <a:pt x="226686" y="332288"/>
                  </a:lnTo>
                  <a:lnTo>
                    <a:pt x="269465" y="315242"/>
                  </a:lnTo>
                  <a:lnTo>
                    <a:pt x="305704" y="288798"/>
                  </a:lnTo>
                  <a:lnTo>
                    <a:pt x="333699" y="254564"/>
                  </a:lnTo>
                  <a:lnTo>
                    <a:pt x="351745" y="214150"/>
                  </a:lnTo>
                  <a:lnTo>
                    <a:pt x="358140" y="169163"/>
                  </a:lnTo>
                  <a:lnTo>
                    <a:pt x="351745" y="124177"/>
                  </a:lnTo>
                  <a:lnTo>
                    <a:pt x="333699" y="83763"/>
                  </a:lnTo>
                  <a:lnTo>
                    <a:pt x="305704" y="49530"/>
                  </a:lnTo>
                  <a:lnTo>
                    <a:pt x="269465" y="23085"/>
                  </a:lnTo>
                  <a:lnTo>
                    <a:pt x="226686" y="6039"/>
                  </a:lnTo>
                  <a:lnTo>
                    <a:pt x="1790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9287256" y="3790188"/>
              <a:ext cx="358140" cy="338455"/>
            </a:xfrm>
            <a:custGeom>
              <a:avLst/>
              <a:gdLst/>
              <a:ahLst/>
              <a:cxnLst/>
              <a:rect l="l" t="t" r="r" b="b"/>
              <a:pathLst>
                <a:path w="358140" h="338454">
                  <a:moveTo>
                    <a:pt x="0" y="169163"/>
                  </a:moveTo>
                  <a:lnTo>
                    <a:pt x="6394" y="124177"/>
                  </a:lnTo>
                  <a:lnTo>
                    <a:pt x="24440" y="83763"/>
                  </a:lnTo>
                  <a:lnTo>
                    <a:pt x="52435" y="49530"/>
                  </a:lnTo>
                  <a:lnTo>
                    <a:pt x="88674" y="23085"/>
                  </a:lnTo>
                  <a:lnTo>
                    <a:pt x="131453" y="6039"/>
                  </a:lnTo>
                  <a:lnTo>
                    <a:pt x="179070" y="0"/>
                  </a:lnTo>
                  <a:lnTo>
                    <a:pt x="226686" y="6039"/>
                  </a:lnTo>
                  <a:lnTo>
                    <a:pt x="269465" y="23085"/>
                  </a:lnTo>
                  <a:lnTo>
                    <a:pt x="305704" y="49530"/>
                  </a:lnTo>
                  <a:lnTo>
                    <a:pt x="333699" y="83763"/>
                  </a:lnTo>
                  <a:lnTo>
                    <a:pt x="351745" y="124177"/>
                  </a:lnTo>
                  <a:lnTo>
                    <a:pt x="358140" y="169163"/>
                  </a:lnTo>
                  <a:lnTo>
                    <a:pt x="351745" y="214150"/>
                  </a:lnTo>
                  <a:lnTo>
                    <a:pt x="333699" y="254564"/>
                  </a:lnTo>
                  <a:lnTo>
                    <a:pt x="305704" y="288798"/>
                  </a:lnTo>
                  <a:lnTo>
                    <a:pt x="269465" y="315242"/>
                  </a:lnTo>
                  <a:lnTo>
                    <a:pt x="226686" y="332288"/>
                  </a:lnTo>
                  <a:lnTo>
                    <a:pt x="179070" y="338328"/>
                  </a:lnTo>
                  <a:lnTo>
                    <a:pt x="131453" y="332288"/>
                  </a:lnTo>
                  <a:lnTo>
                    <a:pt x="88674" y="315242"/>
                  </a:lnTo>
                  <a:lnTo>
                    <a:pt x="52435" y="288798"/>
                  </a:lnTo>
                  <a:lnTo>
                    <a:pt x="24440" y="254564"/>
                  </a:lnTo>
                  <a:lnTo>
                    <a:pt x="6394" y="214150"/>
                  </a:lnTo>
                  <a:lnTo>
                    <a:pt x="0" y="169163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9396730" y="3795776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5C9DAE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8547" y="2282951"/>
            <a:ext cx="2024380" cy="661670"/>
          </a:xfrm>
          <a:custGeom>
            <a:avLst/>
            <a:gdLst/>
            <a:ahLst/>
            <a:cxnLst/>
            <a:rect l="l" t="t" r="r" b="b"/>
            <a:pathLst>
              <a:path w="2024379" h="661669">
                <a:moveTo>
                  <a:pt x="2023872" y="0"/>
                </a:moveTo>
                <a:lnTo>
                  <a:pt x="0" y="0"/>
                </a:lnTo>
                <a:lnTo>
                  <a:pt x="0" y="661415"/>
                </a:lnTo>
                <a:lnTo>
                  <a:pt x="2023872" y="661415"/>
                </a:lnTo>
                <a:lnTo>
                  <a:pt x="20238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18547" y="1706879"/>
            <a:ext cx="2024380" cy="451484"/>
          </a:xfrm>
          <a:custGeom>
            <a:avLst/>
            <a:gdLst/>
            <a:ahLst/>
            <a:cxnLst/>
            <a:rect l="l" t="t" r="r" b="b"/>
            <a:pathLst>
              <a:path w="2024379" h="451485">
                <a:moveTo>
                  <a:pt x="2023872" y="0"/>
                </a:moveTo>
                <a:lnTo>
                  <a:pt x="0" y="0"/>
                </a:lnTo>
                <a:lnTo>
                  <a:pt x="0" y="451103"/>
                </a:lnTo>
                <a:lnTo>
                  <a:pt x="2023872" y="451103"/>
                </a:lnTo>
                <a:lnTo>
                  <a:pt x="20238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A map of the country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1439" y="3398139"/>
            <a:ext cx="4460560" cy="3074314"/>
          </a:xfrm>
          <a:prstGeom prst="rect">
            <a:avLst/>
          </a:prstGeom>
        </p:spPr>
      </p:pic>
      <p:pic>
        <p:nvPicPr>
          <p:cNvPr id="5" name="object 5" descr="Global Microfinance Case Competition (GMCC) — Melbourne Microfinance  Initiativ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02568" y="268224"/>
            <a:ext cx="583692" cy="58521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0"/>
            <a:ext cx="10285730" cy="116205"/>
          </a:xfrm>
          <a:custGeom>
            <a:avLst/>
            <a:gdLst/>
            <a:ahLst/>
            <a:cxnLst/>
            <a:rect l="l" t="t" r="r" b="b"/>
            <a:pathLst>
              <a:path w="10285730" h="116205">
                <a:moveTo>
                  <a:pt x="10285476" y="0"/>
                </a:moveTo>
                <a:lnTo>
                  <a:pt x="0" y="0"/>
                </a:lnTo>
                <a:lnTo>
                  <a:pt x="0" y="115824"/>
                </a:lnTo>
                <a:lnTo>
                  <a:pt x="10285476" y="115824"/>
                </a:lnTo>
                <a:lnTo>
                  <a:pt x="10285476" y="0"/>
                </a:lnTo>
                <a:close/>
              </a:path>
            </a:pathLst>
          </a:custGeom>
          <a:solidFill>
            <a:srgbClr val="0A47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556492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6E8E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285476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5C9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2023" y="6516623"/>
            <a:ext cx="4537075" cy="0"/>
          </a:xfrm>
          <a:custGeom>
            <a:avLst/>
            <a:gdLst/>
            <a:ahLst/>
            <a:cxnLst/>
            <a:rect l="l" t="t" r="r" b="b"/>
            <a:pathLst>
              <a:path w="4537075" h="0">
                <a:moveTo>
                  <a:pt x="0" y="0"/>
                </a:moveTo>
                <a:lnTo>
                  <a:pt x="4536948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4728971" y="6509004"/>
            <a:ext cx="7256145" cy="335280"/>
            <a:chOff x="4728971" y="6509004"/>
            <a:chExt cx="7256145" cy="335280"/>
          </a:xfrm>
        </p:grpSpPr>
        <p:sp>
          <p:nvSpPr>
            <p:cNvPr id="11" name="object 11"/>
            <p:cNvSpPr/>
            <p:nvPr/>
          </p:nvSpPr>
          <p:spPr>
            <a:xfrm>
              <a:off x="6825995" y="6516624"/>
              <a:ext cx="5159375" cy="0"/>
            </a:xfrm>
            <a:custGeom>
              <a:avLst/>
              <a:gdLst/>
              <a:ahLst/>
              <a:cxnLst/>
              <a:rect l="l" t="t" r="r" b="b"/>
              <a:pathLst>
                <a:path w="5159375" h="0">
                  <a:moveTo>
                    <a:pt x="0" y="0"/>
                  </a:moveTo>
                  <a:lnTo>
                    <a:pt x="5159121" y="0"/>
                  </a:lnTo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728971" y="6509004"/>
              <a:ext cx="2097405" cy="335280"/>
            </a:xfrm>
            <a:custGeom>
              <a:avLst/>
              <a:gdLst/>
              <a:ahLst/>
              <a:cxnLst/>
              <a:rect l="l" t="t" r="r" b="b"/>
              <a:pathLst>
                <a:path w="2097404" h="335279">
                  <a:moveTo>
                    <a:pt x="2097024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2097024" y="335280"/>
                  </a:lnTo>
                  <a:lnTo>
                    <a:pt x="2097024" y="0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17780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140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12.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24434" y="87629"/>
            <a:ext cx="38620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SCALING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/>
              <a:t>EXPANSION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4752" y="520445"/>
            <a:ext cx="112369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23625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Papua's</a:t>
            </a:r>
            <a:r>
              <a:rPr dirty="0" u="sng" sz="2000" spc="-6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Untapped</a:t>
            </a:r>
            <a:r>
              <a:rPr dirty="0" u="sng" sz="2000" spc="-6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Potential: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Agricultural</a:t>
            </a:r>
            <a:r>
              <a:rPr dirty="0" u="sng" sz="2000" spc="-6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Diversification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for</a:t>
            </a:r>
            <a:r>
              <a:rPr dirty="0" u="sng" sz="2000" spc="-7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Sustainable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Household</a:t>
            </a:r>
            <a:r>
              <a:rPr dirty="0" u="sng" sz="2000" spc="-8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6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Business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Growth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7036" y="1536064"/>
            <a:ext cx="1264285" cy="1264920"/>
            <a:chOff x="247036" y="1536064"/>
            <a:chExt cx="1264285" cy="126492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9068" y="1536064"/>
              <a:ext cx="118478" cy="16649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47036" y="1536064"/>
              <a:ext cx="1264285" cy="1264920"/>
            </a:xfrm>
            <a:custGeom>
              <a:avLst/>
              <a:gdLst/>
              <a:ahLst/>
              <a:cxnLst/>
              <a:rect l="l" t="t" r="r" b="b"/>
              <a:pathLst>
                <a:path w="1264285" h="1264920">
                  <a:moveTo>
                    <a:pt x="632032" y="0"/>
                  </a:moveTo>
                  <a:lnTo>
                    <a:pt x="584493" y="1772"/>
                  </a:lnTo>
                  <a:lnTo>
                    <a:pt x="537807" y="7013"/>
                  </a:lnTo>
                  <a:lnTo>
                    <a:pt x="492113" y="15604"/>
                  </a:lnTo>
                  <a:lnTo>
                    <a:pt x="447554" y="27431"/>
                  </a:lnTo>
                  <a:lnTo>
                    <a:pt x="404269" y="42376"/>
                  </a:lnTo>
                  <a:lnTo>
                    <a:pt x="362400" y="60323"/>
                  </a:lnTo>
                  <a:lnTo>
                    <a:pt x="322087" y="81155"/>
                  </a:lnTo>
                  <a:lnTo>
                    <a:pt x="283471" y="104757"/>
                  </a:lnTo>
                  <a:lnTo>
                    <a:pt x="246694" y="131011"/>
                  </a:lnTo>
                  <a:lnTo>
                    <a:pt x="211895" y="159802"/>
                  </a:lnTo>
                  <a:lnTo>
                    <a:pt x="179217" y="191013"/>
                  </a:lnTo>
                  <a:lnTo>
                    <a:pt x="148799" y="224527"/>
                  </a:lnTo>
                  <a:lnTo>
                    <a:pt x="120782" y="260228"/>
                  </a:lnTo>
                  <a:lnTo>
                    <a:pt x="95308" y="297999"/>
                  </a:lnTo>
                  <a:lnTo>
                    <a:pt x="72517" y="337725"/>
                  </a:lnTo>
                  <a:lnTo>
                    <a:pt x="52550" y="379289"/>
                  </a:lnTo>
                  <a:lnTo>
                    <a:pt x="35548" y="422574"/>
                  </a:lnTo>
                  <a:lnTo>
                    <a:pt x="21652" y="467463"/>
                  </a:lnTo>
                  <a:lnTo>
                    <a:pt x="11002" y="513842"/>
                  </a:lnTo>
                  <a:lnTo>
                    <a:pt x="3863" y="560504"/>
                  </a:lnTo>
                  <a:lnTo>
                    <a:pt x="228" y="606876"/>
                  </a:lnTo>
                  <a:lnTo>
                    <a:pt x="0" y="652816"/>
                  </a:lnTo>
                  <a:lnTo>
                    <a:pt x="3080" y="698181"/>
                  </a:lnTo>
                  <a:lnTo>
                    <a:pt x="9371" y="742828"/>
                  </a:lnTo>
                  <a:lnTo>
                    <a:pt x="18778" y="786613"/>
                  </a:lnTo>
                  <a:lnTo>
                    <a:pt x="31201" y="829394"/>
                  </a:lnTo>
                  <a:lnTo>
                    <a:pt x="46545" y="871028"/>
                  </a:lnTo>
                  <a:lnTo>
                    <a:pt x="64712" y="911371"/>
                  </a:lnTo>
                  <a:lnTo>
                    <a:pt x="85605" y="950281"/>
                  </a:lnTo>
                  <a:lnTo>
                    <a:pt x="109127" y="987615"/>
                  </a:lnTo>
                  <a:lnTo>
                    <a:pt x="135180" y="1023230"/>
                  </a:lnTo>
                  <a:lnTo>
                    <a:pt x="163667" y="1056982"/>
                  </a:lnTo>
                  <a:lnTo>
                    <a:pt x="194492" y="1088729"/>
                  </a:lnTo>
                  <a:lnTo>
                    <a:pt x="227557" y="1118328"/>
                  </a:lnTo>
                  <a:lnTo>
                    <a:pt x="262764" y="1145636"/>
                  </a:lnTo>
                  <a:lnTo>
                    <a:pt x="300017" y="1170510"/>
                  </a:lnTo>
                  <a:lnTo>
                    <a:pt x="339219" y="1192807"/>
                  </a:lnTo>
                  <a:lnTo>
                    <a:pt x="380271" y="1212383"/>
                  </a:lnTo>
                  <a:lnTo>
                    <a:pt x="423078" y="1229097"/>
                  </a:lnTo>
                  <a:lnTo>
                    <a:pt x="467542" y="1242804"/>
                  </a:lnTo>
                  <a:lnTo>
                    <a:pt x="513566" y="1253363"/>
                  </a:lnTo>
                  <a:lnTo>
                    <a:pt x="560240" y="1260497"/>
                  </a:lnTo>
                  <a:lnTo>
                    <a:pt x="606624" y="1264129"/>
                  </a:lnTo>
                  <a:lnTo>
                    <a:pt x="652574" y="1264354"/>
                  </a:lnTo>
                  <a:lnTo>
                    <a:pt x="697949" y="1261270"/>
                  </a:lnTo>
                  <a:lnTo>
                    <a:pt x="742604" y="1254974"/>
                  </a:lnTo>
                  <a:lnTo>
                    <a:pt x="786397" y="1245563"/>
                  </a:lnTo>
                  <a:lnTo>
                    <a:pt x="829184" y="1233135"/>
                  </a:lnTo>
                  <a:lnTo>
                    <a:pt x="870824" y="1217787"/>
                  </a:lnTo>
                  <a:lnTo>
                    <a:pt x="911171" y="1199615"/>
                  </a:lnTo>
                  <a:lnTo>
                    <a:pt x="950085" y="1178718"/>
                  </a:lnTo>
                  <a:lnTo>
                    <a:pt x="987421" y="1155192"/>
                  </a:lnTo>
                  <a:lnTo>
                    <a:pt x="1023036" y="1129134"/>
                  </a:lnTo>
                  <a:lnTo>
                    <a:pt x="1056787" y="1100641"/>
                  </a:lnTo>
                  <a:lnTo>
                    <a:pt x="1088532" y="1069812"/>
                  </a:lnTo>
                  <a:lnTo>
                    <a:pt x="1118128" y="1036742"/>
                  </a:lnTo>
                  <a:lnTo>
                    <a:pt x="1145430" y="1001530"/>
                  </a:lnTo>
                  <a:lnTo>
                    <a:pt x="1170297" y="964271"/>
                  </a:lnTo>
                  <a:lnTo>
                    <a:pt x="1192585" y="925065"/>
                  </a:lnTo>
                  <a:lnTo>
                    <a:pt x="1212151" y="884007"/>
                  </a:lnTo>
                  <a:lnTo>
                    <a:pt x="1228852" y="841195"/>
                  </a:lnTo>
                  <a:lnTo>
                    <a:pt x="1242545" y="796725"/>
                  </a:lnTo>
                  <a:lnTo>
                    <a:pt x="1253087" y="750697"/>
                  </a:lnTo>
                  <a:lnTo>
                    <a:pt x="1260222" y="704034"/>
                  </a:lnTo>
                  <a:lnTo>
                    <a:pt x="1263853" y="657662"/>
                  </a:lnTo>
                  <a:lnTo>
                    <a:pt x="1264079" y="611722"/>
                  </a:lnTo>
                  <a:lnTo>
                    <a:pt x="1260995" y="566357"/>
                  </a:lnTo>
                  <a:lnTo>
                    <a:pt x="1254700" y="521712"/>
                  </a:lnTo>
                  <a:lnTo>
                    <a:pt x="1245290" y="477927"/>
                  </a:lnTo>
                  <a:lnTo>
                    <a:pt x="1232863" y="435148"/>
                  </a:lnTo>
                  <a:lnTo>
                    <a:pt x="1217516" y="393516"/>
                  </a:lnTo>
                  <a:lnTo>
                    <a:pt x="1199346" y="353176"/>
                  </a:lnTo>
                  <a:lnTo>
                    <a:pt x="1178451" y="314269"/>
                  </a:lnTo>
                  <a:lnTo>
                    <a:pt x="1154927" y="276939"/>
                  </a:lnTo>
                  <a:lnTo>
                    <a:pt x="1128873" y="241329"/>
                  </a:lnTo>
                  <a:lnTo>
                    <a:pt x="1100384" y="207582"/>
                  </a:lnTo>
                  <a:lnTo>
                    <a:pt x="1069559" y="175841"/>
                  </a:lnTo>
                  <a:lnTo>
                    <a:pt x="1036495" y="146250"/>
                  </a:lnTo>
                  <a:lnTo>
                    <a:pt x="1001288" y="118951"/>
                  </a:lnTo>
                  <a:lnTo>
                    <a:pt x="964037" y="94087"/>
                  </a:lnTo>
                  <a:lnTo>
                    <a:pt x="924838" y="71801"/>
                  </a:lnTo>
                  <a:lnTo>
                    <a:pt x="883789" y="52237"/>
                  </a:lnTo>
                  <a:lnTo>
                    <a:pt x="840986" y="35537"/>
                  </a:lnTo>
                  <a:lnTo>
                    <a:pt x="796527" y="21844"/>
                  </a:lnTo>
                  <a:lnTo>
                    <a:pt x="750510" y="11302"/>
                  </a:lnTo>
                  <a:lnTo>
                    <a:pt x="720894" y="166497"/>
                  </a:lnTo>
                  <a:lnTo>
                    <a:pt x="767820" y="177935"/>
                  </a:lnTo>
                  <a:lnTo>
                    <a:pt x="812634" y="193787"/>
                  </a:lnTo>
                  <a:lnTo>
                    <a:pt x="855116" y="213789"/>
                  </a:lnTo>
                  <a:lnTo>
                    <a:pt x="895048" y="237677"/>
                  </a:lnTo>
                  <a:lnTo>
                    <a:pt x="932212" y="265188"/>
                  </a:lnTo>
                  <a:lnTo>
                    <a:pt x="966390" y="296059"/>
                  </a:lnTo>
                  <a:lnTo>
                    <a:pt x="997365" y="330025"/>
                  </a:lnTo>
                  <a:lnTo>
                    <a:pt x="1024917" y="366823"/>
                  </a:lnTo>
                  <a:lnTo>
                    <a:pt x="1048829" y="406190"/>
                  </a:lnTo>
                  <a:lnTo>
                    <a:pt x="1068882" y="447863"/>
                  </a:lnTo>
                  <a:lnTo>
                    <a:pt x="1084859" y="491576"/>
                  </a:lnTo>
                  <a:lnTo>
                    <a:pt x="1096541" y="537068"/>
                  </a:lnTo>
                  <a:lnTo>
                    <a:pt x="1103710" y="584075"/>
                  </a:lnTo>
                  <a:lnTo>
                    <a:pt x="1106148" y="632333"/>
                  </a:lnTo>
                  <a:lnTo>
                    <a:pt x="1103701" y="680812"/>
                  </a:lnTo>
                  <a:lnTo>
                    <a:pt x="1096517" y="727890"/>
                  </a:lnTo>
                  <a:lnTo>
                    <a:pt x="1084836" y="773328"/>
                  </a:lnTo>
                  <a:lnTo>
                    <a:pt x="1068895" y="816887"/>
                  </a:lnTo>
                  <a:lnTo>
                    <a:pt x="1048933" y="858330"/>
                  </a:lnTo>
                  <a:lnTo>
                    <a:pt x="1025187" y="897419"/>
                  </a:lnTo>
                  <a:lnTo>
                    <a:pt x="997896" y="933915"/>
                  </a:lnTo>
                  <a:lnTo>
                    <a:pt x="967297" y="967581"/>
                  </a:lnTo>
                  <a:lnTo>
                    <a:pt x="933630" y="998177"/>
                  </a:lnTo>
                  <a:lnTo>
                    <a:pt x="897132" y="1025467"/>
                  </a:lnTo>
                  <a:lnTo>
                    <a:pt x="858041" y="1049211"/>
                  </a:lnTo>
                  <a:lnTo>
                    <a:pt x="816596" y="1069173"/>
                  </a:lnTo>
                  <a:lnTo>
                    <a:pt x="773034" y="1085113"/>
                  </a:lnTo>
                  <a:lnTo>
                    <a:pt x="727594" y="1096793"/>
                  </a:lnTo>
                  <a:lnTo>
                    <a:pt x="680514" y="1103976"/>
                  </a:lnTo>
                  <a:lnTo>
                    <a:pt x="632032" y="1106424"/>
                  </a:lnTo>
                  <a:lnTo>
                    <a:pt x="583551" y="1103976"/>
                  </a:lnTo>
                  <a:lnTo>
                    <a:pt x="536471" y="1096793"/>
                  </a:lnTo>
                  <a:lnTo>
                    <a:pt x="491029" y="1085113"/>
                  </a:lnTo>
                  <a:lnTo>
                    <a:pt x="447465" y="1069173"/>
                  </a:lnTo>
                  <a:lnTo>
                    <a:pt x="406016" y="1049211"/>
                  </a:lnTo>
                  <a:lnTo>
                    <a:pt x="366921" y="1025467"/>
                  </a:lnTo>
                  <a:lnTo>
                    <a:pt x="330418" y="998177"/>
                  </a:lnTo>
                  <a:lnTo>
                    <a:pt x="296745" y="967581"/>
                  </a:lnTo>
                  <a:lnTo>
                    <a:pt x="266142" y="933915"/>
                  </a:lnTo>
                  <a:lnTo>
                    <a:pt x="238845" y="897419"/>
                  </a:lnTo>
                  <a:lnTo>
                    <a:pt x="215094" y="858330"/>
                  </a:lnTo>
                  <a:lnTo>
                    <a:pt x="195127" y="816887"/>
                  </a:lnTo>
                  <a:lnTo>
                    <a:pt x="179182" y="773328"/>
                  </a:lnTo>
                  <a:lnTo>
                    <a:pt x="167498" y="727890"/>
                  </a:lnTo>
                  <a:lnTo>
                    <a:pt x="160313" y="680812"/>
                  </a:lnTo>
                  <a:lnTo>
                    <a:pt x="157865" y="632333"/>
                  </a:lnTo>
                  <a:lnTo>
                    <a:pt x="160313" y="583851"/>
                  </a:lnTo>
                  <a:lnTo>
                    <a:pt x="167498" y="536769"/>
                  </a:lnTo>
                  <a:lnTo>
                    <a:pt x="179182" y="491325"/>
                  </a:lnTo>
                  <a:lnTo>
                    <a:pt x="195127" y="447758"/>
                  </a:lnTo>
                  <a:lnTo>
                    <a:pt x="215094" y="406305"/>
                  </a:lnTo>
                  <a:lnTo>
                    <a:pt x="238845" y="367206"/>
                  </a:lnTo>
                  <a:lnTo>
                    <a:pt x="266142" y="330698"/>
                  </a:lnTo>
                  <a:lnTo>
                    <a:pt x="296745" y="297021"/>
                  </a:lnTo>
                  <a:lnTo>
                    <a:pt x="330418" y="266412"/>
                  </a:lnTo>
                  <a:lnTo>
                    <a:pt x="366921" y="239111"/>
                  </a:lnTo>
                  <a:lnTo>
                    <a:pt x="406016" y="215356"/>
                  </a:lnTo>
                  <a:lnTo>
                    <a:pt x="447465" y="195385"/>
                  </a:lnTo>
                  <a:lnTo>
                    <a:pt x="491029" y="179437"/>
                  </a:lnTo>
                  <a:lnTo>
                    <a:pt x="536471" y="167750"/>
                  </a:lnTo>
                  <a:lnTo>
                    <a:pt x="583551" y="160563"/>
                  </a:lnTo>
                  <a:lnTo>
                    <a:pt x="632032" y="158114"/>
                  </a:lnTo>
                  <a:lnTo>
                    <a:pt x="632032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35279" y="2025218"/>
            <a:ext cx="3079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5C9DAE"/>
                </a:solidFill>
                <a:latin typeface="Calibri"/>
                <a:cs typeface="Calibri"/>
              </a:rPr>
              <a:t>3%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8836" y="1883156"/>
            <a:ext cx="109156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People</a:t>
            </a:r>
            <a:r>
              <a:rPr dirty="0" sz="1400" spc="-75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with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Product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72371" y="1532889"/>
            <a:ext cx="1278255" cy="1287780"/>
            <a:chOff x="2972371" y="1532889"/>
            <a:chExt cx="1278255" cy="1287780"/>
          </a:xfrm>
        </p:grpSpPr>
        <p:sp>
          <p:nvSpPr>
            <p:cNvPr id="22" name="object 22"/>
            <p:cNvSpPr/>
            <p:nvPr/>
          </p:nvSpPr>
          <p:spPr>
            <a:xfrm>
              <a:off x="3616070" y="1542414"/>
              <a:ext cx="634365" cy="1069340"/>
            </a:xfrm>
            <a:custGeom>
              <a:avLst/>
              <a:gdLst/>
              <a:ahLst/>
              <a:cxnLst/>
              <a:rect l="l" t="t" r="r" b="b"/>
              <a:pathLst>
                <a:path w="634364" h="1069339">
                  <a:moveTo>
                    <a:pt x="0" y="0"/>
                  </a:moveTo>
                  <a:lnTo>
                    <a:pt x="0" y="158623"/>
                  </a:lnTo>
                  <a:lnTo>
                    <a:pt x="51521" y="161418"/>
                  </a:lnTo>
                  <a:lnTo>
                    <a:pt x="102070" y="169696"/>
                  </a:lnTo>
                  <a:lnTo>
                    <a:pt x="151232" y="183295"/>
                  </a:lnTo>
                  <a:lnTo>
                    <a:pt x="198595" y="202053"/>
                  </a:lnTo>
                  <a:lnTo>
                    <a:pt x="243745" y="225807"/>
                  </a:lnTo>
                  <a:lnTo>
                    <a:pt x="286269" y="254395"/>
                  </a:lnTo>
                  <a:lnTo>
                    <a:pt x="325754" y="287655"/>
                  </a:lnTo>
                  <a:lnTo>
                    <a:pt x="359529" y="322739"/>
                  </a:lnTo>
                  <a:lnTo>
                    <a:pt x="389028" y="360331"/>
                  </a:lnTo>
                  <a:lnTo>
                    <a:pt x="414238" y="400092"/>
                  </a:lnTo>
                  <a:lnTo>
                    <a:pt x="435151" y="441682"/>
                  </a:lnTo>
                  <a:lnTo>
                    <a:pt x="451754" y="484763"/>
                  </a:lnTo>
                  <a:lnTo>
                    <a:pt x="464037" y="528997"/>
                  </a:lnTo>
                  <a:lnTo>
                    <a:pt x="471989" y="574045"/>
                  </a:lnTo>
                  <a:lnTo>
                    <a:pt x="475599" y="619569"/>
                  </a:lnTo>
                  <a:lnTo>
                    <a:pt x="474855" y="665230"/>
                  </a:lnTo>
                  <a:lnTo>
                    <a:pt x="469747" y="710689"/>
                  </a:lnTo>
                  <a:lnTo>
                    <a:pt x="460264" y="755607"/>
                  </a:lnTo>
                  <a:lnTo>
                    <a:pt x="446395" y="799647"/>
                  </a:lnTo>
                  <a:lnTo>
                    <a:pt x="428128" y="842470"/>
                  </a:lnTo>
                  <a:lnTo>
                    <a:pt x="405454" y="883736"/>
                  </a:lnTo>
                  <a:lnTo>
                    <a:pt x="378360" y="923108"/>
                  </a:lnTo>
                  <a:lnTo>
                    <a:pt x="346837" y="960247"/>
                  </a:lnTo>
                  <a:lnTo>
                    <a:pt x="462406" y="1068832"/>
                  </a:lnTo>
                  <a:lnTo>
                    <a:pt x="494070" y="1032451"/>
                  </a:lnTo>
                  <a:lnTo>
                    <a:pt x="522718" y="993997"/>
                  </a:lnTo>
                  <a:lnTo>
                    <a:pt x="548276" y="953659"/>
                  </a:lnTo>
                  <a:lnTo>
                    <a:pt x="570667" y="911628"/>
                  </a:lnTo>
                  <a:lnTo>
                    <a:pt x="589819" y="868092"/>
                  </a:lnTo>
                  <a:lnTo>
                    <a:pt x="605656" y="823242"/>
                  </a:lnTo>
                  <a:lnTo>
                    <a:pt x="618104" y="777267"/>
                  </a:lnTo>
                  <a:lnTo>
                    <a:pt x="627088" y="730357"/>
                  </a:lnTo>
                  <a:lnTo>
                    <a:pt x="632533" y="682702"/>
                  </a:lnTo>
                  <a:lnTo>
                    <a:pt x="634364" y="634492"/>
                  </a:lnTo>
                  <a:lnTo>
                    <a:pt x="632625" y="587142"/>
                  </a:lnTo>
                  <a:lnTo>
                    <a:pt x="627487" y="540737"/>
                  </a:lnTo>
                  <a:lnTo>
                    <a:pt x="619075" y="495399"/>
                  </a:lnTo>
                  <a:lnTo>
                    <a:pt x="607510" y="451252"/>
                  </a:lnTo>
                  <a:lnTo>
                    <a:pt x="592914" y="408417"/>
                  </a:lnTo>
                  <a:lnTo>
                    <a:pt x="575412" y="367017"/>
                  </a:lnTo>
                  <a:lnTo>
                    <a:pt x="555125" y="327176"/>
                  </a:lnTo>
                  <a:lnTo>
                    <a:pt x="532175" y="289016"/>
                  </a:lnTo>
                  <a:lnTo>
                    <a:pt x="506686" y="252659"/>
                  </a:lnTo>
                  <a:lnTo>
                    <a:pt x="478780" y="218229"/>
                  </a:lnTo>
                  <a:lnTo>
                    <a:pt x="448579" y="185848"/>
                  </a:lnTo>
                  <a:lnTo>
                    <a:pt x="416207" y="155639"/>
                  </a:lnTo>
                  <a:lnTo>
                    <a:pt x="381785" y="127724"/>
                  </a:lnTo>
                  <a:lnTo>
                    <a:pt x="345437" y="102227"/>
                  </a:lnTo>
                  <a:lnTo>
                    <a:pt x="307284" y="79270"/>
                  </a:lnTo>
                  <a:lnTo>
                    <a:pt x="267450" y="58975"/>
                  </a:lnTo>
                  <a:lnTo>
                    <a:pt x="226057" y="41466"/>
                  </a:lnTo>
                  <a:lnTo>
                    <a:pt x="183228" y="26865"/>
                  </a:lnTo>
                  <a:lnTo>
                    <a:pt x="139085" y="15296"/>
                  </a:lnTo>
                  <a:lnTo>
                    <a:pt x="93751" y="6880"/>
                  </a:lnTo>
                  <a:lnTo>
                    <a:pt x="47348" y="17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981896" y="1542414"/>
              <a:ext cx="1096645" cy="1268730"/>
            </a:xfrm>
            <a:custGeom>
              <a:avLst/>
              <a:gdLst/>
              <a:ahLst/>
              <a:cxnLst/>
              <a:rect l="l" t="t" r="r" b="b"/>
              <a:pathLst>
                <a:path w="1096645" h="1268730">
                  <a:moveTo>
                    <a:pt x="634174" y="0"/>
                  </a:moveTo>
                  <a:lnTo>
                    <a:pt x="581872" y="2158"/>
                  </a:lnTo>
                  <a:lnTo>
                    <a:pt x="530280" y="8562"/>
                  </a:lnTo>
                  <a:lnTo>
                    <a:pt x="479636" y="19109"/>
                  </a:lnTo>
                  <a:lnTo>
                    <a:pt x="430177" y="33694"/>
                  </a:lnTo>
                  <a:lnTo>
                    <a:pt x="382143" y="52212"/>
                  </a:lnTo>
                  <a:lnTo>
                    <a:pt x="335769" y="74560"/>
                  </a:lnTo>
                  <a:lnTo>
                    <a:pt x="291294" y="100632"/>
                  </a:lnTo>
                  <a:lnTo>
                    <a:pt x="248956" y="130324"/>
                  </a:lnTo>
                  <a:lnTo>
                    <a:pt x="208992" y="163532"/>
                  </a:lnTo>
                  <a:lnTo>
                    <a:pt x="171640" y="200151"/>
                  </a:lnTo>
                  <a:lnTo>
                    <a:pt x="140491" y="235871"/>
                  </a:lnTo>
                  <a:lnTo>
                    <a:pt x="112467" y="273227"/>
                  </a:lnTo>
                  <a:lnTo>
                    <a:pt x="87564" y="312045"/>
                  </a:lnTo>
                  <a:lnTo>
                    <a:pt x="65776" y="352152"/>
                  </a:lnTo>
                  <a:lnTo>
                    <a:pt x="47097" y="393375"/>
                  </a:lnTo>
                  <a:lnTo>
                    <a:pt x="31521" y="435541"/>
                  </a:lnTo>
                  <a:lnTo>
                    <a:pt x="19043" y="478476"/>
                  </a:lnTo>
                  <a:lnTo>
                    <a:pt x="9657" y="522007"/>
                  </a:lnTo>
                  <a:lnTo>
                    <a:pt x="3359" y="565962"/>
                  </a:lnTo>
                  <a:lnTo>
                    <a:pt x="141" y="610166"/>
                  </a:lnTo>
                  <a:lnTo>
                    <a:pt x="0" y="654446"/>
                  </a:lnTo>
                  <a:lnTo>
                    <a:pt x="2928" y="698630"/>
                  </a:lnTo>
                  <a:lnTo>
                    <a:pt x="8920" y="742544"/>
                  </a:lnTo>
                  <a:lnTo>
                    <a:pt x="17972" y="786014"/>
                  </a:lnTo>
                  <a:lnTo>
                    <a:pt x="30077" y="828868"/>
                  </a:lnTo>
                  <a:lnTo>
                    <a:pt x="45229" y="870931"/>
                  </a:lnTo>
                  <a:lnTo>
                    <a:pt x="63424" y="912032"/>
                  </a:lnTo>
                  <a:lnTo>
                    <a:pt x="84655" y="951996"/>
                  </a:lnTo>
                  <a:lnTo>
                    <a:pt x="108917" y="990651"/>
                  </a:lnTo>
                  <a:lnTo>
                    <a:pt x="136205" y="1027823"/>
                  </a:lnTo>
                  <a:lnTo>
                    <a:pt x="166512" y="1063339"/>
                  </a:lnTo>
                  <a:lnTo>
                    <a:pt x="199834" y="1097026"/>
                  </a:lnTo>
                  <a:lnTo>
                    <a:pt x="235538" y="1128175"/>
                  </a:lnTo>
                  <a:lnTo>
                    <a:pt x="272881" y="1156198"/>
                  </a:lnTo>
                  <a:lnTo>
                    <a:pt x="311688" y="1181101"/>
                  </a:lnTo>
                  <a:lnTo>
                    <a:pt x="351787" y="1202890"/>
                  </a:lnTo>
                  <a:lnTo>
                    <a:pt x="393004" y="1221569"/>
                  </a:lnTo>
                  <a:lnTo>
                    <a:pt x="435166" y="1237145"/>
                  </a:lnTo>
                  <a:lnTo>
                    <a:pt x="478098" y="1249623"/>
                  </a:lnTo>
                  <a:lnTo>
                    <a:pt x="521628" y="1259008"/>
                  </a:lnTo>
                  <a:lnTo>
                    <a:pt x="565581" y="1265307"/>
                  </a:lnTo>
                  <a:lnTo>
                    <a:pt x="609785" y="1268524"/>
                  </a:lnTo>
                  <a:lnTo>
                    <a:pt x="654065" y="1268666"/>
                  </a:lnTo>
                  <a:lnTo>
                    <a:pt x="698249" y="1265738"/>
                  </a:lnTo>
                  <a:lnTo>
                    <a:pt x="742162" y="1259745"/>
                  </a:lnTo>
                  <a:lnTo>
                    <a:pt x="785632" y="1250694"/>
                  </a:lnTo>
                  <a:lnTo>
                    <a:pt x="828483" y="1238589"/>
                  </a:lnTo>
                  <a:lnTo>
                    <a:pt x="870544" y="1223436"/>
                  </a:lnTo>
                  <a:lnTo>
                    <a:pt x="911641" y="1205242"/>
                  </a:lnTo>
                  <a:lnTo>
                    <a:pt x="951599" y="1184010"/>
                  </a:lnTo>
                  <a:lnTo>
                    <a:pt x="990246" y="1159748"/>
                  </a:lnTo>
                  <a:lnTo>
                    <a:pt x="1027407" y="1132461"/>
                  </a:lnTo>
                  <a:lnTo>
                    <a:pt x="1062910" y="1102153"/>
                  </a:lnTo>
                  <a:lnTo>
                    <a:pt x="1096581" y="1068832"/>
                  </a:lnTo>
                  <a:lnTo>
                    <a:pt x="981011" y="960247"/>
                  </a:lnTo>
                  <a:lnTo>
                    <a:pt x="945678" y="994190"/>
                  </a:lnTo>
                  <a:lnTo>
                    <a:pt x="907351" y="1024100"/>
                  </a:lnTo>
                  <a:lnTo>
                    <a:pt x="866381" y="1049825"/>
                  </a:lnTo>
                  <a:lnTo>
                    <a:pt x="823118" y="1071213"/>
                  </a:lnTo>
                  <a:lnTo>
                    <a:pt x="777915" y="1088112"/>
                  </a:lnTo>
                  <a:lnTo>
                    <a:pt x="731123" y="1100371"/>
                  </a:lnTo>
                  <a:lnTo>
                    <a:pt x="683092" y="1107838"/>
                  </a:lnTo>
                  <a:lnTo>
                    <a:pt x="634174" y="1110361"/>
                  </a:lnTo>
                  <a:lnTo>
                    <a:pt x="585507" y="1107904"/>
                  </a:lnTo>
                  <a:lnTo>
                    <a:pt x="538248" y="1100696"/>
                  </a:lnTo>
                  <a:lnTo>
                    <a:pt x="492637" y="1088973"/>
                  </a:lnTo>
                  <a:lnTo>
                    <a:pt x="448913" y="1072975"/>
                  </a:lnTo>
                  <a:lnTo>
                    <a:pt x="407313" y="1052941"/>
                  </a:lnTo>
                  <a:lnTo>
                    <a:pt x="368078" y="1029109"/>
                  </a:lnTo>
                  <a:lnTo>
                    <a:pt x="331446" y="1001719"/>
                  </a:lnTo>
                  <a:lnTo>
                    <a:pt x="297656" y="971010"/>
                  </a:lnTo>
                  <a:lnTo>
                    <a:pt x="266946" y="937219"/>
                  </a:lnTo>
                  <a:lnTo>
                    <a:pt x="239556" y="900587"/>
                  </a:lnTo>
                  <a:lnTo>
                    <a:pt x="215725" y="861352"/>
                  </a:lnTo>
                  <a:lnTo>
                    <a:pt x="195691" y="819753"/>
                  </a:lnTo>
                  <a:lnTo>
                    <a:pt x="179693" y="776028"/>
                  </a:lnTo>
                  <a:lnTo>
                    <a:pt x="167970" y="730417"/>
                  </a:lnTo>
                  <a:lnTo>
                    <a:pt x="160761" y="683159"/>
                  </a:lnTo>
                  <a:lnTo>
                    <a:pt x="158305" y="634492"/>
                  </a:lnTo>
                  <a:lnTo>
                    <a:pt x="160761" y="585845"/>
                  </a:lnTo>
                  <a:lnTo>
                    <a:pt x="167970" y="538602"/>
                  </a:lnTo>
                  <a:lnTo>
                    <a:pt x="179693" y="493002"/>
                  </a:lnTo>
                  <a:lnTo>
                    <a:pt x="195691" y="449284"/>
                  </a:lnTo>
                  <a:lnTo>
                    <a:pt x="215725" y="407687"/>
                  </a:lnTo>
                  <a:lnTo>
                    <a:pt x="239556" y="368452"/>
                  </a:lnTo>
                  <a:lnTo>
                    <a:pt x="266946" y="331816"/>
                  </a:lnTo>
                  <a:lnTo>
                    <a:pt x="297656" y="298021"/>
                  </a:lnTo>
                  <a:lnTo>
                    <a:pt x="331446" y="267305"/>
                  </a:lnTo>
                  <a:lnTo>
                    <a:pt x="368078" y="239907"/>
                  </a:lnTo>
                  <a:lnTo>
                    <a:pt x="407313" y="216068"/>
                  </a:lnTo>
                  <a:lnTo>
                    <a:pt x="448913" y="196026"/>
                  </a:lnTo>
                  <a:lnTo>
                    <a:pt x="492637" y="180021"/>
                  </a:lnTo>
                  <a:lnTo>
                    <a:pt x="538248" y="168293"/>
                  </a:lnTo>
                  <a:lnTo>
                    <a:pt x="585507" y="161080"/>
                  </a:lnTo>
                  <a:lnTo>
                    <a:pt x="634174" y="158623"/>
                  </a:lnTo>
                  <a:lnTo>
                    <a:pt x="634174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981896" y="1542414"/>
              <a:ext cx="1096645" cy="1268730"/>
            </a:xfrm>
            <a:custGeom>
              <a:avLst/>
              <a:gdLst/>
              <a:ahLst/>
              <a:cxnLst/>
              <a:rect l="l" t="t" r="r" b="b"/>
              <a:pathLst>
                <a:path w="1096645" h="1268730">
                  <a:moveTo>
                    <a:pt x="1096581" y="1068832"/>
                  </a:moveTo>
                  <a:lnTo>
                    <a:pt x="1062910" y="1102153"/>
                  </a:lnTo>
                  <a:lnTo>
                    <a:pt x="1027407" y="1132461"/>
                  </a:lnTo>
                  <a:lnTo>
                    <a:pt x="990246" y="1159748"/>
                  </a:lnTo>
                  <a:lnTo>
                    <a:pt x="951599" y="1184010"/>
                  </a:lnTo>
                  <a:lnTo>
                    <a:pt x="911641" y="1205242"/>
                  </a:lnTo>
                  <a:lnTo>
                    <a:pt x="870544" y="1223436"/>
                  </a:lnTo>
                  <a:lnTo>
                    <a:pt x="828483" y="1238589"/>
                  </a:lnTo>
                  <a:lnTo>
                    <a:pt x="785632" y="1250694"/>
                  </a:lnTo>
                  <a:lnTo>
                    <a:pt x="742162" y="1259745"/>
                  </a:lnTo>
                  <a:lnTo>
                    <a:pt x="698249" y="1265738"/>
                  </a:lnTo>
                  <a:lnTo>
                    <a:pt x="654065" y="1268666"/>
                  </a:lnTo>
                  <a:lnTo>
                    <a:pt x="609785" y="1268524"/>
                  </a:lnTo>
                  <a:lnTo>
                    <a:pt x="565581" y="1265307"/>
                  </a:lnTo>
                  <a:lnTo>
                    <a:pt x="521628" y="1259008"/>
                  </a:lnTo>
                  <a:lnTo>
                    <a:pt x="478098" y="1249623"/>
                  </a:lnTo>
                  <a:lnTo>
                    <a:pt x="435166" y="1237145"/>
                  </a:lnTo>
                  <a:lnTo>
                    <a:pt x="393004" y="1221569"/>
                  </a:lnTo>
                  <a:lnTo>
                    <a:pt x="351787" y="1202890"/>
                  </a:lnTo>
                  <a:lnTo>
                    <a:pt x="311688" y="1181101"/>
                  </a:lnTo>
                  <a:lnTo>
                    <a:pt x="272881" y="1156198"/>
                  </a:lnTo>
                  <a:lnTo>
                    <a:pt x="235538" y="1128175"/>
                  </a:lnTo>
                  <a:lnTo>
                    <a:pt x="199834" y="1097026"/>
                  </a:lnTo>
                  <a:lnTo>
                    <a:pt x="166512" y="1063339"/>
                  </a:lnTo>
                  <a:lnTo>
                    <a:pt x="136205" y="1027823"/>
                  </a:lnTo>
                  <a:lnTo>
                    <a:pt x="108917" y="990651"/>
                  </a:lnTo>
                  <a:lnTo>
                    <a:pt x="84655" y="951996"/>
                  </a:lnTo>
                  <a:lnTo>
                    <a:pt x="63424" y="912032"/>
                  </a:lnTo>
                  <a:lnTo>
                    <a:pt x="45229" y="870931"/>
                  </a:lnTo>
                  <a:lnTo>
                    <a:pt x="30077" y="828868"/>
                  </a:lnTo>
                  <a:lnTo>
                    <a:pt x="17972" y="786014"/>
                  </a:lnTo>
                  <a:lnTo>
                    <a:pt x="8920" y="742544"/>
                  </a:lnTo>
                  <a:lnTo>
                    <a:pt x="2928" y="698630"/>
                  </a:lnTo>
                  <a:lnTo>
                    <a:pt x="0" y="654446"/>
                  </a:lnTo>
                  <a:lnTo>
                    <a:pt x="141" y="610166"/>
                  </a:lnTo>
                  <a:lnTo>
                    <a:pt x="3359" y="565962"/>
                  </a:lnTo>
                  <a:lnTo>
                    <a:pt x="9657" y="522007"/>
                  </a:lnTo>
                  <a:lnTo>
                    <a:pt x="19043" y="478476"/>
                  </a:lnTo>
                  <a:lnTo>
                    <a:pt x="31521" y="435541"/>
                  </a:lnTo>
                  <a:lnTo>
                    <a:pt x="47097" y="393375"/>
                  </a:lnTo>
                  <a:lnTo>
                    <a:pt x="65776" y="352152"/>
                  </a:lnTo>
                  <a:lnTo>
                    <a:pt x="87564" y="312045"/>
                  </a:lnTo>
                  <a:lnTo>
                    <a:pt x="112467" y="273227"/>
                  </a:lnTo>
                  <a:lnTo>
                    <a:pt x="140491" y="235871"/>
                  </a:lnTo>
                  <a:lnTo>
                    <a:pt x="171640" y="200151"/>
                  </a:lnTo>
                  <a:lnTo>
                    <a:pt x="208992" y="163532"/>
                  </a:lnTo>
                  <a:lnTo>
                    <a:pt x="248956" y="130324"/>
                  </a:lnTo>
                  <a:lnTo>
                    <a:pt x="291294" y="100632"/>
                  </a:lnTo>
                  <a:lnTo>
                    <a:pt x="335769" y="74560"/>
                  </a:lnTo>
                  <a:lnTo>
                    <a:pt x="382143" y="52212"/>
                  </a:lnTo>
                  <a:lnTo>
                    <a:pt x="430177" y="33694"/>
                  </a:lnTo>
                  <a:lnTo>
                    <a:pt x="479636" y="19109"/>
                  </a:lnTo>
                  <a:lnTo>
                    <a:pt x="530280" y="8562"/>
                  </a:lnTo>
                  <a:lnTo>
                    <a:pt x="581872" y="2158"/>
                  </a:lnTo>
                  <a:lnTo>
                    <a:pt x="634174" y="0"/>
                  </a:lnTo>
                  <a:lnTo>
                    <a:pt x="634174" y="158623"/>
                  </a:lnTo>
                  <a:lnTo>
                    <a:pt x="585507" y="161080"/>
                  </a:lnTo>
                  <a:lnTo>
                    <a:pt x="538248" y="168293"/>
                  </a:lnTo>
                  <a:lnTo>
                    <a:pt x="492637" y="180021"/>
                  </a:lnTo>
                  <a:lnTo>
                    <a:pt x="448913" y="196026"/>
                  </a:lnTo>
                  <a:lnTo>
                    <a:pt x="407313" y="216068"/>
                  </a:lnTo>
                  <a:lnTo>
                    <a:pt x="368078" y="239907"/>
                  </a:lnTo>
                  <a:lnTo>
                    <a:pt x="331446" y="267305"/>
                  </a:lnTo>
                  <a:lnTo>
                    <a:pt x="297656" y="298021"/>
                  </a:lnTo>
                  <a:lnTo>
                    <a:pt x="266946" y="331816"/>
                  </a:lnTo>
                  <a:lnTo>
                    <a:pt x="239556" y="368452"/>
                  </a:lnTo>
                  <a:lnTo>
                    <a:pt x="215725" y="407687"/>
                  </a:lnTo>
                  <a:lnTo>
                    <a:pt x="195691" y="449284"/>
                  </a:lnTo>
                  <a:lnTo>
                    <a:pt x="179693" y="493002"/>
                  </a:lnTo>
                  <a:lnTo>
                    <a:pt x="167970" y="538602"/>
                  </a:lnTo>
                  <a:lnTo>
                    <a:pt x="160761" y="585845"/>
                  </a:lnTo>
                  <a:lnTo>
                    <a:pt x="158305" y="634492"/>
                  </a:lnTo>
                  <a:lnTo>
                    <a:pt x="160761" y="683159"/>
                  </a:lnTo>
                  <a:lnTo>
                    <a:pt x="167970" y="730417"/>
                  </a:lnTo>
                  <a:lnTo>
                    <a:pt x="179693" y="776028"/>
                  </a:lnTo>
                  <a:lnTo>
                    <a:pt x="195691" y="819753"/>
                  </a:lnTo>
                  <a:lnTo>
                    <a:pt x="215725" y="861352"/>
                  </a:lnTo>
                  <a:lnTo>
                    <a:pt x="239556" y="900587"/>
                  </a:lnTo>
                  <a:lnTo>
                    <a:pt x="266946" y="937219"/>
                  </a:lnTo>
                  <a:lnTo>
                    <a:pt x="297656" y="971010"/>
                  </a:lnTo>
                  <a:lnTo>
                    <a:pt x="331446" y="1001719"/>
                  </a:lnTo>
                  <a:lnTo>
                    <a:pt x="368078" y="1029109"/>
                  </a:lnTo>
                  <a:lnTo>
                    <a:pt x="407313" y="1052941"/>
                  </a:lnTo>
                  <a:lnTo>
                    <a:pt x="448913" y="1072975"/>
                  </a:lnTo>
                  <a:lnTo>
                    <a:pt x="492637" y="1088973"/>
                  </a:lnTo>
                  <a:lnTo>
                    <a:pt x="538248" y="1100696"/>
                  </a:lnTo>
                  <a:lnTo>
                    <a:pt x="585507" y="1107904"/>
                  </a:lnTo>
                  <a:lnTo>
                    <a:pt x="634174" y="1110361"/>
                  </a:lnTo>
                  <a:lnTo>
                    <a:pt x="683092" y="1107838"/>
                  </a:lnTo>
                  <a:lnTo>
                    <a:pt x="731123" y="1100371"/>
                  </a:lnTo>
                  <a:lnTo>
                    <a:pt x="777915" y="1088112"/>
                  </a:lnTo>
                  <a:lnTo>
                    <a:pt x="823118" y="1071213"/>
                  </a:lnTo>
                  <a:lnTo>
                    <a:pt x="866381" y="1049825"/>
                  </a:lnTo>
                  <a:lnTo>
                    <a:pt x="907351" y="1024100"/>
                  </a:lnTo>
                  <a:lnTo>
                    <a:pt x="945678" y="994190"/>
                  </a:lnTo>
                  <a:lnTo>
                    <a:pt x="981011" y="960247"/>
                  </a:lnTo>
                  <a:lnTo>
                    <a:pt x="1096581" y="1068832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427857" y="2025218"/>
            <a:ext cx="424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5C9DAE"/>
                </a:solidFill>
                <a:latin typeface="Calibri"/>
                <a:cs typeface="Calibri"/>
              </a:rPr>
              <a:t>37%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76673" y="1958086"/>
            <a:ext cx="1384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Financial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Inclusion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49795" y="1544319"/>
            <a:ext cx="1269365" cy="1269365"/>
            <a:chOff x="6049795" y="1544319"/>
            <a:chExt cx="1269365" cy="1269365"/>
          </a:xfrm>
        </p:grpSpPr>
        <p:sp>
          <p:nvSpPr>
            <p:cNvPr id="28" name="object 28"/>
            <p:cNvSpPr/>
            <p:nvPr/>
          </p:nvSpPr>
          <p:spPr>
            <a:xfrm>
              <a:off x="6684390" y="1544319"/>
              <a:ext cx="556260" cy="405765"/>
            </a:xfrm>
            <a:custGeom>
              <a:avLst/>
              <a:gdLst/>
              <a:ahLst/>
              <a:cxnLst/>
              <a:rect l="l" t="t" r="r" b="b"/>
              <a:pathLst>
                <a:path w="556259" h="405764">
                  <a:moveTo>
                    <a:pt x="0" y="0"/>
                  </a:moveTo>
                  <a:lnTo>
                    <a:pt x="0" y="158622"/>
                  </a:lnTo>
                  <a:lnTo>
                    <a:pt x="51574" y="161420"/>
                  </a:lnTo>
                  <a:lnTo>
                    <a:pt x="101956" y="169666"/>
                  </a:lnTo>
                  <a:lnTo>
                    <a:pt x="150770" y="183140"/>
                  </a:lnTo>
                  <a:lnTo>
                    <a:pt x="197640" y="201620"/>
                  </a:lnTo>
                  <a:lnTo>
                    <a:pt x="242188" y="224885"/>
                  </a:lnTo>
                  <a:lnTo>
                    <a:pt x="284040" y="252714"/>
                  </a:lnTo>
                  <a:lnTo>
                    <a:pt x="322817" y="284887"/>
                  </a:lnTo>
                  <a:lnTo>
                    <a:pt x="358144" y="321182"/>
                  </a:lnTo>
                  <a:lnTo>
                    <a:pt x="389644" y="361379"/>
                  </a:lnTo>
                  <a:lnTo>
                    <a:pt x="416940" y="405256"/>
                  </a:lnTo>
                  <a:lnTo>
                    <a:pt x="555878" y="328802"/>
                  </a:lnTo>
                  <a:lnTo>
                    <a:pt x="530485" y="286535"/>
                  </a:lnTo>
                  <a:lnTo>
                    <a:pt x="502160" y="246728"/>
                  </a:lnTo>
                  <a:lnTo>
                    <a:pt x="471085" y="209487"/>
                  </a:lnTo>
                  <a:lnTo>
                    <a:pt x="437444" y="174921"/>
                  </a:lnTo>
                  <a:lnTo>
                    <a:pt x="401419" y="143137"/>
                  </a:lnTo>
                  <a:lnTo>
                    <a:pt x="363191" y="114242"/>
                  </a:lnTo>
                  <a:lnTo>
                    <a:pt x="322945" y="88344"/>
                  </a:lnTo>
                  <a:lnTo>
                    <a:pt x="280861" y="65550"/>
                  </a:lnTo>
                  <a:lnTo>
                    <a:pt x="237123" y="45969"/>
                  </a:lnTo>
                  <a:lnTo>
                    <a:pt x="191912" y="29706"/>
                  </a:lnTo>
                  <a:lnTo>
                    <a:pt x="145413" y="16871"/>
                  </a:lnTo>
                  <a:lnTo>
                    <a:pt x="97805" y="7570"/>
                  </a:lnTo>
                  <a:lnTo>
                    <a:pt x="49274" y="19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049795" y="1544319"/>
              <a:ext cx="1269365" cy="1269365"/>
            </a:xfrm>
            <a:custGeom>
              <a:avLst/>
              <a:gdLst/>
              <a:ahLst/>
              <a:cxnLst/>
              <a:rect l="l" t="t" r="r" b="b"/>
              <a:pathLst>
                <a:path w="1269365" h="1269364">
                  <a:moveTo>
                    <a:pt x="634595" y="0"/>
                  </a:moveTo>
                  <a:lnTo>
                    <a:pt x="581321" y="2241"/>
                  </a:lnTo>
                  <a:lnTo>
                    <a:pt x="528615" y="8918"/>
                  </a:lnTo>
                  <a:lnTo>
                    <a:pt x="476749" y="19954"/>
                  </a:lnTo>
                  <a:lnTo>
                    <a:pt x="425995" y="35277"/>
                  </a:lnTo>
                  <a:lnTo>
                    <a:pt x="376623" y="54812"/>
                  </a:lnTo>
                  <a:lnTo>
                    <a:pt x="328906" y="78485"/>
                  </a:lnTo>
                  <a:lnTo>
                    <a:pt x="288247" y="102819"/>
                  </a:lnTo>
                  <a:lnTo>
                    <a:pt x="250056" y="129676"/>
                  </a:lnTo>
                  <a:lnTo>
                    <a:pt x="214379" y="158891"/>
                  </a:lnTo>
                  <a:lnTo>
                    <a:pt x="181265" y="190296"/>
                  </a:lnTo>
                  <a:lnTo>
                    <a:pt x="150763" y="223725"/>
                  </a:lnTo>
                  <a:lnTo>
                    <a:pt x="122921" y="259012"/>
                  </a:lnTo>
                  <a:lnTo>
                    <a:pt x="97787" y="295989"/>
                  </a:lnTo>
                  <a:lnTo>
                    <a:pt x="75409" y="334490"/>
                  </a:lnTo>
                  <a:lnTo>
                    <a:pt x="55835" y="374348"/>
                  </a:lnTo>
                  <a:lnTo>
                    <a:pt x="39115" y="415397"/>
                  </a:lnTo>
                  <a:lnTo>
                    <a:pt x="25296" y="457469"/>
                  </a:lnTo>
                  <a:lnTo>
                    <a:pt x="14427" y="500399"/>
                  </a:lnTo>
                  <a:lnTo>
                    <a:pt x="6555" y="544020"/>
                  </a:lnTo>
                  <a:lnTo>
                    <a:pt x="1730" y="588164"/>
                  </a:lnTo>
                  <a:lnTo>
                    <a:pt x="0" y="632666"/>
                  </a:lnTo>
                  <a:lnTo>
                    <a:pt x="1412" y="677358"/>
                  </a:lnTo>
                  <a:lnTo>
                    <a:pt x="6015" y="722075"/>
                  </a:lnTo>
                  <a:lnTo>
                    <a:pt x="13858" y="766648"/>
                  </a:lnTo>
                  <a:lnTo>
                    <a:pt x="24988" y="810912"/>
                  </a:lnTo>
                  <a:lnTo>
                    <a:pt x="39454" y="854700"/>
                  </a:lnTo>
                  <a:lnTo>
                    <a:pt x="57305" y="897845"/>
                  </a:lnTo>
                  <a:lnTo>
                    <a:pt x="78589" y="940180"/>
                  </a:lnTo>
                  <a:lnTo>
                    <a:pt x="102922" y="980823"/>
                  </a:lnTo>
                  <a:lnTo>
                    <a:pt x="129779" y="1019002"/>
                  </a:lnTo>
                  <a:lnTo>
                    <a:pt x="158994" y="1054668"/>
                  </a:lnTo>
                  <a:lnTo>
                    <a:pt x="190398" y="1087774"/>
                  </a:lnTo>
                  <a:lnTo>
                    <a:pt x="223827" y="1118271"/>
                  </a:lnTo>
                  <a:lnTo>
                    <a:pt x="259112" y="1146110"/>
                  </a:lnTo>
                  <a:lnTo>
                    <a:pt x="296088" y="1171243"/>
                  </a:lnTo>
                  <a:lnTo>
                    <a:pt x="334587" y="1193621"/>
                  </a:lnTo>
                  <a:lnTo>
                    <a:pt x="374442" y="1213196"/>
                  </a:lnTo>
                  <a:lnTo>
                    <a:pt x="415488" y="1229919"/>
                  </a:lnTo>
                  <a:lnTo>
                    <a:pt x="457557" y="1243742"/>
                  </a:lnTo>
                  <a:lnTo>
                    <a:pt x="500482" y="1254616"/>
                  </a:lnTo>
                  <a:lnTo>
                    <a:pt x="544097" y="1262493"/>
                  </a:lnTo>
                  <a:lnTo>
                    <a:pt x="588235" y="1267324"/>
                  </a:lnTo>
                  <a:lnTo>
                    <a:pt x="632729" y="1269060"/>
                  </a:lnTo>
                  <a:lnTo>
                    <a:pt x="677413" y="1267654"/>
                  </a:lnTo>
                  <a:lnTo>
                    <a:pt x="722119" y="1263056"/>
                  </a:lnTo>
                  <a:lnTo>
                    <a:pt x="766681" y="1255218"/>
                  </a:lnTo>
                  <a:lnTo>
                    <a:pt x="810933" y="1244092"/>
                  </a:lnTo>
                  <a:lnTo>
                    <a:pt x="854707" y="1229629"/>
                  </a:lnTo>
                  <a:lnTo>
                    <a:pt x="897837" y="1211780"/>
                  </a:lnTo>
                  <a:lnTo>
                    <a:pt x="940157" y="1190497"/>
                  </a:lnTo>
                  <a:lnTo>
                    <a:pt x="980816" y="1166164"/>
                  </a:lnTo>
                  <a:lnTo>
                    <a:pt x="1019009" y="1139307"/>
                  </a:lnTo>
                  <a:lnTo>
                    <a:pt x="1054689" y="1110092"/>
                  </a:lnTo>
                  <a:lnTo>
                    <a:pt x="1087807" y="1078687"/>
                  </a:lnTo>
                  <a:lnTo>
                    <a:pt x="1118314" y="1045258"/>
                  </a:lnTo>
                  <a:lnTo>
                    <a:pt x="1146162" y="1009971"/>
                  </a:lnTo>
                  <a:lnTo>
                    <a:pt x="1171302" y="972994"/>
                  </a:lnTo>
                  <a:lnTo>
                    <a:pt x="1193686" y="934493"/>
                  </a:lnTo>
                  <a:lnTo>
                    <a:pt x="1213264" y="894635"/>
                  </a:lnTo>
                  <a:lnTo>
                    <a:pt x="1229990" y="853586"/>
                  </a:lnTo>
                  <a:lnTo>
                    <a:pt x="1243814" y="811514"/>
                  </a:lnTo>
                  <a:lnTo>
                    <a:pt x="1254687" y="768584"/>
                  </a:lnTo>
                  <a:lnTo>
                    <a:pt x="1262561" y="724963"/>
                  </a:lnTo>
                  <a:lnTo>
                    <a:pt x="1267388" y="680819"/>
                  </a:lnTo>
                  <a:lnTo>
                    <a:pt x="1269119" y="636317"/>
                  </a:lnTo>
                  <a:lnTo>
                    <a:pt x="1267706" y="591625"/>
                  </a:lnTo>
                  <a:lnTo>
                    <a:pt x="1263099" y="546908"/>
                  </a:lnTo>
                  <a:lnTo>
                    <a:pt x="1255251" y="502335"/>
                  </a:lnTo>
                  <a:lnTo>
                    <a:pt x="1244113" y="458071"/>
                  </a:lnTo>
                  <a:lnTo>
                    <a:pt x="1229636" y="414283"/>
                  </a:lnTo>
                  <a:lnTo>
                    <a:pt x="1211773" y="371138"/>
                  </a:lnTo>
                  <a:lnTo>
                    <a:pt x="1190474" y="328802"/>
                  </a:lnTo>
                  <a:lnTo>
                    <a:pt x="1051536" y="405256"/>
                  </a:lnTo>
                  <a:lnTo>
                    <a:pt x="1072476" y="448372"/>
                  </a:lnTo>
                  <a:lnTo>
                    <a:pt x="1088912" y="493208"/>
                  </a:lnTo>
                  <a:lnTo>
                    <a:pt x="1100758" y="539408"/>
                  </a:lnTo>
                  <a:lnTo>
                    <a:pt x="1107928" y="586621"/>
                  </a:lnTo>
                  <a:lnTo>
                    <a:pt x="1110337" y="634491"/>
                  </a:lnTo>
                  <a:lnTo>
                    <a:pt x="1107881" y="683138"/>
                  </a:lnTo>
                  <a:lnTo>
                    <a:pt x="1100672" y="730381"/>
                  </a:lnTo>
                  <a:lnTo>
                    <a:pt x="1088950" y="775981"/>
                  </a:lnTo>
                  <a:lnTo>
                    <a:pt x="1072953" y="819699"/>
                  </a:lnTo>
                  <a:lnTo>
                    <a:pt x="1052921" y="861296"/>
                  </a:lnTo>
                  <a:lnTo>
                    <a:pt x="1029092" y="900531"/>
                  </a:lnTo>
                  <a:lnTo>
                    <a:pt x="1001706" y="937167"/>
                  </a:lnTo>
                  <a:lnTo>
                    <a:pt x="971002" y="970962"/>
                  </a:lnTo>
                  <a:lnTo>
                    <a:pt x="937218" y="1001678"/>
                  </a:lnTo>
                  <a:lnTo>
                    <a:pt x="900594" y="1029076"/>
                  </a:lnTo>
                  <a:lnTo>
                    <a:pt x="861369" y="1052915"/>
                  </a:lnTo>
                  <a:lnTo>
                    <a:pt x="819782" y="1072957"/>
                  </a:lnTo>
                  <a:lnTo>
                    <a:pt x="776072" y="1088962"/>
                  </a:lnTo>
                  <a:lnTo>
                    <a:pt x="730478" y="1100690"/>
                  </a:lnTo>
                  <a:lnTo>
                    <a:pt x="683239" y="1107903"/>
                  </a:lnTo>
                  <a:lnTo>
                    <a:pt x="634595" y="1110360"/>
                  </a:lnTo>
                  <a:lnTo>
                    <a:pt x="585927" y="1107903"/>
                  </a:lnTo>
                  <a:lnTo>
                    <a:pt x="538669" y="1100690"/>
                  </a:lnTo>
                  <a:lnTo>
                    <a:pt x="493058" y="1088962"/>
                  </a:lnTo>
                  <a:lnTo>
                    <a:pt x="449333" y="1072957"/>
                  </a:lnTo>
                  <a:lnTo>
                    <a:pt x="407734" y="1052915"/>
                  </a:lnTo>
                  <a:lnTo>
                    <a:pt x="368499" y="1029076"/>
                  </a:lnTo>
                  <a:lnTo>
                    <a:pt x="331867" y="1001678"/>
                  </a:lnTo>
                  <a:lnTo>
                    <a:pt x="298076" y="970962"/>
                  </a:lnTo>
                  <a:lnTo>
                    <a:pt x="267367" y="937167"/>
                  </a:lnTo>
                  <a:lnTo>
                    <a:pt x="239977" y="900531"/>
                  </a:lnTo>
                  <a:lnTo>
                    <a:pt x="216145" y="861296"/>
                  </a:lnTo>
                  <a:lnTo>
                    <a:pt x="196111" y="819699"/>
                  </a:lnTo>
                  <a:lnTo>
                    <a:pt x="180113" y="775981"/>
                  </a:lnTo>
                  <a:lnTo>
                    <a:pt x="168390" y="730381"/>
                  </a:lnTo>
                  <a:lnTo>
                    <a:pt x="161182" y="683138"/>
                  </a:lnTo>
                  <a:lnTo>
                    <a:pt x="158726" y="634491"/>
                  </a:lnTo>
                  <a:lnTo>
                    <a:pt x="161182" y="585845"/>
                  </a:lnTo>
                  <a:lnTo>
                    <a:pt x="168390" y="538602"/>
                  </a:lnTo>
                  <a:lnTo>
                    <a:pt x="180113" y="493002"/>
                  </a:lnTo>
                  <a:lnTo>
                    <a:pt x="196111" y="449284"/>
                  </a:lnTo>
                  <a:lnTo>
                    <a:pt x="216145" y="407687"/>
                  </a:lnTo>
                  <a:lnTo>
                    <a:pt x="239977" y="368452"/>
                  </a:lnTo>
                  <a:lnTo>
                    <a:pt x="267367" y="331816"/>
                  </a:lnTo>
                  <a:lnTo>
                    <a:pt x="298076" y="298021"/>
                  </a:lnTo>
                  <a:lnTo>
                    <a:pt x="331867" y="267305"/>
                  </a:lnTo>
                  <a:lnTo>
                    <a:pt x="368499" y="239907"/>
                  </a:lnTo>
                  <a:lnTo>
                    <a:pt x="407734" y="216068"/>
                  </a:lnTo>
                  <a:lnTo>
                    <a:pt x="449333" y="196026"/>
                  </a:lnTo>
                  <a:lnTo>
                    <a:pt x="493058" y="180021"/>
                  </a:lnTo>
                  <a:lnTo>
                    <a:pt x="538669" y="168293"/>
                  </a:lnTo>
                  <a:lnTo>
                    <a:pt x="585927" y="161080"/>
                  </a:lnTo>
                  <a:lnTo>
                    <a:pt x="634595" y="158622"/>
                  </a:lnTo>
                  <a:lnTo>
                    <a:pt x="634595" y="0"/>
                  </a:lnTo>
                  <a:close/>
                </a:path>
              </a:pathLst>
            </a:custGeom>
            <a:solidFill>
              <a:srgbClr val="DFE6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526148" y="2025218"/>
            <a:ext cx="424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5C9DAE"/>
                </a:solidFill>
                <a:latin typeface="Calibri"/>
                <a:cs typeface="Calibri"/>
              </a:rPr>
              <a:t>17%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22006" y="1883156"/>
            <a:ext cx="102552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Share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of </a:t>
            </a:r>
            <a:r>
              <a:rPr dirty="0" sz="1400" spc="-10" b="1">
                <a:latin typeface="Calibri"/>
                <a:cs typeface="Calibri"/>
              </a:rPr>
              <a:t>Agriculture</a:t>
            </a:r>
            <a:r>
              <a:rPr dirty="0" sz="1400" spc="2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in GDP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2023" y="975360"/>
            <a:ext cx="11794490" cy="30797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3365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26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Analysing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lending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landscape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Papua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East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Nusa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Tengarra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7452" y="3177539"/>
            <a:ext cx="11793220" cy="30797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Phased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Expansion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7452" y="3703320"/>
            <a:ext cx="2048510" cy="7137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32715" rIns="0" bIns="0" rtlCol="0" vert="horz">
            <a:spAutoFit/>
          </a:bodyPr>
          <a:lstStyle/>
          <a:p>
            <a:pPr marL="713105" marR="372110" indent="-334010">
              <a:lnSpc>
                <a:spcPct val="100000"/>
              </a:lnSpc>
              <a:spcBef>
                <a:spcPts val="1045"/>
              </a:spcBef>
            </a:pPr>
            <a:r>
              <a:rPr dirty="0" sz="1400" b="1">
                <a:latin typeface="Calibri"/>
                <a:cs typeface="Calibri"/>
              </a:rPr>
              <a:t>Phase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1: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Java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and </a:t>
            </a:r>
            <a:r>
              <a:rPr dirty="0" sz="1400" spc="-10" b="1">
                <a:latin typeface="Calibri"/>
                <a:cs typeface="Calibri"/>
              </a:rPr>
              <a:t>Sumatra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46020" y="3698747"/>
            <a:ext cx="2049780" cy="71501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333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dirty="0" sz="1400" b="1">
                <a:latin typeface="Calibri"/>
                <a:cs typeface="Calibri"/>
              </a:rPr>
              <a:t>Phase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2: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Papua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and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East</a:t>
            </a:r>
            <a:endParaRPr sz="14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400" b="1">
                <a:latin typeface="Calibri"/>
                <a:cs typeface="Calibri"/>
              </a:rPr>
              <a:t>Nusa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Tengarra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06111" y="3698747"/>
            <a:ext cx="2049780" cy="71501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3335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50"/>
              </a:spcBef>
            </a:pPr>
            <a:r>
              <a:rPr dirty="0" sz="1400" b="1">
                <a:latin typeface="Calibri"/>
                <a:cs typeface="Calibri"/>
              </a:rPr>
              <a:t>Phase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3: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Nation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Wide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-10" b="1">
                <a:latin typeface="Calibri"/>
                <a:cs typeface="Calibri"/>
              </a:rPr>
              <a:t>Expansion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5582" y="4457192"/>
            <a:ext cx="1869439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Perfecting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Model</a:t>
            </a:r>
            <a:r>
              <a:rPr dirty="0" sz="1200">
                <a:latin typeface="Calibri"/>
                <a:cs typeface="Calibri"/>
              </a:rPr>
              <a:t>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Testing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feasibility,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scalability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and </a:t>
            </a:r>
            <a:r>
              <a:rPr dirty="0" sz="1200" b="1">
                <a:latin typeface="Calibri"/>
                <a:cs typeface="Calibri"/>
              </a:rPr>
              <a:t>impact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operational </a:t>
            </a:r>
            <a:r>
              <a:rPr dirty="0" sz="1200">
                <a:latin typeface="Calibri"/>
                <a:cs typeface="Calibri"/>
              </a:rPr>
              <a:t>efficiency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 </a:t>
            </a:r>
            <a:r>
              <a:rPr dirty="0" sz="1200">
                <a:latin typeface="Calibri"/>
                <a:cs typeface="Calibri"/>
              </a:rPr>
              <a:t>solutions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Strategy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Phoenix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25648" y="4457192"/>
            <a:ext cx="188468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Huge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Untapped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Market</a:t>
            </a:r>
            <a:r>
              <a:rPr dirty="0" sz="1200" spc="-10">
                <a:latin typeface="Calibri"/>
                <a:cs typeface="Calibri"/>
              </a:rPr>
              <a:t>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Over </a:t>
            </a:r>
            <a:r>
              <a:rPr dirty="0" sz="1200">
                <a:latin typeface="Calibri"/>
                <a:cs typeface="Calibri"/>
              </a:rPr>
              <a:t>900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farmer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than </a:t>
            </a:r>
            <a:r>
              <a:rPr dirty="0" sz="1200" b="1">
                <a:latin typeface="Calibri"/>
                <a:cs typeface="Calibri"/>
              </a:rPr>
              <a:t>33%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utilization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capacity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Agricultural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Extension Training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centres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86121" y="4442917"/>
            <a:ext cx="187706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lessons</a:t>
            </a:r>
            <a:r>
              <a:rPr dirty="0" sz="1200" spc="-10">
                <a:latin typeface="Calibri"/>
                <a:cs typeface="Calibri"/>
              </a:rPr>
              <a:t> learnt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Phase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2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Credilink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drive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nationwide macroeconomic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7452" y="5478779"/>
            <a:ext cx="2048510" cy="338455"/>
          </a:xfrm>
          <a:prstGeom prst="rect">
            <a:avLst/>
          </a:prstGeom>
          <a:solidFill>
            <a:srgbClr val="DFE6EE"/>
          </a:solidFill>
        </p:spPr>
        <p:txBody>
          <a:bodyPr wrap="square" lIns="0" tIns="50800" rIns="0" bIns="0" rtlCol="0" vert="horz">
            <a:spAutoFit/>
          </a:bodyPr>
          <a:lstStyle/>
          <a:p>
            <a:pPr marL="374015">
              <a:lnSpc>
                <a:spcPct val="100000"/>
              </a:lnSpc>
              <a:spcBef>
                <a:spcPts val="400"/>
              </a:spcBef>
            </a:pPr>
            <a:r>
              <a:rPr dirty="0" sz="1400" b="1">
                <a:latin typeface="Calibri"/>
                <a:cs typeface="Calibri"/>
              </a:rPr>
              <a:t>Time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Frame: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3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yrs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57973" y="4747005"/>
            <a:ext cx="292100" cy="410845"/>
            <a:chOff x="7157973" y="4747005"/>
            <a:chExt cx="292100" cy="410845"/>
          </a:xfrm>
        </p:grpSpPr>
        <p:sp>
          <p:nvSpPr>
            <p:cNvPr id="42" name="object 42"/>
            <p:cNvSpPr/>
            <p:nvPr/>
          </p:nvSpPr>
          <p:spPr>
            <a:xfrm>
              <a:off x="7164323" y="4753355"/>
              <a:ext cx="279400" cy="398145"/>
            </a:xfrm>
            <a:custGeom>
              <a:avLst/>
              <a:gdLst/>
              <a:ahLst/>
              <a:cxnLst/>
              <a:rect l="l" t="t" r="r" b="b"/>
              <a:pathLst>
                <a:path w="279400" h="398145">
                  <a:moveTo>
                    <a:pt x="139446" y="0"/>
                  </a:moveTo>
                  <a:lnTo>
                    <a:pt x="0" y="0"/>
                  </a:lnTo>
                  <a:lnTo>
                    <a:pt x="139446" y="198882"/>
                  </a:lnTo>
                  <a:lnTo>
                    <a:pt x="0" y="397764"/>
                  </a:lnTo>
                  <a:lnTo>
                    <a:pt x="139446" y="397764"/>
                  </a:lnTo>
                  <a:lnTo>
                    <a:pt x="278892" y="198882"/>
                  </a:lnTo>
                  <a:lnTo>
                    <a:pt x="139446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164323" y="4753355"/>
              <a:ext cx="279400" cy="398145"/>
            </a:xfrm>
            <a:custGeom>
              <a:avLst/>
              <a:gdLst/>
              <a:ahLst/>
              <a:cxnLst/>
              <a:rect l="l" t="t" r="r" b="b"/>
              <a:pathLst>
                <a:path w="279400" h="398145">
                  <a:moveTo>
                    <a:pt x="0" y="0"/>
                  </a:moveTo>
                  <a:lnTo>
                    <a:pt x="139446" y="0"/>
                  </a:lnTo>
                  <a:lnTo>
                    <a:pt x="278892" y="198882"/>
                  </a:lnTo>
                  <a:lnTo>
                    <a:pt x="139446" y="397764"/>
                  </a:lnTo>
                  <a:lnTo>
                    <a:pt x="0" y="397764"/>
                  </a:lnTo>
                  <a:lnTo>
                    <a:pt x="139446" y="19888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143246" y="6564883"/>
            <a:ext cx="1269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Phoenix: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60132" y="6564883"/>
            <a:ext cx="175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4317" y="6336284"/>
            <a:ext cx="17094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4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OECD</a:t>
            </a:r>
            <a:r>
              <a:rPr dirty="0" sz="800" spc="-4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Database,</a:t>
            </a:r>
            <a:r>
              <a:rPr dirty="0" sz="800" spc="-1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Team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Analysis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250681" y="4640326"/>
            <a:ext cx="345440" cy="322580"/>
            <a:chOff x="8250681" y="4640326"/>
            <a:chExt cx="345440" cy="322580"/>
          </a:xfrm>
        </p:grpSpPr>
        <p:sp>
          <p:nvSpPr>
            <p:cNvPr id="51" name="object 51"/>
            <p:cNvSpPr/>
            <p:nvPr/>
          </p:nvSpPr>
          <p:spPr>
            <a:xfrm>
              <a:off x="8257031" y="4646676"/>
              <a:ext cx="332740" cy="309880"/>
            </a:xfrm>
            <a:custGeom>
              <a:avLst/>
              <a:gdLst/>
              <a:ahLst/>
              <a:cxnLst/>
              <a:rect l="l" t="t" r="r" b="b"/>
              <a:pathLst>
                <a:path w="332740" h="309879">
                  <a:moveTo>
                    <a:pt x="166116" y="0"/>
                  </a:moveTo>
                  <a:lnTo>
                    <a:pt x="113629" y="7882"/>
                  </a:lnTo>
                  <a:lnTo>
                    <a:pt x="68031" y="29833"/>
                  </a:lnTo>
                  <a:lnTo>
                    <a:pt x="32064" y="63313"/>
                  </a:lnTo>
                  <a:lnTo>
                    <a:pt x="8473" y="105777"/>
                  </a:lnTo>
                  <a:lnTo>
                    <a:pt x="0" y="154686"/>
                  </a:lnTo>
                  <a:lnTo>
                    <a:pt x="8473" y="203594"/>
                  </a:lnTo>
                  <a:lnTo>
                    <a:pt x="32064" y="246058"/>
                  </a:lnTo>
                  <a:lnTo>
                    <a:pt x="68031" y="279538"/>
                  </a:lnTo>
                  <a:lnTo>
                    <a:pt x="113629" y="301489"/>
                  </a:lnTo>
                  <a:lnTo>
                    <a:pt x="166116" y="309372"/>
                  </a:lnTo>
                  <a:lnTo>
                    <a:pt x="218602" y="301489"/>
                  </a:lnTo>
                  <a:lnTo>
                    <a:pt x="264200" y="279538"/>
                  </a:lnTo>
                  <a:lnTo>
                    <a:pt x="300167" y="246058"/>
                  </a:lnTo>
                  <a:lnTo>
                    <a:pt x="323758" y="203594"/>
                  </a:lnTo>
                  <a:lnTo>
                    <a:pt x="332232" y="154686"/>
                  </a:lnTo>
                  <a:lnTo>
                    <a:pt x="323758" y="105777"/>
                  </a:lnTo>
                  <a:lnTo>
                    <a:pt x="300167" y="63313"/>
                  </a:lnTo>
                  <a:lnTo>
                    <a:pt x="264200" y="29833"/>
                  </a:lnTo>
                  <a:lnTo>
                    <a:pt x="218602" y="7882"/>
                  </a:lnTo>
                  <a:lnTo>
                    <a:pt x="166116" y="0"/>
                  </a:lnTo>
                  <a:close/>
                </a:path>
              </a:pathLst>
            </a:custGeom>
            <a:solidFill>
              <a:srgbClr val="333E50">
                <a:alpha val="4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8257031" y="4646676"/>
              <a:ext cx="332740" cy="309880"/>
            </a:xfrm>
            <a:custGeom>
              <a:avLst/>
              <a:gdLst/>
              <a:ahLst/>
              <a:cxnLst/>
              <a:rect l="l" t="t" r="r" b="b"/>
              <a:pathLst>
                <a:path w="332740" h="309879">
                  <a:moveTo>
                    <a:pt x="0" y="154686"/>
                  </a:moveTo>
                  <a:lnTo>
                    <a:pt x="8473" y="105777"/>
                  </a:lnTo>
                  <a:lnTo>
                    <a:pt x="32064" y="63313"/>
                  </a:lnTo>
                  <a:lnTo>
                    <a:pt x="68031" y="29833"/>
                  </a:lnTo>
                  <a:lnTo>
                    <a:pt x="113629" y="7882"/>
                  </a:lnTo>
                  <a:lnTo>
                    <a:pt x="166116" y="0"/>
                  </a:lnTo>
                  <a:lnTo>
                    <a:pt x="218602" y="7882"/>
                  </a:lnTo>
                  <a:lnTo>
                    <a:pt x="264200" y="29833"/>
                  </a:lnTo>
                  <a:lnTo>
                    <a:pt x="300167" y="63313"/>
                  </a:lnTo>
                  <a:lnTo>
                    <a:pt x="323758" y="105777"/>
                  </a:lnTo>
                  <a:lnTo>
                    <a:pt x="332232" y="154686"/>
                  </a:lnTo>
                  <a:lnTo>
                    <a:pt x="323758" y="203594"/>
                  </a:lnTo>
                  <a:lnTo>
                    <a:pt x="300167" y="246058"/>
                  </a:lnTo>
                  <a:lnTo>
                    <a:pt x="264200" y="279538"/>
                  </a:lnTo>
                  <a:lnTo>
                    <a:pt x="218602" y="301489"/>
                  </a:lnTo>
                  <a:lnTo>
                    <a:pt x="166116" y="309372"/>
                  </a:lnTo>
                  <a:lnTo>
                    <a:pt x="113629" y="301489"/>
                  </a:lnTo>
                  <a:lnTo>
                    <a:pt x="68031" y="279538"/>
                  </a:lnTo>
                  <a:lnTo>
                    <a:pt x="32064" y="246058"/>
                  </a:lnTo>
                  <a:lnTo>
                    <a:pt x="8473" y="203594"/>
                  </a:lnTo>
                  <a:lnTo>
                    <a:pt x="0" y="15468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3" name="object 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25230" y="5236209"/>
            <a:ext cx="178816" cy="233680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10228833" y="5457190"/>
            <a:ext cx="299720" cy="278130"/>
            <a:chOff x="10228833" y="5457190"/>
            <a:chExt cx="299720" cy="278130"/>
          </a:xfrm>
        </p:grpSpPr>
        <p:sp>
          <p:nvSpPr>
            <p:cNvPr id="55" name="object 55"/>
            <p:cNvSpPr/>
            <p:nvPr/>
          </p:nvSpPr>
          <p:spPr>
            <a:xfrm>
              <a:off x="10235183" y="5463540"/>
              <a:ext cx="287020" cy="265430"/>
            </a:xfrm>
            <a:custGeom>
              <a:avLst/>
              <a:gdLst/>
              <a:ahLst/>
              <a:cxnLst/>
              <a:rect l="l" t="t" r="r" b="b"/>
              <a:pathLst>
                <a:path w="287020" h="265429">
                  <a:moveTo>
                    <a:pt x="143256" y="0"/>
                  </a:moveTo>
                  <a:lnTo>
                    <a:pt x="97974" y="6754"/>
                  </a:lnTo>
                  <a:lnTo>
                    <a:pt x="58649" y="25566"/>
                  </a:lnTo>
                  <a:lnTo>
                    <a:pt x="27639" y="54260"/>
                  </a:lnTo>
                  <a:lnTo>
                    <a:pt x="7303" y="90659"/>
                  </a:lnTo>
                  <a:lnTo>
                    <a:pt x="0" y="132588"/>
                  </a:lnTo>
                  <a:lnTo>
                    <a:pt x="7303" y="174496"/>
                  </a:lnTo>
                  <a:lnTo>
                    <a:pt x="27639" y="210893"/>
                  </a:lnTo>
                  <a:lnTo>
                    <a:pt x="58649" y="239594"/>
                  </a:lnTo>
                  <a:lnTo>
                    <a:pt x="97974" y="258416"/>
                  </a:lnTo>
                  <a:lnTo>
                    <a:pt x="143256" y="265176"/>
                  </a:lnTo>
                  <a:lnTo>
                    <a:pt x="188537" y="258416"/>
                  </a:lnTo>
                  <a:lnTo>
                    <a:pt x="227862" y="239594"/>
                  </a:lnTo>
                  <a:lnTo>
                    <a:pt x="258872" y="210893"/>
                  </a:lnTo>
                  <a:lnTo>
                    <a:pt x="279208" y="174496"/>
                  </a:lnTo>
                  <a:lnTo>
                    <a:pt x="286512" y="132588"/>
                  </a:lnTo>
                  <a:lnTo>
                    <a:pt x="279208" y="90659"/>
                  </a:lnTo>
                  <a:lnTo>
                    <a:pt x="258872" y="54260"/>
                  </a:lnTo>
                  <a:lnTo>
                    <a:pt x="227862" y="25566"/>
                  </a:lnTo>
                  <a:lnTo>
                    <a:pt x="188537" y="6754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2BACB9">
                <a:alpha val="1294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0235183" y="5463540"/>
              <a:ext cx="287020" cy="265430"/>
            </a:xfrm>
            <a:custGeom>
              <a:avLst/>
              <a:gdLst/>
              <a:ahLst/>
              <a:cxnLst/>
              <a:rect l="l" t="t" r="r" b="b"/>
              <a:pathLst>
                <a:path w="287020" h="265429">
                  <a:moveTo>
                    <a:pt x="0" y="132588"/>
                  </a:moveTo>
                  <a:lnTo>
                    <a:pt x="7303" y="90659"/>
                  </a:lnTo>
                  <a:lnTo>
                    <a:pt x="27639" y="54260"/>
                  </a:lnTo>
                  <a:lnTo>
                    <a:pt x="58649" y="25566"/>
                  </a:lnTo>
                  <a:lnTo>
                    <a:pt x="97974" y="6754"/>
                  </a:lnTo>
                  <a:lnTo>
                    <a:pt x="143256" y="0"/>
                  </a:lnTo>
                  <a:lnTo>
                    <a:pt x="188537" y="6754"/>
                  </a:lnTo>
                  <a:lnTo>
                    <a:pt x="227862" y="25566"/>
                  </a:lnTo>
                  <a:lnTo>
                    <a:pt x="258872" y="54260"/>
                  </a:lnTo>
                  <a:lnTo>
                    <a:pt x="279208" y="90659"/>
                  </a:lnTo>
                  <a:lnTo>
                    <a:pt x="286512" y="132588"/>
                  </a:lnTo>
                  <a:lnTo>
                    <a:pt x="279208" y="174496"/>
                  </a:lnTo>
                  <a:lnTo>
                    <a:pt x="258872" y="210893"/>
                  </a:lnTo>
                  <a:lnTo>
                    <a:pt x="227862" y="239594"/>
                  </a:lnTo>
                  <a:lnTo>
                    <a:pt x="188537" y="258416"/>
                  </a:lnTo>
                  <a:lnTo>
                    <a:pt x="143256" y="265176"/>
                  </a:lnTo>
                  <a:lnTo>
                    <a:pt x="97974" y="258416"/>
                  </a:lnTo>
                  <a:lnTo>
                    <a:pt x="58649" y="239594"/>
                  </a:lnTo>
                  <a:lnTo>
                    <a:pt x="27639" y="210893"/>
                  </a:lnTo>
                  <a:lnTo>
                    <a:pt x="7303" y="174496"/>
                  </a:lnTo>
                  <a:lnTo>
                    <a:pt x="0" y="132588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/>
          <p:cNvGrpSpPr/>
          <p:nvPr/>
        </p:nvGrpSpPr>
        <p:grpSpPr>
          <a:xfrm>
            <a:off x="11553190" y="5192014"/>
            <a:ext cx="532765" cy="543560"/>
            <a:chOff x="11553190" y="5192014"/>
            <a:chExt cx="532765" cy="543560"/>
          </a:xfrm>
        </p:grpSpPr>
        <p:sp>
          <p:nvSpPr>
            <p:cNvPr id="58" name="object 58"/>
            <p:cNvSpPr/>
            <p:nvPr/>
          </p:nvSpPr>
          <p:spPr>
            <a:xfrm>
              <a:off x="11559540" y="5198364"/>
              <a:ext cx="520065" cy="530860"/>
            </a:xfrm>
            <a:custGeom>
              <a:avLst/>
              <a:gdLst/>
              <a:ahLst/>
              <a:cxnLst/>
              <a:rect l="l" t="t" r="r" b="b"/>
              <a:pathLst>
                <a:path w="520065" h="530860">
                  <a:moveTo>
                    <a:pt x="259841" y="0"/>
                  </a:moveTo>
                  <a:lnTo>
                    <a:pt x="213134" y="4273"/>
                  </a:lnTo>
                  <a:lnTo>
                    <a:pt x="169173" y="16592"/>
                  </a:lnTo>
                  <a:lnTo>
                    <a:pt x="128693" y="36209"/>
                  </a:lnTo>
                  <a:lnTo>
                    <a:pt x="92427" y="62373"/>
                  </a:lnTo>
                  <a:lnTo>
                    <a:pt x="61110" y="94335"/>
                  </a:lnTo>
                  <a:lnTo>
                    <a:pt x="35475" y="131346"/>
                  </a:lnTo>
                  <a:lnTo>
                    <a:pt x="16255" y="172656"/>
                  </a:lnTo>
                  <a:lnTo>
                    <a:pt x="4186" y="217515"/>
                  </a:lnTo>
                  <a:lnTo>
                    <a:pt x="0" y="265176"/>
                  </a:lnTo>
                  <a:lnTo>
                    <a:pt x="4186" y="312842"/>
                  </a:lnTo>
                  <a:lnTo>
                    <a:pt x="16256" y="357706"/>
                  </a:lnTo>
                  <a:lnTo>
                    <a:pt x="35475" y="399017"/>
                  </a:lnTo>
                  <a:lnTo>
                    <a:pt x="61110" y="436027"/>
                  </a:lnTo>
                  <a:lnTo>
                    <a:pt x="92427" y="467987"/>
                  </a:lnTo>
                  <a:lnTo>
                    <a:pt x="128693" y="494148"/>
                  </a:lnTo>
                  <a:lnTo>
                    <a:pt x="169173" y="513762"/>
                  </a:lnTo>
                  <a:lnTo>
                    <a:pt x="213134" y="526079"/>
                  </a:lnTo>
                  <a:lnTo>
                    <a:pt x="259841" y="530352"/>
                  </a:lnTo>
                  <a:lnTo>
                    <a:pt x="306549" y="526079"/>
                  </a:lnTo>
                  <a:lnTo>
                    <a:pt x="350510" y="513762"/>
                  </a:lnTo>
                  <a:lnTo>
                    <a:pt x="390990" y="494148"/>
                  </a:lnTo>
                  <a:lnTo>
                    <a:pt x="427256" y="467987"/>
                  </a:lnTo>
                  <a:lnTo>
                    <a:pt x="458573" y="436027"/>
                  </a:lnTo>
                  <a:lnTo>
                    <a:pt x="484208" y="399017"/>
                  </a:lnTo>
                  <a:lnTo>
                    <a:pt x="503427" y="357706"/>
                  </a:lnTo>
                  <a:lnTo>
                    <a:pt x="515497" y="312842"/>
                  </a:lnTo>
                  <a:lnTo>
                    <a:pt x="519683" y="265176"/>
                  </a:lnTo>
                  <a:lnTo>
                    <a:pt x="515497" y="217515"/>
                  </a:lnTo>
                  <a:lnTo>
                    <a:pt x="503427" y="172656"/>
                  </a:lnTo>
                  <a:lnTo>
                    <a:pt x="484208" y="131346"/>
                  </a:lnTo>
                  <a:lnTo>
                    <a:pt x="458573" y="94335"/>
                  </a:lnTo>
                  <a:lnTo>
                    <a:pt x="427256" y="62373"/>
                  </a:lnTo>
                  <a:lnTo>
                    <a:pt x="390990" y="36209"/>
                  </a:lnTo>
                  <a:lnTo>
                    <a:pt x="350510" y="16592"/>
                  </a:lnTo>
                  <a:lnTo>
                    <a:pt x="306549" y="4273"/>
                  </a:lnTo>
                  <a:lnTo>
                    <a:pt x="259841" y="0"/>
                  </a:lnTo>
                  <a:close/>
                </a:path>
              </a:pathLst>
            </a:custGeom>
            <a:solidFill>
              <a:srgbClr val="2BACB9">
                <a:alpha val="1294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1559540" y="5198364"/>
              <a:ext cx="520065" cy="530860"/>
            </a:xfrm>
            <a:custGeom>
              <a:avLst/>
              <a:gdLst/>
              <a:ahLst/>
              <a:cxnLst/>
              <a:rect l="l" t="t" r="r" b="b"/>
              <a:pathLst>
                <a:path w="520065" h="530860">
                  <a:moveTo>
                    <a:pt x="0" y="265176"/>
                  </a:moveTo>
                  <a:lnTo>
                    <a:pt x="4186" y="217515"/>
                  </a:lnTo>
                  <a:lnTo>
                    <a:pt x="16255" y="172656"/>
                  </a:lnTo>
                  <a:lnTo>
                    <a:pt x="35475" y="131346"/>
                  </a:lnTo>
                  <a:lnTo>
                    <a:pt x="61110" y="94335"/>
                  </a:lnTo>
                  <a:lnTo>
                    <a:pt x="92427" y="62373"/>
                  </a:lnTo>
                  <a:lnTo>
                    <a:pt x="128693" y="36209"/>
                  </a:lnTo>
                  <a:lnTo>
                    <a:pt x="169173" y="16592"/>
                  </a:lnTo>
                  <a:lnTo>
                    <a:pt x="213134" y="4273"/>
                  </a:lnTo>
                  <a:lnTo>
                    <a:pt x="259841" y="0"/>
                  </a:lnTo>
                  <a:lnTo>
                    <a:pt x="306549" y="4273"/>
                  </a:lnTo>
                  <a:lnTo>
                    <a:pt x="350510" y="16592"/>
                  </a:lnTo>
                  <a:lnTo>
                    <a:pt x="390990" y="36209"/>
                  </a:lnTo>
                  <a:lnTo>
                    <a:pt x="427256" y="62373"/>
                  </a:lnTo>
                  <a:lnTo>
                    <a:pt x="458573" y="94335"/>
                  </a:lnTo>
                  <a:lnTo>
                    <a:pt x="484208" y="131346"/>
                  </a:lnTo>
                  <a:lnTo>
                    <a:pt x="503427" y="172656"/>
                  </a:lnTo>
                  <a:lnTo>
                    <a:pt x="515497" y="217515"/>
                  </a:lnTo>
                  <a:lnTo>
                    <a:pt x="519683" y="265176"/>
                  </a:lnTo>
                  <a:lnTo>
                    <a:pt x="515497" y="312842"/>
                  </a:lnTo>
                  <a:lnTo>
                    <a:pt x="503427" y="357706"/>
                  </a:lnTo>
                  <a:lnTo>
                    <a:pt x="484208" y="399017"/>
                  </a:lnTo>
                  <a:lnTo>
                    <a:pt x="458573" y="436027"/>
                  </a:lnTo>
                  <a:lnTo>
                    <a:pt x="427256" y="467987"/>
                  </a:lnTo>
                  <a:lnTo>
                    <a:pt x="390990" y="494148"/>
                  </a:lnTo>
                  <a:lnTo>
                    <a:pt x="350510" y="513762"/>
                  </a:lnTo>
                  <a:lnTo>
                    <a:pt x="306549" y="526079"/>
                  </a:lnTo>
                  <a:lnTo>
                    <a:pt x="259841" y="530352"/>
                  </a:lnTo>
                  <a:lnTo>
                    <a:pt x="213134" y="526079"/>
                  </a:lnTo>
                  <a:lnTo>
                    <a:pt x="169173" y="513762"/>
                  </a:lnTo>
                  <a:lnTo>
                    <a:pt x="128693" y="494148"/>
                  </a:lnTo>
                  <a:lnTo>
                    <a:pt x="92427" y="467987"/>
                  </a:lnTo>
                  <a:lnTo>
                    <a:pt x="61110" y="436027"/>
                  </a:lnTo>
                  <a:lnTo>
                    <a:pt x="35475" y="399017"/>
                  </a:lnTo>
                  <a:lnTo>
                    <a:pt x="16256" y="357706"/>
                  </a:lnTo>
                  <a:lnTo>
                    <a:pt x="4186" y="312842"/>
                  </a:lnTo>
                  <a:lnTo>
                    <a:pt x="0" y="26517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" name="object 60"/>
          <p:cNvGrpSpPr/>
          <p:nvPr/>
        </p:nvGrpSpPr>
        <p:grpSpPr>
          <a:xfrm>
            <a:off x="7621269" y="5412994"/>
            <a:ext cx="345440" cy="322580"/>
            <a:chOff x="7621269" y="5412994"/>
            <a:chExt cx="345440" cy="322580"/>
          </a:xfrm>
        </p:grpSpPr>
        <p:sp>
          <p:nvSpPr>
            <p:cNvPr id="61" name="object 61"/>
            <p:cNvSpPr/>
            <p:nvPr/>
          </p:nvSpPr>
          <p:spPr>
            <a:xfrm>
              <a:off x="7627619" y="5419344"/>
              <a:ext cx="332740" cy="309880"/>
            </a:xfrm>
            <a:custGeom>
              <a:avLst/>
              <a:gdLst/>
              <a:ahLst/>
              <a:cxnLst/>
              <a:rect l="l" t="t" r="r" b="b"/>
              <a:pathLst>
                <a:path w="332740" h="309879">
                  <a:moveTo>
                    <a:pt x="166115" y="0"/>
                  </a:moveTo>
                  <a:lnTo>
                    <a:pt x="113629" y="7882"/>
                  </a:lnTo>
                  <a:lnTo>
                    <a:pt x="68031" y="29833"/>
                  </a:lnTo>
                  <a:lnTo>
                    <a:pt x="32064" y="63313"/>
                  </a:lnTo>
                  <a:lnTo>
                    <a:pt x="8473" y="105777"/>
                  </a:lnTo>
                  <a:lnTo>
                    <a:pt x="0" y="154685"/>
                  </a:lnTo>
                  <a:lnTo>
                    <a:pt x="8473" y="203579"/>
                  </a:lnTo>
                  <a:lnTo>
                    <a:pt x="32064" y="246042"/>
                  </a:lnTo>
                  <a:lnTo>
                    <a:pt x="68031" y="279527"/>
                  </a:lnTo>
                  <a:lnTo>
                    <a:pt x="113629" y="301486"/>
                  </a:lnTo>
                  <a:lnTo>
                    <a:pt x="166115" y="309371"/>
                  </a:lnTo>
                  <a:lnTo>
                    <a:pt x="218602" y="301486"/>
                  </a:lnTo>
                  <a:lnTo>
                    <a:pt x="264200" y="279527"/>
                  </a:lnTo>
                  <a:lnTo>
                    <a:pt x="300167" y="246042"/>
                  </a:lnTo>
                  <a:lnTo>
                    <a:pt x="323758" y="203579"/>
                  </a:lnTo>
                  <a:lnTo>
                    <a:pt x="332231" y="154685"/>
                  </a:lnTo>
                  <a:lnTo>
                    <a:pt x="323758" y="105777"/>
                  </a:lnTo>
                  <a:lnTo>
                    <a:pt x="300167" y="63313"/>
                  </a:lnTo>
                  <a:lnTo>
                    <a:pt x="264200" y="29833"/>
                  </a:lnTo>
                  <a:lnTo>
                    <a:pt x="218602" y="7882"/>
                  </a:lnTo>
                  <a:lnTo>
                    <a:pt x="166115" y="0"/>
                  </a:lnTo>
                  <a:close/>
                </a:path>
              </a:pathLst>
            </a:custGeom>
            <a:solidFill>
              <a:srgbClr val="333E50">
                <a:alpha val="4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627619" y="5419344"/>
              <a:ext cx="332740" cy="309880"/>
            </a:xfrm>
            <a:custGeom>
              <a:avLst/>
              <a:gdLst/>
              <a:ahLst/>
              <a:cxnLst/>
              <a:rect l="l" t="t" r="r" b="b"/>
              <a:pathLst>
                <a:path w="332740" h="309879">
                  <a:moveTo>
                    <a:pt x="0" y="154685"/>
                  </a:moveTo>
                  <a:lnTo>
                    <a:pt x="8473" y="105777"/>
                  </a:lnTo>
                  <a:lnTo>
                    <a:pt x="32064" y="63313"/>
                  </a:lnTo>
                  <a:lnTo>
                    <a:pt x="68031" y="29833"/>
                  </a:lnTo>
                  <a:lnTo>
                    <a:pt x="113629" y="7882"/>
                  </a:lnTo>
                  <a:lnTo>
                    <a:pt x="166115" y="0"/>
                  </a:lnTo>
                  <a:lnTo>
                    <a:pt x="218602" y="7882"/>
                  </a:lnTo>
                  <a:lnTo>
                    <a:pt x="264200" y="29833"/>
                  </a:lnTo>
                  <a:lnTo>
                    <a:pt x="300167" y="63313"/>
                  </a:lnTo>
                  <a:lnTo>
                    <a:pt x="323758" y="105777"/>
                  </a:lnTo>
                  <a:lnTo>
                    <a:pt x="332231" y="154685"/>
                  </a:lnTo>
                  <a:lnTo>
                    <a:pt x="323758" y="203579"/>
                  </a:lnTo>
                  <a:lnTo>
                    <a:pt x="300167" y="246042"/>
                  </a:lnTo>
                  <a:lnTo>
                    <a:pt x="264200" y="279527"/>
                  </a:lnTo>
                  <a:lnTo>
                    <a:pt x="218602" y="301486"/>
                  </a:lnTo>
                  <a:lnTo>
                    <a:pt x="166115" y="309371"/>
                  </a:lnTo>
                  <a:lnTo>
                    <a:pt x="113629" y="301486"/>
                  </a:lnTo>
                  <a:lnTo>
                    <a:pt x="68031" y="279527"/>
                  </a:lnTo>
                  <a:lnTo>
                    <a:pt x="32064" y="246042"/>
                  </a:lnTo>
                  <a:lnTo>
                    <a:pt x="8473" y="203579"/>
                  </a:lnTo>
                  <a:lnTo>
                    <a:pt x="0" y="15468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" name="object 63"/>
          <p:cNvGrpSpPr/>
          <p:nvPr/>
        </p:nvGrpSpPr>
        <p:grpSpPr>
          <a:xfrm>
            <a:off x="7621269" y="5810758"/>
            <a:ext cx="345440" cy="322580"/>
            <a:chOff x="7621269" y="5810758"/>
            <a:chExt cx="345440" cy="322580"/>
          </a:xfrm>
        </p:grpSpPr>
        <p:sp>
          <p:nvSpPr>
            <p:cNvPr id="64" name="object 64"/>
            <p:cNvSpPr/>
            <p:nvPr/>
          </p:nvSpPr>
          <p:spPr>
            <a:xfrm>
              <a:off x="7627619" y="5817108"/>
              <a:ext cx="332740" cy="309880"/>
            </a:xfrm>
            <a:custGeom>
              <a:avLst/>
              <a:gdLst/>
              <a:ahLst/>
              <a:cxnLst/>
              <a:rect l="l" t="t" r="r" b="b"/>
              <a:pathLst>
                <a:path w="332740" h="309879">
                  <a:moveTo>
                    <a:pt x="166115" y="0"/>
                  </a:moveTo>
                  <a:lnTo>
                    <a:pt x="113629" y="7885"/>
                  </a:lnTo>
                  <a:lnTo>
                    <a:pt x="68031" y="29844"/>
                  </a:lnTo>
                  <a:lnTo>
                    <a:pt x="32064" y="63329"/>
                  </a:lnTo>
                  <a:lnTo>
                    <a:pt x="8473" y="105792"/>
                  </a:lnTo>
                  <a:lnTo>
                    <a:pt x="0" y="154685"/>
                  </a:lnTo>
                  <a:lnTo>
                    <a:pt x="8473" y="203579"/>
                  </a:lnTo>
                  <a:lnTo>
                    <a:pt x="32064" y="246042"/>
                  </a:lnTo>
                  <a:lnTo>
                    <a:pt x="68031" y="279527"/>
                  </a:lnTo>
                  <a:lnTo>
                    <a:pt x="113629" y="301486"/>
                  </a:lnTo>
                  <a:lnTo>
                    <a:pt x="166115" y="309371"/>
                  </a:lnTo>
                  <a:lnTo>
                    <a:pt x="218602" y="301486"/>
                  </a:lnTo>
                  <a:lnTo>
                    <a:pt x="264200" y="279527"/>
                  </a:lnTo>
                  <a:lnTo>
                    <a:pt x="300167" y="246042"/>
                  </a:lnTo>
                  <a:lnTo>
                    <a:pt x="323758" y="203579"/>
                  </a:lnTo>
                  <a:lnTo>
                    <a:pt x="332231" y="154685"/>
                  </a:lnTo>
                  <a:lnTo>
                    <a:pt x="323758" y="105792"/>
                  </a:lnTo>
                  <a:lnTo>
                    <a:pt x="300167" y="63329"/>
                  </a:lnTo>
                  <a:lnTo>
                    <a:pt x="264200" y="29844"/>
                  </a:lnTo>
                  <a:lnTo>
                    <a:pt x="218602" y="7885"/>
                  </a:lnTo>
                  <a:lnTo>
                    <a:pt x="166115" y="0"/>
                  </a:lnTo>
                  <a:close/>
                </a:path>
              </a:pathLst>
            </a:custGeom>
            <a:solidFill>
              <a:srgbClr val="2BACB9">
                <a:alpha val="1294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627619" y="5817108"/>
              <a:ext cx="332740" cy="309880"/>
            </a:xfrm>
            <a:custGeom>
              <a:avLst/>
              <a:gdLst/>
              <a:ahLst/>
              <a:cxnLst/>
              <a:rect l="l" t="t" r="r" b="b"/>
              <a:pathLst>
                <a:path w="332740" h="309879">
                  <a:moveTo>
                    <a:pt x="0" y="154685"/>
                  </a:moveTo>
                  <a:lnTo>
                    <a:pt x="8473" y="105792"/>
                  </a:lnTo>
                  <a:lnTo>
                    <a:pt x="32064" y="63329"/>
                  </a:lnTo>
                  <a:lnTo>
                    <a:pt x="68031" y="29844"/>
                  </a:lnTo>
                  <a:lnTo>
                    <a:pt x="113629" y="7885"/>
                  </a:lnTo>
                  <a:lnTo>
                    <a:pt x="166115" y="0"/>
                  </a:lnTo>
                  <a:lnTo>
                    <a:pt x="218602" y="7885"/>
                  </a:lnTo>
                  <a:lnTo>
                    <a:pt x="264200" y="29844"/>
                  </a:lnTo>
                  <a:lnTo>
                    <a:pt x="300167" y="63329"/>
                  </a:lnTo>
                  <a:lnTo>
                    <a:pt x="323758" y="105792"/>
                  </a:lnTo>
                  <a:lnTo>
                    <a:pt x="332231" y="154685"/>
                  </a:lnTo>
                  <a:lnTo>
                    <a:pt x="323758" y="203579"/>
                  </a:lnTo>
                  <a:lnTo>
                    <a:pt x="300167" y="246042"/>
                  </a:lnTo>
                  <a:lnTo>
                    <a:pt x="264200" y="279527"/>
                  </a:lnTo>
                  <a:lnTo>
                    <a:pt x="218602" y="301486"/>
                  </a:lnTo>
                  <a:lnTo>
                    <a:pt x="166115" y="309371"/>
                  </a:lnTo>
                  <a:lnTo>
                    <a:pt x="113629" y="301486"/>
                  </a:lnTo>
                  <a:lnTo>
                    <a:pt x="68031" y="279527"/>
                  </a:lnTo>
                  <a:lnTo>
                    <a:pt x="32064" y="246042"/>
                  </a:lnTo>
                  <a:lnTo>
                    <a:pt x="8473" y="203579"/>
                  </a:lnTo>
                  <a:lnTo>
                    <a:pt x="0" y="15468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8102345" y="5465775"/>
            <a:ext cx="5943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Phase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50" b="1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102345" y="5841288"/>
            <a:ext cx="5943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Phase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50" b="1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9797922" y="1731340"/>
            <a:ext cx="1532890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Establishing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Meaningful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Calibri"/>
                <a:cs typeface="Calibri"/>
              </a:rPr>
              <a:t>Collaborations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797922" y="2280665"/>
            <a:ext cx="17881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492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Low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Middle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Income </a:t>
            </a:r>
            <a:r>
              <a:rPr dirty="0" sz="1200">
                <a:latin typeface="Calibri"/>
                <a:cs typeface="Calibri"/>
              </a:rPr>
              <a:t>groups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escape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Trap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UFH’s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Expansion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0085958" y="1399413"/>
            <a:ext cx="12363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Long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Term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Goals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8944102" y="2055622"/>
            <a:ext cx="213995" cy="274955"/>
            <a:chOff x="8944102" y="2055622"/>
            <a:chExt cx="213995" cy="274955"/>
          </a:xfrm>
        </p:grpSpPr>
        <p:sp>
          <p:nvSpPr>
            <p:cNvPr id="73" name="object 73"/>
            <p:cNvSpPr/>
            <p:nvPr/>
          </p:nvSpPr>
          <p:spPr>
            <a:xfrm>
              <a:off x="8950452" y="2061972"/>
              <a:ext cx="201295" cy="262255"/>
            </a:xfrm>
            <a:custGeom>
              <a:avLst/>
              <a:gdLst/>
              <a:ahLst/>
              <a:cxnLst/>
              <a:rect l="l" t="t" r="r" b="b"/>
              <a:pathLst>
                <a:path w="201295" h="262255">
                  <a:moveTo>
                    <a:pt x="100583" y="0"/>
                  </a:moveTo>
                  <a:lnTo>
                    <a:pt x="0" y="0"/>
                  </a:lnTo>
                  <a:lnTo>
                    <a:pt x="100583" y="131063"/>
                  </a:lnTo>
                  <a:lnTo>
                    <a:pt x="0" y="262127"/>
                  </a:lnTo>
                  <a:lnTo>
                    <a:pt x="100583" y="262127"/>
                  </a:lnTo>
                  <a:lnTo>
                    <a:pt x="201168" y="131063"/>
                  </a:lnTo>
                  <a:lnTo>
                    <a:pt x="100583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950452" y="2061972"/>
              <a:ext cx="201295" cy="262255"/>
            </a:xfrm>
            <a:custGeom>
              <a:avLst/>
              <a:gdLst/>
              <a:ahLst/>
              <a:cxnLst/>
              <a:rect l="l" t="t" r="r" b="b"/>
              <a:pathLst>
                <a:path w="201295" h="262255">
                  <a:moveTo>
                    <a:pt x="0" y="0"/>
                  </a:moveTo>
                  <a:lnTo>
                    <a:pt x="100583" y="0"/>
                  </a:lnTo>
                  <a:lnTo>
                    <a:pt x="201168" y="131063"/>
                  </a:lnTo>
                  <a:lnTo>
                    <a:pt x="100583" y="262127"/>
                  </a:lnTo>
                  <a:lnTo>
                    <a:pt x="0" y="262127"/>
                  </a:lnTo>
                  <a:lnTo>
                    <a:pt x="100583" y="1310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5" name="object 7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72243" y="2170176"/>
            <a:ext cx="307848" cy="307848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60052" y="1616963"/>
            <a:ext cx="307848" cy="307848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2474976" y="5478779"/>
            <a:ext cx="2049780" cy="338455"/>
          </a:xfrm>
          <a:prstGeom prst="rect">
            <a:avLst/>
          </a:prstGeom>
          <a:solidFill>
            <a:srgbClr val="DFE6EE"/>
          </a:solidFill>
        </p:spPr>
        <p:txBody>
          <a:bodyPr wrap="square" lIns="0" tIns="63500" rIns="0" bIns="0" rtlCol="0" vert="horz">
            <a:spAutoFit/>
          </a:bodyPr>
          <a:lstStyle/>
          <a:p>
            <a:pPr marL="391795">
              <a:lnSpc>
                <a:spcPct val="100000"/>
              </a:lnSpc>
              <a:spcBef>
                <a:spcPts val="500"/>
              </a:spcBef>
            </a:pPr>
            <a:r>
              <a:rPr dirty="0" sz="1400" b="1">
                <a:latin typeface="Calibri"/>
                <a:cs typeface="Calibri"/>
              </a:rPr>
              <a:t>Time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Frame: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3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yrs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706111" y="5478779"/>
            <a:ext cx="2049780" cy="338455"/>
          </a:xfrm>
          <a:prstGeom prst="rect">
            <a:avLst/>
          </a:prstGeom>
          <a:solidFill>
            <a:srgbClr val="DFE6EE"/>
          </a:solidFill>
        </p:spPr>
        <p:txBody>
          <a:bodyPr wrap="square" lIns="0" tIns="50165" rIns="0" bIns="0" rtlCol="0" vert="horz">
            <a:spAutoFit/>
          </a:bodyPr>
          <a:lstStyle/>
          <a:p>
            <a:pPr marL="401955">
              <a:lnSpc>
                <a:spcPct val="100000"/>
              </a:lnSpc>
              <a:spcBef>
                <a:spcPts val="395"/>
              </a:spcBef>
            </a:pPr>
            <a:r>
              <a:rPr dirty="0" sz="1400" b="1">
                <a:latin typeface="Calibri"/>
                <a:cs typeface="Calibri"/>
              </a:rPr>
              <a:t>Time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Frame: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2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yrs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87452" y="5853684"/>
            <a:ext cx="2048510" cy="452755"/>
          </a:xfrm>
          <a:prstGeom prst="rect">
            <a:avLst/>
          </a:prstGeom>
          <a:solidFill>
            <a:srgbClr val="E1EFD9"/>
          </a:solidFill>
        </p:spPr>
        <p:txBody>
          <a:bodyPr wrap="square" lIns="0" tIns="33020" rIns="0" bIns="0" rtlCol="0" vert="horz">
            <a:spAutoFit/>
          </a:bodyPr>
          <a:lstStyle/>
          <a:p>
            <a:pPr marL="753110" marR="204470" indent="-525145">
              <a:lnSpc>
                <a:spcPts val="1500"/>
              </a:lnSpc>
              <a:spcBef>
                <a:spcPts val="260"/>
              </a:spcBef>
            </a:pPr>
            <a:r>
              <a:rPr dirty="0" sz="1400" spc="-10" b="1">
                <a:latin typeface="Calibri"/>
                <a:cs typeface="Calibri"/>
              </a:rPr>
              <a:t>Penetration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Clientele: </a:t>
            </a:r>
            <a:r>
              <a:rPr dirty="0" sz="1400" spc="-10" b="1">
                <a:solidFill>
                  <a:srgbClr val="0C6A6C"/>
                </a:solidFill>
                <a:latin typeface="Calibri"/>
                <a:cs typeface="Calibri"/>
              </a:rPr>
              <a:t>5900+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481072" y="5853684"/>
            <a:ext cx="2049780" cy="46228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19050" rIns="0" bIns="0" rtlCol="0" vert="horz">
            <a:spAutoFit/>
          </a:bodyPr>
          <a:lstStyle/>
          <a:p>
            <a:pPr marL="795020" marR="189230" indent="-550545">
              <a:lnSpc>
                <a:spcPts val="1560"/>
              </a:lnSpc>
              <a:spcBef>
                <a:spcPts val="150"/>
              </a:spcBef>
            </a:pPr>
            <a:r>
              <a:rPr dirty="0" sz="1400" spc="-10" b="1">
                <a:latin typeface="Calibri"/>
                <a:cs typeface="Calibri"/>
              </a:rPr>
              <a:t>Penetration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Clientele: </a:t>
            </a:r>
            <a:r>
              <a:rPr dirty="0" sz="1400" spc="-10" b="1">
                <a:solidFill>
                  <a:srgbClr val="0C6A6C"/>
                </a:solidFill>
                <a:latin typeface="Calibri"/>
                <a:cs typeface="Calibri"/>
              </a:rPr>
              <a:t>6100+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706111" y="5846064"/>
            <a:ext cx="2049780" cy="467995"/>
          </a:xfrm>
          <a:prstGeom prst="rect">
            <a:avLst/>
          </a:prstGeom>
          <a:solidFill>
            <a:srgbClr val="E1EFD9"/>
          </a:solidFill>
        </p:spPr>
        <p:txBody>
          <a:bodyPr wrap="square" lIns="0" tIns="0" rIns="0" bIns="0" rtlCol="0" vert="horz">
            <a:spAutoFit/>
          </a:bodyPr>
          <a:lstStyle/>
          <a:p>
            <a:pPr marL="248920">
              <a:lnSpc>
                <a:spcPts val="1645"/>
              </a:lnSpc>
            </a:pPr>
            <a:r>
              <a:rPr dirty="0" sz="1400" spc="-10" b="1">
                <a:latin typeface="Calibri"/>
                <a:cs typeface="Calibri"/>
              </a:rPr>
              <a:t>Penetration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Clientele:</a:t>
            </a:r>
            <a:endParaRPr sz="1400">
              <a:latin typeface="Calibri"/>
              <a:cs typeface="Calibri"/>
            </a:endParaRPr>
          </a:p>
          <a:p>
            <a:pPr marL="617220">
              <a:lnSpc>
                <a:spcPts val="1655"/>
              </a:lnSpc>
            </a:pPr>
            <a:r>
              <a:rPr dirty="0" sz="1400" b="1">
                <a:solidFill>
                  <a:srgbClr val="0C6A6C"/>
                </a:solidFill>
                <a:latin typeface="Calibri"/>
                <a:cs typeface="Calibri"/>
              </a:rPr>
              <a:t>Pan</a:t>
            </a:r>
            <a:r>
              <a:rPr dirty="0" sz="1400" spc="-55" b="1">
                <a:solidFill>
                  <a:srgbClr val="0C6A6C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C6A6C"/>
                </a:solidFill>
                <a:latin typeface="Calibri"/>
                <a:cs typeface="Calibri"/>
              </a:rPr>
              <a:t>Indonesia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771378" y="6110732"/>
            <a:ext cx="10185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 i="1">
                <a:solidFill>
                  <a:srgbClr val="6E8EB5"/>
                </a:solidFill>
                <a:latin typeface="Calibri"/>
                <a:cs typeface="Calibri"/>
                <a:hlinkClick r:id="rId7" action="ppaction://hlinksldjump"/>
              </a:rPr>
              <a:t>Refer</a:t>
            </a:r>
            <a:r>
              <a:rPr dirty="0" sz="1050" spc="-20" b="1" i="1">
                <a:solidFill>
                  <a:srgbClr val="6E8EB5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dirty="0" sz="1050" b="1" i="1">
                <a:solidFill>
                  <a:srgbClr val="6E8EB5"/>
                </a:solidFill>
                <a:latin typeface="Calibri"/>
                <a:cs typeface="Calibri"/>
                <a:hlinkClick r:id="rId7" action="ppaction://hlinksldjump"/>
              </a:rPr>
              <a:t>to</a:t>
            </a:r>
            <a:r>
              <a:rPr dirty="0" sz="1050" spc="-30" b="1" i="1">
                <a:solidFill>
                  <a:srgbClr val="6E8EB5"/>
                </a:solid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dirty="0" sz="1050" spc="-10" b="1" i="1">
                <a:solidFill>
                  <a:srgbClr val="6E8EB5"/>
                </a:solidFill>
                <a:latin typeface="Calibri"/>
                <a:cs typeface="Calibri"/>
                <a:hlinkClick r:id="rId7" action="ppaction://hlinksldjump"/>
              </a:rPr>
              <a:t>Appendix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9690354" y="6216777"/>
            <a:ext cx="2084705" cy="64135"/>
            <a:chOff x="9690354" y="6216777"/>
            <a:chExt cx="2084705" cy="64135"/>
          </a:xfrm>
        </p:grpSpPr>
        <p:sp>
          <p:nvSpPr>
            <p:cNvPr id="84" name="object 84"/>
            <p:cNvSpPr/>
            <p:nvPr/>
          </p:nvSpPr>
          <p:spPr>
            <a:xfrm>
              <a:off x="10782935" y="6271437"/>
              <a:ext cx="992505" cy="9525"/>
            </a:xfrm>
            <a:custGeom>
              <a:avLst/>
              <a:gdLst/>
              <a:ahLst/>
              <a:cxnLst/>
              <a:rect l="l" t="t" r="r" b="b"/>
              <a:pathLst>
                <a:path w="992504" h="9525">
                  <a:moveTo>
                    <a:pt x="992124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92124" y="9143"/>
                  </a:lnTo>
                  <a:lnTo>
                    <a:pt x="992124" y="0"/>
                  </a:lnTo>
                  <a:close/>
                </a:path>
              </a:pathLst>
            </a:custGeom>
            <a:solidFill>
              <a:srgbClr val="6E8E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690354" y="6226302"/>
              <a:ext cx="1062355" cy="0"/>
            </a:xfrm>
            <a:custGeom>
              <a:avLst/>
              <a:gdLst/>
              <a:ahLst/>
              <a:cxnLst/>
              <a:rect l="l" t="t" r="r" b="b"/>
              <a:pathLst>
                <a:path w="1062354" h="0">
                  <a:moveTo>
                    <a:pt x="0" y="0"/>
                  </a:moveTo>
                  <a:lnTo>
                    <a:pt x="1062354" y="0"/>
                  </a:lnTo>
                </a:path>
              </a:pathLst>
            </a:custGeom>
            <a:ln w="19050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5240"/>
              <a:ext cx="12192000" cy="6842759"/>
            </a:xfrm>
            <a:custGeom>
              <a:avLst/>
              <a:gdLst/>
              <a:ahLst/>
              <a:cxnLst/>
              <a:rect l="l" t="t" r="r" b="b"/>
              <a:pathLst>
                <a:path w="12192000" h="6842759">
                  <a:moveTo>
                    <a:pt x="12192000" y="0"/>
                  </a:moveTo>
                  <a:lnTo>
                    <a:pt x="0" y="0"/>
                  </a:lnTo>
                  <a:lnTo>
                    <a:pt x="0" y="6842759"/>
                  </a:lnTo>
                  <a:lnTo>
                    <a:pt x="12192000" y="68427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>
                <a:alpha val="3607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4026153" y="2411729"/>
            <a:ext cx="4140835" cy="1915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72565" marR="488315" indent="-97726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BEBEBE"/>
                </a:solidFill>
                <a:latin typeface="Calibri"/>
                <a:cs typeface="Calibri"/>
              </a:rPr>
              <a:t>Analysing</a:t>
            </a:r>
            <a:r>
              <a:rPr dirty="0" sz="2400" spc="-70" b="1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EBEBE"/>
                </a:solidFill>
                <a:latin typeface="Calibri"/>
                <a:cs typeface="Calibri"/>
              </a:rPr>
              <a:t>The</a:t>
            </a:r>
            <a:r>
              <a:rPr dirty="0" sz="2400" spc="-70" b="1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BEBEBE"/>
                </a:solidFill>
                <a:latin typeface="Calibri"/>
                <a:cs typeface="Calibri"/>
              </a:rPr>
              <a:t>Landscape Problems </a:t>
            </a:r>
            <a:r>
              <a:rPr dirty="0" sz="2400" spc="-10" b="1">
                <a:solidFill>
                  <a:srgbClr val="D0CECE"/>
                </a:solidFill>
                <a:latin typeface="Calibri"/>
                <a:cs typeface="Calibri"/>
              </a:rPr>
              <a:t>Solutions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3335"/>
              </a:lnSpc>
            </a:pPr>
            <a:r>
              <a:rPr dirty="0" sz="2800" spc="-10" b="1" i="1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r>
              <a:rPr dirty="0" sz="2800" spc="-3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800" spc="-8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400" spc="-10" b="1">
                <a:solidFill>
                  <a:srgbClr val="BEBEBE"/>
                </a:solidFill>
                <a:latin typeface="Calibri"/>
                <a:cs typeface="Calibri"/>
              </a:rPr>
              <a:t>Appendix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229" y="3352002"/>
            <a:ext cx="203835" cy="58610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35"/>
              </a:lnSpc>
            </a:pPr>
            <a:r>
              <a:rPr dirty="0" sz="1400" spc="-20">
                <a:solidFill>
                  <a:srgbClr val="0D5D9E"/>
                </a:solidFill>
                <a:latin typeface="Calibri"/>
                <a:cs typeface="Calibri"/>
              </a:rPr>
              <a:t>IMPACT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4649" y="2023617"/>
            <a:ext cx="4161154" cy="3646170"/>
            <a:chOff x="624649" y="2023617"/>
            <a:chExt cx="4161154" cy="3646170"/>
          </a:xfrm>
        </p:grpSpPr>
        <p:sp>
          <p:nvSpPr>
            <p:cNvPr id="4" name="object 4"/>
            <p:cNvSpPr/>
            <p:nvPr/>
          </p:nvSpPr>
          <p:spPr>
            <a:xfrm>
              <a:off x="653796" y="2034539"/>
              <a:ext cx="4121150" cy="727710"/>
            </a:xfrm>
            <a:custGeom>
              <a:avLst/>
              <a:gdLst/>
              <a:ahLst/>
              <a:cxnLst/>
              <a:rect l="l" t="t" r="r" b="b"/>
              <a:pathLst>
                <a:path w="4121150" h="727710">
                  <a:moveTo>
                    <a:pt x="4120642" y="2540"/>
                  </a:moveTo>
                  <a:lnTo>
                    <a:pt x="1648206" y="2540"/>
                  </a:lnTo>
                  <a:lnTo>
                    <a:pt x="1648206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725170"/>
                  </a:lnTo>
                  <a:lnTo>
                    <a:pt x="1648206" y="725170"/>
                  </a:lnTo>
                  <a:lnTo>
                    <a:pt x="1648206" y="727710"/>
                  </a:lnTo>
                  <a:lnTo>
                    <a:pt x="4120642" y="727710"/>
                  </a:lnTo>
                  <a:lnTo>
                    <a:pt x="4120642" y="725170"/>
                  </a:lnTo>
                  <a:lnTo>
                    <a:pt x="4120642" y="2540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53796" y="2759963"/>
              <a:ext cx="824230" cy="723900"/>
            </a:xfrm>
            <a:custGeom>
              <a:avLst/>
              <a:gdLst/>
              <a:ahLst/>
              <a:cxnLst/>
              <a:rect l="l" t="t" r="r" b="b"/>
              <a:pathLst>
                <a:path w="824230" h="723900">
                  <a:moveTo>
                    <a:pt x="824026" y="0"/>
                  </a:moveTo>
                  <a:lnTo>
                    <a:pt x="0" y="0"/>
                  </a:lnTo>
                  <a:lnTo>
                    <a:pt x="0" y="723646"/>
                  </a:lnTo>
                  <a:lnTo>
                    <a:pt x="824026" y="723646"/>
                  </a:lnTo>
                  <a:lnTo>
                    <a:pt x="824026" y="0"/>
                  </a:lnTo>
                  <a:close/>
                </a:path>
              </a:pathLst>
            </a:custGeom>
            <a:solidFill>
              <a:srgbClr val="0A4779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78279" y="2759963"/>
              <a:ext cx="1647189" cy="723900"/>
            </a:xfrm>
            <a:custGeom>
              <a:avLst/>
              <a:gdLst/>
              <a:ahLst/>
              <a:cxnLst/>
              <a:rect l="l" t="t" r="r" b="b"/>
              <a:pathLst>
                <a:path w="1647189" h="723900">
                  <a:moveTo>
                    <a:pt x="1647063" y="0"/>
                  </a:moveTo>
                  <a:lnTo>
                    <a:pt x="0" y="0"/>
                  </a:lnTo>
                  <a:lnTo>
                    <a:pt x="0" y="723646"/>
                  </a:lnTo>
                  <a:lnTo>
                    <a:pt x="1647063" y="723646"/>
                  </a:lnTo>
                  <a:lnTo>
                    <a:pt x="1647063" y="0"/>
                  </a:lnTo>
                  <a:close/>
                </a:path>
              </a:pathLst>
            </a:custGeom>
            <a:solidFill>
              <a:srgbClr val="0A4779">
                <a:alpha val="8509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125723" y="2759963"/>
              <a:ext cx="1649095" cy="725170"/>
            </a:xfrm>
            <a:custGeom>
              <a:avLst/>
              <a:gdLst/>
              <a:ahLst/>
              <a:cxnLst/>
              <a:rect l="l" t="t" r="r" b="b"/>
              <a:pathLst>
                <a:path w="1649095" h="725170">
                  <a:moveTo>
                    <a:pt x="1648587" y="0"/>
                  </a:moveTo>
                  <a:lnTo>
                    <a:pt x="0" y="0"/>
                  </a:lnTo>
                  <a:lnTo>
                    <a:pt x="0" y="725170"/>
                  </a:lnTo>
                  <a:lnTo>
                    <a:pt x="1648587" y="725170"/>
                  </a:lnTo>
                  <a:lnTo>
                    <a:pt x="1648587" y="0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53796" y="3483863"/>
              <a:ext cx="1647189" cy="725170"/>
            </a:xfrm>
            <a:custGeom>
              <a:avLst/>
              <a:gdLst/>
              <a:ahLst/>
              <a:cxnLst/>
              <a:rect l="l" t="t" r="r" b="b"/>
              <a:pathLst>
                <a:path w="1647189" h="725170">
                  <a:moveTo>
                    <a:pt x="1647063" y="0"/>
                  </a:moveTo>
                  <a:lnTo>
                    <a:pt x="0" y="0"/>
                  </a:lnTo>
                  <a:lnTo>
                    <a:pt x="0" y="725169"/>
                  </a:lnTo>
                  <a:lnTo>
                    <a:pt x="1647063" y="725169"/>
                  </a:lnTo>
                  <a:lnTo>
                    <a:pt x="1647063" y="0"/>
                  </a:lnTo>
                  <a:close/>
                </a:path>
              </a:pathLst>
            </a:custGeom>
            <a:solidFill>
              <a:srgbClr val="0A4779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301240" y="3483863"/>
              <a:ext cx="1649095" cy="725170"/>
            </a:xfrm>
            <a:custGeom>
              <a:avLst/>
              <a:gdLst/>
              <a:ahLst/>
              <a:cxnLst/>
              <a:rect l="l" t="t" r="r" b="b"/>
              <a:pathLst>
                <a:path w="1649095" h="725170">
                  <a:moveTo>
                    <a:pt x="1648587" y="0"/>
                  </a:moveTo>
                  <a:lnTo>
                    <a:pt x="0" y="0"/>
                  </a:lnTo>
                  <a:lnTo>
                    <a:pt x="0" y="725169"/>
                  </a:lnTo>
                  <a:lnTo>
                    <a:pt x="1648587" y="725169"/>
                  </a:lnTo>
                  <a:lnTo>
                    <a:pt x="1648587" y="0"/>
                  </a:lnTo>
                  <a:close/>
                </a:path>
              </a:pathLst>
            </a:custGeom>
            <a:solidFill>
              <a:srgbClr val="0A4779">
                <a:alpha val="8509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50208" y="3483863"/>
              <a:ext cx="824230" cy="725170"/>
            </a:xfrm>
            <a:custGeom>
              <a:avLst/>
              <a:gdLst/>
              <a:ahLst/>
              <a:cxnLst/>
              <a:rect l="l" t="t" r="r" b="b"/>
              <a:pathLst>
                <a:path w="824229" h="725170">
                  <a:moveTo>
                    <a:pt x="824026" y="0"/>
                  </a:moveTo>
                  <a:lnTo>
                    <a:pt x="0" y="0"/>
                  </a:lnTo>
                  <a:lnTo>
                    <a:pt x="0" y="725169"/>
                  </a:lnTo>
                  <a:lnTo>
                    <a:pt x="824026" y="725169"/>
                  </a:lnTo>
                  <a:lnTo>
                    <a:pt x="824026" y="0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53796" y="4209288"/>
              <a:ext cx="2472055" cy="723900"/>
            </a:xfrm>
            <a:custGeom>
              <a:avLst/>
              <a:gdLst/>
              <a:ahLst/>
              <a:cxnLst/>
              <a:rect l="l" t="t" r="r" b="b"/>
              <a:pathLst>
                <a:path w="2472055" h="723900">
                  <a:moveTo>
                    <a:pt x="2471547" y="0"/>
                  </a:moveTo>
                  <a:lnTo>
                    <a:pt x="0" y="0"/>
                  </a:lnTo>
                  <a:lnTo>
                    <a:pt x="0" y="723645"/>
                  </a:lnTo>
                  <a:lnTo>
                    <a:pt x="2471547" y="723645"/>
                  </a:lnTo>
                  <a:lnTo>
                    <a:pt x="2471547" y="0"/>
                  </a:lnTo>
                  <a:close/>
                </a:path>
              </a:pathLst>
            </a:custGeom>
            <a:solidFill>
              <a:srgbClr val="0A4779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25723" y="4209288"/>
              <a:ext cx="1649095" cy="723900"/>
            </a:xfrm>
            <a:custGeom>
              <a:avLst/>
              <a:gdLst/>
              <a:ahLst/>
              <a:cxnLst/>
              <a:rect l="l" t="t" r="r" b="b"/>
              <a:pathLst>
                <a:path w="1649095" h="723900">
                  <a:moveTo>
                    <a:pt x="1648587" y="0"/>
                  </a:moveTo>
                  <a:lnTo>
                    <a:pt x="0" y="0"/>
                  </a:lnTo>
                  <a:lnTo>
                    <a:pt x="0" y="723645"/>
                  </a:lnTo>
                  <a:lnTo>
                    <a:pt x="1648587" y="723645"/>
                  </a:lnTo>
                  <a:lnTo>
                    <a:pt x="1648587" y="0"/>
                  </a:lnTo>
                  <a:close/>
                </a:path>
              </a:pathLst>
            </a:custGeom>
            <a:solidFill>
              <a:srgbClr val="0A4779">
                <a:alpha val="8509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53796" y="4933188"/>
              <a:ext cx="4120515" cy="725170"/>
            </a:xfrm>
            <a:custGeom>
              <a:avLst/>
              <a:gdLst/>
              <a:ahLst/>
              <a:cxnLst/>
              <a:rect l="l" t="t" r="r" b="b"/>
              <a:pathLst>
                <a:path w="4120515" h="725170">
                  <a:moveTo>
                    <a:pt x="4120515" y="0"/>
                  </a:moveTo>
                  <a:lnTo>
                    <a:pt x="0" y="0"/>
                  </a:lnTo>
                  <a:lnTo>
                    <a:pt x="0" y="725170"/>
                  </a:lnTo>
                  <a:lnTo>
                    <a:pt x="4120515" y="725170"/>
                  </a:lnTo>
                  <a:lnTo>
                    <a:pt x="4120515" y="0"/>
                  </a:lnTo>
                  <a:close/>
                </a:path>
              </a:pathLst>
            </a:custGeom>
            <a:solidFill>
              <a:srgbClr val="0A4779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78279" y="2029967"/>
              <a:ext cx="2472055" cy="3633470"/>
            </a:xfrm>
            <a:custGeom>
              <a:avLst/>
              <a:gdLst/>
              <a:ahLst/>
              <a:cxnLst/>
              <a:rect l="l" t="t" r="r" b="b"/>
              <a:pathLst>
                <a:path w="2472054" h="3633470">
                  <a:moveTo>
                    <a:pt x="0" y="0"/>
                  </a:moveTo>
                  <a:lnTo>
                    <a:pt x="0" y="3633203"/>
                  </a:lnTo>
                </a:path>
                <a:path w="2472054" h="3633470">
                  <a:moveTo>
                    <a:pt x="823849" y="0"/>
                  </a:moveTo>
                  <a:lnTo>
                    <a:pt x="823849" y="3633203"/>
                  </a:lnTo>
                </a:path>
                <a:path w="2472054" h="3633470">
                  <a:moveTo>
                    <a:pt x="1647697" y="0"/>
                  </a:moveTo>
                  <a:lnTo>
                    <a:pt x="1647697" y="3633203"/>
                  </a:lnTo>
                </a:path>
                <a:path w="2472054" h="3633470">
                  <a:moveTo>
                    <a:pt x="2471547" y="0"/>
                  </a:moveTo>
                  <a:lnTo>
                    <a:pt x="2471547" y="3633203"/>
                  </a:lnTo>
                </a:path>
              </a:pathLst>
            </a:custGeom>
            <a:ln w="126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9412" y="2767583"/>
              <a:ext cx="4131310" cy="0"/>
            </a:xfrm>
            <a:custGeom>
              <a:avLst/>
              <a:gdLst/>
              <a:ahLst/>
              <a:cxnLst/>
              <a:rect l="l" t="t" r="r" b="b"/>
              <a:pathLst>
                <a:path w="4131310" h="0">
                  <a:moveTo>
                    <a:pt x="0" y="0"/>
                  </a:moveTo>
                  <a:lnTo>
                    <a:pt x="4131310" y="0"/>
                  </a:lnTo>
                </a:path>
              </a:pathLst>
            </a:custGeom>
            <a:ln w="95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7700" y="2029967"/>
              <a:ext cx="4131310" cy="3633470"/>
            </a:xfrm>
            <a:custGeom>
              <a:avLst/>
              <a:gdLst/>
              <a:ahLst/>
              <a:cxnLst/>
              <a:rect l="l" t="t" r="r" b="b"/>
              <a:pathLst>
                <a:path w="4131310" h="3633470">
                  <a:moveTo>
                    <a:pt x="0" y="1454404"/>
                  </a:moveTo>
                  <a:lnTo>
                    <a:pt x="4131310" y="1454404"/>
                  </a:lnTo>
                </a:path>
                <a:path w="4131310" h="3633470">
                  <a:moveTo>
                    <a:pt x="0" y="2178812"/>
                  </a:moveTo>
                  <a:lnTo>
                    <a:pt x="4131310" y="2178812"/>
                  </a:lnTo>
                </a:path>
                <a:path w="4131310" h="3633470">
                  <a:moveTo>
                    <a:pt x="0" y="2903347"/>
                  </a:moveTo>
                  <a:lnTo>
                    <a:pt x="4131310" y="2903347"/>
                  </a:lnTo>
                </a:path>
                <a:path w="4131310" h="3633470">
                  <a:moveTo>
                    <a:pt x="5689" y="0"/>
                  </a:moveTo>
                  <a:lnTo>
                    <a:pt x="5689" y="3633203"/>
                  </a:lnTo>
                </a:path>
                <a:path w="4131310" h="3633470">
                  <a:moveTo>
                    <a:pt x="4125595" y="0"/>
                  </a:moveTo>
                  <a:lnTo>
                    <a:pt x="4125595" y="3633203"/>
                  </a:lnTo>
                </a:path>
                <a:path w="4131310" h="3633470">
                  <a:moveTo>
                    <a:pt x="0" y="5461"/>
                  </a:moveTo>
                  <a:lnTo>
                    <a:pt x="4131310" y="5461"/>
                  </a:lnTo>
                </a:path>
                <a:path w="4131310" h="3633470">
                  <a:moveTo>
                    <a:pt x="0" y="3627691"/>
                  </a:moveTo>
                  <a:lnTo>
                    <a:pt x="4131310" y="3627691"/>
                  </a:lnTo>
                </a:path>
              </a:pathLst>
            </a:custGeom>
            <a:ln w="1268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34440" y="3270503"/>
              <a:ext cx="486409" cy="464820"/>
            </a:xfrm>
            <a:custGeom>
              <a:avLst/>
              <a:gdLst/>
              <a:ahLst/>
              <a:cxnLst/>
              <a:rect l="l" t="t" r="r" b="b"/>
              <a:pathLst>
                <a:path w="486410" h="464820">
                  <a:moveTo>
                    <a:pt x="242950" y="0"/>
                  </a:moveTo>
                  <a:lnTo>
                    <a:pt x="199262" y="3683"/>
                  </a:lnTo>
                  <a:lnTo>
                    <a:pt x="158115" y="14478"/>
                  </a:lnTo>
                  <a:lnTo>
                    <a:pt x="120268" y="31750"/>
                  </a:lnTo>
                  <a:lnTo>
                    <a:pt x="86359" y="54610"/>
                  </a:lnTo>
                  <a:lnTo>
                    <a:pt x="57150" y="82550"/>
                  </a:lnTo>
                  <a:lnTo>
                    <a:pt x="33159" y="115062"/>
                  </a:lnTo>
                  <a:lnTo>
                    <a:pt x="15189" y="151130"/>
                  </a:lnTo>
                  <a:lnTo>
                    <a:pt x="3911" y="190500"/>
                  </a:lnTo>
                  <a:lnTo>
                    <a:pt x="0" y="232156"/>
                  </a:lnTo>
                  <a:lnTo>
                    <a:pt x="3911" y="273938"/>
                  </a:lnTo>
                  <a:lnTo>
                    <a:pt x="15189" y="313182"/>
                  </a:lnTo>
                  <a:lnTo>
                    <a:pt x="33159" y="349377"/>
                  </a:lnTo>
                  <a:lnTo>
                    <a:pt x="57150" y="381762"/>
                  </a:lnTo>
                  <a:lnTo>
                    <a:pt x="86359" y="409829"/>
                  </a:lnTo>
                  <a:lnTo>
                    <a:pt x="120268" y="432689"/>
                  </a:lnTo>
                  <a:lnTo>
                    <a:pt x="158115" y="449834"/>
                  </a:lnTo>
                  <a:lnTo>
                    <a:pt x="199262" y="460629"/>
                  </a:lnTo>
                  <a:lnTo>
                    <a:pt x="242950" y="464439"/>
                  </a:lnTo>
                  <a:lnTo>
                    <a:pt x="286638" y="460629"/>
                  </a:lnTo>
                  <a:lnTo>
                    <a:pt x="327787" y="449834"/>
                  </a:lnTo>
                  <a:lnTo>
                    <a:pt x="365632" y="432689"/>
                  </a:lnTo>
                  <a:lnTo>
                    <a:pt x="399668" y="409829"/>
                  </a:lnTo>
                  <a:lnTo>
                    <a:pt x="428878" y="381762"/>
                  </a:lnTo>
                  <a:lnTo>
                    <a:pt x="452882" y="349377"/>
                  </a:lnTo>
                  <a:lnTo>
                    <a:pt x="470916" y="313182"/>
                  </a:lnTo>
                  <a:lnTo>
                    <a:pt x="482218" y="273938"/>
                  </a:lnTo>
                  <a:lnTo>
                    <a:pt x="486028" y="232156"/>
                  </a:lnTo>
                  <a:lnTo>
                    <a:pt x="482218" y="190500"/>
                  </a:lnTo>
                  <a:lnTo>
                    <a:pt x="470916" y="151130"/>
                  </a:lnTo>
                  <a:lnTo>
                    <a:pt x="452882" y="115062"/>
                  </a:lnTo>
                  <a:lnTo>
                    <a:pt x="428878" y="82550"/>
                  </a:lnTo>
                  <a:lnTo>
                    <a:pt x="399668" y="54610"/>
                  </a:lnTo>
                  <a:lnTo>
                    <a:pt x="365632" y="31750"/>
                  </a:lnTo>
                  <a:lnTo>
                    <a:pt x="327787" y="14478"/>
                  </a:lnTo>
                  <a:lnTo>
                    <a:pt x="286638" y="3683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234440" y="3270503"/>
              <a:ext cx="486409" cy="464820"/>
            </a:xfrm>
            <a:custGeom>
              <a:avLst/>
              <a:gdLst/>
              <a:ahLst/>
              <a:cxnLst/>
              <a:rect l="l" t="t" r="r" b="b"/>
              <a:pathLst>
                <a:path w="486410" h="464820">
                  <a:moveTo>
                    <a:pt x="242950" y="0"/>
                  </a:moveTo>
                  <a:lnTo>
                    <a:pt x="199262" y="3683"/>
                  </a:lnTo>
                  <a:lnTo>
                    <a:pt x="158115" y="14478"/>
                  </a:lnTo>
                  <a:lnTo>
                    <a:pt x="120268" y="31750"/>
                  </a:lnTo>
                  <a:lnTo>
                    <a:pt x="86359" y="54610"/>
                  </a:lnTo>
                  <a:lnTo>
                    <a:pt x="57150" y="82550"/>
                  </a:lnTo>
                  <a:lnTo>
                    <a:pt x="33159" y="115062"/>
                  </a:lnTo>
                  <a:lnTo>
                    <a:pt x="15189" y="151130"/>
                  </a:lnTo>
                  <a:lnTo>
                    <a:pt x="3911" y="190500"/>
                  </a:lnTo>
                  <a:lnTo>
                    <a:pt x="0" y="232156"/>
                  </a:lnTo>
                  <a:lnTo>
                    <a:pt x="3911" y="273938"/>
                  </a:lnTo>
                  <a:lnTo>
                    <a:pt x="15189" y="313182"/>
                  </a:lnTo>
                  <a:lnTo>
                    <a:pt x="33159" y="349377"/>
                  </a:lnTo>
                  <a:lnTo>
                    <a:pt x="57150" y="381762"/>
                  </a:lnTo>
                  <a:lnTo>
                    <a:pt x="86359" y="409829"/>
                  </a:lnTo>
                  <a:lnTo>
                    <a:pt x="120268" y="432689"/>
                  </a:lnTo>
                  <a:lnTo>
                    <a:pt x="158115" y="449834"/>
                  </a:lnTo>
                  <a:lnTo>
                    <a:pt x="199262" y="460629"/>
                  </a:lnTo>
                  <a:lnTo>
                    <a:pt x="242950" y="464439"/>
                  </a:lnTo>
                  <a:lnTo>
                    <a:pt x="286638" y="460629"/>
                  </a:lnTo>
                  <a:lnTo>
                    <a:pt x="327787" y="449834"/>
                  </a:lnTo>
                  <a:lnTo>
                    <a:pt x="365632" y="432689"/>
                  </a:lnTo>
                  <a:lnTo>
                    <a:pt x="399668" y="409829"/>
                  </a:lnTo>
                  <a:lnTo>
                    <a:pt x="428878" y="381762"/>
                  </a:lnTo>
                  <a:lnTo>
                    <a:pt x="452882" y="349377"/>
                  </a:lnTo>
                  <a:lnTo>
                    <a:pt x="470916" y="313182"/>
                  </a:lnTo>
                  <a:lnTo>
                    <a:pt x="482218" y="273938"/>
                  </a:lnTo>
                  <a:lnTo>
                    <a:pt x="486028" y="232156"/>
                  </a:lnTo>
                  <a:lnTo>
                    <a:pt x="482218" y="190500"/>
                  </a:lnTo>
                  <a:lnTo>
                    <a:pt x="470916" y="151130"/>
                  </a:lnTo>
                  <a:lnTo>
                    <a:pt x="452882" y="115062"/>
                  </a:lnTo>
                  <a:lnTo>
                    <a:pt x="428878" y="82550"/>
                  </a:lnTo>
                  <a:lnTo>
                    <a:pt x="399668" y="54610"/>
                  </a:lnTo>
                  <a:lnTo>
                    <a:pt x="365632" y="31750"/>
                  </a:lnTo>
                  <a:lnTo>
                    <a:pt x="327787" y="14478"/>
                  </a:lnTo>
                  <a:lnTo>
                    <a:pt x="286638" y="3683"/>
                  </a:lnTo>
                  <a:lnTo>
                    <a:pt x="242950" y="0"/>
                  </a:lnTo>
                  <a:close/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681984" y="4693919"/>
              <a:ext cx="486409" cy="472440"/>
            </a:xfrm>
            <a:custGeom>
              <a:avLst/>
              <a:gdLst/>
              <a:ahLst/>
              <a:cxnLst/>
              <a:rect l="l" t="t" r="r" b="b"/>
              <a:pathLst>
                <a:path w="486410" h="472439">
                  <a:moveTo>
                    <a:pt x="242950" y="0"/>
                  </a:moveTo>
                  <a:lnTo>
                    <a:pt x="199262" y="3809"/>
                  </a:lnTo>
                  <a:lnTo>
                    <a:pt x="158114" y="14731"/>
                  </a:lnTo>
                  <a:lnTo>
                    <a:pt x="120268" y="32257"/>
                  </a:lnTo>
                  <a:lnTo>
                    <a:pt x="86360" y="55498"/>
                  </a:lnTo>
                  <a:lnTo>
                    <a:pt x="57150" y="83946"/>
                  </a:lnTo>
                  <a:lnTo>
                    <a:pt x="33146" y="116839"/>
                  </a:lnTo>
                  <a:lnTo>
                    <a:pt x="15239" y="153669"/>
                  </a:lnTo>
                  <a:lnTo>
                    <a:pt x="3937" y="193547"/>
                  </a:lnTo>
                  <a:lnTo>
                    <a:pt x="0" y="235965"/>
                  </a:lnTo>
                  <a:lnTo>
                    <a:pt x="3937" y="278383"/>
                  </a:lnTo>
                  <a:lnTo>
                    <a:pt x="15239" y="318388"/>
                  </a:lnTo>
                  <a:lnTo>
                    <a:pt x="33146" y="355218"/>
                  </a:lnTo>
                  <a:lnTo>
                    <a:pt x="57150" y="388111"/>
                  </a:lnTo>
                  <a:lnTo>
                    <a:pt x="86360" y="416559"/>
                  </a:lnTo>
                  <a:lnTo>
                    <a:pt x="120268" y="439800"/>
                  </a:lnTo>
                  <a:lnTo>
                    <a:pt x="158114" y="457326"/>
                  </a:lnTo>
                  <a:lnTo>
                    <a:pt x="199262" y="468248"/>
                  </a:lnTo>
                  <a:lnTo>
                    <a:pt x="242950" y="472058"/>
                  </a:lnTo>
                  <a:lnTo>
                    <a:pt x="286638" y="468248"/>
                  </a:lnTo>
                  <a:lnTo>
                    <a:pt x="327787" y="457326"/>
                  </a:lnTo>
                  <a:lnTo>
                    <a:pt x="365632" y="439800"/>
                  </a:lnTo>
                  <a:lnTo>
                    <a:pt x="399668" y="416559"/>
                  </a:lnTo>
                  <a:lnTo>
                    <a:pt x="428878" y="388111"/>
                  </a:lnTo>
                  <a:lnTo>
                    <a:pt x="452881" y="355218"/>
                  </a:lnTo>
                  <a:lnTo>
                    <a:pt x="470915" y="318388"/>
                  </a:lnTo>
                  <a:lnTo>
                    <a:pt x="482218" y="278383"/>
                  </a:lnTo>
                  <a:lnTo>
                    <a:pt x="486028" y="235965"/>
                  </a:lnTo>
                  <a:lnTo>
                    <a:pt x="482218" y="193547"/>
                  </a:lnTo>
                  <a:lnTo>
                    <a:pt x="470915" y="153669"/>
                  </a:lnTo>
                  <a:lnTo>
                    <a:pt x="452881" y="116839"/>
                  </a:lnTo>
                  <a:lnTo>
                    <a:pt x="428878" y="83946"/>
                  </a:lnTo>
                  <a:lnTo>
                    <a:pt x="399668" y="55498"/>
                  </a:lnTo>
                  <a:lnTo>
                    <a:pt x="365632" y="32257"/>
                  </a:lnTo>
                  <a:lnTo>
                    <a:pt x="327787" y="14731"/>
                  </a:lnTo>
                  <a:lnTo>
                    <a:pt x="286638" y="3809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81984" y="4693919"/>
              <a:ext cx="486409" cy="472440"/>
            </a:xfrm>
            <a:custGeom>
              <a:avLst/>
              <a:gdLst/>
              <a:ahLst/>
              <a:cxnLst/>
              <a:rect l="l" t="t" r="r" b="b"/>
              <a:pathLst>
                <a:path w="486410" h="472439">
                  <a:moveTo>
                    <a:pt x="242950" y="0"/>
                  </a:moveTo>
                  <a:lnTo>
                    <a:pt x="199262" y="3809"/>
                  </a:lnTo>
                  <a:lnTo>
                    <a:pt x="158114" y="14731"/>
                  </a:lnTo>
                  <a:lnTo>
                    <a:pt x="120268" y="32257"/>
                  </a:lnTo>
                  <a:lnTo>
                    <a:pt x="86360" y="55498"/>
                  </a:lnTo>
                  <a:lnTo>
                    <a:pt x="57150" y="83946"/>
                  </a:lnTo>
                  <a:lnTo>
                    <a:pt x="33146" y="116839"/>
                  </a:lnTo>
                  <a:lnTo>
                    <a:pt x="15239" y="153669"/>
                  </a:lnTo>
                  <a:lnTo>
                    <a:pt x="3937" y="193547"/>
                  </a:lnTo>
                  <a:lnTo>
                    <a:pt x="0" y="235965"/>
                  </a:lnTo>
                  <a:lnTo>
                    <a:pt x="3937" y="278383"/>
                  </a:lnTo>
                  <a:lnTo>
                    <a:pt x="15239" y="318388"/>
                  </a:lnTo>
                  <a:lnTo>
                    <a:pt x="33146" y="355218"/>
                  </a:lnTo>
                  <a:lnTo>
                    <a:pt x="57150" y="388111"/>
                  </a:lnTo>
                  <a:lnTo>
                    <a:pt x="86360" y="416559"/>
                  </a:lnTo>
                  <a:lnTo>
                    <a:pt x="120268" y="439800"/>
                  </a:lnTo>
                  <a:lnTo>
                    <a:pt x="158114" y="457326"/>
                  </a:lnTo>
                  <a:lnTo>
                    <a:pt x="199262" y="468248"/>
                  </a:lnTo>
                  <a:lnTo>
                    <a:pt x="242950" y="472058"/>
                  </a:lnTo>
                  <a:lnTo>
                    <a:pt x="286638" y="468248"/>
                  </a:lnTo>
                  <a:lnTo>
                    <a:pt x="327787" y="457326"/>
                  </a:lnTo>
                  <a:lnTo>
                    <a:pt x="365632" y="439800"/>
                  </a:lnTo>
                  <a:lnTo>
                    <a:pt x="399668" y="416559"/>
                  </a:lnTo>
                  <a:lnTo>
                    <a:pt x="428878" y="388111"/>
                  </a:lnTo>
                  <a:lnTo>
                    <a:pt x="452881" y="355218"/>
                  </a:lnTo>
                  <a:lnTo>
                    <a:pt x="470915" y="318388"/>
                  </a:lnTo>
                  <a:lnTo>
                    <a:pt x="482218" y="278383"/>
                  </a:lnTo>
                  <a:lnTo>
                    <a:pt x="486028" y="235965"/>
                  </a:lnTo>
                  <a:lnTo>
                    <a:pt x="482218" y="193547"/>
                  </a:lnTo>
                  <a:lnTo>
                    <a:pt x="470915" y="153669"/>
                  </a:lnTo>
                  <a:lnTo>
                    <a:pt x="452881" y="116839"/>
                  </a:lnTo>
                  <a:lnTo>
                    <a:pt x="428878" y="83946"/>
                  </a:lnTo>
                  <a:lnTo>
                    <a:pt x="399668" y="55498"/>
                  </a:lnTo>
                  <a:lnTo>
                    <a:pt x="365632" y="32257"/>
                  </a:lnTo>
                  <a:lnTo>
                    <a:pt x="327787" y="14731"/>
                  </a:lnTo>
                  <a:lnTo>
                    <a:pt x="286638" y="3809"/>
                  </a:lnTo>
                  <a:lnTo>
                    <a:pt x="242950" y="0"/>
                  </a:lnTo>
                  <a:close/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63495" y="2510027"/>
              <a:ext cx="476884" cy="472440"/>
            </a:xfrm>
            <a:custGeom>
              <a:avLst/>
              <a:gdLst/>
              <a:ahLst/>
              <a:cxnLst/>
              <a:rect l="l" t="t" r="r" b="b"/>
              <a:pathLst>
                <a:path w="476885" h="472439">
                  <a:moveTo>
                    <a:pt x="238379" y="0"/>
                  </a:moveTo>
                  <a:lnTo>
                    <a:pt x="195580" y="3810"/>
                  </a:lnTo>
                  <a:lnTo>
                    <a:pt x="155194" y="14732"/>
                  </a:lnTo>
                  <a:lnTo>
                    <a:pt x="118110" y="32258"/>
                  </a:lnTo>
                  <a:lnTo>
                    <a:pt x="84836" y="55499"/>
                  </a:lnTo>
                  <a:lnTo>
                    <a:pt x="56006" y="83947"/>
                  </a:lnTo>
                  <a:lnTo>
                    <a:pt x="32512" y="116839"/>
                  </a:lnTo>
                  <a:lnTo>
                    <a:pt x="14859" y="153670"/>
                  </a:lnTo>
                  <a:lnTo>
                    <a:pt x="3810" y="193548"/>
                  </a:lnTo>
                  <a:lnTo>
                    <a:pt x="0" y="235966"/>
                  </a:lnTo>
                  <a:lnTo>
                    <a:pt x="3810" y="278384"/>
                  </a:lnTo>
                  <a:lnTo>
                    <a:pt x="14859" y="318388"/>
                  </a:lnTo>
                  <a:lnTo>
                    <a:pt x="32512" y="355219"/>
                  </a:lnTo>
                  <a:lnTo>
                    <a:pt x="56006" y="388112"/>
                  </a:lnTo>
                  <a:lnTo>
                    <a:pt x="84836" y="416560"/>
                  </a:lnTo>
                  <a:lnTo>
                    <a:pt x="118110" y="439800"/>
                  </a:lnTo>
                  <a:lnTo>
                    <a:pt x="155194" y="457326"/>
                  </a:lnTo>
                  <a:lnTo>
                    <a:pt x="195580" y="468249"/>
                  </a:lnTo>
                  <a:lnTo>
                    <a:pt x="238379" y="472059"/>
                  </a:lnTo>
                  <a:lnTo>
                    <a:pt x="281178" y="468249"/>
                  </a:lnTo>
                  <a:lnTo>
                    <a:pt x="321564" y="457326"/>
                  </a:lnTo>
                  <a:lnTo>
                    <a:pt x="358648" y="439800"/>
                  </a:lnTo>
                  <a:lnTo>
                    <a:pt x="391922" y="416560"/>
                  </a:lnTo>
                  <a:lnTo>
                    <a:pt x="420624" y="388112"/>
                  </a:lnTo>
                  <a:lnTo>
                    <a:pt x="444246" y="355219"/>
                  </a:lnTo>
                  <a:lnTo>
                    <a:pt x="461772" y="318388"/>
                  </a:lnTo>
                  <a:lnTo>
                    <a:pt x="472948" y="278384"/>
                  </a:lnTo>
                  <a:lnTo>
                    <a:pt x="476758" y="235966"/>
                  </a:lnTo>
                  <a:lnTo>
                    <a:pt x="472948" y="193548"/>
                  </a:lnTo>
                  <a:lnTo>
                    <a:pt x="461772" y="153670"/>
                  </a:lnTo>
                  <a:lnTo>
                    <a:pt x="444246" y="116839"/>
                  </a:lnTo>
                  <a:lnTo>
                    <a:pt x="420624" y="83947"/>
                  </a:lnTo>
                  <a:lnTo>
                    <a:pt x="391922" y="55499"/>
                  </a:lnTo>
                  <a:lnTo>
                    <a:pt x="358648" y="32258"/>
                  </a:lnTo>
                  <a:lnTo>
                    <a:pt x="321564" y="14732"/>
                  </a:lnTo>
                  <a:lnTo>
                    <a:pt x="281178" y="3810"/>
                  </a:lnTo>
                  <a:lnTo>
                    <a:pt x="238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63495" y="2510027"/>
              <a:ext cx="476884" cy="472440"/>
            </a:xfrm>
            <a:custGeom>
              <a:avLst/>
              <a:gdLst/>
              <a:ahLst/>
              <a:cxnLst/>
              <a:rect l="l" t="t" r="r" b="b"/>
              <a:pathLst>
                <a:path w="476885" h="472439">
                  <a:moveTo>
                    <a:pt x="238379" y="0"/>
                  </a:moveTo>
                  <a:lnTo>
                    <a:pt x="195580" y="3810"/>
                  </a:lnTo>
                  <a:lnTo>
                    <a:pt x="155194" y="14732"/>
                  </a:lnTo>
                  <a:lnTo>
                    <a:pt x="118110" y="32258"/>
                  </a:lnTo>
                  <a:lnTo>
                    <a:pt x="84836" y="55499"/>
                  </a:lnTo>
                  <a:lnTo>
                    <a:pt x="56006" y="83947"/>
                  </a:lnTo>
                  <a:lnTo>
                    <a:pt x="32512" y="116839"/>
                  </a:lnTo>
                  <a:lnTo>
                    <a:pt x="14859" y="153670"/>
                  </a:lnTo>
                  <a:lnTo>
                    <a:pt x="3810" y="193548"/>
                  </a:lnTo>
                  <a:lnTo>
                    <a:pt x="0" y="235966"/>
                  </a:lnTo>
                  <a:lnTo>
                    <a:pt x="3810" y="278384"/>
                  </a:lnTo>
                  <a:lnTo>
                    <a:pt x="14859" y="318388"/>
                  </a:lnTo>
                  <a:lnTo>
                    <a:pt x="32512" y="355219"/>
                  </a:lnTo>
                  <a:lnTo>
                    <a:pt x="56006" y="388112"/>
                  </a:lnTo>
                  <a:lnTo>
                    <a:pt x="84836" y="416560"/>
                  </a:lnTo>
                  <a:lnTo>
                    <a:pt x="118110" y="439800"/>
                  </a:lnTo>
                  <a:lnTo>
                    <a:pt x="155194" y="457326"/>
                  </a:lnTo>
                  <a:lnTo>
                    <a:pt x="195580" y="468249"/>
                  </a:lnTo>
                  <a:lnTo>
                    <a:pt x="238379" y="472059"/>
                  </a:lnTo>
                  <a:lnTo>
                    <a:pt x="281178" y="468249"/>
                  </a:lnTo>
                  <a:lnTo>
                    <a:pt x="321564" y="457326"/>
                  </a:lnTo>
                  <a:lnTo>
                    <a:pt x="358648" y="439800"/>
                  </a:lnTo>
                  <a:lnTo>
                    <a:pt x="391922" y="416560"/>
                  </a:lnTo>
                  <a:lnTo>
                    <a:pt x="420624" y="388112"/>
                  </a:lnTo>
                  <a:lnTo>
                    <a:pt x="444246" y="355219"/>
                  </a:lnTo>
                  <a:lnTo>
                    <a:pt x="461772" y="318388"/>
                  </a:lnTo>
                  <a:lnTo>
                    <a:pt x="472948" y="278384"/>
                  </a:lnTo>
                  <a:lnTo>
                    <a:pt x="476758" y="235966"/>
                  </a:lnTo>
                  <a:lnTo>
                    <a:pt x="472948" y="193548"/>
                  </a:lnTo>
                  <a:lnTo>
                    <a:pt x="461772" y="153670"/>
                  </a:lnTo>
                  <a:lnTo>
                    <a:pt x="444246" y="116839"/>
                  </a:lnTo>
                  <a:lnTo>
                    <a:pt x="420624" y="83947"/>
                  </a:lnTo>
                  <a:lnTo>
                    <a:pt x="391922" y="55499"/>
                  </a:lnTo>
                  <a:lnTo>
                    <a:pt x="358648" y="32258"/>
                  </a:lnTo>
                  <a:lnTo>
                    <a:pt x="321564" y="14732"/>
                  </a:lnTo>
                  <a:lnTo>
                    <a:pt x="281178" y="3810"/>
                  </a:lnTo>
                  <a:lnTo>
                    <a:pt x="238379" y="0"/>
                  </a:lnTo>
                  <a:close/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390903" y="335445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49115" y="4789170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31263" y="2561335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861881" y="3977449"/>
            <a:ext cx="500380" cy="478790"/>
            <a:chOff x="2861881" y="3977449"/>
            <a:chExt cx="500380" cy="478790"/>
          </a:xfrm>
        </p:grpSpPr>
        <p:sp>
          <p:nvSpPr>
            <p:cNvPr id="27" name="object 27"/>
            <p:cNvSpPr/>
            <p:nvPr/>
          </p:nvSpPr>
          <p:spPr>
            <a:xfrm>
              <a:off x="2875788" y="3991355"/>
              <a:ext cx="486409" cy="464820"/>
            </a:xfrm>
            <a:custGeom>
              <a:avLst/>
              <a:gdLst/>
              <a:ahLst/>
              <a:cxnLst/>
              <a:rect l="l" t="t" r="r" b="b"/>
              <a:pathLst>
                <a:path w="486410" h="464820">
                  <a:moveTo>
                    <a:pt x="242950" y="0"/>
                  </a:moveTo>
                  <a:lnTo>
                    <a:pt x="199262" y="3683"/>
                  </a:lnTo>
                  <a:lnTo>
                    <a:pt x="158114" y="14478"/>
                  </a:lnTo>
                  <a:lnTo>
                    <a:pt x="120268" y="31750"/>
                  </a:lnTo>
                  <a:lnTo>
                    <a:pt x="86360" y="54610"/>
                  </a:lnTo>
                  <a:lnTo>
                    <a:pt x="57150" y="82550"/>
                  </a:lnTo>
                  <a:lnTo>
                    <a:pt x="33147" y="114935"/>
                  </a:lnTo>
                  <a:lnTo>
                    <a:pt x="15239" y="151130"/>
                  </a:lnTo>
                  <a:lnTo>
                    <a:pt x="3937" y="190500"/>
                  </a:lnTo>
                  <a:lnTo>
                    <a:pt x="0" y="232156"/>
                  </a:lnTo>
                  <a:lnTo>
                    <a:pt x="3937" y="273939"/>
                  </a:lnTo>
                  <a:lnTo>
                    <a:pt x="15239" y="313182"/>
                  </a:lnTo>
                  <a:lnTo>
                    <a:pt x="33147" y="349377"/>
                  </a:lnTo>
                  <a:lnTo>
                    <a:pt x="57150" y="381762"/>
                  </a:lnTo>
                  <a:lnTo>
                    <a:pt x="86360" y="409702"/>
                  </a:lnTo>
                  <a:lnTo>
                    <a:pt x="120268" y="432689"/>
                  </a:lnTo>
                  <a:lnTo>
                    <a:pt x="158114" y="449834"/>
                  </a:lnTo>
                  <a:lnTo>
                    <a:pt x="199262" y="460629"/>
                  </a:lnTo>
                  <a:lnTo>
                    <a:pt x="242950" y="464439"/>
                  </a:lnTo>
                  <a:lnTo>
                    <a:pt x="286638" y="460629"/>
                  </a:lnTo>
                  <a:lnTo>
                    <a:pt x="327787" y="449834"/>
                  </a:lnTo>
                  <a:lnTo>
                    <a:pt x="365632" y="432689"/>
                  </a:lnTo>
                  <a:lnTo>
                    <a:pt x="399669" y="409702"/>
                  </a:lnTo>
                  <a:lnTo>
                    <a:pt x="428878" y="381762"/>
                  </a:lnTo>
                  <a:lnTo>
                    <a:pt x="452882" y="349377"/>
                  </a:lnTo>
                  <a:lnTo>
                    <a:pt x="470915" y="313182"/>
                  </a:lnTo>
                  <a:lnTo>
                    <a:pt x="482219" y="273939"/>
                  </a:lnTo>
                  <a:lnTo>
                    <a:pt x="486028" y="232156"/>
                  </a:lnTo>
                  <a:lnTo>
                    <a:pt x="482219" y="190500"/>
                  </a:lnTo>
                  <a:lnTo>
                    <a:pt x="470915" y="151130"/>
                  </a:lnTo>
                  <a:lnTo>
                    <a:pt x="452882" y="114935"/>
                  </a:lnTo>
                  <a:lnTo>
                    <a:pt x="428878" y="82550"/>
                  </a:lnTo>
                  <a:lnTo>
                    <a:pt x="399669" y="54610"/>
                  </a:lnTo>
                  <a:lnTo>
                    <a:pt x="365632" y="31750"/>
                  </a:lnTo>
                  <a:lnTo>
                    <a:pt x="327787" y="14478"/>
                  </a:lnTo>
                  <a:lnTo>
                    <a:pt x="286638" y="3683"/>
                  </a:lnTo>
                  <a:lnTo>
                    <a:pt x="242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866644" y="3982211"/>
              <a:ext cx="486409" cy="462915"/>
            </a:xfrm>
            <a:custGeom>
              <a:avLst/>
              <a:gdLst/>
              <a:ahLst/>
              <a:cxnLst/>
              <a:rect l="l" t="t" r="r" b="b"/>
              <a:pathLst>
                <a:path w="486410" h="462914">
                  <a:moveTo>
                    <a:pt x="242950" y="0"/>
                  </a:moveTo>
                  <a:lnTo>
                    <a:pt x="199262" y="3682"/>
                  </a:lnTo>
                  <a:lnTo>
                    <a:pt x="158114" y="14477"/>
                  </a:lnTo>
                  <a:lnTo>
                    <a:pt x="120268" y="31623"/>
                  </a:lnTo>
                  <a:lnTo>
                    <a:pt x="86360" y="54482"/>
                  </a:lnTo>
                  <a:lnTo>
                    <a:pt x="57150" y="82295"/>
                  </a:lnTo>
                  <a:lnTo>
                    <a:pt x="33147" y="114681"/>
                  </a:lnTo>
                  <a:lnTo>
                    <a:pt x="15239" y="150621"/>
                  </a:lnTo>
                  <a:lnTo>
                    <a:pt x="3937" y="189864"/>
                  </a:lnTo>
                  <a:lnTo>
                    <a:pt x="0" y="231394"/>
                  </a:lnTo>
                  <a:lnTo>
                    <a:pt x="3937" y="273050"/>
                  </a:lnTo>
                  <a:lnTo>
                    <a:pt x="15239" y="312165"/>
                  </a:lnTo>
                  <a:lnTo>
                    <a:pt x="33147" y="348233"/>
                  </a:lnTo>
                  <a:lnTo>
                    <a:pt x="57150" y="380492"/>
                  </a:lnTo>
                  <a:lnTo>
                    <a:pt x="86360" y="408431"/>
                  </a:lnTo>
                  <a:lnTo>
                    <a:pt x="120268" y="431292"/>
                  </a:lnTo>
                  <a:lnTo>
                    <a:pt x="158114" y="448437"/>
                  </a:lnTo>
                  <a:lnTo>
                    <a:pt x="199262" y="459105"/>
                  </a:lnTo>
                  <a:lnTo>
                    <a:pt x="242950" y="462914"/>
                  </a:lnTo>
                  <a:lnTo>
                    <a:pt x="286638" y="459105"/>
                  </a:lnTo>
                  <a:lnTo>
                    <a:pt x="327787" y="448437"/>
                  </a:lnTo>
                  <a:lnTo>
                    <a:pt x="365632" y="431292"/>
                  </a:lnTo>
                  <a:lnTo>
                    <a:pt x="399669" y="408431"/>
                  </a:lnTo>
                  <a:lnTo>
                    <a:pt x="428879" y="380492"/>
                  </a:lnTo>
                  <a:lnTo>
                    <a:pt x="452881" y="348233"/>
                  </a:lnTo>
                  <a:lnTo>
                    <a:pt x="470916" y="312165"/>
                  </a:lnTo>
                  <a:lnTo>
                    <a:pt x="482219" y="273050"/>
                  </a:lnTo>
                  <a:lnTo>
                    <a:pt x="486029" y="231394"/>
                  </a:lnTo>
                  <a:lnTo>
                    <a:pt x="482219" y="189864"/>
                  </a:lnTo>
                  <a:lnTo>
                    <a:pt x="470916" y="150621"/>
                  </a:lnTo>
                  <a:lnTo>
                    <a:pt x="452881" y="114554"/>
                  </a:lnTo>
                  <a:lnTo>
                    <a:pt x="428879" y="82295"/>
                  </a:lnTo>
                  <a:lnTo>
                    <a:pt x="399669" y="54482"/>
                  </a:lnTo>
                  <a:lnTo>
                    <a:pt x="365632" y="31623"/>
                  </a:lnTo>
                  <a:lnTo>
                    <a:pt x="327787" y="14477"/>
                  </a:lnTo>
                  <a:lnTo>
                    <a:pt x="286638" y="3682"/>
                  </a:lnTo>
                  <a:lnTo>
                    <a:pt x="242950" y="0"/>
                  </a:lnTo>
                  <a:close/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056382" y="4037203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55011" y="5714187"/>
            <a:ext cx="9613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0D5D9E"/>
                </a:solidFill>
                <a:latin typeface="Calibri"/>
                <a:cs typeface="Calibri"/>
              </a:rPr>
              <a:t>PROBABILITY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87184" y="1789938"/>
            <a:ext cx="4421505" cy="3919220"/>
            <a:chOff x="587184" y="1789938"/>
            <a:chExt cx="4421505" cy="3919220"/>
          </a:xfrm>
        </p:grpSpPr>
        <p:sp>
          <p:nvSpPr>
            <p:cNvPr id="32" name="object 32"/>
            <p:cNvSpPr/>
            <p:nvPr/>
          </p:nvSpPr>
          <p:spPr>
            <a:xfrm>
              <a:off x="2303526" y="2990850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w="0" h="300354">
                  <a:moveTo>
                    <a:pt x="0" y="0"/>
                  </a:moveTo>
                  <a:lnTo>
                    <a:pt x="0" y="299847"/>
                  </a:lnTo>
                </a:path>
              </a:pathLst>
            </a:custGeom>
            <a:ln w="285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5520" y="3278124"/>
              <a:ext cx="94487" cy="12039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666494" y="2768346"/>
              <a:ext cx="397510" cy="0"/>
            </a:xfrm>
            <a:custGeom>
              <a:avLst/>
              <a:gdLst/>
              <a:ahLst/>
              <a:cxnLst/>
              <a:rect l="l" t="t" r="r" b="b"/>
              <a:pathLst>
                <a:path w="397510" h="0">
                  <a:moveTo>
                    <a:pt x="397382" y="0"/>
                  </a:moveTo>
                  <a:lnTo>
                    <a:pt x="0" y="0"/>
                  </a:lnTo>
                </a:path>
              </a:pathLst>
            </a:custGeom>
            <a:ln w="285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4480" y="2720340"/>
              <a:ext cx="121919" cy="9448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527554" y="4220717"/>
              <a:ext cx="397510" cy="0"/>
            </a:xfrm>
            <a:custGeom>
              <a:avLst/>
              <a:gdLst/>
              <a:ahLst/>
              <a:cxnLst/>
              <a:rect l="l" t="t" r="r" b="b"/>
              <a:pathLst>
                <a:path w="397510" h="0">
                  <a:moveTo>
                    <a:pt x="397382" y="0"/>
                  </a:moveTo>
                  <a:lnTo>
                    <a:pt x="0" y="0"/>
                  </a:lnTo>
                </a:path>
              </a:pathLst>
            </a:custGeom>
            <a:ln w="285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9255" y="4166616"/>
              <a:ext cx="121919" cy="9448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313938" y="4930902"/>
              <a:ext cx="397510" cy="0"/>
            </a:xfrm>
            <a:custGeom>
              <a:avLst/>
              <a:gdLst/>
              <a:ahLst/>
              <a:cxnLst/>
              <a:rect l="l" t="t" r="r" b="b"/>
              <a:pathLst>
                <a:path w="397510" h="0">
                  <a:moveTo>
                    <a:pt x="397383" y="0"/>
                  </a:moveTo>
                  <a:lnTo>
                    <a:pt x="0" y="0"/>
                  </a:lnTo>
                </a:path>
              </a:pathLst>
            </a:custGeom>
            <a:ln w="285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1923" y="4882895"/>
              <a:ext cx="121920" cy="9448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37438" y="3495294"/>
              <a:ext cx="397510" cy="0"/>
            </a:xfrm>
            <a:custGeom>
              <a:avLst/>
              <a:gdLst/>
              <a:ahLst/>
              <a:cxnLst/>
              <a:rect l="l" t="t" r="r" b="b"/>
              <a:pathLst>
                <a:path w="397509" h="0">
                  <a:moveTo>
                    <a:pt x="397408" y="0"/>
                  </a:moveTo>
                  <a:lnTo>
                    <a:pt x="0" y="0"/>
                  </a:lnTo>
                </a:path>
              </a:pathLst>
            </a:custGeom>
            <a:ln w="285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424" y="3447288"/>
              <a:ext cx="121920" cy="9448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477518" y="3743705"/>
              <a:ext cx="0" cy="300355"/>
            </a:xfrm>
            <a:custGeom>
              <a:avLst/>
              <a:gdLst/>
              <a:ahLst/>
              <a:cxnLst/>
              <a:rect l="l" t="t" r="r" b="b"/>
              <a:pathLst>
                <a:path w="0" h="300354">
                  <a:moveTo>
                    <a:pt x="0" y="0"/>
                  </a:moveTo>
                  <a:lnTo>
                    <a:pt x="0" y="299847"/>
                  </a:lnTo>
                </a:path>
              </a:pathLst>
            </a:custGeom>
            <a:ln w="285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9511" y="4030980"/>
              <a:ext cx="94487" cy="12191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135629" y="4438650"/>
              <a:ext cx="0" cy="397510"/>
            </a:xfrm>
            <a:custGeom>
              <a:avLst/>
              <a:gdLst/>
              <a:ahLst/>
              <a:cxnLst/>
              <a:rect l="l" t="t" r="r" b="b"/>
              <a:pathLst>
                <a:path w="0" h="397510">
                  <a:moveTo>
                    <a:pt x="0" y="397382"/>
                  </a:moveTo>
                  <a:lnTo>
                    <a:pt x="0" y="0"/>
                  </a:lnTo>
                </a:path>
              </a:pathLst>
            </a:custGeom>
            <a:ln w="285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87184" y="1789937"/>
              <a:ext cx="4421505" cy="3919220"/>
            </a:xfrm>
            <a:custGeom>
              <a:avLst/>
              <a:gdLst/>
              <a:ahLst/>
              <a:cxnLst/>
              <a:rect l="l" t="t" r="r" b="b"/>
              <a:pathLst>
                <a:path w="4421505" h="3919220">
                  <a:moveTo>
                    <a:pt x="85712" y="142925"/>
                  </a:moveTo>
                  <a:lnTo>
                    <a:pt x="57137" y="142925"/>
                  </a:lnTo>
                  <a:lnTo>
                    <a:pt x="43929" y="3851198"/>
                  </a:lnTo>
                  <a:lnTo>
                    <a:pt x="72517" y="3851198"/>
                  </a:lnTo>
                  <a:lnTo>
                    <a:pt x="85712" y="143129"/>
                  </a:lnTo>
                  <a:lnTo>
                    <a:pt x="85712" y="142925"/>
                  </a:lnTo>
                  <a:close/>
                </a:path>
                <a:path w="4421505" h="3919220">
                  <a:moveTo>
                    <a:pt x="142875" y="143129"/>
                  </a:moveTo>
                  <a:lnTo>
                    <a:pt x="142773" y="142925"/>
                  </a:lnTo>
                  <a:lnTo>
                    <a:pt x="135699" y="128651"/>
                  </a:lnTo>
                  <a:lnTo>
                    <a:pt x="71945" y="0"/>
                  </a:lnTo>
                  <a:lnTo>
                    <a:pt x="0" y="142621"/>
                  </a:lnTo>
                  <a:lnTo>
                    <a:pt x="57137" y="142824"/>
                  </a:lnTo>
                  <a:lnTo>
                    <a:pt x="85712" y="142925"/>
                  </a:lnTo>
                  <a:lnTo>
                    <a:pt x="142875" y="143129"/>
                  </a:lnTo>
                  <a:close/>
                </a:path>
                <a:path w="4421505" h="3919220">
                  <a:moveTo>
                    <a:pt x="4421441" y="3846576"/>
                  </a:moveTo>
                  <a:lnTo>
                    <a:pt x="4394187" y="3833190"/>
                  </a:lnTo>
                  <a:lnTo>
                    <a:pt x="4278058" y="3776091"/>
                  </a:lnTo>
                  <a:lnTo>
                    <a:pt x="4278452" y="3833190"/>
                  </a:lnTo>
                  <a:lnTo>
                    <a:pt x="39852" y="3859720"/>
                  </a:lnTo>
                  <a:lnTo>
                    <a:pt x="40030" y="3888295"/>
                  </a:lnTo>
                  <a:lnTo>
                    <a:pt x="4278655" y="3861765"/>
                  </a:lnTo>
                  <a:lnTo>
                    <a:pt x="4279074" y="3918902"/>
                  </a:lnTo>
                  <a:lnTo>
                    <a:pt x="4391558" y="3861765"/>
                  </a:lnTo>
                  <a:lnTo>
                    <a:pt x="4421441" y="3846576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7623" y="4841749"/>
              <a:ext cx="94487" cy="120394"/>
            </a:xfrm>
            <a:prstGeom prst="rect">
              <a:avLst/>
            </a:prstGeom>
          </p:spPr>
        </p:pic>
      </p:grpSp>
      <p:pic>
        <p:nvPicPr>
          <p:cNvPr id="47" name="object 47" descr="Global Microfinance Case Competition (GMCC) — Melbourne Microfinance  Initiative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02568" y="268224"/>
            <a:ext cx="583692" cy="585215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0" y="0"/>
            <a:ext cx="12192000" cy="116205"/>
            <a:chOff x="0" y="0"/>
            <a:chExt cx="12192000" cy="116205"/>
          </a:xfrm>
        </p:grpSpPr>
        <p:sp>
          <p:nvSpPr>
            <p:cNvPr id="49" name="object 49"/>
            <p:cNvSpPr/>
            <p:nvPr/>
          </p:nvSpPr>
          <p:spPr>
            <a:xfrm>
              <a:off x="0" y="0"/>
              <a:ext cx="10285730" cy="116205"/>
            </a:xfrm>
            <a:custGeom>
              <a:avLst/>
              <a:gdLst/>
              <a:ahLst/>
              <a:cxnLst/>
              <a:rect l="l" t="t" r="r" b="b"/>
              <a:pathLst>
                <a:path w="10285730" h="116205">
                  <a:moveTo>
                    <a:pt x="10285476" y="0"/>
                  </a:moveTo>
                  <a:lnTo>
                    <a:pt x="0" y="0"/>
                  </a:lnTo>
                  <a:lnTo>
                    <a:pt x="0" y="115824"/>
                  </a:lnTo>
                  <a:lnTo>
                    <a:pt x="10285476" y="115824"/>
                  </a:lnTo>
                  <a:lnTo>
                    <a:pt x="10285476" y="0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1556492" y="0"/>
              <a:ext cx="635635" cy="116205"/>
            </a:xfrm>
            <a:custGeom>
              <a:avLst/>
              <a:gdLst/>
              <a:ahLst/>
              <a:cxnLst/>
              <a:rect l="l" t="t" r="r" b="b"/>
              <a:pathLst>
                <a:path w="635634" h="116205">
                  <a:moveTo>
                    <a:pt x="635507" y="0"/>
                  </a:moveTo>
                  <a:lnTo>
                    <a:pt x="0" y="0"/>
                  </a:lnTo>
                  <a:lnTo>
                    <a:pt x="0" y="115824"/>
                  </a:lnTo>
                  <a:lnTo>
                    <a:pt x="635507" y="115824"/>
                  </a:lnTo>
                  <a:lnTo>
                    <a:pt x="635507" y="0"/>
                  </a:lnTo>
                  <a:close/>
                </a:path>
              </a:pathLst>
            </a:custGeom>
            <a:solidFill>
              <a:srgbClr val="6E8E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0285476" y="0"/>
              <a:ext cx="635635" cy="116205"/>
            </a:xfrm>
            <a:custGeom>
              <a:avLst/>
              <a:gdLst/>
              <a:ahLst/>
              <a:cxnLst/>
              <a:rect l="l" t="t" r="r" b="b"/>
              <a:pathLst>
                <a:path w="635634" h="116205">
                  <a:moveTo>
                    <a:pt x="635507" y="0"/>
                  </a:moveTo>
                  <a:lnTo>
                    <a:pt x="0" y="0"/>
                  </a:lnTo>
                  <a:lnTo>
                    <a:pt x="0" y="115824"/>
                  </a:lnTo>
                  <a:lnTo>
                    <a:pt x="635507" y="115824"/>
                  </a:lnTo>
                  <a:lnTo>
                    <a:pt x="635507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/>
          <p:nvPr/>
        </p:nvSpPr>
        <p:spPr>
          <a:xfrm>
            <a:off x="192023" y="6516623"/>
            <a:ext cx="6795770" cy="0"/>
          </a:xfrm>
          <a:custGeom>
            <a:avLst/>
            <a:gdLst/>
            <a:ahLst/>
            <a:cxnLst/>
            <a:rect l="l" t="t" r="r" b="b"/>
            <a:pathLst>
              <a:path w="6795770" h="0">
                <a:moveTo>
                  <a:pt x="0" y="0"/>
                </a:moveTo>
                <a:lnTo>
                  <a:pt x="6795516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086088" y="6516623"/>
            <a:ext cx="2899410" cy="0"/>
          </a:xfrm>
          <a:custGeom>
            <a:avLst/>
            <a:gdLst/>
            <a:ahLst/>
            <a:cxnLst/>
            <a:rect l="l" t="t" r="r" b="b"/>
            <a:pathLst>
              <a:path w="2899409" h="0">
                <a:moveTo>
                  <a:pt x="0" y="0"/>
                </a:moveTo>
                <a:lnTo>
                  <a:pt x="2899029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17780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140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13.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dirty="0"/>
              <a:t>RISK</a:t>
            </a:r>
            <a:r>
              <a:rPr dirty="0" spc="-75"/>
              <a:t> </a:t>
            </a:r>
            <a:r>
              <a:rPr dirty="0" spc="-30"/>
              <a:t>ANALYSIS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10"/>
              <a:t>MITIGATION</a:t>
            </a: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11057890" algn="l"/>
              </a:tabLst>
            </a:pPr>
            <a:r>
              <a:rPr dirty="0" u="sng" sz="2000" spc="-22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Suitable</a:t>
            </a:r>
            <a:r>
              <a:rPr dirty="0" u="sng" sz="2000" spc="-8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Strategies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help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UFH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preemptively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tackle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risks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due</a:t>
            </a:r>
            <a:r>
              <a:rPr dirty="0" u="sng" sz="2000" spc="-6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2000" spc="-6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external</a:t>
            </a:r>
            <a:r>
              <a:rPr dirty="0" u="sng" sz="2000" spc="-2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6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operational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factors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24585" y="1265301"/>
            <a:ext cx="10217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Risk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Mapping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24585" y="1596009"/>
            <a:ext cx="3133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7D7D7D"/>
                </a:solidFill>
                <a:latin typeface="Calibri"/>
                <a:cs typeface="Calibri"/>
              </a:rPr>
              <a:t>Note:</a:t>
            </a:r>
            <a:r>
              <a:rPr dirty="0" sz="1200" spc="-60" i="1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7D7D7D"/>
                </a:solidFill>
                <a:latin typeface="Calibri"/>
                <a:cs typeface="Calibri"/>
              </a:rPr>
              <a:t>Effect</a:t>
            </a:r>
            <a:r>
              <a:rPr dirty="0" sz="1200" spc="-15" i="1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7D7D7D"/>
                </a:solidFill>
                <a:latin typeface="Calibri"/>
                <a:cs typeface="Calibri"/>
              </a:rPr>
              <a:t>of</a:t>
            </a:r>
            <a:r>
              <a:rPr dirty="0" sz="1200" spc="-10" i="1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dirty="0" sz="1200" spc="-20" i="1">
                <a:solidFill>
                  <a:srgbClr val="7D7D7D"/>
                </a:solidFill>
                <a:latin typeface="Calibri"/>
                <a:cs typeface="Calibri"/>
              </a:rPr>
              <a:t>Mitigating</a:t>
            </a:r>
            <a:r>
              <a:rPr dirty="0" sz="1200" spc="-60" i="1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7D7D7D"/>
                </a:solidFill>
                <a:latin typeface="Calibri"/>
                <a:cs typeface="Calibri"/>
              </a:rPr>
              <a:t>Actions</a:t>
            </a:r>
            <a:r>
              <a:rPr dirty="0" sz="1200" spc="-25" i="1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7D7D7D"/>
                </a:solidFill>
                <a:latin typeface="Calibri"/>
                <a:cs typeface="Calibri"/>
              </a:rPr>
              <a:t>shown</a:t>
            </a:r>
            <a:r>
              <a:rPr dirty="0" sz="1200" spc="-20" i="1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7D7D7D"/>
                </a:solidFill>
                <a:latin typeface="Calibri"/>
                <a:cs typeface="Calibri"/>
              </a:rPr>
              <a:t>by</a:t>
            </a:r>
            <a:r>
              <a:rPr dirty="0" sz="1200" spc="-45" i="1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7D7D7D"/>
                </a:solidFill>
                <a:latin typeface="Calibri"/>
                <a:cs typeface="Calibri"/>
              </a:rPr>
              <a:t>arrows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324855" y="2662427"/>
            <a:ext cx="6474460" cy="1144905"/>
          </a:xfrm>
          <a:custGeom>
            <a:avLst/>
            <a:gdLst/>
            <a:ahLst/>
            <a:cxnLst/>
            <a:rect l="l" t="t" r="r" b="b"/>
            <a:pathLst>
              <a:path w="6474459" h="1144904">
                <a:moveTo>
                  <a:pt x="6473952" y="0"/>
                </a:moveTo>
                <a:lnTo>
                  <a:pt x="0" y="0"/>
                </a:lnTo>
                <a:lnTo>
                  <a:pt x="0" y="1144524"/>
                </a:lnTo>
                <a:lnTo>
                  <a:pt x="6473952" y="1144524"/>
                </a:lnTo>
                <a:lnTo>
                  <a:pt x="6473952" y="0"/>
                </a:lnTo>
                <a:close/>
              </a:path>
            </a:pathLst>
          </a:custGeom>
          <a:solidFill>
            <a:srgbClr val="0A4779">
              <a:alpha val="1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296661" y="1529333"/>
            <a:ext cx="6470650" cy="0"/>
          </a:xfrm>
          <a:custGeom>
            <a:avLst/>
            <a:gdLst/>
            <a:ahLst/>
            <a:cxnLst/>
            <a:rect l="l" t="t" r="r" b="b"/>
            <a:pathLst>
              <a:path w="6470650" h="0">
                <a:moveTo>
                  <a:pt x="0" y="0"/>
                </a:moveTo>
                <a:lnTo>
                  <a:pt x="6470522" y="0"/>
                </a:lnTo>
              </a:path>
            </a:pathLst>
          </a:custGeom>
          <a:ln w="190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368034" y="1263852"/>
            <a:ext cx="3276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Calibri"/>
                <a:cs typeface="Calibri"/>
              </a:rPr>
              <a:t>Risk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405241" y="1263852"/>
            <a:ext cx="7975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alibri"/>
                <a:cs typeface="Calibri"/>
              </a:rPr>
              <a:t>Mitigation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151879" y="1743913"/>
            <a:ext cx="128079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Update</a:t>
            </a:r>
            <a:r>
              <a:rPr dirty="0" sz="1200" spc="-5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Operational Systems</a:t>
            </a:r>
            <a:r>
              <a:rPr dirty="0" sz="1200" spc="-3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dirty="0" sz="1200" spc="-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leverage Technological Advancements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974969" y="2882265"/>
            <a:ext cx="16224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Modify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or</a:t>
            </a:r>
            <a:r>
              <a:rPr dirty="0" sz="1200" spc="-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Add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Existing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Product</a:t>
            </a:r>
            <a:r>
              <a:rPr dirty="0" sz="1200" spc="-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offerings 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to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enhance</a:t>
            </a:r>
            <a:r>
              <a:rPr dirty="0" sz="1200" spc="-3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Financial Inclusion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88177" y="4061586"/>
            <a:ext cx="14198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Restart</a:t>
            </a:r>
            <a:r>
              <a:rPr dirty="0" sz="1200" spc="-1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Collaboration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between</a:t>
            </a:r>
            <a:r>
              <a:rPr dirty="0" sz="1200" spc="-2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Sumatra</a:t>
            </a:r>
            <a:r>
              <a:rPr dirty="0" sz="1200" spc="-3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and </a:t>
            </a:r>
            <a:r>
              <a:rPr dirty="0" sz="1200" spc="-20" b="1">
                <a:solidFill>
                  <a:srgbClr val="1F1F1F"/>
                </a:solidFill>
                <a:latin typeface="Calibri"/>
                <a:cs typeface="Calibri"/>
              </a:rPr>
              <a:t>Java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862569" y="2755138"/>
            <a:ext cx="22574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2085" marR="25781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72085" algn="l"/>
              </a:tabLst>
            </a:pP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Conduct</a:t>
            </a:r>
            <a:r>
              <a:rPr dirty="0" sz="1200" spc="-7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market</a:t>
            </a:r>
            <a:r>
              <a:rPr dirty="0" sz="12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research</a:t>
            </a:r>
            <a:r>
              <a:rPr dirty="0" sz="1200" spc="-5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to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understand</a:t>
            </a:r>
            <a:r>
              <a:rPr dirty="0" sz="12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needs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of </a:t>
            </a:r>
            <a:r>
              <a:rPr dirty="0" sz="1200" spc="-20">
                <a:solidFill>
                  <a:srgbClr val="1F1F1F"/>
                </a:solidFill>
                <a:latin typeface="Calibri"/>
                <a:cs typeface="Calibri"/>
              </a:rPr>
              <a:t>low-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income</a:t>
            </a:r>
            <a:r>
              <a:rPr dirty="0" sz="12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Indonesians</a:t>
            </a:r>
            <a:endParaRPr sz="1200">
              <a:latin typeface="Calibri"/>
              <a:cs typeface="Calibri"/>
            </a:endParaRPr>
          </a:p>
          <a:p>
            <a:pPr marL="172085" marR="5080" indent="-172720">
              <a:lnSpc>
                <a:spcPct val="100000"/>
              </a:lnSpc>
              <a:buFont typeface="Arial MT"/>
              <a:buChar char="•"/>
              <a:tabLst>
                <a:tab pos="172085" algn="l"/>
              </a:tabLst>
            </a:pP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Partner</a:t>
            </a:r>
            <a:r>
              <a:rPr dirty="0" sz="1200" spc="-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with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other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financial institutions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dirty="0" sz="12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offer</a:t>
            </a:r>
            <a:r>
              <a:rPr dirty="0" sz="12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new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849869" y="1624329"/>
            <a:ext cx="2274570" cy="9677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99085" marR="119380" indent="-287020">
              <a:lnSpc>
                <a:spcPct val="101699"/>
              </a:lnSpc>
              <a:spcBef>
                <a:spcPts val="7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Invest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 in cloud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computing,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 big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data</a:t>
            </a:r>
            <a:r>
              <a:rPr dirty="0" sz="1200" spc="-6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analytics</a:t>
            </a:r>
            <a:endParaRPr sz="1200">
              <a:latin typeface="Calibri"/>
              <a:cs typeface="Calibri"/>
            </a:endParaRPr>
          </a:p>
          <a:p>
            <a:pPr marL="299085" marR="5080" indent="-287020">
              <a:lnSpc>
                <a:spcPct val="1022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Conduct</a:t>
            </a:r>
            <a:r>
              <a:rPr dirty="0" sz="12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regular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training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for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employees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on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efficient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usage</a:t>
            </a:r>
            <a:r>
              <a:rPr dirty="0" sz="12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of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new</a:t>
            </a:r>
            <a:r>
              <a:rPr dirty="0" sz="12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technologies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862061" y="3959732"/>
            <a:ext cx="2444115" cy="80137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186055" algn="l"/>
              </a:tabLst>
            </a:pP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Create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a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shared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IT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 platform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186055" algn="l"/>
              </a:tabLst>
            </a:pP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Establish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joint</a:t>
            </a:r>
            <a:r>
              <a:rPr dirty="0" sz="12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marketing</a:t>
            </a:r>
            <a:r>
              <a:rPr dirty="0" sz="12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initiatives</a:t>
            </a:r>
            <a:endParaRPr sz="1200">
              <a:latin typeface="Calibri"/>
              <a:cs typeface="Calibri"/>
            </a:endParaRPr>
          </a:p>
          <a:p>
            <a:pPr marL="184785" marR="5080" indent="-172720">
              <a:lnSpc>
                <a:spcPct val="100800"/>
              </a:lnSpc>
              <a:spcBef>
                <a:spcPts val="110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Create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a</a:t>
            </a:r>
            <a:r>
              <a:rPr dirty="0" sz="12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dedicated</a:t>
            </a:r>
            <a:r>
              <a:rPr dirty="0" sz="12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team</a:t>
            </a:r>
            <a:r>
              <a:rPr dirty="0" sz="1200" spc="-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 facilitate collaboration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297423" y="4975859"/>
            <a:ext cx="6501765" cy="1234440"/>
          </a:xfrm>
          <a:custGeom>
            <a:avLst/>
            <a:gdLst/>
            <a:ahLst/>
            <a:cxnLst/>
            <a:rect l="l" t="t" r="r" b="b"/>
            <a:pathLst>
              <a:path w="6501765" h="1234439">
                <a:moveTo>
                  <a:pt x="6501383" y="0"/>
                </a:moveTo>
                <a:lnTo>
                  <a:pt x="0" y="0"/>
                </a:lnTo>
                <a:lnTo>
                  <a:pt x="0" y="1234439"/>
                </a:lnTo>
                <a:lnTo>
                  <a:pt x="6501383" y="1234439"/>
                </a:lnTo>
                <a:lnTo>
                  <a:pt x="6501383" y="0"/>
                </a:lnTo>
                <a:close/>
              </a:path>
            </a:pathLst>
          </a:custGeom>
          <a:solidFill>
            <a:srgbClr val="0A4779">
              <a:alpha val="1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10605896" y="1263852"/>
            <a:ext cx="33655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Calibri"/>
                <a:cs typeface="Calibri"/>
              </a:rPr>
              <a:t>KPIs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077965" y="5366384"/>
            <a:ext cx="13690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5920" marR="5080" indent="-37655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Introduce</a:t>
            </a:r>
            <a:r>
              <a:rPr dirty="0" sz="1200" spc="-7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Agriculture Financing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872730" y="5300548"/>
            <a:ext cx="21939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72085" marR="5080" indent="-1727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72085" algn="l"/>
              </a:tabLst>
            </a:pP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Offer</a:t>
            </a:r>
            <a:r>
              <a:rPr dirty="0" sz="12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loans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dirty="0" sz="1200" spc="-5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savings</a:t>
            </a:r>
            <a:r>
              <a:rPr dirty="0" sz="12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products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that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are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tailored</a:t>
            </a:r>
            <a:r>
              <a:rPr dirty="0" sz="1200" spc="-3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dirty="0" sz="1200" spc="-1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1F1F"/>
                </a:solidFill>
                <a:latin typeface="Calibri"/>
                <a:cs typeface="Calibri"/>
              </a:rPr>
              <a:t>needs</a:t>
            </a:r>
            <a:r>
              <a:rPr dirty="0" sz="1200" spc="-2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Calibri"/>
                <a:cs typeface="Calibri"/>
              </a:rPr>
              <a:t>of </a:t>
            </a:r>
            <a:r>
              <a:rPr dirty="0" sz="1200" spc="-10">
                <a:solidFill>
                  <a:srgbClr val="1F1F1F"/>
                </a:solidFill>
                <a:latin typeface="Calibri"/>
                <a:cs typeface="Calibri"/>
              </a:rPr>
              <a:t>farmers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07735" y="1956816"/>
            <a:ext cx="400685" cy="402590"/>
          </a:xfrm>
          <a:custGeom>
            <a:avLst/>
            <a:gdLst/>
            <a:ahLst/>
            <a:cxnLst/>
            <a:rect l="l" t="t" r="r" b="b"/>
            <a:pathLst>
              <a:path w="400685" h="402589">
                <a:moveTo>
                  <a:pt x="200278" y="402082"/>
                </a:moveTo>
                <a:lnTo>
                  <a:pt x="130428" y="389509"/>
                </a:lnTo>
                <a:lnTo>
                  <a:pt x="71247" y="354711"/>
                </a:lnTo>
                <a:lnTo>
                  <a:pt x="27304" y="302513"/>
                </a:lnTo>
                <a:lnTo>
                  <a:pt x="3175" y="237109"/>
                </a:lnTo>
                <a:lnTo>
                  <a:pt x="0" y="200913"/>
                </a:lnTo>
                <a:lnTo>
                  <a:pt x="3175" y="164846"/>
                </a:lnTo>
                <a:lnTo>
                  <a:pt x="27304" y="99441"/>
                </a:lnTo>
                <a:lnTo>
                  <a:pt x="71247" y="47244"/>
                </a:lnTo>
                <a:lnTo>
                  <a:pt x="130428" y="12573"/>
                </a:lnTo>
                <a:lnTo>
                  <a:pt x="200278" y="0"/>
                </a:lnTo>
                <a:lnTo>
                  <a:pt x="236219" y="3175"/>
                </a:lnTo>
                <a:lnTo>
                  <a:pt x="301371" y="27432"/>
                </a:lnTo>
                <a:lnTo>
                  <a:pt x="353440" y="71500"/>
                </a:lnTo>
                <a:lnTo>
                  <a:pt x="388112" y="130810"/>
                </a:lnTo>
                <a:lnTo>
                  <a:pt x="400558" y="200913"/>
                </a:lnTo>
                <a:lnTo>
                  <a:pt x="397383" y="237109"/>
                </a:lnTo>
                <a:lnTo>
                  <a:pt x="373252" y="302513"/>
                </a:lnTo>
                <a:lnTo>
                  <a:pt x="329311" y="354711"/>
                </a:lnTo>
                <a:lnTo>
                  <a:pt x="270128" y="389509"/>
                </a:lnTo>
                <a:lnTo>
                  <a:pt x="200278" y="40208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5648071" y="1987422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5502973" y="2982277"/>
            <a:ext cx="410209" cy="412115"/>
            <a:chOff x="5502973" y="2982277"/>
            <a:chExt cx="410209" cy="412115"/>
          </a:xfrm>
        </p:grpSpPr>
        <p:sp>
          <p:nvSpPr>
            <p:cNvPr id="75" name="object 75"/>
            <p:cNvSpPr/>
            <p:nvPr/>
          </p:nvSpPr>
          <p:spPr>
            <a:xfrm>
              <a:off x="5507735" y="2987039"/>
              <a:ext cx="400685" cy="402590"/>
            </a:xfrm>
            <a:custGeom>
              <a:avLst/>
              <a:gdLst/>
              <a:ahLst/>
              <a:cxnLst/>
              <a:rect l="l" t="t" r="r" b="b"/>
              <a:pathLst>
                <a:path w="400685" h="402589">
                  <a:moveTo>
                    <a:pt x="200278" y="0"/>
                  </a:moveTo>
                  <a:lnTo>
                    <a:pt x="130428" y="12573"/>
                  </a:lnTo>
                  <a:lnTo>
                    <a:pt x="71247" y="47244"/>
                  </a:lnTo>
                  <a:lnTo>
                    <a:pt x="27304" y="99440"/>
                  </a:lnTo>
                  <a:lnTo>
                    <a:pt x="3175" y="164846"/>
                  </a:lnTo>
                  <a:lnTo>
                    <a:pt x="0" y="200913"/>
                  </a:lnTo>
                  <a:lnTo>
                    <a:pt x="3175" y="237109"/>
                  </a:lnTo>
                  <a:lnTo>
                    <a:pt x="27304" y="302513"/>
                  </a:lnTo>
                  <a:lnTo>
                    <a:pt x="71247" y="354711"/>
                  </a:lnTo>
                  <a:lnTo>
                    <a:pt x="130428" y="389509"/>
                  </a:lnTo>
                  <a:lnTo>
                    <a:pt x="200278" y="402082"/>
                  </a:lnTo>
                  <a:lnTo>
                    <a:pt x="236219" y="398780"/>
                  </a:lnTo>
                  <a:lnTo>
                    <a:pt x="301371" y="374523"/>
                  </a:lnTo>
                  <a:lnTo>
                    <a:pt x="353440" y="330454"/>
                  </a:lnTo>
                  <a:lnTo>
                    <a:pt x="388112" y="271145"/>
                  </a:lnTo>
                  <a:lnTo>
                    <a:pt x="400558" y="200913"/>
                  </a:lnTo>
                  <a:lnTo>
                    <a:pt x="397383" y="164846"/>
                  </a:lnTo>
                  <a:lnTo>
                    <a:pt x="373252" y="99440"/>
                  </a:lnTo>
                  <a:lnTo>
                    <a:pt x="329311" y="47244"/>
                  </a:lnTo>
                  <a:lnTo>
                    <a:pt x="270128" y="12573"/>
                  </a:lnTo>
                  <a:lnTo>
                    <a:pt x="2002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5507735" y="2987039"/>
              <a:ext cx="400685" cy="402590"/>
            </a:xfrm>
            <a:custGeom>
              <a:avLst/>
              <a:gdLst/>
              <a:ahLst/>
              <a:cxnLst/>
              <a:rect l="l" t="t" r="r" b="b"/>
              <a:pathLst>
                <a:path w="400685" h="402589">
                  <a:moveTo>
                    <a:pt x="200278" y="402082"/>
                  </a:moveTo>
                  <a:lnTo>
                    <a:pt x="130428" y="389509"/>
                  </a:lnTo>
                  <a:lnTo>
                    <a:pt x="71247" y="354711"/>
                  </a:lnTo>
                  <a:lnTo>
                    <a:pt x="27304" y="302513"/>
                  </a:lnTo>
                  <a:lnTo>
                    <a:pt x="3175" y="237109"/>
                  </a:lnTo>
                  <a:lnTo>
                    <a:pt x="0" y="200913"/>
                  </a:lnTo>
                  <a:lnTo>
                    <a:pt x="3175" y="164846"/>
                  </a:lnTo>
                  <a:lnTo>
                    <a:pt x="27304" y="99440"/>
                  </a:lnTo>
                  <a:lnTo>
                    <a:pt x="71247" y="47244"/>
                  </a:lnTo>
                  <a:lnTo>
                    <a:pt x="130428" y="12573"/>
                  </a:lnTo>
                  <a:lnTo>
                    <a:pt x="200278" y="0"/>
                  </a:lnTo>
                  <a:lnTo>
                    <a:pt x="236219" y="3175"/>
                  </a:lnTo>
                  <a:lnTo>
                    <a:pt x="301371" y="27432"/>
                  </a:lnTo>
                  <a:lnTo>
                    <a:pt x="353440" y="71500"/>
                  </a:lnTo>
                  <a:lnTo>
                    <a:pt x="388112" y="130810"/>
                  </a:lnTo>
                  <a:lnTo>
                    <a:pt x="400558" y="200913"/>
                  </a:lnTo>
                  <a:lnTo>
                    <a:pt x="397383" y="237109"/>
                  </a:lnTo>
                  <a:lnTo>
                    <a:pt x="373252" y="302513"/>
                  </a:lnTo>
                  <a:lnTo>
                    <a:pt x="329311" y="354711"/>
                  </a:lnTo>
                  <a:lnTo>
                    <a:pt x="270128" y="389509"/>
                  </a:lnTo>
                  <a:lnTo>
                    <a:pt x="200278" y="40208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5660771" y="3017901"/>
            <a:ext cx="128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5507735" y="4087367"/>
            <a:ext cx="400685" cy="402590"/>
          </a:xfrm>
          <a:custGeom>
            <a:avLst/>
            <a:gdLst/>
            <a:ahLst/>
            <a:cxnLst/>
            <a:rect l="l" t="t" r="r" b="b"/>
            <a:pathLst>
              <a:path w="400685" h="402589">
                <a:moveTo>
                  <a:pt x="200278" y="402081"/>
                </a:moveTo>
                <a:lnTo>
                  <a:pt x="130428" y="389508"/>
                </a:lnTo>
                <a:lnTo>
                  <a:pt x="71247" y="354710"/>
                </a:lnTo>
                <a:lnTo>
                  <a:pt x="27304" y="302513"/>
                </a:lnTo>
                <a:lnTo>
                  <a:pt x="3175" y="237108"/>
                </a:lnTo>
                <a:lnTo>
                  <a:pt x="0" y="200913"/>
                </a:lnTo>
                <a:lnTo>
                  <a:pt x="3175" y="164845"/>
                </a:lnTo>
                <a:lnTo>
                  <a:pt x="27304" y="99440"/>
                </a:lnTo>
                <a:lnTo>
                  <a:pt x="71247" y="47243"/>
                </a:lnTo>
                <a:lnTo>
                  <a:pt x="130428" y="12572"/>
                </a:lnTo>
                <a:lnTo>
                  <a:pt x="200278" y="0"/>
                </a:lnTo>
                <a:lnTo>
                  <a:pt x="236219" y="3174"/>
                </a:lnTo>
                <a:lnTo>
                  <a:pt x="301371" y="27431"/>
                </a:lnTo>
                <a:lnTo>
                  <a:pt x="353440" y="71500"/>
                </a:lnTo>
                <a:lnTo>
                  <a:pt x="388112" y="130809"/>
                </a:lnTo>
                <a:lnTo>
                  <a:pt x="400558" y="200913"/>
                </a:lnTo>
                <a:lnTo>
                  <a:pt x="397383" y="237108"/>
                </a:lnTo>
                <a:lnTo>
                  <a:pt x="373252" y="302513"/>
                </a:lnTo>
                <a:lnTo>
                  <a:pt x="329311" y="354710"/>
                </a:lnTo>
                <a:lnTo>
                  <a:pt x="270128" y="389508"/>
                </a:lnTo>
                <a:lnTo>
                  <a:pt x="200278" y="40208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5648071" y="4118864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5502973" y="5321617"/>
            <a:ext cx="410209" cy="412115"/>
            <a:chOff x="5502973" y="5321617"/>
            <a:chExt cx="410209" cy="412115"/>
          </a:xfrm>
        </p:grpSpPr>
        <p:sp>
          <p:nvSpPr>
            <p:cNvPr id="81" name="object 81"/>
            <p:cNvSpPr/>
            <p:nvPr/>
          </p:nvSpPr>
          <p:spPr>
            <a:xfrm>
              <a:off x="5507735" y="5326379"/>
              <a:ext cx="400685" cy="402590"/>
            </a:xfrm>
            <a:custGeom>
              <a:avLst/>
              <a:gdLst/>
              <a:ahLst/>
              <a:cxnLst/>
              <a:rect l="l" t="t" r="r" b="b"/>
              <a:pathLst>
                <a:path w="400685" h="402589">
                  <a:moveTo>
                    <a:pt x="200278" y="0"/>
                  </a:moveTo>
                  <a:lnTo>
                    <a:pt x="130428" y="12573"/>
                  </a:lnTo>
                  <a:lnTo>
                    <a:pt x="71247" y="47244"/>
                  </a:lnTo>
                  <a:lnTo>
                    <a:pt x="27304" y="99441"/>
                  </a:lnTo>
                  <a:lnTo>
                    <a:pt x="3175" y="164846"/>
                  </a:lnTo>
                  <a:lnTo>
                    <a:pt x="0" y="200914"/>
                  </a:lnTo>
                  <a:lnTo>
                    <a:pt x="3175" y="237109"/>
                  </a:lnTo>
                  <a:lnTo>
                    <a:pt x="27304" y="302450"/>
                  </a:lnTo>
                  <a:lnTo>
                    <a:pt x="71247" y="354749"/>
                  </a:lnTo>
                  <a:lnTo>
                    <a:pt x="130428" y="389458"/>
                  </a:lnTo>
                  <a:lnTo>
                    <a:pt x="200278" y="402031"/>
                  </a:lnTo>
                  <a:lnTo>
                    <a:pt x="236219" y="398792"/>
                  </a:lnTo>
                  <a:lnTo>
                    <a:pt x="301371" y="374586"/>
                  </a:lnTo>
                  <a:lnTo>
                    <a:pt x="353440" y="330517"/>
                  </a:lnTo>
                  <a:lnTo>
                    <a:pt x="388112" y="271132"/>
                  </a:lnTo>
                  <a:lnTo>
                    <a:pt x="400558" y="200914"/>
                  </a:lnTo>
                  <a:lnTo>
                    <a:pt x="397383" y="164846"/>
                  </a:lnTo>
                  <a:lnTo>
                    <a:pt x="373252" y="99441"/>
                  </a:lnTo>
                  <a:lnTo>
                    <a:pt x="329311" y="47244"/>
                  </a:lnTo>
                  <a:lnTo>
                    <a:pt x="270128" y="12573"/>
                  </a:lnTo>
                  <a:lnTo>
                    <a:pt x="2002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507735" y="5326379"/>
              <a:ext cx="400685" cy="402590"/>
            </a:xfrm>
            <a:custGeom>
              <a:avLst/>
              <a:gdLst/>
              <a:ahLst/>
              <a:cxnLst/>
              <a:rect l="l" t="t" r="r" b="b"/>
              <a:pathLst>
                <a:path w="400685" h="402589">
                  <a:moveTo>
                    <a:pt x="200278" y="402031"/>
                  </a:moveTo>
                  <a:lnTo>
                    <a:pt x="130428" y="389458"/>
                  </a:lnTo>
                  <a:lnTo>
                    <a:pt x="71247" y="354749"/>
                  </a:lnTo>
                  <a:lnTo>
                    <a:pt x="27304" y="302450"/>
                  </a:lnTo>
                  <a:lnTo>
                    <a:pt x="3175" y="237109"/>
                  </a:lnTo>
                  <a:lnTo>
                    <a:pt x="0" y="200914"/>
                  </a:lnTo>
                  <a:lnTo>
                    <a:pt x="3175" y="164846"/>
                  </a:lnTo>
                  <a:lnTo>
                    <a:pt x="27304" y="99441"/>
                  </a:lnTo>
                  <a:lnTo>
                    <a:pt x="71247" y="47244"/>
                  </a:lnTo>
                  <a:lnTo>
                    <a:pt x="130428" y="12573"/>
                  </a:lnTo>
                  <a:lnTo>
                    <a:pt x="200278" y="0"/>
                  </a:lnTo>
                  <a:lnTo>
                    <a:pt x="236219" y="3175"/>
                  </a:lnTo>
                  <a:lnTo>
                    <a:pt x="301371" y="27432"/>
                  </a:lnTo>
                  <a:lnTo>
                    <a:pt x="353440" y="71501"/>
                  </a:lnTo>
                  <a:lnTo>
                    <a:pt x="388112" y="130810"/>
                  </a:lnTo>
                  <a:lnTo>
                    <a:pt x="400558" y="200914"/>
                  </a:lnTo>
                  <a:lnTo>
                    <a:pt x="397383" y="237109"/>
                  </a:lnTo>
                  <a:lnTo>
                    <a:pt x="373252" y="302450"/>
                  </a:lnTo>
                  <a:lnTo>
                    <a:pt x="329311" y="354749"/>
                  </a:lnTo>
                  <a:lnTo>
                    <a:pt x="270128" y="389458"/>
                  </a:lnTo>
                  <a:lnTo>
                    <a:pt x="200278" y="40203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5660771" y="5356656"/>
            <a:ext cx="128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20674" y="1552194"/>
            <a:ext cx="3763010" cy="2540"/>
          </a:xfrm>
          <a:custGeom>
            <a:avLst/>
            <a:gdLst/>
            <a:ahLst/>
            <a:cxnLst/>
            <a:rect l="l" t="t" r="r" b="b"/>
            <a:pathLst>
              <a:path w="3763010" h="2540">
                <a:moveTo>
                  <a:pt x="0" y="0"/>
                </a:moveTo>
                <a:lnTo>
                  <a:pt x="3762502" y="2412"/>
                </a:lnTo>
              </a:path>
            </a:pathLst>
          </a:custGeom>
          <a:ln w="190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156961" y="6564883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987540" y="6509004"/>
            <a:ext cx="209867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0425683" y="5362447"/>
            <a:ext cx="1278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Increase</a:t>
            </a:r>
            <a:r>
              <a:rPr dirty="0" sz="1200" spc="-4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in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Farmers’ Income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0412983" y="1766442"/>
            <a:ext cx="1151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Reduction</a:t>
            </a:r>
            <a:r>
              <a:rPr dirty="0" sz="1200" spc="-6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in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Operational</a:t>
            </a:r>
            <a:r>
              <a:rPr dirty="0" sz="1200" spc="2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F1F1F"/>
                </a:solidFill>
                <a:latin typeface="Calibri"/>
                <a:cs typeface="Calibri"/>
              </a:rPr>
              <a:t>Costs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0425683" y="2759405"/>
            <a:ext cx="1279525" cy="941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Increase</a:t>
            </a:r>
            <a:r>
              <a:rPr dirty="0" sz="1200" spc="-4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in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 the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number</a:t>
            </a:r>
            <a:r>
              <a:rPr dirty="0" sz="1200" spc="-2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of</a:t>
            </a:r>
            <a:r>
              <a:rPr dirty="0" sz="1200" spc="-3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F1F1F"/>
                </a:solidFill>
                <a:latin typeface="Calibri"/>
                <a:cs typeface="Calibri"/>
              </a:rPr>
              <a:t>Low-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Income</a:t>
            </a:r>
            <a:r>
              <a:rPr dirty="0" sz="1200" spc="-3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Indonesians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who</a:t>
            </a:r>
            <a:r>
              <a:rPr dirty="0" sz="1200" spc="-1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are</a:t>
            </a:r>
            <a:r>
              <a:rPr dirty="0" sz="1200" spc="-3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able</a:t>
            </a:r>
            <a:r>
              <a:rPr dirty="0" sz="1200" spc="-20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to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save</a:t>
            </a:r>
            <a:r>
              <a:rPr dirty="0" sz="1200" spc="-4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invest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412983" y="4092320"/>
            <a:ext cx="11703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Increased</a:t>
            </a:r>
            <a:r>
              <a:rPr dirty="0" sz="1200" spc="-4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number </a:t>
            </a:r>
            <a:r>
              <a:rPr dirty="0" sz="1200" b="1">
                <a:solidFill>
                  <a:srgbClr val="1F1F1F"/>
                </a:solidFill>
                <a:latin typeface="Calibri"/>
                <a:cs typeface="Calibri"/>
              </a:rPr>
              <a:t>of</a:t>
            </a:r>
            <a:r>
              <a:rPr dirty="0" sz="1200" spc="-25" b="1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1F1F"/>
                </a:solidFill>
                <a:latin typeface="Calibri"/>
                <a:cs typeface="Calibri"/>
              </a:rPr>
              <a:t>Regional Transactions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04317" y="6336284"/>
            <a:ext cx="1002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Team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Analysis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6795770" cy="0"/>
          </a:xfrm>
          <a:custGeom>
            <a:avLst/>
            <a:gdLst/>
            <a:ahLst/>
            <a:cxnLst/>
            <a:rect l="l" t="t" r="r" b="b"/>
            <a:pathLst>
              <a:path w="6795770" h="0">
                <a:moveTo>
                  <a:pt x="0" y="0"/>
                </a:moveTo>
                <a:lnTo>
                  <a:pt x="6795516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987540" y="6509004"/>
            <a:ext cx="4998085" cy="335280"/>
            <a:chOff x="6987540" y="6509004"/>
            <a:chExt cx="4998085" cy="335280"/>
          </a:xfrm>
        </p:grpSpPr>
        <p:sp>
          <p:nvSpPr>
            <p:cNvPr id="4" name="object 4"/>
            <p:cNvSpPr/>
            <p:nvPr/>
          </p:nvSpPr>
          <p:spPr>
            <a:xfrm>
              <a:off x="9086088" y="6516624"/>
              <a:ext cx="2899410" cy="0"/>
            </a:xfrm>
            <a:custGeom>
              <a:avLst/>
              <a:gdLst/>
              <a:ahLst/>
              <a:cxnLst/>
              <a:rect l="l" t="t" r="r" b="b"/>
              <a:pathLst>
                <a:path w="2899409" h="0">
                  <a:moveTo>
                    <a:pt x="0" y="0"/>
                  </a:moveTo>
                  <a:lnTo>
                    <a:pt x="2899029" y="0"/>
                  </a:lnTo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987540" y="6509004"/>
              <a:ext cx="2098675" cy="335280"/>
            </a:xfrm>
            <a:custGeom>
              <a:avLst/>
              <a:gdLst/>
              <a:ahLst/>
              <a:cxnLst/>
              <a:rect l="l" t="t" r="r" b="b"/>
              <a:pathLst>
                <a:path w="2098675" h="335279">
                  <a:moveTo>
                    <a:pt x="2098548" y="0"/>
                  </a:moveTo>
                  <a:lnTo>
                    <a:pt x="0" y="0"/>
                  </a:lnTo>
                  <a:lnTo>
                    <a:pt x="0" y="335280"/>
                  </a:lnTo>
                  <a:lnTo>
                    <a:pt x="2098548" y="335280"/>
                  </a:lnTo>
                  <a:lnTo>
                    <a:pt x="2098548" y="0"/>
                  </a:lnTo>
                  <a:close/>
                </a:path>
              </a:pathLst>
            </a:custGeom>
            <a:solidFill>
              <a:srgbClr val="0A47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6985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55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14.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42329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IMPLEMENTATION</a:t>
            </a:r>
            <a:r>
              <a:rPr dirty="0" spc="-90"/>
              <a:t> </a:t>
            </a:r>
            <a:r>
              <a:rPr dirty="0" spc="-10"/>
              <a:t>TIMELINE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9323" y="491489"/>
            <a:ext cx="110712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5789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Decoding</a:t>
            </a:r>
            <a:r>
              <a:rPr dirty="0" u="sng" sz="2000" spc="-7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step</a:t>
            </a:r>
            <a:r>
              <a:rPr dirty="0" u="sng" sz="2000" spc="-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by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step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formulation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implementation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Strategy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Phoenix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314" y="4609238"/>
            <a:ext cx="203835" cy="4305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35"/>
              </a:lnSpc>
            </a:pPr>
            <a:r>
              <a:rPr dirty="0" sz="1400" spc="-10" b="1">
                <a:latin typeface="Calibri"/>
                <a:cs typeface="Calibri"/>
              </a:rPr>
              <a:t>Stage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20029" y="3327653"/>
            <a:ext cx="3244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 MT"/>
                <a:cs typeface="Arial MT"/>
              </a:rPr>
              <a:t>2023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4469" y="3327653"/>
            <a:ext cx="3244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 MT"/>
                <a:cs typeface="Arial MT"/>
              </a:rPr>
              <a:t>2024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88402" y="3327019"/>
            <a:ext cx="3244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 MT"/>
                <a:cs typeface="Arial MT"/>
              </a:rPr>
              <a:t>2025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22842" y="3328797"/>
            <a:ext cx="3244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 MT"/>
                <a:cs typeface="Arial MT"/>
              </a:rPr>
              <a:t>2026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56646" y="3331591"/>
            <a:ext cx="3244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 MT"/>
                <a:cs typeface="Arial MT"/>
              </a:rPr>
              <a:t>2027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9244" y="3532632"/>
            <a:ext cx="10573385" cy="2562225"/>
            <a:chOff x="809244" y="3532632"/>
            <a:chExt cx="10573385" cy="2562225"/>
          </a:xfrm>
        </p:grpSpPr>
        <p:sp>
          <p:nvSpPr>
            <p:cNvPr id="16" name="object 16"/>
            <p:cNvSpPr/>
            <p:nvPr/>
          </p:nvSpPr>
          <p:spPr>
            <a:xfrm>
              <a:off x="4600955" y="3532632"/>
              <a:ext cx="6781800" cy="313690"/>
            </a:xfrm>
            <a:custGeom>
              <a:avLst/>
              <a:gdLst/>
              <a:ahLst/>
              <a:cxnLst/>
              <a:rect l="l" t="t" r="r" b="b"/>
              <a:pathLst>
                <a:path w="6781800" h="313689">
                  <a:moveTo>
                    <a:pt x="6680962" y="0"/>
                  </a:moveTo>
                  <a:lnTo>
                    <a:pt x="100584" y="0"/>
                  </a:lnTo>
                  <a:lnTo>
                    <a:pt x="61468" y="12318"/>
                  </a:lnTo>
                  <a:lnTo>
                    <a:pt x="29464" y="45973"/>
                  </a:lnTo>
                  <a:lnTo>
                    <a:pt x="7874" y="95884"/>
                  </a:lnTo>
                  <a:lnTo>
                    <a:pt x="0" y="156844"/>
                  </a:lnTo>
                  <a:lnTo>
                    <a:pt x="7874" y="217931"/>
                  </a:lnTo>
                  <a:lnTo>
                    <a:pt x="29464" y="267715"/>
                  </a:lnTo>
                  <a:lnTo>
                    <a:pt x="61468" y="301370"/>
                  </a:lnTo>
                  <a:lnTo>
                    <a:pt x="100584" y="313689"/>
                  </a:lnTo>
                  <a:lnTo>
                    <a:pt x="6680962" y="313689"/>
                  </a:lnTo>
                  <a:lnTo>
                    <a:pt x="6720078" y="301370"/>
                  </a:lnTo>
                  <a:lnTo>
                    <a:pt x="6752082" y="267715"/>
                  </a:lnTo>
                  <a:lnTo>
                    <a:pt x="6773672" y="217931"/>
                  </a:lnTo>
                  <a:lnTo>
                    <a:pt x="6781546" y="156844"/>
                  </a:lnTo>
                  <a:lnTo>
                    <a:pt x="6773672" y="95884"/>
                  </a:lnTo>
                  <a:lnTo>
                    <a:pt x="6752082" y="45973"/>
                  </a:lnTo>
                  <a:lnTo>
                    <a:pt x="6720078" y="12318"/>
                  </a:lnTo>
                  <a:lnTo>
                    <a:pt x="668096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9244" y="3541776"/>
              <a:ext cx="4015740" cy="306070"/>
            </a:xfrm>
            <a:custGeom>
              <a:avLst/>
              <a:gdLst/>
              <a:ahLst/>
              <a:cxnLst/>
              <a:rect l="l" t="t" r="r" b="b"/>
              <a:pathLst>
                <a:path w="4015740" h="306070">
                  <a:moveTo>
                    <a:pt x="3917950" y="0"/>
                  </a:moveTo>
                  <a:lnTo>
                    <a:pt x="97561" y="0"/>
                  </a:lnTo>
                  <a:lnTo>
                    <a:pt x="59588" y="12064"/>
                  </a:lnTo>
                  <a:lnTo>
                    <a:pt x="28575" y="44703"/>
                  </a:lnTo>
                  <a:lnTo>
                    <a:pt x="7670" y="93344"/>
                  </a:lnTo>
                  <a:lnTo>
                    <a:pt x="0" y="152781"/>
                  </a:lnTo>
                  <a:lnTo>
                    <a:pt x="7670" y="212217"/>
                  </a:lnTo>
                  <a:lnTo>
                    <a:pt x="28575" y="260731"/>
                  </a:lnTo>
                  <a:lnTo>
                    <a:pt x="59588" y="293497"/>
                  </a:lnTo>
                  <a:lnTo>
                    <a:pt x="97561" y="305562"/>
                  </a:lnTo>
                  <a:lnTo>
                    <a:pt x="3917950" y="305562"/>
                  </a:lnTo>
                  <a:lnTo>
                    <a:pt x="3955923" y="293497"/>
                  </a:lnTo>
                  <a:lnTo>
                    <a:pt x="3986910" y="260731"/>
                  </a:lnTo>
                  <a:lnTo>
                    <a:pt x="4007866" y="212217"/>
                  </a:lnTo>
                  <a:lnTo>
                    <a:pt x="4015485" y="152781"/>
                  </a:lnTo>
                  <a:lnTo>
                    <a:pt x="4007866" y="93344"/>
                  </a:lnTo>
                  <a:lnTo>
                    <a:pt x="3986910" y="44703"/>
                  </a:lnTo>
                  <a:lnTo>
                    <a:pt x="3955923" y="12064"/>
                  </a:lnTo>
                  <a:lnTo>
                    <a:pt x="391795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308091" y="3631692"/>
              <a:ext cx="1104900" cy="125095"/>
            </a:xfrm>
            <a:custGeom>
              <a:avLst/>
              <a:gdLst/>
              <a:ahLst/>
              <a:cxnLst/>
              <a:rect l="l" t="t" r="r" b="b"/>
              <a:pathLst>
                <a:path w="1104900" h="125095">
                  <a:moveTo>
                    <a:pt x="1065022" y="0"/>
                  </a:moveTo>
                  <a:lnTo>
                    <a:pt x="0" y="0"/>
                  </a:lnTo>
                  <a:lnTo>
                    <a:pt x="0" y="124713"/>
                  </a:lnTo>
                  <a:lnTo>
                    <a:pt x="1065022" y="124713"/>
                  </a:lnTo>
                  <a:lnTo>
                    <a:pt x="1104646" y="62356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33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600955" y="3986784"/>
              <a:ext cx="6781800" cy="315595"/>
            </a:xfrm>
            <a:custGeom>
              <a:avLst/>
              <a:gdLst/>
              <a:ahLst/>
              <a:cxnLst/>
              <a:rect l="l" t="t" r="r" b="b"/>
              <a:pathLst>
                <a:path w="6781800" h="315595">
                  <a:moveTo>
                    <a:pt x="6680962" y="0"/>
                  </a:moveTo>
                  <a:lnTo>
                    <a:pt x="100584" y="0"/>
                  </a:lnTo>
                  <a:lnTo>
                    <a:pt x="61468" y="12446"/>
                  </a:lnTo>
                  <a:lnTo>
                    <a:pt x="29464" y="46228"/>
                  </a:lnTo>
                  <a:lnTo>
                    <a:pt x="7874" y="96266"/>
                  </a:lnTo>
                  <a:lnTo>
                    <a:pt x="0" y="157607"/>
                  </a:lnTo>
                  <a:lnTo>
                    <a:pt x="7874" y="218948"/>
                  </a:lnTo>
                  <a:lnTo>
                    <a:pt x="29464" y="269113"/>
                  </a:lnTo>
                  <a:lnTo>
                    <a:pt x="61468" y="302895"/>
                  </a:lnTo>
                  <a:lnTo>
                    <a:pt x="100584" y="315214"/>
                  </a:lnTo>
                  <a:lnTo>
                    <a:pt x="6680962" y="315214"/>
                  </a:lnTo>
                  <a:lnTo>
                    <a:pt x="6720078" y="302895"/>
                  </a:lnTo>
                  <a:lnTo>
                    <a:pt x="6752082" y="269113"/>
                  </a:lnTo>
                  <a:lnTo>
                    <a:pt x="6773672" y="218948"/>
                  </a:lnTo>
                  <a:lnTo>
                    <a:pt x="6781546" y="157607"/>
                  </a:lnTo>
                  <a:lnTo>
                    <a:pt x="6773672" y="96266"/>
                  </a:lnTo>
                  <a:lnTo>
                    <a:pt x="6752082" y="46228"/>
                  </a:lnTo>
                  <a:lnTo>
                    <a:pt x="6720078" y="12446"/>
                  </a:lnTo>
                  <a:lnTo>
                    <a:pt x="668096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09244" y="3991356"/>
              <a:ext cx="4015740" cy="306070"/>
            </a:xfrm>
            <a:custGeom>
              <a:avLst/>
              <a:gdLst/>
              <a:ahLst/>
              <a:cxnLst/>
              <a:rect l="l" t="t" r="r" b="b"/>
              <a:pathLst>
                <a:path w="4015740" h="306070">
                  <a:moveTo>
                    <a:pt x="3917950" y="0"/>
                  </a:moveTo>
                  <a:lnTo>
                    <a:pt x="97561" y="0"/>
                  </a:lnTo>
                  <a:lnTo>
                    <a:pt x="59588" y="12065"/>
                  </a:lnTo>
                  <a:lnTo>
                    <a:pt x="28575" y="44704"/>
                  </a:lnTo>
                  <a:lnTo>
                    <a:pt x="7670" y="93345"/>
                  </a:lnTo>
                  <a:lnTo>
                    <a:pt x="0" y="152781"/>
                  </a:lnTo>
                  <a:lnTo>
                    <a:pt x="7670" y="212217"/>
                  </a:lnTo>
                  <a:lnTo>
                    <a:pt x="28575" y="260731"/>
                  </a:lnTo>
                  <a:lnTo>
                    <a:pt x="59588" y="293497"/>
                  </a:lnTo>
                  <a:lnTo>
                    <a:pt x="97561" y="305562"/>
                  </a:lnTo>
                  <a:lnTo>
                    <a:pt x="3917950" y="305562"/>
                  </a:lnTo>
                  <a:lnTo>
                    <a:pt x="3955923" y="293497"/>
                  </a:lnTo>
                  <a:lnTo>
                    <a:pt x="3986910" y="260731"/>
                  </a:lnTo>
                  <a:lnTo>
                    <a:pt x="4007866" y="212217"/>
                  </a:lnTo>
                  <a:lnTo>
                    <a:pt x="4015485" y="152781"/>
                  </a:lnTo>
                  <a:lnTo>
                    <a:pt x="4007866" y="93345"/>
                  </a:lnTo>
                  <a:lnTo>
                    <a:pt x="3986910" y="44704"/>
                  </a:lnTo>
                  <a:lnTo>
                    <a:pt x="3955923" y="12065"/>
                  </a:lnTo>
                  <a:lnTo>
                    <a:pt x="391795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980176" y="4091940"/>
              <a:ext cx="1371600" cy="130810"/>
            </a:xfrm>
            <a:custGeom>
              <a:avLst/>
              <a:gdLst/>
              <a:ahLst/>
              <a:cxnLst/>
              <a:rect l="l" t="t" r="r" b="b"/>
              <a:pathLst>
                <a:path w="1371600" h="130810">
                  <a:moveTo>
                    <a:pt x="1303908" y="0"/>
                  </a:moveTo>
                  <a:lnTo>
                    <a:pt x="0" y="0"/>
                  </a:lnTo>
                  <a:lnTo>
                    <a:pt x="0" y="130556"/>
                  </a:lnTo>
                  <a:lnTo>
                    <a:pt x="1303908" y="130556"/>
                  </a:lnTo>
                  <a:lnTo>
                    <a:pt x="1371092" y="65278"/>
                  </a:lnTo>
                  <a:lnTo>
                    <a:pt x="1303908" y="0"/>
                  </a:lnTo>
                  <a:close/>
                </a:path>
              </a:pathLst>
            </a:custGeom>
            <a:solidFill>
              <a:srgbClr val="33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00955" y="4434840"/>
              <a:ext cx="6781800" cy="315595"/>
            </a:xfrm>
            <a:custGeom>
              <a:avLst/>
              <a:gdLst/>
              <a:ahLst/>
              <a:cxnLst/>
              <a:rect l="l" t="t" r="r" b="b"/>
              <a:pathLst>
                <a:path w="6781800" h="315595">
                  <a:moveTo>
                    <a:pt x="6680962" y="0"/>
                  </a:moveTo>
                  <a:lnTo>
                    <a:pt x="100584" y="0"/>
                  </a:lnTo>
                  <a:lnTo>
                    <a:pt x="61468" y="12446"/>
                  </a:lnTo>
                  <a:lnTo>
                    <a:pt x="29464" y="46228"/>
                  </a:lnTo>
                  <a:lnTo>
                    <a:pt x="7874" y="96266"/>
                  </a:lnTo>
                  <a:lnTo>
                    <a:pt x="0" y="157607"/>
                  </a:lnTo>
                  <a:lnTo>
                    <a:pt x="7874" y="218948"/>
                  </a:lnTo>
                  <a:lnTo>
                    <a:pt x="29464" y="269113"/>
                  </a:lnTo>
                  <a:lnTo>
                    <a:pt x="61468" y="302895"/>
                  </a:lnTo>
                  <a:lnTo>
                    <a:pt x="100584" y="315214"/>
                  </a:lnTo>
                  <a:lnTo>
                    <a:pt x="6680962" y="315214"/>
                  </a:lnTo>
                  <a:lnTo>
                    <a:pt x="6720078" y="302895"/>
                  </a:lnTo>
                  <a:lnTo>
                    <a:pt x="6752082" y="269113"/>
                  </a:lnTo>
                  <a:lnTo>
                    <a:pt x="6773672" y="218948"/>
                  </a:lnTo>
                  <a:lnTo>
                    <a:pt x="6781546" y="157607"/>
                  </a:lnTo>
                  <a:lnTo>
                    <a:pt x="6773672" y="96266"/>
                  </a:lnTo>
                  <a:lnTo>
                    <a:pt x="6752082" y="46228"/>
                  </a:lnTo>
                  <a:lnTo>
                    <a:pt x="6720078" y="12446"/>
                  </a:lnTo>
                  <a:lnTo>
                    <a:pt x="668096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09244" y="4442460"/>
              <a:ext cx="4015740" cy="304165"/>
            </a:xfrm>
            <a:custGeom>
              <a:avLst/>
              <a:gdLst/>
              <a:ahLst/>
              <a:cxnLst/>
              <a:rect l="l" t="t" r="r" b="b"/>
              <a:pathLst>
                <a:path w="4015740" h="304164">
                  <a:moveTo>
                    <a:pt x="3917950" y="0"/>
                  </a:moveTo>
                  <a:lnTo>
                    <a:pt x="97561" y="0"/>
                  </a:lnTo>
                  <a:lnTo>
                    <a:pt x="59588" y="11937"/>
                  </a:lnTo>
                  <a:lnTo>
                    <a:pt x="28575" y="44576"/>
                  </a:lnTo>
                  <a:lnTo>
                    <a:pt x="7670" y="92837"/>
                  </a:lnTo>
                  <a:lnTo>
                    <a:pt x="0" y="152019"/>
                  </a:lnTo>
                  <a:lnTo>
                    <a:pt x="7670" y="211200"/>
                  </a:lnTo>
                  <a:lnTo>
                    <a:pt x="28575" y="259460"/>
                  </a:lnTo>
                  <a:lnTo>
                    <a:pt x="59588" y="292100"/>
                  </a:lnTo>
                  <a:lnTo>
                    <a:pt x="97561" y="304038"/>
                  </a:lnTo>
                  <a:lnTo>
                    <a:pt x="3917950" y="304038"/>
                  </a:lnTo>
                  <a:lnTo>
                    <a:pt x="3955923" y="292100"/>
                  </a:lnTo>
                  <a:lnTo>
                    <a:pt x="3986910" y="259460"/>
                  </a:lnTo>
                  <a:lnTo>
                    <a:pt x="4007866" y="211200"/>
                  </a:lnTo>
                  <a:lnTo>
                    <a:pt x="4015485" y="152019"/>
                  </a:lnTo>
                  <a:lnTo>
                    <a:pt x="4007866" y="92837"/>
                  </a:lnTo>
                  <a:lnTo>
                    <a:pt x="3986910" y="44576"/>
                  </a:lnTo>
                  <a:lnTo>
                    <a:pt x="3955923" y="11937"/>
                  </a:lnTo>
                  <a:lnTo>
                    <a:pt x="391795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748528" y="4543044"/>
              <a:ext cx="2402840" cy="124460"/>
            </a:xfrm>
            <a:custGeom>
              <a:avLst/>
              <a:gdLst/>
              <a:ahLst/>
              <a:cxnLst/>
              <a:rect l="l" t="t" r="r" b="b"/>
              <a:pathLst>
                <a:path w="2402840" h="124460">
                  <a:moveTo>
                    <a:pt x="2289555" y="0"/>
                  </a:moveTo>
                  <a:lnTo>
                    <a:pt x="0" y="0"/>
                  </a:lnTo>
                  <a:lnTo>
                    <a:pt x="0" y="124332"/>
                  </a:lnTo>
                  <a:lnTo>
                    <a:pt x="2289555" y="124332"/>
                  </a:lnTo>
                  <a:lnTo>
                    <a:pt x="2402586" y="62102"/>
                  </a:lnTo>
                  <a:lnTo>
                    <a:pt x="2289555" y="0"/>
                  </a:lnTo>
                  <a:close/>
                </a:path>
              </a:pathLst>
            </a:custGeom>
            <a:solidFill>
              <a:srgbClr val="33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600955" y="4882896"/>
              <a:ext cx="6781800" cy="311785"/>
            </a:xfrm>
            <a:custGeom>
              <a:avLst/>
              <a:gdLst/>
              <a:ahLst/>
              <a:cxnLst/>
              <a:rect l="l" t="t" r="r" b="b"/>
              <a:pathLst>
                <a:path w="6781800" h="311785">
                  <a:moveTo>
                    <a:pt x="6681724" y="0"/>
                  </a:moveTo>
                  <a:lnTo>
                    <a:pt x="99822" y="0"/>
                  </a:lnTo>
                  <a:lnTo>
                    <a:pt x="60960" y="12191"/>
                  </a:lnTo>
                  <a:lnTo>
                    <a:pt x="29210" y="45719"/>
                  </a:lnTo>
                  <a:lnTo>
                    <a:pt x="7874" y="95249"/>
                  </a:lnTo>
                  <a:lnTo>
                    <a:pt x="0" y="155955"/>
                  </a:lnTo>
                  <a:lnTo>
                    <a:pt x="7874" y="216534"/>
                  </a:lnTo>
                  <a:lnTo>
                    <a:pt x="29210" y="266191"/>
                  </a:lnTo>
                  <a:lnTo>
                    <a:pt x="60960" y="299592"/>
                  </a:lnTo>
                  <a:lnTo>
                    <a:pt x="99822" y="311784"/>
                  </a:lnTo>
                  <a:lnTo>
                    <a:pt x="6681724" y="311784"/>
                  </a:lnTo>
                  <a:lnTo>
                    <a:pt x="6720586" y="299592"/>
                  </a:lnTo>
                  <a:lnTo>
                    <a:pt x="6752336" y="266191"/>
                  </a:lnTo>
                  <a:lnTo>
                    <a:pt x="6773672" y="216534"/>
                  </a:lnTo>
                  <a:lnTo>
                    <a:pt x="6781546" y="155955"/>
                  </a:lnTo>
                  <a:lnTo>
                    <a:pt x="6773672" y="95249"/>
                  </a:lnTo>
                  <a:lnTo>
                    <a:pt x="6752336" y="45719"/>
                  </a:lnTo>
                  <a:lnTo>
                    <a:pt x="6720586" y="12191"/>
                  </a:lnTo>
                  <a:lnTo>
                    <a:pt x="668172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09244" y="4892040"/>
              <a:ext cx="4015740" cy="306070"/>
            </a:xfrm>
            <a:custGeom>
              <a:avLst/>
              <a:gdLst/>
              <a:ahLst/>
              <a:cxnLst/>
              <a:rect l="l" t="t" r="r" b="b"/>
              <a:pathLst>
                <a:path w="4015740" h="306070">
                  <a:moveTo>
                    <a:pt x="3917950" y="0"/>
                  </a:moveTo>
                  <a:lnTo>
                    <a:pt x="97561" y="0"/>
                  </a:lnTo>
                  <a:lnTo>
                    <a:pt x="59588" y="12065"/>
                  </a:lnTo>
                  <a:lnTo>
                    <a:pt x="28575" y="44704"/>
                  </a:lnTo>
                  <a:lnTo>
                    <a:pt x="7670" y="93345"/>
                  </a:lnTo>
                  <a:lnTo>
                    <a:pt x="0" y="152781"/>
                  </a:lnTo>
                  <a:lnTo>
                    <a:pt x="7670" y="212217"/>
                  </a:lnTo>
                  <a:lnTo>
                    <a:pt x="28575" y="260731"/>
                  </a:lnTo>
                  <a:lnTo>
                    <a:pt x="59588" y="293497"/>
                  </a:lnTo>
                  <a:lnTo>
                    <a:pt x="97561" y="305562"/>
                  </a:lnTo>
                  <a:lnTo>
                    <a:pt x="3917950" y="305562"/>
                  </a:lnTo>
                  <a:lnTo>
                    <a:pt x="3955923" y="293497"/>
                  </a:lnTo>
                  <a:lnTo>
                    <a:pt x="3986910" y="260731"/>
                  </a:lnTo>
                  <a:lnTo>
                    <a:pt x="4007866" y="212217"/>
                  </a:lnTo>
                  <a:lnTo>
                    <a:pt x="4015485" y="152781"/>
                  </a:lnTo>
                  <a:lnTo>
                    <a:pt x="4007866" y="93345"/>
                  </a:lnTo>
                  <a:lnTo>
                    <a:pt x="3986910" y="44704"/>
                  </a:lnTo>
                  <a:lnTo>
                    <a:pt x="3955923" y="12065"/>
                  </a:lnTo>
                  <a:lnTo>
                    <a:pt x="391795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600955" y="5327904"/>
              <a:ext cx="6781800" cy="315595"/>
            </a:xfrm>
            <a:custGeom>
              <a:avLst/>
              <a:gdLst/>
              <a:ahLst/>
              <a:cxnLst/>
              <a:rect l="l" t="t" r="r" b="b"/>
              <a:pathLst>
                <a:path w="6781800" h="315595">
                  <a:moveTo>
                    <a:pt x="6680962" y="0"/>
                  </a:moveTo>
                  <a:lnTo>
                    <a:pt x="100584" y="0"/>
                  </a:lnTo>
                  <a:lnTo>
                    <a:pt x="61468" y="12446"/>
                  </a:lnTo>
                  <a:lnTo>
                    <a:pt x="29464" y="46228"/>
                  </a:lnTo>
                  <a:lnTo>
                    <a:pt x="7874" y="96266"/>
                  </a:lnTo>
                  <a:lnTo>
                    <a:pt x="0" y="157607"/>
                  </a:lnTo>
                  <a:lnTo>
                    <a:pt x="7874" y="218948"/>
                  </a:lnTo>
                  <a:lnTo>
                    <a:pt x="29464" y="269062"/>
                  </a:lnTo>
                  <a:lnTo>
                    <a:pt x="61468" y="302869"/>
                  </a:lnTo>
                  <a:lnTo>
                    <a:pt x="100584" y="315264"/>
                  </a:lnTo>
                  <a:lnTo>
                    <a:pt x="6680962" y="315264"/>
                  </a:lnTo>
                  <a:lnTo>
                    <a:pt x="6720078" y="302869"/>
                  </a:lnTo>
                  <a:lnTo>
                    <a:pt x="6752082" y="269062"/>
                  </a:lnTo>
                  <a:lnTo>
                    <a:pt x="6773672" y="218948"/>
                  </a:lnTo>
                  <a:lnTo>
                    <a:pt x="6781546" y="157607"/>
                  </a:lnTo>
                  <a:lnTo>
                    <a:pt x="6773672" y="96266"/>
                  </a:lnTo>
                  <a:lnTo>
                    <a:pt x="6752082" y="46228"/>
                  </a:lnTo>
                  <a:lnTo>
                    <a:pt x="6720078" y="12446"/>
                  </a:lnTo>
                  <a:lnTo>
                    <a:pt x="668096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09244" y="5343144"/>
              <a:ext cx="4015740" cy="301625"/>
            </a:xfrm>
            <a:custGeom>
              <a:avLst/>
              <a:gdLst/>
              <a:ahLst/>
              <a:cxnLst/>
              <a:rect l="l" t="t" r="r" b="b"/>
              <a:pathLst>
                <a:path w="4015740" h="301625">
                  <a:moveTo>
                    <a:pt x="3918711" y="0"/>
                  </a:moveTo>
                  <a:lnTo>
                    <a:pt x="96799" y="0"/>
                  </a:lnTo>
                  <a:lnTo>
                    <a:pt x="59131" y="11810"/>
                  </a:lnTo>
                  <a:lnTo>
                    <a:pt x="28359" y="44195"/>
                  </a:lnTo>
                  <a:lnTo>
                    <a:pt x="7607" y="92074"/>
                  </a:lnTo>
                  <a:lnTo>
                    <a:pt x="0" y="150748"/>
                  </a:lnTo>
                  <a:lnTo>
                    <a:pt x="7607" y="209422"/>
                  </a:lnTo>
                  <a:lnTo>
                    <a:pt x="28359" y="257403"/>
                  </a:lnTo>
                  <a:lnTo>
                    <a:pt x="59131" y="289712"/>
                  </a:lnTo>
                  <a:lnTo>
                    <a:pt x="96799" y="301548"/>
                  </a:lnTo>
                  <a:lnTo>
                    <a:pt x="3918711" y="301548"/>
                  </a:lnTo>
                  <a:lnTo>
                    <a:pt x="3956430" y="289712"/>
                  </a:lnTo>
                  <a:lnTo>
                    <a:pt x="3987165" y="257403"/>
                  </a:lnTo>
                  <a:lnTo>
                    <a:pt x="4007866" y="209422"/>
                  </a:lnTo>
                  <a:lnTo>
                    <a:pt x="4015485" y="150748"/>
                  </a:lnTo>
                  <a:lnTo>
                    <a:pt x="4007866" y="92074"/>
                  </a:lnTo>
                  <a:lnTo>
                    <a:pt x="3987165" y="44195"/>
                  </a:lnTo>
                  <a:lnTo>
                    <a:pt x="3956430" y="11810"/>
                  </a:lnTo>
                  <a:lnTo>
                    <a:pt x="3918711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600955" y="5775960"/>
              <a:ext cx="6781800" cy="312420"/>
            </a:xfrm>
            <a:custGeom>
              <a:avLst/>
              <a:gdLst/>
              <a:ahLst/>
              <a:cxnLst/>
              <a:rect l="l" t="t" r="r" b="b"/>
              <a:pathLst>
                <a:path w="6781800" h="312420">
                  <a:moveTo>
                    <a:pt x="6681724" y="0"/>
                  </a:moveTo>
                  <a:lnTo>
                    <a:pt x="99822" y="0"/>
                  </a:lnTo>
                  <a:lnTo>
                    <a:pt x="60960" y="12255"/>
                  </a:lnTo>
                  <a:lnTo>
                    <a:pt x="29210" y="45669"/>
                  </a:lnTo>
                  <a:lnTo>
                    <a:pt x="7874" y="95224"/>
                  </a:lnTo>
                  <a:lnTo>
                    <a:pt x="0" y="155905"/>
                  </a:lnTo>
                  <a:lnTo>
                    <a:pt x="7874" y="216598"/>
                  </a:lnTo>
                  <a:lnTo>
                    <a:pt x="29210" y="266153"/>
                  </a:lnTo>
                  <a:lnTo>
                    <a:pt x="60960" y="299567"/>
                  </a:lnTo>
                  <a:lnTo>
                    <a:pt x="99822" y="311823"/>
                  </a:lnTo>
                  <a:lnTo>
                    <a:pt x="6681724" y="311823"/>
                  </a:lnTo>
                  <a:lnTo>
                    <a:pt x="6720586" y="299567"/>
                  </a:lnTo>
                  <a:lnTo>
                    <a:pt x="6752336" y="266153"/>
                  </a:lnTo>
                  <a:lnTo>
                    <a:pt x="6773672" y="216598"/>
                  </a:lnTo>
                  <a:lnTo>
                    <a:pt x="6781546" y="155905"/>
                  </a:lnTo>
                  <a:lnTo>
                    <a:pt x="6773672" y="95224"/>
                  </a:lnTo>
                  <a:lnTo>
                    <a:pt x="6752336" y="45669"/>
                  </a:lnTo>
                  <a:lnTo>
                    <a:pt x="6720586" y="12255"/>
                  </a:lnTo>
                  <a:lnTo>
                    <a:pt x="668172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9244" y="5792724"/>
              <a:ext cx="4015740" cy="301625"/>
            </a:xfrm>
            <a:custGeom>
              <a:avLst/>
              <a:gdLst/>
              <a:ahLst/>
              <a:cxnLst/>
              <a:rect l="l" t="t" r="r" b="b"/>
              <a:pathLst>
                <a:path w="4015740" h="301625">
                  <a:moveTo>
                    <a:pt x="3918711" y="0"/>
                  </a:moveTo>
                  <a:lnTo>
                    <a:pt x="96799" y="0"/>
                  </a:lnTo>
                  <a:lnTo>
                    <a:pt x="59131" y="11849"/>
                  </a:lnTo>
                  <a:lnTo>
                    <a:pt x="28359" y="44145"/>
                  </a:lnTo>
                  <a:lnTo>
                    <a:pt x="7607" y="92075"/>
                  </a:lnTo>
                  <a:lnTo>
                    <a:pt x="0" y="150774"/>
                  </a:lnTo>
                  <a:lnTo>
                    <a:pt x="7607" y="209473"/>
                  </a:lnTo>
                  <a:lnTo>
                    <a:pt x="28359" y="257403"/>
                  </a:lnTo>
                  <a:lnTo>
                    <a:pt x="59131" y="289712"/>
                  </a:lnTo>
                  <a:lnTo>
                    <a:pt x="96799" y="301548"/>
                  </a:lnTo>
                  <a:lnTo>
                    <a:pt x="3918711" y="301548"/>
                  </a:lnTo>
                  <a:lnTo>
                    <a:pt x="3956430" y="289712"/>
                  </a:lnTo>
                  <a:lnTo>
                    <a:pt x="3987165" y="257403"/>
                  </a:lnTo>
                  <a:lnTo>
                    <a:pt x="4007866" y="209473"/>
                  </a:lnTo>
                  <a:lnTo>
                    <a:pt x="4015485" y="150774"/>
                  </a:lnTo>
                  <a:lnTo>
                    <a:pt x="4007866" y="92075"/>
                  </a:lnTo>
                  <a:lnTo>
                    <a:pt x="3987165" y="44145"/>
                  </a:lnTo>
                  <a:lnTo>
                    <a:pt x="3956430" y="11849"/>
                  </a:lnTo>
                  <a:lnTo>
                    <a:pt x="3918711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76706" y="3967988"/>
            <a:ext cx="3836035" cy="2040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Negotiations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Partnerships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Reimagined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Automation,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Elimination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Legacy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Systems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Partnerships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Credilink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AVCL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Credilink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346191" y="3542538"/>
            <a:ext cx="5796280" cy="2581910"/>
            <a:chOff x="5346191" y="3542538"/>
            <a:chExt cx="5796280" cy="2581910"/>
          </a:xfrm>
        </p:grpSpPr>
        <p:sp>
          <p:nvSpPr>
            <p:cNvPr id="33" name="object 33"/>
            <p:cNvSpPr/>
            <p:nvPr/>
          </p:nvSpPr>
          <p:spPr>
            <a:xfrm>
              <a:off x="7430261" y="3542538"/>
              <a:ext cx="0" cy="2581910"/>
            </a:xfrm>
            <a:custGeom>
              <a:avLst/>
              <a:gdLst/>
              <a:ahLst/>
              <a:cxnLst/>
              <a:rect l="l" t="t" r="r" b="b"/>
              <a:pathLst>
                <a:path w="0" h="2581910">
                  <a:moveTo>
                    <a:pt x="0" y="0"/>
                  </a:moveTo>
                  <a:lnTo>
                    <a:pt x="0" y="2581402"/>
                  </a:lnTo>
                </a:path>
              </a:pathLst>
            </a:custGeom>
            <a:ln w="28575">
              <a:solidFill>
                <a:srgbClr val="FFFF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594347" y="4972812"/>
              <a:ext cx="1703705" cy="139700"/>
            </a:xfrm>
            <a:custGeom>
              <a:avLst/>
              <a:gdLst/>
              <a:ahLst/>
              <a:cxnLst/>
              <a:rect l="l" t="t" r="r" b="b"/>
              <a:pathLst>
                <a:path w="1703704" h="139700">
                  <a:moveTo>
                    <a:pt x="1619757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1619757" y="139700"/>
                  </a:lnTo>
                  <a:lnTo>
                    <a:pt x="1703197" y="69850"/>
                  </a:lnTo>
                  <a:lnTo>
                    <a:pt x="1619757" y="0"/>
                  </a:lnTo>
                  <a:close/>
                </a:path>
              </a:pathLst>
            </a:custGeom>
            <a:solidFill>
              <a:srgbClr val="33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705599" y="5865876"/>
              <a:ext cx="4410710" cy="127635"/>
            </a:xfrm>
            <a:custGeom>
              <a:avLst/>
              <a:gdLst/>
              <a:ahLst/>
              <a:cxnLst/>
              <a:rect l="l" t="t" r="r" b="b"/>
              <a:pathLst>
                <a:path w="4410709" h="127635">
                  <a:moveTo>
                    <a:pt x="4194302" y="0"/>
                  </a:moveTo>
                  <a:lnTo>
                    <a:pt x="0" y="0"/>
                  </a:lnTo>
                  <a:lnTo>
                    <a:pt x="0" y="127533"/>
                  </a:lnTo>
                  <a:lnTo>
                    <a:pt x="4194302" y="127533"/>
                  </a:lnTo>
                  <a:lnTo>
                    <a:pt x="4410329" y="63766"/>
                  </a:lnTo>
                  <a:lnTo>
                    <a:pt x="4194302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346191" y="5428488"/>
              <a:ext cx="2804795" cy="142875"/>
            </a:xfrm>
            <a:custGeom>
              <a:avLst/>
              <a:gdLst/>
              <a:ahLst/>
              <a:cxnLst/>
              <a:rect l="l" t="t" r="r" b="b"/>
              <a:pathLst>
                <a:path w="2804795" h="142875">
                  <a:moveTo>
                    <a:pt x="2667254" y="0"/>
                  </a:moveTo>
                  <a:lnTo>
                    <a:pt x="0" y="0"/>
                  </a:lnTo>
                  <a:lnTo>
                    <a:pt x="0" y="142748"/>
                  </a:lnTo>
                  <a:lnTo>
                    <a:pt x="2667254" y="142748"/>
                  </a:lnTo>
                  <a:lnTo>
                    <a:pt x="2804667" y="71374"/>
                  </a:lnTo>
                  <a:lnTo>
                    <a:pt x="2667254" y="0"/>
                  </a:lnTo>
                  <a:close/>
                </a:path>
              </a:pathLst>
            </a:custGeom>
            <a:solidFill>
              <a:srgbClr val="33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223503" y="5422392"/>
              <a:ext cx="2919095" cy="142875"/>
            </a:xfrm>
            <a:custGeom>
              <a:avLst/>
              <a:gdLst/>
              <a:ahLst/>
              <a:cxnLst/>
              <a:rect l="l" t="t" r="r" b="b"/>
              <a:pathLst>
                <a:path w="2919095" h="142875">
                  <a:moveTo>
                    <a:pt x="2775839" y="0"/>
                  </a:moveTo>
                  <a:lnTo>
                    <a:pt x="0" y="0"/>
                  </a:lnTo>
                  <a:lnTo>
                    <a:pt x="0" y="142748"/>
                  </a:lnTo>
                  <a:lnTo>
                    <a:pt x="2775839" y="142748"/>
                  </a:lnTo>
                  <a:lnTo>
                    <a:pt x="2918841" y="71374"/>
                  </a:lnTo>
                  <a:lnTo>
                    <a:pt x="2775839" y="0"/>
                  </a:lnTo>
                  <a:close/>
                </a:path>
              </a:pathLst>
            </a:custGeom>
            <a:solidFill>
              <a:srgbClr val="7692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76706" y="3209264"/>
            <a:ext cx="3378200" cy="54800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475"/>
              </a:spcBef>
            </a:pPr>
            <a:r>
              <a:rPr dirty="0" sz="1400" spc="-10" b="1">
                <a:latin typeface="Calibri"/>
                <a:cs typeface="Calibri"/>
              </a:rPr>
              <a:t>Projected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Timeline: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Strategy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Phoenix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Deploying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Self</a:t>
            </a: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Devised</a:t>
            </a:r>
            <a:r>
              <a:rPr dirty="0" sz="1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UFH’s</a:t>
            </a:r>
            <a:r>
              <a:rPr dirty="0" sz="14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Score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294126" y="6223253"/>
            <a:ext cx="1453515" cy="0"/>
          </a:xfrm>
          <a:custGeom>
            <a:avLst/>
            <a:gdLst/>
            <a:ahLst/>
            <a:cxnLst/>
            <a:rect l="l" t="t" r="r" b="b"/>
            <a:pathLst>
              <a:path w="1453514" h="0">
                <a:moveTo>
                  <a:pt x="0" y="0"/>
                </a:moveTo>
                <a:lnTo>
                  <a:pt x="1453261" y="0"/>
                </a:lnTo>
              </a:path>
            </a:pathLst>
          </a:custGeom>
          <a:ln w="28575">
            <a:solidFill>
              <a:srgbClr val="333E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918709" y="6223253"/>
            <a:ext cx="1453515" cy="0"/>
          </a:xfrm>
          <a:custGeom>
            <a:avLst/>
            <a:gdLst/>
            <a:ahLst/>
            <a:cxnLst/>
            <a:rect l="l" t="t" r="r" b="b"/>
            <a:pathLst>
              <a:path w="1453514" h="0">
                <a:moveTo>
                  <a:pt x="0" y="0"/>
                </a:moveTo>
                <a:lnTo>
                  <a:pt x="1453261" y="0"/>
                </a:lnTo>
              </a:path>
            </a:pathLst>
          </a:custGeom>
          <a:ln w="28575">
            <a:solidFill>
              <a:srgbClr val="7692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540245" y="6223253"/>
            <a:ext cx="1453515" cy="0"/>
          </a:xfrm>
          <a:custGeom>
            <a:avLst/>
            <a:gdLst/>
            <a:ahLst/>
            <a:cxnLst/>
            <a:rect l="l" t="t" r="r" b="b"/>
            <a:pathLst>
              <a:path w="1453515" h="0">
                <a:moveTo>
                  <a:pt x="0" y="0"/>
                </a:moveTo>
                <a:lnTo>
                  <a:pt x="1453260" y="0"/>
                </a:lnTo>
              </a:path>
            </a:pathLst>
          </a:custGeom>
          <a:ln w="28575">
            <a:solidFill>
              <a:srgbClr val="AE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785742" y="6247587"/>
            <a:ext cx="5124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Phase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50" b="1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67654" y="6244538"/>
            <a:ext cx="5124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Phase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50" b="1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33718" y="6244538"/>
            <a:ext cx="1301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Phase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3(Pre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Launch)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97227" y="1054100"/>
            <a:ext cx="44005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Priority wise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Collaborations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to</a:t>
            </a:r>
            <a:r>
              <a:rPr dirty="0" sz="1400" spc="-1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generate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maximum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impact…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709606" y="1488947"/>
            <a:ext cx="3386454" cy="1368425"/>
            <a:chOff x="3709606" y="1488947"/>
            <a:chExt cx="3386454" cy="1368425"/>
          </a:xfrm>
        </p:grpSpPr>
        <p:sp>
          <p:nvSpPr>
            <p:cNvPr id="47" name="object 47"/>
            <p:cNvSpPr/>
            <p:nvPr/>
          </p:nvSpPr>
          <p:spPr>
            <a:xfrm>
              <a:off x="4184904" y="1488947"/>
              <a:ext cx="2910840" cy="1368425"/>
            </a:xfrm>
            <a:custGeom>
              <a:avLst/>
              <a:gdLst/>
              <a:ahLst/>
              <a:cxnLst/>
              <a:rect l="l" t="t" r="r" b="b"/>
              <a:pathLst>
                <a:path w="2910840" h="1368425">
                  <a:moveTo>
                    <a:pt x="2910840" y="0"/>
                  </a:moveTo>
                  <a:lnTo>
                    <a:pt x="0" y="0"/>
                  </a:lnTo>
                  <a:lnTo>
                    <a:pt x="0" y="1368298"/>
                  </a:lnTo>
                  <a:lnTo>
                    <a:pt x="2910840" y="1368298"/>
                  </a:lnTo>
                  <a:lnTo>
                    <a:pt x="29108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723894" y="1727453"/>
              <a:ext cx="925194" cy="840105"/>
            </a:xfrm>
            <a:custGeom>
              <a:avLst/>
              <a:gdLst/>
              <a:ahLst/>
              <a:cxnLst/>
              <a:rect l="l" t="t" r="r" b="b"/>
              <a:pathLst>
                <a:path w="925195" h="840105">
                  <a:moveTo>
                    <a:pt x="462533" y="0"/>
                  </a:moveTo>
                  <a:lnTo>
                    <a:pt x="420369" y="1778"/>
                  </a:lnTo>
                  <a:lnTo>
                    <a:pt x="379348" y="6731"/>
                  </a:lnTo>
                  <a:lnTo>
                    <a:pt x="339597" y="14986"/>
                  </a:lnTo>
                  <a:lnTo>
                    <a:pt x="301116" y="26288"/>
                  </a:lnTo>
                  <a:lnTo>
                    <a:pt x="264286" y="40386"/>
                  </a:lnTo>
                  <a:lnTo>
                    <a:pt x="229107" y="57276"/>
                  </a:lnTo>
                  <a:lnTo>
                    <a:pt x="195833" y="76835"/>
                  </a:lnTo>
                  <a:lnTo>
                    <a:pt x="164464" y="98679"/>
                  </a:lnTo>
                  <a:lnTo>
                    <a:pt x="108838" y="149351"/>
                  </a:lnTo>
                  <a:lnTo>
                    <a:pt x="63118" y="207899"/>
                  </a:lnTo>
                  <a:lnTo>
                    <a:pt x="28955" y="273304"/>
                  </a:lnTo>
                  <a:lnTo>
                    <a:pt x="7492" y="344424"/>
                  </a:lnTo>
                  <a:lnTo>
                    <a:pt x="0" y="419862"/>
                  </a:lnTo>
                  <a:lnTo>
                    <a:pt x="1904" y="458088"/>
                  </a:lnTo>
                  <a:lnTo>
                    <a:pt x="16509" y="531495"/>
                  </a:lnTo>
                  <a:lnTo>
                    <a:pt x="44576" y="599821"/>
                  </a:lnTo>
                  <a:lnTo>
                    <a:pt x="84581" y="662051"/>
                  </a:lnTo>
                  <a:lnTo>
                    <a:pt x="135508" y="716788"/>
                  </a:lnTo>
                  <a:lnTo>
                    <a:pt x="195833" y="762888"/>
                  </a:lnTo>
                  <a:lnTo>
                    <a:pt x="229107" y="782447"/>
                  </a:lnTo>
                  <a:lnTo>
                    <a:pt x="264286" y="799338"/>
                  </a:lnTo>
                  <a:lnTo>
                    <a:pt x="301116" y="813435"/>
                  </a:lnTo>
                  <a:lnTo>
                    <a:pt x="339597" y="824738"/>
                  </a:lnTo>
                  <a:lnTo>
                    <a:pt x="379348" y="832993"/>
                  </a:lnTo>
                  <a:lnTo>
                    <a:pt x="420369" y="837946"/>
                  </a:lnTo>
                  <a:lnTo>
                    <a:pt x="462533" y="839724"/>
                  </a:lnTo>
                  <a:lnTo>
                    <a:pt x="504570" y="837946"/>
                  </a:lnTo>
                  <a:lnTo>
                    <a:pt x="545591" y="832993"/>
                  </a:lnTo>
                  <a:lnTo>
                    <a:pt x="585469" y="824738"/>
                  </a:lnTo>
                  <a:lnTo>
                    <a:pt x="623823" y="813435"/>
                  </a:lnTo>
                  <a:lnTo>
                    <a:pt x="660780" y="799338"/>
                  </a:lnTo>
                  <a:lnTo>
                    <a:pt x="695832" y="782447"/>
                  </a:lnTo>
                  <a:lnTo>
                    <a:pt x="729233" y="762888"/>
                  </a:lnTo>
                  <a:lnTo>
                    <a:pt x="760476" y="740918"/>
                  </a:lnTo>
                  <a:lnTo>
                    <a:pt x="816228" y="690372"/>
                  </a:lnTo>
                  <a:lnTo>
                    <a:pt x="861821" y="631825"/>
                  </a:lnTo>
                  <a:lnTo>
                    <a:pt x="895984" y="566420"/>
                  </a:lnTo>
                  <a:lnTo>
                    <a:pt x="917447" y="495300"/>
                  </a:lnTo>
                  <a:lnTo>
                    <a:pt x="924940" y="419862"/>
                  </a:lnTo>
                  <a:lnTo>
                    <a:pt x="923035" y="381635"/>
                  </a:lnTo>
                  <a:lnTo>
                    <a:pt x="908430" y="308229"/>
                  </a:lnTo>
                  <a:lnTo>
                    <a:pt x="880363" y="239903"/>
                  </a:lnTo>
                  <a:lnTo>
                    <a:pt x="840358" y="177673"/>
                  </a:lnTo>
                  <a:lnTo>
                    <a:pt x="789431" y="122936"/>
                  </a:lnTo>
                  <a:lnTo>
                    <a:pt x="729233" y="76835"/>
                  </a:lnTo>
                  <a:lnTo>
                    <a:pt x="695832" y="57276"/>
                  </a:lnTo>
                  <a:lnTo>
                    <a:pt x="660780" y="40386"/>
                  </a:lnTo>
                  <a:lnTo>
                    <a:pt x="623823" y="26288"/>
                  </a:lnTo>
                  <a:lnTo>
                    <a:pt x="585469" y="14986"/>
                  </a:lnTo>
                  <a:lnTo>
                    <a:pt x="545591" y="6731"/>
                  </a:lnTo>
                  <a:lnTo>
                    <a:pt x="504570" y="1778"/>
                  </a:lnTo>
                  <a:lnTo>
                    <a:pt x="4625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723894" y="1727453"/>
              <a:ext cx="925194" cy="840105"/>
            </a:xfrm>
            <a:custGeom>
              <a:avLst/>
              <a:gdLst/>
              <a:ahLst/>
              <a:cxnLst/>
              <a:rect l="l" t="t" r="r" b="b"/>
              <a:pathLst>
                <a:path w="925195" h="840105">
                  <a:moveTo>
                    <a:pt x="462533" y="0"/>
                  </a:moveTo>
                  <a:lnTo>
                    <a:pt x="420369" y="1778"/>
                  </a:lnTo>
                  <a:lnTo>
                    <a:pt x="379348" y="6731"/>
                  </a:lnTo>
                  <a:lnTo>
                    <a:pt x="339597" y="14986"/>
                  </a:lnTo>
                  <a:lnTo>
                    <a:pt x="301116" y="26288"/>
                  </a:lnTo>
                  <a:lnTo>
                    <a:pt x="264286" y="40386"/>
                  </a:lnTo>
                  <a:lnTo>
                    <a:pt x="229107" y="57276"/>
                  </a:lnTo>
                  <a:lnTo>
                    <a:pt x="195833" y="76835"/>
                  </a:lnTo>
                  <a:lnTo>
                    <a:pt x="164464" y="98679"/>
                  </a:lnTo>
                  <a:lnTo>
                    <a:pt x="108838" y="149351"/>
                  </a:lnTo>
                  <a:lnTo>
                    <a:pt x="63118" y="207899"/>
                  </a:lnTo>
                  <a:lnTo>
                    <a:pt x="28955" y="273304"/>
                  </a:lnTo>
                  <a:lnTo>
                    <a:pt x="7492" y="344424"/>
                  </a:lnTo>
                  <a:lnTo>
                    <a:pt x="0" y="419862"/>
                  </a:lnTo>
                  <a:lnTo>
                    <a:pt x="1904" y="458088"/>
                  </a:lnTo>
                  <a:lnTo>
                    <a:pt x="16509" y="531495"/>
                  </a:lnTo>
                  <a:lnTo>
                    <a:pt x="44576" y="599821"/>
                  </a:lnTo>
                  <a:lnTo>
                    <a:pt x="84581" y="662051"/>
                  </a:lnTo>
                  <a:lnTo>
                    <a:pt x="135508" y="716788"/>
                  </a:lnTo>
                  <a:lnTo>
                    <a:pt x="195833" y="762888"/>
                  </a:lnTo>
                  <a:lnTo>
                    <a:pt x="229107" y="782447"/>
                  </a:lnTo>
                  <a:lnTo>
                    <a:pt x="264286" y="799338"/>
                  </a:lnTo>
                  <a:lnTo>
                    <a:pt x="301116" y="813435"/>
                  </a:lnTo>
                  <a:lnTo>
                    <a:pt x="339597" y="824738"/>
                  </a:lnTo>
                  <a:lnTo>
                    <a:pt x="379348" y="832993"/>
                  </a:lnTo>
                  <a:lnTo>
                    <a:pt x="420369" y="837946"/>
                  </a:lnTo>
                  <a:lnTo>
                    <a:pt x="462533" y="839724"/>
                  </a:lnTo>
                  <a:lnTo>
                    <a:pt x="504570" y="837946"/>
                  </a:lnTo>
                  <a:lnTo>
                    <a:pt x="545591" y="832993"/>
                  </a:lnTo>
                  <a:lnTo>
                    <a:pt x="585469" y="824738"/>
                  </a:lnTo>
                  <a:lnTo>
                    <a:pt x="623823" y="813435"/>
                  </a:lnTo>
                  <a:lnTo>
                    <a:pt x="660780" y="799338"/>
                  </a:lnTo>
                  <a:lnTo>
                    <a:pt x="695832" y="782447"/>
                  </a:lnTo>
                  <a:lnTo>
                    <a:pt x="729233" y="762888"/>
                  </a:lnTo>
                  <a:lnTo>
                    <a:pt x="760476" y="740918"/>
                  </a:lnTo>
                  <a:lnTo>
                    <a:pt x="816228" y="690372"/>
                  </a:lnTo>
                  <a:lnTo>
                    <a:pt x="861821" y="631825"/>
                  </a:lnTo>
                  <a:lnTo>
                    <a:pt x="895984" y="566420"/>
                  </a:lnTo>
                  <a:lnTo>
                    <a:pt x="917447" y="495300"/>
                  </a:lnTo>
                  <a:lnTo>
                    <a:pt x="924940" y="419862"/>
                  </a:lnTo>
                  <a:lnTo>
                    <a:pt x="923035" y="381635"/>
                  </a:lnTo>
                  <a:lnTo>
                    <a:pt x="908430" y="308229"/>
                  </a:lnTo>
                  <a:lnTo>
                    <a:pt x="880363" y="239903"/>
                  </a:lnTo>
                  <a:lnTo>
                    <a:pt x="840358" y="177673"/>
                  </a:lnTo>
                  <a:lnTo>
                    <a:pt x="789431" y="122936"/>
                  </a:lnTo>
                  <a:lnTo>
                    <a:pt x="729233" y="76835"/>
                  </a:lnTo>
                  <a:lnTo>
                    <a:pt x="695832" y="57276"/>
                  </a:lnTo>
                  <a:lnTo>
                    <a:pt x="660780" y="40386"/>
                  </a:lnTo>
                  <a:lnTo>
                    <a:pt x="623823" y="26288"/>
                  </a:lnTo>
                  <a:lnTo>
                    <a:pt x="585469" y="14986"/>
                  </a:lnTo>
                  <a:lnTo>
                    <a:pt x="545591" y="6731"/>
                  </a:lnTo>
                  <a:lnTo>
                    <a:pt x="504570" y="1778"/>
                  </a:lnTo>
                  <a:lnTo>
                    <a:pt x="462533" y="0"/>
                  </a:lnTo>
                  <a:close/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6815328" y="2601467"/>
            <a:ext cx="280670" cy="255904"/>
          </a:xfrm>
          <a:prstGeom prst="rect">
            <a:avLst/>
          </a:prstGeom>
          <a:solidFill>
            <a:srgbClr val="5C9DAE"/>
          </a:solidFill>
        </p:spPr>
        <p:txBody>
          <a:bodyPr wrap="square" lIns="0" tIns="215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98894" y="1498091"/>
            <a:ext cx="3386454" cy="1370330"/>
            <a:chOff x="298894" y="1498091"/>
            <a:chExt cx="3386454" cy="1370330"/>
          </a:xfrm>
        </p:grpSpPr>
        <p:sp>
          <p:nvSpPr>
            <p:cNvPr id="52" name="object 52"/>
            <p:cNvSpPr/>
            <p:nvPr/>
          </p:nvSpPr>
          <p:spPr>
            <a:xfrm>
              <a:off x="774191" y="1498091"/>
              <a:ext cx="2910840" cy="1370330"/>
            </a:xfrm>
            <a:custGeom>
              <a:avLst/>
              <a:gdLst/>
              <a:ahLst/>
              <a:cxnLst/>
              <a:rect l="l" t="t" r="r" b="b"/>
              <a:pathLst>
                <a:path w="2910840" h="1370330">
                  <a:moveTo>
                    <a:pt x="2910839" y="0"/>
                  </a:moveTo>
                  <a:lnTo>
                    <a:pt x="0" y="0"/>
                  </a:lnTo>
                  <a:lnTo>
                    <a:pt x="0" y="1369822"/>
                  </a:lnTo>
                  <a:lnTo>
                    <a:pt x="2910839" y="1369822"/>
                  </a:lnTo>
                  <a:lnTo>
                    <a:pt x="291083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13181" y="1736597"/>
              <a:ext cx="925194" cy="841375"/>
            </a:xfrm>
            <a:custGeom>
              <a:avLst/>
              <a:gdLst/>
              <a:ahLst/>
              <a:cxnLst/>
              <a:rect l="l" t="t" r="r" b="b"/>
              <a:pathLst>
                <a:path w="925194" h="841375">
                  <a:moveTo>
                    <a:pt x="462483" y="0"/>
                  </a:moveTo>
                  <a:lnTo>
                    <a:pt x="420382" y="1777"/>
                  </a:lnTo>
                  <a:lnTo>
                    <a:pt x="379349" y="6730"/>
                  </a:lnTo>
                  <a:lnTo>
                    <a:pt x="339547" y="14986"/>
                  </a:lnTo>
                  <a:lnTo>
                    <a:pt x="301116" y="26288"/>
                  </a:lnTo>
                  <a:lnTo>
                    <a:pt x="264236" y="40512"/>
                  </a:lnTo>
                  <a:lnTo>
                    <a:pt x="229069" y="57403"/>
                  </a:lnTo>
                  <a:lnTo>
                    <a:pt x="195770" y="76962"/>
                  </a:lnTo>
                  <a:lnTo>
                    <a:pt x="164515" y="98932"/>
                  </a:lnTo>
                  <a:lnTo>
                    <a:pt x="108775" y="149605"/>
                  </a:lnTo>
                  <a:lnTo>
                    <a:pt x="63144" y="208279"/>
                  </a:lnTo>
                  <a:lnTo>
                    <a:pt x="28930" y="273812"/>
                  </a:lnTo>
                  <a:lnTo>
                    <a:pt x="7454" y="345059"/>
                  </a:lnTo>
                  <a:lnTo>
                    <a:pt x="0" y="420624"/>
                  </a:lnTo>
                  <a:lnTo>
                    <a:pt x="1892" y="458850"/>
                  </a:lnTo>
                  <a:lnTo>
                    <a:pt x="16522" y="532384"/>
                  </a:lnTo>
                  <a:lnTo>
                    <a:pt x="44526" y="600963"/>
                  </a:lnTo>
                  <a:lnTo>
                    <a:pt x="84620" y="663193"/>
                  </a:lnTo>
                  <a:lnTo>
                    <a:pt x="135470" y="718057"/>
                  </a:lnTo>
                  <a:lnTo>
                    <a:pt x="195770" y="764286"/>
                  </a:lnTo>
                  <a:lnTo>
                    <a:pt x="229069" y="783843"/>
                  </a:lnTo>
                  <a:lnTo>
                    <a:pt x="264236" y="800735"/>
                  </a:lnTo>
                  <a:lnTo>
                    <a:pt x="301116" y="814959"/>
                  </a:lnTo>
                  <a:lnTo>
                    <a:pt x="339547" y="826262"/>
                  </a:lnTo>
                  <a:lnTo>
                    <a:pt x="379349" y="834516"/>
                  </a:lnTo>
                  <a:lnTo>
                    <a:pt x="420382" y="839469"/>
                  </a:lnTo>
                  <a:lnTo>
                    <a:pt x="462483" y="841248"/>
                  </a:lnTo>
                  <a:lnTo>
                    <a:pt x="504571" y="839469"/>
                  </a:lnTo>
                  <a:lnTo>
                    <a:pt x="545604" y="834516"/>
                  </a:lnTo>
                  <a:lnTo>
                    <a:pt x="585419" y="826262"/>
                  </a:lnTo>
                  <a:lnTo>
                    <a:pt x="623836" y="814959"/>
                  </a:lnTo>
                  <a:lnTo>
                    <a:pt x="660717" y="800735"/>
                  </a:lnTo>
                  <a:lnTo>
                    <a:pt x="695883" y="783843"/>
                  </a:lnTo>
                  <a:lnTo>
                    <a:pt x="729183" y="764286"/>
                  </a:lnTo>
                  <a:lnTo>
                    <a:pt x="760437" y="742314"/>
                  </a:lnTo>
                  <a:lnTo>
                    <a:pt x="816178" y="691641"/>
                  </a:lnTo>
                  <a:lnTo>
                    <a:pt x="861809" y="632967"/>
                  </a:lnTo>
                  <a:lnTo>
                    <a:pt x="896023" y="567436"/>
                  </a:lnTo>
                  <a:lnTo>
                    <a:pt x="917511" y="496188"/>
                  </a:lnTo>
                  <a:lnTo>
                    <a:pt x="924953" y="420624"/>
                  </a:lnTo>
                  <a:lnTo>
                    <a:pt x="923061" y="382397"/>
                  </a:lnTo>
                  <a:lnTo>
                    <a:pt x="908431" y="308863"/>
                  </a:lnTo>
                  <a:lnTo>
                    <a:pt x="880427" y="240284"/>
                  </a:lnTo>
                  <a:lnTo>
                    <a:pt x="840346" y="178053"/>
                  </a:lnTo>
                  <a:lnTo>
                    <a:pt x="789495" y="123189"/>
                  </a:lnTo>
                  <a:lnTo>
                    <a:pt x="729183" y="76962"/>
                  </a:lnTo>
                  <a:lnTo>
                    <a:pt x="695883" y="57403"/>
                  </a:lnTo>
                  <a:lnTo>
                    <a:pt x="660717" y="40512"/>
                  </a:lnTo>
                  <a:lnTo>
                    <a:pt x="623836" y="26288"/>
                  </a:lnTo>
                  <a:lnTo>
                    <a:pt x="585419" y="14986"/>
                  </a:lnTo>
                  <a:lnTo>
                    <a:pt x="545604" y="6730"/>
                  </a:lnTo>
                  <a:lnTo>
                    <a:pt x="504571" y="1777"/>
                  </a:lnTo>
                  <a:lnTo>
                    <a:pt x="462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13181" y="1736597"/>
              <a:ext cx="925194" cy="841375"/>
            </a:xfrm>
            <a:custGeom>
              <a:avLst/>
              <a:gdLst/>
              <a:ahLst/>
              <a:cxnLst/>
              <a:rect l="l" t="t" r="r" b="b"/>
              <a:pathLst>
                <a:path w="925194" h="841375">
                  <a:moveTo>
                    <a:pt x="462483" y="0"/>
                  </a:moveTo>
                  <a:lnTo>
                    <a:pt x="420382" y="1777"/>
                  </a:lnTo>
                  <a:lnTo>
                    <a:pt x="379349" y="6730"/>
                  </a:lnTo>
                  <a:lnTo>
                    <a:pt x="339547" y="14986"/>
                  </a:lnTo>
                  <a:lnTo>
                    <a:pt x="301116" y="26288"/>
                  </a:lnTo>
                  <a:lnTo>
                    <a:pt x="264236" y="40512"/>
                  </a:lnTo>
                  <a:lnTo>
                    <a:pt x="229069" y="57403"/>
                  </a:lnTo>
                  <a:lnTo>
                    <a:pt x="195770" y="76962"/>
                  </a:lnTo>
                  <a:lnTo>
                    <a:pt x="164515" y="98932"/>
                  </a:lnTo>
                  <a:lnTo>
                    <a:pt x="108775" y="149605"/>
                  </a:lnTo>
                  <a:lnTo>
                    <a:pt x="63144" y="208279"/>
                  </a:lnTo>
                  <a:lnTo>
                    <a:pt x="28930" y="273812"/>
                  </a:lnTo>
                  <a:lnTo>
                    <a:pt x="7454" y="345059"/>
                  </a:lnTo>
                  <a:lnTo>
                    <a:pt x="0" y="420624"/>
                  </a:lnTo>
                  <a:lnTo>
                    <a:pt x="1892" y="458850"/>
                  </a:lnTo>
                  <a:lnTo>
                    <a:pt x="16522" y="532384"/>
                  </a:lnTo>
                  <a:lnTo>
                    <a:pt x="44526" y="600963"/>
                  </a:lnTo>
                  <a:lnTo>
                    <a:pt x="84620" y="663193"/>
                  </a:lnTo>
                  <a:lnTo>
                    <a:pt x="135470" y="718057"/>
                  </a:lnTo>
                  <a:lnTo>
                    <a:pt x="195770" y="764286"/>
                  </a:lnTo>
                  <a:lnTo>
                    <a:pt x="229069" y="783843"/>
                  </a:lnTo>
                  <a:lnTo>
                    <a:pt x="264236" y="800735"/>
                  </a:lnTo>
                  <a:lnTo>
                    <a:pt x="301116" y="814959"/>
                  </a:lnTo>
                  <a:lnTo>
                    <a:pt x="339547" y="826262"/>
                  </a:lnTo>
                  <a:lnTo>
                    <a:pt x="379349" y="834516"/>
                  </a:lnTo>
                  <a:lnTo>
                    <a:pt x="420382" y="839469"/>
                  </a:lnTo>
                  <a:lnTo>
                    <a:pt x="462483" y="841248"/>
                  </a:lnTo>
                  <a:lnTo>
                    <a:pt x="504571" y="839469"/>
                  </a:lnTo>
                  <a:lnTo>
                    <a:pt x="545604" y="834516"/>
                  </a:lnTo>
                  <a:lnTo>
                    <a:pt x="585419" y="826262"/>
                  </a:lnTo>
                  <a:lnTo>
                    <a:pt x="623836" y="814959"/>
                  </a:lnTo>
                  <a:lnTo>
                    <a:pt x="660717" y="800735"/>
                  </a:lnTo>
                  <a:lnTo>
                    <a:pt x="695883" y="783843"/>
                  </a:lnTo>
                  <a:lnTo>
                    <a:pt x="729183" y="764286"/>
                  </a:lnTo>
                  <a:lnTo>
                    <a:pt x="760437" y="742314"/>
                  </a:lnTo>
                  <a:lnTo>
                    <a:pt x="816178" y="691641"/>
                  </a:lnTo>
                  <a:lnTo>
                    <a:pt x="861809" y="632967"/>
                  </a:lnTo>
                  <a:lnTo>
                    <a:pt x="896023" y="567436"/>
                  </a:lnTo>
                  <a:lnTo>
                    <a:pt x="917511" y="496188"/>
                  </a:lnTo>
                  <a:lnTo>
                    <a:pt x="924953" y="420624"/>
                  </a:lnTo>
                  <a:lnTo>
                    <a:pt x="923061" y="382397"/>
                  </a:lnTo>
                  <a:lnTo>
                    <a:pt x="908431" y="308863"/>
                  </a:lnTo>
                  <a:lnTo>
                    <a:pt x="880427" y="240284"/>
                  </a:lnTo>
                  <a:lnTo>
                    <a:pt x="840346" y="178053"/>
                  </a:lnTo>
                  <a:lnTo>
                    <a:pt x="789495" y="123189"/>
                  </a:lnTo>
                  <a:lnTo>
                    <a:pt x="729183" y="76962"/>
                  </a:lnTo>
                  <a:lnTo>
                    <a:pt x="695883" y="57403"/>
                  </a:lnTo>
                  <a:lnTo>
                    <a:pt x="660717" y="40512"/>
                  </a:lnTo>
                  <a:lnTo>
                    <a:pt x="623836" y="26288"/>
                  </a:lnTo>
                  <a:lnTo>
                    <a:pt x="585419" y="14986"/>
                  </a:lnTo>
                  <a:lnTo>
                    <a:pt x="545604" y="6730"/>
                  </a:lnTo>
                  <a:lnTo>
                    <a:pt x="504571" y="1777"/>
                  </a:lnTo>
                  <a:lnTo>
                    <a:pt x="462483" y="0"/>
                  </a:lnTo>
                  <a:close/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774191" y="1590294"/>
            <a:ext cx="2910840" cy="9664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8864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FINANTIER:</a:t>
            </a:r>
            <a:r>
              <a:rPr dirty="0" sz="1400" spc="40" b="1">
                <a:latin typeface="Calibri"/>
                <a:cs typeface="Calibri"/>
              </a:rPr>
              <a:t> </a:t>
            </a:r>
            <a:r>
              <a:rPr dirty="0" sz="1400" spc="-40" i="1">
                <a:solidFill>
                  <a:srgbClr val="4D5154"/>
                </a:solidFill>
                <a:latin typeface="Calibri"/>
                <a:cs typeface="Calibri"/>
              </a:rPr>
              <a:t>Company</a:t>
            </a:r>
            <a:r>
              <a:rPr dirty="0" sz="1400" spc="-30" i="1">
                <a:solidFill>
                  <a:srgbClr val="4D5154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4D5154"/>
                </a:solidFill>
                <a:latin typeface="Calibri"/>
                <a:cs typeface="Calibri"/>
              </a:rPr>
              <a:t>solving</a:t>
            </a:r>
            <a:endParaRPr sz="1400">
              <a:latin typeface="Calibri"/>
              <a:cs typeface="Calibri"/>
            </a:endParaRPr>
          </a:p>
          <a:p>
            <a:pPr marL="565785">
              <a:lnSpc>
                <a:spcPct val="100000"/>
              </a:lnSpc>
              <a:tabLst>
                <a:tab pos="2816860" algn="l"/>
              </a:tabLst>
            </a:pPr>
            <a:r>
              <a:rPr dirty="0" u="sng" sz="1400" spc="-95" i="1">
                <a:solidFill>
                  <a:srgbClr val="4D5154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40" i="1">
                <a:solidFill>
                  <a:srgbClr val="4D5154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business</a:t>
            </a:r>
            <a:r>
              <a:rPr dirty="0" u="sng" sz="1400" i="1">
                <a:solidFill>
                  <a:srgbClr val="4D5154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20" i="1">
                <a:solidFill>
                  <a:srgbClr val="4D5154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problems</a:t>
            </a:r>
            <a:r>
              <a:rPr dirty="0" u="sng" sz="1400" spc="-5" i="1">
                <a:solidFill>
                  <a:srgbClr val="4D5154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25" i="1">
                <a:solidFill>
                  <a:srgbClr val="4D5154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via</a:t>
            </a:r>
            <a:r>
              <a:rPr dirty="0" u="sng" sz="1400" spc="-45" i="1">
                <a:solidFill>
                  <a:srgbClr val="4D5154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20" i="1">
                <a:solidFill>
                  <a:srgbClr val="4D5154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Tech</a:t>
            </a:r>
            <a:r>
              <a:rPr dirty="0" u="sng" sz="1400" i="1">
                <a:solidFill>
                  <a:srgbClr val="4D5154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	</a:t>
            </a:r>
            <a:endParaRPr sz="1400">
              <a:latin typeface="Calibri"/>
              <a:cs typeface="Calibri"/>
            </a:endParaRPr>
          </a:p>
          <a:p>
            <a:pPr marL="594360" marR="369570">
              <a:lnSpc>
                <a:spcPct val="100000"/>
              </a:lnSpc>
              <a:spcBef>
                <a:spcPts val="1160"/>
              </a:spcBef>
            </a:pP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step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solution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 spc="-10">
                <a:latin typeface="Calibri"/>
                <a:cs typeface="Calibri"/>
              </a:rPr>
              <a:t>Automation,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Scoring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55852" y="2531109"/>
            <a:ext cx="1315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Account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Aggregation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49580" y="1975104"/>
            <a:ext cx="707390" cy="365760"/>
            <a:chOff x="449580" y="1975104"/>
            <a:chExt cx="707390" cy="365760"/>
          </a:xfrm>
        </p:grpSpPr>
        <p:pic>
          <p:nvPicPr>
            <p:cNvPr id="58" name="object 58" descr="A blue and black logo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580" y="1975104"/>
              <a:ext cx="178308" cy="36576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560" y="2089404"/>
              <a:ext cx="486156" cy="131063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4184903" y="1583182"/>
            <a:ext cx="2910840" cy="9664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84200" marR="187960">
              <a:lnSpc>
                <a:spcPct val="100000"/>
              </a:lnSpc>
              <a:spcBef>
                <a:spcPts val="105"/>
              </a:spcBef>
              <a:tabLst>
                <a:tab pos="2714625" algn="l"/>
              </a:tabLst>
            </a:pPr>
            <a:r>
              <a:rPr dirty="0" sz="1400" spc="-25" b="1">
                <a:latin typeface="Calibri"/>
                <a:cs typeface="Calibri"/>
              </a:rPr>
              <a:t>AYOCONNECT:</a:t>
            </a:r>
            <a:r>
              <a:rPr dirty="0" sz="1400" spc="20" b="1"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4D5154"/>
                </a:solidFill>
                <a:latin typeface="Calibri"/>
                <a:cs typeface="Calibri"/>
              </a:rPr>
              <a:t>Company </a:t>
            </a:r>
            <a:r>
              <a:rPr dirty="0" u="sng" sz="1400" spc="-30" i="1">
                <a:solidFill>
                  <a:srgbClr val="4D5154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aiding</a:t>
            </a:r>
            <a:r>
              <a:rPr dirty="0" u="sng" sz="1400" spc="-40" i="1">
                <a:solidFill>
                  <a:srgbClr val="4D5154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25" i="1">
                <a:solidFill>
                  <a:srgbClr val="4D5154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Loan</a:t>
            </a:r>
            <a:r>
              <a:rPr dirty="0" u="sng" sz="1400" spc="-50" i="1">
                <a:solidFill>
                  <a:srgbClr val="4D5154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i="1">
                <a:solidFill>
                  <a:srgbClr val="4D5154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Disbursement</a:t>
            </a:r>
            <a:r>
              <a:rPr dirty="0" u="sng" sz="1400" i="1">
                <a:solidFill>
                  <a:srgbClr val="4D5154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400">
              <a:latin typeface="Calibri"/>
              <a:cs typeface="Calibri"/>
            </a:endParaRPr>
          </a:p>
          <a:p>
            <a:pPr marL="589280" marR="632460">
              <a:lnSpc>
                <a:spcPct val="100000"/>
              </a:lnSpc>
              <a:spcBef>
                <a:spcPts val="1160"/>
              </a:spcBef>
            </a:pPr>
            <a:r>
              <a:rPr dirty="0" sz="1200" spc="-10">
                <a:latin typeface="Calibri"/>
                <a:cs typeface="Calibri"/>
              </a:rPr>
              <a:t>Integral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Payment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Layer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Credilink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761991" y="2524125"/>
            <a:ext cx="7473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Mechanism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348739" y="1917242"/>
            <a:ext cx="3100070" cy="485140"/>
            <a:chOff x="1348739" y="1917242"/>
            <a:chExt cx="3100070" cy="485140"/>
          </a:xfrm>
        </p:grpSpPr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9539" y="1917242"/>
              <a:ext cx="509015" cy="48508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348739" y="2019300"/>
              <a:ext cx="2256155" cy="0"/>
            </a:xfrm>
            <a:custGeom>
              <a:avLst/>
              <a:gdLst/>
              <a:ahLst/>
              <a:cxnLst/>
              <a:rect l="l" t="t" r="r" b="b"/>
              <a:pathLst>
                <a:path w="2256154" h="0">
                  <a:moveTo>
                    <a:pt x="0" y="0"/>
                  </a:moveTo>
                  <a:lnTo>
                    <a:pt x="225590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3400044" y="2601467"/>
            <a:ext cx="285115" cy="266700"/>
          </a:xfrm>
          <a:prstGeom prst="rect">
            <a:avLst/>
          </a:prstGeom>
          <a:solidFill>
            <a:srgbClr val="5C9DAE"/>
          </a:solidFill>
        </p:spPr>
        <p:txBody>
          <a:bodyPr wrap="square" lIns="0" tIns="2222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75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156961" y="6564883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138796" y="6564883"/>
            <a:ext cx="1794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04317" y="6336284"/>
            <a:ext cx="1002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Team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Analysis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3" name="object 73"/>
          <p:cNvGrpSpPr/>
          <p:nvPr/>
        </p:nvGrpSpPr>
        <p:grpSpPr>
          <a:xfrm>
            <a:off x="7257288" y="1417319"/>
            <a:ext cx="3845560" cy="1724025"/>
            <a:chOff x="7257288" y="1417319"/>
            <a:chExt cx="3845560" cy="1724025"/>
          </a:xfrm>
        </p:grpSpPr>
        <p:pic>
          <p:nvPicPr>
            <p:cNvPr id="74" name="object 74" descr="UNESCO and Sustainable Development Goals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7549" y="1426696"/>
              <a:ext cx="3432516" cy="1669254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568184" y="1417319"/>
              <a:ext cx="3534410" cy="1724025"/>
            </a:xfrm>
            <a:custGeom>
              <a:avLst/>
              <a:gdLst/>
              <a:ahLst/>
              <a:cxnLst/>
              <a:rect l="l" t="t" r="r" b="b"/>
              <a:pathLst>
                <a:path w="3534409" h="1724025">
                  <a:moveTo>
                    <a:pt x="659892" y="568452"/>
                  </a:moveTo>
                  <a:lnTo>
                    <a:pt x="0" y="568452"/>
                  </a:lnTo>
                  <a:lnTo>
                    <a:pt x="0" y="1104900"/>
                  </a:lnTo>
                  <a:lnTo>
                    <a:pt x="659892" y="1104900"/>
                  </a:lnTo>
                  <a:lnTo>
                    <a:pt x="659892" y="568452"/>
                  </a:lnTo>
                  <a:close/>
                </a:path>
                <a:path w="3534409" h="1724025">
                  <a:moveTo>
                    <a:pt x="1783080" y="1146048"/>
                  </a:moveTo>
                  <a:lnTo>
                    <a:pt x="62484" y="1146048"/>
                  </a:lnTo>
                  <a:lnTo>
                    <a:pt x="62484" y="1723644"/>
                  </a:lnTo>
                  <a:lnTo>
                    <a:pt x="1783080" y="1723644"/>
                  </a:lnTo>
                  <a:lnTo>
                    <a:pt x="1783080" y="1146048"/>
                  </a:lnTo>
                  <a:close/>
                </a:path>
                <a:path w="3534409" h="1724025">
                  <a:moveTo>
                    <a:pt x="3534143" y="583692"/>
                  </a:moveTo>
                  <a:lnTo>
                    <a:pt x="2401824" y="583692"/>
                  </a:lnTo>
                  <a:lnTo>
                    <a:pt x="2401824" y="1103376"/>
                  </a:lnTo>
                  <a:lnTo>
                    <a:pt x="3534143" y="1103376"/>
                  </a:lnTo>
                  <a:lnTo>
                    <a:pt x="3534143" y="583692"/>
                  </a:lnTo>
                  <a:close/>
                </a:path>
                <a:path w="3534409" h="1724025">
                  <a:moveTo>
                    <a:pt x="3534143" y="0"/>
                  </a:moveTo>
                  <a:lnTo>
                    <a:pt x="71628" y="0"/>
                  </a:lnTo>
                  <a:lnTo>
                    <a:pt x="71628" y="536448"/>
                  </a:lnTo>
                  <a:lnTo>
                    <a:pt x="3534143" y="536448"/>
                  </a:lnTo>
                  <a:lnTo>
                    <a:pt x="3534143" y="0"/>
                  </a:lnTo>
                  <a:close/>
                </a:path>
              </a:pathLst>
            </a:custGeom>
            <a:solidFill>
              <a:srgbClr val="FFFFFF">
                <a:alpha val="74116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57288" y="2106168"/>
              <a:ext cx="272795" cy="225552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7659751" y="1034618"/>
            <a:ext cx="340550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...Impact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creation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through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Fulfillment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of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SDGs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9872" y="912875"/>
            <a:ext cx="5282565" cy="561340"/>
          </a:xfrm>
          <a:custGeom>
            <a:avLst/>
            <a:gdLst/>
            <a:ahLst/>
            <a:cxnLst/>
            <a:rect l="l" t="t" r="r" b="b"/>
            <a:pathLst>
              <a:path w="5282565" h="561340">
                <a:moveTo>
                  <a:pt x="5282184" y="0"/>
                </a:moveTo>
                <a:lnTo>
                  <a:pt x="0" y="0"/>
                </a:lnTo>
                <a:lnTo>
                  <a:pt x="0" y="560832"/>
                </a:lnTo>
                <a:lnTo>
                  <a:pt x="5282184" y="560832"/>
                </a:lnTo>
                <a:lnTo>
                  <a:pt x="5282184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96405" y="1085850"/>
            <a:ext cx="76200" cy="5201920"/>
          </a:xfrm>
          <a:custGeom>
            <a:avLst/>
            <a:gdLst/>
            <a:ahLst/>
            <a:cxnLst/>
            <a:rect l="l" t="t" r="r" b="b"/>
            <a:pathLst>
              <a:path w="76200" h="5201920">
                <a:moveTo>
                  <a:pt x="28575" y="74282"/>
                </a:moveTo>
                <a:lnTo>
                  <a:pt x="28575" y="114300"/>
                </a:lnTo>
                <a:lnTo>
                  <a:pt x="47625" y="114300"/>
                </a:lnTo>
                <a:lnTo>
                  <a:pt x="47625" y="76200"/>
                </a:lnTo>
                <a:lnTo>
                  <a:pt x="38100" y="76200"/>
                </a:lnTo>
                <a:lnTo>
                  <a:pt x="28575" y="74282"/>
                </a:lnTo>
                <a:close/>
              </a:path>
              <a:path w="76200" h="5201920">
                <a:moveTo>
                  <a:pt x="47625" y="38100"/>
                </a:moveTo>
                <a:lnTo>
                  <a:pt x="28575" y="38100"/>
                </a:lnTo>
                <a:lnTo>
                  <a:pt x="28575" y="74282"/>
                </a:lnTo>
                <a:lnTo>
                  <a:pt x="38100" y="76200"/>
                </a:lnTo>
                <a:lnTo>
                  <a:pt x="47625" y="74282"/>
                </a:lnTo>
                <a:lnTo>
                  <a:pt x="47625" y="38100"/>
                </a:lnTo>
                <a:close/>
              </a:path>
              <a:path w="76200" h="5201920">
                <a:moveTo>
                  <a:pt x="47625" y="74282"/>
                </a:moveTo>
                <a:lnTo>
                  <a:pt x="38100" y="76200"/>
                </a:lnTo>
                <a:lnTo>
                  <a:pt x="47625" y="76200"/>
                </a:lnTo>
                <a:lnTo>
                  <a:pt x="47625" y="74282"/>
                </a:lnTo>
                <a:close/>
              </a:path>
              <a:path w="76200" h="520192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28575" y="74282"/>
                </a:lnTo>
                <a:lnTo>
                  <a:pt x="28575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76200" h="5201920">
                <a:moveTo>
                  <a:pt x="76200" y="38100"/>
                </a:moveTo>
                <a:lnTo>
                  <a:pt x="47625" y="38100"/>
                </a:lnTo>
                <a:lnTo>
                  <a:pt x="47625" y="74282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  <a:path w="76200" h="5201920">
                <a:moveTo>
                  <a:pt x="47625" y="171450"/>
                </a:moveTo>
                <a:lnTo>
                  <a:pt x="28575" y="171450"/>
                </a:lnTo>
                <a:lnTo>
                  <a:pt x="28575" y="247650"/>
                </a:lnTo>
                <a:lnTo>
                  <a:pt x="47625" y="247650"/>
                </a:lnTo>
                <a:lnTo>
                  <a:pt x="47625" y="171450"/>
                </a:lnTo>
                <a:close/>
              </a:path>
              <a:path w="76200" h="5201920">
                <a:moveTo>
                  <a:pt x="47625" y="304800"/>
                </a:moveTo>
                <a:lnTo>
                  <a:pt x="28575" y="304800"/>
                </a:lnTo>
                <a:lnTo>
                  <a:pt x="28575" y="381000"/>
                </a:lnTo>
                <a:lnTo>
                  <a:pt x="47625" y="381000"/>
                </a:lnTo>
                <a:lnTo>
                  <a:pt x="47625" y="304800"/>
                </a:lnTo>
                <a:close/>
              </a:path>
              <a:path w="76200" h="5201920">
                <a:moveTo>
                  <a:pt x="47625" y="438150"/>
                </a:moveTo>
                <a:lnTo>
                  <a:pt x="28575" y="438150"/>
                </a:lnTo>
                <a:lnTo>
                  <a:pt x="28575" y="514350"/>
                </a:lnTo>
                <a:lnTo>
                  <a:pt x="47625" y="514350"/>
                </a:lnTo>
                <a:lnTo>
                  <a:pt x="47625" y="438150"/>
                </a:lnTo>
                <a:close/>
              </a:path>
              <a:path w="76200" h="5201920">
                <a:moveTo>
                  <a:pt x="47625" y="571500"/>
                </a:moveTo>
                <a:lnTo>
                  <a:pt x="28575" y="571500"/>
                </a:lnTo>
                <a:lnTo>
                  <a:pt x="28575" y="647700"/>
                </a:lnTo>
                <a:lnTo>
                  <a:pt x="47625" y="647700"/>
                </a:lnTo>
                <a:lnTo>
                  <a:pt x="47625" y="571500"/>
                </a:lnTo>
                <a:close/>
              </a:path>
              <a:path w="76200" h="5201920">
                <a:moveTo>
                  <a:pt x="47625" y="704850"/>
                </a:moveTo>
                <a:lnTo>
                  <a:pt x="28575" y="704850"/>
                </a:lnTo>
                <a:lnTo>
                  <a:pt x="28575" y="781050"/>
                </a:lnTo>
                <a:lnTo>
                  <a:pt x="47625" y="781050"/>
                </a:lnTo>
                <a:lnTo>
                  <a:pt x="47625" y="704850"/>
                </a:lnTo>
                <a:close/>
              </a:path>
              <a:path w="76200" h="5201920">
                <a:moveTo>
                  <a:pt x="47625" y="838200"/>
                </a:moveTo>
                <a:lnTo>
                  <a:pt x="28575" y="838200"/>
                </a:lnTo>
                <a:lnTo>
                  <a:pt x="28575" y="914400"/>
                </a:lnTo>
                <a:lnTo>
                  <a:pt x="47625" y="914400"/>
                </a:lnTo>
                <a:lnTo>
                  <a:pt x="47625" y="838200"/>
                </a:lnTo>
                <a:close/>
              </a:path>
              <a:path w="76200" h="5201920">
                <a:moveTo>
                  <a:pt x="47625" y="971550"/>
                </a:moveTo>
                <a:lnTo>
                  <a:pt x="28575" y="971550"/>
                </a:lnTo>
                <a:lnTo>
                  <a:pt x="28575" y="1047750"/>
                </a:lnTo>
                <a:lnTo>
                  <a:pt x="47625" y="1047750"/>
                </a:lnTo>
                <a:lnTo>
                  <a:pt x="47625" y="971550"/>
                </a:lnTo>
                <a:close/>
              </a:path>
              <a:path w="76200" h="5201920">
                <a:moveTo>
                  <a:pt x="47625" y="1104900"/>
                </a:moveTo>
                <a:lnTo>
                  <a:pt x="28575" y="1104900"/>
                </a:lnTo>
                <a:lnTo>
                  <a:pt x="28575" y="1181100"/>
                </a:lnTo>
                <a:lnTo>
                  <a:pt x="47625" y="1181100"/>
                </a:lnTo>
                <a:lnTo>
                  <a:pt x="47625" y="1104900"/>
                </a:lnTo>
                <a:close/>
              </a:path>
              <a:path w="76200" h="5201920">
                <a:moveTo>
                  <a:pt x="47625" y="1238250"/>
                </a:moveTo>
                <a:lnTo>
                  <a:pt x="28575" y="1238250"/>
                </a:lnTo>
                <a:lnTo>
                  <a:pt x="28575" y="1314450"/>
                </a:lnTo>
                <a:lnTo>
                  <a:pt x="47625" y="1314450"/>
                </a:lnTo>
                <a:lnTo>
                  <a:pt x="47625" y="1238250"/>
                </a:lnTo>
                <a:close/>
              </a:path>
              <a:path w="76200" h="5201920">
                <a:moveTo>
                  <a:pt x="47625" y="1371600"/>
                </a:moveTo>
                <a:lnTo>
                  <a:pt x="28575" y="1371600"/>
                </a:lnTo>
                <a:lnTo>
                  <a:pt x="28575" y="1447800"/>
                </a:lnTo>
                <a:lnTo>
                  <a:pt x="47625" y="1447800"/>
                </a:lnTo>
                <a:lnTo>
                  <a:pt x="47625" y="1371600"/>
                </a:lnTo>
                <a:close/>
              </a:path>
              <a:path w="76200" h="5201920">
                <a:moveTo>
                  <a:pt x="47625" y="1504950"/>
                </a:moveTo>
                <a:lnTo>
                  <a:pt x="28575" y="1504950"/>
                </a:lnTo>
                <a:lnTo>
                  <a:pt x="28575" y="1581150"/>
                </a:lnTo>
                <a:lnTo>
                  <a:pt x="47625" y="1581150"/>
                </a:lnTo>
                <a:lnTo>
                  <a:pt x="47625" y="1504950"/>
                </a:lnTo>
                <a:close/>
              </a:path>
              <a:path w="76200" h="5201920">
                <a:moveTo>
                  <a:pt x="47625" y="1638300"/>
                </a:moveTo>
                <a:lnTo>
                  <a:pt x="28575" y="1638300"/>
                </a:lnTo>
                <a:lnTo>
                  <a:pt x="28575" y="1714500"/>
                </a:lnTo>
                <a:lnTo>
                  <a:pt x="47625" y="1714500"/>
                </a:lnTo>
                <a:lnTo>
                  <a:pt x="47625" y="1638300"/>
                </a:lnTo>
                <a:close/>
              </a:path>
              <a:path w="76200" h="5201920">
                <a:moveTo>
                  <a:pt x="47625" y="1771650"/>
                </a:moveTo>
                <a:lnTo>
                  <a:pt x="28575" y="1771650"/>
                </a:lnTo>
                <a:lnTo>
                  <a:pt x="28575" y="1847850"/>
                </a:lnTo>
                <a:lnTo>
                  <a:pt x="47625" y="1847850"/>
                </a:lnTo>
                <a:lnTo>
                  <a:pt x="47625" y="1771650"/>
                </a:lnTo>
                <a:close/>
              </a:path>
              <a:path w="76200" h="5201920">
                <a:moveTo>
                  <a:pt x="47625" y="1905000"/>
                </a:moveTo>
                <a:lnTo>
                  <a:pt x="28575" y="1905000"/>
                </a:lnTo>
                <a:lnTo>
                  <a:pt x="28575" y="1981200"/>
                </a:lnTo>
                <a:lnTo>
                  <a:pt x="47625" y="1981200"/>
                </a:lnTo>
                <a:lnTo>
                  <a:pt x="47625" y="1905000"/>
                </a:lnTo>
                <a:close/>
              </a:path>
              <a:path w="76200" h="5201920">
                <a:moveTo>
                  <a:pt x="47625" y="2038350"/>
                </a:moveTo>
                <a:lnTo>
                  <a:pt x="28575" y="2038350"/>
                </a:lnTo>
                <a:lnTo>
                  <a:pt x="28575" y="2114550"/>
                </a:lnTo>
                <a:lnTo>
                  <a:pt x="47625" y="2114550"/>
                </a:lnTo>
                <a:lnTo>
                  <a:pt x="47625" y="2038350"/>
                </a:lnTo>
                <a:close/>
              </a:path>
              <a:path w="76200" h="5201920">
                <a:moveTo>
                  <a:pt x="47625" y="2171700"/>
                </a:moveTo>
                <a:lnTo>
                  <a:pt x="28575" y="2171700"/>
                </a:lnTo>
                <a:lnTo>
                  <a:pt x="28575" y="2247900"/>
                </a:lnTo>
                <a:lnTo>
                  <a:pt x="47625" y="2247900"/>
                </a:lnTo>
                <a:lnTo>
                  <a:pt x="47625" y="2171700"/>
                </a:lnTo>
                <a:close/>
              </a:path>
              <a:path w="76200" h="5201920">
                <a:moveTo>
                  <a:pt x="47625" y="2305050"/>
                </a:moveTo>
                <a:lnTo>
                  <a:pt x="28575" y="2305050"/>
                </a:lnTo>
                <a:lnTo>
                  <a:pt x="28575" y="2381250"/>
                </a:lnTo>
                <a:lnTo>
                  <a:pt x="47625" y="2381250"/>
                </a:lnTo>
                <a:lnTo>
                  <a:pt x="47625" y="2305050"/>
                </a:lnTo>
                <a:close/>
              </a:path>
              <a:path w="76200" h="5201920">
                <a:moveTo>
                  <a:pt x="47625" y="2438400"/>
                </a:moveTo>
                <a:lnTo>
                  <a:pt x="28575" y="2438400"/>
                </a:lnTo>
                <a:lnTo>
                  <a:pt x="28575" y="2514600"/>
                </a:lnTo>
                <a:lnTo>
                  <a:pt x="47625" y="2514600"/>
                </a:lnTo>
                <a:lnTo>
                  <a:pt x="47625" y="2438400"/>
                </a:lnTo>
                <a:close/>
              </a:path>
              <a:path w="76200" h="5201920">
                <a:moveTo>
                  <a:pt x="47625" y="2571750"/>
                </a:moveTo>
                <a:lnTo>
                  <a:pt x="28575" y="2571750"/>
                </a:lnTo>
                <a:lnTo>
                  <a:pt x="28575" y="2647950"/>
                </a:lnTo>
                <a:lnTo>
                  <a:pt x="47625" y="2647950"/>
                </a:lnTo>
                <a:lnTo>
                  <a:pt x="47625" y="2571750"/>
                </a:lnTo>
                <a:close/>
              </a:path>
              <a:path w="76200" h="5201920">
                <a:moveTo>
                  <a:pt x="47625" y="2705100"/>
                </a:moveTo>
                <a:lnTo>
                  <a:pt x="28575" y="2705100"/>
                </a:lnTo>
                <a:lnTo>
                  <a:pt x="28575" y="2781300"/>
                </a:lnTo>
                <a:lnTo>
                  <a:pt x="47625" y="2781300"/>
                </a:lnTo>
                <a:lnTo>
                  <a:pt x="47625" y="2705100"/>
                </a:lnTo>
                <a:close/>
              </a:path>
              <a:path w="76200" h="5201920">
                <a:moveTo>
                  <a:pt x="47625" y="2838450"/>
                </a:moveTo>
                <a:lnTo>
                  <a:pt x="28575" y="2838450"/>
                </a:lnTo>
                <a:lnTo>
                  <a:pt x="28575" y="2914650"/>
                </a:lnTo>
                <a:lnTo>
                  <a:pt x="47625" y="2914650"/>
                </a:lnTo>
                <a:lnTo>
                  <a:pt x="47625" y="2838450"/>
                </a:lnTo>
                <a:close/>
              </a:path>
              <a:path w="76200" h="5201920">
                <a:moveTo>
                  <a:pt x="47625" y="2971800"/>
                </a:moveTo>
                <a:lnTo>
                  <a:pt x="28575" y="2971800"/>
                </a:lnTo>
                <a:lnTo>
                  <a:pt x="28575" y="3048000"/>
                </a:lnTo>
                <a:lnTo>
                  <a:pt x="47625" y="3048000"/>
                </a:lnTo>
                <a:lnTo>
                  <a:pt x="47625" y="2971800"/>
                </a:lnTo>
                <a:close/>
              </a:path>
              <a:path w="76200" h="5201920">
                <a:moveTo>
                  <a:pt x="47625" y="3105150"/>
                </a:moveTo>
                <a:lnTo>
                  <a:pt x="28575" y="3105150"/>
                </a:lnTo>
                <a:lnTo>
                  <a:pt x="28575" y="3181350"/>
                </a:lnTo>
                <a:lnTo>
                  <a:pt x="47625" y="3181350"/>
                </a:lnTo>
                <a:lnTo>
                  <a:pt x="47625" y="3105150"/>
                </a:lnTo>
                <a:close/>
              </a:path>
              <a:path w="76200" h="5201920">
                <a:moveTo>
                  <a:pt x="47625" y="3238500"/>
                </a:moveTo>
                <a:lnTo>
                  <a:pt x="28575" y="3238500"/>
                </a:lnTo>
                <a:lnTo>
                  <a:pt x="28575" y="3314700"/>
                </a:lnTo>
                <a:lnTo>
                  <a:pt x="47625" y="3314700"/>
                </a:lnTo>
                <a:lnTo>
                  <a:pt x="47625" y="3238500"/>
                </a:lnTo>
                <a:close/>
              </a:path>
              <a:path w="76200" h="5201920">
                <a:moveTo>
                  <a:pt x="47625" y="3371850"/>
                </a:moveTo>
                <a:lnTo>
                  <a:pt x="28575" y="3371850"/>
                </a:lnTo>
                <a:lnTo>
                  <a:pt x="28575" y="3448050"/>
                </a:lnTo>
                <a:lnTo>
                  <a:pt x="47625" y="3448050"/>
                </a:lnTo>
                <a:lnTo>
                  <a:pt x="47625" y="3371850"/>
                </a:lnTo>
                <a:close/>
              </a:path>
              <a:path w="76200" h="5201920">
                <a:moveTo>
                  <a:pt x="47625" y="3505200"/>
                </a:moveTo>
                <a:lnTo>
                  <a:pt x="28575" y="3505200"/>
                </a:lnTo>
                <a:lnTo>
                  <a:pt x="28575" y="3581400"/>
                </a:lnTo>
                <a:lnTo>
                  <a:pt x="47625" y="3581400"/>
                </a:lnTo>
                <a:lnTo>
                  <a:pt x="47625" y="3505200"/>
                </a:lnTo>
                <a:close/>
              </a:path>
              <a:path w="76200" h="5201920">
                <a:moveTo>
                  <a:pt x="47625" y="3638550"/>
                </a:moveTo>
                <a:lnTo>
                  <a:pt x="28575" y="3638550"/>
                </a:lnTo>
                <a:lnTo>
                  <a:pt x="28575" y="3714750"/>
                </a:lnTo>
                <a:lnTo>
                  <a:pt x="47625" y="3714750"/>
                </a:lnTo>
                <a:lnTo>
                  <a:pt x="47625" y="3638550"/>
                </a:lnTo>
                <a:close/>
              </a:path>
              <a:path w="76200" h="5201920">
                <a:moveTo>
                  <a:pt x="47625" y="3771900"/>
                </a:moveTo>
                <a:lnTo>
                  <a:pt x="28575" y="3771900"/>
                </a:lnTo>
                <a:lnTo>
                  <a:pt x="28575" y="3848100"/>
                </a:lnTo>
                <a:lnTo>
                  <a:pt x="47625" y="3848100"/>
                </a:lnTo>
                <a:lnTo>
                  <a:pt x="47625" y="3771900"/>
                </a:lnTo>
                <a:close/>
              </a:path>
              <a:path w="76200" h="5201920">
                <a:moveTo>
                  <a:pt x="47625" y="3905250"/>
                </a:moveTo>
                <a:lnTo>
                  <a:pt x="28575" y="3905250"/>
                </a:lnTo>
                <a:lnTo>
                  <a:pt x="28575" y="3981450"/>
                </a:lnTo>
                <a:lnTo>
                  <a:pt x="47625" y="3981450"/>
                </a:lnTo>
                <a:lnTo>
                  <a:pt x="47625" y="3905250"/>
                </a:lnTo>
                <a:close/>
              </a:path>
              <a:path w="76200" h="5201920">
                <a:moveTo>
                  <a:pt x="47625" y="4038600"/>
                </a:moveTo>
                <a:lnTo>
                  <a:pt x="28575" y="4038600"/>
                </a:lnTo>
                <a:lnTo>
                  <a:pt x="28575" y="4114800"/>
                </a:lnTo>
                <a:lnTo>
                  <a:pt x="47625" y="4114800"/>
                </a:lnTo>
                <a:lnTo>
                  <a:pt x="47625" y="4038600"/>
                </a:lnTo>
                <a:close/>
              </a:path>
              <a:path w="76200" h="5201920">
                <a:moveTo>
                  <a:pt x="47625" y="4171950"/>
                </a:moveTo>
                <a:lnTo>
                  <a:pt x="28575" y="4171950"/>
                </a:lnTo>
                <a:lnTo>
                  <a:pt x="28575" y="4248150"/>
                </a:lnTo>
                <a:lnTo>
                  <a:pt x="47625" y="4248150"/>
                </a:lnTo>
                <a:lnTo>
                  <a:pt x="47625" y="4171950"/>
                </a:lnTo>
                <a:close/>
              </a:path>
              <a:path w="76200" h="5201920">
                <a:moveTo>
                  <a:pt x="47625" y="4305300"/>
                </a:moveTo>
                <a:lnTo>
                  <a:pt x="28575" y="4305300"/>
                </a:lnTo>
                <a:lnTo>
                  <a:pt x="28575" y="4381500"/>
                </a:lnTo>
                <a:lnTo>
                  <a:pt x="47625" y="4381500"/>
                </a:lnTo>
                <a:lnTo>
                  <a:pt x="47625" y="4305300"/>
                </a:lnTo>
                <a:close/>
              </a:path>
              <a:path w="76200" h="5201920">
                <a:moveTo>
                  <a:pt x="47625" y="4438650"/>
                </a:moveTo>
                <a:lnTo>
                  <a:pt x="28575" y="4438650"/>
                </a:lnTo>
                <a:lnTo>
                  <a:pt x="28575" y="4514850"/>
                </a:lnTo>
                <a:lnTo>
                  <a:pt x="47625" y="4514850"/>
                </a:lnTo>
                <a:lnTo>
                  <a:pt x="47625" y="4438650"/>
                </a:lnTo>
                <a:close/>
              </a:path>
              <a:path w="76200" h="5201920">
                <a:moveTo>
                  <a:pt x="47625" y="4572000"/>
                </a:moveTo>
                <a:lnTo>
                  <a:pt x="28575" y="4572000"/>
                </a:lnTo>
                <a:lnTo>
                  <a:pt x="28575" y="4648200"/>
                </a:lnTo>
                <a:lnTo>
                  <a:pt x="47625" y="4648200"/>
                </a:lnTo>
                <a:lnTo>
                  <a:pt x="47625" y="4572000"/>
                </a:lnTo>
                <a:close/>
              </a:path>
              <a:path w="76200" h="5201920">
                <a:moveTo>
                  <a:pt x="47625" y="4705350"/>
                </a:moveTo>
                <a:lnTo>
                  <a:pt x="28575" y="4705350"/>
                </a:lnTo>
                <a:lnTo>
                  <a:pt x="28575" y="4781550"/>
                </a:lnTo>
                <a:lnTo>
                  <a:pt x="47625" y="4781550"/>
                </a:lnTo>
                <a:lnTo>
                  <a:pt x="47625" y="4705350"/>
                </a:lnTo>
                <a:close/>
              </a:path>
              <a:path w="76200" h="5201920">
                <a:moveTo>
                  <a:pt x="47625" y="4838700"/>
                </a:moveTo>
                <a:lnTo>
                  <a:pt x="28575" y="4838700"/>
                </a:lnTo>
                <a:lnTo>
                  <a:pt x="28575" y="4914900"/>
                </a:lnTo>
                <a:lnTo>
                  <a:pt x="47625" y="4914900"/>
                </a:lnTo>
                <a:lnTo>
                  <a:pt x="47625" y="4838700"/>
                </a:lnTo>
                <a:close/>
              </a:path>
              <a:path w="76200" h="5201920">
                <a:moveTo>
                  <a:pt x="47625" y="4972050"/>
                </a:moveTo>
                <a:lnTo>
                  <a:pt x="28575" y="4972050"/>
                </a:lnTo>
                <a:lnTo>
                  <a:pt x="28575" y="5048250"/>
                </a:lnTo>
                <a:lnTo>
                  <a:pt x="47625" y="5048250"/>
                </a:lnTo>
                <a:lnTo>
                  <a:pt x="47625" y="4972050"/>
                </a:lnTo>
                <a:close/>
              </a:path>
              <a:path w="76200" h="5201920">
                <a:moveTo>
                  <a:pt x="28575" y="5127119"/>
                </a:moveTo>
                <a:lnTo>
                  <a:pt x="23252" y="5128193"/>
                </a:lnTo>
                <a:lnTo>
                  <a:pt x="11144" y="5136357"/>
                </a:lnTo>
                <a:lnTo>
                  <a:pt x="2988" y="5148468"/>
                </a:lnTo>
                <a:lnTo>
                  <a:pt x="0" y="5163299"/>
                </a:lnTo>
                <a:lnTo>
                  <a:pt x="2988" y="5178130"/>
                </a:lnTo>
                <a:lnTo>
                  <a:pt x="11144" y="5190240"/>
                </a:lnTo>
                <a:lnTo>
                  <a:pt x="23252" y="5198405"/>
                </a:lnTo>
                <a:lnTo>
                  <a:pt x="38100" y="5201399"/>
                </a:lnTo>
                <a:lnTo>
                  <a:pt x="52947" y="5198405"/>
                </a:lnTo>
                <a:lnTo>
                  <a:pt x="65055" y="5190240"/>
                </a:lnTo>
                <a:lnTo>
                  <a:pt x="73211" y="5178130"/>
                </a:lnTo>
                <a:lnTo>
                  <a:pt x="76200" y="5163299"/>
                </a:lnTo>
                <a:lnTo>
                  <a:pt x="28575" y="5163299"/>
                </a:lnTo>
                <a:lnTo>
                  <a:pt x="28575" y="5127119"/>
                </a:lnTo>
                <a:close/>
              </a:path>
              <a:path w="76200" h="5201920">
                <a:moveTo>
                  <a:pt x="38100" y="5125199"/>
                </a:moveTo>
                <a:lnTo>
                  <a:pt x="28575" y="5127119"/>
                </a:lnTo>
                <a:lnTo>
                  <a:pt x="28575" y="5163299"/>
                </a:lnTo>
                <a:lnTo>
                  <a:pt x="47625" y="5163299"/>
                </a:lnTo>
                <a:lnTo>
                  <a:pt x="47625" y="5127119"/>
                </a:lnTo>
                <a:lnTo>
                  <a:pt x="38100" y="5125199"/>
                </a:lnTo>
                <a:close/>
              </a:path>
              <a:path w="76200" h="5201920">
                <a:moveTo>
                  <a:pt x="47625" y="5127119"/>
                </a:moveTo>
                <a:lnTo>
                  <a:pt x="47625" y="5163299"/>
                </a:lnTo>
                <a:lnTo>
                  <a:pt x="76200" y="5163299"/>
                </a:lnTo>
                <a:lnTo>
                  <a:pt x="73211" y="5148468"/>
                </a:lnTo>
                <a:lnTo>
                  <a:pt x="65055" y="5136357"/>
                </a:lnTo>
                <a:lnTo>
                  <a:pt x="52947" y="5128193"/>
                </a:lnTo>
                <a:lnTo>
                  <a:pt x="47625" y="5127119"/>
                </a:lnTo>
                <a:close/>
              </a:path>
              <a:path w="76200" h="5201920">
                <a:moveTo>
                  <a:pt x="47625" y="5105400"/>
                </a:moveTo>
                <a:lnTo>
                  <a:pt x="28575" y="5105400"/>
                </a:lnTo>
                <a:lnTo>
                  <a:pt x="28575" y="5127119"/>
                </a:lnTo>
                <a:lnTo>
                  <a:pt x="38100" y="5125199"/>
                </a:lnTo>
                <a:lnTo>
                  <a:pt x="47625" y="5125199"/>
                </a:lnTo>
                <a:lnTo>
                  <a:pt x="47625" y="5105400"/>
                </a:lnTo>
                <a:close/>
              </a:path>
              <a:path w="76200" h="5201920">
                <a:moveTo>
                  <a:pt x="47625" y="5125199"/>
                </a:moveTo>
                <a:lnTo>
                  <a:pt x="38100" y="5125199"/>
                </a:lnTo>
                <a:lnTo>
                  <a:pt x="47625" y="5127119"/>
                </a:lnTo>
                <a:lnTo>
                  <a:pt x="47625" y="5125199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Global Microfinance Case Competition (GMCC) — Melbourne Microfinance  Initiativ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2568" y="268224"/>
            <a:ext cx="583692" cy="5852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0285730" cy="116205"/>
          </a:xfrm>
          <a:custGeom>
            <a:avLst/>
            <a:gdLst/>
            <a:ahLst/>
            <a:cxnLst/>
            <a:rect l="l" t="t" r="r" b="b"/>
            <a:pathLst>
              <a:path w="10285730" h="116205">
                <a:moveTo>
                  <a:pt x="10285476" y="0"/>
                </a:moveTo>
                <a:lnTo>
                  <a:pt x="0" y="0"/>
                </a:lnTo>
                <a:lnTo>
                  <a:pt x="0" y="115824"/>
                </a:lnTo>
                <a:lnTo>
                  <a:pt x="10285476" y="115824"/>
                </a:lnTo>
                <a:lnTo>
                  <a:pt x="10285476" y="0"/>
                </a:lnTo>
                <a:close/>
              </a:path>
            </a:pathLst>
          </a:custGeom>
          <a:solidFill>
            <a:srgbClr val="0A47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556492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6E8E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85476" y="0"/>
            <a:ext cx="635635" cy="116205"/>
          </a:xfrm>
          <a:custGeom>
            <a:avLst/>
            <a:gdLst/>
            <a:ahLst/>
            <a:cxnLst/>
            <a:rect l="l" t="t" r="r" b="b"/>
            <a:pathLst>
              <a:path w="635634" h="116205">
                <a:moveTo>
                  <a:pt x="635507" y="0"/>
                </a:moveTo>
                <a:lnTo>
                  <a:pt x="0" y="0"/>
                </a:lnTo>
                <a:lnTo>
                  <a:pt x="0" y="115824"/>
                </a:lnTo>
                <a:lnTo>
                  <a:pt x="635507" y="115824"/>
                </a:lnTo>
                <a:lnTo>
                  <a:pt x="635507" y="0"/>
                </a:lnTo>
                <a:close/>
              </a:path>
            </a:pathLst>
          </a:custGeom>
          <a:solidFill>
            <a:srgbClr val="5C9D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2023" y="6516623"/>
            <a:ext cx="6795770" cy="0"/>
          </a:xfrm>
          <a:custGeom>
            <a:avLst/>
            <a:gdLst/>
            <a:ahLst/>
            <a:cxnLst/>
            <a:rect l="l" t="t" r="r" b="b"/>
            <a:pathLst>
              <a:path w="6795770" h="0">
                <a:moveTo>
                  <a:pt x="0" y="0"/>
                </a:moveTo>
                <a:lnTo>
                  <a:pt x="6795516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86088" y="6516623"/>
            <a:ext cx="2899410" cy="0"/>
          </a:xfrm>
          <a:custGeom>
            <a:avLst/>
            <a:gdLst/>
            <a:ahLst/>
            <a:cxnLst/>
            <a:rect l="l" t="t" r="r" b="b"/>
            <a:pathLst>
              <a:path w="2899409" h="0">
                <a:moveTo>
                  <a:pt x="0" y="0"/>
                </a:moveTo>
                <a:lnTo>
                  <a:pt x="2899029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606783" y="6588250"/>
            <a:ext cx="379730" cy="21653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17780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140"/>
              </a:spcBef>
            </a:pP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15.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09499" y="46990"/>
            <a:ext cx="74790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FINANCIAL</a:t>
            </a:r>
            <a:r>
              <a:rPr dirty="0" spc="-35"/>
              <a:t> ANALYSIS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/>
              <a:t>PROPOSED</a:t>
            </a:r>
            <a:r>
              <a:rPr dirty="0" spc="-105"/>
              <a:t> </a:t>
            </a:r>
            <a:r>
              <a:rPr dirty="0" spc="-10"/>
              <a:t>STRATEGY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9323" y="479501"/>
            <a:ext cx="110712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57890" algn="l"/>
              </a:tabLst>
            </a:pPr>
            <a:r>
              <a:rPr dirty="0" u="sng" sz="2000" spc="-2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Leveraging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need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hour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get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</a:t>
            </a:r>
            <a:r>
              <a:rPr dirty="0" u="sng" sz="2000" spc="-2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high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positive</a:t>
            </a:r>
            <a:r>
              <a:rPr dirty="0" u="sng" sz="2000" spc="-1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NPV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through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Phoenix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2296" y="6564883"/>
            <a:ext cx="612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78073" y="6564883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Short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56961" y="6564883"/>
            <a:ext cx="1240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Phoenix: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Term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87540" y="6509004"/>
            <a:ext cx="2098675" cy="335280"/>
          </a:xfrm>
          <a:prstGeom prst="rect">
            <a:avLst/>
          </a:prstGeom>
          <a:solidFill>
            <a:srgbClr val="0A4779"/>
          </a:solidFill>
        </p:spPr>
        <p:txBody>
          <a:bodyPr wrap="square" lIns="0" tIns="68580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54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Implementation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89566" y="6564883"/>
            <a:ext cx="613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Appendix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317" y="6336284"/>
            <a:ext cx="1002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Sources:</a:t>
            </a:r>
            <a:r>
              <a:rPr dirty="0" sz="800" spc="-30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b="1" i="1">
                <a:solidFill>
                  <a:srgbClr val="3897D2"/>
                </a:solidFill>
                <a:latin typeface="Calibri"/>
                <a:cs typeface="Calibri"/>
              </a:rPr>
              <a:t>Team</a:t>
            </a:r>
            <a:r>
              <a:rPr dirty="0" sz="800" spc="-35" b="1" i="1">
                <a:solidFill>
                  <a:srgbClr val="3897D2"/>
                </a:solidFill>
                <a:latin typeface="Calibri"/>
                <a:cs typeface="Calibri"/>
              </a:rPr>
              <a:t> </a:t>
            </a:r>
            <a:r>
              <a:rPr dirty="0" sz="800" spc="-10" b="1" i="1">
                <a:solidFill>
                  <a:srgbClr val="3897D2"/>
                </a:solidFill>
                <a:latin typeface="Calibri"/>
                <a:cs typeface="Calibri"/>
              </a:rPr>
              <a:t>Analysis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440416" y="6175654"/>
            <a:ext cx="1530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solidFill>
                  <a:srgbClr val="6E8EB5"/>
                </a:solidFill>
                <a:latin typeface="Calibri"/>
                <a:cs typeface="Calibri"/>
                <a:hlinkClick r:id="rId3" action="ppaction://hlinksldjump"/>
              </a:rPr>
              <a:t>Refer</a:t>
            </a:r>
            <a:r>
              <a:rPr dirty="0" sz="1600" spc="-50" b="1" i="1">
                <a:solidFill>
                  <a:srgbClr val="6E8EB5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dirty="0" sz="1600" b="1" i="1">
                <a:solidFill>
                  <a:srgbClr val="6E8EB5"/>
                </a:solidFill>
                <a:latin typeface="Calibri"/>
                <a:cs typeface="Calibri"/>
                <a:hlinkClick r:id="rId3" action="ppaction://hlinksldjump"/>
              </a:rPr>
              <a:t>to</a:t>
            </a:r>
            <a:r>
              <a:rPr dirty="0" sz="1600" spc="-55" b="1" i="1">
                <a:solidFill>
                  <a:srgbClr val="6E8EB5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dirty="0" sz="1600" spc="-10" b="1" i="1">
                <a:solidFill>
                  <a:srgbClr val="6E8EB5"/>
                </a:solidFill>
                <a:latin typeface="Calibri"/>
                <a:cs typeface="Calibri"/>
                <a:hlinkClick r:id="rId3" action="ppaction://hlinksldjump"/>
              </a:rPr>
              <a:t>Appendix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01050" y="6350889"/>
            <a:ext cx="3556635" cy="75565"/>
            <a:chOff x="8401050" y="6350889"/>
            <a:chExt cx="3556635" cy="75565"/>
          </a:xfrm>
        </p:grpSpPr>
        <p:sp>
          <p:nvSpPr>
            <p:cNvPr id="22" name="object 22"/>
            <p:cNvSpPr/>
            <p:nvPr/>
          </p:nvSpPr>
          <p:spPr>
            <a:xfrm>
              <a:off x="10451973" y="6412458"/>
              <a:ext cx="1506220" cy="13970"/>
            </a:xfrm>
            <a:custGeom>
              <a:avLst/>
              <a:gdLst/>
              <a:ahLst/>
              <a:cxnLst/>
              <a:rect l="l" t="t" r="r" b="b"/>
              <a:pathLst>
                <a:path w="1506220" h="13970">
                  <a:moveTo>
                    <a:pt x="1505711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1505711" y="13715"/>
                  </a:lnTo>
                  <a:lnTo>
                    <a:pt x="1505711" y="0"/>
                  </a:lnTo>
                  <a:close/>
                </a:path>
              </a:pathLst>
            </a:custGeom>
            <a:solidFill>
              <a:srgbClr val="6E8E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401050" y="6360414"/>
              <a:ext cx="2026920" cy="0"/>
            </a:xfrm>
            <a:custGeom>
              <a:avLst/>
              <a:gdLst/>
              <a:ahLst/>
              <a:cxnLst/>
              <a:rect l="l" t="t" r="r" b="b"/>
              <a:pathLst>
                <a:path w="2026920" h="0">
                  <a:moveTo>
                    <a:pt x="0" y="0"/>
                  </a:moveTo>
                  <a:lnTo>
                    <a:pt x="2026666" y="0"/>
                  </a:lnTo>
                </a:path>
              </a:pathLst>
            </a:custGeom>
            <a:ln w="19050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1235405" y="1859089"/>
            <a:ext cx="4131945" cy="357505"/>
            <a:chOff x="1235405" y="1859089"/>
            <a:chExt cx="4131945" cy="357505"/>
          </a:xfrm>
        </p:grpSpPr>
        <p:sp>
          <p:nvSpPr>
            <p:cNvPr id="25" name="object 25"/>
            <p:cNvSpPr/>
            <p:nvPr/>
          </p:nvSpPr>
          <p:spPr>
            <a:xfrm>
              <a:off x="1273302" y="1997201"/>
              <a:ext cx="4058920" cy="181610"/>
            </a:xfrm>
            <a:custGeom>
              <a:avLst/>
              <a:gdLst/>
              <a:ahLst/>
              <a:cxnLst/>
              <a:rect l="l" t="t" r="r" b="b"/>
              <a:pathLst>
                <a:path w="4058920" h="181610">
                  <a:moveTo>
                    <a:pt x="0" y="57912"/>
                  </a:moveTo>
                  <a:lnTo>
                    <a:pt x="507491" y="86868"/>
                  </a:lnTo>
                  <a:lnTo>
                    <a:pt x="1013460" y="0"/>
                  </a:lnTo>
                  <a:lnTo>
                    <a:pt x="1520952" y="181356"/>
                  </a:lnTo>
                  <a:lnTo>
                    <a:pt x="2028444" y="86868"/>
                  </a:lnTo>
                  <a:lnTo>
                    <a:pt x="2535936" y="128015"/>
                  </a:lnTo>
                  <a:lnTo>
                    <a:pt x="3043428" y="143256"/>
                  </a:lnTo>
                  <a:lnTo>
                    <a:pt x="3550920" y="158496"/>
                  </a:lnTo>
                  <a:lnTo>
                    <a:pt x="4058412" y="173736"/>
                  </a:lnTo>
                </a:path>
              </a:pathLst>
            </a:custGeom>
            <a:ln w="2857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5405" y="2019109"/>
              <a:ext cx="73520" cy="735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2884" y="2048065"/>
              <a:ext cx="73532" cy="7353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0376" y="1961197"/>
              <a:ext cx="73533" cy="735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7868" y="2142553"/>
              <a:ext cx="73532" cy="7353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5360" y="2048065"/>
              <a:ext cx="73532" cy="7353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2852" y="2089213"/>
              <a:ext cx="73533" cy="735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0344" y="2104453"/>
              <a:ext cx="73532" cy="7353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7836" y="2119693"/>
              <a:ext cx="73533" cy="7353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93804" y="2134933"/>
              <a:ext cx="73533" cy="7353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809238" y="1896617"/>
              <a:ext cx="1522730" cy="144780"/>
            </a:xfrm>
            <a:custGeom>
              <a:avLst/>
              <a:gdLst/>
              <a:ahLst/>
              <a:cxnLst/>
              <a:rect l="l" t="t" r="r" b="b"/>
              <a:pathLst>
                <a:path w="1522729" h="144780">
                  <a:moveTo>
                    <a:pt x="0" y="144780"/>
                  </a:moveTo>
                  <a:lnTo>
                    <a:pt x="507491" y="94487"/>
                  </a:lnTo>
                  <a:lnTo>
                    <a:pt x="1014984" y="50292"/>
                  </a:lnTo>
                  <a:lnTo>
                    <a:pt x="1522476" y="0"/>
                  </a:lnTo>
                </a:path>
              </a:pathLst>
            </a:custGeom>
            <a:ln w="285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72852" y="2003869"/>
              <a:ext cx="73533" cy="735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0344" y="1953577"/>
              <a:ext cx="73532" cy="7353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87836" y="1910905"/>
              <a:ext cx="73533" cy="7353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93804" y="1859089"/>
              <a:ext cx="73533" cy="7353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788314" y="3345941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1504" y="298411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50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4390" y="2622296"/>
            <a:ext cx="25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100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4390" y="2259914"/>
            <a:ext cx="2571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150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4390" y="1898396"/>
            <a:ext cx="25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200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4390" y="1536572"/>
            <a:ext cx="257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250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04594" y="3812857"/>
            <a:ext cx="243839" cy="73532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97758" y="3812857"/>
            <a:ext cx="243839" cy="73532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1961133" y="3332099"/>
            <a:ext cx="2597785" cy="605790"/>
          </a:xfrm>
          <a:prstGeom prst="rect">
            <a:avLst/>
          </a:prstGeom>
        </p:spPr>
        <p:txBody>
          <a:bodyPr wrap="square" lIns="0" tIns="120015" rIns="0" bIns="0" rtlCol="0" vert="horz">
            <a:spAutoFit/>
          </a:bodyPr>
          <a:lstStyle/>
          <a:p>
            <a:pPr algn="ctr" marR="73025">
              <a:lnSpc>
                <a:spcPct val="100000"/>
              </a:lnSpc>
              <a:spcBef>
                <a:spcPts val="945"/>
              </a:spcBef>
            </a:pPr>
            <a:r>
              <a:rPr dirty="0" sz="1200" spc="-10">
                <a:latin typeface="Calibri"/>
                <a:cs typeface="Calibri"/>
              </a:rPr>
              <a:t>2023A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  <a:tabLst>
                <a:tab pos="1706880" algn="l"/>
              </a:tabLst>
            </a:pP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Credilink</a:t>
            </a:r>
            <a:r>
              <a:rPr dirty="0" sz="1200">
                <a:latin typeface="Calibri"/>
                <a:cs typeface="Calibri"/>
              </a:rPr>
              <a:t>	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Credilink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208776" y="3488435"/>
            <a:ext cx="274320" cy="334010"/>
          </a:xfrm>
          <a:custGeom>
            <a:avLst/>
            <a:gdLst/>
            <a:ahLst/>
            <a:cxnLst/>
            <a:rect l="l" t="t" r="r" b="b"/>
            <a:pathLst>
              <a:path w="274320" h="334010">
                <a:moveTo>
                  <a:pt x="178308" y="166878"/>
                </a:moveTo>
                <a:lnTo>
                  <a:pt x="89154" y="0"/>
                </a:lnTo>
                <a:lnTo>
                  <a:pt x="0" y="0"/>
                </a:lnTo>
                <a:lnTo>
                  <a:pt x="89154" y="166878"/>
                </a:lnTo>
                <a:lnTo>
                  <a:pt x="0" y="333756"/>
                </a:lnTo>
                <a:lnTo>
                  <a:pt x="89154" y="333756"/>
                </a:lnTo>
                <a:lnTo>
                  <a:pt x="178308" y="166878"/>
                </a:lnTo>
                <a:close/>
              </a:path>
              <a:path w="274320" h="334010">
                <a:moveTo>
                  <a:pt x="274320" y="166878"/>
                </a:moveTo>
                <a:lnTo>
                  <a:pt x="190500" y="0"/>
                </a:lnTo>
                <a:lnTo>
                  <a:pt x="106680" y="0"/>
                </a:lnTo>
                <a:lnTo>
                  <a:pt x="190500" y="166878"/>
                </a:lnTo>
                <a:lnTo>
                  <a:pt x="106680" y="333756"/>
                </a:lnTo>
                <a:lnTo>
                  <a:pt x="190500" y="333756"/>
                </a:lnTo>
                <a:lnTo>
                  <a:pt x="274320" y="166878"/>
                </a:lnTo>
                <a:close/>
              </a:path>
            </a:pathLst>
          </a:custGeom>
          <a:solidFill>
            <a:srgbClr val="0C6A6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286383" y="3439414"/>
            <a:ext cx="424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2019A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03139" y="3439414"/>
            <a:ext cx="406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2027F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12826" y="1512569"/>
            <a:ext cx="5283200" cy="635"/>
          </a:xfrm>
          <a:custGeom>
            <a:avLst/>
            <a:gdLst/>
            <a:ahLst/>
            <a:cxnLst/>
            <a:rect l="l" t="t" r="r" b="b"/>
            <a:pathLst>
              <a:path w="5283200" h="634">
                <a:moveTo>
                  <a:pt x="0" y="0"/>
                </a:moveTo>
                <a:lnTo>
                  <a:pt x="5282692" y="126"/>
                </a:lnTo>
              </a:path>
            </a:pathLst>
          </a:custGeom>
          <a:ln w="190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84987" y="907491"/>
            <a:ext cx="49123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Rise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Loan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Acceptance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Increase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 </a:t>
            </a:r>
            <a:r>
              <a:rPr dirty="0" sz="1200" spc="-10" b="1">
                <a:latin typeface="Calibri"/>
                <a:cs typeface="Calibri"/>
              </a:rPr>
              <a:t>Operational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Efficiency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Financial</a:t>
            </a:r>
            <a:endParaRPr sz="1200">
              <a:latin typeface="Calibri"/>
              <a:cs typeface="Calibri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200" spc="-10" b="1">
                <a:latin typeface="Calibri"/>
                <a:cs typeface="Calibri"/>
              </a:rPr>
              <a:t>Inclusion</a:t>
            </a:r>
            <a:endParaRPr sz="1200">
              <a:latin typeface="Calibri"/>
              <a:cs typeface="Calibri"/>
            </a:endParaRPr>
          </a:p>
          <a:p>
            <a:pPr algn="ctr" marL="5080">
              <a:lnSpc>
                <a:spcPct val="100000"/>
              </a:lnSpc>
            </a:pPr>
            <a:r>
              <a:rPr dirty="0" sz="1200" b="1" i="1">
                <a:solidFill>
                  <a:srgbClr val="7E7E7E"/>
                </a:solidFill>
                <a:latin typeface="Calibri"/>
                <a:cs typeface="Calibri"/>
              </a:rPr>
              <a:t>Number</a:t>
            </a:r>
            <a:r>
              <a:rPr dirty="0" sz="1200" spc="-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200" spc="-2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7E7E7E"/>
                </a:solidFill>
                <a:latin typeface="Calibri"/>
                <a:cs typeface="Calibri"/>
              </a:rPr>
              <a:t>Loans</a:t>
            </a:r>
            <a:r>
              <a:rPr dirty="0" sz="1200" spc="-2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200" spc="-10" b="1" i="1">
                <a:solidFill>
                  <a:srgbClr val="7E7E7E"/>
                </a:solidFill>
                <a:latin typeface="Calibri"/>
                <a:cs typeface="Calibri"/>
              </a:rPr>
              <a:t>Accepted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12826" y="4770882"/>
            <a:ext cx="5283200" cy="635"/>
          </a:xfrm>
          <a:custGeom>
            <a:avLst/>
            <a:gdLst/>
            <a:ahLst/>
            <a:cxnLst/>
            <a:rect l="l" t="t" r="r" b="b"/>
            <a:pathLst>
              <a:path w="5283200" h="635">
                <a:moveTo>
                  <a:pt x="0" y="0"/>
                </a:moveTo>
                <a:lnTo>
                  <a:pt x="5282692" y="127"/>
                </a:lnTo>
              </a:path>
            </a:pathLst>
          </a:custGeom>
          <a:ln w="190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05968" y="4162044"/>
            <a:ext cx="5283835" cy="56134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83820" rIns="0" bIns="0" rtlCol="0" vert="horz">
            <a:spAutoFit/>
          </a:bodyPr>
          <a:lstStyle/>
          <a:p>
            <a:pPr algn="ctr" marR="35560">
              <a:lnSpc>
                <a:spcPct val="100000"/>
              </a:lnSpc>
              <a:spcBef>
                <a:spcPts val="660"/>
              </a:spcBef>
            </a:pPr>
            <a:r>
              <a:rPr dirty="0" sz="1200" b="1">
                <a:latin typeface="Calibri"/>
                <a:cs typeface="Calibri"/>
              </a:rPr>
              <a:t>Cost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required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to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develop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Credilink</a:t>
            </a:r>
            <a:endParaRPr sz="1200">
              <a:latin typeface="Calibri"/>
              <a:cs typeface="Calibri"/>
            </a:endParaRPr>
          </a:p>
          <a:p>
            <a:pPr algn="ctr" marR="33020">
              <a:lnSpc>
                <a:spcPct val="100000"/>
              </a:lnSpc>
            </a:pPr>
            <a:r>
              <a:rPr dirty="0" sz="1200" b="1" i="1">
                <a:solidFill>
                  <a:srgbClr val="7E7E7E"/>
                </a:solidFill>
                <a:latin typeface="Calibri"/>
                <a:cs typeface="Calibri"/>
              </a:rPr>
              <a:t>Cost(in</a:t>
            </a:r>
            <a:r>
              <a:rPr dirty="0" sz="1200" spc="-3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7E7E7E"/>
                </a:solidFill>
                <a:latin typeface="Calibri"/>
                <a:cs typeface="Calibri"/>
              </a:rPr>
              <a:t>mn</a:t>
            </a:r>
            <a:r>
              <a:rPr dirty="0" sz="1200" spc="-2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200" spc="-20" b="1" i="1">
                <a:solidFill>
                  <a:srgbClr val="7E7E7E"/>
                </a:solidFill>
                <a:latin typeface="Calibri"/>
                <a:cs typeface="Calibri"/>
              </a:rPr>
              <a:t>IDR)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605778" y="1509522"/>
            <a:ext cx="5283200" cy="635"/>
          </a:xfrm>
          <a:custGeom>
            <a:avLst/>
            <a:gdLst/>
            <a:ahLst/>
            <a:cxnLst/>
            <a:rect l="l" t="t" r="r" b="b"/>
            <a:pathLst>
              <a:path w="5283200" h="634">
                <a:moveTo>
                  <a:pt x="0" y="0"/>
                </a:moveTo>
                <a:lnTo>
                  <a:pt x="5282692" y="126"/>
                </a:lnTo>
              </a:path>
            </a:pathLst>
          </a:custGeom>
          <a:ln w="190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577583" y="886967"/>
            <a:ext cx="5282565" cy="561340"/>
          </a:xfrm>
          <a:prstGeom prst="rect">
            <a:avLst/>
          </a:prstGeom>
          <a:solidFill>
            <a:srgbClr val="E1EFD9"/>
          </a:solidFill>
        </p:spPr>
        <p:txBody>
          <a:bodyPr wrap="square" lIns="0" tIns="939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dirty="0" sz="1200" spc="-10" b="1">
                <a:latin typeface="Calibri"/>
                <a:cs typeface="Calibri"/>
              </a:rPr>
              <a:t>Positive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Cash Flows: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Viable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Implementable Strategy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b="1" i="1">
                <a:solidFill>
                  <a:srgbClr val="7E7E7E"/>
                </a:solidFill>
                <a:latin typeface="Calibri"/>
                <a:cs typeface="Calibri"/>
              </a:rPr>
              <a:t>Cash</a:t>
            </a:r>
            <a:r>
              <a:rPr dirty="0" sz="1200" spc="-35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7E7E7E"/>
                </a:solidFill>
                <a:latin typeface="Calibri"/>
                <a:cs typeface="Calibri"/>
              </a:rPr>
              <a:t>Flow</a:t>
            </a:r>
            <a:r>
              <a:rPr dirty="0" sz="1200" spc="-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7E7E7E"/>
                </a:solidFill>
                <a:latin typeface="Calibri"/>
                <a:cs typeface="Calibri"/>
              </a:rPr>
              <a:t>Projections(in</a:t>
            </a:r>
            <a:r>
              <a:rPr dirty="0" sz="1200" spc="-1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200" b="1" i="1">
                <a:solidFill>
                  <a:srgbClr val="7E7E7E"/>
                </a:solidFill>
                <a:latin typeface="Calibri"/>
                <a:cs typeface="Calibri"/>
              </a:rPr>
              <a:t>mn</a:t>
            </a:r>
            <a:r>
              <a:rPr dirty="0" sz="1200" spc="-40" b="1" i="1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200" spc="-20" b="1" i="1">
                <a:solidFill>
                  <a:srgbClr val="7E7E7E"/>
                </a:solidFill>
                <a:latin typeface="Calibri"/>
                <a:cs typeface="Calibri"/>
              </a:rPr>
              <a:t>IDR)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835140" y="4786884"/>
            <a:ext cx="4962525" cy="277495"/>
          </a:xfrm>
          <a:prstGeom prst="rect">
            <a:avLst/>
          </a:prstGeom>
          <a:solidFill>
            <a:srgbClr val="E1EFD9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1200" b="1">
                <a:latin typeface="Calibri"/>
                <a:cs typeface="Calibri"/>
              </a:rPr>
              <a:t>Why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Strategy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Phoenix?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51904" y="5160264"/>
            <a:ext cx="1077595" cy="95440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205740" rIns="0" bIns="0" rtlCol="0" vert="horz">
            <a:spAutoFit/>
          </a:bodyPr>
          <a:lstStyle/>
          <a:p>
            <a:pPr algn="ctr" marL="53340">
              <a:lnSpc>
                <a:spcPct val="100000"/>
              </a:lnSpc>
              <a:spcBef>
                <a:spcPts val="1620"/>
              </a:spcBef>
            </a:pPr>
            <a:r>
              <a:rPr dirty="0" sz="2000" spc="-25" b="1">
                <a:solidFill>
                  <a:srgbClr val="5C9DAE"/>
                </a:solidFill>
                <a:latin typeface="Calibri"/>
                <a:cs typeface="Calibri"/>
              </a:rPr>
              <a:t>36%</a:t>
            </a:r>
            <a:endParaRPr sz="2000">
              <a:latin typeface="Calibri"/>
              <a:cs typeface="Calibri"/>
            </a:endParaRPr>
          </a:p>
          <a:p>
            <a:pPr algn="ctr" marL="52069">
              <a:lnSpc>
                <a:spcPct val="100000"/>
              </a:lnSpc>
              <a:spcBef>
                <a:spcPts val="60"/>
              </a:spcBef>
            </a:pPr>
            <a:r>
              <a:rPr dirty="0" sz="1200" spc="-25" b="1">
                <a:latin typeface="Calibri"/>
                <a:cs typeface="Calibri"/>
              </a:rPr>
              <a:t>IRR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141207" y="5160264"/>
            <a:ext cx="1077595" cy="95440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8260" rIns="0" bIns="0" rtlCol="0" vert="horz">
            <a:spAutoFit/>
          </a:bodyPr>
          <a:lstStyle/>
          <a:p>
            <a:pPr marL="297815">
              <a:lnSpc>
                <a:spcPct val="100000"/>
              </a:lnSpc>
              <a:spcBef>
                <a:spcPts val="380"/>
              </a:spcBef>
            </a:pPr>
            <a:r>
              <a:rPr dirty="0" sz="2000" spc="-20" b="1">
                <a:solidFill>
                  <a:srgbClr val="5C9DAE"/>
                </a:solidFill>
                <a:latin typeface="Calibri"/>
                <a:cs typeface="Calibri"/>
              </a:rPr>
              <a:t>8969</a:t>
            </a:r>
            <a:endParaRPr sz="2000">
              <a:latin typeface="Calibri"/>
              <a:cs typeface="Calibri"/>
            </a:endParaRPr>
          </a:p>
          <a:p>
            <a:pPr marL="278130">
              <a:lnSpc>
                <a:spcPct val="100000"/>
              </a:lnSpc>
              <a:spcBef>
                <a:spcPts val="55"/>
              </a:spcBef>
            </a:pPr>
            <a:r>
              <a:rPr dirty="0" sz="1200" b="1">
                <a:latin typeface="Calibri"/>
                <a:cs typeface="Calibri"/>
              </a:rPr>
              <a:t>(mn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IDR)</a:t>
            </a:r>
            <a:endParaRPr sz="1200">
              <a:latin typeface="Calibri"/>
              <a:cs typeface="Calibri"/>
            </a:endParaRPr>
          </a:p>
          <a:p>
            <a:pPr marL="255270" marR="193040" indent="-17145">
              <a:lnSpc>
                <a:spcPct val="100000"/>
              </a:lnSpc>
            </a:pPr>
            <a:r>
              <a:rPr dirty="0" sz="1200" b="1">
                <a:latin typeface="Calibri"/>
                <a:cs typeface="Calibri"/>
              </a:rPr>
              <a:t>Loans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and </a:t>
            </a:r>
            <a:r>
              <a:rPr dirty="0" sz="1200" spc="-10" b="1">
                <a:latin typeface="Calibri"/>
                <a:cs typeface="Calibri"/>
              </a:rPr>
              <a:t>Advances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430511" y="5160264"/>
            <a:ext cx="1077595" cy="95440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20574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620"/>
              </a:spcBef>
            </a:pPr>
            <a:r>
              <a:rPr dirty="0" sz="2000" spc="-10" b="1">
                <a:solidFill>
                  <a:srgbClr val="5C9DAE"/>
                </a:solidFill>
                <a:latin typeface="Calibri"/>
                <a:cs typeface="Calibri"/>
              </a:rPr>
              <a:t>8.21%</a:t>
            </a:r>
            <a:endParaRPr sz="20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60"/>
              </a:spcBef>
            </a:pPr>
            <a:r>
              <a:rPr dirty="0" sz="1200" spc="-20" b="1">
                <a:latin typeface="Calibri"/>
                <a:cs typeface="Calibri"/>
              </a:rPr>
              <a:t>CAPM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719816" y="5160264"/>
            <a:ext cx="1077595" cy="95440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8260" rIns="0" bIns="0" rtlCol="0" vert="horz">
            <a:spAutoFit/>
          </a:bodyPr>
          <a:lstStyle/>
          <a:p>
            <a:pPr algn="ctr" marL="31750">
              <a:lnSpc>
                <a:spcPct val="100000"/>
              </a:lnSpc>
              <a:spcBef>
                <a:spcPts val="380"/>
              </a:spcBef>
            </a:pPr>
            <a:r>
              <a:rPr dirty="0" sz="2000" spc="-20" b="1">
                <a:solidFill>
                  <a:srgbClr val="5C9DAE"/>
                </a:solidFill>
                <a:latin typeface="Calibri"/>
                <a:cs typeface="Calibri"/>
              </a:rPr>
              <a:t>1647</a:t>
            </a:r>
            <a:endParaRPr sz="2000">
              <a:latin typeface="Calibri"/>
              <a:cs typeface="Calibri"/>
            </a:endParaRPr>
          </a:p>
          <a:p>
            <a:pPr algn="ctr" marL="274320" marR="235585">
              <a:lnSpc>
                <a:spcPct val="100000"/>
              </a:lnSpc>
              <a:spcBef>
                <a:spcPts val="55"/>
              </a:spcBef>
            </a:pPr>
            <a:r>
              <a:rPr dirty="0" sz="1200" b="1">
                <a:latin typeface="Calibri"/>
                <a:cs typeface="Calibri"/>
              </a:rPr>
              <a:t>(mn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IDR) </a:t>
            </a:r>
            <a:r>
              <a:rPr dirty="0" sz="1200" spc="-25" b="1">
                <a:latin typeface="Calibri"/>
                <a:cs typeface="Calibri"/>
              </a:rPr>
              <a:t>NPV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7142797" y="2247900"/>
            <a:ext cx="4583430" cy="1754505"/>
            <a:chOff x="7142797" y="2247900"/>
            <a:chExt cx="4583430" cy="1754505"/>
          </a:xfrm>
        </p:grpSpPr>
        <p:sp>
          <p:nvSpPr>
            <p:cNvPr id="64" name="object 64"/>
            <p:cNvSpPr/>
            <p:nvPr/>
          </p:nvSpPr>
          <p:spPr>
            <a:xfrm>
              <a:off x="10165080" y="2247899"/>
              <a:ext cx="1282065" cy="647700"/>
            </a:xfrm>
            <a:custGeom>
              <a:avLst/>
              <a:gdLst/>
              <a:ahLst/>
              <a:cxnLst/>
              <a:rect l="l" t="t" r="r" b="b"/>
              <a:pathLst>
                <a:path w="1282065" h="647700">
                  <a:moveTo>
                    <a:pt x="365747" y="111252"/>
                  </a:moveTo>
                  <a:lnTo>
                    <a:pt x="0" y="111252"/>
                  </a:lnTo>
                  <a:lnTo>
                    <a:pt x="0" y="647700"/>
                  </a:lnTo>
                  <a:lnTo>
                    <a:pt x="365747" y="647700"/>
                  </a:lnTo>
                  <a:lnTo>
                    <a:pt x="365747" y="111252"/>
                  </a:lnTo>
                  <a:close/>
                </a:path>
                <a:path w="1282065" h="647700">
                  <a:moveTo>
                    <a:pt x="1281671" y="0"/>
                  </a:moveTo>
                  <a:lnTo>
                    <a:pt x="915924" y="0"/>
                  </a:lnTo>
                  <a:lnTo>
                    <a:pt x="915924" y="647700"/>
                  </a:lnTo>
                  <a:lnTo>
                    <a:pt x="1281671" y="647700"/>
                  </a:lnTo>
                  <a:lnTo>
                    <a:pt x="1281671" y="0"/>
                  </a:lnTo>
                  <a:close/>
                </a:path>
              </a:pathLst>
            </a:custGeom>
            <a:solidFill>
              <a:srgbClr val="212A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421880" y="2895599"/>
              <a:ext cx="2194560" cy="1106805"/>
            </a:xfrm>
            <a:custGeom>
              <a:avLst/>
              <a:gdLst/>
              <a:ahLst/>
              <a:cxnLst/>
              <a:rect l="l" t="t" r="r" b="b"/>
              <a:pathLst>
                <a:path w="2194559" h="1106804">
                  <a:moveTo>
                    <a:pt x="365760" y="0"/>
                  </a:moveTo>
                  <a:lnTo>
                    <a:pt x="0" y="0"/>
                  </a:lnTo>
                  <a:lnTo>
                    <a:pt x="0" y="1106424"/>
                  </a:lnTo>
                  <a:lnTo>
                    <a:pt x="365760" y="1106424"/>
                  </a:lnTo>
                  <a:lnTo>
                    <a:pt x="365760" y="0"/>
                  </a:lnTo>
                  <a:close/>
                </a:path>
                <a:path w="2194559" h="1106804">
                  <a:moveTo>
                    <a:pt x="1280160" y="0"/>
                  </a:moveTo>
                  <a:lnTo>
                    <a:pt x="914400" y="0"/>
                  </a:lnTo>
                  <a:lnTo>
                    <a:pt x="914400" y="431292"/>
                  </a:lnTo>
                  <a:lnTo>
                    <a:pt x="1280160" y="431292"/>
                  </a:lnTo>
                  <a:lnTo>
                    <a:pt x="1280160" y="0"/>
                  </a:lnTo>
                  <a:close/>
                </a:path>
                <a:path w="2194559" h="1106804">
                  <a:moveTo>
                    <a:pt x="2194560" y="0"/>
                  </a:moveTo>
                  <a:lnTo>
                    <a:pt x="1828800" y="0"/>
                  </a:lnTo>
                  <a:lnTo>
                    <a:pt x="1828800" y="44196"/>
                  </a:lnTo>
                  <a:lnTo>
                    <a:pt x="2194560" y="44196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147559" y="2895600"/>
              <a:ext cx="4573905" cy="0"/>
            </a:xfrm>
            <a:custGeom>
              <a:avLst/>
              <a:gdLst/>
              <a:ahLst/>
              <a:cxnLst/>
              <a:rect l="l" t="t" r="r" b="b"/>
              <a:pathLst>
                <a:path w="4573905" h="0">
                  <a:moveTo>
                    <a:pt x="0" y="0"/>
                  </a:moveTo>
                  <a:lnTo>
                    <a:pt x="4573524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6675501" y="4226814"/>
            <a:ext cx="3797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800.00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675501" y="3870197"/>
            <a:ext cx="3797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600.00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675501" y="3513835"/>
            <a:ext cx="3797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400.00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675501" y="3157220"/>
            <a:ext cx="3797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826377" y="2800858"/>
            <a:ext cx="228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Calibri"/>
                <a:cs typeface="Calibri"/>
              </a:rPr>
              <a:t>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710553" y="2444622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10553" y="2088007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400.00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10553" y="1731645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600.00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4673" y="2959989"/>
            <a:ext cx="3606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Calibri"/>
                <a:cs typeface="Calibri"/>
              </a:rPr>
              <a:t>2024E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339708" y="2959989"/>
            <a:ext cx="3606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Calibri"/>
                <a:cs typeface="Calibri"/>
              </a:rPr>
              <a:t>2025E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254490" y="2959989"/>
            <a:ext cx="3606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Calibri"/>
                <a:cs typeface="Calibri"/>
              </a:rPr>
              <a:t>2026E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169397" y="2959989"/>
            <a:ext cx="3606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Calibri"/>
                <a:cs typeface="Calibri"/>
              </a:rPr>
              <a:t>2027E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084179" y="2959989"/>
            <a:ext cx="3606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Calibri"/>
                <a:cs typeface="Calibri"/>
              </a:rPr>
              <a:t>2028E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7729219" y="2107438"/>
            <a:ext cx="3926840" cy="1902460"/>
            <a:chOff x="7729219" y="2107438"/>
            <a:chExt cx="3926840" cy="1902460"/>
          </a:xfrm>
        </p:grpSpPr>
        <p:sp>
          <p:nvSpPr>
            <p:cNvPr id="81" name="object 81"/>
            <p:cNvSpPr/>
            <p:nvPr/>
          </p:nvSpPr>
          <p:spPr>
            <a:xfrm>
              <a:off x="7729219" y="2276094"/>
              <a:ext cx="3372485" cy="1733550"/>
            </a:xfrm>
            <a:custGeom>
              <a:avLst/>
              <a:gdLst/>
              <a:ahLst/>
              <a:cxnLst/>
              <a:rect l="l" t="t" r="r" b="b"/>
              <a:pathLst>
                <a:path w="3372484" h="1733550">
                  <a:moveTo>
                    <a:pt x="3300321" y="26250"/>
                  </a:moveTo>
                  <a:lnTo>
                    <a:pt x="0" y="1716658"/>
                  </a:lnTo>
                  <a:lnTo>
                    <a:pt x="8635" y="1733549"/>
                  </a:lnTo>
                  <a:lnTo>
                    <a:pt x="3309020" y="43235"/>
                  </a:lnTo>
                  <a:lnTo>
                    <a:pt x="3300321" y="26250"/>
                  </a:lnTo>
                  <a:close/>
                </a:path>
                <a:path w="3372484" h="1733550">
                  <a:moveTo>
                    <a:pt x="3357480" y="20446"/>
                  </a:moveTo>
                  <a:lnTo>
                    <a:pt x="3311652" y="20446"/>
                  </a:lnTo>
                  <a:lnTo>
                    <a:pt x="3320287" y="37464"/>
                  </a:lnTo>
                  <a:lnTo>
                    <a:pt x="3309020" y="43235"/>
                  </a:lnTo>
                  <a:lnTo>
                    <a:pt x="3322065" y="68706"/>
                  </a:lnTo>
                  <a:lnTo>
                    <a:pt x="3357480" y="20446"/>
                  </a:lnTo>
                  <a:close/>
                </a:path>
                <a:path w="3372484" h="1733550">
                  <a:moveTo>
                    <a:pt x="3311652" y="20446"/>
                  </a:moveTo>
                  <a:lnTo>
                    <a:pt x="3300321" y="26250"/>
                  </a:lnTo>
                  <a:lnTo>
                    <a:pt x="3309020" y="43235"/>
                  </a:lnTo>
                  <a:lnTo>
                    <a:pt x="3320287" y="37464"/>
                  </a:lnTo>
                  <a:lnTo>
                    <a:pt x="3311652" y="20446"/>
                  </a:lnTo>
                  <a:close/>
                </a:path>
                <a:path w="3372484" h="1733550">
                  <a:moveTo>
                    <a:pt x="3372484" y="0"/>
                  </a:moveTo>
                  <a:lnTo>
                    <a:pt x="3287268" y="761"/>
                  </a:lnTo>
                  <a:lnTo>
                    <a:pt x="3300321" y="26250"/>
                  </a:lnTo>
                  <a:lnTo>
                    <a:pt x="3311652" y="20446"/>
                  </a:lnTo>
                  <a:lnTo>
                    <a:pt x="3357480" y="20446"/>
                  </a:lnTo>
                  <a:lnTo>
                    <a:pt x="3372484" y="0"/>
                  </a:lnTo>
                  <a:close/>
                </a:path>
              </a:pathLst>
            </a:custGeom>
            <a:solidFill>
              <a:srgbClr val="333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670227" y="3186433"/>
              <a:ext cx="513715" cy="384175"/>
            </a:xfrm>
            <a:custGeom>
              <a:avLst/>
              <a:gdLst/>
              <a:ahLst/>
              <a:cxnLst/>
              <a:rect l="l" t="t" r="r" b="b"/>
              <a:pathLst>
                <a:path w="513715" h="384175">
                  <a:moveTo>
                    <a:pt x="403989" y="0"/>
                  </a:moveTo>
                  <a:lnTo>
                    <a:pt x="354566" y="4904"/>
                  </a:lnTo>
                  <a:lnTo>
                    <a:pt x="300207" y="18816"/>
                  </a:lnTo>
                  <a:lnTo>
                    <a:pt x="242826" y="41544"/>
                  </a:lnTo>
                  <a:lnTo>
                    <a:pt x="184339" y="72894"/>
                  </a:lnTo>
                  <a:lnTo>
                    <a:pt x="129680" y="110569"/>
                  </a:lnTo>
                  <a:lnTo>
                    <a:pt x="83203" y="151214"/>
                  </a:lnTo>
                  <a:lnTo>
                    <a:pt x="45953" y="193212"/>
                  </a:lnTo>
                  <a:lnTo>
                    <a:pt x="18972" y="234946"/>
                  </a:lnTo>
                  <a:lnTo>
                    <a:pt x="3307" y="274798"/>
                  </a:lnTo>
                  <a:lnTo>
                    <a:pt x="0" y="311151"/>
                  </a:lnTo>
                  <a:lnTo>
                    <a:pt x="10095" y="342388"/>
                  </a:lnTo>
                  <a:lnTo>
                    <a:pt x="33266" y="365669"/>
                  </a:lnTo>
                  <a:lnTo>
                    <a:pt x="67105" y="379361"/>
                  </a:lnTo>
                  <a:lnTo>
                    <a:pt x="109699" y="383659"/>
                  </a:lnTo>
                  <a:lnTo>
                    <a:pt x="159136" y="378755"/>
                  </a:lnTo>
                  <a:lnTo>
                    <a:pt x="213502" y="364842"/>
                  </a:lnTo>
                  <a:lnTo>
                    <a:pt x="270886" y="342115"/>
                  </a:lnTo>
                  <a:lnTo>
                    <a:pt x="329373" y="310765"/>
                  </a:lnTo>
                  <a:lnTo>
                    <a:pt x="384032" y="273090"/>
                  </a:lnTo>
                  <a:lnTo>
                    <a:pt x="430506" y="232445"/>
                  </a:lnTo>
                  <a:lnTo>
                    <a:pt x="467749" y="190447"/>
                  </a:lnTo>
                  <a:lnTo>
                    <a:pt x="494716" y="148713"/>
                  </a:lnTo>
                  <a:lnTo>
                    <a:pt x="510359" y="108861"/>
                  </a:lnTo>
                  <a:lnTo>
                    <a:pt x="513633" y="72508"/>
                  </a:lnTo>
                  <a:lnTo>
                    <a:pt x="503490" y="41271"/>
                  </a:lnTo>
                  <a:lnTo>
                    <a:pt x="480366" y="17990"/>
                  </a:lnTo>
                  <a:lnTo>
                    <a:pt x="446561" y="4297"/>
                  </a:lnTo>
                  <a:lnTo>
                    <a:pt x="4039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670227" y="3186433"/>
              <a:ext cx="513715" cy="384175"/>
            </a:xfrm>
            <a:custGeom>
              <a:avLst/>
              <a:gdLst/>
              <a:ahLst/>
              <a:cxnLst/>
              <a:rect l="l" t="t" r="r" b="b"/>
              <a:pathLst>
                <a:path w="513715" h="384175">
                  <a:moveTo>
                    <a:pt x="10095" y="342388"/>
                  </a:moveTo>
                  <a:lnTo>
                    <a:pt x="0" y="311151"/>
                  </a:lnTo>
                  <a:lnTo>
                    <a:pt x="3307" y="274798"/>
                  </a:lnTo>
                  <a:lnTo>
                    <a:pt x="18972" y="234946"/>
                  </a:lnTo>
                  <a:lnTo>
                    <a:pt x="45953" y="193212"/>
                  </a:lnTo>
                  <a:lnTo>
                    <a:pt x="83203" y="151214"/>
                  </a:lnTo>
                  <a:lnTo>
                    <a:pt x="129680" y="110569"/>
                  </a:lnTo>
                  <a:lnTo>
                    <a:pt x="184339" y="72894"/>
                  </a:lnTo>
                  <a:lnTo>
                    <a:pt x="242826" y="41544"/>
                  </a:lnTo>
                  <a:lnTo>
                    <a:pt x="300207" y="18816"/>
                  </a:lnTo>
                  <a:lnTo>
                    <a:pt x="354566" y="4904"/>
                  </a:lnTo>
                  <a:lnTo>
                    <a:pt x="403989" y="0"/>
                  </a:lnTo>
                  <a:lnTo>
                    <a:pt x="446561" y="4297"/>
                  </a:lnTo>
                  <a:lnTo>
                    <a:pt x="480366" y="17990"/>
                  </a:lnTo>
                  <a:lnTo>
                    <a:pt x="503490" y="41271"/>
                  </a:lnTo>
                  <a:lnTo>
                    <a:pt x="513633" y="72508"/>
                  </a:lnTo>
                  <a:lnTo>
                    <a:pt x="510359" y="108861"/>
                  </a:lnTo>
                  <a:lnTo>
                    <a:pt x="494716" y="148713"/>
                  </a:lnTo>
                  <a:lnTo>
                    <a:pt x="467749" y="190447"/>
                  </a:lnTo>
                  <a:lnTo>
                    <a:pt x="430506" y="232445"/>
                  </a:lnTo>
                  <a:lnTo>
                    <a:pt x="384032" y="273090"/>
                  </a:lnTo>
                  <a:lnTo>
                    <a:pt x="329373" y="310765"/>
                  </a:lnTo>
                  <a:lnTo>
                    <a:pt x="270886" y="342115"/>
                  </a:lnTo>
                  <a:lnTo>
                    <a:pt x="213502" y="364842"/>
                  </a:lnTo>
                  <a:lnTo>
                    <a:pt x="159136" y="378755"/>
                  </a:lnTo>
                  <a:lnTo>
                    <a:pt x="109699" y="383659"/>
                  </a:lnTo>
                  <a:lnTo>
                    <a:pt x="67105" y="379361"/>
                  </a:lnTo>
                  <a:lnTo>
                    <a:pt x="33266" y="365669"/>
                  </a:lnTo>
                  <a:lnTo>
                    <a:pt x="10095" y="342388"/>
                  </a:lnTo>
                  <a:close/>
                </a:path>
              </a:pathLst>
            </a:custGeom>
            <a:ln w="12700">
              <a:solidFill>
                <a:srgbClr val="333E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839453" y="3317113"/>
              <a:ext cx="187960" cy="14732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0887455" y="2113788"/>
              <a:ext cx="762000" cy="1074420"/>
            </a:xfrm>
            <a:custGeom>
              <a:avLst/>
              <a:gdLst/>
              <a:ahLst/>
              <a:cxnLst/>
              <a:rect l="l" t="t" r="r" b="b"/>
              <a:pathLst>
                <a:path w="762000" h="1074420">
                  <a:moveTo>
                    <a:pt x="0" y="1074419"/>
                  </a:moveTo>
                  <a:lnTo>
                    <a:pt x="762000" y="1074419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1074419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/>
          <p:nvPr/>
        </p:nvSpPr>
        <p:spPr>
          <a:xfrm>
            <a:off x="868680" y="6062471"/>
            <a:ext cx="4813300" cy="0"/>
          </a:xfrm>
          <a:custGeom>
            <a:avLst/>
            <a:gdLst/>
            <a:ahLst/>
            <a:cxnLst/>
            <a:rect l="l" t="t" r="r" b="b"/>
            <a:pathLst>
              <a:path w="4813300" h="0">
                <a:moveTo>
                  <a:pt x="0" y="0"/>
                </a:moveTo>
                <a:lnTo>
                  <a:pt x="4812792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7" name="object 87"/>
          <p:cNvGrpSpPr/>
          <p:nvPr/>
        </p:nvGrpSpPr>
        <p:grpSpPr>
          <a:xfrm>
            <a:off x="1314005" y="5031422"/>
            <a:ext cx="3923665" cy="624205"/>
            <a:chOff x="1314005" y="5031422"/>
            <a:chExt cx="3923665" cy="624205"/>
          </a:xfrm>
        </p:grpSpPr>
        <p:sp>
          <p:nvSpPr>
            <p:cNvPr id="88" name="object 88"/>
            <p:cNvSpPr/>
            <p:nvPr/>
          </p:nvSpPr>
          <p:spPr>
            <a:xfrm>
              <a:off x="1349501" y="5069585"/>
              <a:ext cx="3851275" cy="548640"/>
            </a:xfrm>
            <a:custGeom>
              <a:avLst/>
              <a:gdLst/>
              <a:ahLst/>
              <a:cxnLst/>
              <a:rect l="l" t="t" r="r" b="b"/>
              <a:pathLst>
                <a:path w="3851275" h="548639">
                  <a:moveTo>
                    <a:pt x="0" y="449579"/>
                  </a:moveTo>
                  <a:lnTo>
                    <a:pt x="963167" y="548639"/>
                  </a:lnTo>
                  <a:lnTo>
                    <a:pt x="1926336" y="413003"/>
                  </a:lnTo>
                  <a:lnTo>
                    <a:pt x="2887980" y="166115"/>
                  </a:lnTo>
                  <a:lnTo>
                    <a:pt x="3851148" y="0"/>
                  </a:lnTo>
                </a:path>
              </a:pathLst>
            </a:custGeom>
            <a:ln w="28574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14005" y="5481002"/>
              <a:ext cx="73532" cy="73532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77173" y="5581586"/>
              <a:ext cx="73532" cy="7349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38817" y="5444426"/>
              <a:ext cx="73532" cy="73533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01985" y="5199062"/>
              <a:ext cx="73532" cy="73533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63629" y="5031422"/>
              <a:ext cx="73533" cy="73532"/>
            </a:xfrm>
            <a:prstGeom prst="rect">
              <a:avLst/>
            </a:prstGeom>
          </p:spPr>
        </p:pic>
      </p:grpSp>
      <p:sp>
        <p:nvSpPr>
          <p:cNvPr id="94" name="object 94"/>
          <p:cNvSpPr txBox="1"/>
          <p:nvPr/>
        </p:nvSpPr>
        <p:spPr>
          <a:xfrm>
            <a:off x="576478" y="5969304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720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76478" y="5738266"/>
            <a:ext cx="1993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740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76478" y="5508142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760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76478" y="5277739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780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76478" y="5047233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800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76478" y="4816855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Calibri"/>
                <a:cs typeface="Calibri"/>
              </a:rPr>
              <a:t>820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193698" y="6117742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2024E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156586" y="6117742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2025E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119120" y="6117742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2026E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82034" y="6117742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2027E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044566" y="6117742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2028E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4509261" y="2411729"/>
            <a:ext cx="317373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89330" marR="5080" indent="-97726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BEBEBE"/>
                </a:solidFill>
                <a:latin typeface="Calibri"/>
                <a:cs typeface="Calibri"/>
              </a:rPr>
              <a:t>Analysing</a:t>
            </a:r>
            <a:r>
              <a:rPr dirty="0" sz="2400" spc="-70" b="1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EBEBE"/>
                </a:solidFill>
                <a:latin typeface="Calibri"/>
                <a:cs typeface="Calibri"/>
              </a:rPr>
              <a:t>The</a:t>
            </a:r>
            <a:r>
              <a:rPr dirty="0" sz="2400" spc="-70" b="1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BEBEBE"/>
                </a:solidFill>
                <a:latin typeface="Calibri"/>
                <a:cs typeface="Calibri"/>
              </a:rPr>
              <a:t>Landscape Problems </a:t>
            </a:r>
            <a:r>
              <a:rPr dirty="0" sz="2400" spc="-10" b="1">
                <a:solidFill>
                  <a:srgbClr val="D0CECE"/>
                </a:solidFill>
                <a:latin typeface="Calibri"/>
                <a:cs typeface="Calibri"/>
              </a:rPr>
              <a:t>Solutions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17238" y="3509264"/>
            <a:ext cx="3559175" cy="814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865"/>
              </a:lnSpc>
              <a:spcBef>
                <a:spcPts val="100"/>
              </a:spcBef>
            </a:pPr>
            <a:r>
              <a:rPr dirty="0" sz="2400" spc="-10" b="1">
                <a:solidFill>
                  <a:srgbClr val="BEBEBE"/>
                </a:solidFill>
                <a:latin typeface="Calibri"/>
                <a:cs typeface="Calibri"/>
              </a:rPr>
              <a:t>Implementation</a:t>
            </a:r>
            <a:r>
              <a:rPr dirty="0" sz="2400" spc="-40" b="1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EBEBE"/>
                </a:solidFill>
                <a:latin typeface="Calibri"/>
                <a:cs typeface="Calibri"/>
              </a:rPr>
              <a:t>and</a:t>
            </a:r>
            <a:r>
              <a:rPr dirty="0" sz="2400" spc="-55" b="1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BEBEBE"/>
                </a:solidFill>
                <a:latin typeface="Calibri"/>
                <a:cs typeface="Calibri"/>
              </a:rPr>
              <a:t>Impact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3345"/>
              </a:lnSpc>
            </a:pPr>
            <a:r>
              <a:rPr dirty="0" sz="2800" spc="-10" b="1" i="1">
                <a:solidFill>
                  <a:srgbClr val="FFFFFF"/>
                </a:solidFill>
                <a:latin typeface="Calibri"/>
                <a:cs typeface="Calibri"/>
              </a:rPr>
              <a:t>Appendix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11793220" cy="0"/>
          </a:xfrm>
          <a:custGeom>
            <a:avLst/>
            <a:gdLst/>
            <a:ahLst/>
            <a:cxnLst/>
            <a:rect l="l" t="t" r="r" b="b"/>
            <a:pathLst>
              <a:path w="11793220" h="0">
                <a:moveTo>
                  <a:pt x="0" y="0"/>
                </a:moveTo>
                <a:lnTo>
                  <a:pt x="11793093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89" y="1871463"/>
            <a:ext cx="5794641" cy="223977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38131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120"/>
              <a:t> </a:t>
            </a:r>
            <a:r>
              <a:rPr dirty="0" spc="-25"/>
              <a:t>AUTOMATION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9323" y="325772"/>
            <a:ext cx="11071225" cy="1359535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  <a:tabLst>
                <a:tab pos="1105789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Unveiling</a:t>
            </a:r>
            <a:r>
              <a:rPr dirty="0" u="sng" sz="2000" spc="-5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potential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automated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processing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all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encompassing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credit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score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  <a:p>
            <a:pPr algn="ctr" marR="4858385">
              <a:lnSpc>
                <a:spcPct val="100000"/>
              </a:lnSpc>
              <a:spcBef>
                <a:spcPts val="1040"/>
              </a:spcBef>
            </a:pP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Cost</a:t>
            </a:r>
            <a:r>
              <a:rPr dirty="0" sz="1600" spc="-4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and</a:t>
            </a:r>
            <a:r>
              <a:rPr dirty="0" sz="16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time</a:t>
            </a:r>
            <a:r>
              <a:rPr dirty="0" sz="1600" spc="-5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savings</a:t>
            </a:r>
            <a:r>
              <a:rPr dirty="0" sz="1600" spc="-2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via</a:t>
            </a:r>
            <a:r>
              <a:rPr dirty="0" sz="1600" spc="-4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5C9DAE"/>
                </a:solidFill>
                <a:latin typeface="Calibri"/>
                <a:cs typeface="Calibri"/>
              </a:rPr>
              <a:t>automation</a:t>
            </a:r>
            <a:endParaRPr sz="1600">
              <a:latin typeface="Calibri"/>
              <a:cs typeface="Calibri"/>
            </a:endParaRPr>
          </a:p>
          <a:p>
            <a:pPr algn="ctr" marL="65405" marR="4926330">
              <a:lnSpc>
                <a:spcPct val="100000"/>
              </a:lnSpc>
            </a:pPr>
            <a:r>
              <a:rPr dirty="0" sz="1600" spc="-10" b="1">
                <a:solidFill>
                  <a:srgbClr val="5C9DAE"/>
                </a:solidFill>
                <a:latin typeface="Calibri"/>
                <a:cs typeface="Calibri"/>
              </a:rPr>
              <a:t>(Automation</a:t>
            </a:r>
            <a:r>
              <a:rPr dirty="0" sz="16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leads</a:t>
            </a:r>
            <a:r>
              <a:rPr dirty="0" sz="16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to</a:t>
            </a:r>
            <a:r>
              <a:rPr dirty="0" sz="1600" spc="-3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a</a:t>
            </a:r>
            <a:r>
              <a:rPr dirty="0" sz="16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30%</a:t>
            </a:r>
            <a:r>
              <a:rPr dirty="0" sz="1600" spc="-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fall</a:t>
            </a:r>
            <a:r>
              <a:rPr dirty="0" sz="1600" spc="-3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in</a:t>
            </a:r>
            <a:r>
              <a:rPr dirty="0" sz="16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the</a:t>
            </a:r>
            <a:r>
              <a:rPr dirty="0" sz="1600" spc="-2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time</a:t>
            </a:r>
            <a:r>
              <a:rPr dirty="0" sz="1600" spc="-3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taken</a:t>
            </a:r>
            <a:r>
              <a:rPr dirty="0" sz="16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to</a:t>
            </a:r>
            <a:r>
              <a:rPr dirty="0" sz="1600" spc="-3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5C9DAE"/>
                </a:solidFill>
                <a:latin typeface="Calibri"/>
                <a:cs typeface="Calibri"/>
              </a:rPr>
              <a:t>complete</a:t>
            </a:r>
            <a:r>
              <a:rPr dirty="0" sz="1600" spc="-1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each</a:t>
            </a:r>
            <a:r>
              <a:rPr dirty="0" sz="16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5C9DAE"/>
                </a:solidFill>
                <a:latin typeface="Calibri"/>
                <a:cs typeface="Calibri"/>
              </a:rPr>
              <a:t>step,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on</a:t>
            </a:r>
            <a:r>
              <a:rPr dirty="0" sz="1600" spc="-2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an</a:t>
            </a:r>
            <a:r>
              <a:rPr dirty="0" sz="1600" spc="-10" b="1">
                <a:solidFill>
                  <a:srgbClr val="5C9DAE"/>
                </a:solidFill>
                <a:latin typeface="Calibri"/>
                <a:cs typeface="Calibri"/>
              </a:rPr>
              <a:t> average)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7954" y="3603321"/>
            <a:ext cx="5241534" cy="24121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874509" y="2815843"/>
            <a:ext cx="486346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5C9DAE"/>
                </a:solidFill>
                <a:latin typeface="Calibri"/>
                <a:cs typeface="Calibri"/>
              </a:rPr>
              <a:t>Improvement</a:t>
            </a:r>
            <a:r>
              <a:rPr dirty="0" sz="16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in</a:t>
            </a:r>
            <a:r>
              <a:rPr dirty="0" sz="1600" spc="-5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Financial</a:t>
            </a:r>
            <a:r>
              <a:rPr dirty="0" sz="1600" spc="-5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Inclusion</a:t>
            </a:r>
            <a:r>
              <a:rPr dirty="0" sz="1600" spc="-3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via</a:t>
            </a:r>
            <a:r>
              <a:rPr dirty="0" sz="1600" spc="-4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5C9DAE"/>
                </a:solidFill>
                <a:latin typeface="Calibri"/>
                <a:cs typeface="Calibri"/>
              </a:rPr>
              <a:t>Organic</a:t>
            </a:r>
            <a:r>
              <a:rPr dirty="0" sz="1600" spc="-3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Growth</a:t>
            </a:r>
            <a:r>
              <a:rPr dirty="0" sz="1600" spc="-25" b="1">
                <a:solidFill>
                  <a:srgbClr val="5C9DAE"/>
                </a:solidFill>
                <a:latin typeface="Calibri"/>
                <a:cs typeface="Calibri"/>
              </a:rPr>
              <a:t> of</a:t>
            </a:r>
            <a:endParaRPr sz="16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our</a:t>
            </a:r>
            <a:r>
              <a:rPr dirty="0" sz="1600" spc="-4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Credit</a:t>
            </a:r>
            <a:r>
              <a:rPr dirty="0" sz="1600" spc="-4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5C9DAE"/>
                </a:solidFill>
                <a:latin typeface="Calibri"/>
                <a:cs typeface="Calibri"/>
              </a:rPr>
              <a:t>Reimagined</a:t>
            </a:r>
            <a:r>
              <a:rPr dirty="0" sz="1600" spc="-5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5C9DAE"/>
                </a:solidFill>
                <a:latin typeface="Calibri"/>
                <a:cs typeface="Calibri"/>
              </a:rPr>
              <a:t>Policy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11793220" cy="0"/>
          </a:xfrm>
          <a:custGeom>
            <a:avLst/>
            <a:gdLst/>
            <a:ahLst/>
            <a:cxnLst/>
            <a:rect l="l" t="t" r="r" b="b"/>
            <a:pathLst>
              <a:path w="11793220" h="0">
                <a:moveTo>
                  <a:pt x="0" y="0"/>
                </a:moveTo>
                <a:lnTo>
                  <a:pt x="11793093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42983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110"/>
              <a:t> </a:t>
            </a:r>
            <a:r>
              <a:rPr dirty="0"/>
              <a:t>LENDING</a:t>
            </a:r>
            <a:r>
              <a:rPr dirty="0" spc="-105"/>
              <a:t> </a:t>
            </a:r>
            <a:r>
              <a:rPr dirty="0" spc="-10"/>
              <a:t>CIRCLES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323" y="491489"/>
            <a:ext cx="110712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5789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Exploring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mechanism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2074164"/>
            <a:ext cx="1942723" cy="37658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3616" y="2074164"/>
            <a:ext cx="1939923" cy="37658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8111" y="5888837"/>
            <a:ext cx="42291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13075" algn="l"/>
              </a:tabLst>
            </a:pPr>
            <a:r>
              <a:rPr dirty="0" sz="1400" b="1">
                <a:latin typeface="Calibri"/>
                <a:cs typeface="Calibri"/>
              </a:rPr>
              <a:t>Personal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and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Beneficiary</a:t>
            </a:r>
            <a:r>
              <a:rPr dirty="0" sz="1400" spc="-7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Details</a:t>
            </a:r>
            <a:r>
              <a:rPr dirty="0" sz="1400" b="1">
                <a:latin typeface="Calibri"/>
                <a:cs typeface="Calibri"/>
              </a:rPr>
              <a:t>	Financial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Details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1976" y="899160"/>
            <a:ext cx="1450975" cy="33845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3365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65"/>
              </a:spcBef>
            </a:pP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Lending</a:t>
            </a: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Circles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34995" y="1237488"/>
            <a:ext cx="6942455" cy="289560"/>
          </a:xfrm>
          <a:custGeom>
            <a:avLst/>
            <a:gdLst/>
            <a:ahLst/>
            <a:cxnLst/>
            <a:rect l="l" t="t" r="r" b="b"/>
            <a:pathLst>
              <a:path w="6942455" h="289559">
                <a:moveTo>
                  <a:pt x="3232404" y="0"/>
                </a:moveTo>
                <a:lnTo>
                  <a:pt x="3232404" y="147700"/>
                </a:lnTo>
              </a:path>
              <a:path w="6942455" h="289559">
                <a:moveTo>
                  <a:pt x="13716" y="147827"/>
                </a:moveTo>
                <a:lnTo>
                  <a:pt x="6942455" y="147827"/>
                </a:lnTo>
              </a:path>
              <a:path w="6942455" h="289559">
                <a:moveTo>
                  <a:pt x="0" y="152400"/>
                </a:moveTo>
                <a:lnTo>
                  <a:pt x="0" y="289560"/>
                </a:lnTo>
              </a:path>
              <a:path w="6942455" h="289559">
                <a:moveTo>
                  <a:pt x="6938772" y="152400"/>
                </a:moveTo>
                <a:lnTo>
                  <a:pt x="6938772" y="269747"/>
                </a:lnTo>
              </a:path>
            </a:pathLst>
          </a:custGeom>
          <a:ln w="635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19200" y="1517141"/>
            <a:ext cx="2959735" cy="52387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4450" rIns="0" bIns="0" rtlCol="0" vert="horz">
            <a:spAutoFit/>
          </a:bodyPr>
          <a:lstStyle/>
          <a:p>
            <a:pPr marL="102870" marR="97790" indent="53340">
              <a:lnSpc>
                <a:spcPct val="100000"/>
              </a:lnSpc>
              <a:spcBef>
                <a:spcPts val="350"/>
              </a:spcBef>
            </a:pPr>
            <a:r>
              <a:rPr dirty="0" sz="1400" b="1">
                <a:latin typeface="Calibri"/>
                <a:cs typeface="Calibri"/>
              </a:rPr>
              <a:t>Mobile</a:t>
            </a:r>
            <a:r>
              <a:rPr dirty="0" sz="1400" spc="-10" b="1">
                <a:latin typeface="Calibri"/>
                <a:cs typeface="Calibri"/>
              </a:rPr>
              <a:t> Literate: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Approximately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30% Targeted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through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Online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Applications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79307" y="1517141"/>
            <a:ext cx="2628900" cy="52387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24130" rIns="0" bIns="0" rtlCol="0" vert="horz">
            <a:spAutoFit/>
          </a:bodyPr>
          <a:lstStyle/>
          <a:p>
            <a:pPr marL="102870" marR="95250" indent="280035">
              <a:lnSpc>
                <a:spcPct val="100000"/>
              </a:lnSpc>
              <a:spcBef>
                <a:spcPts val="190"/>
              </a:spcBef>
            </a:pPr>
            <a:r>
              <a:rPr dirty="0" sz="1400" b="1">
                <a:latin typeface="Calibri"/>
                <a:cs typeface="Calibri"/>
              </a:rPr>
              <a:t>Less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Aware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about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Mobile </a:t>
            </a:r>
            <a:r>
              <a:rPr dirty="0" sz="1400" spc="-25" b="1">
                <a:latin typeface="Calibri"/>
                <a:cs typeface="Calibri"/>
              </a:rPr>
              <a:t>Targeted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through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Agent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Network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8516" y="2264664"/>
            <a:ext cx="415121" cy="52120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202548" y="2801874"/>
            <a:ext cx="263334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79169" marR="5080" indent="-967105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alibri"/>
                <a:cs typeface="Calibri"/>
              </a:rPr>
              <a:t>Agents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Field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Officers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visit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Tier </a:t>
            </a:r>
            <a:r>
              <a:rPr dirty="0" sz="1400">
                <a:latin typeface="Calibri"/>
                <a:cs typeface="Calibri"/>
              </a:rPr>
              <a:t>2/3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areas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31505" y="4093209"/>
            <a:ext cx="2574925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alibri"/>
                <a:cs typeface="Calibri"/>
              </a:rPr>
              <a:t>Target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groups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individually</a:t>
            </a:r>
            <a:r>
              <a:rPr dirty="0" sz="1400" spc="-20">
                <a:latin typeface="Calibri"/>
                <a:cs typeface="Calibri"/>
              </a:rPr>
              <a:t> after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Calibri"/>
                <a:cs typeface="Calibri"/>
              </a:rPr>
              <a:t>looking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synchronized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server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09026" y="5404205"/>
            <a:ext cx="278701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Awareness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through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pamphlets,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>
                <a:latin typeface="Calibri"/>
                <a:cs typeface="Calibri"/>
              </a:rPr>
              <a:t>spot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filling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Officer’s device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64498" y="3583154"/>
            <a:ext cx="510335" cy="49331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44116" y="4811267"/>
            <a:ext cx="409010" cy="59436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36804" y="6149340"/>
            <a:ext cx="11536680" cy="307975"/>
          </a:xfrm>
          <a:prstGeom prst="rect">
            <a:avLst/>
          </a:prstGeom>
          <a:solidFill>
            <a:srgbClr val="5C9DAE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Goal</a:t>
            </a:r>
            <a:r>
              <a:rPr dirty="0" sz="1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Fulfilled:</a:t>
            </a:r>
            <a:r>
              <a:rPr dirty="0" sz="1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dirty="0" sz="14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Inclusion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76188" y="1107947"/>
            <a:ext cx="5422900" cy="234950"/>
          </a:xfrm>
          <a:prstGeom prst="rect">
            <a:avLst/>
          </a:prstGeom>
          <a:solidFill>
            <a:srgbClr val="F0F0F0"/>
          </a:solidFill>
        </p:spPr>
        <p:txBody>
          <a:bodyPr wrap="square" lIns="0" tIns="40005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315"/>
              </a:spcBef>
            </a:pPr>
            <a:r>
              <a:rPr dirty="0" sz="1200">
                <a:latin typeface="Calibri"/>
                <a:cs typeface="Calibri"/>
              </a:rPr>
              <a:t>Based 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Credit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Score,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following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alternatives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recommended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068121" y="1401317"/>
            <a:ext cx="3472179" cy="837565"/>
            <a:chOff x="7068121" y="1401317"/>
            <a:chExt cx="3472179" cy="837565"/>
          </a:xfrm>
        </p:grpSpPr>
        <p:sp>
          <p:nvSpPr>
            <p:cNvPr id="4" name="object 4"/>
            <p:cNvSpPr/>
            <p:nvPr/>
          </p:nvSpPr>
          <p:spPr>
            <a:xfrm>
              <a:off x="10459212" y="1694674"/>
              <a:ext cx="76200" cy="513715"/>
            </a:xfrm>
            <a:custGeom>
              <a:avLst/>
              <a:gdLst/>
              <a:ahLst/>
              <a:cxnLst/>
              <a:rect l="l" t="t" r="r" b="b"/>
              <a:pathLst>
                <a:path w="76200" h="513714">
                  <a:moveTo>
                    <a:pt x="76200" y="437146"/>
                  </a:moveTo>
                  <a:lnTo>
                    <a:pt x="47625" y="437146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437146"/>
                  </a:lnTo>
                  <a:lnTo>
                    <a:pt x="0" y="437146"/>
                  </a:lnTo>
                  <a:lnTo>
                    <a:pt x="38100" y="513346"/>
                  </a:lnTo>
                  <a:lnTo>
                    <a:pt x="69850" y="449846"/>
                  </a:lnTo>
                  <a:lnTo>
                    <a:pt x="76200" y="437146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459211" y="1694675"/>
              <a:ext cx="76200" cy="513715"/>
            </a:xfrm>
            <a:custGeom>
              <a:avLst/>
              <a:gdLst/>
              <a:ahLst/>
              <a:cxnLst/>
              <a:rect l="l" t="t" r="r" b="b"/>
              <a:pathLst>
                <a:path w="76200" h="513714">
                  <a:moveTo>
                    <a:pt x="28575" y="437146"/>
                  </a:moveTo>
                  <a:lnTo>
                    <a:pt x="0" y="437146"/>
                  </a:lnTo>
                  <a:lnTo>
                    <a:pt x="38100" y="513346"/>
                  </a:lnTo>
                  <a:lnTo>
                    <a:pt x="69850" y="449846"/>
                  </a:lnTo>
                  <a:lnTo>
                    <a:pt x="28575" y="449846"/>
                  </a:lnTo>
                  <a:lnTo>
                    <a:pt x="28575" y="437146"/>
                  </a:lnTo>
                  <a:close/>
                </a:path>
                <a:path w="76200" h="513714">
                  <a:moveTo>
                    <a:pt x="28575" y="449846"/>
                  </a:moveTo>
                  <a:lnTo>
                    <a:pt x="47625" y="449846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449846"/>
                  </a:lnTo>
                  <a:close/>
                </a:path>
                <a:path w="76200" h="513714">
                  <a:moveTo>
                    <a:pt x="76200" y="437146"/>
                  </a:moveTo>
                  <a:lnTo>
                    <a:pt x="47625" y="437146"/>
                  </a:lnTo>
                  <a:lnTo>
                    <a:pt x="47625" y="449846"/>
                  </a:lnTo>
                  <a:lnTo>
                    <a:pt x="69850" y="449846"/>
                  </a:lnTo>
                  <a:lnTo>
                    <a:pt x="76200" y="437146"/>
                  </a:lnTo>
                  <a:close/>
                </a:path>
              </a:pathLst>
            </a:custGeom>
            <a:ln w="952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111745" y="1695449"/>
              <a:ext cx="3387725" cy="26034"/>
            </a:xfrm>
            <a:custGeom>
              <a:avLst/>
              <a:gdLst/>
              <a:ahLst/>
              <a:cxnLst/>
              <a:rect l="l" t="t" r="r" b="b"/>
              <a:pathLst>
                <a:path w="3387725" h="26035">
                  <a:moveTo>
                    <a:pt x="0" y="25780"/>
                  </a:moveTo>
                  <a:lnTo>
                    <a:pt x="3387598" y="0"/>
                  </a:lnTo>
                </a:path>
              </a:pathLst>
            </a:custGeom>
            <a:ln w="1905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72884" y="1720583"/>
              <a:ext cx="76200" cy="513715"/>
            </a:xfrm>
            <a:custGeom>
              <a:avLst/>
              <a:gdLst/>
              <a:ahLst/>
              <a:cxnLst/>
              <a:rect l="l" t="t" r="r" b="b"/>
              <a:pathLst>
                <a:path w="76200" h="513714">
                  <a:moveTo>
                    <a:pt x="76200" y="437146"/>
                  </a:moveTo>
                  <a:lnTo>
                    <a:pt x="47625" y="437146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437146"/>
                  </a:lnTo>
                  <a:lnTo>
                    <a:pt x="0" y="437146"/>
                  </a:lnTo>
                  <a:lnTo>
                    <a:pt x="38100" y="513346"/>
                  </a:lnTo>
                  <a:lnTo>
                    <a:pt x="69850" y="449846"/>
                  </a:lnTo>
                  <a:lnTo>
                    <a:pt x="76200" y="437146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72883" y="1720583"/>
              <a:ext cx="76200" cy="513715"/>
            </a:xfrm>
            <a:custGeom>
              <a:avLst/>
              <a:gdLst/>
              <a:ahLst/>
              <a:cxnLst/>
              <a:rect l="l" t="t" r="r" b="b"/>
              <a:pathLst>
                <a:path w="76200" h="513714">
                  <a:moveTo>
                    <a:pt x="28575" y="437146"/>
                  </a:moveTo>
                  <a:lnTo>
                    <a:pt x="0" y="437146"/>
                  </a:lnTo>
                  <a:lnTo>
                    <a:pt x="38100" y="513346"/>
                  </a:lnTo>
                  <a:lnTo>
                    <a:pt x="69850" y="449846"/>
                  </a:lnTo>
                  <a:lnTo>
                    <a:pt x="28575" y="449846"/>
                  </a:lnTo>
                  <a:lnTo>
                    <a:pt x="28575" y="437146"/>
                  </a:lnTo>
                  <a:close/>
                </a:path>
                <a:path w="76200" h="513714">
                  <a:moveTo>
                    <a:pt x="28575" y="449846"/>
                  </a:moveTo>
                  <a:lnTo>
                    <a:pt x="47625" y="449846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449846"/>
                  </a:lnTo>
                  <a:close/>
                </a:path>
                <a:path w="76200" h="513714">
                  <a:moveTo>
                    <a:pt x="76200" y="437146"/>
                  </a:moveTo>
                  <a:lnTo>
                    <a:pt x="47625" y="437146"/>
                  </a:lnTo>
                  <a:lnTo>
                    <a:pt x="47625" y="449846"/>
                  </a:lnTo>
                  <a:lnTo>
                    <a:pt x="69850" y="449846"/>
                  </a:lnTo>
                  <a:lnTo>
                    <a:pt x="76200" y="437146"/>
                  </a:lnTo>
                  <a:close/>
                </a:path>
              </a:pathLst>
            </a:custGeom>
            <a:ln w="952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811005" y="1401317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w="0" h="294005">
                  <a:moveTo>
                    <a:pt x="0" y="293878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597395" y="2301239"/>
            <a:ext cx="1117600" cy="208915"/>
          </a:xfrm>
          <a:prstGeom prst="rect">
            <a:avLst/>
          </a:prstGeom>
          <a:solidFill>
            <a:srgbClr val="DEEBF7"/>
          </a:solidFill>
        </p:spPr>
        <p:txBody>
          <a:bodyPr wrap="square" lIns="0" tIns="15240" rIns="0" bIns="0" rtlCol="0" vert="horz">
            <a:spAutoFit/>
          </a:bodyPr>
          <a:lstStyle/>
          <a:p>
            <a:pPr marL="140335">
              <a:lnSpc>
                <a:spcPct val="100000"/>
              </a:lnSpc>
              <a:spcBef>
                <a:spcPts val="120"/>
              </a:spcBef>
            </a:pPr>
            <a:r>
              <a:rPr dirty="0" sz="1200" spc="-25" b="1">
                <a:latin typeface="Calibri"/>
                <a:cs typeface="Calibri"/>
              </a:rPr>
              <a:t>LOW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41052" y="2237232"/>
            <a:ext cx="1117600" cy="210820"/>
          </a:xfrm>
          <a:prstGeom prst="rect">
            <a:avLst/>
          </a:prstGeom>
          <a:solidFill>
            <a:srgbClr val="DEEBF7"/>
          </a:solidFill>
        </p:spPr>
        <p:txBody>
          <a:bodyPr wrap="square" lIns="0" tIns="15875" rIns="0" bIns="0" rtlCol="0" vert="horz">
            <a:spAutoFit/>
          </a:bodyPr>
          <a:lstStyle/>
          <a:p>
            <a:pPr marL="11811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latin typeface="Calibri"/>
                <a:cs typeface="Calibri"/>
              </a:rPr>
              <a:t>HIGH</a:t>
            </a:r>
            <a:r>
              <a:rPr dirty="0" sz="1200" spc="-7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SCORE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068121" y="2587536"/>
            <a:ext cx="85725" cy="340360"/>
            <a:chOff x="7068121" y="2587536"/>
            <a:chExt cx="85725" cy="340360"/>
          </a:xfrm>
        </p:grpSpPr>
        <p:sp>
          <p:nvSpPr>
            <p:cNvPr id="13" name="object 13"/>
            <p:cNvSpPr/>
            <p:nvPr/>
          </p:nvSpPr>
          <p:spPr>
            <a:xfrm>
              <a:off x="7072884" y="2592298"/>
              <a:ext cx="76200" cy="330835"/>
            </a:xfrm>
            <a:custGeom>
              <a:avLst/>
              <a:gdLst/>
              <a:ahLst/>
              <a:cxnLst/>
              <a:rect l="l" t="t" r="r" b="b"/>
              <a:pathLst>
                <a:path w="76200" h="330835">
                  <a:moveTo>
                    <a:pt x="76200" y="254406"/>
                  </a:moveTo>
                  <a:lnTo>
                    <a:pt x="47625" y="254406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254406"/>
                  </a:lnTo>
                  <a:lnTo>
                    <a:pt x="0" y="254406"/>
                  </a:lnTo>
                  <a:lnTo>
                    <a:pt x="38100" y="330733"/>
                  </a:lnTo>
                  <a:lnTo>
                    <a:pt x="69850" y="267106"/>
                  </a:lnTo>
                  <a:lnTo>
                    <a:pt x="76200" y="254406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072883" y="2592298"/>
              <a:ext cx="76200" cy="330835"/>
            </a:xfrm>
            <a:custGeom>
              <a:avLst/>
              <a:gdLst/>
              <a:ahLst/>
              <a:cxnLst/>
              <a:rect l="l" t="t" r="r" b="b"/>
              <a:pathLst>
                <a:path w="76200" h="330835">
                  <a:moveTo>
                    <a:pt x="28575" y="254406"/>
                  </a:moveTo>
                  <a:lnTo>
                    <a:pt x="0" y="254406"/>
                  </a:lnTo>
                  <a:lnTo>
                    <a:pt x="38100" y="330733"/>
                  </a:lnTo>
                  <a:lnTo>
                    <a:pt x="69850" y="267106"/>
                  </a:lnTo>
                  <a:lnTo>
                    <a:pt x="28575" y="267106"/>
                  </a:lnTo>
                  <a:lnTo>
                    <a:pt x="28575" y="254406"/>
                  </a:lnTo>
                  <a:close/>
                </a:path>
                <a:path w="76200" h="330835">
                  <a:moveTo>
                    <a:pt x="28575" y="267106"/>
                  </a:moveTo>
                  <a:lnTo>
                    <a:pt x="47625" y="267106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267106"/>
                  </a:lnTo>
                  <a:close/>
                </a:path>
                <a:path w="76200" h="330835">
                  <a:moveTo>
                    <a:pt x="76200" y="254406"/>
                  </a:moveTo>
                  <a:lnTo>
                    <a:pt x="47625" y="254406"/>
                  </a:lnTo>
                  <a:lnTo>
                    <a:pt x="47625" y="267106"/>
                  </a:lnTo>
                  <a:lnTo>
                    <a:pt x="69850" y="267106"/>
                  </a:lnTo>
                  <a:lnTo>
                    <a:pt x="76200" y="254406"/>
                  </a:lnTo>
                  <a:close/>
                </a:path>
              </a:pathLst>
            </a:custGeom>
            <a:ln w="952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10454449" y="2508376"/>
            <a:ext cx="85725" cy="339090"/>
            <a:chOff x="10454449" y="2508376"/>
            <a:chExt cx="85725" cy="339090"/>
          </a:xfrm>
        </p:grpSpPr>
        <p:sp>
          <p:nvSpPr>
            <p:cNvPr id="16" name="object 16"/>
            <p:cNvSpPr/>
            <p:nvPr/>
          </p:nvSpPr>
          <p:spPr>
            <a:xfrm>
              <a:off x="10459212" y="2513139"/>
              <a:ext cx="76200" cy="329565"/>
            </a:xfrm>
            <a:custGeom>
              <a:avLst/>
              <a:gdLst/>
              <a:ahLst/>
              <a:cxnLst/>
              <a:rect l="l" t="t" r="r" b="b"/>
              <a:pathLst>
                <a:path w="76200" h="329564">
                  <a:moveTo>
                    <a:pt x="76200" y="253174"/>
                  </a:moveTo>
                  <a:lnTo>
                    <a:pt x="47625" y="253174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253174"/>
                  </a:lnTo>
                  <a:lnTo>
                    <a:pt x="0" y="253174"/>
                  </a:lnTo>
                  <a:lnTo>
                    <a:pt x="38100" y="329120"/>
                  </a:lnTo>
                  <a:lnTo>
                    <a:pt x="69850" y="265874"/>
                  </a:lnTo>
                  <a:lnTo>
                    <a:pt x="76200" y="253174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459211" y="2513139"/>
              <a:ext cx="76200" cy="329565"/>
            </a:xfrm>
            <a:custGeom>
              <a:avLst/>
              <a:gdLst/>
              <a:ahLst/>
              <a:cxnLst/>
              <a:rect l="l" t="t" r="r" b="b"/>
              <a:pathLst>
                <a:path w="76200" h="329564">
                  <a:moveTo>
                    <a:pt x="28575" y="253174"/>
                  </a:moveTo>
                  <a:lnTo>
                    <a:pt x="0" y="253174"/>
                  </a:lnTo>
                  <a:lnTo>
                    <a:pt x="38100" y="329120"/>
                  </a:lnTo>
                  <a:lnTo>
                    <a:pt x="69850" y="265874"/>
                  </a:lnTo>
                  <a:lnTo>
                    <a:pt x="28575" y="265874"/>
                  </a:lnTo>
                  <a:lnTo>
                    <a:pt x="28575" y="253174"/>
                  </a:lnTo>
                  <a:close/>
                </a:path>
                <a:path w="76200" h="329564">
                  <a:moveTo>
                    <a:pt x="28575" y="265874"/>
                  </a:moveTo>
                  <a:lnTo>
                    <a:pt x="47625" y="265874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265874"/>
                  </a:lnTo>
                  <a:close/>
                </a:path>
                <a:path w="76200" h="329564">
                  <a:moveTo>
                    <a:pt x="76200" y="253174"/>
                  </a:moveTo>
                  <a:lnTo>
                    <a:pt x="47625" y="253174"/>
                  </a:lnTo>
                  <a:lnTo>
                    <a:pt x="47625" y="265874"/>
                  </a:lnTo>
                  <a:lnTo>
                    <a:pt x="69850" y="265874"/>
                  </a:lnTo>
                  <a:lnTo>
                    <a:pt x="76200" y="253174"/>
                  </a:lnTo>
                  <a:close/>
                </a:path>
              </a:pathLst>
            </a:custGeom>
            <a:ln w="9525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292596" y="4370832"/>
            <a:ext cx="2193290" cy="262255"/>
          </a:xfrm>
          <a:prstGeom prst="rect">
            <a:avLst/>
          </a:prstGeom>
          <a:solidFill>
            <a:srgbClr val="F1F7F8"/>
          </a:solidFill>
        </p:spPr>
        <p:txBody>
          <a:bodyPr wrap="square" lIns="0" tIns="67945" rIns="0" bIns="0" rtlCol="0" vert="horz">
            <a:spAutoFit/>
          </a:bodyPr>
          <a:lstStyle/>
          <a:p>
            <a:pPr marL="328295">
              <a:lnSpc>
                <a:spcPct val="100000"/>
              </a:lnSpc>
              <a:spcBef>
                <a:spcPts val="535"/>
              </a:spcBef>
            </a:pPr>
            <a:r>
              <a:rPr dirty="0" sz="1200" spc="-10" b="1">
                <a:latin typeface="Calibri"/>
                <a:cs typeface="Calibri"/>
              </a:rPr>
              <a:t>PROGRESSIVE</a:t>
            </a:r>
            <a:r>
              <a:rPr dirty="0" sz="1200" spc="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LENDING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9923" y="3078479"/>
            <a:ext cx="2235835" cy="251460"/>
          </a:xfrm>
          <a:prstGeom prst="rect">
            <a:avLst/>
          </a:prstGeom>
          <a:solidFill>
            <a:srgbClr val="F1F7F8"/>
          </a:solidFill>
        </p:spPr>
        <p:txBody>
          <a:bodyPr wrap="square" lIns="0" tIns="57785" rIns="0" bIns="0" rtlCol="0" vert="horz">
            <a:spAutoFit/>
          </a:bodyPr>
          <a:lstStyle/>
          <a:p>
            <a:pPr marL="210820">
              <a:lnSpc>
                <a:spcPct val="100000"/>
              </a:lnSpc>
              <a:spcBef>
                <a:spcPts val="455"/>
              </a:spcBef>
            </a:pPr>
            <a:r>
              <a:rPr dirty="0" sz="1200" spc="10" b="1">
                <a:latin typeface="Calibri"/>
                <a:cs typeface="Calibri"/>
              </a:rPr>
              <a:t>ACCELERATED</a:t>
            </a:r>
            <a:r>
              <a:rPr dirty="0" sz="1200" spc="19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REPAYMENT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12656" y="2925317"/>
            <a:ext cx="2385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384" algn="l"/>
              </a:tabLst>
            </a:pPr>
            <a:r>
              <a:rPr dirty="0" sz="1200" spc="60">
                <a:latin typeface="Calibri"/>
                <a:cs typeface="Calibri"/>
              </a:rPr>
              <a:t>The</a:t>
            </a:r>
            <a:r>
              <a:rPr dirty="0" sz="1200">
                <a:latin typeface="Calibri"/>
                <a:cs typeface="Calibri"/>
              </a:rPr>
              <a:t>	person</a:t>
            </a:r>
            <a:r>
              <a:rPr dirty="0" sz="1200" spc="20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9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granted</a:t>
            </a:r>
            <a:r>
              <a:rPr dirty="0" sz="1200" spc="19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95">
                <a:latin typeface="Calibri"/>
                <a:cs typeface="Calibri"/>
              </a:rPr>
              <a:t>  </a:t>
            </a:r>
            <a:r>
              <a:rPr dirty="0" sz="1200" spc="-20">
                <a:latin typeface="Calibri"/>
                <a:cs typeface="Calibri"/>
              </a:rPr>
              <a:t>loan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12656" y="3108452"/>
            <a:ext cx="23856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amount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repayment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would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not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4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4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4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accelerated</a:t>
            </a:r>
            <a:r>
              <a:rPr dirty="0" sz="1200" spc="459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manner,</a:t>
            </a:r>
            <a:r>
              <a:rPr dirty="0" sz="1200" spc="47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but </a:t>
            </a:r>
            <a:r>
              <a:rPr dirty="0" sz="1200">
                <a:latin typeface="Calibri"/>
                <a:cs typeface="Calibri"/>
              </a:rPr>
              <a:t>normalized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manner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63817" y="3452876"/>
            <a:ext cx="277495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85">
                <a:latin typeface="Calibri"/>
                <a:cs typeface="Calibri"/>
              </a:rPr>
              <a:t>The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repayment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pushed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4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little </a:t>
            </a:r>
            <a:r>
              <a:rPr dirty="0" sz="1200">
                <a:latin typeface="Calibri"/>
                <a:cs typeface="Calibri"/>
              </a:rPr>
              <a:t>earlier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faster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intervals,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16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overall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risk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minimalised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spread</a:t>
            </a:r>
            <a:r>
              <a:rPr dirty="0" sz="1200" spc="-20">
                <a:latin typeface="Calibri"/>
                <a:cs typeface="Calibri"/>
              </a:rPr>
              <a:t> out.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63817" y="4778755"/>
            <a:ext cx="288925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23900" algn="l"/>
                <a:tab pos="1277620" algn="l"/>
                <a:tab pos="1818639" algn="l"/>
                <a:tab pos="2115820" algn="l"/>
                <a:tab pos="2649220" algn="l"/>
              </a:tabLst>
            </a:pPr>
            <a:r>
              <a:rPr dirty="0" sz="1200" spc="85">
                <a:latin typeface="Calibri"/>
                <a:cs typeface="Calibri"/>
              </a:rPr>
              <a:t>The</a:t>
            </a:r>
            <a:r>
              <a:rPr dirty="0" sz="1200" spc="3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loans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lent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progressive </a:t>
            </a:r>
            <a:r>
              <a:rPr dirty="0" sz="1200">
                <a:latin typeface="Calibri"/>
                <a:cs typeface="Calibri"/>
              </a:rPr>
              <a:t>manner</a:t>
            </a:r>
            <a:r>
              <a:rPr dirty="0" sz="1200" spc="2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2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8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higher</a:t>
            </a:r>
            <a:r>
              <a:rPr dirty="0" sz="1200" spc="30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rate</a:t>
            </a:r>
            <a:r>
              <a:rPr dirty="0" sz="1200" spc="3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starting</a:t>
            </a:r>
            <a:r>
              <a:rPr dirty="0" sz="1200" spc="2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3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smaller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amount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 then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progressing</a:t>
            </a:r>
            <a:r>
              <a:rPr dirty="0" sz="1200" spc="50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towards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larger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sums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to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0">
                <a:latin typeface="Calibri"/>
                <a:cs typeface="Calibri"/>
              </a:rPr>
              <a:t>judge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credibility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based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farmer’s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repayment.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65742" y="5482844"/>
            <a:ext cx="25285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Calibri"/>
                <a:cs typeface="Calibri"/>
              </a:rPr>
              <a:t>Adika, </a:t>
            </a:r>
            <a:r>
              <a:rPr dirty="0" sz="1200" spc="-20" b="1">
                <a:latin typeface="Calibri"/>
                <a:cs typeface="Calibri"/>
              </a:rPr>
              <a:t>who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struggled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to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35" b="1">
                <a:latin typeface="Calibri"/>
                <a:cs typeface="Calibri"/>
              </a:rPr>
              <a:t>get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loan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earlier due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to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30" b="1">
                <a:latin typeface="Calibri"/>
                <a:cs typeface="Calibri"/>
              </a:rPr>
              <a:t>unavailability</a:t>
            </a:r>
            <a:r>
              <a:rPr dirty="0" sz="1200" b="1">
                <a:latin typeface="Calibri"/>
                <a:cs typeface="Calibri"/>
              </a:rPr>
              <a:t> of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30" b="1">
                <a:latin typeface="Calibri"/>
                <a:cs typeface="Calibri"/>
              </a:rPr>
              <a:t>information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and </a:t>
            </a:r>
            <a:r>
              <a:rPr dirty="0" sz="1200" spc="-20" b="1">
                <a:latin typeface="Calibri"/>
                <a:cs typeface="Calibri"/>
              </a:rPr>
              <a:t>low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credit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score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now</a:t>
            </a:r>
            <a:r>
              <a:rPr dirty="0" sz="1200" spc="-35" b="1">
                <a:latin typeface="Calibri"/>
                <a:cs typeface="Calibri"/>
              </a:rPr>
              <a:t> granted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loan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1405" y="3340988"/>
            <a:ext cx="3999229" cy="377825"/>
          </a:xfrm>
          <a:custGeom>
            <a:avLst/>
            <a:gdLst/>
            <a:ahLst/>
            <a:cxnLst/>
            <a:rect l="l" t="t" r="r" b="b"/>
            <a:pathLst>
              <a:path w="3999229" h="377825">
                <a:moveTo>
                  <a:pt x="3999179" y="0"/>
                </a:moveTo>
                <a:lnTo>
                  <a:pt x="2132330" y="0"/>
                </a:lnTo>
                <a:lnTo>
                  <a:pt x="0" y="0"/>
                </a:lnTo>
                <a:lnTo>
                  <a:pt x="0" y="377317"/>
                </a:lnTo>
                <a:lnTo>
                  <a:pt x="2132279" y="377317"/>
                </a:lnTo>
                <a:lnTo>
                  <a:pt x="3999179" y="377317"/>
                </a:lnTo>
                <a:lnTo>
                  <a:pt x="3999179" y="0"/>
                </a:lnTo>
                <a:close/>
              </a:path>
            </a:pathLst>
          </a:custGeom>
          <a:solidFill>
            <a:srgbClr val="E8F0F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75055" y="3334639"/>
          <a:ext cx="4088129" cy="75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330"/>
                <a:gridCol w="1866899"/>
              </a:tblGrid>
              <a:tr h="377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Nominal</a:t>
                      </a:r>
                      <a:r>
                        <a:rPr dirty="0" sz="12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Default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risk</a:t>
                      </a:r>
                      <a:r>
                        <a:rPr dirty="0" sz="12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score</a:t>
                      </a:r>
                      <a:r>
                        <a:rPr dirty="0"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addition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Wrong</a:t>
                      </a:r>
                      <a:r>
                        <a:rPr dirty="0" sz="1200" spc="1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dirty="0" sz="1200" spc="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Provided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risk</a:t>
                      </a:r>
                      <a:r>
                        <a:rPr dirty="0" sz="12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latin typeface="Calibri"/>
                          <a:cs typeface="Calibri"/>
                        </a:rPr>
                        <a:t>score</a:t>
                      </a:r>
                      <a:r>
                        <a:rPr dirty="0" sz="12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latin typeface="Calibri"/>
                          <a:cs typeface="Calibri"/>
                        </a:rPr>
                        <a:t>addition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454151" y="2019300"/>
            <a:ext cx="4491355" cy="87058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44145" rIns="0" bIns="0" rtlCol="0" vert="horz">
            <a:spAutoFit/>
          </a:bodyPr>
          <a:lstStyle/>
          <a:p>
            <a:pPr marL="215265" marR="549275">
              <a:lnSpc>
                <a:spcPct val="100000"/>
              </a:lnSpc>
              <a:spcBef>
                <a:spcPts val="1135"/>
              </a:spcBef>
            </a:pPr>
            <a:r>
              <a:rPr dirty="0" sz="1200" spc="-10">
                <a:latin typeface="Calibri"/>
                <a:cs typeface="Calibri"/>
              </a:rPr>
              <a:t>Any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default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increases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lending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circle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risk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score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which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pushed </a:t>
            </a:r>
            <a:r>
              <a:rPr dirty="0" sz="1200" spc="-20">
                <a:latin typeface="Calibri"/>
                <a:cs typeface="Calibri"/>
              </a:rPr>
              <a:t>beyond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limit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suspend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loans</a:t>
            </a:r>
            <a:r>
              <a:rPr dirty="0" sz="1200" spc="-1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Acts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measure 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Social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Capital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2827" y="1446657"/>
            <a:ext cx="350710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Lending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Circle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Risk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Score(P2P</a:t>
            </a:r>
            <a:r>
              <a:rPr dirty="0" sz="1400" spc="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Credit</a:t>
            </a:r>
            <a:r>
              <a:rPr dirty="0" sz="1400" spc="1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Score)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2645" y="4291965"/>
            <a:ext cx="411607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30924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200" spc="-10">
                <a:latin typeface="Calibri"/>
                <a:cs typeface="Calibri"/>
              </a:rPr>
              <a:t>Establishment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0%</a:t>
            </a:r>
            <a:r>
              <a:rPr dirty="0" sz="1200" spc="-10">
                <a:latin typeface="Calibri"/>
                <a:cs typeface="Calibri"/>
              </a:rPr>
              <a:t> interest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initial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lending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circles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aims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at </a:t>
            </a:r>
            <a:r>
              <a:rPr dirty="0" sz="1200" spc="-10">
                <a:latin typeface="Calibri"/>
                <a:cs typeface="Calibri"/>
              </a:rPr>
              <a:t>financial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inclusion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middle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income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households</a:t>
            </a:r>
            <a:endParaRPr sz="12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circle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required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furnish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risk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score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members</a:t>
            </a:r>
            <a:endParaRPr sz="1200">
              <a:latin typeface="Calibri"/>
              <a:cs typeface="Calibri"/>
            </a:endParaRPr>
          </a:p>
          <a:p>
            <a:pPr marL="299085" marR="27749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200" spc="-10">
                <a:latin typeface="Calibri"/>
                <a:cs typeface="Calibri"/>
              </a:rPr>
              <a:t>Large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number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responses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collected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0">
                <a:latin typeface="Calibri"/>
                <a:cs typeface="Calibri"/>
              </a:rPr>
              <a:t> remove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bias </a:t>
            </a:r>
            <a:r>
              <a:rPr dirty="0" sz="1200" spc="-10">
                <a:latin typeface="Calibri"/>
                <a:cs typeface="Calibri"/>
              </a:rPr>
              <a:t>involved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38150" y="1767077"/>
            <a:ext cx="4261485" cy="3175"/>
          </a:xfrm>
          <a:custGeom>
            <a:avLst/>
            <a:gdLst/>
            <a:ahLst/>
            <a:cxnLst/>
            <a:rect l="l" t="t" r="r" b="b"/>
            <a:pathLst>
              <a:path w="4261485" h="3175">
                <a:moveTo>
                  <a:pt x="4260977" y="2667"/>
                </a:moveTo>
                <a:lnTo>
                  <a:pt x="0" y="0"/>
                </a:lnTo>
              </a:path>
            </a:pathLst>
          </a:custGeom>
          <a:ln w="28575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105"/>
              <a:t> </a:t>
            </a:r>
            <a:r>
              <a:rPr dirty="0"/>
              <a:t>CREDIT</a:t>
            </a:r>
            <a:r>
              <a:rPr dirty="0" spc="-130"/>
              <a:t> </a:t>
            </a:r>
            <a:r>
              <a:rPr dirty="0" spc="-10"/>
              <a:t>SCORING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Unveiling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potential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automated</a:t>
            </a:r>
            <a:r>
              <a:rPr dirty="0" u="sng" sz="2000" spc="-3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processing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all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encompassing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credit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score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25185" y="3341878"/>
            <a:ext cx="407670" cy="594995"/>
            <a:chOff x="5425185" y="3341878"/>
            <a:chExt cx="407670" cy="594995"/>
          </a:xfrm>
        </p:grpSpPr>
        <p:sp>
          <p:nvSpPr>
            <p:cNvPr id="33" name="object 33"/>
            <p:cNvSpPr/>
            <p:nvPr/>
          </p:nvSpPr>
          <p:spPr>
            <a:xfrm>
              <a:off x="5431535" y="3348228"/>
              <a:ext cx="394970" cy="582295"/>
            </a:xfrm>
            <a:custGeom>
              <a:avLst/>
              <a:gdLst/>
              <a:ahLst/>
              <a:cxnLst/>
              <a:rect l="l" t="t" r="r" b="b"/>
              <a:pathLst>
                <a:path w="394970" h="582295">
                  <a:moveTo>
                    <a:pt x="197358" y="0"/>
                  </a:moveTo>
                  <a:lnTo>
                    <a:pt x="0" y="0"/>
                  </a:lnTo>
                  <a:lnTo>
                    <a:pt x="197358" y="291084"/>
                  </a:lnTo>
                  <a:lnTo>
                    <a:pt x="0" y="582168"/>
                  </a:lnTo>
                  <a:lnTo>
                    <a:pt x="197358" y="582168"/>
                  </a:lnTo>
                  <a:lnTo>
                    <a:pt x="394715" y="291084"/>
                  </a:lnTo>
                  <a:lnTo>
                    <a:pt x="197358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431535" y="3348228"/>
              <a:ext cx="394970" cy="582295"/>
            </a:xfrm>
            <a:custGeom>
              <a:avLst/>
              <a:gdLst/>
              <a:ahLst/>
              <a:cxnLst/>
              <a:rect l="l" t="t" r="r" b="b"/>
              <a:pathLst>
                <a:path w="394970" h="582295">
                  <a:moveTo>
                    <a:pt x="0" y="0"/>
                  </a:moveTo>
                  <a:lnTo>
                    <a:pt x="197358" y="0"/>
                  </a:lnTo>
                  <a:lnTo>
                    <a:pt x="394715" y="291084"/>
                  </a:lnTo>
                  <a:lnTo>
                    <a:pt x="197358" y="582168"/>
                  </a:lnTo>
                  <a:lnTo>
                    <a:pt x="0" y="582168"/>
                  </a:lnTo>
                  <a:lnTo>
                    <a:pt x="197358" y="29108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9779507" y="4043171"/>
            <a:ext cx="1426845" cy="1412875"/>
            <a:chOff x="9779507" y="4043171"/>
            <a:chExt cx="1426845" cy="1412875"/>
          </a:xfrm>
        </p:grpSpPr>
        <p:sp>
          <p:nvSpPr>
            <p:cNvPr id="36" name="object 36"/>
            <p:cNvSpPr/>
            <p:nvPr/>
          </p:nvSpPr>
          <p:spPr>
            <a:xfrm>
              <a:off x="9779507" y="4043171"/>
              <a:ext cx="1426845" cy="1412875"/>
            </a:xfrm>
            <a:custGeom>
              <a:avLst/>
              <a:gdLst/>
              <a:ahLst/>
              <a:cxnLst/>
              <a:rect l="l" t="t" r="r" b="b"/>
              <a:pathLst>
                <a:path w="1426845" h="1412875">
                  <a:moveTo>
                    <a:pt x="713232" y="0"/>
                  </a:moveTo>
                  <a:lnTo>
                    <a:pt x="664394" y="1629"/>
                  </a:lnTo>
                  <a:lnTo>
                    <a:pt x="616440" y="6447"/>
                  </a:lnTo>
                  <a:lnTo>
                    <a:pt x="569477" y="14350"/>
                  </a:lnTo>
                  <a:lnTo>
                    <a:pt x="523610" y="25230"/>
                  </a:lnTo>
                  <a:lnTo>
                    <a:pt x="478945" y="38984"/>
                  </a:lnTo>
                  <a:lnTo>
                    <a:pt x="435590" y="55506"/>
                  </a:lnTo>
                  <a:lnTo>
                    <a:pt x="393649" y="74692"/>
                  </a:lnTo>
                  <a:lnTo>
                    <a:pt x="353229" y="96435"/>
                  </a:lnTo>
                  <a:lnTo>
                    <a:pt x="314436" y="120631"/>
                  </a:lnTo>
                  <a:lnTo>
                    <a:pt x="277377" y="147174"/>
                  </a:lnTo>
                  <a:lnTo>
                    <a:pt x="242157" y="175960"/>
                  </a:lnTo>
                  <a:lnTo>
                    <a:pt x="208883" y="206883"/>
                  </a:lnTo>
                  <a:lnTo>
                    <a:pt x="177660" y="239837"/>
                  </a:lnTo>
                  <a:lnTo>
                    <a:pt x="148596" y="274719"/>
                  </a:lnTo>
                  <a:lnTo>
                    <a:pt x="121796" y="311422"/>
                  </a:lnTo>
                  <a:lnTo>
                    <a:pt x="97366" y="349842"/>
                  </a:lnTo>
                  <a:lnTo>
                    <a:pt x="75413" y="389873"/>
                  </a:lnTo>
                  <a:lnTo>
                    <a:pt x="56042" y="431411"/>
                  </a:lnTo>
                  <a:lnTo>
                    <a:pt x="39360" y="474349"/>
                  </a:lnTo>
                  <a:lnTo>
                    <a:pt x="25474" y="518583"/>
                  </a:lnTo>
                  <a:lnTo>
                    <a:pt x="14488" y="564007"/>
                  </a:lnTo>
                  <a:lnTo>
                    <a:pt x="6510" y="610518"/>
                  </a:lnTo>
                  <a:lnTo>
                    <a:pt x="1645" y="658008"/>
                  </a:lnTo>
                  <a:lnTo>
                    <a:pt x="0" y="706373"/>
                  </a:lnTo>
                  <a:lnTo>
                    <a:pt x="1645" y="754739"/>
                  </a:lnTo>
                  <a:lnTo>
                    <a:pt x="6510" y="802229"/>
                  </a:lnTo>
                  <a:lnTo>
                    <a:pt x="14488" y="848740"/>
                  </a:lnTo>
                  <a:lnTo>
                    <a:pt x="25474" y="894164"/>
                  </a:lnTo>
                  <a:lnTo>
                    <a:pt x="39360" y="938398"/>
                  </a:lnTo>
                  <a:lnTo>
                    <a:pt x="56042" y="981336"/>
                  </a:lnTo>
                  <a:lnTo>
                    <a:pt x="75413" y="1022874"/>
                  </a:lnTo>
                  <a:lnTo>
                    <a:pt x="97366" y="1062905"/>
                  </a:lnTo>
                  <a:lnTo>
                    <a:pt x="121796" y="1101325"/>
                  </a:lnTo>
                  <a:lnTo>
                    <a:pt x="148596" y="1138028"/>
                  </a:lnTo>
                  <a:lnTo>
                    <a:pt x="177660" y="1172910"/>
                  </a:lnTo>
                  <a:lnTo>
                    <a:pt x="208883" y="1205864"/>
                  </a:lnTo>
                  <a:lnTo>
                    <a:pt x="242157" y="1236787"/>
                  </a:lnTo>
                  <a:lnTo>
                    <a:pt x="277377" y="1265573"/>
                  </a:lnTo>
                  <a:lnTo>
                    <a:pt x="314436" y="1292116"/>
                  </a:lnTo>
                  <a:lnTo>
                    <a:pt x="353229" y="1316312"/>
                  </a:lnTo>
                  <a:lnTo>
                    <a:pt x="393649" y="1338055"/>
                  </a:lnTo>
                  <a:lnTo>
                    <a:pt x="435590" y="1357241"/>
                  </a:lnTo>
                  <a:lnTo>
                    <a:pt x="478945" y="1373763"/>
                  </a:lnTo>
                  <a:lnTo>
                    <a:pt x="523610" y="1387517"/>
                  </a:lnTo>
                  <a:lnTo>
                    <a:pt x="569477" y="1398397"/>
                  </a:lnTo>
                  <a:lnTo>
                    <a:pt x="616440" y="1406300"/>
                  </a:lnTo>
                  <a:lnTo>
                    <a:pt x="664394" y="1411118"/>
                  </a:lnTo>
                  <a:lnTo>
                    <a:pt x="713232" y="1412747"/>
                  </a:lnTo>
                  <a:lnTo>
                    <a:pt x="762069" y="1411118"/>
                  </a:lnTo>
                  <a:lnTo>
                    <a:pt x="810023" y="1406300"/>
                  </a:lnTo>
                  <a:lnTo>
                    <a:pt x="856986" y="1398397"/>
                  </a:lnTo>
                  <a:lnTo>
                    <a:pt x="902853" y="1387517"/>
                  </a:lnTo>
                  <a:lnTo>
                    <a:pt x="947518" y="1373763"/>
                  </a:lnTo>
                  <a:lnTo>
                    <a:pt x="990873" y="1357241"/>
                  </a:lnTo>
                  <a:lnTo>
                    <a:pt x="1032814" y="1338055"/>
                  </a:lnTo>
                  <a:lnTo>
                    <a:pt x="1073234" y="1316312"/>
                  </a:lnTo>
                  <a:lnTo>
                    <a:pt x="1112027" y="1292116"/>
                  </a:lnTo>
                  <a:lnTo>
                    <a:pt x="1149086" y="1265573"/>
                  </a:lnTo>
                  <a:lnTo>
                    <a:pt x="1184306" y="1236787"/>
                  </a:lnTo>
                  <a:lnTo>
                    <a:pt x="1217580" y="1205864"/>
                  </a:lnTo>
                  <a:lnTo>
                    <a:pt x="1248803" y="1172910"/>
                  </a:lnTo>
                  <a:lnTo>
                    <a:pt x="1277867" y="1138028"/>
                  </a:lnTo>
                  <a:lnTo>
                    <a:pt x="1304667" y="1101325"/>
                  </a:lnTo>
                  <a:lnTo>
                    <a:pt x="1329097" y="1062905"/>
                  </a:lnTo>
                  <a:lnTo>
                    <a:pt x="1351050" y="1022874"/>
                  </a:lnTo>
                  <a:lnTo>
                    <a:pt x="1370421" y="981336"/>
                  </a:lnTo>
                  <a:lnTo>
                    <a:pt x="1387103" y="938398"/>
                  </a:lnTo>
                  <a:lnTo>
                    <a:pt x="1400989" y="894164"/>
                  </a:lnTo>
                  <a:lnTo>
                    <a:pt x="1411975" y="848740"/>
                  </a:lnTo>
                  <a:lnTo>
                    <a:pt x="1419953" y="802229"/>
                  </a:lnTo>
                  <a:lnTo>
                    <a:pt x="1424818" y="754739"/>
                  </a:lnTo>
                  <a:lnTo>
                    <a:pt x="1426464" y="706373"/>
                  </a:lnTo>
                  <a:lnTo>
                    <a:pt x="1424818" y="658008"/>
                  </a:lnTo>
                  <a:lnTo>
                    <a:pt x="1419953" y="610518"/>
                  </a:lnTo>
                  <a:lnTo>
                    <a:pt x="1411975" y="564007"/>
                  </a:lnTo>
                  <a:lnTo>
                    <a:pt x="1400989" y="518583"/>
                  </a:lnTo>
                  <a:lnTo>
                    <a:pt x="1387103" y="474349"/>
                  </a:lnTo>
                  <a:lnTo>
                    <a:pt x="1370421" y="431411"/>
                  </a:lnTo>
                  <a:lnTo>
                    <a:pt x="1351050" y="389873"/>
                  </a:lnTo>
                  <a:lnTo>
                    <a:pt x="1329097" y="349842"/>
                  </a:lnTo>
                  <a:lnTo>
                    <a:pt x="1304667" y="311422"/>
                  </a:lnTo>
                  <a:lnTo>
                    <a:pt x="1277867" y="274719"/>
                  </a:lnTo>
                  <a:lnTo>
                    <a:pt x="1248803" y="239837"/>
                  </a:lnTo>
                  <a:lnTo>
                    <a:pt x="1217580" y="206883"/>
                  </a:lnTo>
                  <a:lnTo>
                    <a:pt x="1184306" y="175960"/>
                  </a:lnTo>
                  <a:lnTo>
                    <a:pt x="1149086" y="147174"/>
                  </a:lnTo>
                  <a:lnTo>
                    <a:pt x="1112027" y="120631"/>
                  </a:lnTo>
                  <a:lnTo>
                    <a:pt x="1073234" y="96435"/>
                  </a:lnTo>
                  <a:lnTo>
                    <a:pt x="1032814" y="74692"/>
                  </a:lnTo>
                  <a:lnTo>
                    <a:pt x="990873" y="55506"/>
                  </a:lnTo>
                  <a:lnTo>
                    <a:pt x="947518" y="38984"/>
                  </a:lnTo>
                  <a:lnTo>
                    <a:pt x="902853" y="25230"/>
                  </a:lnTo>
                  <a:lnTo>
                    <a:pt x="856986" y="14350"/>
                  </a:lnTo>
                  <a:lnTo>
                    <a:pt x="810023" y="6447"/>
                  </a:lnTo>
                  <a:lnTo>
                    <a:pt x="762069" y="1629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5707" y="4136135"/>
              <a:ext cx="1275588" cy="1319783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11793220" cy="0"/>
          </a:xfrm>
          <a:custGeom>
            <a:avLst/>
            <a:gdLst/>
            <a:ahLst/>
            <a:cxnLst/>
            <a:rect l="l" t="t" r="r" b="b"/>
            <a:pathLst>
              <a:path w="11793220" h="0">
                <a:moveTo>
                  <a:pt x="0" y="0"/>
                </a:moveTo>
                <a:lnTo>
                  <a:pt x="11793093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80"/>
              <a:t> </a:t>
            </a:r>
            <a:r>
              <a:rPr dirty="0"/>
              <a:t>PRODUCT</a:t>
            </a:r>
            <a:r>
              <a:rPr dirty="0" spc="-95"/>
              <a:t> </a:t>
            </a:r>
            <a:r>
              <a:rPr dirty="0" spc="-10"/>
              <a:t>OFFERINGS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Exploring</a:t>
            </a:r>
            <a:r>
              <a:rPr dirty="0" u="sng" sz="2000" spc="-8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attractiveness</a:t>
            </a:r>
            <a:r>
              <a:rPr dirty="0" u="sng" sz="2000" spc="-1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Agriculture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Value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Chain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Loans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7561" y="1375663"/>
            <a:ext cx="67430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alibri"/>
                <a:cs typeface="Calibri"/>
              </a:rPr>
              <a:t>…Existing</a:t>
            </a:r>
            <a:r>
              <a:rPr dirty="0" sz="1600" spc="-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Loan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Products</a:t>
            </a:r>
            <a:r>
              <a:rPr dirty="0" sz="1600" spc="1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available</a:t>
            </a:r>
            <a:r>
              <a:rPr dirty="0" sz="1600" spc="-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to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small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farmers</a:t>
            </a:r>
            <a:r>
              <a:rPr dirty="0" sz="1600" b="1">
                <a:latin typeface="Calibri"/>
                <a:cs typeface="Calibri"/>
              </a:rPr>
              <a:t> in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Indonesia(focus</a:t>
            </a:r>
            <a:r>
              <a:rPr dirty="0" sz="1600" spc="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on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Papua)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09261" y="1941576"/>
            <a:ext cx="7483475" cy="3153410"/>
            <a:chOff x="4509261" y="1941576"/>
            <a:chExt cx="7483475" cy="3153410"/>
          </a:xfrm>
        </p:grpSpPr>
        <p:pic>
          <p:nvPicPr>
            <p:cNvPr id="6" name="object 6" descr="A screenshot of a computer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6007" y="1941576"/>
              <a:ext cx="7190232" cy="31531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15611" y="2368296"/>
              <a:ext cx="7470775" cy="1033780"/>
            </a:xfrm>
            <a:custGeom>
              <a:avLst/>
              <a:gdLst/>
              <a:ahLst/>
              <a:cxnLst/>
              <a:rect l="l" t="t" r="r" b="b"/>
              <a:pathLst>
                <a:path w="7470775" h="1033779">
                  <a:moveTo>
                    <a:pt x="0" y="1033272"/>
                  </a:moveTo>
                  <a:lnTo>
                    <a:pt x="7470648" y="1033272"/>
                  </a:lnTo>
                  <a:lnTo>
                    <a:pt x="7470648" y="0"/>
                  </a:lnTo>
                  <a:lnTo>
                    <a:pt x="0" y="0"/>
                  </a:lnTo>
                  <a:lnTo>
                    <a:pt x="0" y="10332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60882" y="1375663"/>
            <a:ext cx="25177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alibri"/>
                <a:cs typeface="Calibri"/>
              </a:rPr>
              <a:t>Current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situation</a:t>
            </a:r>
            <a:r>
              <a:rPr dirty="0" sz="1600" spc="-5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of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farmers…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7773" y="1884045"/>
            <a:ext cx="154051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seven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per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cent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farmers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interviewed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had </a:t>
            </a:r>
            <a:r>
              <a:rPr dirty="0" sz="1200" spc="-10">
                <a:latin typeface="Calibri"/>
                <a:cs typeface="Calibri"/>
              </a:rPr>
              <a:t>taken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formal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institution.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028" y="2023364"/>
            <a:ext cx="1015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Unfamiliar</a:t>
            </a:r>
            <a:r>
              <a:rPr dirty="0" sz="1200" spc="-7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with </a:t>
            </a:r>
            <a:r>
              <a:rPr dirty="0" sz="1200" b="1">
                <a:latin typeface="Calibri"/>
                <a:cs typeface="Calibri"/>
              </a:rPr>
              <a:t>loan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products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028" y="3219450"/>
            <a:ext cx="1219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Longer-</a:t>
            </a:r>
            <a:r>
              <a:rPr dirty="0" sz="1200" b="1">
                <a:latin typeface="Calibri"/>
                <a:cs typeface="Calibri"/>
              </a:rPr>
              <a:t>Loan </a:t>
            </a:r>
            <a:r>
              <a:rPr dirty="0" sz="1200" spc="-20" b="1">
                <a:latin typeface="Calibri"/>
                <a:cs typeface="Calibri"/>
              </a:rPr>
              <a:t>Terms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35963" y="3003296"/>
            <a:ext cx="22625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Both</a:t>
            </a:r>
            <a:r>
              <a:rPr dirty="0" sz="1200" spc="-2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field</a:t>
            </a:r>
            <a:r>
              <a:rPr dirty="0" sz="1200" spc="-2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agents</a:t>
            </a:r>
            <a:r>
              <a:rPr dirty="0" sz="1200" spc="-2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Calibri"/>
                <a:cs typeface="Calibri"/>
              </a:rPr>
              <a:t>farmers</a:t>
            </a:r>
            <a:r>
              <a:rPr dirty="0" sz="1200" spc="-2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Calibri"/>
                <a:cs typeface="Calibri"/>
              </a:rPr>
              <a:t>prefer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loan</a:t>
            </a:r>
            <a:r>
              <a:rPr dirty="0" sz="1200" spc="-2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terms</a:t>
            </a:r>
            <a:r>
              <a:rPr dirty="0" sz="1200" spc="-3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of</a:t>
            </a:r>
            <a:r>
              <a:rPr dirty="0" sz="1200" spc="-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74151"/>
                </a:solidFill>
                <a:latin typeface="Calibri"/>
                <a:cs typeface="Calibri"/>
              </a:rPr>
              <a:t>six</a:t>
            </a:r>
            <a:r>
              <a:rPr dirty="0" sz="1200" spc="-25" b="1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74151"/>
                </a:solidFill>
                <a:latin typeface="Calibri"/>
                <a:cs typeface="Calibri"/>
              </a:rPr>
              <a:t>months</a:t>
            </a:r>
            <a:r>
              <a:rPr dirty="0" sz="1200" spc="-20" b="1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374151"/>
                </a:solidFill>
                <a:latin typeface="Calibri"/>
                <a:cs typeface="Calibri"/>
              </a:rPr>
              <a:t>or</a:t>
            </a:r>
            <a:r>
              <a:rPr dirty="0" sz="1200" spc="-25" b="1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374151"/>
                </a:solidFill>
                <a:latin typeface="Calibri"/>
                <a:cs typeface="Calibri"/>
              </a:rPr>
              <a:t>more</a:t>
            </a:r>
            <a:r>
              <a:rPr dirty="0" sz="1200" spc="500" b="1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to</a:t>
            </a:r>
            <a:r>
              <a:rPr dirty="0" sz="1200" spc="-1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secure</a:t>
            </a:r>
            <a:r>
              <a:rPr dirty="0" sz="1200" spc="-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Calibri"/>
                <a:cs typeface="Calibri"/>
              </a:rPr>
              <a:t>sufficient</a:t>
            </a:r>
            <a:r>
              <a:rPr dirty="0" sz="1200" spc="-3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time</a:t>
            </a:r>
            <a:r>
              <a:rPr dirty="0" sz="1200" spc="-1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dirty="0" sz="1200" spc="-10">
                <a:solidFill>
                  <a:srgbClr val="374151"/>
                </a:solidFill>
                <a:latin typeface="Calibri"/>
                <a:cs typeface="Calibri"/>
              </a:rPr>
              <a:t> raising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funds</a:t>
            </a:r>
            <a:r>
              <a:rPr dirty="0" sz="1200" spc="-2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and</a:t>
            </a:r>
            <a:r>
              <a:rPr dirty="0" sz="1200" spc="-10">
                <a:solidFill>
                  <a:srgbClr val="374151"/>
                </a:solidFill>
                <a:latin typeface="Calibri"/>
                <a:cs typeface="Calibri"/>
              </a:rPr>
              <a:t> repaying</a:t>
            </a:r>
            <a:r>
              <a:rPr dirty="0" sz="1200" spc="-3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74151"/>
                </a:solidFill>
                <a:latin typeface="Calibri"/>
                <a:cs typeface="Calibri"/>
              </a:rPr>
              <a:t>the</a:t>
            </a:r>
            <a:r>
              <a:rPr dirty="0" sz="1200" spc="-15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Calibri"/>
                <a:cs typeface="Calibri"/>
              </a:rPr>
              <a:t>loan.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2028" y="4387342"/>
            <a:ext cx="1125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Diverse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needs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for </a:t>
            </a:r>
            <a:r>
              <a:rPr dirty="0" sz="1200" spc="-10" b="1">
                <a:latin typeface="Calibri"/>
                <a:cs typeface="Calibri"/>
              </a:rPr>
              <a:t>credit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48154" y="4102734"/>
            <a:ext cx="1816100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Fifty-</a:t>
            </a:r>
            <a:r>
              <a:rPr dirty="0" sz="1200">
                <a:latin typeface="Calibri"/>
                <a:cs typeface="Calibri"/>
              </a:rPr>
              <a:t>five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said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they </a:t>
            </a:r>
            <a:r>
              <a:rPr dirty="0" sz="1200">
                <a:latin typeface="Calibri"/>
                <a:cs typeface="Calibri"/>
              </a:rPr>
              <a:t>needed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multiple reasons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(crop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diversification, </a:t>
            </a:r>
            <a:r>
              <a:rPr dirty="0" sz="1200">
                <a:latin typeface="Calibri"/>
                <a:cs typeface="Calibri"/>
              </a:rPr>
              <a:t>non-farm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expenses)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 </a:t>
            </a:r>
            <a:r>
              <a:rPr dirty="0" sz="1200" spc="-25" b="1">
                <a:latin typeface="Calibri"/>
                <a:cs typeface="Calibri"/>
              </a:rPr>
              <a:t>45 </a:t>
            </a:r>
            <a:r>
              <a:rPr dirty="0" sz="1200" b="1">
                <a:latin typeface="Calibri"/>
                <a:cs typeface="Calibri"/>
              </a:rPr>
              <a:t>per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cent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said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25">
                <a:latin typeface="Calibri"/>
                <a:cs typeface="Calibri"/>
              </a:rPr>
              <a:t> use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their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crop.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03878" y="3251961"/>
            <a:ext cx="290195" cy="408940"/>
            <a:chOff x="4103878" y="3251961"/>
            <a:chExt cx="290195" cy="408940"/>
          </a:xfrm>
        </p:grpSpPr>
        <p:sp>
          <p:nvSpPr>
            <p:cNvPr id="16" name="object 16"/>
            <p:cNvSpPr/>
            <p:nvPr/>
          </p:nvSpPr>
          <p:spPr>
            <a:xfrm>
              <a:off x="4110228" y="3258311"/>
              <a:ext cx="277495" cy="396240"/>
            </a:xfrm>
            <a:custGeom>
              <a:avLst/>
              <a:gdLst/>
              <a:ahLst/>
              <a:cxnLst/>
              <a:rect l="l" t="t" r="r" b="b"/>
              <a:pathLst>
                <a:path w="277495" h="396239">
                  <a:moveTo>
                    <a:pt x="138684" y="0"/>
                  </a:moveTo>
                  <a:lnTo>
                    <a:pt x="0" y="0"/>
                  </a:lnTo>
                  <a:lnTo>
                    <a:pt x="138684" y="198120"/>
                  </a:lnTo>
                  <a:lnTo>
                    <a:pt x="0" y="396239"/>
                  </a:lnTo>
                  <a:lnTo>
                    <a:pt x="138684" y="396239"/>
                  </a:lnTo>
                  <a:lnTo>
                    <a:pt x="277368" y="198120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5C9D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10228" y="3258311"/>
              <a:ext cx="277495" cy="396240"/>
            </a:xfrm>
            <a:custGeom>
              <a:avLst/>
              <a:gdLst/>
              <a:ahLst/>
              <a:cxnLst/>
              <a:rect l="l" t="t" r="r" b="b"/>
              <a:pathLst>
                <a:path w="277495" h="396239">
                  <a:moveTo>
                    <a:pt x="0" y="0"/>
                  </a:moveTo>
                  <a:lnTo>
                    <a:pt x="138684" y="0"/>
                  </a:lnTo>
                  <a:lnTo>
                    <a:pt x="277368" y="198120"/>
                  </a:lnTo>
                  <a:lnTo>
                    <a:pt x="138684" y="396239"/>
                  </a:lnTo>
                  <a:lnTo>
                    <a:pt x="0" y="396239"/>
                  </a:lnTo>
                  <a:lnTo>
                    <a:pt x="138684" y="19812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97763" y="5740908"/>
            <a:ext cx="11428730" cy="3079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1400" b="1">
                <a:latin typeface="Calibri"/>
                <a:cs typeface="Calibri"/>
              </a:rPr>
              <a:t>Our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Solution: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Revamping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product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on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basis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of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Bottlenecks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11793220" cy="0"/>
          </a:xfrm>
          <a:custGeom>
            <a:avLst/>
            <a:gdLst/>
            <a:ahLst/>
            <a:cxnLst/>
            <a:rect l="l" t="t" r="r" b="b"/>
            <a:pathLst>
              <a:path w="11793220" h="0">
                <a:moveTo>
                  <a:pt x="0" y="0"/>
                </a:moveTo>
                <a:lnTo>
                  <a:pt x="11793093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3275329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120"/>
              <a:t> </a:t>
            </a:r>
            <a:r>
              <a:rPr dirty="0" spc="-10"/>
              <a:t>CREDILINK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323" y="491489"/>
            <a:ext cx="11071225" cy="6927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5789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Choice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Account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Aggregator</a:t>
            </a:r>
            <a:r>
              <a:rPr dirty="0" u="sng" sz="2000" spc="-6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and</a:t>
            </a:r>
            <a:r>
              <a:rPr dirty="0" u="sng" sz="2000" spc="-3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Key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Savings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through</a:t>
            </a:r>
            <a:r>
              <a:rPr dirty="0" u="sng" sz="2000" spc="-5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utilization</a:t>
            </a:r>
            <a:r>
              <a:rPr dirty="0" u="sng" sz="2000" spc="-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e-</a:t>
            </a:r>
            <a:r>
              <a:rPr dirty="0" u="sng" sz="2000" spc="-2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KYC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  <a:p>
            <a:pPr marL="7100570">
              <a:lnSpc>
                <a:spcPct val="100000"/>
              </a:lnSpc>
              <a:spcBef>
                <a:spcPts val="1165"/>
              </a:spcBef>
            </a:pP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Choice</a:t>
            </a:r>
            <a:r>
              <a:rPr dirty="0" sz="1400" spc="-4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5C9DAE"/>
                </a:solidFill>
                <a:latin typeface="Calibri"/>
                <a:cs typeface="Calibri"/>
              </a:rPr>
              <a:t>of</a:t>
            </a:r>
            <a:r>
              <a:rPr dirty="0" sz="1400" spc="-25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5C9DAE"/>
                </a:solidFill>
                <a:latin typeface="Calibri"/>
                <a:cs typeface="Calibri"/>
              </a:rPr>
              <a:t>Account</a:t>
            </a:r>
            <a:r>
              <a:rPr dirty="0" sz="1400" spc="-40" b="1">
                <a:solidFill>
                  <a:srgbClr val="5C9DA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5C9DAE"/>
                </a:solidFill>
                <a:latin typeface="Calibri"/>
                <a:cs typeface="Calibri"/>
              </a:rPr>
              <a:t>Aggregator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944234" y="3430523"/>
            <a:ext cx="10520045" cy="2810510"/>
            <a:chOff x="944234" y="3430523"/>
            <a:chExt cx="10520045" cy="28105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234" y="3430523"/>
              <a:ext cx="7815717" cy="281046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41664" y="4507991"/>
              <a:ext cx="2715895" cy="751840"/>
            </a:xfrm>
            <a:custGeom>
              <a:avLst/>
              <a:gdLst/>
              <a:ahLst/>
              <a:cxnLst/>
              <a:rect l="l" t="t" r="r" b="b"/>
              <a:pathLst>
                <a:path w="2715895" h="751839">
                  <a:moveTo>
                    <a:pt x="0" y="751331"/>
                  </a:moveTo>
                  <a:lnTo>
                    <a:pt x="2715768" y="751331"/>
                  </a:lnTo>
                  <a:lnTo>
                    <a:pt x="2715768" y="0"/>
                  </a:lnTo>
                  <a:lnTo>
                    <a:pt x="0" y="0"/>
                  </a:lnTo>
                  <a:lnTo>
                    <a:pt x="0" y="751331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5731002" y="1989582"/>
            <a:ext cx="5300345" cy="0"/>
          </a:xfrm>
          <a:custGeom>
            <a:avLst/>
            <a:gdLst/>
            <a:ahLst/>
            <a:cxnLst/>
            <a:rect l="l" t="t" r="r" b="b"/>
            <a:pathLst>
              <a:path w="5300345" h="0">
                <a:moveTo>
                  <a:pt x="0" y="0"/>
                </a:moveTo>
                <a:lnTo>
                  <a:pt x="5300218" y="0"/>
                </a:lnTo>
              </a:path>
            </a:pathLst>
          </a:custGeom>
          <a:ln w="19050">
            <a:solidFill>
              <a:srgbClr val="0D0D0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6607" y="2011679"/>
            <a:ext cx="224027" cy="2529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49668" y="2020823"/>
            <a:ext cx="224027" cy="25298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41274" y="1765013"/>
            <a:ext cx="219360" cy="1793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43571" y="1735835"/>
            <a:ext cx="222503" cy="25298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97335" y="1766565"/>
            <a:ext cx="219360" cy="179388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493765" y="1238250"/>
          <a:ext cx="5842000" cy="162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1425"/>
                <a:gridCol w="1210310"/>
                <a:gridCol w="1117600"/>
                <a:gridCol w="932180"/>
                <a:gridCol w="1253489"/>
              </a:tblGrid>
              <a:tr h="443230">
                <a:tc>
                  <a:txBody>
                    <a:bodyPr/>
                    <a:lstStyle/>
                    <a:p>
                      <a:pPr marL="287020" marR="260985" indent="882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Account Aggregator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Ease</a:t>
                      </a:r>
                      <a:r>
                        <a:rPr dirty="0" sz="12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 Use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0979" marR="196850" indent="158115">
                        <a:lnSpc>
                          <a:spcPct val="102499"/>
                        </a:lnSpc>
                        <a:spcBef>
                          <a:spcPts val="75"/>
                        </a:spcBef>
                      </a:pPr>
                      <a:r>
                        <a:rPr dirty="0" sz="1200" spc="-20" b="1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cleanliness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API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04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Offerings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 marR="315595" indent="15240">
                        <a:lnSpc>
                          <a:spcPct val="102499"/>
                        </a:lnSpc>
                        <a:spcBef>
                          <a:spcPts val="254"/>
                        </a:spcBef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Breadth</a:t>
                      </a:r>
                      <a:r>
                        <a:rPr dirty="0" sz="12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Connections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Finantier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5C9DAE"/>
                      </a:solidFill>
                      <a:prstDash val="sysDash"/>
                    </a:lnL>
                    <a:lnT w="19050">
                      <a:solidFill>
                        <a:srgbClr val="0D0D0D"/>
                      </a:solidFill>
                      <a:prstDash val="solid"/>
                    </a:lnT>
                    <a:lnB w="12700">
                      <a:solidFill>
                        <a:srgbClr val="5C9DA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2700">
                      <a:solidFill>
                        <a:srgbClr val="5C9DA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2700">
                      <a:solidFill>
                        <a:srgbClr val="5C9DA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2700">
                      <a:solidFill>
                        <a:srgbClr val="5C9DA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5C9DAE"/>
                      </a:solidFill>
                      <a:prstDash val="sysDash"/>
                    </a:lnR>
                    <a:lnT w="19050">
                      <a:solidFill>
                        <a:srgbClr val="0D0D0D"/>
                      </a:solidFill>
                      <a:prstDash val="solid"/>
                    </a:lnT>
                    <a:lnB w="12700">
                      <a:solidFill>
                        <a:srgbClr val="5C9DAE"/>
                      </a:solidFill>
                      <a:prstDash val="sysDash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FinFini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T w="12700">
                      <a:solidFill>
                        <a:srgbClr val="5C9DAE"/>
                      </a:solidFill>
                      <a:prstDash val="sysDash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5C9DAE"/>
                      </a:solidFill>
                      <a:prstDash val="sysDash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5C9DAE"/>
                      </a:solidFill>
                      <a:prstDash val="sysDash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5C9DAE"/>
                      </a:solidFill>
                      <a:prstDash val="sysDash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5C9DAE"/>
                      </a:solidFill>
                      <a:prstDash val="sysDash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Musoni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9850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Oradien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D0D0D"/>
                      </a:solidFill>
                      <a:prstDash val="solid"/>
                    </a:lnT>
                    <a:lnB w="19050">
                      <a:solidFill>
                        <a:srgbClr val="0D0D0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9668" y="2610611"/>
            <a:ext cx="224027" cy="2529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68283" y="2261616"/>
            <a:ext cx="224027" cy="25298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19683" y="2350257"/>
            <a:ext cx="219360" cy="17938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22731" y="2040885"/>
            <a:ext cx="219360" cy="17938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36607" y="2621279"/>
            <a:ext cx="224027" cy="25298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00658" y="1528317"/>
            <a:ext cx="2728595" cy="764540"/>
          </a:xfrm>
          <a:prstGeom prst="rect">
            <a:avLst/>
          </a:prstGeom>
          <a:solidFill>
            <a:srgbClr val="F1F1F1"/>
          </a:solidFill>
          <a:ln w="3175">
            <a:solidFill>
              <a:srgbClr val="F1F1F1"/>
            </a:solidFill>
          </a:ln>
        </p:spPr>
        <p:txBody>
          <a:bodyPr wrap="square" lIns="0" tIns="157480" rIns="0" bIns="0" rtlCol="0" vert="horz">
            <a:spAutoFit/>
          </a:bodyPr>
          <a:lstStyle/>
          <a:p>
            <a:pPr marL="1031240" marR="127635" indent="-897890">
              <a:lnSpc>
                <a:spcPct val="100000"/>
              </a:lnSpc>
              <a:spcBef>
                <a:spcPts val="1240"/>
              </a:spcBef>
            </a:pPr>
            <a:r>
              <a:rPr dirty="0" sz="1400" b="1">
                <a:latin typeface="Calibri"/>
                <a:cs typeface="Calibri"/>
              </a:rPr>
              <a:t>Choosing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the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Account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Aggregator </a:t>
            </a:r>
            <a:r>
              <a:rPr dirty="0" u="sng" sz="1400" spc="-10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Finantier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35314" y="4501641"/>
            <a:ext cx="2728595" cy="7645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596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imes New Roman"/>
              <a:cs typeface="Times New Roman"/>
            </a:endParaRPr>
          </a:p>
          <a:p>
            <a:pPr marL="238760">
              <a:lnSpc>
                <a:spcPct val="100000"/>
              </a:lnSpc>
            </a:pPr>
            <a:r>
              <a:rPr dirty="0" sz="1400" b="1">
                <a:latin typeface="Calibri"/>
                <a:cs typeface="Calibri"/>
              </a:rPr>
              <a:t>Credilink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Impact: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Assumptions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11793220" cy="0"/>
          </a:xfrm>
          <a:custGeom>
            <a:avLst/>
            <a:gdLst/>
            <a:ahLst/>
            <a:cxnLst/>
            <a:rect l="l" t="t" r="r" b="b"/>
            <a:pathLst>
              <a:path w="11793220" h="0">
                <a:moveTo>
                  <a:pt x="0" y="0"/>
                </a:moveTo>
                <a:lnTo>
                  <a:pt x="11793093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95"/>
              <a:t> </a:t>
            </a:r>
            <a:r>
              <a:rPr dirty="0" spc="-10"/>
              <a:t>Quantitatively</a:t>
            </a:r>
            <a:r>
              <a:rPr dirty="0" spc="-95"/>
              <a:t> </a:t>
            </a:r>
            <a:r>
              <a:rPr dirty="0"/>
              <a:t>Analysing</a:t>
            </a:r>
            <a:r>
              <a:rPr dirty="0" spc="-105"/>
              <a:t> </a:t>
            </a:r>
            <a:r>
              <a:rPr dirty="0"/>
              <a:t>Reasons</a:t>
            </a:r>
            <a:r>
              <a:rPr dirty="0" spc="-120"/>
              <a:t> </a:t>
            </a:r>
            <a:r>
              <a:rPr dirty="0"/>
              <a:t>for</a:t>
            </a:r>
            <a:r>
              <a:rPr dirty="0" spc="-110"/>
              <a:t> </a:t>
            </a:r>
            <a:r>
              <a:rPr dirty="0" spc="-10"/>
              <a:t>Expansion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Exploring</a:t>
            </a:r>
            <a:r>
              <a:rPr dirty="0" u="sng" sz="2000" spc="-7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untapped</a:t>
            </a:r>
            <a:r>
              <a:rPr dirty="0" u="sng" sz="2000" spc="-6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SME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loan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potential</a:t>
            </a:r>
            <a:r>
              <a:rPr dirty="0" u="sng" sz="2000" spc="-3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East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Nusa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Tengarra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9418319" y="1476755"/>
            <a:ext cx="2214880" cy="2985770"/>
            <a:chOff x="9418319" y="1476755"/>
            <a:chExt cx="2214880" cy="29857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8319" y="1476755"/>
              <a:ext cx="2214372" cy="29855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01961" y="1681733"/>
              <a:ext cx="1955800" cy="207645"/>
            </a:xfrm>
            <a:custGeom>
              <a:avLst/>
              <a:gdLst/>
              <a:ahLst/>
              <a:cxnLst/>
              <a:rect l="l" t="t" r="r" b="b"/>
              <a:pathLst>
                <a:path w="1955800" h="207644">
                  <a:moveTo>
                    <a:pt x="0" y="207263"/>
                  </a:moveTo>
                  <a:lnTo>
                    <a:pt x="1955292" y="207263"/>
                  </a:lnTo>
                  <a:lnTo>
                    <a:pt x="1955292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ln w="19050">
              <a:solidFill>
                <a:srgbClr val="2E528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171" y="1852600"/>
            <a:ext cx="6379360" cy="308172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951347" y="1558833"/>
            <a:ext cx="2084070" cy="2887980"/>
            <a:chOff x="6951347" y="1558833"/>
            <a:chExt cx="2084070" cy="288798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1347" y="1558833"/>
              <a:ext cx="2083850" cy="28423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072121" y="4220718"/>
              <a:ext cx="1369060" cy="216535"/>
            </a:xfrm>
            <a:custGeom>
              <a:avLst/>
              <a:gdLst/>
              <a:ahLst/>
              <a:cxnLst/>
              <a:rect l="l" t="t" r="r" b="b"/>
              <a:pathLst>
                <a:path w="1369059" h="216535">
                  <a:moveTo>
                    <a:pt x="0" y="216407"/>
                  </a:moveTo>
                  <a:lnTo>
                    <a:pt x="1368552" y="216407"/>
                  </a:lnTo>
                  <a:lnTo>
                    <a:pt x="1368552" y="0"/>
                  </a:lnTo>
                  <a:lnTo>
                    <a:pt x="0" y="0"/>
                  </a:lnTo>
                  <a:lnTo>
                    <a:pt x="0" y="216407"/>
                  </a:lnTo>
                  <a:close/>
                </a:path>
              </a:pathLst>
            </a:custGeom>
            <a:ln w="19049">
              <a:solidFill>
                <a:srgbClr val="2E528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842003" y="5071871"/>
            <a:ext cx="3590925" cy="965200"/>
          </a:xfrm>
          <a:prstGeom prst="rect">
            <a:avLst/>
          </a:prstGeom>
          <a:solidFill>
            <a:srgbClr val="ECECEC"/>
          </a:solidFill>
        </p:spPr>
        <p:txBody>
          <a:bodyPr wrap="square" lIns="0" tIns="914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720"/>
              </a:spcBef>
            </a:pPr>
            <a:r>
              <a:rPr dirty="0" sz="1400" b="1">
                <a:latin typeface="Calibri"/>
                <a:cs typeface="Calibri"/>
              </a:rPr>
              <a:t>Unmet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Demand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and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High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Growth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Potential</a:t>
            </a:r>
            <a:endParaRPr sz="140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77825" algn="l"/>
              </a:tabLst>
            </a:pPr>
            <a:r>
              <a:rPr dirty="0" sz="1200">
                <a:latin typeface="Calibri"/>
                <a:cs typeface="Calibri"/>
              </a:rPr>
              <a:t>Low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disbursal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MSME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loans</a:t>
            </a:r>
            <a:endParaRPr sz="120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dirty="0" sz="1200">
                <a:latin typeface="Calibri"/>
                <a:cs typeface="Calibri"/>
              </a:rPr>
              <a:t>Highest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Annual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loans</a:t>
            </a:r>
            <a:endParaRPr sz="120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dirty="0" sz="1200">
                <a:latin typeface="Calibri"/>
                <a:cs typeface="Calibri"/>
              </a:rPr>
              <a:t>Lowest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Productivity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Highest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Competitiveness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120"/>
              <a:t> </a:t>
            </a:r>
            <a:r>
              <a:rPr dirty="0" spc="-10"/>
              <a:t>ASSUMPTIONS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preliminary</a:t>
            </a:r>
            <a:r>
              <a:rPr dirty="0" u="sng" sz="2000" spc="-9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clarifications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for</a:t>
            </a:r>
            <a:r>
              <a:rPr dirty="0" u="sng" sz="2000" spc="-7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assessing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targeted</a:t>
            </a:r>
            <a:r>
              <a:rPr dirty="0" u="sng" sz="2000" spc="-7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market</a:t>
            </a:r>
            <a:r>
              <a:rPr dirty="0" u="sng" sz="2000" spc="-5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growth</a:t>
            </a:r>
            <a:r>
              <a:rPr dirty="0" u="sng" sz="2000" spc="-7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2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rate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084" y="1511808"/>
            <a:ext cx="11556492" cy="428853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90"/>
              <a:t> </a:t>
            </a:r>
            <a:r>
              <a:rPr dirty="0"/>
              <a:t>CASH</a:t>
            </a:r>
            <a:r>
              <a:rPr dirty="0" spc="-90"/>
              <a:t> </a:t>
            </a:r>
            <a:r>
              <a:rPr dirty="0"/>
              <a:t>FLOW</a:t>
            </a:r>
            <a:r>
              <a:rPr dirty="0" spc="-114"/>
              <a:t> </a:t>
            </a:r>
            <a:r>
              <a:rPr dirty="0" spc="-10"/>
              <a:t>PROJECTIONS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Impact</a:t>
            </a:r>
            <a:r>
              <a:rPr dirty="0" u="sng" sz="2000" spc="-6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Assessment</a:t>
            </a:r>
            <a:r>
              <a:rPr dirty="0" u="sng" sz="2000" spc="-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on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basis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Cash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Flow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Projections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011679"/>
            <a:ext cx="11708667" cy="32002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481" y="1576163"/>
            <a:ext cx="11571183" cy="333815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90"/>
              <a:t> </a:t>
            </a:r>
            <a:r>
              <a:rPr dirty="0"/>
              <a:t>CASH</a:t>
            </a:r>
            <a:r>
              <a:rPr dirty="0" spc="-90"/>
              <a:t> </a:t>
            </a:r>
            <a:r>
              <a:rPr dirty="0"/>
              <a:t>FLOW</a:t>
            </a:r>
            <a:r>
              <a:rPr dirty="0" spc="-114"/>
              <a:t> </a:t>
            </a:r>
            <a:r>
              <a:rPr dirty="0" spc="-10"/>
              <a:t>PROJECTIONS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Impact</a:t>
            </a:r>
            <a:r>
              <a:rPr dirty="0" u="sng" sz="2000" spc="-6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Assessment</a:t>
            </a:r>
            <a:r>
              <a:rPr dirty="0" u="sng" sz="2000" spc="-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on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basis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Cash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Flow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Projections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70"/>
              <a:t> </a:t>
            </a:r>
            <a:r>
              <a:rPr dirty="0"/>
              <a:t>KEY</a:t>
            </a:r>
            <a:r>
              <a:rPr dirty="0" spc="-95"/>
              <a:t> </a:t>
            </a:r>
            <a:r>
              <a:rPr dirty="0" spc="-10"/>
              <a:t>CALCULATIONS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Important</a:t>
            </a:r>
            <a:r>
              <a:rPr dirty="0" u="sng" sz="2000" spc="-7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financial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indicators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justify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out</a:t>
            </a:r>
            <a:r>
              <a:rPr dirty="0" u="sng" sz="2000" spc="-5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strategy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9144" y="979666"/>
            <a:ext cx="6853644" cy="51748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11793220" cy="0"/>
          </a:xfrm>
          <a:custGeom>
            <a:avLst/>
            <a:gdLst/>
            <a:ahLst/>
            <a:cxnLst/>
            <a:rect l="l" t="t" r="r" b="b"/>
            <a:pathLst>
              <a:path w="11793220" h="0">
                <a:moveTo>
                  <a:pt x="0" y="0"/>
                </a:moveTo>
                <a:lnTo>
                  <a:pt x="11793093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70"/>
              <a:t> </a:t>
            </a:r>
            <a:r>
              <a:rPr dirty="0" spc="-30"/>
              <a:t>CALCULATIONS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95"/>
              <a:t> </a:t>
            </a:r>
            <a:r>
              <a:rPr dirty="0" spc="-10"/>
              <a:t>CREDILINK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Justifying</a:t>
            </a:r>
            <a:r>
              <a:rPr dirty="0" u="sng" sz="2000" spc="-6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2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Credilink’s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3-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pronged</a:t>
            </a:r>
            <a:r>
              <a:rPr dirty="0" u="sng" sz="2000" spc="-7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costing</a:t>
            </a:r>
            <a:r>
              <a:rPr dirty="0" u="sng" sz="2000" spc="-6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strategy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4215" y="1167383"/>
            <a:ext cx="11988165" cy="4703445"/>
            <a:chOff x="204215" y="1167383"/>
            <a:chExt cx="11988165" cy="47034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215" y="1167383"/>
              <a:ext cx="10226040" cy="47030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6731" y="1167383"/>
              <a:ext cx="6335268" cy="18394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19365" y="3338322"/>
              <a:ext cx="3683635" cy="1617345"/>
            </a:xfrm>
            <a:custGeom>
              <a:avLst/>
              <a:gdLst/>
              <a:ahLst/>
              <a:cxnLst/>
              <a:rect l="l" t="t" r="r" b="b"/>
              <a:pathLst>
                <a:path w="3683634" h="1617345">
                  <a:moveTo>
                    <a:pt x="0" y="1322832"/>
                  </a:moveTo>
                  <a:lnTo>
                    <a:pt x="920495" y="1616964"/>
                  </a:lnTo>
                  <a:lnTo>
                    <a:pt x="1840991" y="1214627"/>
                  </a:lnTo>
                  <a:lnTo>
                    <a:pt x="2761487" y="492251"/>
                  </a:lnTo>
                  <a:lnTo>
                    <a:pt x="3683507" y="0"/>
                  </a:lnTo>
                </a:path>
              </a:pathLst>
            </a:custGeom>
            <a:ln w="2857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6658356" y="5922264"/>
            <a:ext cx="4604385" cy="0"/>
          </a:xfrm>
          <a:custGeom>
            <a:avLst/>
            <a:gdLst/>
            <a:ahLst/>
            <a:cxnLst/>
            <a:rect l="l" t="t" r="r" b="b"/>
            <a:pathLst>
              <a:path w="4604384" h="0">
                <a:moveTo>
                  <a:pt x="0" y="0"/>
                </a:moveTo>
                <a:lnTo>
                  <a:pt x="4604004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961123" y="4414266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767.23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81873" y="4709921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758.51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02751" y="4306316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770.42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23501" y="3583940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791.73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44631" y="3091941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04040"/>
                </a:solidFill>
                <a:latin typeface="Calibri"/>
                <a:cs typeface="Calibri"/>
              </a:rPr>
              <a:t>806.25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96329" y="4811648"/>
            <a:ext cx="344170" cy="1179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760.00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750.00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740.00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730.00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96329" y="4472685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770.00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96329" y="3794886"/>
            <a:ext cx="344170" cy="50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790.00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780.00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96329" y="3456178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800.00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96329" y="3117341"/>
            <a:ext cx="344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810.00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63536" y="5977229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2024E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84414" y="5977229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2025E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05164" y="5977229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2026E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25914" y="5977229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2027E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46791" y="5977229"/>
            <a:ext cx="313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2028E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2023" y="3418332"/>
            <a:ext cx="11793220" cy="3105150"/>
            <a:chOff x="192023" y="3418332"/>
            <a:chExt cx="11793220" cy="3105150"/>
          </a:xfrm>
        </p:grpSpPr>
        <p:sp>
          <p:nvSpPr>
            <p:cNvPr id="3" name="object 3"/>
            <p:cNvSpPr/>
            <p:nvPr/>
          </p:nvSpPr>
          <p:spPr>
            <a:xfrm>
              <a:off x="192023" y="6516624"/>
              <a:ext cx="11793220" cy="0"/>
            </a:xfrm>
            <a:custGeom>
              <a:avLst/>
              <a:gdLst/>
              <a:ahLst/>
              <a:cxnLst/>
              <a:rect l="l" t="t" r="r" b="b"/>
              <a:pathLst>
                <a:path w="11793220" h="0">
                  <a:moveTo>
                    <a:pt x="0" y="0"/>
                  </a:moveTo>
                  <a:lnTo>
                    <a:pt x="11793093" y="0"/>
                  </a:lnTo>
                </a:path>
              </a:pathLst>
            </a:custGeom>
            <a:ln w="12700">
              <a:solidFill>
                <a:srgbClr val="5C9D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228" y="3418332"/>
              <a:ext cx="10959084" cy="309829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82048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85"/>
              <a:t> </a:t>
            </a:r>
            <a:r>
              <a:rPr dirty="0"/>
              <a:t>LOAN</a:t>
            </a:r>
            <a:r>
              <a:rPr dirty="0" spc="-114"/>
              <a:t> </a:t>
            </a:r>
            <a:r>
              <a:rPr dirty="0" spc="-10"/>
              <a:t>BREAKDOWN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/>
              <a:t>CLIENT</a:t>
            </a:r>
            <a:r>
              <a:rPr dirty="0" spc="-85"/>
              <a:t> </a:t>
            </a:r>
            <a:r>
              <a:rPr dirty="0" spc="-10"/>
              <a:t>OUTREACH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9323" y="491489"/>
            <a:ext cx="110712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5789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Assessing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effect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Credilink</a:t>
            </a:r>
            <a:r>
              <a:rPr dirty="0" u="sng" sz="2000" spc="-4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on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credit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lending</a:t>
            </a:r>
            <a:r>
              <a:rPr dirty="0" u="sng" sz="2000" spc="-6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in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Indonesia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746" y="1250880"/>
            <a:ext cx="11019317" cy="170832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16196" y="3054095"/>
            <a:ext cx="3086100" cy="30797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4290" rIns="0" bIns="0" rtlCol="0" vert="horz">
            <a:spAutoFit/>
          </a:bodyPr>
          <a:lstStyle/>
          <a:p>
            <a:pPr marL="551815">
              <a:lnSpc>
                <a:spcPct val="100000"/>
              </a:lnSpc>
              <a:spcBef>
                <a:spcPts val="270"/>
              </a:spcBef>
            </a:pPr>
            <a:r>
              <a:rPr dirty="0" sz="1400">
                <a:latin typeface="Calibri"/>
                <a:cs typeface="Calibri"/>
              </a:rPr>
              <a:t>Client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Outreach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Projections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6196" y="885444"/>
            <a:ext cx="3086100" cy="30797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4925" rIns="0" bIns="0" rtlCol="0" vert="horz">
            <a:spAutoFit/>
          </a:bodyPr>
          <a:lstStyle/>
          <a:p>
            <a:pPr marL="942340">
              <a:lnSpc>
                <a:spcPct val="100000"/>
              </a:lnSpc>
              <a:spcBef>
                <a:spcPts val="275"/>
              </a:spcBef>
            </a:pPr>
            <a:r>
              <a:rPr dirty="0" sz="1400">
                <a:latin typeface="Calibri"/>
                <a:cs typeface="Calibri"/>
              </a:rPr>
              <a:t>Loan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Breakdown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A screenshot of a graph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6632" y="899160"/>
            <a:ext cx="9441180" cy="535990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95"/>
              <a:t> </a:t>
            </a:r>
            <a:r>
              <a:rPr dirty="0"/>
              <a:t>MARKET</a:t>
            </a:r>
            <a:r>
              <a:rPr dirty="0" spc="-95"/>
              <a:t> </a:t>
            </a:r>
            <a:r>
              <a:rPr dirty="0" spc="-10"/>
              <a:t>PENETRATION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Estimating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Market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Size</a:t>
            </a:r>
            <a:r>
              <a:rPr dirty="0" u="sng" sz="2000" spc="-4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with</a:t>
            </a:r>
            <a:r>
              <a:rPr dirty="0" u="sng" sz="2000" spc="-3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Phoenix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75"/>
              <a:t> </a:t>
            </a:r>
            <a:r>
              <a:rPr dirty="0" spc="-25"/>
              <a:t>FAILED</a:t>
            </a:r>
            <a:r>
              <a:rPr dirty="0" spc="-100"/>
              <a:t> </a:t>
            </a:r>
            <a:r>
              <a:rPr dirty="0" spc="-20"/>
              <a:t>INITIATIVE</a:t>
            </a:r>
            <a:r>
              <a:rPr dirty="0" spc="-50"/>
              <a:t> </a:t>
            </a:r>
            <a:r>
              <a:rPr dirty="0"/>
              <a:t>-</a:t>
            </a:r>
            <a:r>
              <a:rPr dirty="0" spc="-85"/>
              <a:t> </a:t>
            </a:r>
            <a:r>
              <a:rPr dirty="0" spc="-25"/>
              <a:t>KUR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11057890" algn="l"/>
              </a:tabLst>
            </a:pPr>
            <a:r>
              <a:rPr dirty="0" u="sng" sz="2000" spc="-114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Analysing</a:t>
            </a:r>
            <a:r>
              <a:rPr dirty="0" u="sng" sz="2000" spc="-7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Micro</a:t>
            </a:r>
            <a:r>
              <a:rPr dirty="0" u="sng" sz="2000" spc="-45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KUR</a:t>
            </a:r>
            <a:r>
              <a:rPr dirty="0" u="sng" sz="2000" spc="-6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requirements</a:t>
            </a:r>
            <a:r>
              <a:rPr dirty="0" u="sng" sz="2000" b="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2509" y="1638819"/>
            <a:ext cx="9095454" cy="448772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023" y="6516623"/>
            <a:ext cx="11793220" cy="0"/>
          </a:xfrm>
          <a:custGeom>
            <a:avLst/>
            <a:gdLst/>
            <a:ahLst/>
            <a:cxnLst/>
            <a:rect l="l" t="t" r="r" b="b"/>
            <a:pathLst>
              <a:path w="11793220" h="0">
                <a:moveTo>
                  <a:pt x="0" y="0"/>
                </a:moveTo>
                <a:lnTo>
                  <a:pt x="11793093" y="0"/>
                </a:lnTo>
              </a:path>
            </a:pathLst>
          </a:custGeom>
          <a:ln w="12700">
            <a:solidFill>
              <a:srgbClr val="5C9D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4434" y="57988"/>
            <a:ext cx="35655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APPENDIX:</a:t>
            </a:r>
            <a:r>
              <a:rPr dirty="0" spc="-120"/>
              <a:t> </a:t>
            </a:r>
            <a:r>
              <a:rPr dirty="0" spc="-1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323" y="379901"/>
            <a:ext cx="11071225" cy="603059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11057890" algn="l"/>
              </a:tabLst>
            </a:pPr>
            <a:r>
              <a:rPr dirty="0" u="sng" sz="2000" spc="-114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sources</a:t>
            </a:r>
            <a:r>
              <a:rPr dirty="0" u="sng" sz="2000" spc="-4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we</a:t>
            </a:r>
            <a:r>
              <a:rPr dirty="0" u="sng" sz="2000" spc="-2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2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referred</a:t>
            </a:r>
            <a:r>
              <a:rPr dirty="0" u="sng" sz="2000" spc="-3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25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2000">
                <a:solidFill>
                  <a:srgbClr val="7E7E7E"/>
                </a:solidFill>
                <a:uFill>
                  <a:solidFill>
                    <a:srgbClr val="5C9DAE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  <a:p>
            <a:pPr marL="464820" indent="-342900">
              <a:lnSpc>
                <a:spcPct val="100000"/>
              </a:lnSpc>
              <a:spcBef>
                <a:spcPts val="790"/>
              </a:spcBef>
              <a:buClr>
                <a:srgbClr val="000000"/>
              </a:buClr>
              <a:buFont typeface="Arial MT"/>
              <a:buChar char="•"/>
              <a:tabLst>
                <a:tab pos="464820" algn="l"/>
              </a:tabLst>
            </a:pPr>
            <a:r>
              <a:rPr dirty="0" u="sng" sz="18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https://www.ey.com/en_id/banking-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capital-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markets/riding-the-</a:t>
            </a:r>
            <a:r>
              <a:rPr dirty="0" u="sng" sz="18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wave-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of-indonesias-financial-services-growth</a:t>
            </a:r>
            <a:endParaRPr sz="1800">
              <a:latin typeface="Calibri"/>
              <a:cs typeface="Calibri"/>
            </a:endParaRPr>
          </a:p>
          <a:p>
            <a:pPr marL="464820" indent="-34290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64820" algn="l"/>
              </a:tabLst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https://www.povertyactionlab.org/blog/2-12-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21/strengthening-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indonesias-branchless-banking-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agent-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network-</a:t>
            </a:r>
            <a:endParaRPr sz="1800">
              <a:latin typeface="Calibri"/>
              <a:cs typeface="Calibri"/>
            </a:endParaRPr>
          </a:p>
          <a:p>
            <a:pPr marL="464820">
              <a:lnSpc>
                <a:spcPct val="100000"/>
              </a:lnSpc>
              <a:spcBef>
                <a:spcPts val="5"/>
              </a:spcBef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challenges-and-lessons</a:t>
            </a:r>
            <a:endParaRPr sz="1800">
              <a:latin typeface="Calibri"/>
              <a:cs typeface="Calibri"/>
            </a:endParaRPr>
          </a:p>
          <a:p>
            <a:pPr marL="464820" indent="-34290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64820" algn="l"/>
              </a:tabLst>
            </a:pP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https://docs.finantier.co/id/v1#section/Identity-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Verification</a:t>
            </a:r>
            <a:endParaRPr sz="1800">
              <a:latin typeface="Calibri"/>
              <a:cs typeface="Calibri"/>
            </a:endParaRPr>
          </a:p>
          <a:p>
            <a:pPr marL="464820" indent="-34290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64820" algn="l"/>
              </a:tabLst>
            </a:pP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https://www.adb.org/results/microfinance-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indonesia-bringing-banks-community</a:t>
            </a:r>
            <a:endParaRPr sz="1800">
              <a:latin typeface="Calibri"/>
              <a:cs typeface="Calibri"/>
            </a:endParaRPr>
          </a:p>
          <a:p>
            <a:pPr marL="464820" indent="-34290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64820" algn="l"/>
              </a:tabLst>
            </a:pP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https://www.ojk.go.id/id/berita-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dan-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kegiatan/publikasi/Documents/Pages/Materi-OJK-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PROKSI-</a:t>
            </a:r>
            <a:endParaRPr sz="1800">
              <a:latin typeface="Calibri"/>
              <a:cs typeface="Calibri"/>
            </a:endParaRPr>
          </a:p>
          <a:p>
            <a:pPr marL="464820">
              <a:lnSpc>
                <a:spcPct val="100000"/>
              </a:lnSpc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2016/3.Microfinance%2011032016%20-%20Bp.%20Mulya%20E.%20Siregar.pdf</a:t>
            </a:r>
            <a:endParaRPr sz="1800">
              <a:latin typeface="Calibri"/>
              <a:cs typeface="Calibri"/>
            </a:endParaRPr>
          </a:p>
          <a:p>
            <a:pPr marL="464820" indent="-34290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64820" algn="l"/>
              </a:tabLst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https://www.jstor.org/stable/24310602</a:t>
            </a:r>
            <a:endParaRPr sz="1800">
              <a:latin typeface="Calibri"/>
              <a:cs typeface="Calibri"/>
            </a:endParaRPr>
          </a:p>
          <a:p>
            <a:pPr marL="464820" indent="-34290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64820" algn="l"/>
              </a:tabLst>
            </a:pP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https://developers.bri.co.id/en/news/role-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briapi-helping-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microfinance-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institutions-indonesia-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go-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digital</a:t>
            </a:r>
            <a:endParaRPr sz="1800">
              <a:latin typeface="Calibri"/>
              <a:cs typeface="Calibri"/>
            </a:endParaRPr>
          </a:p>
          <a:p>
            <a:pPr marL="464820" marR="297815" indent="-34290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64820" algn="l"/>
              </a:tabLst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https://www.povertyactionlab.org/blog/2-12-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21/strengthening-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indonesias-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branchless-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banking-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agent-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network-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challenges-and-lessons</a:t>
            </a:r>
            <a:endParaRPr sz="1800">
              <a:latin typeface="Calibri"/>
              <a:cs typeface="Calibri"/>
            </a:endParaRPr>
          </a:p>
          <a:p>
            <a:pPr marL="408305" indent="-28638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08305" algn="l"/>
              </a:tabLst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https://www.docsumo.com/blog/artificial-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intelligence-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lending</a:t>
            </a:r>
            <a:endParaRPr sz="1800">
              <a:latin typeface="Calibri"/>
              <a:cs typeface="Calibri"/>
            </a:endParaRPr>
          </a:p>
          <a:p>
            <a:pPr marL="408305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Arial MT"/>
              <a:buChar char="•"/>
              <a:tabLst>
                <a:tab pos="408305" algn="l"/>
              </a:tabLst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file:///C:/Users/lenovo/Downloads/Blueprint-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Sistem-</a:t>
            </a:r>
            <a:r>
              <a:rPr dirty="0" u="sng" sz="18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Pembayaran-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Indonesia-2025%20(1).pdf</a:t>
            </a:r>
            <a:endParaRPr sz="1800">
              <a:latin typeface="Calibri"/>
              <a:cs typeface="Calibri"/>
            </a:endParaRPr>
          </a:p>
          <a:p>
            <a:pPr marL="408305" indent="-28638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08305" algn="l"/>
              </a:tabLst>
            </a:pP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https://finbraine.com/enhancing-better-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and-</a:t>
            </a:r>
            <a:r>
              <a:rPr dirty="0" u="sng" sz="18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faster-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credit-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decisions-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with-automation-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and-</a:t>
            </a:r>
            <a:r>
              <a:rPr dirty="0" u="sng" sz="18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ai/</a:t>
            </a:r>
            <a:endParaRPr sz="1800">
              <a:latin typeface="Calibri"/>
              <a:cs typeface="Calibri"/>
            </a:endParaRPr>
          </a:p>
          <a:p>
            <a:pPr marL="408305" indent="-28638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08305" algn="l"/>
              </a:tabLst>
            </a:pPr>
            <a:r>
              <a:rPr dirty="0" u="sng" sz="18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https://www.paisabazaar.com/credit-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score/microfinance-credit-bureau-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in-india/</a:t>
            </a:r>
            <a:endParaRPr sz="1800">
              <a:latin typeface="Calibri"/>
              <a:cs typeface="Calibri"/>
            </a:endParaRPr>
          </a:p>
          <a:p>
            <a:pPr marL="408305" indent="-28638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08305" algn="l"/>
              </a:tabLst>
            </a:pPr>
            <a:r>
              <a:rPr dirty="0" u="sng" sz="18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https://www.myfico.com/credit-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education/whats-</a:t>
            </a: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in-</a:t>
            </a:r>
            <a:r>
              <a:rPr dirty="0" u="sng" sz="1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your-</a:t>
            </a:r>
            <a:r>
              <a:rPr dirty="0" u="sng" sz="1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credit-</a:t>
            </a:r>
            <a:endParaRPr sz="1800">
              <a:latin typeface="Calibri"/>
              <a:cs typeface="Calibri"/>
            </a:endParaRPr>
          </a:p>
          <a:p>
            <a:pPr marL="408940">
              <a:lnSpc>
                <a:spcPct val="100000"/>
              </a:lnSpc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score#:~:text=What's%20in%20my%20FICO%C2%AE,and%20credit%20mix%20(10%25</a:t>
            </a:r>
            <a:r>
              <a:rPr dirty="0" sz="1800" spc="-10">
                <a:latin typeface="Calibri"/>
                <a:cs typeface="Calibri"/>
              </a:rPr>
              <a:t>).</a:t>
            </a:r>
            <a:endParaRPr sz="1800">
              <a:latin typeface="Calibri"/>
              <a:cs typeface="Calibri"/>
            </a:endParaRPr>
          </a:p>
          <a:p>
            <a:pPr marL="408305" indent="-28638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08305" algn="l"/>
              </a:tabLst>
            </a:pPr>
            <a:r>
              <a:rPr dirty="0" u="sng" sz="1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https://www.sciencedirect.com/science/article/pii/S2405918822000095#fig7</a:t>
            </a:r>
            <a:endParaRPr sz="1800">
              <a:latin typeface="Calibri"/>
              <a:cs typeface="Calibri"/>
            </a:endParaRPr>
          </a:p>
          <a:p>
            <a:pPr marL="408305" indent="-286385">
              <a:lnSpc>
                <a:spcPct val="100000"/>
              </a:lnSpc>
              <a:buFont typeface="Arial MT"/>
              <a:buChar char="•"/>
              <a:tabLst>
                <a:tab pos="408305" algn="l"/>
              </a:tabLst>
            </a:pPr>
            <a:r>
              <a:rPr dirty="0" u="sng" sz="1800" spc="-2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Calibri"/>
                <a:cs typeface="Calibri"/>
                <a:hlinkClick r:id="rId15"/>
              </a:rPr>
              <a:t>https://techcrunch.com/2022/09/04/skorlife-</a:t>
            </a:r>
            <a:r>
              <a:rPr dirty="0" u="sng" sz="1800" spc="-1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Calibri"/>
                <a:cs typeface="Calibri"/>
                <a:hlinkClick r:id="rId15"/>
              </a:rPr>
              <a:t>gives-</a:t>
            </a:r>
            <a:r>
              <a:rPr dirty="0" u="sng" sz="1800" spc="-2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Calibri"/>
                <a:cs typeface="Calibri"/>
                <a:hlinkClick r:id="rId15"/>
              </a:rPr>
              <a:t>control-</a:t>
            </a:r>
            <a:r>
              <a:rPr dirty="0" u="sng" sz="1800" spc="-1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Calibri"/>
                <a:cs typeface="Calibri"/>
                <a:hlinkClick r:id="rId15"/>
              </a:rPr>
              <a:t>of-</a:t>
            </a:r>
            <a:r>
              <a:rPr dirty="0" u="sng" sz="1800" spc="-2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Calibri"/>
                <a:cs typeface="Calibri"/>
                <a:hlinkClick r:id="rId15"/>
              </a:rPr>
              <a:t>credit-data-</a:t>
            </a:r>
            <a:r>
              <a:rPr dirty="0" u="sng" sz="1800" spc="-1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Calibri"/>
                <a:cs typeface="Calibri"/>
                <a:hlinkClick r:id="rId15"/>
              </a:rPr>
              <a:t>back-to-indonesian-consumers/</a:t>
            </a:r>
            <a:endParaRPr sz="1800">
              <a:latin typeface="Calibri"/>
              <a:cs typeface="Calibri"/>
            </a:endParaRPr>
          </a:p>
          <a:p>
            <a:pPr marL="408305" indent="-286385">
              <a:lnSpc>
                <a:spcPct val="100000"/>
              </a:lnSpc>
              <a:buFont typeface="Arial MT"/>
              <a:buChar char="•"/>
              <a:tabLst>
                <a:tab pos="408305" algn="l"/>
              </a:tabLst>
            </a:pPr>
            <a:r>
              <a:rPr dirty="0" u="sng" sz="1800" spc="-10">
                <a:solidFill>
                  <a:srgbClr val="4471C4"/>
                </a:solidFill>
                <a:uFill>
                  <a:solidFill>
                    <a:srgbClr val="4471C4"/>
                  </a:solidFill>
                </a:uFill>
                <a:latin typeface="Calibri"/>
                <a:cs typeface="Calibri"/>
                <a:hlinkClick r:id="rId16"/>
              </a:rPr>
              <a:t>https://www.ncbi.nlm.nih.gov/pmc/articles/PMC8082208/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24031" y="0"/>
            <a:ext cx="635635" cy="131445"/>
          </a:xfrm>
          <a:custGeom>
            <a:avLst/>
            <a:gdLst/>
            <a:ahLst/>
            <a:cxnLst/>
            <a:rect l="l" t="t" r="r" b="b"/>
            <a:pathLst>
              <a:path w="635634" h="131445">
                <a:moveTo>
                  <a:pt x="635507" y="0"/>
                </a:moveTo>
                <a:lnTo>
                  <a:pt x="0" y="0"/>
                </a:lnTo>
                <a:lnTo>
                  <a:pt x="0" y="131064"/>
                </a:lnTo>
                <a:lnTo>
                  <a:pt x="635507" y="131064"/>
                </a:lnTo>
                <a:lnTo>
                  <a:pt x="635507" y="0"/>
                </a:lnTo>
                <a:close/>
              </a:path>
            </a:pathLst>
          </a:custGeom>
          <a:solidFill>
            <a:srgbClr val="DFE6E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Agriculture in Indonesia - Wikipedia"/>
          <p:cNvGrpSpPr/>
          <p:nvPr/>
        </p:nvGrpSpPr>
        <p:grpSpPr>
          <a:xfrm>
            <a:off x="-6350" y="-6350"/>
            <a:ext cx="12198350" cy="6870700"/>
            <a:chOff x="-6350" y="-6350"/>
            <a:chExt cx="12198350" cy="6870700"/>
          </a:xfrm>
        </p:grpSpPr>
        <p:pic>
          <p:nvPicPr>
            <p:cNvPr id="3" name="object 3" descr="Agriculture in Indonesia - Wikipedia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06910" cy="6858000"/>
            </a:xfrm>
            <a:custGeom>
              <a:avLst/>
              <a:gdLst/>
              <a:ahLst/>
              <a:cxnLst/>
              <a:rect l="l" t="t" r="r" b="b"/>
              <a:pathLst>
                <a:path w="12106910" h="6858000">
                  <a:moveTo>
                    <a:pt x="1210665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06656" y="6858000"/>
                  </a:lnTo>
                  <a:lnTo>
                    <a:pt x="12106656" y="0"/>
                  </a:lnTo>
                  <a:close/>
                </a:path>
              </a:pathLst>
            </a:custGeom>
            <a:solidFill>
              <a:srgbClr val="000000">
                <a:alpha val="3607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06910" cy="6858000"/>
            </a:xfrm>
            <a:custGeom>
              <a:avLst/>
              <a:gdLst/>
              <a:ahLst/>
              <a:cxnLst/>
              <a:rect l="l" t="t" r="r" b="b"/>
              <a:pathLst>
                <a:path w="12106910" h="6858000">
                  <a:moveTo>
                    <a:pt x="12106656" y="6858000"/>
                  </a:moveTo>
                  <a:lnTo>
                    <a:pt x="12106656" y="0"/>
                  </a:lnTo>
                  <a:lnTo>
                    <a:pt x="0" y="0"/>
                  </a:lnTo>
                  <a:lnTo>
                    <a:pt x="0" y="6858000"/>
                  </a:lnTo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21428" y="3266008"/>
            <a:ext cx="1996439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i="1">
                <a:solidFill>
                  <a:srgbClr val="FFFFFF"/>
                </a:solidFill>
                <a:latin typeface="Calibri"/>
                <a:cs typeface="Calibri"/>
              </a:rPr>
              <a:t>Thank </a:t>
            </a:r>
            <a:r>
              <a:rPr dirty="0" sz="3600" spc="-25" i="1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Bhavika Rajora</dc:creator>
  <dc:title>PowerPoint Presentation</dc:title>
  <dcterms:created xsi:type="dcterms:W3CDTF">2026-08-12T19:51:21Z</dcterms:created>
  <dcterms:modified xsi:type="dcterms:W3CDTF">2026-08-12T19:51:21Z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2023-09-01T00:00:00Z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2026-08-12T00:00:00Z</vt:filetime>
  </property>
  <property fmtid="{D5CDD505-2E9C-101B-9397-08002B2CF9AE}" pid="6" name="Producer">
    <vt:lpwstr>Microsoft® PowerPoint® 2016</vt:lpwstr>
  </property>
</Properties>
</file>