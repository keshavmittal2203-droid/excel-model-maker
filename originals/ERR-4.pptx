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2.xml" ContentType="application/vnd.openxmlformats-officedocument.presentationml.notesSl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66" r:id="rId2"/>
    <p:sldId id="265" r:id="rId3"/>
    <p:sldId id="256" r:id="rId4"/>
    <p:sldId id="278" r:id="rId5"/>
    <p:sldId id="257" r:id="rId6"/>
    <p:sldId id="279" r:id="rId7"/>
    <p:sldId id="280" r:id="rId8"/>
    <p:sldId id="258" r:id="rId9"/>
    <p:sldId id="276" r:id="rId10"/>
    <p:sldId id="267" r:id="rId11"/>
    <p:sldId id="277" r:id="rId12"/>
    <p:sldId id="269" r:id="rId13"/>
    <p:sldId id="270" r:id="rId14"/>
    <p:sldId id="261" r:id="rId15"/>
    <p:sldId id="262" r:id="rId16"/>
    <p:sldId id="263" r:id="rId17"/>
    <p:sldId id="264" r:id="rId18"/>
    <p:sldId id="274" r:id="rId19"/>
    <p:sldId id="275" r:id="rId20"/>
    <p:sldId id="271" r:id="rId21"/>
    <p:sldId id="272" r:id="rId22"/>
    <p:sldId id="273" r:id="rId23"/>
    <p:sldId id="281" r:id="rId24"/>
    <p:sldId id="282" r:id="rId25"/>
    <p:sldId id="283" r:id="rId26"/>
  </p:sldIdLst>
  <p:sldSz cx="6858000" cy="9144000" type="screen4x3"/>
  <p:notesSz cx="6858000" cy="9144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D6B6"/>
    <a:srgbClr val="FFFFFF"/>
    <a:srgbClr val="E36B0C"/>
    <a:srgbClr val="E46C0A"/>
    <a:srgbClr val="FDE7D3"/>
    <a:srgbClr val="F5A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76" autoAdjust="0"/>
    <p:restoredTop sz="94684"/>
  </p:normalViewPr>
  <p:slideViewPr>
    <p:cSldViewPr>
      <p:cViewPr>
        <p:scale>
          <a:sx n="66" d="100"/>
          <a:sy n="66" d="100"/>
        </p:scale>
        <p:origin x="2290" y="38"/>
      </p:cViewPr>
      <p:guideLst>
        <p:guide orient="horz" pos="2880"/>
        <p:guide pos="2160"/>
      </p:guideLst>
    </p:cSldViewPr>
  </p:slid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C:\Users\garga\Downloads\Sun%20pharma%20dupont.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file:///C:\Users\garga\Downloads\Sun%20pharma%20dupont.xlsx" TargetMode="External"/><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oleObject" Target="file:///C:\Users\garga\Downloads\Sun%20pharma%20dupont.xlsx" TargetMode="External"/><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oleObject" Target="file:///C:\Users\garga\Downloads\Sun%20pharma%20dupont.xlsx" TargetMode="External"/><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oleObject" Target="file:///C:\Users\garga\Downloads\Sun%20pharma%20dupont.xlsx" TargetMode="External"/><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oleObject" Target="file:///C:\Users\garga\Downloads\Sun%20pharma%20dupont.xlsx" TargetMode="External"/><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oleObject" Target="file:///C:\Users\garga\Downloads\Market%20Index%20Analysis.xlsx" TargetMode="External"/><Relationship Id="rId2" Type="http://schemas.microsoft.com/office/2011/relationships/chartColorStyle" Target="colors25.xml"/><Relationship Id="rId1" Type="http://schemas.microsoft.com/office/2011/relationships/chartStyle" Target="style2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100" b="0" i="0" u="none" strike="noStrike" kern="1200" baseline="0">
                <a:solidFill>
                  <a:srgbClr val="000000"/>
                </a:solidFill>
                <a:latin typeface="Arial"/>
                <a:ea typeface="+mn-ea"/>
                <a:cs typeface="+mn-cs"/>
              </a:defRPr>
            </a:pPr>
            <a:r>
              <a:rPr lang="en-IN" sz="1100" b="0" i="0" u="none" strike="noStrike" dirty="0">
                <a:solidFill>
                  <a:srgbClr val="000000"/>
                </a:solidFill>
                <a:latin typeface="Arial"/>
              </a:rPr>
              <a:t>Revenue</a:t>
            </a:r>
            <a:r>
              <a:rPr lang="en-IN" sz="1100" b="0" i="0" u="none" strike="noStrike" baseline="0" dirty="0">
                <a:solidFill>
                  <a:srgbClr val="000000"/>
                </a:solidFill>
                <a:latin typeface="Arial"/>
              </a:rPr>
              <a:t> Mix (in %)</a:t>
            </a:r>
            <a:endParaRPr lang="en-IN" sz="1100" b="0" i="0" u="none" strike="noStrike" dirty="0">
              <a:solidFill>
                <a:srgbClr val="000000"/>
              </a:solidFill>
              <a:latin typeface="Arial"/>
            </a:endParaRPr>
          </a:p>
        </c:rich>
      </c:tx>
      <c:overlay val="0"/>
      <c:spPr>
        <a:noFill/>
        <a:ln>
          <a:noFill/>
        </a:ln>
        <a:effectLst/>
      </c:spPr>
      <c:txPr>
        <a:bodyPr rot="0" spcFirstLastPara="1" vertOverflow="ellipsis" vert="horz" wrap="square" anchor="ctr" anchorCtr="1"/>
        <a:lstStyle/>
        <a:p>
          <a:pPr>
            <a:defRPr sz="1100" b="0" i="0" u="none" strike="noStrike" kern="1200" baseline="0">
              <a:solidFill>
                <a:srgbClr val="000000"/>
              </a:solidFill>
              <a:latin typeface="Arial"/>
              <a:ea typeface="+mn-ea"/>
              <a:cs typeface="+mn-cs"/>
            </a:defRPr>
          </a:pPr>
          <a:endParaRPr lang="en-IN"/>
        </a:p>
      </c:txPr>
    </c:title>
    <c:autoTitleDeleted val="0"/>
    <c:plotArea>
      <c:layout/>
      <c:barChart>
        <c:barDir val="col"/>
        <c:grouping val="stacked"/>
        <c:varyColors val="0"/>
        <c:ser>
          <c:idx val="0"/>
          <c:order val="0"/>
          <c:tx>
            <c:strRef>
              <c:f>Sheet1!$B$1</c:f>
              <c:strCache>
                <c:ptCount val="1"/>
                <c:pt idx="0">
                  <c:v>Revenue ( IN %) </c:v>
                </c:pt>
              </c:strCache>
            </c:strRef>
          </c:tx>
          <c:spPr>
            <a:solidFill>
              <a:schemeClr val="accent6">
                <a:shade val="65000"/>
              </a:schemeClr>
            </a:solidFill>
            <a:ln>
              <a:noFill/>
            </a:ln>
            <a:effectLst/>
          </c:spPr>
          <c:invertIfNegative val="0"/>
          <c:cat>
            <c:strRef>
              <c:f>Sheet1!$A$2:$A$8</c:f>
              <c:strCache>
                <c:ptCount val="3"/>
                <c:pt idx="0">
                  <c:v>India </c:v>
                </c:pt>
                <c:pt idx="1">
                  <c:v>US</c:v>
                </c:pt>
                <c:pt idx="2">
                  <c:v>Innovative Medicines</c:v>
                </c:pt>
              </c:strCache>
              <c:extLst/>
            </c:strRef>
          </c:cat>
          <c:val>
            <c:numRef>
              <c:f>Sheet1!$B$2:$B$8</c:f>
              <c:numCache>
                <c:formatCode>#,##0</c:formatCode>
                <c:ptCount val="3"/>
                <c:pt idx="0">
                  <c:v>33</c:v>
                </c:pt>
                <c:pt idx="1">
                  <c:v>29</c:v>
                </c:pt>
                <c:pt idx="2" formatCode="General">
                  <c:v>21</c:v>
                </c:pt>
              </c:numCache>
              <c:extLst/>
            </c:numRef>
          </c:val>
          <c:extLst>
            <c:ext xmlns:c16="http://schemas.microsoft.com/office/drawing/2014/chart" uri="{C3380CC4-5D6E-409C-BE32-E72D297353CC}">
              <c16:uniqueId val="{00000000-145B-4032-BB56-F4710CE06E2D}"/>
            </c:ext>
          </c:extLst>
        </c:ser>
        <c:ser>
          <c:idx val="1"/>
          <c:order val="1"/>
          <c:tx>
            <c:strRef>
              <c:f>Sheet1!$C$1</c:f>
              <c:strCache>
                <c:ptCount val="1"/>
              </c:strCache>
            </c:strRef>
          </c:tx>
          <c:spPr>
            <a:solidFill>
              <a:schemeClr val="accent6"/>
            </a:solidFill>
            <a:ln>
              <a:noFill/>
            </a:ln>
            <a:effectLst/>
          </c:spPr>
          <c:invertIfNegative val="0"/>
          <c:cat>
            <c:strRef>
              <c:f>Sheet1!$A$2:$A$8</c:f>
              <c:strCache>
                <c:ptCount val="3"/>
                <c:pt idx="0">
                  <c:v>India </c:v>
                </c:pt>
                <c:pt idx="1">
                  <c:v>US</c:v>
                </c:pt>
                <c:pt idx="2">
                  <c:v>Innovative Medicines</c:v>
                </c:pt>
              </c:strCache>
              <c:extLst/>
            </c:strRef>
          </c:cat>
          <c:val>
            <c:numRef>
              <c:f>Sheet1!$C$2:$C$8</c:f>
              <c:numCache>
                <c:formatCode>General</c:formatCode>
                <c:ptCount val="3"/>
              </c:numCache>
              <c:extLst/>
            </c:numRef>
          </c:val>
          <c:extLst>
            <c:ext xmlns:c16="http://schemas.microsoft.com/office/drawing/2014/chart" uri="{C3380CC4-5D6E-409C-BE32-E72D297353CC}">
              <c16:uniqueId val="{00000001-145B-4032-BB56-F4710CE06E2D}"/>
            </c:ext>
          </c:extLst>
        </c:ser>
        <c:ser>
          <c:idx val="2"/>
          <c:order val="2"/>
          <c:tx>
            <c:strRef>
              <c:f>Sheet1!$D$1</c:f>
              <c:strCache>
                <c:ptCount val="1"/>
              </c:strCache>
            </c:strRef>
          </c:tx>
          <c:spPr>
            <a:solidFill>
              <a:schemeClr val="accent6">
                <a:tint val="65000"/>
              </a:schemeClr>
            </a:solidFill>
            <a:ln>
              <a:noFill/>
            </a:ln>
            <a:effectLst/>
          </c:spPr>
          <c:invertIfNegative val="0"/>
          <c:cat>
            <c:strRef>
              <c:f>Sheet1!$A$2:$A$8</c:f>
              <c:strCache>
                <c:ptCount val="3"/>
                <c:pt idx="0">
                  <c:v>India </c:v>
                </c:pt>
                <c:pt idx="1">
                  <c:v>US</c:v>
                </c:pt>
                <c:pt idx="2">
                  <c:v>Innovative Medicines</c:v>
                </c:pt>
              </c:strCache>
              <c:extLst/>
            </c:strRef>
          </c:cat>
          <c:val>
            <c:numRef>
              <c:f>Sheet1!$D$2:$D$8</c:f>
              <c:numCache>
                <c:formatCode>General</c:formatCode>
                <c:ptCount val="3"/>
              </c:numCache>
              <c:extLst/>
            </c:numRef>
          </c:val>
          <c:extLst>
            <c:ext xmlns:c16="http://schemas.microsoft.com/office/drawing/2014/chart" uri="{C3380CC4-5D6E-409C-BE32-E72D297353CC}">
              <c16:uniqueId val="{00000002-145B-4032-BB56-F4710CE06E2D}"/>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noFill/>
          <a:ln w="12700" cap="flat" cmpd="sng" algn="ctr">
            <a:solidFill>
              <a:srgbClr val="888888"/>
            </a:solidFill>
            <a:prstDash val="solid"/>
            <a:round/>
          </a:ln>
          <a:effectLst/>
        </c:spPr>
        <c:txPr>
          <a:bodyPr rot="-60000000" spcFirstLastPara="1" vertOverflow="ellipsis" vert="horz" wrap="square" anchor="ctr" anchorCtr="1"/>
          <a:lstStyle/>
          <a:p>
            <a:pPr>
              <a:defRPr sz="800" b="0" i="0" u="none" strike="noStrike" kern="1200" baseline="0">
                <a:solidFill>
                  <a:srgbClr val="595959"/>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cmpd="sng" algn="ctr">
              <a:solidFill>
                <a:srgbClr val="E7E7E7"/>
              </a:solidFill>
              <a:prstDash val="solid"/>
              <a:round/>
            </a:ln>
            <a:effectLst/>
          </c:spPr>
        </c:majorGridlines>
        <c:numFmt formatCode="General" sourceLinked="0"/>
        <c:majorTickMark val="out"/>
        <c:minorTickMark val="none"/>
        <c:tickLblPos val="nextTo"/>
        <c:spPr>
          <a:noFill/>
          <a:ln w="12700" cap="flat" cmpd="sng" algn="ctr">
            <a:solidFill>
              <a:srgbClr val="888888"/>
            </a:solidFill>
            <a:prstDash val="solid"/>
            <a:round/>
          </a:ln>
          <a:effectLst/>
        </c:spPr>
        <c:txPr>
          <a:bodyPr rot="-60000000" spcFirstLastPara="1" vertOverflow="ellipsis" vert="horz" wrap="square" anchor="ctr" anchorCtr="1"/>
          <a:lstStyle/>
          <a:p>
            <a:pPr>
              <a:defRPr sz="800" b="0" i="0" u="none" strike="noStrike" kern="1200" baseline="0">
                <a:solidFill>
                  <a:srgbClr val="595959"/>
                </a:solidFill>
                <a:latin typeface="Arial"/>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noFill/>
    <a:ln w="9525" cap="flat" cmpd="sng" algn="ctr">
      <a:noFill/>
      <a:prstDash val="soli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100" b="0" i="0" u="none" strike="noStrike" kern="1200" baseline="0">
                <a:solidFill>
                  <a:srgbClr val="000000"/>
                </a:solidFill>
                <a:latin typeface="Arial"/>
                <a:ea typeface="+mn-ea"/>
                <a:cs typeface="+mn-cs"/>
              </a:defRPr>
            </a:pPr>
            <a:r>
              <a:rPr lang="en-IN" sz="1100" b="0" i="0" u="none" strike="noStrike" dirty="0">
                <a:solidFill>
                  <a:srgbClr val="000000"/>
                </a:solidFill>
                <a:latin typeface="Arial"/>
              </a:rPr>
              <a:t>Revenue</a:t>
            </a:r>
            <a:r>
              <a:rPr lang="en-IN" sz="1100" b="0" i="0" u="none" strike="noStrike" baseline="0" dirty="0">
                <a:solidFill>
                  <a:srgbClr val="000000"/>
                </a:solidFill>
                <a:latin typeface="Arial"/>
              </a:rPr>
              <a:t> by Segment </a:t>
            </a:r>
            <a:r>
              <a:rPr lang="en-IN" sz="1100" b="0" i="0" u="none" strike="noStrike" dirty="0">
                <a:solidFill>
                  <a:srgbClr val="000000"/>
                </a:solidFill>
                <a:latin typeface="Arial"/>
              </a:rPr>
              <a:t>(₹ Crore)</a:t>
            </a:r>
          </a:p>
        </c:rich>
      </c:tx>
      <c:overlay val="0"/>
      <c:spPr>
        <a:noFill/>
        <a:ln>
          <a:noFill/>
        </a:ln>
        <a:effectLst/>
      </c:spPr>
      <c:txPr>
        <a:bodyPr rot="0" spcFirstLastPara="1" vertOverflow="ellipsis" vert="horz" wrap="square" anchor="ctr" anchorCtr="1"/>
        <a:lstStyle/>
        <a:p>
          <a:pPr>
            <a:defRPr sz="1100" b="0" i="0" u="none" strike="noStrike" kern="1200" baseline="0">
              <a:solidFill>
                <a:srgbClr val="000000"/>
              </a:solidFill>
              <a:latin typeface="Arial"/>
              <a:ea typeface="+mn-ea"/>
              <a:cs typeface="+mn-cs"/>
            </a:defRPr>
          </a:pPr>
          <a:endParaRPr lang="en-US"/>
        </a:p>
      </c:txPr>
    </c:title>
    <c:autoTitleDeleted val="0"/>
    <c:plotArea>
      <c:layout/>
      <c:barChart>
        <c:barDir val="col"/>
        <c:grouping val="stacked"/>
        <c:varyColors val="0"/>
        <c:ser>
          <c:idx val="0"/>
          <c:order val="0"/>
          <c:tx>
            <c:strRef>
              <c:f>Sheet1!$B$1</c:f>
              <c:strCache>
                <c:ptCount val="1"/>
                <c:pt idx="0">
                  <c:v>Revenue (in₹ Crore) </c:v>
                </c:pt>
              </c:strCache>
            </c:strRef>
          </c:tx>
          <c:spPr>
            <a:solidFill>
              <a:schemeClr val="accent6">
                <a:shade val="65000"/>
              </a:schemeClr>
            </a:solidFill>
            <a:ln>
              <a:noFill/>
            </a:ln>
            <a:effectLst/>
          </c:spPr>
          <c:invertIfNegative val="0"/>
          <c:cat>
            <c:strRef>
              <c:f>Sheet1!$A$2:$A$8</c:f>
              <c:strCache>
                <c:ptCount val="5"/>
                <c:pt idx="0">
                  <c:v>India Formulations</c:v>
                </c:pt>
                <c:pt idx="1">
                  <c:v>US Formulations</c:v>
                </c:pt>
                <c:pt idx="2">
                  <c:v>Innovative Medicines</c:v>
                </c:pt>
                <c:pt idx="3">
                  <c:v>Emerging Markets</c:v>
                </c:pt>
                <c:pt idx="4">
                  <c:v>Rest of the World</c:v>
                </c:pt>
              </c:strCache>
            </c:strRef>
          </c:cat>
          <c:val>
            <c:numRef>
              <c:f>Sheet1!$B$2:$B$8</c:f>
              <c:numCache>
                <c:formatCode>#,##0</c:formatCode>
                <c:ptCount val="5"/>
                <c:pt idx="0">
                  <c:v>19290</c:v>
                </c:pt>
                <c:pt idx="1">
                  <c:v>16370</c:v>
                </c:pt>
                <c:pt idx="2">
                  <c:v>12210</c:v>
                </c:pt>
                <c:pt idx="3">
                  <c:v>10840</c:v>
                </c:pt>
                <c:pt idx="4">
                  <c:v>8330</c:v>
                </c:pt>
              </c:numCache>
            </c:numRef>
          </c:val>
          <c:extLst>
            <c:ext xmlns:c16="http://schemas.microsoft.com/office/drawing/2014/chart" uri="{C3380CC4-5D6E-409C-BE32-E72D297353CC}">
              <c16:uniqueId val="{00000000-BEA3-AC46-9150-E11527691169}"/>
            </c:ext>
          </c:extLst>
        </c:ser>
        <c:ser>
          <c:idx val="1"/>
          <c:order val="1"/>
          <c:tx>
            <c:strRef>
              <c:f>Sheet1!$C$1</c:f>
              <c:strCache>
                <c:ptCount val="1"/>
              </c:strCache>
            </c:strRef>
          </c:tx>
          <c:spPr>
            <a:solidFill>
              <a:schemeClr val="accent6"/>
            </a:solidFill>
            <a:ln>
              <a:noFill/>
            </a:ln>
            <a:effectLst/>
          </c:spPr>
          <c:invertIfNegative val="0"/>
          <c:cat>
            <c:strRef>
              <c:f>Sheet1!$A$2:$A$8</c:f>
              <c:strCache>
                <c:ptCount val="5"/>
                <c:pt idx="0">
                  <c:v>India Formulations</c:v>
                </c:pt>
                <c:pt idx="1">
                  <c:v>US Formulations</c:v>
                </c:pt>
                <c:pt idx="2">
                  <c:v>Innovative Medicines</c:v>
                </c:pt>
                <c:pt idx="3">
                  <c:v>Emerging Markets</c:v>
                </c:pt>
                <c:pt idx="4">
                  <c:v>Rest of the World</c:v>
                </c:pt>
              </c:strCache>
            </c:strRef>
          </c:cat>
          <c:val>
            <c:numRef>
              <c:f>Sheet1!$C$2:$C$8</c:f>
              <c:numCache>
                <c:formatCode>General</c:formatCode>
                <c:ptCount val="5"/>
              </c:numCache>
            </c:numRef>
          </c:val>
          <c:extLst>
            <c:ext xmlns:c16="http://schemas.microsoft.com/office/drawing/2014/chart" uri="{C3380CC4-5D6E-409C-BE32-E72D297353CC}">
              <c16:uniqueId val="{00000001-BEA3-AC46-9150-E11527691169}"/>
            </c:ext>
          </c:extLst>
        </c:ser>
        <c:ser>
          <c:idx val="2"/>
          <c:order val="2"/>
          <c:tx>
            <c:strRef>
              <c:f>Sheet1!$D$1</c:f>
              <c:strCache>
                <c:ptCount val="1"/>
              </c:strCache>
            </c:strRef>
          </c:tx>
          <c:spPr>
            <a:solidFill>
              <a:schemeClr val="accent6">
                <a:tint val="65000"/>
              </a:schemeClr>
            </a:solidFill>
            <a:ln>
              <a:noFill/>
            </a:ln>
            <a:effectLst/>
          </c:spPr>
          <c:invertIfNegative val="0"/>
          <c:cat>
            <c:strRef>
              <c:f>Sheet1!$A$2:$A$8</c:f>
              <c:strCache>
                <c:ptCount val="5"/>
                <c:pt idx="0">
                  <c:v>India Formulations</c:v>
                </c:pt>
                <c:pt idx="1">
                  <c:v>US Formulations</c:v>
                </c:pt>
                <c:pt idx="2">
                  <c:v>Innovative Medicines</c:v>
                </c:pt>
                <c:pt idx="3">
                  <c:v>Emerging Markets</c:v>
                </c:pt>
                <c:pt idx="4">
                  <c:v>Rest of the World</c:v>
                </c:pt>
              </c:strCache>
            </c:strRef>
          </c:cat>
          <c:val>
            <c:numRef>
              <c:f>Sheet1!$D$2:$D$8</c:f>
              <c:numCache>
                <c:formatCode>General</c:formatCode>
                <c:ptCount val="5"/>
              </c:numCache>
            </c:numRef>
          </c:val>
          <c:extLst>
            <c:ext xmlns:c16="http://schemas.microsoft.com/office/drawing/2014/chart" uri="{C3380CC4-5D6E-409C-BE32-E72D297353CC}">
              <c16:uniqueId val="{00000002-BEA3-AC46-9150-E11527691169}"/>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noFill/>
          <a:ln w="12700" cap="flat" cmpd="sng" algn="ctr">
            <a:solidFill>
              <a:srgbClr val="888888"/>
            </a:solidFill>
            <a:prstDash val="solid"/>
            <a:round/>
          </a:ln>
          <a:effectLst/>
        </c:spPr>
        <c:txPr>
          <a:bodyPr rot="-60000000" spcFirstLastPara="1" vertOverflow="ellipsis" vert="horz" wrap="square" anchor="ctr" anchorCtr="1"/>
          <a:lstStyle/>
          <a:p>
            <a:pPr>
              <a:defRPr sz="800" b="0" i="0" u="none" strike="noStrike" kern="1200" baseline="0">
                <a:solidFill>
                  <a:srgbClr val="595959"/>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cmpd="sng" algn="ctr">
              <a:solidFill>
                <a:srgbClr val="E7E7E7"/>
              </a:solidFill>
              <a:prstDash val="solid"/>
              <a:round/>
            </a:ln>
            <a:effectLst/>
          </c:spPr>
        </c:majorGridlines>
        <c:numFmt formatCode="General" sourceLinked="0"/>
        <c:majorTickMark val="out"/>
        <c:minorTickMark val="none"/>
        <c:tickLblPos val="nextTo"/>
        <c:spPr>
          <a:noFill/>
          <a:ln w="12700" cap="flat" cmpd="sng" algn="ctr">
            <a:solidFill>
              <a:srgbClr val="888888"/>
            </a:solidFill>
            <a:prstDash val="solid"/>
            <a:round/>
          </a:ln>
          <a:effectLst/>
        </c:spPr>
        <c:txPr>
          <a:bodyPr rot="-60000000" spcFirstLastPara="1" vertOverflow="ellipsis" vert="horz" wrap="square" anchor="ctr" anchorCtr="1"/>
          <a:lstStyle/>
          <a:p>
            <a:pPr>
              <a:defRPr sz="800" b="0" i="0" u="none" strike="noStrike" kern="1200" baseline="0">
                <a:solidFill>
                  <a:srgbClr val="595959"/>
                </a:solidFill>
                <a:latin typeface="Arial"/>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noFill/>
    <a:ln w="9525" cap="flat" cmpd="sng" algn="ctr">
      <a:noFill/>
      <a:prstDash val="soli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100" b="0" i="0" u="none" strike="noStrike" kern="1200" baseline="0">
                <a:solidFill>
                  <a:srgbClr val="000000"/>
                </a:solidFill>
                <a:latin typeface="Arial"/>
                <a:ea typeface="+mn-ea"/>
                <a:cs typeface="+mn-cs"/>
              </a:defRPr>
            </a:pPr>
            <a:r>
              <a:rPr lang="en-IN" sz="1100" b="0" i="0" u="none" strike="noStrike" dirty="0">
                <a:solidFill>
                  <a:srgbClr val="000000"/>
                </a:solidFill>
                <a:latin typeface="Arial"/>
              </a:rPr>
              <a:t>FY26</a:t>
            </a:r>
            <a:r>
              <a:rPr lang="en-IN" sz="1100" b="0" i="0" u="none" strike="noStrike" baseline="0" dirty="0">
                <a:solidFill>
                  <a:srgbClr val="000000"/>
                </a:solidFill>
                <a:latin typeface="Arial"/>
              </a:rPr>
              <a:t> Snapshot (</a:t>
            </a:r>
            <a:r>
              <a:rPr lang="en-IN" sz="1100" b="0" i="0" u="none" strike="noStrike" kern="1200" baseline="0" dirty="0">
                <a:solidFill>
                  <a:srgbClr val="000000"/>
                </a:solidFill>
                <a:latin typeface="Arial"/>
              </a:rPr>
              <a:t>₹ Crore)</a:t>
            </a:r>
            <a:endParaRPr lang="en-IN" sz="1100" b="0" i="0" u="none" strike="noStrike" dirty="0">
              <a:solidFill>
                <a:srgbClr val="000000"/>
              </a:solidFill>
              <a:latin typeface="Arial"/>
            </a:endParaRPr>
          </a:p>
        </c:rich>
      </c:tx>
      <c:overlay val="0"/>
      <c:spPr>
        <a:noFill/>
        <a:ln>
          <a:noFill/>
        </a:ln>
        <a:effectLst/>
      </c:spPr>
      <c:txPr>
        <a:bodyPr rot="0" spcFirstLastPara="1" vertOverflow="ellipsis" vert="horz" wrap="square" anchor="ctr" anchorCtr="1"/>
        <a:lstStyle/>
        <a:p>
          <a:pPr>
            <a:defRPr sz="1100" b="0" i="0" u="none" strike="noStrike" kern="1200" baseline="0">
              <a:solidFill>
                <a:srgbClr val="000000"/>
              </a:solidFill>
              <a:latin typeface="Arial"/>
              <a:ea typeface="+mn-ea"/>
              <a:cs typeface="+mn-cs"/>
            </a:defRPr>
          </a:pPr>
          <a:endParaRPr lang="en-IN"/>
        </a:p>
      </c:txPr>
    </c:title>
    <c:autoTitleDeleted val="0"/>
    <c:plotArea>
      <c:layout/>
      <c:barChart>
        <c:barDir val="col"/>
        <c:grouping val="clustered"/>
        <c:varyColors val="0"/>
        <c:ser>
          <c:idx val="0"/>
          <c:order val="0"/>
          <c:tx>
            <c:strRef>
              <c:f>Sheet1!$B$1</c:f>
              <c:strCache>
                <c:ptCount val="1"/>
                <c:pt idx="0">
                  <c:v>₹ Cr</c:v>
                </c:pt>
              </c:strCache>
            </c:strRef>
          </c:tx>
          <c:spPr>
            <a:solidFill>
              <a:schemeClr val="accent6"/>
            </a:solidFill>
            <a:ln>
              <a:noFill/>
            </a:ln>
            <a:effectLst/>
          </c:spPr>
          <c:invertIfNegative val="0"/>
          <c:dLbls>
            <c:delete val="1"/>
          </c:dLbls>
          <c:cat>
            <c:strRef>
              <c:f>Sheet1!$A$2:$A$9</c:f>
              <c:strCache>
                <c:ptCount val="4"/>
                <c:pt idx="0">
                  <c:v>Revenue</c:v>
                </c:pt>
                <c:pt idx="1">
                  <c:v>EBITDA</c:v>
                </c:pt>
                <c:pt idx="2">
                  <c:v>Net Profit</c:v>
                </c:pt>
                <c:pt idx="3">
                  <c:v>R &amp; D</c:v>
                </c:pt>
              </c:strCache>
            </c:strRef>
          </c:cat>
          <c:val>
            <c:numRef>
              <c:f>Sheet1!$B$2:$B$9</c:f>
              <c:numCache>
                <c:formatCode>#,##0</c:formatCode>
                <c:ptCount val="4"/>
                <c:pt idx="0">
                  <c:v>58220</c:v>
                </c:pt>
                <c:pt idx="1">
                  <c:v>17700</c:v>
                </c:pt>
                <c:pt idx="2">
                  <c:v>11479</c:v>
                </c:pt>
                <c:pt idx="3">
                  <c:v>3554</c:v>
                </c:pt>
              </c:numCache>
            </c:numRef>
          </c:val>
          <c:extLst>
            <c:ext xmlns:c16="http://schemas.microsoft.com/office/drawing/2014/chart" uri="{C3380CC4-5D6E-409C-BE32-E72D297353CC}">
              <c16:uniqueId val="{00000000-1AF2-944C-87F3-B4620D9235B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noFill/>
          <a:ln w="12700" cap="flat" cmpd="sng" algn="ctr">
            <a:solidFill>
              <a:srgbClr val="888888"/>
            </a:solidFill>
            <a:prstDash val="solid"/>
            <a:round/>
          </a:ln>
          <a:effectLst/>
        </c:spPr>
        <c:txPr>
          <a:bodyPr rot="-60000000" spcFirstLastPara="1" vertOverflow="ellipsis" vert="horz" wrap="square" anchor="ctr" anchorCtr="1"/>
          <a:lstStyle/>
          <a:p>
            <a:pPr>
              <a:defRPr sz="800" b="0" i="0" u="none" strike="noStrike" kern="1200" baseline="0">
                <a:solidFill>
                  <a:srgbClr val="595959"/>
                </a:solidFill>
                <a:latin typeface="Arial"/>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cmpd="sng" algn="ctr">
              <a:solidFill>
                <a:srgbClr val="E7E7E7"/>
              </a:solidFill>
              <a:prstDash val="solid"/>
              <a:round/>
            </a:ln>
            <a:effectLst/>
          </c:spPr>
        </c:majorGridlines>
        <c:numFmt formatCode="General" sourceLinked="0"/>
        <c:majorTickMark val="out"/>
        <c:minorTickMark val="none"/>
        <c:tickLblPos val="nextTo"/>
        <c:spPr>
          <a:noFill/>
          <a:ln w="12700" cap="flat" cmpd="sng" algn="ctr">
            <a:solidFill>
              <a:srgbClr val="888888"/>
            </a:solidFill>
            <a:prstDash val="solid"/>
            <a:round/>
          </a:ln>
          <a:effectLst/>
        </c:spPr>
        <c:txPr>
          <a:bodyPr rot="-60000000" spcFirstLastPara="1" vertOverflow="ellipsis" vert="horz" wrap="square" anchor="ctr" anchorCtr="1"/>
          <a:lstStyle/>
          <a:p>
            <a:pPr>
              <a:defRPr sz="800" b="0" i="0" u="none" strike="noStrike" kern="1200" baseline="0">
                <a:solidFill>
                  <a:srgbClr val="595959"/>
                </a:solidFill>
                <a:latin typeface="Arial"/>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noFill/>
    <a:ln w="9525" cap="flat" cmpd="sng" algn="ctr">
      <a:noFill/>
      <a:prstDash val="soli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GB" sz="1600" b="0" i="0" u="none" strike="noStrike" baseline="0" dirty="0">
                <a:solidFill>
                  <a:srgbClr val="E36B0C"/>
                </a:solidFill>
              </a:rPr>
              <a:t>Q4 FY24 vs Q4 FY25 Performance</a:t>
            </a:r>
            <a:endParaRPr lang="en-GB" sz="1600" dirty="0">
              <a:solidFill>
                <a:srgbClr val="E36B0C"/>
              </a:solidFill>
            </a:endParaRPr>
          </a:p>
        </c:rich>
      </c:tx>
      <c:layout>
        <c:manualLayout>
          <c:xMode val="edge"/>
          <c:yMode val="edge"/>
          <c:x val="0.28677469246849263"/>
          <c:y val="2.7939025632006217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barChart>
        <c:barDir val="col"/>
        <c:grouping val="clustered"/>
        <c:varyColors val="0"/>
        <c:ser>
          <c:idx val="0"/>
          <c:order val="0"/>
          <c:tx>
            <c:strRef>
              <c:f>Sheet1!$B$1</c:f>
              <c:strCache>
                <c:ptCount val="1"/>
                <c:pt idx="0">
                  <c:v>Q4 FY2024</c:v>
                </c:pt>
              </c:strCache>
            </c:strRef>
          </c:tx>
          <c:spPr>
            <a:solidFill>
              <a:schemeClr val="accent6">
                <a:tint val="77000"/>
              </a:schemeClr>
            </a:solidFill>
            <a:ln>
              <a:noFill/>
            </a:ln>
            <a:effectLst/>
          </c:spPr>
          <c:invertIfNegative val="0"/>
          <c:cat>
            <c:strRef>
              <c:f>Sheet1!$A$2:$A$5</c:f>
              <c:strCache>
                <c:ptCount val="4"/>
                <c:pt idx="0">
                  <c:v>Revenue from Operations</c:v>
                </c:pt>
                <c:pt idx="1">
                  <c:v>Total Income</c:v>
                </c:pt>
                <c:pt idx="2">
                  <c:v>Profit before tax</c:v>
                </c:pt>
                <c:pt idx="3">
                  <c:v>Net profit after tax</c:v>
                </c:pt>
              </c:strCache>
            </c:strRef>
          </c:cat>
          <c:val>
            <c:numRef>
              <c:f>Sheet1!$B$2:$B$5</c:f>
              <c:numCache>
                <c:formatCode>General</c:formatCode>
                <c:ptCount val="4"/>
                <c:pt idx="0">
                  <c:v>118929</c:v>
                </c:pt>
                <c:pt idx="1">
                  <c:v>125888.4</c:v>
                </c:pt>
                <c:pt idx="2">
                  <c:v>28155.200000000001</c:v>
                </c:pt>
                <c:pt idx="3">
                  <c:v>26587.4</c:v>
                </c:pt>
              </c:numCache>
            </c:numRef>
          </c:val>
          <c:extLst>
            <c:ext xmlns:c16="http://schemas.microsoft.com/office/drawing/2014/chart" uri="{C3380CC4-5D6E-409C-BE32-E72D297353CC}">
              <c16:uniqueId val="{00000000-1E00-4F34-9CAF-CD9C08941296}"/>
            </c:ext>
          </c:extLst>
        </c:ser>
        <c:ser>
          <c:idx val="1"/>
          <c:order val="1"/>
          <c:tx>
            <c:strRef>
              <c:f>Sheet1!$C$1</c:f>
              <c:strCache>
                <c:ptCount val="1"/>
                <c:pt idx="0">
                  <c:v>Q4 FY2025</c:v>
                </c:pt>
              </c:strCache>
            </c:strRef>
          </c:tx>
          <c:spPr>
            <a:solidFill>
              <a:schemeClr val="accent6">
                <a:shade val="76000"/>
              </a:schemeClr>
            </a:solidFill>
            <a:ln>
              <a:noFill/>
            </a:ln>
            <a:effectLst/>
          </c:spPr>
          <c:invertIfNegative val="0"/>
          <c:cat>
            <c:strRef>
              <c:f>Sheet1!$A$2:$A$5</c:f>
              <c:strCache>
                <c:ptCount val="4"/>
                <c:pt idx="0">
                  <c:v>Revenue from Operations</c:v>
                </c:pt>
                <c:pt idx="1">
                  <c:v>Total Income</c:v>
                </c:pt>
                <c:pt idx="2">
                  <c:v>Profit before tax</c:v>
                </c:pt>
                <c:pt idx="3">
                  <c:v>Net profit after tax</c:v>
                </c:pt>
              </c:strCache>
            </c:strRef>
          </c:cat>
          <c:val>
            <c:numRef>
              <c:f>Sheet1!$C$2:$C$5</c:f>
              <c:numCache>
                <c:formatCode>General</c:formatCode>
                <c:ptCount val="4"/>
                <c:pt idx="0">
                  <c:v>129588.4</c:v>
                </c:pt>
                <c:pt idx="1">
                  <c:v>135717.1</c:v>
                </c:pt>
                <c:pt idx="2">
                  <c:v>32543.5</c:v>
                </c:pt>
                <c:pt idx="3">
                  <c:v>31539.3</c:v>
                </c:pt>
              </c:numCache>
            </c:numRef>
          </c:val>
          <c:extLst>
            <c:ext xmlns:c16="http://schemas.microsoft.com/office/drawing/2014/chart" uri="{C3380CC4-5D6E-409C-BE32-E72D297353CC}">
              <c16:uniqueId val="{00000001-1E00-4F34-9CAF-CD9C08941296}"/>
            </c:ext>
          </c:extLst>
        </c:ser>
        <c:dLbls>
          <c:showLegendKey val="0"/>
          <c:showVal val="0"/>
          <c:showCatName val="0"/>
          <c:showSerName val="0"/>
          <c:showPercent val="0"/>
          <c:showBubbleSize val="0"/>
        </c:dLbls>
        <c:gapWidth val="219"/>
        <c:overlap val="-27"/>
        <c:axId val="566124312"/>
        <c:axId val="566130872"/>
      </c:barChart>
      <c:catAx>
        <c:axId val="566124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66130872"/>
        <c:crosses val="autoZero"/>
        <c:auto val="1"/>
        <c:lblAlgn val="ctr"/>
        <c:lblOffset val="100"/>
        <c:noMultiLvlLbl val="0"/>
      </c:catAx>
      <c:valAx>
        <c:axId val="5661308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661243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solidFill>
                  <a:schemeClr val="accent6">
                    <a:lumMod val="50000"/>
                  </a:schemeClr>
                </a:solidFill>
              </a:rPr>
              <a:t>RFO</a:t>
            </a:r>
          </a:p>
        </c:rich>
      </c:tx>
      <c:layout>
        <c:manualLayout>
          <c:xMode val="edge"/>
          <c:yMode val="edge"/>
          <c:x val="0.46315409637232507"/>
          <c:y val="3.1452381836868631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RFO</c:v>
                </c:pt>
              </c:strCache>
            </c:strRef>
          </c:tx>
          <c:spPr>
            <a:solidFill>
              <a:schemeClr val="accent6"/>
            </a:solidFill>
            <a:ln>
              <a:noFill/>
            </a:ln>
            <a:effectLst/>
          </c:spPr>
          <c:invertIfNegative val="0"/>
          <c:cat>
            <c:strRef>
              <c:f>Sheet1!$A$2:$A$10</c:f>
              <c:strCache>
                <c:ptCount val="9"/>
                <c:pt idx="0">
                  <c:v>FY2018</c:v>
                </c:pt>
                <c:pt idx="1">
                  <c:v>FY2019</c:v>
                </c:pt>
                <c:pt idx="2">
                  <c:v>FY2020</c:v>
                </c:pt>
                <c:pt idx="3">
                  <c:v>FY2021</c:v>
                </c:pt>
                <c:pt idx="4">
                  <c:v>FY2022</c:v>
                </c:pt>
                <c:pt idx="5">
                  <c:v>FY2023</c:v>
                </c:pt>
                <c:pt idx="6">
                  <c:v>FY2024</c:v>
                </c:pt>
                <c:pt idx="7">
                  <c:v>FY2025</c:v>
                </c:pt>
                <c:pt idx="8">
                  <c:v>FY2026</c:v>
                </c:pt>
              </c:strCache>
            </c:strRef>
          </c:cat>
          <c:val>
            <c:numRef>
              <c:f>Sheet1!$B$2:$B$10</c:f>
              <c:numCache>
                <c:formatCode>General</c:formatCode>
                <c:ptCount val="9"/>
                <c:pt idx="0">
                  <c:v>264894.59999999998</c:v>
                </c:pt>
                <c:pt idx="1">
                  <c:v>290659.09999999998</c:v>
                </c:pt>
                <c:pt idx="2">
                  <c:v>328375</c:v>
                </c:pt>
                <c:pt idx="3">
                  <c:v>334981.40000000002</c:v>
                </c:pt>
                <c:pt idx="4">
                  <c:v>386544.9</c:v>
                </c:pt>
                <c:pt idx="5">
                  <c:v>438856.8</c:v>
                </c:pt>
                <c:pt idx="6">
                  <c:v>484968.5</c:v>
                </c:pt>
                <c:pt idx="7">
                  <c:v>525784.4</c:v>
                </c:pt>
                <c:pt idx="8">
                  <c:v>584620.4</c:v>
                </c:pt>
              </c:numCache>
            </c:numRef>
          </c:val>
          <c:extLst>
            <c:ext xmlns:c16="http://schemas.microsoft.com/office/drawing/2014/chart" uri="{C3380CC4-5D6E-409C-BE32-E72D297353CC}">
              <c16:uniqueId val="{00000000-2CD3-4951-9A36-1FF270ECF88E}"/>
            </c:ext>
          </c:extLst>
        </c:ser>
        <c:dLbls>
          <c:showLegendKey val="0"/>
          <c:showVal val="0"/>
          <c:showCatName val="0"/>
          <c:showSerName val="0"/>
          <c:showPercent val="0"/>
          <c:showBubbleSize val="0"/>
        </c:dLbls>
        <c:gapWidth val="219"/>
        <c:overlap val="-27"/>
        <c:axId val="381717256"/>
        <c:axId val="381718240"/>
      </c:barChart>
      <c:catAx>
        <c:axId val="3817172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81718240"/>
        <c:crosses val="autoZero"/>
        <c:auto val="1"/>
        <c:lblAlgn val="ctr"/>
        <c:lblOffset val="100"/>
        <c:noMultiLvlLbl val="0"/>
      </c:catAx>
      <c:valAx>
        <c:axId val="3817182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8171725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0"/>
    <c:plotArea>
      <c:layout/>
      <c:barChart>
        <c:barDir val="col"/>
        <c:grouping val="clustered"/>
        <c:varyColors val="0"/>
        <c:ser>
          <c:idx val="0"/>
          <c:order val="0"/>
          <c:tx>
            <c:strRef>
              <c:f>Sheet1!$B$1</c:f>
              <c:strCache>
                <c:ptCount val="1"/>
                <c:pt idx="0">
                  <c:v>PBT</c:v>
                </c:pt>
              </c:strCache>
            </c:strRef>
          </c:tx>
          <c:spPr>
            <a:solidFill>
              <a:schemeClr val="accent6">
                <a:tint val="77000"/>
              </a:schemeClr>
            </a:solidFill>
            <a:ln>
              <a:noFill/>
            </a:ln>
            <a:effectLst/>
          </c:spPr>
          <c:invertIfNegative val="0"/>
          <c:cat>
            <c:strRef>
              <c:f>Sheet1!$A$2:$A$10</c:f>
              <c:strCache>
                <c:ptCount val="9"/>
                <c:pt idx="0">
                  <c:v>FY2018</c:v>
                </c:pt>
                <c:pt idx="1">
                  <c:v>FY2019</c:v>
                </c:pt>
                <c:pt idx="2">
                  <c:v>FY2020</c:v>
                </c:pt>
                <c:pt idx="3">
                  <c:v>FY2021</c:v>
                </c:pt>
                <c:pt idx="4">
                  <c:v>FY2022</c:v>
                </c:pt>
                <c:pt idx="5">
                  <c:v>FY2023</c:v>
                </c:pt>
                <c:pt idx="6">
                  <c:v>FY2024</c:v>
                </c:pt>
                <c:pt idx="7">
                  <c:v>FY2025</c:v>
                </c:pt>
                <c:pt idx="8">
                  <c:v>FY2026</c:v>
                </c:pt>
              </c:strCache>
            </c:strRef>
          </c:cat>
          <c:val>
            <c:numRef>
              <c:f>Sheet1!$B$2:$B$10</c:f>
              <c:numCache>
                <c:formatCode>General</c:formatCode>
                <c:ptCount val="9"/>
                <c:pt idx="0">
                  <c:v>34789.800000000003</c:v>
                </c:pt>
                <c:pt idx="1">
                  <c:v>38102</c:v>
                </c:pt>
                <c:pt idx="2">
                  <c:v>50095.9</c:v>
                </c:pt>
                <c:pt idx="3">
                  <c:v>27993.7</c:v>
                </c:pt>
                <c:pt idx="4">
                  <c:v>44813.2</c:v>
                </c:pt>
                <c:pt idx="5">
                  <c:v>94084.3</c:v>
                </c:pt>
                <c:pt idx="6">
                  <c:v>110878.9</c:v>
                </c:pt>
                <c:pt idx="7">
                  <c:v>137521.29999999999</c:v>
                </c:pt>
                <c:pt idx="8">
                  <c:v>151188.79999999999</c:v>
                </c:pt>
              </c:numCache>
            </c:numRef>
          </c:val>
          <c:extLst>
            <c:ext xmlns:c16="http://schemas.microsoft.com/office/drawing/2014/chart" uri="{C3380CC4-5D6E-409C-BE32-E72D297353CC}">
              <c16:uniqueId val="{00000000-F280-4411-938E-A7324F9ED7C4}"/>
            </c:ext>
          </c:extLst>
        </c:ser>
        <c:ser>
          <c:idx val="1"/>
          <c:order val="1"/>
          <c:tx>
            <c:strRef>
              <c:f>Sheet1!$C$1</c:f>
              <c:strCache>
                <c:ptCount val="1"/>
                <c:pt idx="0">
                  <c:v>PAT</c:v>
                </c:pt>
              </c:strCache>
            </c:strRef>
          </c:tx>
          <c:spPr>
            <a:solidFill>
              <a:schemeClr val="accent6">
                <a:shade val="76000"/>
              </a:schemeClr>
            </a:solidFill>
            <a:ln>
              <a:noFill/>
            </a:ln>
            <a:effectLst/>
          </c:spPr>
          <c:invertIfNegative val="0"/>
          <c:cat>
            <c:strRef>
              <c:f>Sheet1!$A$2:$A$10</c:f>
              <c:strCache>
                <c:ptCount val="9"/>
                <c:pt idx="0">
                  <c:v>FY2018</c:v>
                </c:pt>
                <c:pt idx="1">
                  <c:v>FY2019</c:v>
                </c:pt>
                <c:pt idx="2">
                  <c:v>FY2020</c:v>
                </c:pt>
                <c:pt idx="3">
                  <c:v>FY2021</c:v>
                </c:pt>
                <c:pt idx="4">
                  <c:v>FY2022</c:v>
                </c:pt>
                <c:pt idx="5">
                  <c:v>FY2023</c:v>
                </c:pt>
                <c:pt idx="6">
                  <c:v>FY2024</c:v>
                </c:pt>
                <c:pt idx="7">
                  <c:v>FY2025</c:v>
                </c:pt>
                <c:pt idx="8">
                  <c:v>FY2026</c:v>
                </c:pt>
              </c:strCache>
            </c:strRef>
          </c:cat>
          <c:val>
            <c:numRef>
              <c:f>Sheet1!$C$2:$C$10</c:f>
              <c:numCache>
                <c:formatCode>General</c:formatCode>
                <c:ptCount val="9"/>
                <c:pt idx="0">
                  <c:v>21615.5</c:v>
                </c:pt>
                <c:pt idx="1">
                  <c:v>26654.2</c:v>
                </c:pt>
                <c:pt idx="2">
                  <c:v>37649.300000000003</c:v>
                </c:pt>
                <c:pt idx="3">
                  <c:v>29038.2</c:v>
                </c:pt>
                <c:pt idx="4">
                  <c:v>32727.3</c:v>
                </c:pt>
                <c:pt idx="5">
                  <c:v>84735.8</c:v>
                </c:pt>
                <c:pt idx="6">
                  <c:v>95763.8</c:v>
                </c:pt>
                <c:pt idx="7">
                  <c:v>109290.4</c:v>
                </c:pt>
                <c:pt idx="8">
                  <c:v>118762.4</c:v>
                </c:pt>
              </c:numCache>
            </c:numRef>
          </c:val>
          <c:extLst>
            <c:ext xmlns:c16="http://schemas.microsoft.com/office/drawing/2014/chart" uri="{C3380CC4-5D6E-409C-BE32-E72D297353CC}">
              <c16:uniqueId val="{00000004-F280-4411-938E-A7324F9ED7C4}"/>
            </c:ext>
          </c:extLst>
        </c:ser>
        <c:dLbls>
          <c:showLegendKey val="0"/>
          <c:showVal val="0"/>
          <c:showCatName val="0"/>
          <c:showSerName val="0"/>
          <c:showPercent val="0"/>
          <c:showBubbleSize val="0"/>
        </c:dLbls>
        <c:gapWidth val="219"/>
        <c:overlap val="-27"/>
        <c:axId val="457253768"/>
        <c:axId val="457254752"/>
      </c:barChart>
      <c:catAx>
        <c:axId val="4572537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57254752"/>
        <c:crosses val="autoZero"/>
        <c:auto val="1"/>
        <c:lblAlgn val="ctr"/>
        <c:lblOffset val="100"/>
        <c:noMultiLvlLbl val="0"/>
      </c:catAx>
      <c:valAx>
        <c:axId val="4572547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572537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GB" sz="1400" b="0" i="0" u="none" strike="noStrike" baseline="0" dirty="0">
                <a:solidFill>
                  <a:schemeClr val="accent6">
                    <a:lumMod val="50000"/>
                  </a:schemeClr>
                </a:solidFill>
              </a:rPr>
              <a:t>Revenue Growth Momentum</a:t>
            </a:r>
            <a:endParaRPr lang="en-GB" sz="1400" dirty="0">
              <a:solidFill>
                <a:schemeClr val="accent6">
                  <a:lumMod val="50000"/>
                </a:schemeClr>
              </a:solidFill>
            </a:endParaRPr>
          </a:p>
        </c:rich>
      </c:tx>
      <c:layout>
        <c:manualLayout>
          <c:xMode val="edge"/>
          <c:yMode val="edge"/>
          <c:x val="0.25859131983633804"/>
          <c:y val="3.3238764250793022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barChart>
        <c:barDir val="col"/>
        <c:grouping val="clustered"/>
        <c:varyColors val="0"/>
        <c:ser>
          <c:idx val="0"/>
          <c:order val="0"/>
          <c:tx>
            <c:strRef>
              <c:f>Sheet1!$B$1</c:f>
              <c:strCache>
                <c:ptCount val="1"/>
                <c:pt idx="0">
                  <c:v>Revenue</c:v>
                </c:pt>
              </c:strCache>
            </c:strRef>
          </c:tx>
          <c:spPr>
            <a:solidFill>
              <a:schemeClr val="accent6">
                <a:tint val="77000"/>
              </a:schemeClr>
            </a:solidFill>
            <a:ln>
              <a:noFill/>
            </a:ln>
            <a:effectLst/>
          </c:spPr>
          <c:invertIfNegative val="0"/>
          <c:cat>
            <c:strRef>
              <c:f>Sheet1!$A$2:$A$10</c:f>
              <c:strCache>
                <c:ptCount val="9"/>
                <c:pt idx="0">
                  <c:v>FY2018</c:v>
                </c:pt>
                <c:pt idx="1">
                  <c:v>FY2019</c:v>
                </c:pt>
                <c:pt idx="2">
                  <c:v>FY2020</c:v>
                </c:pt>
                <c:pt idx="3">
                  <c:v>FY2021</c:v>
                </c:pt>
                <c:pt idx="4">
                  <c:v>FY2022</c:v>
                </c:pt>
                <c:pt idx="5">
                  <c:v>FY2023</c:v>
                </c:pt>
                <c:pt idx="6">
                  <c:v>FY2024</c:v>
                </c:pt>
                <c:pt idx="7">
                  <c:v>FY2025</c:v>
                </c:pt>
                <c:pt idx="8">
                  <c:v>FY2026</c:v>
                </c:pt>
              </c:strCache>
            </c:strRef>
          </c:cat>
          <c:val>
            <c:numRef>
              <c:f>Sheet1!$B$2:$B$10</c:f>
              <c:numCache>
                <c:formatCode>General</c:formatCode>
                <c:ptCount val="9"/>
                <c:pt idx="0">
                  <c:v>264894.59999999998</c:v>
                </c:pt>
                <c:pt idx="1">
                  <c:v>290659.09999999998</c:v>
                </c:pt>
                <c:pt idx="2">
                  <c:v>328375</c:v>
                </c:pt>
                <c:pt idx="3">
                  <c:v>334981.40000000002</c:v>
                </c:pt>
                <c:pt idx="4">
                  <c:v>386544.9</c:v>
                </c:pt>
                <c:pt idx="5">
                  <c:v>438856.8</c:v>
                </c:pt>
                <c:pt idx="6">
                  <c:v>484968.5</c:v>
                </c:pt>
                <c:pt idx="7">
                  <c:v>525784.4</c:v>
                </c:pt>
                <c:pt idx="8">
                  <c:v>584620.4</c:v>
                </c:pt>
              </c:numCache>
            </c:numRef>
          </c:val>
          <c:extLst>
            <c:ext xmlns:c16="http://schemas.microsoft.com/office/drawing/2014/chart" uri="{C3380CC4-5D6E-409C-BE32-E72D297353CC}">
              <c16:uniqueId val="{00000000-2B72-41CF-839A-CEFA91DEA04D}"/>
            </c:ext>
          </c:extLst>
        </c:ser>
        <c:ser>
          <c:idx val="1"/>
          <c:order val="1"/>
          <c:tx>
            <c:strRef>
              <c:f>Sheet1!$C$1</c:f>
              <c:strCache>
                <c:ptCount val="1"/>
                <c:pt idx="0">
                  <c:v>YoY growth%</c:v>
                </c:pt>
              </c:strCache>
            </c:strRef>
          </c:tx>
          <c:spPr>
            <a:solidFill>
              <a:schemeClr val="accent6">
                <a:shade val="76000"/>
              </a:schemeClr>
            </a:solidFill>
            <a:ln>
              <a:noFill/>
            </a:ln>
            <a:effectLst/>
          </c:spPr>
          <c:invertIfNegative val="0"/>
          <c:cat>
            <c:strRef>
              <c:f>Sheet1!$A$2:$A$10</c:f>
              <c:strCache>
                <c:ptCount val="9"/>
                <c:pt idx="0">
                  <c:v>FY2018</c:v>
                </c:pt>
                <c:pt idx="1">
                  <c:v>FY2019</c:v>
                </c:pt>
                <c:pt idx="2">
                  <c:v>FY2020</c:v>
                </c:pt>
                <c:pt idx="3">
                  <c:v>FY2021</c:v>
                </c:pt>
                <c:pt idx="4">
                  <c:v>FY2022</c:v>
                </c:pt>
                <c:pt idx="5">
                  <c:v>FY2023</c:v>
                </c:pt>
                <c:pt idx="6">
                  <c:v>FY2024</c:v>
                </c:pt>
                <c:pt idx="7">
                  <c:v>FY2025</c:v>
                </c:pt>
                <c:pt idx="8">
                  <c:v>FY2026</c:v>
                </c:pt>
              </c:strCache>
            </c:strRef>
          </c:cat>
          <c:val>
            <c:numRef>
              <c:f>Sheet1!$C$2:$C$10</c:f>
              <c:numCache>
                <c:formatCode>0.00%</c:formatCode>
                <c:ptCount val="9"/>
                <c:pt idx="1">
                  <c:v>9.7000000000000003E-2</c:v>
                </c:pt>
                <c:pt idx="2">
                  <c:v>0.13</c:v>
                </c:pt>
                <c:pt idx="3">
                  <c:v>0.02</c:v>
                </c:pt>
                <c:pt idx="4">
                  <c:v>0.154</c:v>
                </c:pt>
                <c:pt idx="5">
                  <c:v>0.13500000000000001</c:v>
                </c:pt>
                <c:pt idx="6">
                  <c:v>0.105</c:v>
                </c:pt>
                <c:pt idx="7">
                  <c:v>8.4000000000000005E-2</c:v>
                </c:pt>
                <c:pt idx="8">
                  <c:v>0.112</c:v>
                </c:pt>
              </c:numCache>
            </c:numRef>
          </c:val>
          <c:extLst>
            <c:ext xmlns:c16="http://schemas.microsoft.com/office/drawing/2014/chart" uri="{C3380CC4-5D6E-409C-BE32-E72D297353CC}">
              <c16:uniqueId val="{00000001-2B72-41CF-839A-CEFA91DEA04D}"/>
            </c:ext>
          </c:extLst>
        </c:ser>
        <c:dLbls>
          <c:showLegendKey val="0"/>
          <c:showVal val="0"/>
          <c:showCatName val="0"/>
          <c:showSerName val="0"/>
          <c:showPercent val="0"/>
          <c:showBubbleSize val="0"/>
        </c:dLbls>
        <c:gapWidth val="219"/>
        <c:overlap val="-27"/>
        <c:axId val="409349400"/>
        <c:axId val="409355960"/>
      </c:barChart>
      <c:catAx>
        <c:axId val="409349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09355960"/>
        <c:crosses val="autoZero"/>
        <c:auto val="1"/>
        <c:lblAlgn val="ctr"/>
        <c:lblOffset val="100"/>
        <c:noMultiLvlLbl val="0"/>
      </c:catAx>
      <c:valAx>
        <c:axId val="4093559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0934940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dirty="0">
                <a:solidFill>
                  <a:schemeClr val="accent6">
                    <a:lumMod val="50000"/>
                  </a:schemeClr>
                </a:solidFill>
              </a:rPr>
              <a:t>Non-Current Assets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Non-Current Assets</c:v>
                </c:pt>
              </c:strCache>
            </c:strRef>
          </c:tx>
          <c:spPr>
            <a:solidFill>
              <a:schemeClr val="accent6"/>
            </a:solidFill>
            <a:ln>
              <a:noFill/>
            </a:ln>
            <a:effectLst/>
          </c:spPr>
          <c:invertIfNegative val="0"/>
          <c:cat>
            <c:strRef>
              <c:f>Sheet1!$A$2:$A$12</c:f>
              <c:strCache>
                <c:ptCount val="11"/>
                <c:pt idx="0">
                  <c:v>A</c:v>
                </c:pt>
                <c:pt idx="1">
                  <c:v>Year</c:v>
                </c:pt>
                <c:pt idx="2">
                  <c:v>FY2018</c:v>
                </c:pt>
                <c:pt idx="3">
                  <c:v>FY2019</c:v>
                </c:pt>
                <c:pt idx="4">
                  <c:v>FY2020</c:v>
                </c:pt>
                <c:pt idx="5">
                  <c:v>FY2021</c:v>
                </c:pt>
                <c:pt idx="6">
                  <c:v>FY2022</c:v>
                </c:pt>
                <c:pt idx="7">
                  <c:v>FY2023</c:v>
                </c:pt>
                <c:pt idx="8">
                  <c:v>FY2024</c:v>
                </c:pt>
                <c:pt idx="9">
                  <c:v>FY2025</c:v>
                </c:pt>
                <c:pt idx="10">
                  <c:v>FY2026</c:v>
                </c:pt>
              </c:strCache>
            </c:strRef>
          </c:cat>
          <c:val>
            <c:numRef>
              <c:f>Sheet1!$B$2:$B$12</c:f>
              <c:numCache>
                <c:formatCode>General</c:formatCode>
                <c:ptCount val="11"/>
                <c:pt idx="0">
                  <c:v>0</c:v>
                </c:pt>
                <c:pt idx="1">
                  <c:v>0</c:v>
                </c:pt>
                <c:pt idx="2">
                  <c:v>326669</c:v>
                </c:pt>
                <c:pt idx="3">
                  <c:v>336246.2</c:v>
                </c:pt>
                <c:pt idx="4">
                  <c:v>365983</c:v>
                </c:pt>
                <c:pt idx="5">
                  <c:v>372246.5</c:v>
                </c:pt>
                <c:pt idx="6">
                  <c:v>347848.9</c:v>
                </c:pt>
                <c:pt idx="7">
                  <c:v>408602.5</c:v>
                </c:pt>
                <c:pt idx="8">
                  <c:v>419879</c:v>
                </c:pt>
                <c:pt idx="9">
                  <c:v>394761.1</c:v>
                </c:pt>
                <c:pt idx="10">
                  <c:v>596417</c:v>
                </c:pt>
              </c:numCache>
            </c:numRef>
          </c:val>
          <c:extLst>
            <c:ext xmlns:c16="http://schemas.microsoft.com/office/drawing/2014/chart" uri="{C3380CC4-5D6E-409C-BE32-E72D297353CC}">
              <c16:uniqueId val="{00000000-A772-4DBF-BEE8-8F93E25C049D}"/>
            </c:ext>
          </c:extLst>
        </c:ser>
        <c:dLbls>
          <c:showLegendKey val="0"/>
          <c:showVal val="0"/>
          <c:showCatName val="0"/>
          <c:showSerName val="0"/>
          <c:showPercent val="0"/>
          <c:showBubbleSize val="0"/>
        </c:dLbls>
        <c:gapWidth val="219"/>
        <c:overlap val="-27"/>
        <c:axId val="453531616"/>
        <c:axId val="453530304"/>
      </c:barChart>
      <c:catAx>
        <c:axId val="45353161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53530304"/>
        <c:crosses val="autoZero"/>
        <c:auto val="1"/>
        <c:lblAlgn val="ctr"/>
        <c:lblOffset val="100"/>
        <c:noMultiLvlLbl val="0"/>
      </c:catAx>
      <c:valAx>
        <c:axId val="4535303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535316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dirty="0">
                <a:solidFill>
                  <a:schemeClr val="accent6">
                    <a:lumMod val="50000"/>
                  </a:schemeClr>
                </a:solidFill>
              </a:rPr>
              <a:t>Current Assets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Current Assets</c:v>
                </c:pt>
              </c:strCache>
            </c:strRef>
          </c:tx>
          <c:spPr>
            <a:solidFill>
              <a:schemeClr val="accent6"/>
            </a:solidFill>
            <a:ln>
              <a:noFill/>
            </a:ln>
            <a:effectLst/>
          </c:spPr>
          <c:invertIfNegative val="0"/>
          <c:cat>
            <c:strRef>
              <c:f>Sheet1!$A$2:$A$10</c:f>
              <c:strCache>
                <c:ptCount val="9"/>
                <c:pt idx="0">
                  <c:v>FY2018</c:v>
                </c:pt>
                <c:pt idx="1">
                  <c:v>FY2019</c:v>
                </c:pt>
                <c:pt idx="2">
                  <c:v>FY2020</c:v>
                </c:pt>
                <c:pt idx="3">
                  <c:v>FY2021</c:v>
                </c:pt>
                <c:pt idx="4">
                  <c:v>FY2022</c:v>
                </c:pt>
                <c:pt idx="5">
                  <c:v>FY2023</c:v>
                </c:pt>
                <c:pt idx="6">
                  <c:v>FY2024</c:v>
                </c:pt>
                <c:pt idx="7">
                  <c:v>FY2025</c:v>
                </c:pt>
                <c:pt idx="8">
                  <c:v>FY2026</c:v>
                </c:pt>
              </c:strCache>
            </c:strRef>
          </c:cat>
          <c:val>
            <c:numRef>
              <c:f>Sheet1!$B$2:$B$10</c:f>
              <c:numCache>
                <c:formatCode>#,##0.00</c:formatCode>
                <c:ptCount val="9"/>
                <c:pt idx="0">
                  <c:v>316359</c:v>
                </c:pt>
                <c:pt idx="1">
                  <c:v>310691.90000000002</c:v>
                </c:pt>
                <c:pt idx="2">
                  <c:v>316541.59999999998</c:v>
                </c:pt>
                <c:pt idx="3">
                  <c:v>304420.8</c:v>
                </c:pt>
                <c:pt idx="4">
                  <c:v>350149.8</c:v>
                </c:pt>
                <c:pt idx="5">
                  <c:v>398833.4</c:v>
                </c:pt>
                <c:pt idx="6">
                  <c:v>434749.8</c:v>
                </c:pt>
                <c:pt idx="7">
                  <c:v>525940.6</c:v>
                </c:pt>
                <c:pt idx="8">
                  <c:v>491435.2</c:v>
                </c:pt>
              </c:numCache>
            </c:numRef>
          </c:val>
          <c:extLst>
            <c:ext xmlns:c16="http://schemas.microsoft.com/office/drawing/2014/chart" uri="{C3380CC4-5D6E-409C-BE32-E72D297353CC}">
              <c16:uniqueId val="{00000000-779C-4261-8369-0378E7382708}"/>
            </c:ext>
          </c:extLst>
        </c:ser>
        <c:dLbls>
          <c:showLegendKey val="0"/>
          <c:showVal val="0"/>
          <c:showCatName val="0"/>
          <c:showSerName val="0"/>
          <c:showPercent val="0"/>
          <c:showBubbleSize val="0"/>
        </c:dLbls>
        <c:gapWidth val="219"/>
        <c:overlap val="-27"/>
        <c:axId val="388506560"/>
        <c:axId val="388506232"/>
      </c:barChart>
      <c:catAx>
        <c:axId val="3885065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88506232"/>
        <c:crosses val="autoZero"/>
        <c:auto val="1"/>
        <c:lblAlgn val="ctr"/>
        <c:lblOffset val="100"/>
        <c:noMultiLvlLbl val="0"/>
      </c:catAx>
      <c:valAx>
        <c:axId val="388506232"/>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885065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dirty="0">
                <a:solidFill>
                  <a:schemeClr val="accent6">
                    <a:lumMod val="50000"/>
                  </a:schemeClr>
                </a:solidFill>
              </a:rPr>
              <a:t>Total Equity</a:t>
            </a:r>
          </a:p>
        </c:rich>
      </c:tx>
      <c:layout>
        <c:manualLayout>
          <c:xMode val="edge"/>
          <c:yMode val="edge"/>
          <c:x val="0.29422206376080318"/>
          <c:y val="3.332703531091237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Total Equity</c:v>
                </c:pt>
              </c:strCache>
            </c:strRef>
          </c:tx>
          <c:spPr>
            <a:solidFill>
              <a:schemeClr val="accent6"/>
            </a:solidFill>
            <a:ln>
              <a:noFill/>
            </a:ln>
            <a:effectLst/>
          </c:spPr>
          <c:invertIfNegative val="0"/>
          <c:cat>
            <c:strRef>
              <c:f>Sheet1!$A$2:$A$10</c:f>
              <c:strCache>
                <c:ptCount val="9"/>
                <c:pt idx="0">
                  <c:v>FY2018</c:v>
                </c:pt>
                <c:pt idx="1">
                  <c:v>FY2019</c:v>
                </c:pt>
                <c:pt idx="2">
                  <c:v>FY2020</c:v>
                </c:pt>
                <c:pt idx="3">
                  <c:v>FY2021</c:v>
                </c:pt>
                <c:pt idx="4">
                  <c:v>FY2022</c:v>
                </c:pt>
                <c:pt idx="5">
                  <c:v>FY2023</c:v>
                </c:pt>
                <c:pt idx="6">
                  <c:v>FY2024</c:v>
                </c:pt>
                <c:pt idx="7">
                  <c:v>FY2025</c:v>
                </c:pt>
                <c:pt idx="8">
                  <c:v>FY2026</c:v>
                </c:pt>
              </c:strCache>
            </c:strRef>
          </c:cat>
          <c:val>
            <c:numRef>
              <c:f>Sheet1!$B$2:$B$10</c:f>
              <c:numCache>
                <c:formatCode>General</c:formatCode>
                <c:ptCount val="9"/>
                <c:pt idx="0">
                  <c:v>419847.2</c:v>
                </c:pt>
                <c:pt idx="1">
                  <c:v>447226</c:v>
                </c:pt>
                <c:pt idx="2">
                  <c:v>491246.9</c:v>
                </c:pt>
                <c:pt idx="3">
                  <c:v>494798.3</c:v>
                </c:pt>
                <c:pt idx="4">
                  <c:v>510661.1</c:v>
                </c:pt>
                <c:pt idx="5">
                  <c:v>593154.69999999995</c:v>
                </c:pt>
                <c:pt idx="6">
                  <c:v>671059.69999999995</c:v>
                </c:pt>
                <c:pt idx="7">
                  <c:v>724859.5</c:v>
                </c:pt>
                <c:pt idx="8">
                  <c:v>838797.4</c:v>
                </c:pt>
              </c:numCache>
            </c:numRef>
          </c:val>
          <c:extLst>
            <c:ext xmlns:c16="http://schemas.microsoft.com/office/drawing/2014/chart" uri="{C3380CC4-5D6E-409C-BE32-E72D297353CC}">
              <c16:uniqueId val="{00000000-27A5-4CB1-B975-7BB73AF70DD5}"/>
            </c:ext>
          </c:extLst>
        </c:ser>
        <c:dLbls>
          <c:showLegendKey val="0"/>
          <c:showVal val="0"/>
          <c:showCatName val="0"/>
          <c:showSerName val="0"/>
          <c:showPercent val="0"/>
          <c:showBubbleSize val="0"/>
        </c:dLbls>
        <c:gapWidth val="219"/>
        <c:overlap val="-27"/>
        <c:axId val="387249224"/>
        <c:axId val="387251520"/>
      </c:barChart>
      <c:catAx>
        <c:axId val="3872492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87251520"/>
        <c:crosses val="autoZero"/>
        <c:auto val="1"/>
        <c:lblAlgn val="ctr"/>
        <c:lblOffset val="100"/>
        <c:noMultiLvlLbl val="0"/>
      </c:catAx>
      <c:valAx>
        <c:axId val="3872515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872492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dirty="0">
                <a:solidFill>
                  <a:schemeClr val="accent6">
                    <a:lumMod val="50000"/>
                  </a:schemeClr>
                </a:solidFill>
              </a:rPr>
              <a:t>Total Borrowings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Total Borrowings</c:v>
                </c:pt>
              </c:strCache>
            </c:strRef>
          </c:tx>
          <c:spPr>
            <a:solidFill>
              <a:schemeClr val="accent6"/>
            </a:solidFill>
            <a:ln>
              <a:noFill/>
            </a:ln>
            <a:effectLst/>
          </c:spPr>
          <c:invertIfNegative val="0"/>
          <c:cat>
            <c:strRef>
              <c:f>Sheet1!$A$2:$A$10</c:f>
              <c:strCache>
                <c:ptCount val="9"/>
                <c:pt idx="0">
                  <c:v>FY2018</c:v>
                </c:pt>
                <c:pt idx="1">
                  <c:v>FY2019</c:v>
                </c:pt>
                <c:pt idx="2">
                  <c:v>FY2020</c:v>
                </c:pt>
                <c:pt idx="3">
                  <c:v>FY2021</c:v>
                </c:pt>
                <c:pt idx="4">
                  <c:v>FY2022</c:v>
                </c:pt>
                <c:pt idx="5">
                  <c:v>FY2023</c:v>
                </c:pt>
                <c:pt idx="6">
                  <c:v>FY2024</c:v>
                </c:pt>
                <c:pt idx="7">
                  <c:v>FY2025</c:v>
                </c:pt>
                <c:pt idx="8">
                  <c:v>FY2026</c:v>
                </c:pt>
              </c:strCache>
            </c:strRef>
          </c:cat>
          <c:val>
            <c:numRef>
              <c:f>Sheet1!$B$2:$B$10</c:f>
              <c:numCache>
                <c:formatCode>General</c:formatCode>
                <c:ptCount val="9"/>
                <c:pt idx="0">
                  <c:v>97517.9</c:v>
                </c:pt>
                <c:pt idx="1">
                  <c:v>98933.7</c:v>
                </c:pt>
                <c:pt idx="2">
                  <c:v>75783</c:v>
                </c:pt>
                <c:pt idx="3">
                  <c:v>33430.300000000003</c:v>
                </c:pt>
                <c:pt idx="4">
                  <c:v>9306.9</c:v>
                </c:pt>
                <c:pt idx="5">
                  <c:v>61978.8</c:v>
                </c:pt>
                <c:pt idx="6">
                  <c:v>28456.9</c:v>
                </c:pt>
                <c:pt idx="7">
                  <c:v>18696.3</c:v>
                </c:pt>
                <c:pt idx="8">
                  <c:v>40816.1</c:v>
                </c:pt>
              </c:numCache>
            </c:numRef>
          </c:val>
          <c:extLst>
            <c:ext xmlns:c16="http://schemas.microsoft.com/office/drawing/2014/chart" uri="{C3380CC4-5D6E-409C-BE32-E72D297353CC}">
              <c16:uniqueId val="{00000000-2650-411F-ADA1-090DEFD99073}"/>
            </c:ext>
          </c:extLst>
        </c:ser>
        <c:dLbls>
          <c:showLegendKey val="0"/>
          <c:showVal val="0"/>
          <c:showCatName val="0"/>
          <c:showSerName val="0"/>
          <c:showPercent val="0"/>
          <c:showBubbleSize val="0"/>
        </c:dLbls>
        <c:gapWidth val="219"/>
        <c:overlap val="-27"/>
        <c:axId val="387247256"/>
        <c:axId val="387254144"/>
      </c:barChart>
      <c:catAx>
        <c:axId val="3872472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87254144"/>
        <c:crosses val="autoZero"/>
        <c:auto val="1"/>
        <c:lblAlgn val="ctr"/>
        <c:lblOffset val="100"/>
        <c:noMultiLvlLbl val="0"/>
      </c:catAx>
      <c:valAx>
        <c:axId val="3872541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8724725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100" b="0" i="0" u="none" strike="noStrike" kern="1200" baseline="0">
                <a:solidFill>
                  <a:srgbClr val="000000"/>
                </a:solidFill>
                <a:latin typeface="Arial"/>
                <a:ea typeface="+mn-ea"/>
                <a:cs typeface="+mn-cs"/>
              </a:defRPr>
            </a:pPr>
            <a:r>
              <a:rPr lang="en-IN" sz="1100" b="0" i="0" u="none" strike="noStrike">
                <a:solidFill>
                  <a:srgbClr val="000000"/>
                </a:solidFill>
                <a:latin typeface="Arial"/>
              </a:rPr>
              <a:t>Cash Flow (₹ Crore)</a:t>
            </a:r>
          </a:p>
        </c:rich>
      </c:tx>
      <c:overlay val="0"/>
      <c:spPr>
        <a:noFill/>
        <a:ln>
          <a:noFill/>
        </a:ln>
        <a:effectLst/>
      </c:spPr>
      <c:txPr>
        <a:bodyPr rot="0" spcFirstLastPara="1" vertOverflow="ellipsis" vert="horz" wrap="square" anchor="ctr" anchorCtr="1"/>
        <a:lstStyle/>
        <a:p>
          <a:pPr>
            <a:defRPr sz="1100" b="0" i="0" u="none" strike="noStrike" kern="1200" baseline="0">
              <a:solidFill>
                <a:srgbClr val="000000"/>
              </a:solidFill>
              <a:latin typeface="Arial"/>
              <a:ea typeface="+mn-ea"/>
              <a:cs typeface="+mn-cs"/>
            </a:defRPr>
          </a:pPr>
          <a:endParaRPr lang="en-US"/>
        </a:p>
      </c:txPr>
    </c:title>
    <c:autoTitleDeleted val="0"/>
    <c:plotArea>
      <c:layout/>
      <c:barChart>
        <c:barDir val="col"/>
        <c:grouping val="stacked"/>
        <c:varyColors val="0"/>
        <c:ser>
          <c:idx val="0"/>
          <c:order val="0"/>
          <c:tx>
            <c:strRef>
              <c:f>Sheet1!$B$1</c:f>
              <c:strCache>
                <c:ptCount val="1"/>
                <c:pt idx="0">
                  <c:v>Operating</c:v>
                </c:pt>
              </c:strCache>
            </c:strRef>
          </c:tx>
          <c:spPr>
            <a:solidFill>
              <a:schemeClr val="accent6">
                <a:shade val="65000"/>
              </a:schemeClr>
            </a:solidFill>
            <a:ln>
              <a:noFill/>
            </a:ln>
            <a:effectLst/>
          </c:spPr>
          <c:invertIfNegative val="0"/>
          <c:cat>
            <c:strRef>
              <c:f>Sheet1!$A$2:$A$9</c:f>
              <c:strCache>
                <c:ptCount val="8"/>
                <c:pt idx="0">
                  <c:v>FY18</c:v>
                </c:pt>
                <c:pt idx="1">
                  <c:v>FY19</c:v>
                </c:pt>
                <c:pt idx="2">
                  <c:v>FY20</c:v>
                </c:pt>
                <c:pt idx="3">
                  <c:v>FY21</c:v>
                </c:pt>
                <c:pt idx="4">
                  <c:v>FY22</c:v>
                </c:pt>
                <c:pt idx="5">
                  <c:v>FY23</c:v>
                </c:pt>
                <c:pt idx="6">
                  <c:v>FY24</c:v>
                </c:pt>
                <c:pt idx="7">
                  <c:v>FY25</c:v>
                </c:pt>
              </c:strCache>
            </c:strRef>
          </c:cat>
          <c:val>
            <c:numRef>
              <c:f>Sheet1!$B$2:$B$9</c:f>
              <c:numCache>
                <c:formatCode>General</c:formatCode>
                <c:ptCount val="8"/>
                <c:pt idx="0">
                  <c:v>3907.1</c:v>
                </c:pt>
                <c:pt idx="1">
                  <c:v>2196.5</c:v>
                </c:pt>
                <c:pt idx="2">
                  <c:v>6554.8</c:v>
                </c:pt>
                <c:pt idx="3">
                  <c:v>6170.4</c:v>
                </c:pt>
                <c:pt idx="4">
                  <c:v>8984.5</c:v>
                </c:pt>
                <c:pt idx="5">
                  <c:v>4959.3</c:v>
                </c:pt>
                <c:pt idx="6">
                  <c:v>12135</c:v>
                </c:pt>
                <c:pt idx="7">
                  <c:v>14072.1</c:v>
                </c:pt>
              </c:numCache>
            </c:numRef>
          </c:val>
          <c:extLst>
            <c:ext xmlns:c16="http://schemas.microsoft.com/office/drawing/2014/chart" uri="{C3380CC4-5D6E-409C-BE32-E72D297353CC}">
              <c16:uniqueId val="{00000000-BEA3-AC46-9150-E11527691169}"/>
            </c:ext>
          </c:extLst>
        </c:ser>
        <c:ser>
          <c:idx val="1"/>
          <c:order val="1"/>
          <c:tx>
            <c:strRef>
              <c:f>Sheet1!$C$1</c:f>
              <c:strCache>
                <c:ptCount val="1"/>
                <c:pt idx="0">
                  <c:v>Investing</c:v>
                </c:pt>
              </c:strCache>
            </c:strRef>
          </c:tx>
          <c:spPr>
            <a:solidFill>
              <a:schemeClr val="accent6"/>
            </a:solidFill>
            <a:ln>
              <a:noFill/>
            </a:ln>
            <a:effectLst/>
          </c:spPr>
          <c:invertIfNegative val="0"/>
          <c:cat>
            <c:strRef>
              <c:f>Sheet1!$A$2:$A$9</c:f>
              <c:strCache>
                <c:ptCount val="8"/>
                <c:pt idx="0">
                  <c:v>FY18</c:v>
                </c:pt>
                <c:pt idx="1">
                  <c:v>FY19</c:v>
                </c:pt>
                <c:pt idx="2">
                  <c:v>FY20</c:v>
                </c:pt>
                <c:pt idx="3">
                  <c:v>FY21</c:v>
                </c:pt>
                <c:pt idx="4">
                  <c:v>FY22</c:v>
                </c:pt>
                <c:pt idx="5">
                  <c:v>FY23</c:v>
                </c:pt>
                <c:pt idx="6">
                  <c:v>FY24</c:v>
                </c:pt>
                <c:pt idx="7">
                  <c:v>FY25</c:v>
                </c:pt>
              </c:strCache>
            </c:strRef>
          </c:cat>
          <c:val>
            <c:numRef>
              <c:f>Sheet1!$C$2:$C$9</c:f>
              <c:numCache>
                <c:formatCode>General</c:formatCode>
                <c:ptCount val="8"/>
                <c:pt idx="0">
                  <c:v>-3370.8</c:v>
                </c:pt>
                <c:pt idx="1">
                  <c:v>-681.3</c:v>
                </c:pt>
                <c:pt idx="2">
                  <c:v>-2588.8000000000002</c:v>
                </c:pt>
                <c:pt idx="3">
                  <c:v>536.20000000000005</c:v>
                </c:pt>
                <c:pt idx="4">
                  <c:v>-5724.7</c:v>
                </c:pt>
                <c:pt idx="5">
                  <c:v>-7943.7</c:v>
                </c:pt>
                <c:pt idx="6">
                  <c:v>-690.2</c:v>
                </c:pt>
                <c:pt idx="7">
                  <c:v>-5306.2</c:v>
                </c:pt>
              </c:numCache>
            </c:numRef>
          </c:val>
          <c:extLst>
            <c:ext xmlns:c16="http://schemas.microsoft.com/office/drawing/2014/chart" uri="{C3380CC4-5D6E-409C-BE32-E72D297353CC}">
              <c16:uniqueId val="{00000001-BEA3-AC46-9150-E11527691169}"/>
            </c:ext>
          </c:extLst>
        </c:ser>
        <c:ser>
          <c:idx val="2"/>
          <c:order val="2"/>
          <c:tx>
            <c:strRef>
              <c:f>Sheet1!$D$1</c:f>
              <c:strCache>
                <c:ptCount val="1"/>
                <c:pt idx="0">
                  <c:v>Financing</c:v>
                </c:pt>
              </c:strCache>
            </c:strRef>
          </c:tx>
          <c:spPr>
            <a:solidFill>
              <a:schemeClr val="accent6">
                <a:tint val="65000"/>
              </a:schemeClr>
            </a:solidFill>
            <a:ln>
              <a:noFill/>
            </a:ln>
            <a:effectLst/>
          </c:spPr>
          <c:invertIfNegative val="0"/>
          <c:cat>
            <c:strRef>
              <c:f>Sheet1!$A$2:$A$9</c:f>
              <c:strCache>
                <c:ptCount val="8"/>
                <c:pt idx="0">
                  <c:v>FY18</c:v>
                </c:pt>
                <c:pt idx="1">
                  <c:v>FY19</c:v>
                </c:pt>
                <c:pt idx="2">
                  <c:v>FY20</c:v>
                </c:pt>
                <c:pt idx="3">
                  <c:v>FY21</c:v>
                </c:pt>
                <c:pt idx="4">
                  <c:v>FY22</c:v>
                </c:pt>
                <c:pt idx="5">
                  <c:v>FY23</c:v>
                </c:pt>
                <c:pt idx="6">
                  <c:v>FY24</c:v>
                </c:pt>
                <c:pt idx="7">
                  <c:v>FY25</c:v>
                </c:pt>
              </c:strCache>
            </c:strRef>
          </c:cat>
          <c:val>
            <c:numRef>
              <c:f>Sheet1!$D$2:$D$9</c:f>
              <c:numCache>
                <c:formatCode>General</c:formatCode>
                <c:ptCount val="8"/>
                <c:pt idx="0">
                  <c:v>-1539.3</c:v>
                </c:pt>
                <c:pt idx="1">
                  <c:v>-2730.5</c:v>
                </c:pt>
                <c:pt idx="2">
                  <c:v>-5715.1</c:v>
                </c:pt>
                <c:pt idx="3">
                  <c:v>-5980.5</c:v>
                </c:pt>
                <c:pt idx="4">
                  <c:v>-5193.5</c:v>
                </c:pt>
                <c:pt idx="5">
                  <c:v>2376.1</c:v>
                </c:pt>
                <c:pt idx="6">
                  <c:v>-6710.2</c:v>
                </c:pt>
                <c:pt idx="7">
                  <c:v>-7905.8</c:v>
                </c:pt>
              </c:numCache>
            </c:numRef>
          </c:val>
          <c:extLst>
            <c:ext xmlns:c16="http://schemas.microsoft.com/office/drawing/2014/chart" uri="{C3380CC4-5D6E-409C-BE32-E72D297353CC}">
              <c16:uniqueId val="{00000002-BEA3-AC46-9150-E11527691169}"/>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noFill/>
          <a:ln w="12700" cap="flat" cmpd="sng" algn="ctr">
            <a:solidFill>
              <a:srgbClr val="888888"/>
            </a:solidFill>
            <a:prstDash val="solid"/>
            <a:round/>
          </a:ln>
          <a:effectLst/>
        </c:spPr>
        <c:txPr>
          <a:bodyPr rot="-60000000" spcFirstLastPara="1" vertOverflow="ellipsis" vert="horz" wrap="square" anchor="ctr" anchorCtr="1"/>
          <a:lstStyle/>
          <a:p>
            <a:pPr>
              <a:defRPr sz="800" b="0" i="0" u="none" strike="noStrike" kern="1200" baseline="0">
                <a:solidFill>
                  <a:srgbClr val="595959"/>
                </a:solidFill>
                <a:latin typeface="Arial"/>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cmpd="sng" algn="ctr">
              <a:solidFill>
                <a:srgbClr val="E7E7E7"/>
              </a:solidFill>
              <a:prstDash val="solid"/>
              <a:round/>
            </a:ln>
            <a:effectLst/>
          </c:spPr>
        </c:majorGridlines>
        <c:numFmt formatCode="General" sourceLinked="0"/>
        <c:majorTickMark val="out"/>
        <c:minorTickMark val="none"/>
        <c:tickLblPos val="nextTo"/>
        <c:spPr>
          <a:noFill/>
          <a:ln w="12700" cap="flat" cmpd="sng" algn="ctr">
            <a:solidFill>
              <a:srgbClr val="888888"/>
            </a:solidFill>
            <a:prstDash val="solid"/>
            <a:round/>
          </a:ln>
          <a:effectLst/>
        </c:spPr>
        <c:txPr>
          <a:bodyPr rot="-60000000" spcFirstLastPara="1" vertOverflow="ellipsis" vert="horz" wrap="square" anchor="ctr" anchorCtr="1"/>
          <a:lstStyle/>
          <a:p>
            <a:pPr>
              <a:defRPr sz="800" b="0" i="0" u="none" strike="noStrike" kern="1200" baseline="0">
                <a:solidFill>
                  <a:srgbClr val="595959"/>
                </a:solidFill>
                <a:latin typeface="Arial"/>
                <a:ea typeface="+mn-ea"/>
                <a:cs typeface="+mn-cs"/>
              </a:defRPr>
            </a:pPr>
            <a:endParaRPr lang="en-US"/>
          </a:p>
        </c:txPr>
        <c:crossAx val="209473455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
    <c:plotVisOnly val="1"/>
    <c:dispBlanksAs val="span"/>
    <c:showDLblsOverMax val="1"/>
  </c:chart>
  <c:spPr>
    <a:noFill/>
    <a:ln w="9525" cap="flat" cmpd="sng" algn="ctr">
      <a:noFill/>
      <a:prstDash val="solid"/>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100" b="0" i="0" u="none" strike="noStrike" kern="1200" baseline="0">
                <a:solidFill>
                  <a:srgbClr val="000000"/>
                </a:solidFill>
                <a:latin typeface="Arial"/>
                <a:ea typeface="+mn-ea"/>
                <a:cs typeface="+mn-cs"/>
              </a:defRPr>
            </a:pPr>
            <a:r>
              <a:rPr lang="en-IN" sz="1100" b="0" i="0" u="none" strike="noStrike">
                <a:solidFill>
                  <a:srgbClr val="000000"/>
                </a:solidFill>
                <a:latin typeface="Arial"/>
              </a:rPr>
              <a:t>Net Cash Flow (₹ Crore)</a:t>
            </a:r>
          </a:p>
        </c:rich>
      </c:tx>
      <c:overlay val="0"/>
      <c:spPr>
        <a:noFill/>
        <a:ln>
          <a:noFill/>
        </a:ln>
        <a:effectLst/>
      </c:spPr>
      <c:txPr>
        <a:bodyPr rot="0" spcFirstLastPara="1" vertOverflow="ellipsis" vert="horz" wrap="square" anchor="ctr" anchorCtr="1"/>
        <a:lstStyle/>
        <a:p>
          <a:pPr>
            <a:defRPr sz="1100" b="0" i="0" u="none" strike="noStrike" kern="1200" baseline="0">
              <a:solidFill>
                <a:srgbClr val="000000"/>
              </a:solidFill>
              <a:latin typeface="Arial"/>
              <a:ea typeface="+mn-ea"/>
              <a:cs typeface="+mn-cs"/>
            </a:defRPr>
          </a:pPr>
          <a:endParaRPr lang="en-US"/>
        </a:p>
      </c:txPr>
    </c:title>
    <c:autoTitleDeleted val="0"/>
    <c:plotArea>
      <c:layout/>
      <c:barChart>
        <c:barDir val="col"/>
        <c:grouping val="clustered"/>
        <c:varyColors val="0"/>
        <c:ser>
          <c:idx val="0"/>
          <c:order val="0"/>
          <c:tx>
            <c:strRef>
              <c:f>Sheet1!$B$1</c:f>
              <c:strCache>
                <c:ptCount val="1"/>
                <c:pt idx="0">
                  <c:v>Net Cash Flow</c:v>
                </c:pt>
              </c:strCache>
            </c:strRef>
          </c:tx>
          <c:spPr>
            <a:solidFill>
              <a:schemeClr val="accent6"/>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800" b="0" i="0" u="none" strike="noStrike" kern="1200" baseline="0">
                    <a:solidFill>
                      <a:srgbClr val="000000"/>
                    </a:solidFill>
                    <a:latin typeface="Arial"/>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FY18</c:v>
                </c:pt>
                <c:pt idx="1">
                  <c:v>FY19</c:v>
                </c:pt>
                <c:pt idx="2">
                  <c:v>FY20</c:v>
                </c:pt>
                <c:pt idx="3">
                  <c:v>FY21</c:v>
                </c:pt>
                <c:pt idx="4">
                  <c:v>FY22</c:v>
                </c:pt>
                <c:pt idx="5">
                  <c:v>FY23</c:v>
                </c:pt>
                <c:pt idx="6">
                  <c:v>FY24</c:v>
                </c:pt>
                <c:pt idx="7">
                  <c:v>FY25</c:v>
                </c:pt>
              </c:strCache>
            </c:strRef>
          </c:cat>
          <c:val>
            <c:numRef>
              <c:f>Sheet1!$B$2:$B$9</c:f>
              <c:numCache>
                <c:formatCode>General</c:formatCode>
                <c:ptCount val="8"/>
                <c:pt idx="0">
                  <c:v>-1002.9</c:v>
                </c:pt>
                <c:pt idx="1">
                  <c:v>-1215.3</c:v>
                </c:pt>
                <c:pt idx="2">
                  <c:v>-1749.2</c:v>
                </c:pt>
                <c:pt idx="3">
                  <c:v>726.1</c:v>
                </c:pt>
                <c:pt idx="4">
                  <c:v>-1933.7</c:v>
                </c:pt>
                <c:pt idx="5">
                  <c:v>-608.29999999999995</c:v>
                </c:pt>
                <c:pt idx="6">
                  <c:v>4734.6000000000004</c:v>
                </c:pt>
                <c:pt idx="7">
                  <c:v>860.1</c:v>
                </c:pt>
              </c:numCache>
            </c:numRef>
          </c:val>
          <c:extLst>
            <c:ext xmlns:c16="http://schemas.microsoft.com/office/drawing/2014/chart" uri="{C3380CC4-5D6E-409C-BE32-E72D297353CC}">
              <c16:uniqueId val="{00000000-1AF2-944C-87F3-B4620D9235B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noFill/>
          <a:ln w="12700" cap="flat" cmpd="sng" algn="ctr">
            <a:solidFill>
              <a:srgbClr val="888888"/>
            </a:solidFill>
            <a:prstDash val="solid"/>
            <a:round/>
          </a:ln>
          <a:effectLst/>
        </c:spPr>
        <c:txPr>
          <a:bodyPr rot="-60000000" spcFirstLastPara="1" vertOverflow="ellipsis" vert="horz" wrap="square" anchor="ctr" anchorCtr="1"/>
          <a:lstStyle/>
          <a:p>
            <a:pPr>
              <a:defRPr sz="800" b="0" i="0" u="none" strike="noStrike" kern="1200" baseline="0">
                <a:solidFill>
                  <a:srgbClr val="595959"/>
                </a:solidFill>
                <a:latin typeface="Arial"/>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cmpd="sng" algn="ctr">
              <a:solidFill>
                <a:srgbClr val="E7E7E7"/>
              </a:solidFill>
              <a:prstDash val="solid"/>
              <a:round/>
            </a:ln>
            <a:effectLst/>
          </c:spPr>
        </c:majorGridlines>
        <c:numFmt formatCode="General" sourceLinked="0"/>
        <c:majorTickMark val="out"/>
        <c:minorTickMark val="none"/>
        <c:tickLblPos val="nextTo"/>
        <c:spPr>
          <a:noFill/>
          <a:ln w="12700" cap="flat" cmpd="sng" algn="ctr">
            <a:solidFill>
              <a:srgbClr val="888888"/>
            </a:solidFill>
            <a:prstDash val="solid"/>
            <a:round/>
          </a:ln>
          <a:effectLst/>
        </c:spPr>
        <c:txPr>
          <a:bodyPr rot="-60000000" spcFirstLastPara="1" vertOverflow="ellipsis" vert="horz" wrap="square" anchor="ctr" anchorCtr="1"/>
          <a:lstStyle/>
          <a:p>
            <a:pPr>
              <a:defRPr sz="800" b="0" i="0" u="none" strike="noStrike" kern="1200" baseline="0">
                <a:solidFill>
                  <a:srgbClr val="595959"/>
                </a:solidFill>
                <a:latin typeface="Arial"/>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noFill/>
    <a:ln w="9525" cap="flat" cmpd="sng" algn="ctr">
      <a:noFill/>
      <a:prstDash val="solid"/>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lineChart>
        <c:grouping val="standard"/>
        <c:varyColors val="0"/>
        <c:ser>
          <c:idx val="0"/>
          <c:order val="0"/>
          <c:tx>
            <c:strRef>
              <c:f>Sheet1!$B$1</c:f>
              <c:strCache>
                <c:ptCount val="1"/>
                <c:pt idx="0">
                  <c:v>Current Ratio</c:v>
                </c:pt>
              </c:strCache>
            </c:strRef>
          </c:tx>
          <c:spPr>
            <a:ln w="28575" cap="rnd" cmpd="sng" algn="ctr">
              <a:solidFill>
                <a:schemeClr val="accent6">
                  <a:shade val="95000"/>
                  <a:satMod val="105000"/>
                </a:schemeClr>
              </a:solidFill>
              <a:prstDash val="solid"/>
              <a:round/>
            </a:ln>
            <a:effectLst/>
          </c:spPr>
          <c:marker>
            <c:symbol val="circle"/>
            <c:size val="5"/>
            <c:spPr>
              <a:solidFill>
                <a:schemeClr val="accent6"/>
              </a:solidFill>
              <a:ln w="9525" cap="flat" cmpd="sng" algn="ctr">
                <a:solidFill>
                  <a:schemeClr val="accent6">
                    <a:shade val="95000"/>
                    <a:satMod val="105000"/>
                  </a:schemeClr>
                </a:solidFill>
                <a:prstDash val="solid"/>
                <a:round/>
              </a:ln>
              <a:effectLst/>
            </c:spPr>
          </c:marker>
          <c:cat>
            <c:strRef>
              <c:f>Sheet1!$A$2:$A$9</c:f>
              <c:strCache>
                <c:ptCount val="8"/>
                <c:pt idx="0">
                  <c:v>FY18</c:v>
                </c:pt>
                <c:pt idx="1">
                  <c:v>FY19</c:v>
                </c:pt>
                <c:pt idx="2">
                  <c:v>FY20</c:v>
                </c:pt>
                <c:pt idx="3">
                  <c:v>FY21</c:v>
                </c:pt>
                <c:pt idx="4">
                  <c:v>FY22</c:v>
                </c:pt>
                <c:pt idx="5">
                  <c:v>FY23</c:v>
                </c:pt>
                <c:pt idx="6">
                  <c:v>FY24</c:v>
                </c:pt>
                <c:pt idx="7">
                  <c:v>FY25</c:v>
                </c:pt>
              </c:strCache>
            </c:strRef>
          </c:cat>
          <c:val>
            <c:numRef>
              <c:f>Sheet1!$B$2:$B$9</c:f>
              <c:numCache>
                <c:formatCode>General</c:formatCode>
                <c:ptCount val="8"/>
                <c:pt idx="0">
                  <c:v>1.59</c:v>
                </c:pt>
                <c:pt idx="1">
                  <c:v>1.79</c:v>
                </c:pt>
                <c:pt idx="2">
                  <c:v>2.02</c:v>
                </c:pt>
                <c:pt idx="3">
                  <c:v>1.89</c:v>
                </c:pt>
                <c:pt idx="4">
                  <c:v>2.04</c:v>
                </c:pt>
                <c:pt idx="5">
                  <c:v>2</c:v>
                </c:pt>
                <c:pt idx="6">
                  <c:v>2.56</c:v>
                </c:pt>
                <c:pt idx="7">
                  <c:v>2.89</c:v>
                </c:pt>
              </c:numCache>
            </c:numRef>
          </c:val>
          <c:smooth val="0"/>
          <c:extLst>
            <c:ext xmlns:c16="http://schemas.microsoft.com/office/drawing/2014/chart" uri="{C3380CC4-5D6E-409C-BE32-E72D297353CC}">
              <c16:uniqueId val="{00000000-33F5-FF40-BA68-CD9550A6C7E5}"/>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noFill/>
          <a:ln w="12700" cap="flat" cmpd="sng" algn="ctr">
            <a:solidFill>
              <a:srgbClr val="888888"/>
            </a:solidFill>
            <a:prstDash val="solid"/>
            <a:round/>
          </a:ln>
          <a:effectLst/>
        </c:spPr>
        <c:txPr>
          <a:bodyPr rot="-60000000" spcFirstLastPara="1" vertOverflow="ellipsis" vert="horz" wrap="square" anchor="ctr" anchorCtr="1"/>
          <a:lstStyle/>
          <a:p>
            <a:pPr>
              <a:defRPr sz="800" b="0" i="0" u="none" strike="noStrike" kern="1200" baseline="0">
                <a:solidFill>
                  <a:srgbClr val="595959"/>
                </a:solidFill>
                <a:latin typeface="Arial"/>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cmpd="sng" algn="ctr">
              <a:solidFill>
                <a:srgbClr val="E7E7E7"/>
              </a:solidFill>
              <a:prstDash val="solid"/>
              <a:round/>
            </a:ln>
            <a:effectLst/>
          </c:spPr>
        </c:majorGridlines>
        <c:numFmt formatCode="General" sourceLinked="0"/>
        <c:majorTickMark val="out"/>
        <c:minorTickMark val="none"/>
        <c:tickLblPos val="nextTo"/>
        <c:spPr>
          <a:noFill/>
          <a:ln w="12700" cap="flat" cmpd="sng" algn="ctr">
            <a:solidFill>
              <a:srgbClr val="888888"/>
            </a:solidFill>
            <a:prstDash val="solid"/>
            <a:round/>
          </a:ln>
          <a:effectLst/>
        </c:spPr>
        <c:txPr>
          <a:bodyPr rot="-60000000" spcFirstLastPara="1" vertOverflow="ellipsis" vert="horz" wrap="square" anchor="ctr" anchorCtr="1"/>
          <a:lstStyle/>
          <a:p>
            <a:pPr>
              <a:defRPr sz="800" b="0" i="0" u="none" strike="noStrike" kern="1200" baseline="0">
                <a:solidFill>
                  <a:srgbClr val="595959"/>
                </a:solidFill>
                <a:latin typeface="Arial"/>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noFill/>
    <a:ln w="9525" cap="flat" cmpd="sng" algn="ctr">
      <a:noFill/>
      <a:prstDash val="solid"/>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lineChart>
        <c:grouping val="standard"/>
        <c:varyColors val="0"/>
        <c:ser>
          <c:idx val="0"/>
          <c:order val="0"/>
          <c:tx>
            <c:strRef>
              <c:f>Sheet1!$B$1</c:f>
              <c:strCache>
                <c:ptCount val="1"/>
                <c:pt idx="0">
                  <c:v>QUICK RATIO</c:v>
                </c:pt>
              </c:strCache>
            </c:strRef>
          </c:tx>
          <c:spPr>
            <a:ln w="28575" cap="rnd" cmpd="sng" algn="ctr">
              <a:solidFill>
                <a:schemeClr val="accent6">
                  <a:shade val="95000"/>
                  <a:satMod val="105000"/>
                </a:schemeClr>
              </a:solidFill>
              <a:prstDash val="solid"/>
              <a:round/>
            </a:ln>
            <a:effectLst/>
          </c:spPr>
          <c:marker>
            <c:symbol val="circle"/>
            <c:size val="4"/>
            <c:spPr>
              <a:solidFill>
                <a:schemeClr val="accent6"/>
              </a:solidFill>
              <a:ln w="9525" cap="flat" cmpd="sng" algn="ctr">
                <a:solidFill>
                  <a:schemeClr val="accent6">
                    <a:shade val="95000"/>
                    <a:satMod val="105000"/>
                  </a:schemeClr>
                </a:solidFill>
                <a:prstDash val="solid"/>
                <a:round/>
              </a:ln>
              <a:effectLst/>
            </c:spPr>
          </c:marker>
          <c:cat>
            <c:strRef>
              <c:f>Sheet1!$A$2:$A$9</c:f>
              <c:strCache>
                <c:ptCount val="8"/>
                <c:pt idx="0">
                  <c:v>FY18</c:v>
                </c:pt>
                <c:pt idx="1">
                  <c:v>FY19</c:v>
                </c:pt>
                <c:pt idx="2">
                  <c:v>FY20</c:v>
                </c:pt>
                <c:pt idx="3">
                  <c:v>FY21</c:v>
                </c:pt>
                <c:pt idx="4">
                  <c:v>FY22</c:v>
                </c:pt>
                <c:pt idx="5">
                  <c:v>FY23</c:v>
                </c:pt>
                <c:pt idx="6">
                  <c:v>FY24</c:v>
                </c:pt>
                <c:pt idx="7">
                  <c:v>FY25</c:v>
                </c:pt>
              </c:strCache>
            </c:strRef>
          </c:cat>
          <c:val>
            <c:numRef>
              <c:f>Sheet1!$B$2:$B$9</c:f>
              <c:numCache>
                <c:formatCode>General</c:formatCode>
                <c:ptCount val="8"/>
                <c:pt idx="0">
                  <c:v>1.25</c:v>
                </c:pt>
                <c:pt idx="1">
                  <c:v>1.34</c:v>
                </c:pt>
                <c:pt idx="2">
                  <c:v>1.51</c:v>
                </c:pt>
                <c:pt idx="3">
                  <c:v>1.33</c:v>
                </c:pt>
                <c:pt idx="4">
                  <c:v>1.51</c:v>
                </c:pt>
                <c:pt idx="5">
                  <c:v>1.47</c:v>
                </c:pt>
                <c:pt idx="6">
                  <c:v>1.98</c:v>
                </c:pt>
                <c:pt idx="7">
                  <c:v>2.33</c:v>
                </c:pt>
              </c:numCache>
            </c:numRef>
          </c:val>
          <c:smooth val="0"/>
          <c:extLst>
            <c:ext xmlns:c16="http://schemas.microsoft.com/office/drawing/2014/chart" uri="{C3380CC4-5D6E-409C-BE32-E72D297353CC}">
              <c16:uniqueId val="{00000000-FDB5-924C-9030-6AC007B552E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noFill/>
          <a:ln w="12700" cap="flat" cmpd="sng" algn="ctr">
            <a:solidFill>
              <a:srgbClr val="888888"/>
            </a:solidFill>
            <a:prstDash val="solid"/>
            <a:round/>
          </a:ln>
          <a:effectLst/>
        </c:spPr>
        <c:txPr>
          <a:bodyPr rot="-60000000" spcFirstLastPara="1" vertOverflow="ellipsis" vert="horz" wrap="square" anchor="ctr" anchorCtr="1"/>
          <a:lstStyle/>
          <a:p>
            <a:pPr>
              <a:defRPr sz="700" b="0" i="0" u="none" strike="noStrike" kern="1200" baseline="0">
                <a:solidFill>
                  <a:srgbClr val="595959"/>
                </a:solidFill>
                <a:latin typeface="Arial"/>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cmpd="sng" algn="ctr">
              <a:solidFill>
                <a:srgbClr val="E7E7E7"/>
              </a:solidFill>
              <a:prstDash val="solid"/>
              <a:round/>
            </a:ln>
            <a:effectLst/>
          </c:spPr>
        </c:majorGridlines>
        <c:numFmt formatCode="General" sourceLinked="0"/>
        <c:majorTickMark val="out"/>
        <c:minorTickMark val="none"/>
        <c:tickLblPos val="nextTo"/>
        <c:spPr>
          <a:noFill/>
          <a:ln w="12700" cap="flat" cmpd="sng" algn="ctr">
            <a:solidFill>
              <a:srgbClr val="888888"/>
            </a:solidFill>
            <a:prstDash val="solid"/>
            <a:round/>
          </a:ln>
          <a:effectLst/>
        </c:spPr>
        <c:txPr>
          <a:bodyPr rot="-60000000" spcFirstLastPara="1" vertOverflow="ellipsis" vert="horz" wrap="square" anchor="ctr" anchorCtr="1"/>
          <a:lstStyle/>
          <a:p>
            <a:pPr>
              <a:defRPr sz="700" b="0" i="0" u="none" strike="noStrike" kern="1200" baseline="0">
                <a:solidFill>
                  <a:srgbClr val="595959"/>
                </a:solidFill>
                <a:latin typeface="Arial"/>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noFill/>
    <a:ln w="9525" cap="flat" cmpd="sng" algn="ctr">
      <a:noFill/>
      <a:prstDash val="solid"/>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lineChart>
        <c:grouping val="standard"/>
        <c:varyColors val="0"/>
        <c:ser>
          <c:idx val="0"/>
          <c:order val="0"/>
          <c:tx>
            <c:strRef>
              <c:f>Sheet1!$B$1</c:f>
              <c:strCache>
                <c:ptCount val="1"/>
                <c:pt idx="0">
                  <c:v>DEBT-TO-EQUITY</c:v>
                </c:pt>
              </c:strCache>
            </c:strRef>
          </c:tx>
          <c:spPr>
            <a:ln w="28575" cap="rnd" cmpd="sng" algn="ctr">
              <a:solidFill>
                <a:schemeClr val="accent6">
                  <a:shade val="95000"/>
                  <a:satMod val="105000"/>
                </a:schemeClr>
              </a:solidFill>
              <a:prstDash val="solid"/>
              <a:round/>
            </a:ln>
            <a:effectLst/>
          </c:spPr>
          <c:marker>
            <c:symbol val="circle"/>
            <c:size val="4"/>
            <c:spPr>
              <a:solidFill>
                <a:schemeClr val="accent6"/>
              </a:solidFill>
              <a:ln w="9525" cap="flat" cmpd="sng" algn="ctr">
                <a:solidFill>
                  <a:schemeClr val="accent6">
                    <a:shade val="95000"/>
                    <a:satMod val="105000"/>
                  </a:schemeClr>
                </a:solidFill>
                <a:prstDash val="solid"/>
                <a:round/>
              </a:ln>
              <a:effectLst/>
            </c:spPr>
          </c:marker>
          <c:cat>
            <c:strRef>
              <c:f>Sheet1!$A$2:$A$9</c:f>
              <c:strCache>
                <c:ptCount val="8"/>
                <c:pt idx="0">
                  <c:v>FY18</c:v>
                </c:pt>
                <c:pt idx="1">
                  <c:v>FY19</c:v>
                </c:pt>
                <c:pt idx="2">
                  <c:v>FY20</c:v>
                </c:pt>
                <c:pt idx="3">
                  <c:v>FY21</c:v>
                </c:pt>
                <c:pt idx="4">
                  <c:v>FY22</c:v>
                </c:pt>
                <c:pt idx="5">
                  <c:v>FY23</c:v>
                </c:pt>
                <c:pt idx="6">
                  <c:v>FY24</c:v>
                </c:pt>
                <c:pt idx="7">
                  <c:v>FY25</c:v>
                </c:pt>
              </c:strCache>
            </c:strRef>
          </c:cat>
          <c:val>
            <c:numRef>
              <c:f>Sheet1!$B$2:$B$9</c:f>
              <c:numCache>
                <c:formatCode>General</c:formatCode>
                <c:ptCount val="8"/>
                <c:pt idx="0">
                  <c:v>0.23</c:v>
                </c:pt>
                <c:pt idx="1">
                  <c:v>0.22</c:v>
                </c:pt>
                <c:pt idx="2">
                  <c:v>0.15</c:v>
                </c:pt>
                <c:pt idx="3">
                  <c:v>7.0000000000000007E-2</c:v>
                </c:pt>
                <c:pt idx="4">
                  <c:v>0.02</c:v>
                </c:pt>
                <c:pt idx="5">
                  <c:v>0.1</c:v>
                </c:pt>
                <c:pt idx="6">
                  <c:v>0.04</c:v>
                </c:pt>
                <c:pt idx="7">
                  <c:v>0.03</c:v>
                </c:pt>
              </c:numCache>
            </c:numRef>
          </c:val>
          <c:smooth val="0"/>
          <c:extLst>
            <c:ext xmlns:c16="http://schemas.microsoft.com/office/drawing/2014/chart" uri="{C3380CC4-5D6E-409C-BE32-E72D297353CC}">
              <c16:uniqueId val="{00000000-88AF-C141-B26D-AEDC3AC97F25}"/>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noFill/>
          <a:ln w="12700" cap="flat" cmpd="sng" algn="ctr">
            <a:solidFill>
              <a:srgbClr val="888888"/>
            </a:solidFill>
            <a:prstDash val="solid"/>
            <a:round/>
          </a:ln>
          <a:effectLst/>
        </c:spPr>
        <c:txPr>
          <a:bodyPr rot="-60000000" spcFirstLastPara="1" vertOverflow="ellipsis" vert="horz" wrap="square" anchor="ctr" anchorCtr="1"/>
          <a:lstStyle/>
          <a:p>
            <a:pPr>
              <a:defRPr sz="700" b="0" i="0" u="none" strike="noStrike" kern="1200" baseline="0">
                <a:solidFill>
                  <a:srgbClr val="595959"/>
                </a:solidFill>
                <a:latin typeface="Arial"/>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cmpd="sng" algn="ctr">
              <a:solidFill>
                <a:srgbClr val="E7E7E7"/>
              </a:solidFill>
              <a:prstDash val="solid"/>
              <a:round/>
            </a:ln>
            <a:effectLst/>
          </c:spPr>
        </c:majorGridlines>
        <c:numFmt formatCode="General" sourceLinked="0"/>
        <c:majorTickMark val="out"/>
        <c:minorTickMark val="none"/>
        <c:tickLblPos val="nextTo"/>
        <c:spPr>
          <a:noFill/>
          <a:ln w="12700" cap="flat" cmpd="sng" algn="ctr">
            <a:solidFill>
              <a:srgbClr val="888888"/>
            </a:solidFill>
            <a:prstDash val="solid"/>
            <a:round/>
          </a:ln>
          <a:effectLst/>
        </c:spPr>
        <c:txPr>
          <a:bodyPr rot="-60000000" spcFirstLastPara="1" vertOverflow="ellipsis" vert="horz" wrap="square" anchor="ctr" anchorCtr="1"/>
          <a:lstStyle/>
          <a:p>
            <a:pPr>
              <a:defRPr sz="700" b="0" i="0" u="none" strike="noStrike" kern="1200" baseline="0">
                <a:solidFill>
                  <a:srgbClr val="595959"/>
                </a:solidFill>
                <a:latin typeface="Arial"/>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noFill/>
    <a:ln w="9525" cap="flat" cmpd="sng" algn="ctr">
      <a:noFill/>
      <a:prstDash val="solid"/>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lineChart>
        <c:grouping val="standard"/>
        <c:varyColors val="0"/>
        <c:ser>
          <c:idx val="0"/>
          <c:order val="0"/>
          <c:tx>
            <c:strRef>
              <c:f>Sheet1!$B$1</c:f>
              <c:strCache>
                <c:ptCount val="1"/>
                <c:pt idx="0">
                  <c:v>INTEREST COVERAGE RATIO</c:v>
                </c:pt>
              </c:strCache>
            </c:strRef>
          </c:tx>
          <c:spPr>
            <a:ln w="28575" cap="rnd" cmpd="sng" algn="ctr">
              <a:solidFill>
                <a:schemeClr val="accent6">
                  <a:shade val="95000"/>
                  <a:satMod val="105000"/>
                </a:schemeClr>
              </a:solidFill>
              <a:prstDash val="solid"/>
              <a:round/>
            </a:ln>
            <a:effectLst/>
          </c:spPr>
          <c:marker>
            <c:symbol val="circle"/>
            <c:size val="4"/>
            <c:spPr>
              <a:solidFill>
                <a:schemeClr val="accent6"/>
              </a:solidFill>
              <a:ln w="9525" cap="flat" cmpd="sng" algn="ctr">
                <a:solidFill>
                  <a:schemeClr val="accent6">
                    <a:shade val="95000"/>
                    <a:satMod val="105000"/>
                  </a:schemeClr>
                </a:solidFill>
                <a:prstDash val="solid"/>
                <a:round/>
              </a:ln>
              <a:effectLst/>
            </c:spPr>
          </c:marker>
          <c:cat>
            <c:strRef>
              <c:f>Sheet1!$A$2:$A$9</c:f>
              <c:strCache>
                <c:ptCount val="8"/>
                <c:pt idx="0">
                  <c:v>FY18</c:v>
                </c:pt>
                <c:pt idx="1">
                  <c:v>FY19</c:v>
                </c:pt>
                <c:pt idx="2">
                  <c:v>FY20</c:v>
                </c:pt>
                <c:pt idx="3">
                  <c:v>FY21</c:v>
                </c:pt>
                <c:pt idx="4">
                  <c:v>FY22</c:v>
                </c:pt>
                <c:pt idx="5">
                  <c:v>FY23</c:v>
                </c:pt>
                <c:pt idx="6">
                  <c:v>FY24</c:v>
                </c:pt>
                <c:pt idx="7">
                  <c:v>FY25</c:v>
                </c:pt>
              </c:strCache>
            </c:strRef>
          </c:cat>
          <c:val>
            <c:numRef>
              <c:f>Sheet1!$B$2:$B$9</c:f>
              <c:numCache>
                <c:formatCode>General</c:formatCode>
                <c:ptCount val="8"/>
                <c:pt idx="0">
                  <c:v>7.72</c:v>
                </c:pt>
                <c:pt idx="1">
                  <c:v>7.86</c:v>
                </c:pt>
                <c:pt idx="2">
                  <c:v>17.55</c:v>
                </c:pt>
                <c:pt idx="3">
                  <c:v>20.8</c:v>
                </c:pt>
                <c:pt idx="4">
                  <c:v>36.19</c:v>
                </c:pt>
                <c:pt idx="5">
                  <c:v>55.7</c:v>
                </c:pt>
                <c:pt idx="6">
                  <c:v>47.49</c:v>
                </c:pt>
                <c:pt idx="7">
                  <c:v>60.44</c:v>
                </c:pt>
              </c:numCache>
            </c:numRef>
          </c:val>
          <c:smooth val="0"/>
          <c:extLst>
            <c:ext xmlns:c16="http://schemas.microsoft.com/office/drawing/2014/chart" uri="{C3380CC4-5D6E-409C-BE32-E72D297353CC}">
              <c16:uniqueId val="{00000000-C7BD-C54D-A73F-0DF215F39722}"/>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noFill/>
          <a:ln w="12700" cap="flat" cmpd="sng" algn="ctr">
            <a:solidFill>
              <a:srgbClr val="888888"/>
            </a:solidFill>
            <a:prstDash val="solid"/>
            <a:round/>
          </a:ln>
          <a:effectLst/>
        </c:spPr>
        <c:txPr>
          <a:bodyPr rot="-60000000" spcFirstLastPara="1" vertOverflow="ellipsis" vert="horz" wrap="square" anchor="ctr" anchorCtr="1"/>
          <a:lstStyle/>
          <a:p>
            <a:pPr>
              <a:defRPr sz="700" b="0" i="0" u="none" strike="noStrike" kern="1200" baseline="0">
                <a:solidFill>
                  <a:srgbClr val="595959"/>
                </a:solidFill>
                <a:latin typeface="Arial"/>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cmpd="sng" algn="ctr">
              <a:solidFill>
                <a:srgbClr val="E7E7E7"/>
              </a:solidFill>
              <a:prstDash val="solid"/>
              <a:round/>
            </a:ln>
            <a:effectLst/>
          </c:spPr>
        </c:majorGridlines>
        <c:numFmt formatCode="General" sourceLinked="0"/>
        <c:majorTickMark val="out"/>
        <c:minorTickMark val="none"/>
        <c:tickLblPos val="nextTo"/>
        <c:spPr>
          <a:noFill/>
          <a:ln w="12700" cap="flat" cmpd="sng" algn="ctr">
            <a:solidFill>
              <a:srgbClr val="888888"/>
            </a:solidFill>
            <a:prstDash val="solid"/>
            <a:round/>
          </a:ln>
          <a:effectLst/>
        </c:spPr>
        <c:txPr>
          <a:bodyPr rot="-60000000" spcFirstLastPara="1" vertOverflow="ellipsis" vert="horz" wrap="square" anchor="ctr" anchorCtr="1"/>
          <a:lstStyle/>
          <a:p>
            <a:pPr>
              <a:defRPr sz="700" b="0" i="0" u="none" strike="noStrike" kern="1200" baseline="0">
                <a:solidFill>
                  <a:srgbClr val="595959"/>
                </a:solidFill>
                <a:latin typeface="Arial"/>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noFill/>
    <a:ln w="9525" cap="flat" cmpd="sng" algn="ctr">
      <a:noFill/>
      <a:prstDash val="solid"/>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lineChart>
        <c:grouping val="standard"/>
        <c:varyColors val="0"/>
        <c:ser>
          <c:idx val="0"/>
          <c:order val="0"/>
          <c:tx>
            <c:strRef>
              <c:f>Sheet1!$B$1</c:f>
              <c:strCache>
                <c:ptCount val="1"/>
                <c:pt idx="0">
                  <c:v>CASH CONVERSION CYCLE</c:v>
                </c:pt>
              </c:strCache>
            </c:strRef>
          </c:tx>
          <c:spPr>
            <a:ln w="28575" cap="rnd" cmpd="sng" algn="ctr">
              <a:solidFill>
                <a:schemeClr val="accent6">
                  <a:shade val="95000"/>
                  <a:satMod val="105000"/>
                </a:schemeClr>
              </a:solidFill>
              <a:prstDash val="solid"/>
              <a:round/>
            </a:ln>
            <a:effectLst/>
          </c:spPr>
          <c:marker>
            <c:symbol val="circle"/>
            <c:size val="4"/>
            <c:spPr>
              <a:solidFill>
                <a:schemeClr val="accent6"/>
              </a:solidFill>
              <a:ln w="9525" cap="flat" cmpd="sng" algn="ctr">
                <a:solidFill>
                  <a:schemeClr val="accent6">
                    <a:shade val="95000"/>
                    <a:satMod val="105000"/>
                  </a:schemeClr>
                </a:solidFill>
                <a:prstDash val="solid"/>
                <a:round/>
              </a:ln>
              <a:effectLst/>
            </c:spPr>
          </c:marker>
          <c:cat>
            <c:strRef>
              <c:f>Sheet1!$A$2:$A$9</c:f>
              <c:strCache>
                <c:ptCount val="8"/>
                <c:pt idx="0">
                  <c:v>FY18</c:v>
                </c:pt>
                <c:pt idx="1">
                  <c:v>FY19</c:v>
                </c:pt>
                <c:pt idx="2">
                  <c:v>FY20</c:v>
                </c:pt>
                <c:pt idx="3">
                  <c:v>FY21</c:v>
                </c:pt>
                <c:pt idx="4">
                  <c:v>FY22</c:v>
                </c:pt>
                <c:pt idx="5">
                  <c:v>FY23</c:v>
                </c:pt>
                <c:pt idx="6">
                  <c:v>FY24</c:v>
                </c:pt>
                <c:pt idx="7">
                  <c:v>FY25</c:v>
                </c:pt>
              </c:strCache>
            </c:strRef>
          </c:cat>
          <c:val>
            <c:numRef>
              <c:f>Sheet1!$B$2:$B$9</c:f>
              <c:numCache>
                <c:formatCode>General</c:formatCode>
                <c:ptCount val="8"/>
                <c:pt idx="0">
                  <c:v>215</c:v>
                </c:pt>
                <c:pt idx="1">
                  <c:v>276</c:v>
                </c:pt>
                <c:pt idx="2">
                  <c:v>259</c:v>
                </c:pt>
                <c:pt idx="3">
                  <c:v>295</c:v>
                </c:pt>
                <c:pt idx="4">
                  <c:v>258</c:v>
                </c:pt>
                <c:pt idx="5">
                  <c:v>250</c:v>
                </c:pt>
                <c:pt idx="6">
                  <c:v>233</c:v>
                </c:pt>
                <c:pt idx="7">
                  <c:v>230</c:v>
                </c:pt>
              </c:numCache>
            </c:numRef>
          </c:val>
          <c:smooth val="0"/>
          <c:extLst>
            <c:ext xmlns:c16="http://schemas.microsoft.com/office/drawing/2014/chart" uri="{C3380CC4-5D6E-409C-BE32-E72D297353CC}">
              <c16:uniqueId val="{00000000-3DED-3F47-BF7E-78CED2CC039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noFill/>
          <a:ln w="12700" cap="flat" cmpd="sng" algn="ctr">
            <a:solidFill>
              <a:srgbClr val="888888"/>
            </a:solidFill>
            <a:prstDash val="solid"/>
            <a:round/>
          </a:ln>
          <a:effectLst/>
        </c:spPr>
        <c:txPr>
          <a:bodyPr rot="-60000000" spcFirstLastPara="1" vertOverflow="ellipsis" vert="horz" wrap="square" anchor="ctr" anchorCtr="1"/>
          <a:lstStyle/>
          <a:p>
            <a:pPr>
              <a:defRPr sz="700" b="0" i="0" u="none" strike="noStrike" kern="1200" baseline="0">
                <a:solidFill>
                  <a:srgbClr val="595959"/>
                </a:solidFill>
                <a:latin typeface="Arial"/>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cmpd="sng" algn="ctr">
              <a:solidFill>
                <a:srgbClr val="E7E7E7"/>
              </a:solidFill>
              <a:prstDash val="solid"/>
              <a:round/>
            </a:ln>
            <a:effectLst/>
          </c:spPr>
        </c:majorGridlines>
        <c:numFmt formatCode="General" sourceLinked="0"/>
        <c:majorTickMark val="out"/>
        <c:minorTickMark val="none"/>
        <c:tickLblPos val="nextTo"/>
        <c:spPr>
          <a:noFill/>
          <a:ln w="12700" cap="flat" cmpd="sng" algn="ctr">
            <a:solidFill>
              <a:srgbClr val="888888"/>
            </a:solidFill>
            <a:prstDash val="solid"/>
            <a:round/>
          </a:ln>
          <a:effectLst/>
        </c:spPr>
        <c:txPr>
          <a:bodyPr rot="-60000000" spcFirstLastPara="1" vertOverflow="ellipsis" vert="horz" wrap="square" anchor="ctr" anchorCtr="1"/>
          <a:lstStyle/>
          <a:p>
            <a:pPr>
              <a:defRPr sz="700" b="0" i="0" u="none" strike="noStrike" kern="1200" baseline="0">
                <a:solidFill>
                  <a:srgbClr val="595959"/>
                </a:solidFill>
                <a:latin typeface="Arial"/>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noFill/>
    <a:ln w="9525" cap="flat" cmpd="sng" algn="ctr">
      <a:noFill/>
      <a:prstDash val="solid"/>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barChart>
        <c:barDir val="col"/>
        <c:grouping val="clustered"/>
        <c:varyColors val="0"/>
        <c:ser>
          <c:idx val="0"/>
          <c:order val="0"/>
          <c:tx>
            <c:strRef>
              <c:f>Sheet1!$S$85</c:f>
              <c:strCache>
                <c:ptCount val="1"/>
                <c:pt idx="0">
                  <c:v>1. Revenue (₹ Million)</c:v>
                </c:pt>
              </c:strCache>
            </c:strRef>
          </c:tx>
          <c:spPr>
            <a:solidFill>
              <a:schemeClr val="accent6"/>
            </a:solidFill>
            <a:ln>
              <a:noFill/>
            </a:ln>
            <a:effectLst/>
          </c:spPr>
          <c:invertIfNegative val="0"/>
          <c:dLbls>
            <c:dLbl>
              <c:idx val="0"/>
              <c:dLblPos val="outEnd"/>
              <c:showLegendKey val="0"/>
              <c:showVal val="1"/>
              <c:showCatName val="0"/>
              <c:showSerName val="0"/>
              <c:showPercent val="0"/>
              <c:showBubbleSize val="0"/>
              <c:extLst>
                <c:ext xmlns:c15="http://schemas.microsoft.com/office/drawing/2012/chart" uri="{CE6537A1-D6FC-4f65-9D91-7224C49458BB}">
                  <c15:layout>
                    <c:manualLayout>
                      <c:w val="0.22398663794631407"/>
                      <c:h val="0.17470071005441234"/>
                    </c:manualLayout>
                  </c15:layout>
                </c:ext>
                <c:ext xmlns:c16="http://schemas.microsoft.com/office/drawing/2014/chart" uri="{C3380CC4-5D6E-409C-BE32-E72D297353CC}">
                  <c16:uniqueId val="{00000001-98EB-4632-A13B-1DCCB1C5F9D6}"/>
                </c:ext>
              </c:extLst>
            </c:dLbl>
            <c:dLbl>
              <c:idx val="1"/>
              <c:dLblPos val="outEnd"/>
              <c:showLegendKey val="0"/>
              <c:showVal val="1"/>
              <c:showCatName val="0"/>
              <c:showSerName val="0"/>
              <c:showPercent val="0"/>
              <c:showBubbleSize val="0"/>
              <c:extLst>
                <c:ext xmlns:c15="http://schemas.microsoft.com/office/drawing/2012/chart" uri="{CE6537A1-D6FC-4f65-9D91-7224C49458BB}">
                  <c15:layout>
                    <c:manualLayout>
                      <c:w val="0.24517241595022177"/>
                      <c:h val="0.17470071005441234"/>
                    </c:manualLayout>
                  </c15:layout>
                </c:ext>
                <c:ext xmlns:c16="http://schemas.microsoft.com/office/drawing/2014/chart" uri="{C3380CC4-5D6E-409C-BE32-E72D297353CC}">
                  <c16:uniqueId val="{00000002-98EB-4632-A13B-1DCCB1C5F9D6}"/>
                </c:ext>
              </c:extLst>
            </c:dLbl>
            <c:dLbl>
              <c:idx val="2"/>
              <c:layout>
                <c:manualLayout>
                  <c:x val="1.5889333502930758E-2"/>
                  <c:y val="2.798569644443932E-2"/>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22928308244729098"/>
                      <c:h val="0.17470071005441234"/>
                    </c:manualLayout>
                  </c15:layout>
                </c:ext>
                <c:ext xmlns:c16="http://schemas.microsoft.com/office/drawing/2014/chart" uri="{C3380CC4-5D6E-409C-BE32-E72D297353CC}">
                  <c16:uniqueId val="{00000003-98EB-4632-A13B-1DCCB1C5F9D6}"/>
                </c:ext>
              </c:extLst>
            </c:dLbl>
            <c:dLbl>
              <c:idx val="3"/>
              <c:dLblPos val="outEnd"/>
              <c:showLegendKey val="0"/>
              <c:showVal val="1"/>
              <c:showCatName val="0"/>
              <c:showSerName val="0"/>
              <c:showPercent val="0"/>
              <c:showBubbleSize val="0"/>
              <c:extLst>
                <c:ext xmlns:c15="http://schemas.microsoft.com/office/drawing/2012/chart" uri="{CE6537A1-D6FC-4f65-9D91-7224C49458BB}">
                  <c15:layout>
                    <c:manualLayout>
                      <c:w val="0.23987597144924483"/>
                      <c:h val="0.17470071005441234"/>
                    </c:manualLayout>
                  </c15:layout>
                </c:ext>
                <c:ext xmlns:c16="http://schemas.microsoft.com/office/drawing/2014/chart" uri="{C3380CC4-5D6E-409C-BE32-E72D297353CC}">
                  <c16:uniqueId val="{00000004-98EB-4632-A13B-1DCCB1C5F9D6}"/>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Sheet1!$U$85:$X$85</c:f>
              <c:numCache>
                <c:formatCode>#,##0</c:formatCode>
                <c:ptCount val="4"/>
                <c:pt idx="0">
                  <c:v>438857</c:v>
                </c:pt>
                <c:pt idx="1">
                  <c:v>484969</c:v>
                </c:pt>
                <c:pt idx="2">
                  <c:v>525784</c:v>
                </c:pt>
                <c:pt idx="3">
                  <c:v>582201</c:v>
                </c:pt>
              </c:numCache>
            </c:numRef>
          </c:val>
          <c:extLst>
            <c:ext xmlns:c16="http://schemas.microsoft.com/office/drawing/2014/chart" uri="{C3380CC4-5D6E-409C-BE32-E72D297353CC}">
              <c16:uniqueId val="{00000000-98EB-4632-A13B-1DCCB1C5F9D6}"/>
            </c:ext>
          </c:extLst>
        </c:ser>
        <c:dLbls>
          <c:dLblPos val="outEnd"/>
          <c:showLegendKey val="0"/>
          <c:showVal val="1"/>
          <c:showCatName val="0"/>
          <c:showSerName val="0"/>
          <c:showPercent val="0"/>
          <c:showBubbleSize val="0"/>
        </c:dLbls>
        <c:gapWidth val="219"/>
        <c:overlap val="-27"/>
        <c:axId val="1089917615"/>
        <c:axId val="1089918095"/>
      </c:barChart>
      <c:catAx>
        <c:axId val="1089917615"/>
        <c:scaling>
          <c:orientation val="minMax"/>
        </c:scaling>
        <c:delete val="1"/>
        <c:axPos val="b"/>
        <c:numFmt formatCode="General" sourceLinked="1"/>
        <c:majorTickMark val="none"/>
        <c:minorTickMark val="none"/>
        <c:tickLblPos val="nextTo"/>
        <c:crossAx val="1089918095"/>
        <c:crosses val="autoZero"/>
        <c:auto val="1"/>
        <c:lblAlgn val="ctr"/>
        <c:lblOffset val="100"/>
        <c:noMultiLvlLbl val="0"/>
      </c:catAx>
      <c:valAx>
        <c:axId val="1089918095"/>
        <c:scaling>
          <c:orientation val="minMax"/>
        </c:scaling>
        <c:delete val="1"/>
        <c:axPos val="l"/>
        <c:numFmt formatCode="#,##0" sourceLinked="1"/>
        <c:majorTickMark val="none"/>
        <c:minorTickMark val="none"/>
        <c:tickLblPos val="nextTo"/>
        <c:crossAx val="108991761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barChart>
        <c:barDir val="col"/>
        <c:grouping val="clustered"/>
        <c:varyColors val="0"/>
        <c:ser>
          <c:idx val="0"/>
          <c:order val="0"/>
          <c:tx>
            <c:strRef>
              <c:f>Sheet1!$S$86</c:f>
              <c:strCache>
                <c:ptCount val="1"/>
                <c:pt idx="0">
                  <c:v>2. Net Profit (₹ Million)</c:v>
                </c:pt>
              </c:strCache>
            </c:strRef>
          </c:tx>
          <c:spPr>
            <a:solidFill>
              <a:schemeClr val="accent6"/>
            </a:solidFill>
            <a:ln>
              <a:noFill/>
            </a:ln>
            <a:effectLst/>
          </c:spPr>
          <c:invertIfNegative val="0"/>
          <c:dLbls>
            <c:dLbl>
              <c:idx val="2"/>
              <c:dLblPos val="outEnd"/>
              <c:showLegendKey val="0"/>
              <c:showVal val="1"/>
              <c:showCatName val="0"/>
              <c:showSerName val="0"/>
              <c:showPercent val="0"/>
              <c:showBubbleSize val="0"/>
              <c:extLst>
                <c:ext xmlns:c15="http://schemas.microsoft.com/office/drawing/2012/chart" uri="{CE6537A1-D6FC-4f65-9D91-7224C49458BB}">
                  <c15:layout>
                    <c:manualLayout>
                      <c:w val="0.2504688604511987"/>
                      <c:h val="0.17470071005441234"/>
                    </c:manualLayout>
                  </c15:layout>
                </c:ext>
                <c:ext xmlns:c16="http://schemas.microsoft.com/office/drawing/2014/chart" uri="{C3380CC4-5D6E-409C-BE32-E72D297353CC}">
                  <c16:uniqueId val="{00000002-70B8-4DC0-9141-152FE1548485}"/>
                </c:ext>
              </c:extLst>
            </c:dLbl>
            <c:dLbl>
              <c:idx val="3"/>
              <c:dLblPos val="outEnd"/>
              <c:showLegendKey val="0"/>
              <c:showVal val="1"/>
              <c:showCatName val="0"/>
              <c:showSerName val="0"/>
              <c:showPercent val="0"/>
              <c:showBubbleSize val="0"/>
              <c:extLst>
                <c:ext xmlns:c15="http://schemas.microsoft.com/office/drawing/2012/chart" uri="{CE6537A1-D6FC-4f65-9D91-7224C49458BB}">
                  <c15:layout>
                    <c:manualLayout>
                      <c:w val="0.22928308244729098"/>
                      <c:h val="0.17470071005441234"/>
                    </c:manualLayout>
                  </c15:layout>
                </c:ext>
                <c:ext xmlns:c16="http://schemas.microsoft.com/office/drawing/2014/chart" uri="{C3380CC4-5D6E-409C-BE32-E72D297353CC}">
                  <c16:uniqueId val="{00000001-70B8-4DC0-9141-152FE1548485}"/>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Sheet1!$U$86:$X$86</c:f>
              <c:numCache>
                <c:formatCode>#,##0</c:formatCode>
                <c:ptCount val="4"/>
                <c:pt idx="0">
                  <c:v>84736</c:v>
                </c:pt>
                <c:pt idx="1">
                  <c:v>95764</c:v>
                </c:pt>
                <c:pt idx="2">
                  <c:v>109290</c:v>
                </c:pt>
                <c:pt idx="3">
                  <c:v>114794</c:v>
                </c:pt>
              </c:numCache>
            </c:numRef>
          </c:val>
          <c:extLst>
            <c:ext xmlns:c16="http://schemas.microsoft.com/office/drawing/2014/chart" uri="{C3380CC4-5D6E-409C-BE32-E72D297353CC}">
              <c16:uniqueId val="{00000000-70B8-4DC0-9141-152FE1548485}"/>
            </c:ext>
          </c:extLst>
        </c:ser>
        <c:dLbls>
          <c:dLblPos val="outEnd"/>
          <c:showLegendKey val="0"/>
          <c:showVal val="1"/>
          <c:showCatName val="0"/>
          <c:showSerName val="0"/>
          <c:showPercent val="0"/>
          <c:showBubbleSize val="0"/>
        </c:dLbls>
        <c:gapWidth val="219"/>
        <c:overlap val="-27"/>
        <c:axId val="953067231"/>
        <c:axId val="953061679"/>
      </c:barChart>
      <c:catAx>
        <c:axId val="953067231"/>
        <c:scaling>
          <c:orientation val="minMax"/>
        </c:scaling>
        <c:delete val="1"/>
        <c:axPos val="b"/>
        <c:numFmt formatCode="General" sourceLinked="1"/>
        <c:majorTickMark val="none"/>
        <c:minorTickMark val="none"/>
        <c:tickLblPos val="nextTo"/>
        <c:crossAx val="953061679"/>
        <c:crosses val="autoZero"/>
        <c:auto val="1"/>
        <c:lblAlgn val="ctr"/>
        <c:lblOffset val="100"/>
        <c:noMultiLvlLbl val="0"/>
      </c:catAx>
      <c:valAx>
        <c:axId val="953061679"/>
        <c:scaling>
          <c:orientation val="minMax"/>
        </c:scaling>
        <c:delete val="1"/>
        <c:axPos val="l"/>
        <c:numFmt formatCode="#,##0" sourceLinked="1"/>
        <c:majorTickMark val="none"/>
        <c:minorTickMark val="none"/>
        <c:tickLblPos val="nextTo"/>
        <c:crossAx val="953067231"/>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barChart>
        <c:barDir val="col"/>
        <c:grouping val="clustered"/>
        <c:varyColors val="0"/>
        <c:ser>
          <c:idx val="0"/>
          <c:order val="0"/>
          <c:tx>
            <c:strRef>
              <c:f>Sheet1!$S$87</c:f>
              <c:strCache>
                <c:ptCount val="1"/>
                <c:pt idx="0">
                  <c:v>3. Avg. Total Assets (₹ Million)</c:v>
                </c:pt>
              </c:strCache>
            </c:strRef>
          </c:tx>
          <c:spPr>
            <a:solidFill>
              <a:schemeClr val="accent6"/>
            </a:solidFill>
            <a:ln>
              <a:noFill/>
            </a:ln>
            <a:effectLst/>
          </c:spPr>
          <c:invertIfNegative val="0"/>
          <c:dLbls>
            <c:dLbl>
              <c:idx val="0"/>
              <c:dLblPos val="outEnd"/>
              <c:showLegendKey val="0"/>
              <c:showVal val="1"/>
              <c:showCatName val="0"/>
              <c:showSerName val="0"/>
              <c:showPercent val="0"/>
              <c:showBubbleSize val="0"/>
              <c:extLst>
                <c:ext xmlns:c15="http://schemas.microsoft.com/office/drawing/2012/chart" uri="{CE6537A1-D6FC-4f65-9D91-7224C49458BB}">
                  <c15:layout>
                    <c:manualLayout>
                      <c:w val="0.22360689963076374"/>
                      <c:h val="0.17470099878251003"/>
                    </c:manualLayout>
                  </c15:layout>
                </c:ext>
                <c:ext xmlns:c16="http://schemas.microsoft.com/office/drawing/2014/chart" uri="{C3380CC4-5D6E-409C-BE32-E72D297353CC}">
                  <c16:uniqueId val="{00000001-E738-4661-858E-C998A024F6BD}"/>
                </c:ext>
              </c:extLst>
            </c:dLbl>
            <c:dLbl>
              <c:idx val="1"/>
              <c:dLblPos val="outEnd"/>
              <c:showLegendKey val="0"/>
              <c:showVal val="1"/>
              <c:showCatName val="0"/>
              <c:showSerName val="0"/>
              <c:showPercent val="0"/>
              <c:showBubbleSize val="0"/>
              <c:extLst>
                <c:ext xmlns:c15="http://schemas.microsoft.com/office/drawing/2012/chart" uri="{CE6537A1-D6FC-4f65-9D91-7224C49458BB}">
                  <c15:layout>
                    <c:manualLayout>
                      <c:w val="0.22360689963076374"/>
                      <c:h val="0.17470099878251003"/>
                    </c:manualLayout>
                  </c15:layout>
                </c:ext>
                <c:ext xmlns:c16="http://schemas.microsoft.com/office/drawing/2014/chart" uri="{C3380CC4-5D6E-409C-BE32-E72D297353CC}">
                  <c16:uniqueId val="{00000002-E738-4661-858E-C998A024F6BD}"/>
                </c:ext>
              </c:extLst>
            </c:dLbl>
            <c:dLbl>
              <c:idx val="2"/>
              <c:dLblPos val="outEnd"/>
              <c:showLegendKey val="0"/>
              <c:showVal val="1"/>
              <c:showCatName val="0"/>
              <c:showSerName val="0"/>
              <c:showPercent val="0"/>
              <c:showBubbleSize val="0"/>
              <c:extLst>
                <c:ext xmlns:c15="http://schemas.microsoft.com/office/drawing/2012/chart" uri="{CE6537A1-D6FC-4f65-9D91-7224C49458BB}">
                  <c15:layout>
                    <c:manualLayout>
                      <c:w val="0.23443794344915869"/>
                      <c:h val="0.17470099878251003"/>
                    </c:manualLayout>
                  </c15:layout>
                </c:ext>
                <c:ext xmlns:c16="http://schemas.microsoft.com/office/drawing/2014/chart" uri="{C3380CC4-5D6E-409C-BE32-E72D297353CC}">
                  <c16:uniqueId val="{00000003-E738-4661-858E-C998A024F6BD}"/>
                </c:ext>
              </c:extLst>
            </c:dLbl>
            <c:dLbl>
              <c:idx val="3"/>
              <c:dLblPos val="outEnd"/>
              <c:showLegendKey val="0"/>
              <c:showVal val="1"/>
              <c:showCatName val="0"/>
              <c:showSerName val="0"/>
              <c:showPercent val="0"/>
              <c:showBubbleSize val="0"/>
              <c:extLst>
                <c:ext xmlns:c15="http://schemas.microsoft.com/office/drawing/2012/chart" uri="{CE6537A1-D6FC-4f65-9D91-7224C49458BB}">
                  <c15:layout>
                    <c:manualLayout>
                      <c:w val="0.2598196844413761"/>
                      <c:h val="0.17470099878251003"/>
                    </c:manualLayout>
                  </c15:layout>
                </c:ext>
                <c:ext xmlns:c16="http://schemas.microsoft.com/office/drawing/2014/chart" uri="{C3380CC4-5D6E-409C-BE32-E72D297353CC}">
                  <c16:uniqueId val="{00000004-E738-4661-858E-C998A024F6BD}"/>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Sheet1!$U$87:$X$87</c:f>
              <c:numCache>
                <c:formatCode>#,##0</c:formatCode>
                <c:ptCount val="4"/>
                <c:pt idx="0">
                  <c:v>765448</c:v>
                </c:pt>
                <c:pt idx="1">
                  <c:v>831032</c:v>
                </c:pt>
                <c:pt idx="2">
                  <c:v>888337</c:v>
                </c:pt>
                <c:pt idx="3">
                  <c:v>1004429</c:v>
                </c:pt>
              </c:numCache>
            </c:numRef>
          </c:val>
          <c:extLst>
            <c:ext xmlns:c16="http://schemas.microsoft.com/office/drawing/2014/chart" uri="{C3380CC4-5D6E-409C-BE32-E72D297353CC}">
              <c16:uniqueId val="{00000000-E738-4661-858E-C998A024F6BD}"/>
            </c:ext>
          </c:extLst>
        </c:ser>
        <c:dLbls>
          <c:dLblPos val="outEnd"/>
          <c:showLegendKey val="0"/>
          <c:showVal val="1"/>
          <c:showCatName val="0"/>
          <c:showSerName val="0"/>
          <c:showPercent val="0"/>
          <c:showBubbleSize val="0"/>
        </c:dLbls>
        <c:gapWidth val="219"/>
        <c:overlap val="-27"/>
        <c:axId val="850087439"/>
        <c:axId val="850085039"/>
      </c:barChart>
      <c:catAx>
        <c:axId val="850087439"/>
        <c:scaling>
          <c:orientation val="minMax"/>
        </c:scaling>
        <c:delete val="1"/>
        <c:axPos val="b"/>
        <c:numFmt formatCode="General" sourceLinked="1"/>
        <c:majorTickMark val="none"/>
        <c:minorTickMark val="none"/>
        <c:tickLblPos val="nextTo"/>
        <c:crossAx val="850085039"/>
        <c:crosses val="autoZero"/>
        <c:auto val="1"/>
        <c:lblAlgn val="ctr"/>
        <c:lblOffset val="100"/>
        <c:noMultiLvlLbl val="0"/>
      </c:catAx>
      <c:valAx>
        <c:axId val="850085039"/>
        <c:scaling>
          <c:orientation val="minMax"/>
        </c:scaling>
        <c:delete val="1"/>
        <c:axPos val="l"/>
        <c:numFmt formatCode="#,##0" sourceLinked="1"/>
        <c:majorTickMark val="none"/>
        <c:minorTickMark val="none"/>
        <c:tickLblPos val="nextTo"/>
        <c:crossAx val="850087439"/>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barChart>
        <c:barDir val="col"/>
        <c:grouping val="clustered"/>
        <c:varyColors val="0"/>
        <c:ser>
          <c:idx val="0"/>
          <c:order val="0"/>
          <c:tx>
            <c:strRef>
              <c:f>Sheet1!$S$88</c:f>
              <c:strCache>
                <c:ptCount val="1"/>
                <c:pt idx="0">
                  <c:v>4. ROE (%)</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Sheet1!$U$88:$X$88</c:f>
              <c:numCache>
                <c:formatCode>0.00%</c:formatCode>
                <c:ptCount val="4"/>
                <c:pt idx="0">
                  <c:v>0.16289999999999999</c:v>
                </c:pt>
                <c:pt idx="1">
                  <c:v>0.16009999999999999</c:v>
                </c:pt>
                <c:pt idx="2">
                  <c:v>0.16089999999999999</c:v>
                </c:pt>
                <c:pt idx="3">
                  <c:v>0.1474</c:v>
                </c:pt>
              </c:numCache>
            </c:numRef>
          </c:val>
          <c:extLst>
            <c:ext xmlns:c16="http://schemas.microsoft.com/office/drawing/2014/chart" uri="{C3380CC4-5D6E-409C-BE32-E72D297353CC}">
              <c16:uniqueId val="{00000000-2163-4A2E-9632-8FA749B847BD}"/>
            </c:ext>
          </c:extLst>
        </c:ser>
        <c:dLbls>
          <c:dLblPos val="outEnd"/>
          <c:showLegendKey val="0"/>
          <c:showVal val="1"/>
          <c:showCatName val="0"/>
          <c:showSerName val="0"/>
          <c:showPercent val="0"/>
          <c:showBubbleSize val="0"/>
        </c:dLbls>
        <c:gapWidth val="219"/>
        <c:overlap val="-27"/>
        <c:axId val="1277065887"/>
        <c:axId val="1277061087"/>
      </c:barChart>
      <c:catAx>
        <c:axId val="1277065887"/>
        <c:scaling>
          <c:orientation val="minMax"/>
        </c:scaling>
        <c:delete val="1"/>
        <c:axPos val="b"/>
        <c:numFmt formatCode="General" sourceLinked="1"/>
        <c:majorTickMark val="none"/>
        <c:minorTickMark val="none"/>
        <c:tickLblPos val="nextTo"/>
        <c:crossAx val="1277061087"/>
        <c:crosses val="autoZero"/>
        <c:auto val="1"/>
        <c:lblAlgn val="ctr"/>
        <c:lblOffset val="100"/>
        <c:noMultiLvlLbl val="0"/>
      </c:catAx>
      <c:valAx>
        <c:axId val="1277061087"/>
        <c:scaling>
          <c:orientation val="minMax"/>
        </c:scaling>
        <c:delete val="1"/>
        <c:axPos val="l"/>
        <c:numFmt formatCode="0.00%" sourceLinked="1"/>
        <c:majorTickMark val="none"/>
        <c:minorTickMark val="none"/>
        <c:tickLblPos val="nextTo"/>
        <c:crossAx val="127706588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barChart>
        <c:barDir val="col"/>
        <c:grouping val="clustered"/>
        <c:varyColors val="0"/>
        <c:ser>
          <c:idx val="0"/>
          <c:order val="0"/>
          <c:tx>
            <c:strRef>
              <c:f>Sheet1!$S$89</c:f>
              <c:strCache>
                <c:ptCount val="1"/>
                <c:pt idx="0">
                  <c:v>5. ROA (%)</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Sheet1!$U$89:$X$89</c:f>
              <c:numCache>
                <c:formatCode>0.00%</c:formatCode>
                <c:ptCount val="4"/>
                <c:pt idx="0">
                  <c:v>0.11070000000000001</c:v>
                </c:pt>
                <c:pt idx="1">
                  <c:v>0.1152</c:v>
                </c:pt>
                <c:pt idx="2">
                  <c:v>0.123</c:v>
                </c:pt>
                <c:pt idx="3">
                  <c:v>0.1143</c:v>
                </c:pt>
              </c:numCache>
            </c:numRef>
          </c:val>
          <c:extLst>
            <c:ext xmlns:c16="http://schemas.microsoft.com/office/drawing/2014/chart" uri="{C3380CC4-5D6E-409C-BE32-E72D297353CC}">
              <c16:uniqueId val="{00000000-B563-4157-BC8A-AE2BD5CE49A1}"/>
            </c:ext>
          </c:extLst>
        </c:ser>
        <c:dLbls>
          <c:dLblPos val="outEnd"/>
          <c:showLegendKey val="0"/>
          <c:showVal val="1"/>
          <c:showCatName val="0"/>
          <c:showSerName val="0"/>
          <c:showPercent val="0"/>
          <c:showBubbleSize val="0"/>
        </c:dLbls>
        <c:gapWidth val="219"/>
        <c:overlap val="-27"/>
        <c:axId val="848343951"/>
        <c:axId val="848344431"/>
      </c:barChart>
      <c:catAx>
        <c:axId val="848343951"/>
        <c:scaling>
          <c:orientation val="minMax"/>
        </c:scaling>
        <c:delete val="1"/>
        <c:axPos val="b"/>
        <c:numFmt formatCode="General" sourceLinked="1"/>
        <c:majorTickMark val="none"/>
        <c:minorTickMark val="none"/>
        <c:tickLblPos val="nextTo"/>
        <c:crossAx val="848344431"/>
        <c:crosses val="autoZero"/>
        <c:auto val="1"/>
        <c:lblAlgn val="ctr"/>
        <c:lblOffset val="100"/>
        <c:noMultiLvlLbl val="0"/>
      </c:catAx>
      <c:valAx>
        <c:axId val="848344431"/>
        <c:scaling>
          <c:orientation val="minMax"/>
        </c:scaling>
        <c:delete val="1"/>
        <c:axPos val="l"/>
        <c:numFmt formatCode="0.00%" sourceLinked="1"/>
        <c:majorTickMark val="none"/>
        <c:minorTickMark val="none"/>
        <c:tickLblPos val="nextTo"/>
        <c:crossAx val="848343951"/>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barChart>
        <c:barDir val="col"/>
        <c:grouping val="clustered"/>
        <c:varyColors val="0"/>
        <c:ser>
          <c:idx val="0"/>
          <c:order val="0"/>
          <c:spPr>
            <a:solidFill>
              <a:schemeClr val="accent6"/>
            </a:solidFill>
            <a:ln>
              <a:noFill/>
            </a:ln>
            <a:effectLst/>
          </c:spPr>
          <c:invertIfNegative val="0"/>
          <c:cat>
            <c:strRef>
              <c:f>Sheet2!$Q$2:$Q$3</c:f>
              <c:strCache>
                <c:ptCount val="2"/>
                <c:pt idx="0">
                  <c:v>Change in Market Capitalisation </c:v>
                </c:pt>
                <c:pt idx="1">
                  <c:v>Cumulative Retained Earnings </c:v>
                </c:pt>
              </c:strCache>
            </c:strRef>
          </c:cat>
          <c:val>
            <c:numRef>
              <c:f>Sheet2!$R$2:$R$3</c:f>
              <c:numCache>
                <c:formatCode>"₹"#,##0_);[Red]\("₹"#,##0\)</c:formatCode>
                <c:ptCount val="2"/>
                <c:pt idx="0">
                  <c:v>2566000</c:v>
                </c:pt>
                <c:pt idx="1">
                  <c:v>413112</c:v>
                </c:pt>
              </c:numCache>
            </c:numRef>
          </c:val>
          <c:extLst>
            <c:ext xmlns:c16="http://schemas.microsoft.com/office/drawing/2014/chart" uri="{C3380CC4-5D6E-409C-BE32-E72D297353CC}">
              <c16:uniqueId val="{00000000-077A-4CD2-BC0D-240BA50F3BA7}"/>
            </c:ext>
          </c:extLst>
        </c:ser>
        <c:dLbls>
          <c:showLegendKey val="0"/>
          <c:showVal val="0"/>
          <c:showCatName val="0"/>
          <c:showSerName val="0"/>
          <c:showPercent val="0"/>
          <c:showBubbleSize val="0"/>
        </c:dLbls>
        <c:gapWidth val="219"/>
        <c:overlap val="-27"/>
        <c:axId val="1089696895"/>
        <c:axId val="1089697375"/>
      </c:barChart>
      <c:catAx>
        <c:axId val="10896968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89697375"/>
        <c:crosses val="autoZero"/>
        <c:auto val="1"/>
        <c:lblAlgn val="ctr"/>
        <c:lblOffset val="100"/>
        <c:noMultiLvlLbl val="0"/>
      </c:catAx>
      <c:valAx>
        <c:axId val="1089697375"/>
        <c:scaling>
          <c:orientation val="minMax"/>
        </c:scaling>
        <c:delete val="0"/>
        <c:axPos val="l"/>
        <c:majorGridlines>
          <c:spPr>
            <a:ln w="9525" cap="flat" cmpd="sng" algn="ctr">
              <a:solidFill>
                <a:schemeClr val="tx1">
                  <a:lumMod val="15000"/>
                  <a:lumOff val="85000"/>
                </a:schemeClr>
              </a:solidFill>
              <a:round/>
            </a:ln>
            <a:effectLst/>
          </c:spPr>
        </c:majorGridlines>
        <c:numFmt formatCode="&quot;₹&quot;#,##0_);[Red]\(&quot;₹&quot;#,##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8969689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NIFTY</a:t>
            </a:r>
            <a:r>
              <a:rPr lang="en-IN" baseline="0"/>
              <a:t> Pharma Vs NIFTY 50 Vs Sun Pharma</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col"/>
        <c:grouping val="clustered"/>
        <c:varyColors val="0"/>
        <c:ser>
          <c:idx val="0"/>
          <c:order val="0"/>
          <c:tx>
            <c:strRef>
              <c:f>Sheet1!$V$2</c:f>
              <c:strCache>
                <c:ptCount val="1"/>
                <c:pt idx="0">
                  <c:v>NIFTY PHARMA</c:v>
                </c:pt>
              </c:strCache>
            </c:strRef>
          </c:tx>
          <c:spPr>
            <a:solidFill>
              <a:schemeClr val="accent6">
                <a:tint val="65000"/>
              </a:schemeClr>
            </a:solidFill>
            <a:ln>
              <a:noFill/>
            </a:ln>
            <a:effectLst/>
          </c:spPr>
          <c:invertIfNegative val="0"/>
          <c:cat>
            <c:strRef>
              <c:f>Sheet1!$W$1:$AA$1</c:f>
              <c:strCache>
                <c:ptCount val="5"/>
                <c:pt idx="0">
                  <c:v>FY 21-22</c:v>
                </c:pt>
                <c:pt idx="1">
                  <c:v>FY 22-23</c:v>
                </c:pt>
                <c:pt idx="2">
                  <c:v>FY 23-24</c:v>
                </c:pt>
                <c:pt idx="3">
                  <c:v>FY 24-25</c:v>
                </c:pt>
                <c:pt idx="4">
                  <c:v>FY 25-26</c:v>
                </c:pt>
              </c:strCache>
            </c:strRef>
          </c:cat>
          <c:val>
            <c:numRef>
              <c:f>Sheet1!$W$2:$AA$2</c:f>
              <c:numCache>
                <c:formatCode>0.00%</c:formatCode>
                <c:ptCount val="5"/>
                <c:pt idx="0">
                  <c:v>8.526829630454591E-3</c:v>
                </c:pt>
                <c:pt idx="1">
                  <c:v>-0.10739182268241876</c:v>
                </c:pt>
                <c:pt idx="2">
                  <c:v>0.50596363549879309</c:v>
                </c:pt>
                <c:pt idx="3">
                  <c:v>0.11422147955257089</c:v>
                </c:pt>
                <c:pt idx="4">
                  <c:v>2.1118431779611369E-2</c:v>
                </c:pt>
              </c:numCache>
            </c:numRef>
          </c:val>
          <c:extLst>
            <c:ext xmlns:c16="http://schemas.microsoft.com/office/drawing/2014/chart" uri="{C3380CC4-5D6E-409C-BE32-E72D297353CC}">
              <c16:uniqueId val="{00000000-1E43-4DBE-8155-7B025962687D}"/>
            </c:ext>
          </c:extLst>
        </c:ser>
        <c:ser>
          <c:idx val="1"/>
          <c:order val="1"/>
          <c:tx>
            <c:strRef>
              <c:f>Sheet1!$V$3</c:f>
              <c:strCache>
                <c:ptCount val="1"/>
                <c:pt idx="0">
                  <c:v>NIFTY 50</c:v>
                </c:pt>
              </c:strCache>
            </c:strRef>
          </c:tx>
          <c:spPr>
            <a:solidFill>
              <a:schemeClr val="accent6"/>
            </a:solidFill>
            <a:ln>
              <a:noFill/>
            </a:ln>
            <a:effectLst/>
          </c:spPr>
          <c:invertIfNegative val="0"/>
          <c:cat>
            <c:strRef>
              <c:f>Sheet1!$W$1:$AA$1</c:f>
              <c:strCache>
                <c:ptCount val="5"/>
                <c:pt idx="0">
                  <c:v>FY 21-22</c:v>
                </c:pt>
                <c:pt idx="1">
                  <c:v>FY 22-23</c:v>
                </c:pt>
                <c:pt idx="2">
                  <c:v>FY 23-24</c:v>
                </c:pt>
                <c:pt idx="3">
                  <c:v>FY 24-25</c:v>
                </c:pt>
                <c:pt idx="4">
                  <c:v>FY 25-26</c:v>
                </c:pt>
              </c:strCache>
            </c:strRef>
          </c:cat>
          <c:val>
            <c:numRef>
              <c:f>Sheet1!$W$3:$AA$3</c:f>
              <c:numCache>
                <c:formatCode>0.00%</c:formatCode>
                <c:ptCount val="5"/>
                <c:pt idx="0">
                  <c:v>0.19367306627662995</c:v>
                </c:pt>
                <c:pt idx="1">
                  <c:v>1.5038693060391628E-2</c:v>
                </c:pt>
                <c:pt idx="2">
                  <c:v>0.23592028784943264</c:v>
                </c:pt>
                <c:pt idx="3">
                  <c:v>4.0455919857906641E-2</c:v>
                </c:pt>
                <c:pt idx="4">
                  <c:v>-8.2303917942648575E-2</c:v>
                </c:pt>
              </c:numCache>
            </c:numRef>
          </c:val>
          <c:extLst>
            <c:ext xmlns:c16="http://schemas.microsoft.com/office/drawing/2014/chart" uri="{C3380CC4-5D6E-409C-BE32-E72D297353CC}">
              <c16:uniqueId val="{00000001-1E43-4DBE-8155-7B025962687D}"/>
            </c:ext>
          </c:extLst>
        </c:ser>
        <c:ser>
          <c:idx val="2"/>
          <c:order val="2"/>
          <c:tx>
            <c:strRef>
              <c:f>Sheet1!$V$4</c:f>
              <c:strCache>
                <c:ptCount val="1"/>
                <c:pt idx="0">
                  <c:v>SUN PHARMA</c:v>
                </c:pt>
              </c:strCache>
            </c:strRef>
          </c:tx>
          <c:spPr>
            <a:solidFill>
              <a:schemeClr val="accent6">
                <a:shade val="65000"/>
              </a:schemeClr>
            </a:solidFill>
            <a:ln>
              <a:noFill/>
            </a:ln>
            <a:effectLst/>
          </c:spPr>
          <c:invertIfNegative val="0"/>
          <c:cat>
            <c:strRef>
              <c:f>Sheet1!$W$1:$AA$1</c:f>
              <c:strCache>
                <c:ptCount val="5"/>
                <c:pt idx="0">
                  <c:v>FY 21-22</c:v>
                </c:pt>
                <c:pt idx="1">
                  <c:v>FY 22-23</c:v>
                </c:pt>
                <c:pt idx="2">
                  <c:v>FY 23-24</c:v>
                </c:pt>
                <c:pt idx="3">
                  <c:v>FY 24-25</c:v>
                </c:pt>
                <c:pt idx="4">
                  <c:v>FY 25-26</c:v>
                </c:pt>
              </c:strCache>
            </c:strRef>
          </c:cat>
          <c:val>
            <c:numRef>
              <c:f>Sheet1!$W$4:$AA$4</c:f>
              <c:numCache>
                <c:formatCode>0.00%</c:formatCode>
                <c:ptCount val="5"/>
                <c:pt idx="0">
                  <c:v>0.39773855909542344</c:v>
                </c:pt>
                <c:pt idx="1">
                  <c:v>5.8633500242287306E-2</c:v>
                </c:pt>
                <c:pt idx="2">
                  <c:v>0.64081405356148435</c:v>
                </c:pt>
                <c:pt idx="3">
                  <c:v>0.15484987683909202</c:v>
                </c:pt>
                <c:pt idx="4">
                  <c:v>-4.0986737979588406E-2</c:v>
                </c:pt>
              </c:numCache>
            </c:numRef>
          </c:val>
          <c:extLst>
            <c:ext xmlns:c16="http://schemas.microsoft.com/office/drawing/2014/chart" uri="{C3380CC4-5D6E-409C-BE32-E72D297353CC}">
              <c16:uniqueId val="{00000002-1E43-4DBE-8155-7B025962687D}"/>
            </c:ext>
          </c:extLst>
        </c:ser>
        <c:dLbls>
          <c:showLegendKey val="0"/>
          <c:showVal val="0"/>
          <c:showCatName val="0"/>
          <c:showSerName val="0"/>
          <c:showPercent val="0"/>
          <c:showBubbleSize val="0"/>
        </c:dLbls>
        <c:gapWidth val="219"/>
        <c:overlap val="-27"/>
        <c:axId val="784258928"/>
        <c:axId val="784248848"/>
      </c:barChart>
      <c:catAx>
        <c:axId val="784258928"/>
        <c:scaling>
          <c:orientation val="minMax"/>
        </c:scaling>
        <c:delete val="1"/>
        <c:axPos val="b"/>
        <c:numFmt formatCode="General" sourceLinked="1"/>
        <c:majorTickMark val="none"/>
        <c:minorTickMark val="none"/>
        <c:tickLblPos val="nextTo"/>
        <c:crossAx val="784248848"/>
        <c:crosses val="autoZero"/>
        <c:auto val="1"/>
        <c:lblAlgn val="ctr"/>
        <c:lblOffset val="100"/>
        <c:noMultiLvlLbl val="0"/>
      </c:catAx>
      <c:valAx>
        <c:axId val="78424884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84258928"/>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9">
  <a:schemeClr val="accent6"/>
</cs:colorStyle>
</file>

<file path=ppt/charts/colors2.xml><?xml version="1.0" encoding="utf-8"?>
<cs:colorStyle xmlns:cs="http://schemas.microsoft.com/office/drawing/2012/chartStyle" xmlns:a="http://schemas.openxmlformats.org/drawingml/2006/main" meth="withinLinear" id="19">
  <a:schemeClr val="accent6"/>
</cs:colorStyle>
</file>

<file path=ppt/charts/colors3.xml><?xml version="1.0" encoding="utf-8"?>
<cs:colorStyle xmlns:cs="http://schemas.microsoft.com/office/drawing/2012/chartStyle" xmlns:a="http://schemas.openxmlformats.org/drawingml/2006/main" meth="withinLinear" id="19">
  <a:schemeClr val="accent6"/>
</cs:colorStyle>
</file>

<file path=ppt/charts/colors4.xml><?xml version="1.0" encoding="utf-8"?>
<cs:colorStyle xmlns:cs="http://schemas.microsoft.com/office/drawing/2012/chartStyle" xmlns:a="http://schemas.openxmlformats.org/drawingml/2006/main" meth="withinLinearReversed" id="26">
  <a:schemeClr val="accent6"/>
</cs:colorStyle>
</file>

<file path=ppt/charts/colors5.xml><?xml version="1.0" encoding="utf-8"?>
<cs:colorStyle xmlns:cs="http://schemas.microsoft.com/office/drawing/2012/chartStyle" xmlns:a="http://schemas.openxmlformats.org/drawingml/2006/main" meth="withinLinearReversed" id="26">
  <a:schemeClr val="accent6"/>
</cs:colorStyle>
</file>

<file path=ppt/charts/colors6.xml><?xml version="1.0" encoding="utf-8"?>
<cs:colorStyle xmlns:cs="http://schemas.microsoft.com/office/drawing/2012/chartStyle" xmlns:a="http://schemas.openxmlformats.org/drawingml/2006/main" meth="withinLinearReversed" id="26">
  <a:schemeClr val="accent6"/>
</cs:colorStyle>
</file>

<file path=ppt/charts/colors7.xml><?xml version="1.0" encoding="utf-8"?>
<cs:colorStyle xmlns:cs="http://schemas.microsoft.com/office/drawing/2012/chartStyle" xmlns:a="http://schemas.openxmlformats.org/drawingml/2006/main" meth="withinLinearReversed" id="26">
  <a:schemeClr val="accent6"/>
</cs:colorStyle>
</file>

<file path=ppt/charts/colors8.xml><?xml version="1.0" encoding="utf-8"?>
<cs:colorStyle xmlns:cs="http://schemas.microsoft.com/office/drawing/2012/chartStyle" xmlns:a="http://schemas.openxmlformats.org/drawingml/2006/main" meth="withinLinearReversed" id="26">
  <a:schemeClr val="accent6"/>
</cs:colorStyle>
</file>

<file path=ppt/charts/colors9.xml><?xml version="1.0" encoding="utf-8"?>
<cs:colorStyle xmlns:cs="http://schemas.microsoft.com/office/drawing/2012/chartStyle" xmlns:a="http://schemas.openxmlformats.org/drawingml/2006/main" meth="withinLinearReversed" id="26">
  <a:schemeClr val="accent6"/>
</cs:colorStyle>
</file>

<file path=ppt/charts/colors10.xml><?xml version="1.0" encoding="utf-8"?>
<cs:colorStyle xmlns:cs="http://schemas.microsoft.com/office/drawing/2012/chartStyle" xmlns:a="http://schemas.openxmlformats.org/drawingml/2006/main" meth="withinLinearReversed" id="26">
  <a:schemeClr val="accent6"/>
</cs:colorStyle>
</file>

<file path=ppt/charts/colors11.xml><?xml version="1.0" encoding="utf-8"?>
<cs:colorStyle xmlns:cs="http://schemas.microsoft.com/office/drawing/2012/chartStyle" xmlns:a="http://schemas.openxmlformats.org/drawingml/2006/main" meth="withinLinearReversed" id="26">
  <a:schemeClr val="accent6"/>
</cs:colorStyle>
</file>

<file path=ppt/charts/colors12.xml><?xml version="1.0" encoding="utf-8"?>
<cs:colorStyle xmlns:cs="http://schemas.microsoft.com/office/drawing/2012/chartStyle" xmlns:a="http://schemas.openxmlformats.org/drawingml/2006/main" meth="withinLinear" id="19">
  <a:schemeClr val="accent6"/>
</cs:colorStyle>
</file>

<file path=ppt/charts/colors13.xml><?xml version="1.0" encoding="utf-8"?>
<cs:colorStyle xmlns:cs="http://schemas.microsoft.com/office/drawing/2012/chartStyle" xmlns:a="http://schemas.openxmlformats.org/drawingml/2006/main" meth="withinLinear" id="19">
  <a:schemeClr val="accent6"/>
</cs:colorStyle>
</file>

<file path=ppt/charts/colors14.xml><?xml version="1.0" encoding="utf-8"?>
<cs:colorStyle xmlns:cs="http://schemas.microsoft.com/office/drawing/2012/chartStyle" xmlns:a="http://schemas.openxmlformats.org/drawingml/2006/main" meth="withinLinear" id="19">
  <a:schemeClr val="accent6"/>
</cs:colorStyle>
</file>

<file path=ppt/charts/colors15.xml><?xml version="1.0" encoding="utf-8"?>
<cs:colorStyle xmlns:cs="http://schemas.microsoft.com/office/drawing/2012/chartStyle" xmlns:a="http://schemas.openxmlformats.org/drawingml/2006/main" meth="withinLinear" id="19">
  <a:schemeClr val="accent6"/>
</cs:colorStyle>
</file>

<file path=ppt/charts/colors16.xml><?xml version="1.0" encoding="utf-8"?>
<cs:colorStyle xmlns:cs="http://schemas.microsoft.com/office/drawing/2012/chartStyle" xmlns:a="http://schemas.openxmlformats.org/drawingml/2006/main" meth="withinLinear" id="19">
  <a:schemeClr val="accent6"/>
</cs:colorStyle>
</file>

<file path=ppt/charts/colors17.xml><?xml version="1.0" encoding="utf-8"?>
<cs:colorStyle xmlns:cs="http://schemas.microsoft.com/office/drawing/2012/chartStyle" xmlns:a="http://schemas.openxmlformats.org/drawingml/2006/main" meth="withinLinear" id="19">
  <a:schemeClr val="accent6"/>
</cs:colorStyle>
</file>

<file path=ppt/charts/colors18.xml><?xml version="1.0" encoding="utf-8"?>
<cs:colorStyle xmlns:cs="http://schemas.microsoft.com/office/drawing/2012/chartStyle" xmlns:a="http://schemas.openxmlformats.org/drawingml/2006/main" meth="withinLinear" id="19">
  <a:schemeClr val="accent6"/>
</cs:colorStyle>
</file>

<file path=ppt/charts/colors19.xml><?xml version="1.0" encoding="utf-8"?>
<cs:colorStyle xmlns:cs="http://schemas.microsoft.com/office/drawing/2012/chartStyle" xmlns:a="http://schemas.openxmlformats.org/drawingml/2006/main" meth="withinLinearReversed" id="26">
  <a:schemeClr val="accent6"/>
</cs:colorStyle>
</file>

<file path=ppt/charts/colors20.xml><?xml version="1.0" encoding="utf-8"?>
<cs:colorStyle xmlns:cs="http://schemas.microsoft.com/office/drawing/2012/chartStyle" xmlns:a="http://schemas.openxmlformats.org/drawingml/2006/main" meth="withinLinearReversed" id="26">
  <a:schemeClr val="accent6"/>
</cs:colorStyle>
</file>

<file path=ppt/charts/colors21.xml><?xml version="1.0" encoding="utf-8"?>
<cs:colorStyle xmlns:cs="http://schemas.microsoft.com/office/drawing/2012/chartStyle" xmlns:a="http://schemas.openxmlformats.org/drawingml/2006/main" meth="withinLinearReversed" id="26">
  <a:schemeClr val="accent6"/>
</cs:colorStyle>
</file>

<file path=ppt/charts/colors22.xml><?xml version="1.0" encoding="utf-8"?>
<cs:colorStyle xmlns:cs="http://schemas.microsoft.com/office/drawing/2012/chartStyle" xmlns:a="http://schemas.openxmlformats.org/drawingml/2006/main" meth="withinLinearReversed" id="26">
  <a:schemeClr val="accent6"/>
</cs:colorStyle>
</file>

<file path=ppt/charts/colors23.xml><?xml version="1.0" encoding="utf-8"?>
<cs:colorStyle xmlns:cs="http://schemas.microsoft.com/office/drawing/2012/chartStyle" xmlns:a="http://schemas.openxmlformats.org/drawingml/2006/main" meth="withinLinearReversed" id="26">
  <a:schemeClr val="accent6"/>
</cs:colorStyle>
</file>

<file path=ppt/charts/colors24.xml><?xml version="1.0" encoding="utf-8"?>
<cs:colorStyle xmlns:cs="http://schemas.microsoft.com/office/drawing/2012/chartStyle" xmlns:a="http://schemas.openxmlformats.org/drawingml/2006/main" meth="withinLinearReversed" id="26">
  <a:schemeClr val="accent6"/>
</cs:colorStyle>
</file>

<file path=ppt/charts/colors25.xml><?xml version="1.0" encoding="utf-8"?>
<cs:colorStyle xmlns:cs="http://schemas.microsoft.com/office/drawing/2012/chartStyle" xmlns:a="http://schemas.openxmlformats.org/drawingml/2006/main" meth="withinLinearReversed" id="26">
  <a:schemeClr val="accent6"/>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3.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4.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5.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6.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7.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8.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09D70F-529A-4C56-982A-5DAB3D22915A}" type="datetimeFigureOut">
              <a:rPr lang="en-IN" smtClean="0"/>
              <a:t>04-08-2026</a:t>
            </a:fld>
            <a:endParaRPr lang="en-IN"/>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289BB9-E61D-4041-B7DC-C5601EEA0A6E}" type="slidenum">
              <a:rPr lang="en-IN" smtClean="0"/>
              <a:t>‹#›</a:t>
            </a:fld>
            <a:endParaRPr lang="en-IN"/>
          </a:p>
        </p:txBody>
      </p:sp>
    </p:spTree>
    <p:extLst>
      <p:ext uri="{BB962C8B-B14F-4D97-AF65-F5344CB8AC3E}">
        <p14:creationId xmlns:p14="http://schemas.microsoft.com/office/powerpoint/2010/main" val="3426533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8289BB9-E61D-4041-B7DC-C5601EEA0A6E}" type="slidenum">
              <a:rPr lang="en-IN" smtClean="0"/>
              <a:t>8</a:t>
            </a:fld>
            <a:endParaRPr lang="en-IN"/>
          </a:p>
        </p:txBody>
      </p:sp>
    </p:spTree>
    <p:extLst>
      <p:ext uri="{BB962C8B-B14F-4D97-AF65-F5344CB8AC3E}">
        <p14:creationId xmlns:p14="http://schemas.microsoft.com/office/powerpoint/2010/main" val="737590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289BB9-E61D-4041-B7DC-C5601EEA0A6E}" type="slidenum">
              <a:rPr lang="en-IN" smtClean="0"/>
              <a:t>17</a:t>
            </a:fld>
            <a:endParaRPr lang="en-IN"/>
          </a:p>
        </p:txBody>
      </p:sp>
    </p:spTree>
    <p:extLst>
      <p:ext uri="{BB962C8B-B14F-4D97-AF65-F5344CB8AC3E}">
        <p14:creationId xmlns:p14="http://schemas.microsoft.com/office/powerpoint/2010/main" val="40201505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4350" y="2834640"/>
            <a:ext cx="5829300" cy="1920240"/>
          </a:xfrm>
          <a:prstGeom prst="rect">
            <a:avLst/>
          </a:prstGeom>
        </p:spPr>
        <p:txBody>
          <a:bodyPr wrap="square" lIns="0" tIns="0" rIns="0" bIns="0">
            <a:spAutoFit/>
          </a:bodyPr>
          <a:lstStyle>
            <a:lvl1pPr>
              <a:defRPr sz="2400" b="1" i="0">
                <a:solidFill>
                  <a:srgbClr val="0D2841"/>
                </a:solidFill>
                <a:latin typeface="Calibri"/>
                <a:cs typeface="Calibri"/>
              </a:defRPr>
            </a:lvl1pPr>
          </a:lstStyle>
          <a:p>
            <a:endParaRPr/>
          </a:p>
        </p:txBody>
      </p:sp>
      <p:sp>
        <p:nvSpPr>
          <p:cNvPr id="3" name="Holder 3"/>
          <p:cNvSpPr>
            <a:spLocks noGrp="1"/>
          </p:cNvSpPr>
          <p:nvPr>
            <p:ph type="subTitle" idx="4"/>
          </p:nvPr>
        </p:nvSpPr>
        <p:spPr>
          <a:xfrm>
            <a:off x="1028700" y="5120640"/>
            <a:ext cx="4800600" cy="2286000"/>
          </a:xfrm>
          <a:prstGeom prst="rect">
            <a:avLst/>
          </a:prstGeom>
        </p:spPr>
        <p:txBody>
          <a:bodyPr wrap="square" lIns="0" tIns="0" rIns="0" bIns="0">
            <a:spAutoFit/>
          </a:bodyPr>
          <a:lstStyle>
            <a:lvl1pPr>
              <a:defRPr sz="1800" b="1" i="0">
                <a:solidFill>
                  <a:srgbClr val="17375E"/>
                </a:solidFill>
                <a:latin typeface="Calibri"/>
                <a:cs typeface="Calibri"/>
              </a:defRPr>
            </a:lvl1pPr>
          </a:lstStyle>
          <a:p>
            <a:endParaRPr/>
          </a:p>
        </p:txBody>
      </p:sp>
      <p:sp>
        <p:nvSpPr>
          <p:cNvPr id="4" name="Holder 4"/>
          <p:cNvSpPr>
            <a:spLocks noGrp="1"/>
          </p:cNvSpPr>
          <p:nvPr>
            <p:ph type="ftr" sz="quarter" idx="5"/>
          </p:nvPr>
        </p:nvSpPr>
        <p:spPr>
          <a:xfrm>
            <a:off x="103733" y="9043898"/>
            <a:ext cx="750569" cy="61620"/>
          </a:xfrm>
          <a:prstGeom prst="rect">
            <a:avLst/>
          </a:prstGeom>
        </p:spPr>
        <p:txBody>
          <a:bodyPr lIns="0" tIns="0" rIns="0" bIns="0"/>
          <a:lstStyle>
            <a:lvl1pPr>
              <a:defRPr sz="400" b="1" i="0">
                <a:solidFill>
                  <a:schemeClr val="tx1"/>
                </a:solidFill>
                <a:latin typeface="Calibri"/>
                <a:cs typeface="Calibri"/>
              </a:defRPr>
            </a:lvl1pPr>
          </a:lstStyle>
          <a:p>
            <a:pPr marL="12700">
              <a:lnSpc>
                <a:spcPts val="475"/>
              </a:lnSpc>
            </a:pPr>
            <a:r>
              <a:rPr dirty="0"/>
              <a:t>THE</a:t>
            </a:r>
            <a:r>
              <a:rPr spc="5" dirty="0"/>
              <a:t> </a:t>
            </a:r>
            <a:r>
              <a:rPr spc="-10" dirty="0"/>
              <a:t>FINANCE</a:t>
            </a:r>
            <a:r>
              <a:rPr spc="35" dirty="0"/>
              <a:t> </a:t>
            </a:r>
            <a:r>
              <a:rPr dirty="0"/>
              <a:t>&amp;</a:t>
            </a:r>
            <a:r>
              <a:rPr spc="10" dirty="0"/>
              <a:t> </a:t>
            </a:r>
            <a:r>
              <a:rPr spc="-10" dirty="0"/>
              <a:t>INVESTMENT</a:t>
            </a:r>
            <a:r>
              <a:rPr spc="35" dirty="0"/>
              <a:t> </a:t>
            </a:r>
            <a:r>
              <a:rPr spc="-20" dirty="0"/>
              <a:t>CELL</a:t>
            </a:r>
          </a:p>
        </p:txBody>
      </p:sp>
      <p:sp>
        <p:nvSpPr>
          <p:cNvPr id="5" name="Holder 5"/>
          <p:cNvSpPr>
            <a:spLocks noGrp="1"/>
          </p:cNvSpPr>
          <p:nvPr>
            <p:ph type="dt" sz="half" idx="6"/>
          </p:nvPr>
        </p:nvSpPr>
        <p:spPr>
          <a:xfrm>
            <a:off x="342900" y="8503920"/>
            <a:ext cx="1577340" cy="4572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8/4/2026</a:t>
            </a:fld>
            <a:endParaRPr lang="en-US"/>
          </a:p>
        </p:txBody>
      </p:sp>
      <p:sp>
        <p:nvSpPr>
          <p:cNvPr id="6" name="Holder 6"/>
          <p:cNvSpPr>
            <a:spLocks noGrp="1"/>
          </p:cNvSpPr>
          <p:nvPr>
            <p:ph type="sldNum" sz="quarter" idx="7"/>
          </p:nvPr>
        </p:nvSpPr>
        <p:spPr>
          <a:xfrm>
            <a:off x="6454521" y="8882050"/>
            <a:ext cx="243840" cy="203834"/>
          </a:xfrm>
          <a:prstGeom prst="rect">
            <a:avLst/>
          </a:prstGeom>
        </p:spPr>
        <p:txBody>
          <a:bodyPr lIns="0" tIns="0" rIns="0" bIns="0"/>
          <a:lstStyle>
            <a:lvl1pPr>
              <a:defRPr sz="1400" b="1" i="0">
                <a:solidFill>
                  <a:schemeClr val="tx1"/>
                </a:solidFill>
                <a:latin typeface="Calibri"/>
                <a:cs typeface="Calibri"/>
              </a:defRPr>
            </a:lvl1pPr>
          </a:lstStyle>
          <a:p>
            <a:pPr marL="12700">
              <a:lnSpc>
                <a:spcPts val="143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76276" y="513968"/>
            <a:ext cx="3092450" cy="391159"/>
          </a:xfrm>
          <a:prstGeom prst="rect">
            <a:avLst/>
          </a:prstGeom>
        </p:spPr>
        <p:txBody>
          <a:bodyPr lIns="0" tIns="0" rIns="0" bIns="0"/>
          <a:lstStyle>
            <a:lvl1pPr>
              <a:defRPr sz="2400" b="1" i="0">
                <a:solidFill>
                  <a:srgbClr val="0D2841"/>
                </a:solidFill>
                <a:latin typeface="Calibri"/>
                <a:cs typeface="Calibri"/>
              </a:defRPr>
            </a:lvl1pPr>
          </a:lstStyle>
          <a:p>
            <a:endParaRPr/>
          </a:p>
        </p:txBody>
      </p:sp>
      <p:sp>
        <p:nvSpPr>
          <p:cNvPr id="3" name="Holder 3"/>
          <p:cNvSpPr>
            <a:spLocks noGrp="1"/>
          </p:cNvSpPr>
          <p:nvPr>
            <p:ph type="body" idx="1"/>
          </p:nvPr>
        </p:nvSpPr>
        <p:spPr>
          <a:xfrm>
            <a:off x="232663" y="3799014"/>
            <a:ext cx="3109595" cy="2315210"/>
          </a:xfrm>
          <a:prstGeom prst="rect">
            <a:avLst/>
          </a:prstGeom>
        </p:spPr>
        <p:txBody>
          <a:bodyPr lIns="0" tIns="0" rIns="0" bIns="0"/>
          <a:lstStyle>
            <a:lvl1pPr>
              <a:defRPr sz="1800" b="1" i="0">
                <a:solidFill>
                  <a:srgbClr val="17375E"/>
                </a:solidFill>
                <a:latin typeface="Calibri"/>
                <a:cs typeface="Calibri"/>
              </a:defRPr>
            </a:lvl1pPr>
          </a:lstStyle>
          <a:p>
            <a:endParaRPr/>
          </a:p>
        </p:txBody>
      </p:sp>
      <p:sp>
        <p:nvSpPr>
          <p:cNvPr id="4" name="Holder 4"/>
          <p:cNvSpPr>
            <a:spLocks noGrp="1"/>
          </p:cNvSpPr>
          <p:nvPr>
            <p:ph type="ftr" sz="quarter" idx="5"/>
          </p:nvPr>
        </p:nvSpPr>
        <p:spPr>
          <a:xfrm>
            <a:off x="103733" y="9043898"/>
            <a:ext cx="750569" cy="61620"/>
          </a:xfrm>
          <a:prstGeom prst="rect">
            <a:avLst/>
          </a:prstGeom>
        </p:spPr>
        <p:txBody>
          <a:bodyPr lIns="0" tIns="0" rIns="0" bIns="0"/>
          <a:lstStyle>
            <a:lvl1pPr>
              <a:defRPr sz="400" b="1" i="0">
                <a:solidFill>
                  <a:schemeClr val="tx1"/>
                </a:solidFill>
                <a:latin typeface="Calibri"/>
                <a:cs typeface="Calibri"/>
              </a:defRPr>
            </a:lvl1pPr>
          </a:lstStyle>
          <a:p>
            <a:pPr marL="12700">
              <a:lnSpc>
                <a:spcPts val="475"/>
              </a:lnSpc>
            </a:pPr>
            <a:r>
              <a:rPr dirty="0"/>
              <a:t>THE</a:t>
            </a:r>
            <a:r>
              <a:rPr spc="5" dirty="0"/>
              <a:t> </a:t>
            </a:r>
            <a:r>
              <a:rPr spc="-10" dirty="0"/>
              <a:t>FINANCE</a:t>
            </a:r>
            <a:r>
              <a:rPr spc="35" dirty="0"/>
              <a:t> </a:t>
            </a:r>
            <a:r>
              <a:rPr dirty="0"/>
              <a:t>&amp;</a:t>
            </a:r>
            <a:r>
              <a:rPr spc="10" dirty="0"/>
              <a:t> </a:t>
            </a:r>
            <a:r>
              <a:rPr spc="-10" dirty="0"/>
              <a:t>INVESTMENT</a:t>
            </a:r>
            <a:r>
              <a:rPr spc="35" dirty="0"/>
              <a:t> </a:t>
            </a:r>
            <a:r>
              <a:rPr spc="-20" dirty="0"/>
              <a:t>CELL</a:t>
            </a:r>
          </a:p>
        </p:txBody>
      </p:sp>
      <p:sp>
        <p:nvSpPr>
          <p:cNvPr id="5" name="Holder 5"/>
          <p:cNvSpPr>
            <a:spLocks noGrp="1"/>
          </p:cNvSpPr>
          <p:nvPr>
            <p:ph type="dt" sz="half" idx="6"/>
          </p:nvPr>
        </p:nvSpPr>
        <p:spPr>
          <a:xfrm>
            <a:off x="342900" y="8503920"/>
            <a:ext cx="1577340" cy="4572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8/4/2026</a:t>
            </a:fld>
            <a:endParaRPr lang="en-US"/>
          </a:p>
        </p:txBody>
      </p:sp>
      <p:sp>
        <p:nvSpPr>
          <p:cNvPr id="6" name="Holder 6"/>
          <p:cNvSpPr>
            <a:spLocks noGrp="1"/>
          </p:cNvSpPr>
          <p:nvPr>
            <p:ph type="sldNum" sz="quarter" idx="7"/>
          </p:nvPr>
        </p:nvSpPr>
        <p:spPr>
          <a:xfrm>
            <a:off x="6454521" y="8882050"/>
            <a:ext cx="243840" cy="203834"/>
          </a:xfrm>
          <a:prstGeom prst="rect">
            <a:avLst/>
          </a:prstGeom>
        </p:spPr>
        <p:txBody>
          <a:bodyPr lIns="0" tIns="0" rIns="0" bIns="0"/>
          <a:lstStyle>
            <a:lvl1pPr>
              <a:defRPr sz="1400" b="1" i="0">
                <a:solidFill>
                  <a:schemeClr val="tx1"/>
                </a:solidFill>
                <a:latin typeface="Calibri"/>
                <a:cs typeface="Calibri"/>
              </a:defRPr>
            </a:lvl1pPr>
          </a:lstStyle>
          <a:p>
            <a:pPr marL="12700">
              <a:lnSpc>
                <a:spcPts val="143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76276" y="513968"/>
            <a:ext cx="3092450" cy="391159"/>
          </a:xfrm>
          <a:prstGeom prst="rect">
            <a:avLst/>
          </a:prstGeom>
        </p:spPr>
        <p:txBody>
          <a:bodyPr lIns="0" tIns="0" rIns="0" bIns="0"/>
          <a:lstStyle>
            <a:lvl1pPr>
              <a:defRPr sz="2400" b="1" i="0">
                <a:solidFill>
                  <a:srgbClr val="0D2841"/>
                </a:solidFill>
                <a:latin typeface="Calibri"/>
                <a:cs typeface="Calibri"/>
              </a:defRPr>
            </a:lvl1pPr>
          </a:lstStyle>
          <a:p>
            <a:endParaRPr/>
          </a:p>
        </p:txBody>
      </p:sp>
      <p:sp>
        <p:nvSpPr>
          <p:cNvPr id="3" name="Holder 3"/>
          <p:cNvSpPr>
            <a:spLocks noGrp="1"/>
          </p:cNvSpPr>
          <p:nvPr>
            <p:ph sz="half" idx="2"/>
          </p:nvPr>
        </p:nvSpPr>
        <p:spPr>
          <a:xfrm>
            <a:off x="342900" y="2103120"/>
            <a:ext cx="2983230" cy="603504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531870" y="2103120"/>
            <a:ext cx="2983230" cy="603504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103733" y="9043898"/>
            <a:ext cx="750569" cy="61620"/>
          </a:xfrm>
          <a:prstGeom prst="rect">
            <a:avLst/>
          </a:prstGeom>
        </p:spPr>
        <p:txBody>
          <a:bodyPr lIns="0" tIns="0" rIns="0" bIns="0"/>
          <a:lstStyle>
            <a:lvl1pPr>
              <a:defRPr sz="400" b="1" i="0">
                <a:solidFill>
                  <a:schemeClr val="tx1"/>
                </a:solidFill>
                <a:latin typeface="Calibri"/>
                <a:cs typeface="Calibri"/>
              </a:defRPr>
            </a:lvl1pPr>
          </a:lstStyle>
          <a:p>
            <a:pPr marL="12700">
              <a:lnSpc>
                <a:spcPts val="475"/>
              </a:lnSpc>
            </a:pPr>
            <a:r>
              <a:rPr dirty="0"/>
              <a:t>THE</a:t>
            </a:r>
            <a:r>
              <a:rPr spc="5" dirty="0"/>
              <a:t> </a:t>
            </a:r>
            <a:r>
              <a:rPr spc="-10" dirty="0"/>
              <a:t>FINANCE</a:t>
            </a:r>
            <a:r>
              <a:rPr spc="35" dirty="0"/>
              <a:t> </a:t>
            </a:r>
            <a:r>
              <a:rPr dirty="0"/>
              <a:t>&amp;</a:t>
            </a:r>
            <a:r>
              <a:rPr spc="10" dirty="0"/>
              <a:t> </a:t>
            </a:r>
            <a:r>
              <a:rPr spc="-10" dirty="0"/>
              <a:t>INVESTMENT</a:t>
            </a:r>
            <a:r>
              <a:rPr spc="35" dirty="0"/>
              <a:t> </a:t>
            </a:r>
            <a:r>
              <a:rPr spc="-20" dirty="0"/>
              <a:t>CELL</a:t>
            </a:r>
          </a:p>
        </p:txBody>
      </p:sp>
      <p:sp>
        <p:nvSpPr>
          <p:cNvPr id="6" name="Holder 6"/>
          <p:cNvSpPr>
            <a:spLocks noGrp="1"/>
          </p:cNvSpPr>
          <p:nvPr>
            <p:ph type="dt" sz="half" idx="6"/>
          </p:nvPr>
        </p:nvSpPr>
        <p:spPr>
          <a:xfrm>
            <a:off x="342900" y="8503920"/>
            <a:ext cx="1577340" cy="4572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8/4/2026</a:t>
            </a:fld>
            <a:endParaRPr lang="en-US"/>
          </a:p>
        </p:txBody>
      </p:sp>
      <p:sp>
        <p:nvSpPr>
          <p:cNvPr id="7" name="Holder 7"/>
          <p:cNvSpPr>
            <a:spLocks noGrp="1"/>
          </p:cNvSpPr>
          <p:nvPr>
            <p:ph type="sldNum" sz="quarter" idx="7"/>
          </p:nvPr>
        </p:nvSpPr>
        <p:spPr>
          <a:xfrm>
            <a:off x="6454521" y="8882050"/>
            <a:ext cx="243840" cy="203834"/>
          </a:xfrm>
          <a:prstGeom prst="rect">
            <a:avLst/>
          </a:prstGeom>
        </p:spPr>
        <p:txBody>
          <a:bodyPr lIns="0" tIns="0" rIns="0" bIns="0"/>
          <a:lstStyle>
            <a:lvl1pPr>
              <a:defRPr sz="1400" b="1" i="0">
                <a:solidFill>
                  <a:schemeClr val="tx1"/>
                </a:solidFill>
                <a:latin typeface="Calibri"/>
                <a:cs typeface="Calibri"/>
              </a:defRPr>
            </a:lvl1pPr>
          </a:lstStyle>
          <a:p>
            <a:pPr marL="12700">
              <a:lnSpc>
                <a:spcPts val="143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76276" y="513968"/>
            <a:ext cx="3092450" cy="391159"/>
          </a:xfrm>
          <a:prstGeom prst="rect">
            <a:avLst/>
          </a:prstGeom>
        </p:spPr>
        <p:txBody>
          <a:bodyPr lIns="0" tIns="0" rIns="0" bIns="0"/>
          <a:lstStyle>
            <a:lvl1pPr>
              <a:defRPr sz="2400" b="1" i="0">
                <a:solidFill>
                  <a:srgbClr val="0D2841"/>
                </a:solidFill>
                <a:latin typeface="Calibri"/>
                <a:cs typeface="Calibri"/>
              </a:defRPr>
            </a:lvl1pPr>
          </a:lstStyle>
          <a:p>
            <a:endParaRPr/>
          </a:p>
        </p:txBody>
      </p:sp>
      <p:sp>
        <p:nvSpPr>
          <p:cNvPr id="3" name="Holder 3"/>
          <p:cNvSpPr>
            <a:spLocks noGrp="1"/>
          </p:cNvSpPr>
          <p:nvPr>
            <p:ph type="ftr" sz="quarter" idx="5"/>
          </p:nvPr>
        </p:nvSpPr>
        <p:spPr>
          <a:xfrm>
            <a:off x="103733" y="9043898"/>
            <a:ext cx="750569" cy="61620"/>
          </a:xfrm>
          <a:prstGeom prst="rect">
            <a:avLst/>
          </a:prstGeom>
        </p:spPr>
        <p:txBody>
          <a:bodyPr lIns="0" tIns="0" rIns="0" bIns="0"/>
          <a:lstStyle>
            <a:lvl1pPr>
              <a:defRPr sz="400" b="1" i="0">
                <a:solidFill>
                  <a:schemeClr val="tx1"/>
                </a:solidFill>
                <a:latin typeface="Calibri"/>
                <a:cs typeface="Calibri"/>
              </a:defRPr>
            </a:lvl1pPr>
          </a:lstStyle>
          <a:p>
            <a:pPr marL="12700">
              <a:lnSpc>
                <a:spcPts val="475"/>
              </a:lnSpc>
            </a:pPr>
            <a:r>
              <a:rPr dirty="0"/>
              <a:t>THE</a:t>
            </a:r>
            <a:r>
              <a:rPr spc="5" dirty="0"/>
              <a:t> </a:t>
            </a:r>
            <a:r>
              <a:rPr spc="-10" dirty="0"/>
              <a:t>FINANCE</a:t>
            </a:r>
            <a:r>
              <a:rPr spc="35" dirty="0"/>
              <a:t> </a:t>
            </a:r>
            <a:r>
              <a:rPr dirty="0"/>
              <a:t>&amp;</a:t>
            </a:r>
            <a:r>
              <a:rPr spc="10" dirty="0"/>
              <a:t> </a:t>
            </a:r>
            <a:r>
              <a:rPr spc="-10" dirty="0"/>
              <a:t>INVESTMENT</a:t>
            </a:r>
            <a:r>
              <a:rPr spc="35" dirty="0"/>
              <a:t> </a:t>
            </a:r>
            <a:r>
              <a:rPr spc="-20" dirty="0"/>
              <a:t>CELL</a:t>
            </a:r>
          </a:p>
        </p:txBody>
      </p:sp>
      <p:sp>
        <p:nvSpPr>
          <p:cNvPr id="4" name="Holder 4"/>
          <p:cNvSpPr>
            <a:spLocks noGrp="1"/>
          </p:cNvSpPr>
          <p:nvPr>
            <p:ph type="dt" sz="half" idx="6"/>
          </p:nvPr>
        </p:nvSpPr>
        <p:spPr>
          <a:xfrm>
            <a:off x="342900" y="8503920"/>
            <a:ext cx="1577340" cy="4572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8/4/2026</a:t>
            </a:fld>
            <a:endParaRPr lang="en-US"/>
          </a:p>
        </p:txBody>
      </p:sp>
      <p:sp>
        <p:nvSpPr>
          <p:cNvPr id="5" name="Holder 5"/>
          <p:cNvSpPr>
            <a:spLocks noGrp="1"/>
          </p:cNvSpPr>
          <p:nvPr>
            <p:ph type="sldNum" sz="quarter" idx="7"/>
          </p:nvPr>
        </p:nvSpPr>
        <p:spPr>
          <a:xfrm>
            <a:off x="6454521" y="8882050"/>
            <a:ext cx="243840" cy="203834"/>
          </a:xfrm>
          <a:prstGeom prst="rect">
            <a:avLst/>
          </a:prstGeom>
        </p:spPr>
        <p:txBody>
          <a:bodyPr lIns="0" tIns="0" rIns="0" bIns="0"/>
          <a:lstStyle>
            <a:lvl1pPr>
              <a:defRPr sz="1400" b="1" i="0">
                <a:solidFill>
                  <a:schemeClr val="tx1"/>
                </a:solidFill>
                <a:latin typeface="Calibri"/>
                <a:cs typeface="Calibri"/>
              </a:defRPr>
            </a:lvl1pPr>
          </a:lstStyle>
          <a:p>
            <a:pPr marL="12700">
              <a:lnSpc>
                <a:spcPts val="143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103733" y="9043898"/>
            <a:ext cx="750569" cy="61620"/>
          </a:xfrm>
          <a:prstGeom prst="rect">
            <a:avLst/>
          </a:prstGeom>
        </p:spPr>
        <p:txBody>
          <a:bodyPr lIns="0" tIns="0" rIns="0" bIns="0"/>
          <a:lstStyle>
            <a:lvl1pPr>
              <a:defRPr sz="400" b="1" i="0">
                <a:solidFill>
                  <a:schemeClr val="tx1"/>
                </a:solidFill>
                <a:latin typeface="Calibri"/>
                <a:cs typeface="Calibri"/>
              </a:defRPr>
            </a:lvl1pPr>
          </a:lstStyle>
          <a:p>
            <a:pPr marL="12700">
              <a:lnSpc>
                <a:spcPts val="475"/>
              </a:lnSpc>
            </a:pPr>
            <a:r>
              <a:rPr dirty="0"/>
              <a:t>THE</a:t>
            </a:r>
            <a:r>
              <a:rPr spc="5" dirty="0"/>
              <a:t> </a:t>
            </a:r>
            <a:r>
              <a:rPr spc="-10" dirty="0"/>
              <a:t>FINANCE</a:t>
            </a:r>
            <a:r>
              <a:rPr spc="35" dirty="0"/>
              <a:t> </a:t>
            </a:r>
            <a:r>
              <a:rPr dirty="0"/>
              <a:t>&amp;</a:t>
            </a:r>
            <a:r>
              <a:rPr spc="10" dirty="0"/>
              <a:t> </a:t>
            </a:r>
            <a:r>
              <a:rPr spc="-10" dirty="0"/>
              <a:t>INVESTMENT</a:t>
            </a:r>
            <a:r>
              <a:rPr spc="35" dirty="0"/>
              <a:t> </a:t>
            </a:r>
            <a:r>
              <a:rPr spc="-20" dirty="0"/>
              <a:t>CELL</a:t>
            </a:r>
          </a:p>
        </p:txBody>
      </p:sp>
      <p:sp>
        <p:nvSpPr>
          <p:cNvPr id="3" name="Holder 3"/>
          <p:cNvSpPr>
            <a:spLocks noGrp="1"/>
          </p:cNvSpPr>
          <p:nvPr>
            <p:ph type="dt" sz="half" idx="6"/>
          </p:nvPr>
        </p:nvSpPr>
        <p:spPr>
          <a:xfrm>
            <a:off x="342900" y="8503920"/>
            <a:ext cx="1577340" cy="4572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8/4/2026</a:t>
            </a:fld>
            <a:endParaRPr lang="en-US"/>
          </a:p>
        </p:txBody>
      </p:sp>
      <p:sp>
        <p:nvSpPr>
          <p:cNvPr id="4" name="Holder 4"/>
          <p:cNvSpPr>
            <a:spLocks noGrp="1"/>
          </p:cNvSpPr>
          <p:nvPr>
            <p:ph type="sldNum" sz="quarter" idx="7"/>
          </p:nvPr>
        </p:nvSpPr>
        <p:spPr>
          <a:xfrm>
            <a:off x="6454521" y="8882050"/>
            <a:ext cx="243840" cy="203834"/>
          </a:xfrm>
          <a:prstGeom prst="rect">
            <a:avLst/>
          </a:prstGeom>
        </p:spPr>
        <p:txBody>
          <a:bodyPr lIns="0" tIns="0" rIns="0" bIns="0"/>
          <a:lstStyle>
            <a:lvl1pPr>
              <a:defRPr sz="1400" b="1" i="0">
                <a:solidFill>
                  <a:schemeClr val="tx1"/>
                </a:solidFill>
                <a:latin typeface="Calibri"/>
                <a:cs typeface="Calibri"/>
              </a:defRPr>
            </a:lvl1pPr>
          </a:lstStyle>
          <a:p>
            <a:pPr marL="12700">
              <a:lnSpc>
                <a:spcPts val="143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chart" Target="../charts/chart7.xml"/><Relationship Id="rId4" Type="http://schemas.openxmlformats.org/officeDocument/2006/relationships/chart" Target="../charts/chart6.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chart" Target="../charts/chart11.xml"/><Relationship Id="rId5" Type="http://schemas.openxmlformats.org/officeDocument/2006/relationships/chart" Target="../charts/chart10.xml"/><Relationship Id="rId4" Type="http://schemas.openxmlformats.org/officeDocument/2006/relationships/chart" Target="../charts/chart9.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chart" Target="../charts/chart13.xml"/></Relationships>
</file>

<file path=ppt/slides/_rels/slide16.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chart" Target="../charts/chart15.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chart" Target="../charts/chart18.xml"/><Relationship Id="rId5" Type="http://schemas.openxmlformats.org/officeDocument/2006/relationships/chart" Target="../charts/chart17.xml"/><Relationship Id="rId4" Type="http://schemas.openxmlformats.org/officeDocument/2006/relationships/chart" Target="../charts/chart16.xml"/></Relationships>
</file>

<file path=ppt/slides/_rels/slide1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chart" Target="../charts/chart19.xml"/><Relationship Id="rId7" Type="http://schemas.openxmlformats.org/officeDocument/2006/relationships/chart" Target="../charts/chart23.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chart" Target="../charts/chart22.xml"/><Relationship Id="rId5" Type="http://schemas.openxmlformats.org/officeDocument/2006/relationships/chart" Target="../charts/chart21.xml"/><Relationship Id="rId10" Type="http://schemas.openxmlformats.org/officeDocument/2006/relationships/image" Target="../media/image19.png"/><Relationship Id="rId4" Type="http://schemas.openxmlformats.org/officeDocument/2006/relationships/chart" Target="../charts/chart20.xml"/><Relationship Id="rId9"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chart" Target="../charts/chart24.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6EBD9-EF50-5727-A3CF-E5BBE11726A1}"/>
            </a:ext>
          </a:extLst>
        </p:cNvPr>
        <p:cNvGrpSpPr/>
        <p:nvPr/>
      </p:nvGrpSpPr>
      <p:grpSpPr>
        <a:xfrm>
          <a:off x="0" y="0"/>
          <a:ext cx="0" cy="0"/>
          <a:chOff x="0" y="0"/>
          <a:chExt cx="0" cy="0"/>
        </a:xfrm>
      </p:grpSpPr>
      <p:sp>
        <p:nvSpPr>
          <p:cNvPr id="17" name="object 2">
            <a:extLst>
              <a:ext uri="{FF2B5EF4-FFF2-40B4-BE49-F238E27FC236}">
                <a16:creationId xmlns:a16="http://schemas.microsoft.com/office/drawing/2014/main" id="{BA991C0D-BB06-53D1-9AA9-1AEDE3B911B5}"/>
              </a:ext>
            </a:extLst>
          </p:cNvPr>
          <p:cNvSpPr/>
          <p:nvPr/>
        </p:nvSpPr>
        <p:spPr>
          <a:xfrm>
            <a:off x="223314" y="6805064"/>
            <a:ext cx="6411369" cy="369332"/>
          </a:xfrm>
          <a:custGeom>
            <a:avLst/>
            <a:gdLst/>
            <a:ahLst/>
            <a:cxnLst/>
            <a:rect l="l" t="t" r="r" b="b"/>
            <a:pathLst>
              <a:path w="7296784" h="401319">
                <a:moveTo>
                  <a:pt x="7296359" y="400830"/>
                </a:moveTo>
                <a:lnTo>
                  <a:pt x="0" y="400830"/>
                </a:lnTo>
                <a:lnTo>
                  <a:pt x="0" y="0"/>
                </a:lnTo>
                <a:lnTo>
                  <a:pt x="7296359" y="0"/>
                </a:lnTo>
                <a:lnTo>
                  <a:pt x="7296359" y="400830"/>
                </a:lnTo>
                <a:close/>
              </a:path>
            </a:pathLst>
          </a:custGeom>
          <a:solidFill>
            <a:srgbClr val="E46C0A"/>
          </a:solidFill>
        </p:spPr>
        <p:txBody>
          <a:bodyPr wrap="square" lIns="0" tIns="0" rIns="0" bIns="0" rtlCol="0"/>
          <a:lstStyle/>
          <a:p>
            <a:endParaRPr/>
          </a:p>
        </p:txBody>
      </p:sp>
      <p:grpSp>
        <p:nvGrpSpPr>
          <p:cNvPr id="2" name="object 2">
            <a:extLst>
              <a:ext uri="{FF2B5EF4-FFF2-40B4-BE49-F238E27FC236}">
                <a16:creationId xmlns:a16="http://schemas.microsoft.com/office/drawing/2014/main" id="{DD622F63-19CB-8375-B91F-1B090CB23C4F}"/>
              </a:ext>
            </a:extLst>
          </p:cNvPr>
          <p:cNvGrpSpPr/>
          <p:nvPr/>
        </p:nvGrpSpPr>
        <p:grpSpPr>
          <a:xfrm>
            <a:off x="0" y="0"/>
            <a:ext cx="6858000" cy="1625597"/>
            <a:chOff x="0" y="0"/>
            <a:chExt cx="6858000" cy="1625597"/>
          </a:xfrm>
        </p:grpSpPr>
        <p:sp>
          <p:nvSpPr>
            <p:cNvPr id="3" name="object 3">
              <a:extLst>
                <a:ext uri="{FF2B5EF4-FFF2-40B4-BE49-F238E27FC236}">
                  <a16:creationId xmlns:a16="http://schemas.microsoft.com/office/drawing/2014/main" id="{330A5F9B-E834-FCD9-1AEA-A80E8B5D3A6F}"/>
                </a:ext>
              </a:extLst>
            </p:cNvPr>
            <p:cNvSpPr/>
            <p:nvPr/>
          </p:nvSpPr>
          <p:spPr>
            <a:xfrm>
              <a:off x="0" y="0"/>
              <a:ext cx="6858000" cy="949325"/>
            </a:xfrm>
            <a:custGeom>
              <a:avLst/>
              <a:gdLst/>
              <a:ahLst/>
              <a:cxnLst/>
              <a:rect l="l" t="t" r="r" b="b"/>
              <a:pathLst>
                <a:path w="6858000" h="949325">
                  <a:moveTo>
                    <a:pt x="0" y="949198"/>
                  </a:moveTo>
                  <a:lnTo>
                    <a:pt x="6858000" y="949198"/>
                  </a:lnTo>
                  <a:lnTo>
                    <a:pt x="6858000" y="0"/>
                  </a:lnTo>
                  <a:lnTo>
                    <a:pt x="0" y="0"/>
                  </a:lnTo>
                  <a:lnTo>
                    <a:pt x="0" y="949198"/>
                  </a:lnTo>
                  <a:close/>
                </a:path>
              </a:pathLst>
            </a:custGeom>
            <a:solidFill>
              <a:schemeClr val="accent6">
                <a:lumMod val="75000"/>
              </a:schemeClr>
            </a:solidFill>
          </p:spPr>
          <p:txBody>
            <a:bodyPr wrap="square" lIns="0" tIns="0" rIns="0" bIns="0" rtlCol="0"/>
            <a:lstStyle/>
            <a:p>
              <a:endParaRPr/>
            </a:p>
          </p:txBody>
        </p:sp>
        <p:sp>
          <p:nvSpPr>
            <p:cNvPr id="4" name="object 4">
              <a:extLst>
                <a:ext uri="{FF2B5EF4-FFF2-40B4-BE49-F238E27FC236}">
                  <a16:creationId xmlns:a16="http://schemas.microsoft.com/office/drawing/2014/main" id="{EC901757-00D2-DBF9-A15D-9804A81227DE}"/>
                </a:ext>
              </a:extLst>
            </p:cNvPr>
            <p:cNvSpPr/>
            <p:nvPr/>
          </p:nvSpPr>
          <p:spPr>
            <a:xfrm>
              <a:off x="0" y="316227"/>
              <a:ext cx="4147185" cy="1309370"/>
            </a:xfrm>
            <a:custGeom>
              <a:avLst/>
              <a:gdLst/>
              <a:ahLst/>
              <a:cxnLst/>
              <a:rect l="l" t="t" r="r" b="b"/>
              <a:pathLst>
                <a:path w="4147185" h="1309370">
                  <a:moveTo>
                    <a:pt x="3492246" y="0"/>
                  </a:moveTo>
                  <a:lnTo>
                    <a:pt x="0" y="0"/>
                  </a:lnTo>
                  <a:lnTo>
                    <a:pt x="0" y="1309243"/>
                  </a:lnTo>
                  <a:lnTo>
                    <a:pt x="3492246" y="1309243"/>
                  </a:lnTo>
                  <a:lnTo>
                    <a:pt x="4146804" y="654685"/>
                  </a:lnTo>
                  <a:lnTo>
                    <a:pt x="3492246" y="0"/>
                  </a:lnTo>
                  <a:close/>
                </a:path>
              </a:pathLst>
            </a:custGeom>
            <a:solidFill>
              <a:srgbClr val="FFFFFF"/>
            </a:solidFill>
          </p:spPr>
          <p:txBody>
            <a:bodyPr wrap="square" lIns="0" tIns="0" rIns="0" bIns="0" rtlCol="0"/>
            <a:lstStyle/>
            <a:p>
              <a:endParaRPr dirty="0"/>
            </a:p>
          </p:txBody>
        </p:sp>
      </p:grpSp>
      <p:sp>
        <p:nvSpPr>
          <p:cNvPr id="5" name="object 5">
            <a:extLst>
              <a:ext uri="{FF2B5EF4-FFF2-40B4-BE49-F238E27FC236}">
                <a16:creationId xmlns:a16="http://schemas.microsoft.com/office/drawing/2014/main" id="{66FC8EAB-BE07-FCAE-651F-02147AE750C0}"/>
              </a:ext>
            </a:extLst>
          </p:cNvPr>
          <p:cNvSpPr txBox="1"/>
          <p:nvPr/>
        </p:nvSpPr>
        <p:spPr>
          <a:xfrm>
            <a:off x="147015" y="4952"/>
            <a:ext cx="2081530" cy="247015"/>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FFFFFF"/>
                </a:solidFill>
                <a:latin typeface="Calibri"/>
                <a:cs typeface="Calibri"/>
              </a:rPr>
              <a:t>EQUITY</a:t>
            </a:r>
            <a:r>
              <a:rPr sz="1450" b="1" spc="-65" dirty="0">
                <a:solidFill>
                  <a:srgbClr val="FFFFFF"/>
                </a:solidFill>
                <a:latin typeface="Calibri"/>
                <a:cs typeface="Calibri"/>
              </a:rPr>
              <a:t> </a:t>
            </a:r>
            <a:r>
              <a:rPr sz="1450" b="1" dirty="0">
                <a:solidFill>
                  <a:srgbClr val="FFFFFF"/>
                </a:solidFill>
                <a:latin typeface="Calibri"/>
                <a:cs typeface="Calibri"/>
              </a:rPr>
              <a:t>RESEARCH</a:t>
            </a:r>
            <a:r>
              <a:rPr sz="1450" b="1" spc="-60" dirty="0">
                <a:solidFill>
                  <a:srgbClr val="FFFFFF"/>
                </a:solidFill>
                <a:latin typeface="Calibri"/>
                <a:cs typeface="Calibri"/>
              </a:rPr>
              <a:t> </a:t>
            </a:r>
            <a:r>
              <a:rPr sz="1450" b="1" spc="-10" dirty="0">
                <a:solidFill>
                  <a:srgbClr val="FFFFFF"/>
                </a:solidFill>
                <a:latin typeface="Calibri"/>
                <a:cs typeface="Calibri"/>
              </a:rPr>
              <a:t>REPORT</a:t>
            </a:r>
            <a:endParaRPr sz="1450">
              <a:latin typeface="Calibri"/>
              <a:cs typeface="Calibri"/>
            </a:endParaRPr>
          </a:p>
        </p:txBody>
      </p:sp>
      <p:sp>
        <p:nvSpPr>
          <p:cNvPr id="40" name="object 40">
            <a:extLst>
              <a:ext uri="{FF2B5EF4-FFF2-40B4-BE49-F238E27FC236}">
                <a16:creationId xmlns:a16="http://schemas.microsoft.com/office/drawing/2014/main" id="{84940F9F-FA3D-F3DF-CD04-2E8BB35AD156}"/>
              </a:ext>
            </a:extLst>
          </p:cNvPr>
          <p:cNvSpPr txBox="1">
            <a:spLocks noGrp="1"/>
          </p:cNvSpPr>
          <p:nvPr>
            <p:ph type="title"/>
          </p:nvPr>
        </p:nvSpPr>
        <p:spPr>
          <a:xfrm>
            <a:off x="141831" y="295140"/>
            <a:ext cx="4269104" cy="289182"/>
          </a:xfrm>
          <a:prstGeom prst="rect">
            <a:avLst/>
          </a:prstGeom>
        </p:spPr>
        <p:txBody>
          <a:bodyPr vert="horz" wrap="square" lIns="0" tIns="12065" rIns="0" bIns="0" rtlCol="0">
            <a:spAutoFit/>
          </a:bodyPr>
          <a:lstStyle/>
          <a:p>
            <a:pPr marL="12700">
              <a:lnSpc>
                <a:spcPct val="100000"/>
              </a:lnSpc>
              <a:spcBef>
                <a:spcPts val="95"/>
              </a:spcBef>
            </a:pPr>
            <a:r>
              <a:rPr lang="en-GB" sz="1800" dirty="0"/>
              <a:t>Sun Pharmaceutical Industries Ltd.</a:t>
            </a:r>
            <a:endParaRPr sz="1800" dirty="0"/>
          </a:p>
        </p:txBody>
      </p:sp>
      <p:sp>
        <p:nvSpPr>
          <p:cNvPr id="41" name="object 41">
            <a:extLst>
              <a:ext uri="{FF2B5EF4-FFF2-40B4-BE49-F238E27FC236}">
                <a16:creationId xmlns:a16="http://schemas.microsoft.com/office/drawing/2014/main" id="{AC97013C-033A-6806-FDAC-982B73255B87}"/>
              </a:ext>
            </a:extLst>
          </p:cNvPr>
          <p:cNvSpPr txBox="1"/>
          <p:nvPr/>
        </p:nvSpPr>
        <p:spPr>
          <a:xfrm>
            <a:off x="141831" y="526972"/>
            <a:ext cx="3210968"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D2841"/>
                </a:solidFill>
                <a:latin typeface="Calibri"/>
                <a:cs typeface="Calibri"/>
              </a:rPr>
              <a:t>NSE</a:t>
            </a:r>
            <a:r>
              <a:rPr sz="1200" b="1" spc="-20" dirty="0">
                <a:solidFill>
                  <a:srgbClr val="0D2841"/>
                </a:solidFill>
                <a:latin typeface="Calibri"/>
                <a:cs typeface="Calibri"/>
              </a:rPr>
              <a:t> </a:t>
            </a:r>
            <a:r>
              <a:rPr sz="1200" b="1" dirty="0">
                <a:solidFill>
                  <a:srgbClr val="0D2841"/>
                </a:solidFill>
                <a:latin typeface="Calibri"/>
                <a:cs typeface="Calibri"/>
              </a:rPr>
              <a:t>:</a:t>
            </a:r>
            <a:r>
              <a:rPr lang="en-US" sz="1200" b="1" spc="-15" dirty="0">
                <a:solidFill>
                  <a:srgbClr val="0D2841"/>
                </a:solidFill>
                <a:latin typeface="Calibri"/>
                <a:cs typeface="Calibri"/>
              </a:rPr>
              <a:t> </a:t>
            </a:r>
            <a:r>
              <a:rPr lang="en-GB" sz="1200" b="1" dirty="0">
                <a:latin typeface="+mj-lt"/>
              </a:rPr>
              <a:t>SUNPHARMA</a:t>
            </a:r>
            <a:r>
              <a:rPr sz="1200" b="1" spc="10" dirty="0">
                <a:solidFill>
                  <a:srgbClr val="0D2841"/>
                </a:solidFill>
                <a:latin typeface="Calibri"/>
                <a:cs typeface="Calibri"/>
              </a:rPr>
              <a:t> </a:t>
            </a:r>
            <a:r>
              <a:rPr sz="1200" b="1" dirty="0">
                <a:solidFill>
                  <a:srgbClr val="0D2841"/>
                </a:solidFill>
                <a:latin typeface="Calibri"/>
                <a:cs typeface="Calibri"/>
              </a:rPr>
              <a:t>|</a:t>
            </a:r>
            <a:r>
              <a:rPr sz="1200" b="1" spc="-15" dirty="0">
                <a:solidFill>
                  <a:srgbClr val="0D2841"/>
                </a:solidFill>
                <a:latin typeface="Calibri"/>
                <a:cs typeface="Calibri"/>
              </a:rPr>
              <a:t> </a:t>
            </a:r>
            <a:r>
              <a:rPr sz="1200" b="1" dirty="0">
                <a:solidFill>
                  <a:srgbClr val="0D2841"/>
                </a:solidFill>
                <a:latin typeface="Calibri"/>
                <a:cs typeface="Calibri"/>
              </a:rPr>
              <a:t>BSE Code:</a:t>
            </a:r>
            <a:r>
              <a:rPr sz="1200" b="1" spc="-5" dirty="0">
                <a:solidFill>
                  <a:srgbClr val="0D2841"/>
                </a:solidFill>
                <a:latin typeface="Calibri"/>
                <a:cs typeface="Calibri"/>
              </a:rPr>
              <a:t> </a:t>
            </a:r>
            <a:r>
              <a:rPr lang="en-GB" sz="1200" b="1" dirty="0">
                <a:latin typeface="+mj-lt"/>
              </a:rPr>
              <a:t>524715</a:t>
            </a:r>
          </a:p>
        </p:txBody>
      </p:sp>
      <p:sp>
        <p:nvSpPr>
          <p:cNvPr id="57" name="object 41">
            <a:extLst>
              <a:ext uri="{FF2B5EF4-FFF2-40B4-BE49-F238E27FC236}">
                <a16:creationId xmlns:a16="http://schemas.microsoft.com/office/drawing/2014/main" id="{E2C7D87F-5577-1D91-F2E5-5F2638235800}"/>
              </a:ext>
            </a:extLst>
          </p:cNvPr>
          <p:cNvSpPr txBox="1"/>
          <p:nvPr/>
        </p:nvSpPr>
        <p:spPr>
          <a:xfrm>
            <a:off x="141831" y="686543"/>
            <a:ext cx="3210968" cy="197490"/>
          </a:xfrm>
          <a:prstGeom prst="rect">
            <a:avLst/>
          </a:prstGeom>
        </p:spPr>
        <p:txBody>
          <a:bodyPr vert="horz" wrap="square" lIns="0" tIns="12700" rIns="0" bIns="0" rtlCol="0">
            <a:spAutoFit/>
          </a:bodyPr>
          <a:lstStyle/>
          <a:p>
            <a:pPr marL="12700">
              <a:lnSpc>
                <a:spcPct val="100000"/>
              </a:lnSpc>
              <a:spcBef>
                <a:spcPts val="100"/>
              </a:spcBef>
            </a:pPr>
            <a:r>
              <a:rPr lang="en-GB" sz="1200" b="1" dirty="0">
                <a:latin typeface="Calibri "/>
              </a:rPr>
              <a:t>Pharmaceuticals &amp; Drugs</a:t>
            </a:r>
          </a:p>
        </p:txBody>
      </p:sp>
      <p:pic>
        <p:nvPicPr>
          <p:cNvPr id="59" name="Picture 58">
            <a:extLst>
              <a:ext uri="{FF2B5EF4-FFF2-40B4-BE49-F238E27FC236}">
                <a16:creationId xmlns:a16="http://schemas.microsoft.com/office/drawing/2014/main" id="{81C36343-D06D-B370-895D-67D3E387FC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04126" y="17284"/>
            <a:ext cx="1295705" cy="879830"/>
          </a:xfrm>
          <a:prstGeom prst="rect">
            <a:avLst/>
          </a:prstGeom>
        </p:spPr>
      </p:pic>
      <p:cxnSp>
        <p:nvCxnSpPr>
          <p:cNvPr id="61" name="Straight Connector 60">
            <a:extLst>
              <a:ext uri="{FF2B5EF4-FFF2-40B4-BE49-F238E27FC236}">
                <a16:creationId xmlns:a16="http://schemas.microsoft.com/office/drawing/2014/main" id="{7B7B125F-62E9-18FF-0305-3F6B6C8F140E}"/>
              </a:ext>
            </a:extLst>
          </p:cNvPr>
          <p:cNvCxnSpPr>
            <a:cxnSpLocks/>
          </p:cNvCxnSpPr>
          <p:nvPr/>
        </p:nvCxnSpPr>
        <p:spPr>
          <a:xfrm>
            <a:off x="0" y="8859394"/>
            <a:ext cx="6858000" cy="0"/>
          </a:xfrm>
          <a:prstGeom prst="line">
            <a:avLst/>
          </a:prstGeom>
          <a:ln w="41275">
            <a:solidFill>
              <a:srgbClr val="E46C0A"/>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5C13AFB9-A04C-7FF0-838D-F2FF75CA74EB}"/>
              </a:ext>
            </a:extLst>
          </p:cNvPr>
          <p:cNvSpPr txBox="1"/>
          <p:nvPr/>
        </p:nvSpPr>
        <p:spPr>
          <a:xfrm>
            <a:off x="6553200" y="8810228"/>
            <a:ext cx="667055" cy="369332"/>
          </a:xfrm>
          <a:prstGeom prst="rect">
            <a:avLst/>
          </a:prstGeom>
          <a:noFill/>
        </p:spPr>
        <p:txBody>
          <a:bodyPr wrap="square" rtlCol="0">
            <a:spAutoFit/>
          </a:bodyPr>
          <a:lstStyle/>
          <a:p>
            <a:r>
              <a:rPr lang="en-US" b="1" dirty="0">
                <a:solidFill>
                  <a:srgbClr val="E46C0A"/>
                </a:solidFill>
              </a:rPr>
              <a:t>1</a:t>
            </a:r>
            <a:endParaRPr lang="en-GB" b="1" dirty="0">
              <a:solidFill>
                <a:srgbClr val="E46C0A"/>
              </a:solidFill>
            </a:endParaRPr>
          </a:p>
        </p:txBody>
      </p:sp>
      <p:cxnSp>
        <p:nvCxnSpPr>
          <p:cNvPr id="69" name="Straight Connector 68">
            <a:extLst>
              <a:ext uri="{FF2B5EF4-FFF2-40B4-BE49-F238E27FC236}">
                <a16:creationId xmlns:a16="http://schemas.microsoft.com/office/drawing/2014/main" id="{7CE6661B-081D-1F6B-BEB1-E1FDB5DA64F7}"/>
              </a:ext>
            </a:extLst>
          </p:cNvPr>
          <p:cNvCxnSpPr>
            <a:cxnSpLocks/>
          </p:cNvCxnSpPr>
          <p:nvPr/>
        </p:nvCxnSpPr>
        <p:spPr>
          <a:xfrm flipV="1">
            <a:off x="0" y="914400"/>
            <a:ext cx="6858000" cy="37713"/>
          </a:xfrm>
          <a:prstGeom prst="line">
            <a:avLst/>
          </a:prstGeom>
          <a:ln>
            <a:solidFill>
              <a:srgbClr val="E46C0A"/>
            </a:solidFill>
          </a:ln>
        </p:spPr>
        <p:style>
          <a:lnRef idx="1">
            <a:schemeClr val="accent1"/>
          </a:lnRef>
          <a:fillRef idx="0">
            <a:schemeClr val="accent1"/>
          </a:fillRef>
          <a:effectRef idx="0">
            <a:schemeClr val="accent1"/>
          </a:effectRef>
          <a:fontRef idx="minor">
            <a:schemeClr val="tx1"/>
          </a:fontRef>
        </p:style>
      </p:cxnSp>
      <p:sp>
        <p:nvSpPr>
          <p:cNvPr id="7" name="object 18">
            <a:extLst>
              <a:ext uri="{FF2B5EF4-FFF2-40B4-BE49-F238E27FC236}">
                <a16:creationId xmlns:a16="http://schemas.microsoft.com/office/drawing/2014/main" id="{59BF144D-A9D5-40F3-2E65-D0D2F91DD774}"/>
              </a:ext>
            </a:extLst>
          </p:cNvPr>
          <p:cNvSpPr txBox="1"/>
          <p:nvPr/>
        </p:nvSpPr>
        <p:spPr>
          <a:xfrm>
            <a:off x="244116" y="1459346"/>
            <a:ext cx="6292215" cy="1597873"/>
          </a:xfrm>
          <a:prstGeom prst="rect">
            <a:avLst/>
          </a:prstGeom>
        </p:spPr>
        <p:txBody>
          <a:bodyPr vert="horz" wrap="square" lIns="0" tIns="12700" rIns="0" bIns="0" rtlCol="0">
            <a:spAutoFit/>
          </a:bodyPr>
          <a:lstStyle/>
          <a:p>
            <a:pPr marL="86360" algn="just">
              <a:lnSpc>
                <a:spcPct val="100000"/>
              </a:lnSpc>
              <a:spcBef>
                <a:spcPts val="100"/>
              </a:spcBef>
            </a:pPr>
            <a:endParaRPr lang="en-IN" sz="500" b="1" spc="-10" dirty="0">
              <a:latin typeface="+mj-lt"/>
              <a:cs typeface="Calibri"/>
            </a:endParaRPr>
          </a:p>
          <a:p>
            <a:pPr algn="just" rtl="0"/>
            <a:r>
              <a:rPr lang="en-US" sz="1400" b="1" dirty="0">
                <a:solidFill>
                  <a:srgbClr val="E36B0C"/>
                </a:solidFill>
                <a:latin typeface="+mn-lt"/>
              </a:rPr>
              <a:t>INTRODUCTION</a:t>
            </a:r>
          </a:p>
          <a:p>
            <a:pPr algn="just" rtl="0"/>
            <a:r>
              <a:rPr lang="en-US" sz="1200" dirty="0">
                <a:latin typeface="+mn-lt"/>
              </a:rPr>
              <a:t>Sun Pharma started as a domestic branded-formulations player and scaled largely through acquisitions: US entry via Caraco (1998), Taro for US dermatology (FY10, fully absorbed FY24), DUSA for innovative medicines entry (FY13), and </a:t>
            </a:r>
            <a:r>
              <a:rPr lang="en-US" sz="1200" dirty="0" err="1">
                <a:latin typeface="+mn-lt"/>
              </a:rPr>
              <a:t>Odomzo</a:t>
            </a:r>
            <a:r>
              <a:rPr lang="en-US" sz="1200" dirty="0">
                <a:latin typeface="+mn-lt"/>
              </a:rPr>
              <a:t> and </a:t>
            </a:r>
            <a:r>
              <a:rPr lang="en-US" sz="1200" dirty="0" err="1">
                <a:latin typeface="+mn-lt"/>
              </a:rPr>
              <a:t>Cequa</a:t>
            </a:r>
            <a:r>
              <a:rPr lang="en-US" sz="1200" dirty="0">
                <a:latin typeface="+mn-lt"/>
              </a:rPr>
              <a:t> access via the Novartis and Ocular Technologies deals (FY17). Its 2014 Ranbaxy acquisition remains its largest deal to date, giving it generics scale and its OTC entry through Volini and Revital. Since the mid-2010s it has deliberately pivoted from commodity US generics toward patent-protected specialty medicines, a shift continuing through </a:t>
            </a:r>
            <a:r>
              <a:rPr lang="en-US" sz="1200" dirty="0" err="1">
                <a:latin typeface="+mn-lt"/>
              </a:rPr>
              <a:t>Leqselvi</a:t>
            </a:r>
            <a:r>
              <a:rPr lang="en-US" sz="1200" dirty="0">
                <a:latin typeface="+mn-lt"/>
              </a:rPr>
              <a:t>, </a:t>
            </a:r>
            <a:r>
              <a:rPr lang="en-US" sz="1200" dirty="0" err="1">
                <a:latin typeface="+mn-lt"/>
              </a:rPr>
              <a:t>Unloxcyt</a:t>
            </a:r>
            <a:r>
              <a:rPr lang="en-US" sz="1200" dirty="0">
                <a:latin typeface="+mn-lt"/>
              </a:rPr>
              <a:t>, and now Organon.</a:t>
            </a:r>
            <a:endParaRPr lang="en-US" sz="1200" b="1" spc="-10" dirty="0">
              <a:latin typeface="+mn-lt"/>
              <a:cs typeface="Calibri"/>
            </a:endParaRPr>
          </a:p>
        </p:txBody>
      </p:sp>
      <p:sp>
        <p:nvSpPr>
          <p:cNvPr id="12" name="object 18">
            <a:extLst>
              <a:ext uri="{FF2B5EF4-FFF2-40B4-BE49-F238E27FC236}">
                <a16:creationId xmlns:a16="http://schemas.microsoft.com/office/drawing/2014/main" id="{F4483B22-E4C9-9A0A-5346-7488E0731080}"/>
              </a:ext>
            </a:extLst>
          </p:cNvPr>
          <p:cNvSpPr txBox="1"/>
          <p:nvPr/>
        </p:nvSpPr>
        <p:spPr>
          <a:xfrm>
            <a:off x="141831" y="3181123"/>
            <a:ext cx="6377632" cy="1349087"/>
          </a:xfrm>
          <a:prstGeom prst="rect">
            <a:avLst/>
          </a:prstGeom>
        </p:spPr>
        <p:txBody>
          <a:bodyPr vert="horz" wrap="square" lIns="0" tIns="12700" rIns="0" bIns="0" rtlCol="0">
            <a:spAutoFit/>
          </a:bodyPr>
          <a:lstStyle/>
          <a:p>
            <a:pPr marL="86360" algn="l">
              <a:lnSpc>
                <a:spcPct val="100000"/>
              </a:lnSpc>
              <a:spcBef>
                <a:spcPts val="100"/>
              </a:spcBef>
            </a:pPr>
            <a:r>
              <a:rPr lang="en-IN" sz="1400" b="1" spc="-10" dirty="0">
                <a:solidFill>
                  <a:srgbClr val="E36B0C"/>
                </a:solidFill>
                <a:latin typeface="+mn-lt"/>
                <a:cs typeface="Calibri"/>
              </a:rPr>
              <a:t>BUSINESS MODEL</a:t>
            </a:r>
          </a:p>
          <a:p>
            <a:pPr marL="86360" algn="l">
              <a:lnSpc>
                <a:spcPct val="100000"/>
              </a:lnSpc>
              <a:spcBef>
                <a:spcPts val="100"/>
              </a:spcBef>
            </a:pPr>
            <a:r>
              <a:rPr lang="en-US" sz="1200" dirty="0">
                <a:latin typeface="+mn-lt"/>
              </a:rPr>
              <a:t>• </a:t>
            </a:r>
            <a:r>
              <a:rPr lang="en-US" sz="1200" b="1" dirty="0">
                <a:latin typeface="+mn-lt"/>
              </a:rPr>
              <a:t>India Branded Formulations:</a:t>
            </a:r>
            <a:r>
              <a:rPr lang="en-US" sz="1200" dirty="0">
                <a:latin typeface="+mn-lt"/>
              </a:rPr>
              <a:t> Prescription-led, highest-margin business with strong market leadership.</a:t>
            </a:r>
            <a:br>
              <a:rPr lang="en-US" sz="1200" dirty="0">
                <a:latin typeface="+mn-lt"/>
              </a:rPr>
            </a:br>
            <a:r>
              <a:rPr lang="en-US" sz="1200" dirty="0">
                <a:latin typeface="+mn-lt"/>
              </a:rPr>
              <a:t>• </a:t>
            </a:r>
            <a:r>
              <a:rPr lang="en-US" sz="1200" b="1" dirty="0">
                <a:latin typeface="+mn-lt"/>
              </a:rPr>
              <a:t>US Formulations:</a:t>
            </a:r>
            <a:r>
              <a:rPr lang="en-US" sz="1200" dirty="0">
                <a:latin typeface="+mn-lt"/>
              </a:rPr>
              <a:t> Generics and higher-margin Innovative Medicines, now the larger segment.</a:t>
            </a:r>
            <a:br>
              <a:rPr lang="en-US" sz="1200" dirty="0">
                <a:latin typeface="+mn-lt"/>
              </a:rPr>
            </a:br>
            <a:r>
              <a:rPr lang="en-US" sz="1200" dirty="0">
                <a:latin typeface="+mn-lt"/>
              </a:rPr>
              <a:t>• </a:t>
            </a:r>
            <a:r>
              <a:rPr lang="en-US" sz="1200" b="1" dirty="0">
                <a:latin typeface="+mn-lt"/>
              </a:rPr>
              <a:t>Global Innovative Medicines:</a:t>
            </a:r>
            <a:r>
              <a:rPr lang="en-US" sz="1200" dirty="0">
                <a:latin typeface="+mn-lt"/>
              </a:rPr>
              <a:t> Patent-protected portfolio driving high growth and margins.</a:t>
            </a:r>
            <a:br>
              <a:rPr lang="en-US" sz="1200" dirty="0">
                <a:latin typeface="+mn-lt"/>
              </a:rPr>
            </a:br>
            <a:r>
              <a:rPr lang="en-US" sz="1200" dirty="0">
                <a:latin typeface="+mn-lt"/>
              </a:rPr>
              <a:t>• </a:t>
            </a:r>
            <a:r>
              <a:rPr lang="en-US" sz="1200" b="1" dirty="0">
                <a:latin typeface="+mn-lt"/>
              </a:rPr>
              <a:t>Emerging Markets &amp; ROW:</a:t>
            </a:r>
            <a:r>
              <a:rPr lang="en-US" sz="1200" dirty="0">
                <a:latin typeface="+mn-lt"/>
              </a:rPr>
              <a:t> Branded generics across 100+ countries, ensuring diversification.</a:t>
            </a:r>
            <a:br>
              <a:rPr lang="en-US" sz="1200" dirty="0">
                <a:latin typeface="+mn-lt"/>
              </a:rPr>
            </a:br>
            <a:r>
              <a:rPr lang="en-US" sz="1200" dirty="0">
                <a:latin typeface="+mn-lt"/>
              </a:rPr>
              <a:t>• </a:t>
            </a:r>
            <a:r>
              <a:rPr lang="en-US" sz="1200" b="1" dirty="0">
                <a:latin typeface="+mn-lt"/>
              </a:rPr>
              <a:t>API Business:</a:t>
            </a:r>
            <a:r>
              <a:rPr lang="en-US" sz="1200" dirty="0">
                <a:latin typeface="+mn-lt"/>
              </a:rPr>
              <a:t> Internal supply and external sales with backward integration.</a:t>
            </a:r>
            <a:endParaRPr lang="en-IN" sz="1200" b="1" spc="-10" dirty="0">
              <a:solidFill>
                <a:srgbClr val="E36B0C"/>
              </a:solidFill>
              <a:latin typeface="+mn-lt"/>
              <a:cs typeface="Calibri"/>
            </a:endParaRPr>
          </a:p>
        </p:txBody>
      </p:sp>
      <p:sp>
        <p:nvSpPr>
          <p:cNvPr id="11" name="object 18">
            <a:extLst>
              <a:ext uri="{FF2B5EF4-FFF2-40B4-BE49-F238E27FC236}">
                <a16:creationId xmlns:a16="http://schemas.microsoft.com/office/drawing/2014/main" id="{53A6EE17-9901-0DAD-3F81-0D70C286D334}"/>
              </a:ext>
            </a:extLst>
          </p:cNvPr>
          <p:cNvSpPr txBox="1"/>
          <p:nvPr/>
        </p:nvSpPr>
        <p:spPr>
          <a:xfrm>
            <a:off x="141831" y="4554793"/>
            <a:ext cx="6411369" cy="1164421"/>
          </a:xfrm>
          <a:prstGeom prst="rect">
            <a:avLst/>
          </a:prstGeom>
        </p:spPr>
        <p:txBody>
          <a:bodyPr vert="horz" wrap="square" lIns="0" tIns="12700" rIns="0" bIns="0" rtlCol="0">
            <a:spAutoFit/>
          </a:bodyPr>
          <a:lstStyle/>
          <a:p>
            <a:pPr marL="86360" algn="l">
              <a:lnSpc>
                <a:spcPct val="100000"/>
              </a:lnSpc>
              <a:spcBef>
                <a:spcPts val="100"/>
              </a:spcBef>
            </a:pPr>
            <a:r>
              <a:rPr lang="en-IN" sz="1400" b="1" spc="-10" dirty="0">
                <a:solidFill>
                  <a:srgbClr val="E36B0C"/>
                </a:solidFill>
                <a:latin typeface="+mn-lt"/>
                <a:cs typeface="Calibri"/>
              </a:rPr>
              <a:t>BRAND PORTFOLIO</a:t>
            </a:r>
            <a:endParaRPr lang="en-US" sz="1200" b="1" spc="-10" dirty="0">
              <a:latin typeface="+mn-lt"/>
              <a:cs typeface="Calibri"/>
            </a:endParaRPr>
          </a:p>
          <a:p>
            <a:pPr marL="86360" algn="l">
              <a:lnSpc>
                <a:spcPct val="100000"/>
              </a:lnSpc>
              <a:spcBef>
                <a:spcPts val="100"/>
              </a:spcBef>
            </a:pPr>
            <a:r>
              <a:rPr lang="en-IN" sz="1200" dirty="0">
                <a:latin typeface="+mn-lt"/>
              </a:rPr>
              <a:t>• </a:t>
            </a:r>
            <a:r>
              <a:rPr lang="en-IN" sz="1200" b="1" dirty="0">
                <a:latin typeface="+mn-lt"/>
              </a:rPr>
              <a:t>Specialty Portfolio:</a:t>
            </a:r>
            <a:r>
              <a:rPr lang="en-IN" sz="1200" dirty="0">
                <a:latin typeface="+mn-lt"/>
              </a:rPr>
              <a:t> </a:t>
            </a:r>
            <a:r>
              <a:rPr lang="en-IN" sz="1200" dirty="0" err="1">
                <a:latin typeface="+mn-lt"/>
              </a:rPr>
              <a:t>Ilumya</a:t>
            </a:r>
            <a:r>
              <a:rPr lang="en-IN" sz="1200" dirty="0">
                <a:latin typeface="+mn-lt"/>
              </a:rPr>
              <a:t> (psoriasis), </a:t>
            </a:r>
            <a:r>
              <a:rPr lang="en-IN" sz="1200" dirty="0" err="1">
                <a:latin typeface="+mn-lt"/>
              </a:rPr>
              <a:t>Winlevi</a:t>
            </a:r>
            <a:r>
              <a:rPr lang="en-IN" sz="1200" dirty="0">
                <a:latin typeface="+mn-lt"/>
              </a:rPr>
              <a:t> (acne), </a:t>
            </a:r>
            <a:r>
              <a:rPr lang="en-IN" sz="1200" dirty="0" err="1">
                <a:latin typeface="+mn-lt"/>
              </a:rPr>
              <a:t>Cequa</a:t>
            </a:r>
            <a:r>
              <a:rPr lang="en-IN" sz="1200" dirty="0">
                <a:latin typeface="+mn-lt"/>
              </a:rPr>
              <a:t> (dry eye), </a:t>
            </a:r>
            <a:r>
              <a:rPr lang="en-IN" sz="1200" dirty="0" err="1">
                <a:latin typeface="+mn-lt"/>
              </a:rPr>
              <a:t>Odomzo</a:t>
            </a:r>
            <a:r>
              <a:rPr lang="en-IN" sz="1200" dirty="0">
                <a:latin typeface="+mn-lt"/>
              </a:rPr>
              <a:t> (oncology), </a:t>
            </a:r>
            <a:r>
              <a:rPr lang="en-IN" sz="1200" dirty="0" err="1">
                <a:latin typeface="+mn-lt"/>
              </a:rPr>
              <a:t>Leqselvi</a:t>
            </a:r>
            <a:r>
              <a:rPr lang="en-IN" sz="1200" dirty="0">
                <a:latin typeface="+mn-lt"/>
              </a:rPr>
              <a:t> (alopecia areata), and </a:t>
            </a:r>
            <a:r>
              <a:rPr lang="en-IN" sz="1200" dirty="0" err="1">
                <a:latin typeface="+mn-lt"/>
              </a:rPr>
              <a:t>Unloxcyt</a:t>
            </a:r>
            <a:r>
              <a:rPr lang="en-IN" sz="1200" dirty="0">
                <a:latin typeface="+mn-lt"/>
              </a:rPr>
              <a:t> (cutaneous squamous cell carcinoma).</a:t>
            </a:r>
            <a:br>
              <a:rPr lang="en-IN" sz="1200" dirty="0">
                <a:latin typeface="+mn-lt"/>
              </a:rPr>
            </a:br>
            <a:r>
              <a:rPr lang="en-IN" sz="1200" dirty="0">
                <a:latin typeface="+mn-lt"/>
              </a:rPr>
              <a:t>• </a:t>
            </a:r>
            <a:r>
              <a:rPr lang="en-IN" sz="1200" b="1" dirty="0">
                <a:latin typeface="+mn-lt"/>
              </a:rPr>
              <a:t>Consumer/OTC Portfolio:</a:t>
            </a:r>
            <a:r>
              <a:rPr lang="en-IN" sz="1200" dirty="0">
                <a:latin typeface="+mn-lt"/>
              </a:rPr>
              <a:t> Revital (</a:t>
            </a:r>
            <a:r>
              <a:rPr lang="en-IN" sz="1200" dirty="0" err="1">
                <a:latin typeface="+mn-lt"/>
              </a:rPr>
              <a:t>nutritionals</a:t>
            </a:r>
            <a:r>
              <a:rPr lang="en-IN" sz="1200" dirty="0">
                <a:latin typeface="+mn-lt"/>
              </a:rPr>
              <a:t>), Volini (topical analgesics), </a:t>
            </a:r>
            <a:r>
              <a:rPr lang="en-IN" sz="1200" dirty="0" err="1">
                <a:latin typeface="+mn-lt"/>
              </a:rPr>
              <a:t>Faringosept</a:t>
            </a:r>
            <a:r>
              <a:rPr lang="en-IN" sz="1200" dirty="0">
                <a:latin typeface="+mn-lt"/>
              </a:rPr>
              <a:t> (sore throat).</a:t>
            </a:r>
            <a:br>
              <a:rPr lang="en-IN" sz="1200" dirty="0">
                <a:latin typeface="+mn-lt"/>
              </a:rPr>
            </a:br>
            <a:r>
              <a:rPr lang="en-IN" sz="1200" dirty="0">
                <a:latin typeface="+mn-lt"/>
              </a:rPr>
              <a:t>• </a:t>
            </a:r>
            <a:r>
              <a:rPr lang="en-IN" sz="1200" b="1" dirty="0">
                <a:latin typeface="+mn-lt"/>
              </a:rPr>
              <a:t>Core Portfolio:</a:t>
            </a:r>
            <a:r>
              <a:rPr lang="en-IN" sz="1200" dirty="0">
                <a:latin typeface="+mn-lt"/>
              </a:rPr>
              <a:t> 2,000+ molecules across psychiatry, cardiology, diabetology, dermatology, oncology, gastroenterology, and other therapeutic areas.</a:t>
            </a:r>
            <a:endParaRPr lang="en-US" sz="1200" b="1" spc="-10" dirty="0">
              <a:latin typeface="+mn-lt"/>
              <a:cs typeface="Calibri"/>
            </a:endParaRPr>
          </a:p>
        </p:txBody>
      </p:sp>
      <p:sp>
        <p:nvSpPr>
          <p:cNvPr id="14" name="object 18">
            <a:extLst>
              <a:ext uri="{FF2B5EF4-FFF2-40B4-BE49-F238E27FC236}">
                <a16:creationId xmlns:a16="http://schemas.microsoft.com/office/drawing/2014/main" id="{2124E788-529C-3AF0-650D-9F1AA129D33B}"/>
              </a:ext>
            </a:extLst>
          </p:cNvPr>
          <p:cNvSpPr txBox="1"/>
          <p:nvPr/>
        </p:nvSpPr>
        <p:spPr>
          <a:xfrm>
            <a:off x="124962" y="5783620"/>
            <a:ext cx="6411369" cy="979755"/>
          </a:xfrm>
          <a:prstGeom prst="rect">
            <a:avLst/>
          </a:prstGeom>
        </p:spPr>
        <p:txBody>
          <a:bodyPr vert="horz" wrap="square" lIns="0" tIns="12700" rIns="0" bIns="0" rtlCol="0">
            <a:spAutoFit/>
          </a:bodyPr>
          <a:lstStyle/>
          <a:p>
            <a:pPr marL="86360" algn="l">
              <a:lnSpc>
                <a:spcPct val="100000"/>
              </a:lnSpc>
              <a:spcBef>
                <a:spcPts val="100"/>
              </a:spcBef>
            </a:pPr>
            <a:r>
              <a:rPr lang="en-IN" sz="1400" b="1" spc="-10" dirty="0">
                <a:solidFill>
                  <a:srgbClr val="E36B0C"/>
                </a:solidFill>
                <a:latin typeface="+mn-lt"/>
                <a:cs typeface="Calibri"/>
              </a:rPr>
              <a:t>PRODUCT ECOSYSTEM</a:t>
            </a:r>
          </a:p>
          <a:p>
            <a:pPr marL="86360" algn="l">
              <a:lnSpc>
                <a:spcPct val="100000"/>
              </a:lnSpc>
              <a:spcBef>
                <a:spcPts val="100"/>
              </a:spcBef>
            </a:pPr>
            <a:r>
              <a:rPr lang="en-IN" sz="1200" dirty="0">
                <a:latin typeface="+mn-lt"/>
              </a:rPr>
              <a:t>• </a:t>
            </a:r>
            <a:r>
              <a:rPr lang="en-IN" sz="1200" b="1" dirty="0">
                <a:latin typeface="+mn-lt"/>
              </a:rPr>
              <a:t>Dosage Forms:</a:t>
            </a:r>
            <a:r>
              <a:rPr lang="en-IN" sz="1200" dirty="0">
                <a:latin typeface="+mn-lt"/>
              </a:rPr>
              <a:t> Tablets, capsules, injectables, inhalers, ointments, creams, and liquids.</a:t>
            </a:r>
            <a:br>
              <a:rPr lang="en-IN" sz="1200" dirty="0">
                <a:latin typeface="+mn-lt"/>
              </a:rPr>
            </a:br>
            <a:r>
              <a:rPr lang="en-IN" sz="1200" dirty="0">
                <a:latin typeface="+mn-lt"/>
              </a:rPr>
              <a:t>• </a:t>
            </a:r>
            <a:r>
              <a:rPr lang="en-IN" sz="1200" b="1" dirty="0">
                <a:latin typeface="+mn-lt"/>
              </a:rPr>
              <a:t>Product Categories:</a:t>
            </a:r>
            <a:r>
              <a:rPr lang="en-IN" sz="1200" dirty="0">
                <a:latin typeface="+mn-lt"/>
              </a:rPr>
              <a:t> Generics, branded generics, specialty, OTC, ARVs, and APIs.</a:t>
            </a:r>
            <a:br>
              <a:rPr lang="en-IN" sz="1200" dirty="0">
                <a:latin typeface="+mn-lt"/>
              </a:rPr>
            </a:br>
            <a:r>
              <a:rPr lang="en-IN" sz="1200" dirty="0">
                <a:latin typeface="+mn-lt"/>
              </a:rPr>
              <a:t>• </a:t>
            </a:r>
            <a:r>
              <a:rPr lang="en-IN" sz="1200" b="1" dirty="0">
                <a:latin typeface="+mn-lt"/>
              </a:rPr>
              <a:t>Pipeline:</a:t>
            </a:r>
            <a:r>
              <a:rPr lang="en-IN" sz="1200" dirty="0">
                <a:latin typeface="+mn-lt"/>
              </a:rPr>
              <a:t> </a:t>
            </a:r>
            <a:r>
              <a:rPr lang="en-IN" sz="1200" dirty="0" err="1">
                <a:latin typeface="+mn-lt"/>
              </a:rPr>
              <a:t>Fibromun</a:t>
            </a:r>
            <a:r>
              <a:rPr lang="en-IN" sz="1200" dirty="0">
                <a:latin typeface="+mn-lt"/>
              </a:rPr>
              <a:t> and </a:t>
            </a:r>
            <a:r>
              <a:rPr lang="en-IN" sz="1200" dirty="0" err="1">
                <a:latin typeface="+mn-lt"/>
              </a:rPr>
              <a:t>Nidlegy</a:t>
            </a:r>
            <a:r>
              <a:rPr lang="en-IN" sz="1200" dirty="0">
                <a:latin typeface="+mn-lt"/>
              </a:rPr>
              <a:t> nearing regulatory filing; GL0034 and MM-II in clinical trials.</a:t>
            </a:r>
            <a:br>
              <a:rPr lang="en-IN" sz="1200" dirty="0">
                <a:latin typeface="+mn-lt"/>
              </a:rPr>
            </a:br>
            <a:r>
              <a:rPr lang="en-IN" sz="1200" dirty="0">
                <a:latin typeface="+mn-lt"/>
              </a:rPr>
              <a:t>• </a:t>
            </a:r>
            <a:r>
              <a:rPr lang="en-IN" sz="1200" b="1" dirty="0">
                <a:latin typeface="+mn-lt"/>
              </a:rPr>
              <a:t>Post-Organon:</a:t>
            </a:r>
            <a:r>
              <a:rPr lang="en-IN" sz="1200" dirty="0">
                <a:latin typeface="+mn-lt"/>
              </a:rPr>
              <a:t> Expands portfolio with women's health, fertility, and biosimilars.</a:t>
            </a:r>
            <a:endParaRPr lang="en-US" sz="1200" b="1" spc="-10" dirty="0">
              <a:latin typeface="+mn-lt"/>
              <a:cs typeface="Calibri"/>
            </a:endParaRPr>
          </a:p>
        </p:txBody>
      </p:sp>
      <p:sp>
        <p:nvSpPr>
          <p:cNvPr id="18" name="TextBox 17">
            <a:extLst>
              <a:ext uri="{FF2B5EF4-FFF2-40B4-BE49-F238E27FC236}">
                <a16:creationId xmlns:a16="http://schemas.microsoft.com/office/drawing/2014/main" id="{CC0FAA01-3F35-5371-B8EA-D53092876C50}"/>
              </a:ext>
            </a:extLst>
          </p:cNvPr>
          <p:cNvSpPr txBox="1"/>
          <p:nvPr/>
        </p:nvSpPr>
        <p:spPr>
          <a:xfrm>
            <a:off x="200026" y="6806335"/>
            <a:ext cx="6642734" cy="369332"/>
          </a:xfrm>
          <a:prstGeom prst="rect">
            <a:avLst/>
          </a:prstGeom>
          <a:noFill/>
        </p:spPr>
        <p:txBody>
          <a:bodyPr wrap="square">
            <a:spAutoFit/>
          </a:bodyPr>
          <a:lstStyle/>
          <a:p>
            <a:pPr algn="ctr"/>
            <a:r>
              <a:rPr lang="en-IN" b="1" dirty="0">
                <a:solidFill>
                  <a:schemeClr val="bg1"/>
                </a:solidFill>
                <a:latin typeface="+mn-lt"/>
              </a:rPr>
              <a:t>Strategic Approach</a:t>
            </a:r>
          </a:p>
        </p:txBody>
      </p:sp>
      <p:sp>
        <p:nvSpPr>
          <p:cNvPr id="20" name="TextBox 19">
            <a:extLst>
              <a:ext uri="{FF2B5EF4-FFF2-40B4-BE49-F238E27FC236}">
                <a16:creationId xmlns:a16="http://schemas.microsoft.com/office/drawing/2014/main" id="{721AE37F-1774-600C-5C76-783AD946DCE0}"/>
              </a:ext>
            </a:extLst>
          </p:cNvPr>
          <p:cNvSpPr txBox="1"/>
          <p:nvPr/>
        </p:nvSpPr>
        <p:spPr>
          <a:xfrm>
            <a:off x="141831" y="7241572"/>
            <a:ext cx="3668169" cy="1569660"/>
          </a:xfrm>
          <a:prstGeom prst="rect">
            <a:avLst/>
          </a:prstGeom>
          <a:noFill/>
        </p:spPr>
        <p:txBody>
          <a:bodyPr wrap="square">
            <a:spAutoFit/>
          </a:bodyPr>
          <a:lstStyle/>
          <a:p>
            <a:r>
              <a:rPr lang="en-US" sz="1200" dirty="0">
                <a:latin typeface="+mn-lt"/>
              </a:rPr>
              <a:t>• </a:t>
            </a:r>
            <a:r>
              <a:rPr lang="en-US" sz="1200" b="1" dirty="0">
                <a:latin typeface="+mn-lt"/>
              </a:rPr>
              <a:t>Specialty-led Mix Shift:</a:t>
            </a:r>
            <a:r>
              <a:rPr lang="en-US" sz="1200" dirty="0">
                <a:latin typeface="+mn-lt"/>
              </a:rPr>
              <a:t> Focus on expanding higher-margin Innovative Medicines to offset US generic pricing pressure.</a:t>
            </a:r>
            <a:br>
              <a:rPr lang="en-US" sz="1200" dirty="0">
                <a:latin typeface="+mn-lt"/>
              </a:rPr>
            </a:br>
            <a:r>
              <a:rPr lang="en-US" sz="1200" dirty="0">
                <a:latin typeface="+mn-lt"/>
              </a:rPr>
              <a:t>• </a:t>
            </a:r>
            <a:r>
              <a:rPr lang="en-US" sz="1200" b="1" dirty="0">
                <a:latin typeface="+mn-lt"/>
              </a:rPr>
              <a:t>Large-scale M&amp;A:</a:t>
            </a:r>
            <a:r>
              <a:rPr lang="en-US" sz="1200" dirty="0">
                <a:latin typeface="+mn-lt"/>
              </a:rPr>
              <a:t> Organon acquisition strengthens the specialty portfolio with minimal product overlap.</a:t>
            </a:r>
            <a:br>
              <a:rPr lang="en-US" sz="1200" dirty="0">
                <a:latin typeface="+mn-lt"/>
              </a:rPr>
            </a:br>
            <a:r>
              <a:rPr lang="en-US" sz="1200" dirty="0">
                <a:latin typeface="+mn-lt"/>
              </a:rPr>
              <a:t>• </a:t>
            </a:r>
            <a:r>
              <a:rPr lang="en-US" sz="1200" b="1" dirty="0">
                <a:latin typeface="+mn-lt"/>
              </a:rPr>
              <a:t>Domestic Leadership:</a:t>
            </a:r>
            <a:r>
              <a:rPr lang="en-US" sz="1200" dirty="0">
                <a:latin typeface="+mn-lt"/>
              </a:rPr>
              <a:t> 37 new launches and market share growth to 8.4%, supported by global diversification.</a:t>
            </a:r>
          </a:p>
        </p:txBody>
      </p:sp>
      <p:graphicFrame>
        <p:nvGraphicFramePr>
          <p:cNvPr id="25" name="Chart 0">
            <a:extLst>
              <a:ext uri="{FF2B5EF4-FFF2-40B4-BE49-F238E27FC236}">
                <a16:creationId xmlns:a16="http://schemas.microsoft.com/office/drawing/2014/main" id="{60ED6C6C-F345-37D1-3BC0-B7AB2DBA8785}"/>
              </a:ext>
            </a:extLst>
          </p:cNvPr>
          <p:cNvGraphicFramePr/>
          <p:nvPr>
            <p:extLst>
              <p:ext uri="{D42A27DB-BD31-4B8C-83A1-F6EECF244321}">
                <p14:modId xmlns:p14="http://schemas.microsoft.com/office/powerpoint/2010/main" val="3342240096"/>
              </p:ext>
            </p:extLst>
          </p:nvPr>
        </p:nvGraphicFramePr>
        <p:xfrm>
          <a:off x="3485336" y="7131217"/>
          <a:ext cx="3252821" cy="1626800"/>
        </p:xfrm>
        <a:graphic>
          <a:graphicData uri="http://schemas.openxmlformats.org/drawingml/2006/chart">
            <c:chart xmlns:c="http://schemas.openxmlformats.org/drawingml/2006/chart" xmlns:r="http://schemas.openxmlformats.org/officeDocument/2006/relationships" r:id="rId3"/>
          </a:graphicData>
        </a:graphic>
      </p:graphicFrame>
      <p:sp>
        <p:nvSpPr>
          <p:cNvPr id="9" name="object 2">
            <a:extLst>
              <a:ext uri="{FF2B5EF4-FFF2-40B4-BE49-F238E27FC236}">
                <a16:creationId xmlns:a16="http://schemas.microsoft.com/office/drawing/2014/main" id="{EC96EEA0-6F82-2D8D-0C36-83E4D0C8EE69}"/>
              </a:ext>
            </a:extLst>
          </p:cNvPr>
          <p:cNvSpPr/>
          <p:nvPr/>
        </p:nvSpPr>
        <p:spPr>
          <a:xfrm>
            <a:off x="223315" y="1059999"/>
            <a:ext cx="6411369" cy="429865"/>
          </a:xfrm>
          <a:custGeom>
            <a:avLst/>
            <a:gdLst/>
            <a:ahLst/>
            <a:cxnLst/>
            <a:rect l="l" t="t" r="r" b="b"/>
            <a:pathLst>
              <a:path w="7296784" h="401319">
                <a:moveTo>
                  <a:pt x="7296359" y="400830"/>
                </a:moveTo>
                <a:lnTo>
                  <a:pt x="0" y="400830"/>
                </a:lnTo>
                <a:lnTo>
                  <a:pt x="0" y="0"/>
                </a:lnTo>
                <a:lnTo>
                  <a:pt x="7296359" y="0"/>
                </a:lnTo>
                <a:lnTo>
                  <a:pt x="7296359" y="400830"/>
                </a:lnTo>
                <a:close/>
              </a:path>
            </a:pathLst>
          </a:custGeom>
          <a:solidFill>
            <a:srgbClr val="E46C0A"/>
          </a:solidFill>
        </p:spPr>
        <p:txBody>
          <a:bodyPr wrap="square" lIns="0" tIns="0" rIns="0" bIns="0" rtlCol="0"/>
          <a:lstStyle/>
          <a:p>
            <a:endParaRPr/>
          </a:p>
        </p:txBody>
      </p:sp>
      <p:sp>
        <p:nvSpPr>
          <p:cNvPr id="13" name="TextBox 12">
            <a:extLst>
              <a:ext uri="{FF2B5EF4-FFF2-40B4-BE49-F238E27FC236}">
                <a16:creationId xmlns:a16="http://schemas.microsoft.com/office/drawing/2014/main" id="{6CF3080D-08DB-7F90-7EE0-64CE1F10C173}"/>
              </a:ext>
            </a:extLst>
          </p:cNvPr>
          <p:cNvSpPr txBox="1"/>
          <p:nvPr/>
        </p:nvSpPr>
        <p:spPr>
          <a:xfrm>
            <a:off x="1623060" y="1103917"/>
            <a:ext cx="3611880" cy="369332"/>
          </a:xfrm>
          <a:prstGeom prst="rect">
            <a:avLst/>
          </a:prstGeom>
          <a:noFill/>
        </p:spPr>
        <p:txBody>
          <a:bodyPr wrap="square">
            <a:spAutoFit/>
          </a:bodyPr>
          <a:lstStyle/>
          <a:p>
            <a:pPr marL="86360" algn="ctr">
              <a:lnSpc>
                <a:spcPct val="100000"/>
              </a:lnSpc>
              <a:spcBef>
                <a:spcPts val="100"/>
              </a:spcBef>
            </a:pPr>
            <a:r>
              <a:rPr lang="en-IN" b="1" spc="-10" dirty="0">
                <a:solidFill>
                  <a:schemeClr val="bg1"/>
                </a:solidFill>
                <a:latin typeface="+mj-lt"/>
                <a:cs typeface="Calibri"/>
              </a:rPr>
              <a:t>About The Company</a:t>
            </a:r>
          </a:p>
        </p:txBody>
      </p:sp>
    </p:spTree>
    <p:extLst>
      <p:ext uri="{BB962C8B-B14F-4D97-AF65-F5344CB8AC3E}">
        <p14:creationId xmlns:p14="http://schemas.microsoft.com/office/powerpoint/2010/main" val="781081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A0610-041A-0ECF-2573-A94DA0DEE026}"/>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83AB2281-7A82-1D7A-B725-17788A59AE8B}"/>
              </a:ext>
            </a:extLst>
          </p:cNvPr>
          <p:cNvGrpSpPr/>
          <p:nvPr/>
        </p:nvGrpSpPr>
        <p:grpSpPr>
          <a:xfrm>
            <a:off x="0" y="0"/>
            <a:ext cx="6858000" cy="1625597"/>
            <a:chOff x="0" y="0"/>
            <a:chExt cx="6858000" cy="1625597"/>
          </a:xfrm>
        </p:grpSpPr>
        <p:sp>
          <p:nvSpPr>
            <p:cNvPr id="3" name="object 3">
              <a:extLst>
                <a:ext uri="{FF2B5EF4-FFF2-40B4-BE49-F238E27FC236}">
                  <a16:creationId xmlns:a16="http://schemas.microsoft.com/office/drawing/2014/main" id="{921DA35B-037C-87FB-3EA2-F6E732989D22}"/>
                </a:ext>
              </a:extLst>
            </p:cNvPr>
            <p:cNvSpPr/>
            <p:nvPr/>
          </p:nvSpPr>
          <p:spPr>
            <a:xfrm>
              <a:off x="0" y="0"/>
              <a:ext cx="6858000" cy="949325"/>
            </a:xfrm>
            <a:custGeom>
              <a:avLst/>
              <a:gdLst/>
              <a:ahLst/>
              <a:cxnLst/>
              <a:rect l="l" t="t" r="r" b="b"/>
              <a:pathLst>
                <a:path w="6858000" h="949325">
                  <a:moveTo>
                    <a:pt x="0" y="949198"/>
                  </a:moveTo>
                  <a:lnTo>
                    <a:pt x="6858000" y="949198"/>
                  </a:lnTo>
                  <a:lnTo>
                    <a:pt x="6858000" y="0"/>
                  </a:lnTo>
                  <a:lnTo>
                    <a:pt x="0" y="0"/>
                  </a:lnTo>
                  <a:lnTo>
                    <a:pt x="0" y="949198"/>
                  </a:lnTo>
                  <a:close/>
                </a:path>
              </a:pathLst>
            </a:custGeom>
            <a:solidFill>
              <a:schemeClr val="accent6">
                <a:lumMod val="75000"/>
              </a:schemeClr>
            </a:solidFill>
          </p:spPr>
          <p:txBody>
            <a:bodyPr wrap="square" lIns="0" tIns="0" rIns="0" bIns="0" rtlCol="0"/>
            <a:lstStyle/>
            <a:p>
              <a:endParaRPr/>
            </a:p>
          </p:txBody>
        </p:sp>
        <p:sp>
          <p:nvSpPr>
            <p:cNvPr id="4" name="object 4">
              <a:extLst>
                <a:ext uri="{FF2B5EF4-FFF2-40B4-BE49-F238E27FC236}">
                  <a16:creationId xmlns:a16="http://schemas.microsoft.com/office/drawing/2014/main" id="{DBD761D5-E4FF-06A6-A368-BAAE083F2BBE}"/>
                </a:ext>
              </a:extLst>
            </p:cNvPr>
            <p:cNvSpPr/>
            <p:nvPr/>
          </p:nvSpPr>
          <p:spPr>
            <a:xfrm>
              <a:off x="0" y="316227"/>
              <a:ext cx="4147185" cy="1309370"/>
            </a:xfrm>
            <a:custGeom>
              <a:avLst/>
              <a:gdLst/>
              <a:ahLst/>
              <a:cxnLst/>
              <a:rect l="l" t="t" r="r" b="b"/>
              <a:pathLst>
                <a:path w="4147185" h="1309370">
                  <a:moveTo>
                    <a:pt x="3492246" y="0"/>
                  </a:moveTo>
                  <a:lnTo>
                    <a:pt x="0" y="0"/>
                  </a:lnTo>
                  <a:lnTo>
                    <a:pt x="0" y="1309243"/>
                  </a:lnTo>
                  <a:lnTo>
                    <a:pt x="3492246" y="1309243"/>
                  </a:lnTo>
                  <a:lnTo>
                    <a:pt x="4146804" y="654685"/>
                  </a:lnTo>
                  <a:lnTo>
                    <a:pt x="3492246" y="0"/>
                  </a:lnTo>
                  <a:close/>
                </a:path>
              </a:pathLst>
            </a:custGeom>
            <a:solidFill>
              <a:srgbClr val="FFFFFF"/>
            </a:solidFill>
          </p:spPr>
          <p:txBody>
            <a:bodyPr wrap="square" lIns="0" tIns="0" rIns="0" bIns="0" rtlCol="0"/>
            <a:lstStyle/>
            <a:p>
              <a:endParaRPr dirty="0"/>
            </a:p>
          </p:txBody>
        </p:sp>
      </p:grpSp>
      <p:sp>
        <p:nvSpPr>
          <p:cNvPr id="5" name="object 5">
            <a:extLst>
              <a:ext uri="{FF2B5EF4-FFF2-40B4-BE49-F238E27FC236}">
                <a16:creationId xmlns:a16="http://schemas.microsoft.com/office/drawing/2014/main" id="{4C39818F-024B-8625-FDE3-6E32A5EE1B66}"/>
              </a:ext>
            </a:extLst>
          </p:cNvPr>
          <p:cNvSpPr txBox="1"/>
          <p:nvPr/>
        </p:nvSpPr>
        <p:spPr>
          <a:xfrm>
            <a:off x="147015" y="4952"/>
            <a:ext cx="2081530" cy="247015"/>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FFFFFF"/>
                </a:solidFill>
                <a:latin typeface="Calibri"/>
                <a:cs typeface="Calibri"/>
              </a:rPr>
              <a:t>EQUITY</a:t>
            </a:r>
            <a:r>
              <a:rPr sz="1450" b="1" spc="-65" dirty="0">
                <a:solidFill>
                  <a:srgbClr val="FFFFFF"/>
                </a:solidFill>
                <a:latin typeface="Calibri"/>
                <a:cs typeface="Calibri"/>
              </a:rPr>
              <a:t> </a:t>
            </a:r>
            <a:r>
              <a:rPr sz="1450" b="1" dirty="0">
                <a:solidFill>
                  <a:srgbClr val="FFFFFF"/>
                </a:solidFill>
                <a:latin typeface="Calibri"/>
                <a:cs typeface="Calibri"/>
              </a:rPr>
              <a:t>RESEARCH</a:t>
            </a:r>
            <a:r>
              <a:rPr sz="1450" b="1" spc="-60" dirty="0">
                <a:solidFill>
                  <a:srgbClr val="FFFFFF"/>
                </a:solidFill>
                <a:latin typeface="Calibri"/>
                <a:cs typeface="Calibri"/>
              </a:rPr>
              <a:t> </a:t>
            </a:r>
            <a:r>
              <a:rPr sz="1450" b="1" spc="-10" dirty="0">
                <a:solidFill>
                  <a:srgbClr val="FFFFFF"/>
                </a:solidFill>
                <a:latin typeface="Calibri"/>
                <a:cs typeface="Calibri"/>
              </a:rPr>
              <a:t>REPORT</a:t>
            </a:r>
            <a:endParaRPr sz="1450">
              <a:latin typeface="Calibri"/>
              <a:cs typeface="Calibri"/>
            </a:endParaRPr>
          </a:p>
        </p:txBody>
      </p:sp>
      <p:sp>
        <p:nvSpPr>
          <p:cNvPr id="40" name="object 40">
            <a:extLst>
              <a:ext uri="{FF2B5EF4-FFF2-40B4-BE49-F238E27FC236}">
                <a16:creationId xmlns:a16="http://schemas.microsoft.com/office/drawing/2014/main" id="{58F72648-230E-3C0E-B38E-A002ACCC2693}"/>
              </a:ext>
            </a:extLst>
          </p:cNvPr>
          <p:cNvSpPr txBox="1">
            <a:spLocks noGrp="1"/>
          </p:cNvSpPr>
          <p:nvPr>
            <p:ph type="title"/>
          </p:nvPr>
        </p:nvSpPr>
        <p:spPr>
          <a:xfrm>
            <a:off x="141831" y="295140"/>
            <a:ext cx="4269104" cy="289182"/>
          </a:xfrm>
          <a:prstGeom prst="rect">
            <a:avLst/>
          </a:prstGeom>
        </p:spPr>
        <p:txBody>
          <a:bodyPr vert="horz" wrap="square" lIns="0" tIns="12065" rIns="0" bIns="0" rtlCol="0">
            <a:spAutoFit/>
          </a:bodyPr>
          <a:lstStyle/>
          <a:p>
            <a:pPr marL="12700">
              <a:lnSpc>
                <a:spcPct val="100000"/>
              </a:lnSpc>
              <a:spcBef>
                <a:spcPts val="95"/>
              </a:spcBef>
            </a:pPr>
            <a:r>
              <a:rPr lang="en-GB" sz="1800" dirty="0"/>
              <a:t>Sun Pharmaceutical Industries Ltd.</a:t>
            </a:r>
            <a:endParaRPr sz="1800" dirty="0"/>
          </a:p>
        </p:txBody>
      </p:sp>
      <p:sp>
        <p:nvSpPr>
          <p:cNvPr id="41" name="object 41">
            <a:extLst>
              <a:ext uri="{FF2B5EF4-FFF2-40B4-BE49-F238E27FC236}">
                <a16:creationId xmlns:a16="http://schemas.microsoft.com/office/drawing/2014/main" id="{E8CF64A1-ED83-7BCE-FB5F-2999690633C1}"/>
              </a:ext>
            </a:extLst>
          </p:cNvPr>
          <p:cNvSpPr txBox="1"/>
          <p:nvPr/>
        </p:nvSpPr>
        <p:spPr>
          <a:xfrm>
            <a:off x="141831" y="526972"/>
            <a:ext cx="3210968"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D2841"/>
                </a:solidFill>
                <a:latin typeface="Calibri"/>
                <a:cs typeface="Calibri"/>
              </a:rPr>
              <a:t>NSE</a:t>
            </a:r>
            <a:r>
              <a:rPr sz="1200" b="1" spc="-20" dirty="0">
                <a:solidFill>
                  <a:srgbClr val="0D2841"/>
                </a:solidFill>
                <a:latin typeface="Calibri"/>
                <a:cs typeface="Calibri"/>
              </a:rPr>
              <a:t> </a:t>
            </a:r>
            <a:r>
              <a:rPr sz="1200" b="1" dirty="0">
                <a:solidFill>
                  <a:srgbClr val="0D2841"/>
                </a:solidFill>
                <a:latin typeface="Calibri"/>
                <a:cs typeface="Calibri"/>
              </a:rPr>
              <a:t>:</a:t>
            </a:r>
            <a:r>
              <a:rPr lang="en-US" sz="1200" b="1" spc="-15" dirty="0">
                <a:solidFill>
                  <a:srgbClr val="0D2841"/>
                </a:solidFill>
                <a:latin typeface="Calibri"/>
                <a:cs typeface="Calibri"/>
              </a:rPr>
              <a:t> </a:t>
            </a:r>
            <a:r>
              <a:rPr lang="en-GB" sz="1200" b="1" dirty="0">
                <a:latin typeface="+mj-lt"/>
              </a:rPr>
              <a:t>SUNPHARMA</a:t>
            </a:r>
            <a:r>
              <a:rPr sz="1200" b="1" spc="10" dirty="0">
                <a:solidFill>
                  <a:srgbClr val="0D2841"/>
                </a:solidFill>
                <a:latin typeface="Calibri"/>
                <a:cs typeface="Calibri"/>
              </a:rPr>
              <a:t> </a:t>
            </a:r>
            <a:r>
              <a:rPr sz="1200" b="1" dirty="0">
                <a:solidFill>
                  <a:srgbClr val="0D2841"/>
                </a:solidFill>
                <a:latin typeface="Calibri"/>
                <a:cs typeface="Calibri"/>
              </a:rPr>
              <a:t>|</a:t>
            </a:r>
            <a:r>
              <a:rPr sz="1200" b="1" spc="-15" dirty="0">
                <a:solidFill>
                  <a:srgbClr val="0D2841"/>
                </a:solidFill>
                <a:latin typeface="Calibri"/>
                <a:cs typeface="Calibri"/>
              </a:rPr>
              <a:t> </a:t>
            </a:r>
            <a:r>
              <a:rPr sz="1200" b="1" dirty="0">
                <a:solidFill>
                  <a:srgbClr val="0D2841"/>
                </a:solidFill>
                <a:latin typeface="Calibri"/>
                <a:cs typeface="Calibri"/>
              </a:rPr>
              <a:t>BSE Code:</a:t>
            </a:r>
            <a:r>
              <a:rPr sz="1200" b="1" spc="-5" dirty="0">
                <a:solidFill>
                  <a:srgbClr val="0D2841"/>
                </a:solidFill>
                <a:latin typeface="Calibri"/>
                <a:cs typeface="Calibri"/>
              </a:rPr>
              <a:t> </a:t>
            </a:r>
            <a:r>
              <a:rPr lang="en-GB" sz="1200" b="1" dirty="0">
                <a:latin typeface="+mj-lt"/>
              </a:rPr>
              <a:t>524715</a:t>
            </a:r>
          </a:p>
        </p:txBody>
      </p:sp>
      <p:sp>
        <p:nvSpPr>
          <p:cNvPr id="57" name="object 41">
            <a:extLst>
              <a:ext uri="{FF2B5EF4-FFF2-40B4-BE49-F238E27FC236}">
                <a16:creationId xmlns:a16="http://schemas.microsoft.com/office/drawing/2014/main" id="{3F9D985D-EB88-FC8E-ABB6-CD96E4A783F5}"/>
              </a:ext>
            </a:extLst>
          </p:cNvPr>
          <p:cNvSpPr txBox="1"/>
          <p:nvPr/>
        </p:nvSpPr>
        <p:spPr>
          <a:xfrm>
            <a:off x="141831" y="686543"/>
            <a:ext cx="3210968" cy="197490"/>
          </a:xfrm>
          <a:prstGeom prst="rect">
            <a:avLst/>
          </a:prstGeom>
        </p:spPr>
        <p:txBody>
          <a:bodyPr vert="horz" wrap="square" lIns="0" tIns="12700" rIns="0" bIns="0" rtlCol="0">
            <a:spAutoFit/>
          </a:bodyPr>
          <a:lstStyle/>
          <a:p>
            <a:pPr marL="12700">
              <a:lnSpc>
                <a:spcPct val="100000"/>
              </a:lnSpc>
              <a:spcBef>
                <a:spcPts val="100"/>
              </a:spcBef>
            </a:pPr>
            <a:r>
              <a:rPr lang="en-GB" sz="1200" b="1" dirty="0">
                <a:latin typeface="Calibri "/>
              </a:rPr>
              <a:t>Pharmaceuticals &amp; Drugs</a:t>
            </a:r>
          </a:p>
        </p:txBody>
      </p:sp>
      <p:pic>
        <p:nvPicPr>
          <p:cNvPr id="59" name="Picture 58">
            <a:extLst>
              <a:ext uri="{FF2B5EF4-FFF2-40B4-BE49-F238E27FC236}">
                <a16:creationId xmlns:a16="http://schemas.microsoft.com/office/drawing/2014/main" id="{11F4A2B9-F780-6D6D-CF8B-B716A0C5805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04126" y="17284"/>
            <a:ext cx="1295705" cy="879830"/>
          </a:xfrm>
          <a:prstGeom prst="rect">
            <a:avLst/>
          </a:prstGeom>
        </p:spPr>
      </p:pic>
      <p:cxnSp>
        <p:nvCxnSpPr>
          <p:cNvPr id="61" name="Straight Connector 60">
            <a:extLst>
              <a:ext uri="{FF2B5EF4-FFF2-40B4-BE49-F238E27FC236}">
                <a16:creationId xmlns:a16="http://schemas.microsoft.com/office/drawing/2014/main" id="{B9B87908-B7AA-3113-CBF1-387F536DEADC}"/>
              </a:ext>
            </a:extLst>
          </p:cNvPr>
          <p:cNvCxnSpPr>
            <a:cxnSpLocks/>
          </p:cNvCxnSpPr>
          <p:nvPr/>
        </p:nvCxnSpPr>
        <p:spPr>
          <a:xfrm>
            <a:off x="0" y="8859394"/>
            <a:ext cx="6858000" cy="0"/>
          </a:xfrm>
          <a:prstGeom prst="line">
            <a:avLst/>
          </a:prstGeom>
          <a:ln w="41275">
            <a:solidFill>
              <a:srgbClr val="E46C0A"/>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4DF97B07-541F-0A13-20AA-0BDE8452F144}"/>
              </a:ext>
            </a:extLst>
          </p:cNvPr>
          <p:cNvSpPr txBox="1"/>
          <p:nvPr/>
        </p:nvSpPr>
        <p:spPr>
          <a:xfrm>
            <a:off x="6553200" y="8810228"/>
            <a:ext cx="667055" cy="369332"/>
          </a:xfrm>
          <a:prstGeom prst="rect">
            <a:avLst/>
          </a:prstGeom>
          <a:noFill/>
        </p:spPr>
        <p:txBody>
          <a:bodyPr wrap="square" rtlCol="0">
            <a:spAutoFit/>
          </a:bodyPr>
          <a:lstStyle/>
          <a:p>
            <a:r>
              <a:rPr lang="en-US" b="1" dirty="0">
                <a:solidFill>
                  <a:srgbClr val="E46C0A"/>
                </a:solidFill>
              </a:rPr>
              <a:t>1</a:t>
            </a:r>
            <a:endParaRPr lang="en-GB" b="1" dirty="0">
              <a:solidFill>
                <a:srgbClr val="E46C0A"/>
              </a:solidFill>
            </a:endParaRPr>
          </a:p>
        </p:txBody>
      </p:sp>
      <p:cxnSp>
        <p:nvCxnSpPr>
          <p:cNvPr id="69" name="Straight Connector 68">
            <a:extLst>
              <a:ext uri="{FF2B5EF4-FFF2-40B4-BE49-F238E27FC236}">
                <a16:creationId xmlns:a16="http://schemas.microsoft.com/office/drawing/2014/main" id="{2F0ED3B9-09AE-F9C2-8544-ACBC49E26348}"/>
              </a:ext>
            </a:extLst>
          </p:cNvPr>
          <p:cNvCxnSpPr>
            <a:cxnSpLocks/>
          </p:cNvCxnSpPr>
          <p:nvPr/>
        </p:nvCxnSpPr>
        <p:spPr>
          <a:xfrm flipV="1">
            <a:off x="0" y="914400"/>
            <a:ext cx="6858000" cy="37713"/>
          </a:xfrm>
          <a:prstGeom prst="line">
            <a:avLst/>
          </a:prstGeom>
          <a:ln>
            <a:solidFill>
              <a:srgbClr val="E46C0A"/>
            </a:solidFill>
          </a:ln>
        </p:spPr>
        <p:style>
          <a:lnRef idx="1">
            <a:schemeClr val="accent1"/>
          </a:lnRef>
          <a:fillRef idx="0">
            <a:schemeClr val="accent1"/>
          </a:fillRef>
          <a:effectRef idx="0">
            <a:schemeClr val="accent1"/>
          </a:effectRef>
          <a:fontRef idx="minor">
            <a:schemeClr val="tx1"/>
          </a:fontRef>
        </p:style>
      </p:cxnSp>
      <p:sp>
        <p:nvSpPr>
          <p:cNvPr id="6" name="object 17">
            <a:extLst>
              <a:ext uri="{FF2B5EF4-FFF2-40B4-BE49-F238E27FC236}">
                <a16:creationId xmlns:a16="http://schemas.microsoft.com/office/drawing/2014/main" id="{E41D40F7-D736-0529-8483-E9CBACCEF220}"/>
              </a:ext>
            </a:extLst>
          </p:cNvPr>
          <p:cNvSpPr/>
          <p:nvPr/>
        </p:nvSpPr>
        <p:spPr>
          <a:xfrm>
            <a:off x="95423" y="1211564"/>
            <a:ext cx="6642734" cy="306070"/>
          </a:xfrm>
          <a:custGeom>
            <a:avLst/>
            <a:gdLst/>
            <a:ahLst/>
            <a:cxnLst/>
            <a:rect l="l" t="t" r="r" b="b"/>
            <a:pathLst>
              <a:path w="6642734" h="306070">
                <a:moveTo>
                  <a:pt x="6642734" y="0"/>
                </a:moveTo>
                <a:lnTo>
                  <a:pt x="0" y="0"/>
                </a:lnTo>
                <a:lnTo>
                  <a:pt x="0" y="305917"/>
                </a:lnTo>
                <a:lnTo>
                  <a:pt x="6642734" y="305917"/>
                </a:lnTo>
                <a:lnTo>
                  <a:pt x="6642734" y="0"/>
                </a:lnTo>
                <a:close/>
              </a:path>
            </a:pathLst>
          </a:custGeom>
          <a:solidFill>
            <a:srgbClr val="E46C0A"/>
          </a:solidFill>
        </p:spPr>
        <p:txBody>
          <a:bodyPr wrap="square" lIns="0" tIns="0" rIns="0" bIns="0" rtlCol="0"/>
          <a:lstStyle/>
          <a:p>
            <a:endParaRPr/>
          </a:p>
        </p:txBody>
      </p:sp>
      <p:sp>
        <p:nvSpPr>
          <p:cNvPr id="7" name="object 18">
            <a:extLst>
              <a:ext uri="{FF2B5EF4-FFF2-40B4-BE49-F238E27FC236}">
                <a16:creationId xmlns:a16="http://schemas.microsoft.com/office/drawing/2014/main" id="{FE47CF77-BC60-B456-4669-85BB20FEEB3E}"/>
              </a:ext>
            </a:extLst>
          </p:cNvPr>
          <p:cNvSpPr txBox="1"/>
          <p:nvPr/>
        </p:nvSpPr>
        <p:spPr>
          <a:xfrm>
            <a:off x="228600" y="1425164"/>
            <a:ext cx="6290863" cy="2444259"/>
          </a:xfrm>
          <a:prstGeom prst="rect">
            <a:avLst/>
          </a:prstGeom>
        </p:spPr>
        <p:txBody>
          <a:bodyPr vert="horz" wrap="square" lIns="0" tIns="12700" rIns="0" bIns="0" rtlCol="0">
            <a:spAutoFit/>
          </a:bodyPr>
          <a:lstStyle/>
          <a:p>
            <a:pPr marL="86360" algn="just">
              <a:lnSpc>
                <a:spcPct val="100000"/>
              </a:lnSpc>
              <a:spcBef>
                <a:spcPts val="100"/>
              </a:spcBef>
            </a:pPr>
            <a:endParaRPr lang="en-IN" sz="1400" b="1" spc="-10" dirty="0">
              <a:latin typeface="+mj-lt"/>
              <a:cs typeface="Calibri"/>
            </a:endParaRPr>
          </a:p>
          <a:p>
            <a:pPr algn="just" rtl="0"/>
            <a:r>
              <a:rPr lang="en-US" sz="1200" dirty="0">
                <a:latin typeface="+mn-lt"/>
              </a:rPr>
              <a:t>Sun Pharmaceutical Industries Ltd. (NSE: SUNPHARMA) is India's largest pharma company and the largest Indian player in the US market. FY26 consolidated revenue grew 11.9% YoY to ~₹58,220 crore, EBITDA rose 16.1% to ~₹17,700 crore, and net profit grew 5% to ~₹11,479 crore. Stock trades at ~₹1,880–1,900 (market cap ~₹4.6 lakh crore, mid-July 2026), 52-week range ₹1,548–1,963, P/E ~38–39x, near debt-free, dividend payout ~34%.</a:t>
            </a:r>
            <a:endParaRPr lang="en-US" sz="1200" b="0" dirty="0">
              <a:effectLst/>
              <a:latin typeface="+mn-lt"/>
            </a:endParaRPr>
          </a:p>
          <a:p>
            <a:pPr algn="just" rtl="0"/>
            <a:r>
              <a:rPr lang="en-US" sz="1200" dirty="0">
                <a:latin typeface="+mn-lt"/>
              </a:rPr>
              <a:t>Thesis: a structural shift from commoditized US generics toward a higher-margin Global Innovative Medicines franchise (~21% of sales, scaling), anchored by a defensive India branded-formulations base (~33% of sales, #1 market share). The $11.75bn Organon acquisition, Sun Pharma's largest deal since Ranbaxy, is the key swing factor. It adds women's health, fertility, and biosimilars, and expands reach into Europe, China, and Latin America.</a:t>
            </a:r>
            <a:endParaRPr lang="en-US" sz="1200" b="0" dirty="0">
              <a:effectLst/>
              <a:latin typeface="+mn-lt"/>
            </a:endParaRPr>
          </a:p>
          <a:p>
            <a:pPr algn="just"/>
            <a:br>
              <a:rPr lang="en-US" sz="1200" dirty="0">
                <a:latin typeface="+mn-lt"/>
              </a:rPr>
            </a:br>
            <a:endParaRPr lang="en-US" sz="1200" b="1" spc="-10" dirty="0">
              <a:latin typeface="+mn-lt"/>
              <a:cs typeface="Calibri"/>
            </a:endParaRPr>
          </a:p>
        </p:txBody>
      </p:sp>
      <p:sp>
        <p:nvSpPr>
          <p:cNvPr id="10" name="object 17">
            <a:extLst>
              <a:ext uri="{FF2B5EF4-FFF2-40B4-BE49-F238E27FC236}">
                <a16:creationId xmlns:a16="http://schemas.microsoft.com/office/drawing/2014/main" id="{A5263D14-ED63-A7A2-1931-1999098472A2}"/>
              </a:ext>
            </a:extLst>
          </p:cNvPr>
          <p:cNvSpPr/>
          <p:nvPr/>
        </p:nvSpPr>
        <p:spPr>
          <a:xfrm>
            <a:off x="95423" y="3713340"/>
            <a:ext cx="6642734" cy="306070"/>
          </a:xfrm>
          <a:custGeom>
            <a:avLst/>
            <a:gdLst/>
            <a:ahLst/>
            <a:cxnLst/>
            <a:rect l="l" t="t" r="r" b="b"/>
            <a:pathLst>
              <a:path w="6642734" h="306070">
                <a:moveTo>
                  <a:pt x="6642734" y="0"/>
                </a:moveTo>
                <a:lnTo>
                  <a:pt x="0" y="0"/>
                </a:lnTo>
                <a:lnTo>
                  <a:pt x="0" y="305917"/>
                </a:lnTo>
                <a:lnTo>
                  <a:pt x="6642734" y="305917"/>
                </a:lnTo>
                <a:lnTo>
                  <a:pt x="6642734" y="0"/>
                </a:lnTo>
                <a:close/>
              </a:path>
            </a:pathLst>
          </a:custGeom>
          <a:solidFill>
            <a:srgbClr val="E46C0A"/>
          </a:solidFill>
        </p:spPr>
        <p:txBody>
          <a:bodyPr wrap="square" lIns="0" tIns="0" rIns="0" bIns="0" rtlCol="0"/>
          <a:lstStyle/>
          <a:p>
            <a:endParaRPr/>
          </a:p>
        </p:txBody>
      </p:sp>
      <p:sp>
        <p:nvSpPr>
          <p:cNvPr id="12" name="object 18">
            <a:extLst>
              <a:ext uri="{FF2B5EF4-FFF2-40B4-BE49-F238E27FC236}">
                <a16:creationId xmlns:a16="http://schemas.microsoft.com/office/drawing/2014/main" id="{8AE9449E-0BE9-BEF7-7380-FAF8A2966D34}"/>
              </a:ext>
            </a:extLst>
          </p:cNvPr>
          <p:cNvSpPr txBox="1"/>
          <p:nvPr/>
        </p:nvSpPr>
        <p:spPr>
          <a:xfrm>
            <a:off x="228600" y="3832586"/>
            <a:ext cx="6509557" cy="1933863"/>
          </a:xfrm>
          <a:prstGeom prst="rect">
            <a:avLst/>
          </a:prstGeom>
        </p:spPr>
        <p:txBody>
          <a:bodyPr vert="horz" wrap="square" lIns="0" tIns="12700" rIns="0" bIns="0" rtlCol="0">
            <a:spAutoFit/>
          </a:bodyPr>
          <a:lstStyle/>
          <a:p>
            <a:pPr marL="86360" algn="ctr">
              <a:lnSpc>
                <a:spcPct val="100000"/>
              </a:lnSpc>
              <a:spcBef>
                <a:spcPts val="100"/>
              </a:spcBef>
            </a:pPr>
            <a:endParaRPr lang="en-IN" sz="1400" b="1" spc="-10" dirty="0">
              <a:latin typeface="+mj-lt"/>
              <a:cs typeface="Calibri"/>
            </a:endParaRPr>
          </a:p>
          <a:p>
            <a:pPr marL="86360" algn="l">
              <a:lnSpc>
                <a:spcPct val="100000"/>
              </a:lnSpc>
              <a:spcBef>
                <a:spcPts val="100"/>
              </a:spcBef>
            </a:pPr>
            <a:r>
              <a:rPr lang="en-IN" sz="1200" b="1" dirty="0">
                <a:latin typeface="+mn-lt"/>
              </a:rPr>
              <a:t>• </a:t>
            </a:r>
            <a:r>
              <a:rPr lang="en-IN" sz="1400" b="1" dirty="0">
                <a:latin typeface="+mn-lt"/>
              </a:rPr>
              <a:t>Revenue: </a:t>
            </a:r>
            <a:r>
              <a:rPr lang="en-IN" sz="1200" dirty="0">
                <a:latin typeface="+mn-lt"/>
              </a:rPr>
              <a:t>₹58,220 crore (+11.9% YoY); Net Profit: ₹11,479 crore (+5% YoY)</a:t>
            </a:r>
            <a:br>
              <a:rPr lang="en-IN" sz="1200" dirty="0">
                <a:latin typeface="+mn-lt"/>
              </a:rPr>
            </a:br>
            <a:r>
              <a:rPr lang="en-IN" sz="1200" dirty="0">
                <a:latin typeface="+mn-lt"/>
              </a:rPr>
              <a:t>• </a:t>
            </a:r>
            <a:r>
              <a:rPr lang="en-IN" sz="1200" b="1" dirty="0">
                <a:latin typeface="+mn-lt"/>
              </a:rPr>
              <a:t>India Formulations: </a:t>
            </a:r>
            <a:r>
              <a:rPr lang="en-IN" sz="1200" dirty="0">
                <a:latin typeface="+mn-lt"/>
              </a:rPr>
              <a:t>₹19,290 crore (+14%), contributing 33% of sales</a:t>
            </a:r>
            <a:br>
              <a:rPr lang="en-IN" sz="1200" dirty="0">
                <a:latin typeface="+mn-lt"/>
              </a:rPr>
            </a:br>
            <a:r>
              <a:rPr lang="en-IN" sz="1200" dirty="0">
                <a:latin typeface="+mn-lt"/>
              </a:rPr>
              <a:t>• </a:t>
            </a:r>
            <a:r>
              <a:rPr lang="en-IN" sz="1200" b="1" dirty="0">
                <a:latin typeface="+mn-lt"/>
              </a:rPr>
              <a:t>US Formulations: </a:t>
            </a:r>
            <a:r>
              <a:rPr lang="en-IN" sz="1200" dirty="0">
                <a:latin typeface="+mn-lt"/>
              </a:rPr>
              <a:t>~₹16,370 crore (-0.9%), contributing ~28.8% of sales</a:t>
            </a:r>
            <a:br>
              <a:rPr lang="en-IN" sz="1200" dirty="0">
                <a:latin typeface="+mn-lt"/>
              </a:rPr>
            </a:br>
            <a:r>
              <a:rPr lang="en-IN" sz="1200" dirty="0">
                <a:latin typeface="+mn-lt"/>
              </a:rPr>
              <a:t>• </a:t>
            </a:r>
            <a:r>
              <a:rPr lang="en-IN" sz="1200" b="1" dirty="0">
                <a:latin typeface="+mn-lt"/>
              </a:rPr>
              <a:t>Emerging Markets: </a:t>
            </a:r>
            <a:r>
              <a:rPr lang="en-IN" sz="1200" dirty="0">
                <a:latin typeface="+mn-lt"/>
              </a:rPr>
              <a:t>~₹10,840 crore (+13.6%); Rest of World: ~₹8,330 crore (+14.4%)</a:t>
            </a:r>
            <a:br>
              <a:rPr lang="en-IN" sz="1200" dirty="0">
                <a:latin typeface="+mn-lt"/>
              </a:rPr>
            </a:br>
            <a:r>
              <a:rPr lang="en-IN" sz="1200" dirty="0">
                <a:latin typeface="+mn-lt"/>
              </a:rPr>
              <a:t>• </a:t>
            </a:r>
            <a:r>
              <a:rPr lang="en-IN" sz="1200" b="1" dirty="0">
                <a:latin typeface="+mn-lt"/>
              </a:rPr>
              <a:t>Innovative Medicines:</a:t>
            </a:r>
            <a:r>
              <a:rPr lang="en-IN" sz="1200" dirty="0">
                <a:latin typeface="+mn-lt"/>
              </a:rPr>
              <a:t> ~₹12,210 crore (20.7% of FY26 sales); US business crossed ₹8,600 crore</a:t>
            </a:r>
            <a:br>
              <a:rPr lang="en-IN" sz="1200" dirty="0">
                <a:latin typeface="+mn-lt"/>
              </a:rPr>
            </a:br>
            <a:r>
              <a:rPr lang="en-IN" sz="1200" dirty="0">
                <a:latin typeface="+mn-lt"/>
              </a:rPr>
              <a:t>• </a:t>
            </a:r>
            <a:r>
              <a:rPr lang="en-IN" sz="1200" b="1" dirty="0" err="1">
                <a:latin typeface="+mn-lt"/>
              </a:rPr>
              <a:t>Leqselvi</a:t>
            </a:r>
            <a:r>
              <a:rPr lang="en-IN" sz="1200" dirty="0">
                <a:latin typeface="+mn-lt"/>
              </a:rPr>
              <a:t> and </a:t>
            </a:r>
            <a:r>
              <a:rPr lang="en-IN" sz="1200" b="1" dirty="0" err="1">
                <a:latin typeface="+mn-lt"/>
              </a:rPr>
              <a:t>Unloxcyt</a:t>
            </a:r>
            <a:r>
              <a:rPr lang="en-IN" sz="1200" dirty="0">
                <a:latin typeface="+mn-lt"/>
              </a:rPr>
              <a:t> launched in the US during FY26</a:t>
            </a:r>
            <a:br>
              <a:rPr lang="en-IN" sz="1200" dirty="0">
                <a:latin typeface="+mn-lt"/>
              </a:rPr>
            </a:br>
            <a:r>
              <a:rPr lang="en-IN" sz="1200" dirty="0">
                <a:latin typeface="+mn-lt"/>
              </a:rPr>
              <a:t>• India market share increased from </a:t>
            </a:r>
            <a:r>
              <a:rPr lang="en-IN" sz="1200" b="1" dirty="0">
                <a:latin typeface="+mn-lt"/>
              </a:rPr>
              <a:t>8.1% </a:t>
            </a:r>
            <a:r>
              <a:rPr lang="en-IN" sz="1200" dirty="0">
                <a:latin typeface="+mn-lt"/>
              </a:rPr>
              <a:t>to </a:t>
            </a:r>
            <a:r>
              <a:rPr lang="en-IN" sz="1200" b="1" dirty="0">
                <a:latin typeface="+mn-lt"/>
              </a:rPr>
              <a:t>8.4%</a:t>
            </a:r>
            <a:r>
              <a:rPr lang="en-IN" sz="1200" dirty="0">
                <a:latin typeface="+mn-lt"/>
              </a:rPr>
              <a:t>; 37 new products launched</a:t>
            </a:r>
            <a:br>
              <a:rPr lang="en-IN" sz="1200" dirty="0">
                <a:latin typeface="+mn-lt"/>
              </a:rPr>
            </a:br>
            <a:r>
              <a:rPr lang="en-IN" sz="1200" dirty="0">
                <a:latin typeface="+mn-lt"/>
              </a:rPr>
              <a:t>• </a:t>
            </a:r>
            <a:r>
              <a:rPr lang="en-IN" sz="1200" b="1" dirty="0">
                <a:latin typeface="+mn-lt"/>
              </a:rPr>
              <a:t>R&amp;D Spend: </a:t>
            </a:r>
            <a:r>
              <a:rPr lang="en-IN" sz="1200" dirty="0">
                <a:latin typeface="+mn-lt"/>
              </a:rPr>
              <a:t>₹3,554 crore (vs. ₹3,248 crore in FY25)</a:t>
            </a:r>
            <a:br>
              <a:rPr lang="en-IN" sz="1200" dirty="0">
                <a:latin typeface="+mn-lt"/>
              </a:rPr>
            </a:br>
            <a:r>
              <a:rPr lang="en-IN" sz="1200" dirty="0">
                <a:latin typeface="+mn-lt"/>
              </a:rPr>
              <a:t>• </a:t>
            </a:r>
            <a:r>
              <a:rPr lang="en-IN" sz="1200" b="1" dirty="0">
                <a:latin typeface="+mn-lt"/>
              </a:rPr>
              <a:t>Organon acquisition:</a:t>
            </a:r>
            <a:r>
              <a:rPr lang="en-IN" sz="1200" dirty="0">
                <a:latin typeface="+mn-lt"/>
              </a:rPr>
              <a:t> ~₹1.01 lakh crore deal; ~₹34,300 crore cash equity investment at US$14/share</a:t>
            </a:r>
            <a:endParaRPr lang="en-US" sz="1200" b="1" spc="-10" dirty="0">
              <a:latin typeface="+mn-lt"/>
              <a:cs typeface="Calibri"/>
            </a:endParaRPr>
          </a:p>
        </p:txBody>
      </p:sp>
      <p:graphicFrame>
        <p:nvGraphicFramePr>
          <p:cNvPr id="13" name="Chart 0">
            <a:extLst>
              <a:ext uri="{FF2B5EF4-FFF2-40B4-BE49-F238E27FC236}">
                <a16:creationId xmlns:a16="http://schemas.microsoft.com/office/drawing/2014/main" id="{E6668004-50EB-2F83-CC91-96AB416C7C3A}"/>
              </a:ext>
            </a:extLst>
          </p:cNvPr>
          <p:cNvGraphicFramePr/>
          <p:nvPr>
            <p:extLst>
              <p:ext uri="{D42A27DB-BD31-4B8C-83A1-F6EECF244321}">
                <p14:modId xmlns:p14="http://schemas.microsoft.com/office/powerpoint/2010/main" val="4222093495"/>
              </p:ext>
            </p:extLst>
          </p:nvPr>
        </p:nvGraphicFramePr>
        <p:xfrm>
          <a:off x="95423" y="5896392"/>
          <a:ext cx="3333577" cy="296495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 1">
            <a:extLst>
              <a:ext uri="{FF2B5EF4-FFF2-40B4-BE49-F238E27FC236}">
                <a16:creationId xmlns:a16="http://schemas.microsoft.com/office/drawing/2014/main" id="{9DF03DFC-2CB8-3A94-BB8C-E8BF70BE4F0F}"/>
              </a:ext>
            </a:extLst>
          </p:cNvPr>
          <p:cNvGraphicFramePr/>
          <p:nvPr>
            <p:extLst>
              <p:ext uri="{D42A27DB-BD31-4B8C-83A1-F6EECF244321}">
                <p14:modId xmlns:p14="http://schemas.microsoft.com/office/powerpoint/2010/main" val="1963342118"/>
              </p:ext>
            </p:extLst>
          </p:nvPr>
        </p:nvGraphicFramePr>
        <p:xfrm>
          <a:off x="3429000" y="5943602"/>
          <a:ext cx="3333577" cy="2927242"/>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8">
            <a:extLst>
              <a:ext uri="{FF2B5EF4-FFF2-40B4-BE49-F238E27FC236}">
                <a16:creationId xmlns:a16="http://schemas.microsoft.com/office/drawing/2014/main" id="{5BA05049-F5E4-2E0B-9D36-42E9AC1CA4C9}"/>
              </a:ext>
            </a:extLst>
          </p:cNvPr>
          <p:cNvSpPr txBox="1"/>
          <p:nvPr/>
        </p:nvSpPr>
        <p:spPr>
          <a:xfrm>
            <a:off x="1610850" y="1200260"/>
            <a:ext cx="3611880" cy="369332"/>
          </a:xfrm>
          <a:prstGeom prst="rect">
            <a:avLst/>
          </a:prstGeom>
          <a:noFill/>
        </p:spPr>
        <p:txBody>
          <a:bodyPr wrap="square">
            <a:spAutoFit/>
          </a:bodyPr>
          <a:lstStyle/>
          <a:p>
            <a:pPr marL="86360" algn="ctr">
              <a:lnSpc>
                <a:spcPct val="100000"/>
              </a:lnSpc>
              <a:spcBef>
                <a:spcPts val="100"/>
              </a:spcBef>
            </a:pPr>
            <a:r>
              <a:rPr lang="en-US" b="1" spc="-10" dirty="0">
                <a:solidFill>
                  <a:schemeClr val="bg1"/>
                </a:solidFill>
                <a:latin typeface="+mj-lt"/>
                <a:cs typeface="Calibri"/>
              </a:rPr>
              <a:t>Executive Summary</a:t>
            </a:r>
          </a:p>
        </p:txBody>
      </p:sp>
      <p:sp>
        <p:nvSpPr>
          <p:cNvPr id="14" name="TextBox 13">
            <a:extLst>
              <a:ext uri="{FF2B5EF4-FFF2-40B4-BE49-F238E27FC236}">
                <a16:creationId xmlns:a16="http://schemas.microsoft.com/office/drawing/2014/main" id="{F97C0B83-2EC6-936E-2F13-9FF9499F160E}"/>
              </a:ext>
            </a:extLst>
          </p:cNvPr>
          <p:cNvSpPr txBox="1"/>
          <p:nvPr/>
        </p:nvSpPr>
        <p:spPr>
          <a:xfrm>
            <a:off x="1731731" y="3677244"/>
            <a:ext cx="3611880" cy="369332"/>
          </a:xfrm>
          <a:prstGeom prst="rect">
            <a:avLst/>
          </a:prstGeom>
          <a:noFill/>
        </p:spPr>
        <p:txBody>
          <a:bodyPr wrap="square">
            <a:spAutoFit/>
          </a:bodyPr>
          <a:lstStyle/>
          <a:p>
            <a:pPr marL="86360" algn="ctr">
              <a:lnSpc>
                <a:spcPct val="100000"/>
              </a:lnSpc>
              <a:spcBef>
                <a:spcPts val="100"/>
              </a:spcBef>
            </a:pPr>
            <a:r>
              <a:rPr lang="en-US" b="1" spc="-10" dirty="0">
                <a:solidFill>
                  <a:schemeClr val="bg1"/>
                </a:solidFill>
                <a:latin typeface="+mj-lt"/>
                <a:cs typeface="Calibri"/>
              </a:rPr>
              <a:t>Key Highlights</a:t>
            </a:r>
          </a:p>
        </p:txBody>
      </p:sp>
    </p:spTree>
    <p:extLst>
      <p:ext uri="{BB962C8B-B14F-4D97-AF65-F5344CB8AC3E}">
        <p14:creationId xmlns:p14="http://schemas.microsoft.com/office/powerpoint/2010/main" val="3603651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6858000" cy="1625597"/>
            <a:chOff x="0" y="0"/>
            <a:chExt cx="6858000" cy="1625597"/>
          </a:xfrm>
        </p:grpSpPr>
        <p:sp>
          <p:nvSpPr>
            <p:cNvPr id="3" name="object 3"/>
            <p:cNvSpPr/>
            <p:nvPr/>
          </p:nvSpPr>
          <p:spPr>
            <a:xfrm>
              <a:off x="0" y="0"/>
              <a:ext cx="6858000" cy="949325"/>
            </a:xfrm>
            <a:custGeom>
              <a:avLst/>
              <a:gdLst/>
              <a:ahLst/>
              <a:cxnLst/>
              <a:rect l="l" t="t" r="r" b="b"/>
              <a:pathLst>
                <a:path w="6858000" h="949325">
                  <a:moveTo>
                    <a:pt x="0" y="949198"/>
                  </a:moveTo>
                  <a:lnTo>
                    <a:pt x="6858000" y="949198"/>
                  </a:lnTo>
                  <a:lnTo>
                    <a:pt x="6858000" y="0"/>
                  </a:lnTo>
                  <a:lnTo>
                    <a:pt x="0" y="0"/>
                  </a:lnTo>
                  <a:lnTo>
                    <a:pt x="0" y="949198"/>
                  </a:lnTo>
                  <a:close/>
                </a:path>
              </a:pathLst>
            </a:custGeom>
            <a:solidFill>
              <a:schemeClr val="accent6">
                <a:lumMod val="75000"/>
              </a:schemeClr>
            </a:solidFill>
          </p:spPr>
          <p:txBody>
            <a:bodyPr wrap="square" lIns="0" tIns="0" rIns="0" bIns="0" rtlCol="0"/>
            <a:lstStyle/>
            <a:p>
              <a:endParaRPr/>
            </a:p>
          </p:txBody>
        </p:sp>
        <p:sp>
          <p:nvSpPr>
            <p:cNvPr id="4" name="object 4"/>
            <p:cNvSpPr/>
            <p:nvPr/>
          </p:nvSpPr>
          <p:spPr>
            <a:xfrm>
              <a:off x="0" y="316227"/>
              <a:ext cx="4147185" cy="1309370"/>
            </a:xfrm>
            <a:custGeom>
              <a:avLst/>
              <a:gdLst/>
              <a:ahLst/>
              <a:cxnLst/>
              <a:rect l="l" t="t" r="r" b="b"/>
              <a:pathLst>
                <a:path w="4147185" h="1309370">
                  <a:moveTo>
                    <a:pt x="3492246" y="0"/>
                  </a:moveTo>
                  <a:lnTo>
                    <a:pt x="0" y="0"/>
                  </a:lnTo>
                  <a:lnTo>
                    <a:pt x="0" y="1309243"/>
                  </a:lnTo>
                  <a:lnTo>
                    <a:pt x="3492246" y="1309243"/>
                  </a:lnTo>
                  <a:lnTo>
                    <a:pt x="4146804" y="654685"/>
                  </a:lnTo>
                  <a:lnTo>
                    <a:pt x="3492246" y="0"/>
                  </a:lnTo>
                  <a:close/>
                </a:path>
              </a:pathLst>
            </a:custGeom>
            <a:solidFill>
              <a:srgbClr val="FFFFFF"/>
            </a:solidFill>
          </p:spPr>
          <p:txBody>
            <a:bodyPr wrap="square" lIns="0" tIns="0" rIns="0" bIns="0" rtlCol="0"/>
            <a:lstStyle/>
            <a:p>
              <a:endParaRPr dirty="0"/>
            </a:p>
          </p:txBody>
        </p:sp>
      </p:grpSp>
      <p:sp>
        <p:nvSpPr>
          <p:cNvPr id="5" name="object 5"/>
          <p:cNvSpPr txBox="1"/>
          <p:nvPr/>
        </p:nvSpPr>
        <p:spPr>
          <a:xfrm>
            <a:off x="147015" y="4952"/>
            <a:ext cx="2081530" cy="247015"/>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FFFFFF"/>
                </a:solidFill>
                <a:latin typeface="Calibri"/>
                <a:cs typeface="Calibri"/>
              </a:rPr>
              <a:t>EQUITY</a:t>
            </a:r>
            <a:r>
              <a:rPr sz="1450" b="1" spc="-65" dirty="0">
                <a:solidFill>
                  <a:srgbClr val="FFFFFF"/>
                </a:solidFill>
                <a:latin typeface="Calibri"/>
                <a:cs typeface="Calibri"/>
              </a:rPr>
              <a:t> </a:t>
            </a:r>
            <a:r>
              <a:rPr sz="1450" b="1" dirty="0">
                <a:solidFill>
                  <a:srgbClr val="FFFFFF"/>
                </a:solidFill>
                <a:latin typeface="Calibri"/>
                <a:cs typeface="Calibri"/>
              </a:rPr>
              <a:t>RESEARCH</a:t>
            </a:r>
            <a:r>
              <a:rPr sz="1450" b="1" spc="-60" dirty="0">
                <a:solidFill>
                  <a:srgbClr val="FFFFFF"/>
                </a:solidFill>
                <a:latin typeface="Calibri"/>
                <a:cs typeface="Calibri"/>
              </a:rPr>
              <a:t> </a:t>
            </a:r>
            <a:r>
              <a:rPr sz="1450" b="1" spc="-10" dirty="0">
                <a:solidFill>
                  <a:srgbClr val="FFFFFF"/>
                </a:solidFill>
                <a:latin typeface="Calibri"/>
                <a:cs typeface="Calibri"/>
              </a:rPr>
              <a:t>REPORT</a:t>
            </a:r>
            <a:endParaRPr sz="1450">
              <a:latin typeface="Calibri"/>
              <a:cs typeface="Calibri"/>
            </a:endParaRPr>
          </a:p>
        </p:txBody>
      </p:sp>
      <p:sp>
        <p:nvSpPr>
          <p:cNvPr id="40" name="object 40"/>
          <p:cNvSpPr txBox="1">
            <a:spLocks noGrp="1"/>
          </p:cNvSpPr>
          <p:nvPr>
            <p:ph type="title"/>
          </p:nvPr>
        </p:nvSpPr>
        <p:spPr>
          <a:xfrm>
            <a:off x="141831" y="295140"/>
            <a:ext cx="4269104" cy="289182"/>
          </a:xfrm>
          <a:prstGeom prst="rect">
            <a:avLst/>
          </a:prstGeom>
        </p:spPr>
        <p:txBody>
          <a:bodyPr vert="horz" wrap="square" lIns="0" tIns="12065" rIns="0" bIns="0" rtlCol="0">
            <a:spAutoFit/>
          </a:bodyPr>
          <a:lstStyle/>
          <a:p>
            <a:pPr marL="12700">
              <a:lnSpc>
                <a:spcPct val="100000"/>
              </a:lnSpc>
              <a:spcBef>
                <a:spcPts val="95"/>
              </a:spcBef>
            </a:pPr>
            <a:r>
              <a:rPr lang="en-GB" sz="1800" dirty="0"/>
              <a:t>Sun Pharmaceutical Industries Ltd.</a:t>
            </a:r>
            <a:endParaRPr sz="1800" dirty="0"/>
          </a:p>
        </p:txBody>
      </p:sp>
      <p:sp>
        <p:nvSpPr>
          <p:cNvPr id="41" name="object 41"/>
          <p:cNvSpPr txBox="1"/>
          <p:nvPr/>
        </p:nvSpPr>
        <p:spPr>
          <a:xfrm>
            <a:off x="141831" y="526972"/>
            <a:ext cx="3210968"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D2841"/>
                </a:solidFill>
                <a:latin typeface="Calibri"/>
                <a:cs typeface="Calibri"/>
              </a:rPr>
              <a:t>NSE</a:t>
            </a:r>
            <a:r>
              <a:rPr sz="1200" b="1" spc="-20" dirty="0">
                <a:solidFill>
                  <a:srgbClr val="0D2841"/>
                </a:solidFill>
                <a:latin typeface="Calibri"/>
                <a:cs typeface="Calibri"/>
              </a:rPr>
              <a:t> </a:t>
            </a:r>
            <a:r>
              <a:rPr sz="1200" b="1" dirty="0">
                <a:solidFill>
                  <a:srgbClr val="0D2841"/>
                </a:solidFill>
                <a:latin typeface="Calibri"/>
                <a:cs typeface="Calibri"/>
              </a:rPr>
              <a:t>:</a:t>
            </a:r>
            <a:r>
              <a:rPr lang="en-US" sz="1200" b="1" spc="-15" dirty="0">
                <a:solidFill>
                  <a:srgbClr val="0D2841"/>
                </a:solidFill>
                <a:latin typeface="Calibri"/>
                <a:cs typeface="Calibri"/>
              </a:rPr>
              <a:t> </a:t>
            </a:r>
            <a:r>
              <a:rPr lang="en-GB" sz="1200" b="1" dirty="0">
                <a:latin typeface="+mj-lt"/>
              </a:rPr>
              <a:t>SUNPHARMA</a:t>
            </a:r>
            <a:r>
              <a:rPr sz="1200" b="1" spc="10" dirty="0">
                <a:solidFill>
                  <a:srgbClr val="0D2841"/>
                </a:solidFill>
                <a:latin typeface="Calibri"/>
                <a:cs typeface="Calibri"/>
              </a:rPr>
              <a:t> </a:t>
            </a:r>
            <a:r>
              <a:rPr sz="1200" b="1" dirty="0">
                <a:solidFill>
                  <a:srgbClr val="0D2841"/>
                </a:solidFill>
                <a:latin typeface="Calibri"/>
                <a:cs typeface="Calibri"/>
              </a:rPr>
              <a:t>|</a:t>
            </a:r>
            <a:r>
              <a:rPr sz="1200" b="1" spc="-15" dirty="0">
                <a:solidFill>
                  <a:srgbClr val="0D2841"/>
                </a:solidFill>
                <a:latin typeface="Calibri"/>
                <a:cs typeface="Calibri"/>
              </a:rPr>
              <a:t> </a:t>
            </a:r>
            <a:r>
              <a:rPr sz="1200" b="1" dirty="0">
                <a:solidFill>
                  <a:srgbClr val="0D2841"/>
                </a:solidFill>
                <a:latin typeface="Calibri"/>
                <a:cs typeface="Calibri"/>
              </a:rPr>
              <a:t>BSE Code:</a:t>
            </a:r>
            <a:r>
              <a:rPr sz="1200" b="1" spc="-5" dirty="0">
                <a:solidFill>
                  <a:srgbClr val="0D2841"/>
                </a:solidFill>
                <a:latin typeface="Calibri"/>
                <a:cs typeface="Calibri"/>
              </a:rPr>
              <a:t> </a:t>
            </a:r>
            <a:r>
              <a:rPr lang="en-GB" sz="1200" b="1" dirty="0">
                <a:latin typeface="+mj-lt"/>
              </a:rPr>
              <a:t>524715</a:t>
            </a:r>
          </a:p>
        </p:txBody>
      </p:sp>
      <p:sp>
        <p:nvSpPr>
          <p:cNvPr id="57" name="object 41">
            <a:extLst>
              <a:ext uri="{FF2B5EF4-FFF2-40B4-BE49-F238E27FC236}">
                <a16:creationId xmlns:a16="http://schemas.microsoft.com/office/drawing/2014/main" id="{A4CE2B38-9DA1-AD14-D09F-5355F60BA0B5}"/>
              </a:ext>
            </a:extLst>
          </p:cNvPr>
          <p:cNvSpPr txBox="1"/>
          <p:nvPr/>
        </p:nvSpPr>
        <p:spPr>
          <a:xfrm>
            <a:off x="141831" y="686543"/>
            <a:ext cx="3210968" cy="197490"/>
          </a:xfrm>
          <a:prstGeom prst="rect">
            <a:avLst/>
          </a:prstGeom>
        </p:spPr>
        <p:txBody>
          <a:bodyPr vert="horz" wrap="square" lIns="0" tIns="12700" rIns="0" bIns="0" rtlCol="0">
            <a:spAutoFit/>
          </a:bodyPr>
          <a:lstStyle/>
          <a:p>
            <a:pPr marL="12700">
              <a:lnSpc>
                <a:spcPct val="100000"/>
              </a:lnSpc>
              <a:spcBef>
                <a:spcPts val="100"/>
              </a:spcBef>
            </a:pPr>
            <a:r>
              <a:rPr lang="en-GB" sz="1200" b="1" dirty="0">
                <a:latin typeface="Calibri "/>
              </a:rPr>
              <a:t>Pharmaceuticals &amp; Drugs</a:t>
            </a:r>
          </a:p>
        </p:txBody>
      </p:sp>
      <p:pic>
        <p:nvPicPr>
          <p:cNvPr id="59" name="Picture 58">
            <a:extLst>
              <a:ext uri="{FF2B5EF4-FFF2-40B4-BE49-F238E27FC236}">
                <a16:creationId xmlns:a16="http://schemas.microsoft.com/office/drawing/2014/main" id="{E16D52EA-F1BD-484B-4CA0-DBFF0113C3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04126" y="17284"/>
            <a:ext cx="1295705" cy="879830"/>
          </a:xfrm>
          <a:prstGeom prst="rect">
            <a:avLst/>
          </a:prstGeom>
        </p:spPr>
      </p:pic>
      <p:cxnSp>
        <p:nvCxnSpPr>
          <p:cNvPr id="61" name="Straight Connector 60">
            <a:extLst>
              <a:ext uri="{FF2B5EF4-FFF2-40B4-BE49-F238E27FC236}">
                <a16:creationId xmlns:a16="http://schemas.microsoft.com/office/drawing/2014/main" id="{01430D55-C150-28B4-1B74-60D53B0357A2}"/>
              </a:ext>
            </a:extLst>
          </p:cNvPr>
          <p:cNvCxnSpPr>
            <a:cxnSpLocks/>
          </p:cNvCxnSpPr>
          <p:nvPr/>
        </p:nvCxnSpPr>
        <p:spPr>
          <a:xfrm>
            <a:off x="0" y="8859394"/>
            <a:ext cx="6858000" cy="0"/>
          </a:xfrm>
          <a:prstGeom prst="line">
            <a:avLst/>
          </a:prstGeom>
          <a:ln w="41275">
            <a:solidFill>
              <a:srgbClr val="E46C0A"/>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92CF3E35-22AB-C439-F95E-88E2CDE2061E}"/>
              </a:ext>
            </a:extLst>
          </p:cNvPr>
          <p:cNvSpPr txBox="1"/>
          <p:nvPr/>
        </p:nvSpPr>
        <p:spPr>
          <a:xfrm>
            <a:off x="6553200" y="8810228"/>
            <a:ext cx="667055" cy="369332"/>
          </a:xfrm>
          <a:prstGeom prst="rect">
            <a:avLst/>
          </a:prstGeom>
          <a:noFill/>
        </p:spPr>
        <p:txBody>
          <a:bodyPr wrap="square" rtlCol="0">
            <a:spAutoFit/>
          </a:bodyPr>
          <a:lstStyle/>
          <a:p>
            <a:r>
              <a:rPr lang="en-US" b="1" dirty="0">
                <a:solidFill>
                  <a:srgbClr val="E46C0A"/>
                </a:solidFill>
              </a:rPr>
              <a:t>1</a:t>
            </a:r>
            <a:endParaRPr lang="en-GB" b="1" dirty="0">
              <a:solidFill>
                <a:srgbClr val="E46C0A"/>
              </a:solidFill>
            </a:endParaRPr>
          </a:p>
        </p:txBody>
      </p:sp>
      <p:cxnSp>
        <p:nvCxnSpPr>
          <p:cNvPr id="69" name="Straight Connector 68">
            <a:extLst>
              <a:ext uri="{FF2B5EF4-FFF2-40B4-BE49-F238E27FC236}">
                <a16:creationId xmlns:a16="http://schemas.microsoft.com/office/drawing/2014/main" id="{784077AE-4C24-9691-27AE-FC71BA7D620F}"/>
              </a:ext>
            </a:extLst>
          </p:cNvPr>
          <p:cNvCxnSpPr>
            <a:cxnSpLocks/>
          </p:cNvCxnSpPr>
          <p:nvPr/>
        </p:nvCxnSpPr>
        <p:spPr>
          <a:xfrm flipV="1">
            <a:off x="0" y="933199"/>
            <a:ext cx="6858000" cy="37713"/>
          </a:xfrm>
          <a:prstGeom prst="line">
            <a:avLst/>
          </a:prstGeom>
          <a:ln>
            <a:solidFill>
              <a:srgbClr val="E46C0A"/>
            </a:solidFill>
          </a:ln>
        </p:spPr>
        <p:style>
          <a:lnRef idx="1">
            <a:schemeClr val="accent1"/>
          </a:lnRef>
          <a:fillRef idx="0">
            <a:schemeClr val="accent1"/>
          </a:fillRef>
          <a:effectRef idx="0">
            <a:schemeClr val="accent1"/>
          </a:effectRef>
          <a:fontRef idx="minor">
            <a:schemeClr val="tx1"/>
          </a:fontRef>
        </p:style>
      </p:cxnSp>
      <p:sp>
        <p:nvSpPr>
          <p:cNvPr id="7" name="object 2">
            <a:extLst>
              <a:ext uri="{FF2B5EF4-FFF2-40B4-BE49-F238E27FC236}">
                <a16:creationId xmlns:a16="http://schemas.microsoft.com/office/drawing/2014/main" id="{E6F7E9C7-FF40-6404-57BA-44FDB18DEF5D}"/>
              </a:ext>
            </a:extLst>
          </p:cNvPr>
          <p:cNvSpPr/>
          <p:nvPr/>
        </p:nvSpPr>
        <p:spPr>
          <a:xfrm>
            <a:off x="141831" y="1051546"/>
            <a:ext cx="6411369" cy="429865"/>
          </a:xfrm>
          <a:custGeom>
            <a:avLst/>
            <a:gdLst/>
            <a:ahLst/>
            <a:cxnLst/>
            <a:rect l="l" t="t" r="r" b="b"/>
            <a:pathLst>
              <a:path w="7296784" h="401319">
                <a:moveTo>
                  <a:pt x="7296359" y="400830"/>
                </a:moveTo>
                <a:lnTo>
                  <a:pt x="0" y="400830"/>
                </a:lnTo>
                <a:lnTo>
                  <a:pt x="0" y="0"/>
                </a:lnTo>
                <a:lnTo>
                  <a:pt x="7296359" y="0"/>
                </a:lnTo>
                <a:lnTo>
                  <a:pt x="7296359" y="400830"/>
                </a:lnTo>
                <a:close/>
              </a:path>
            </a:pathLst>
          </a:custGeom>
          <a:solidFill>
            <a:srgbClr val="E46C0A"/>
          </a:solidFill>
        </p:spPr>
        <p:txBody>
          <a:bodyPr wrap="square" lIns="0" tIns="0" rIns="0" bIns="0" rtlCol="0"/>
          <a:lstStyle/>
          <a:p>
            <a:endParaRPr/>
          </a:p>
        </p:txBody>
      </p:sp>
      <p:sp>
        <p:nvSpPr>
          <p:cNvPr id="9" name="TextBox 8">
            <a:extLst>
              <a:ext uri="{FF2B5EF4-FFF2-40B4-BE49-F238E27FC236}">
                <a16:creationId xmlns:a16="http://schemas.microsoft.com/office/drawing/2014/main" id="{202D986F-5C94-471D-B9E8-2C89174794A1}"/>
              </a:ext>
            </a:extLst>
          </p:cNvPr>
          <p:cNvSpPr txBox="1"/>
          <p:nvPr/>
        </p:nvSpPr>
        <p:spPr>
          <a:xfrm>
            <a:off x="17780" y="1080886"/>
            <a:ext cx="3611880" cy="369332"/>
          </a:xfrm>
          <a:prstGeom prst="rect">
            <a:avLst/>
          </a:prstGeom>
          <a:noFill/>
        </p:spPr>
        <p:txBody>
          <a:bodyPr wrap="square">
            <a:spAutoFit/>
          </a:bodyPr>
          <a:lstStyle/>
          <a:p>
            <a:pPr marL="136525">
              <a:lnSpc>
                <a:spcPct val="100000"/>
              </a:lnSpc>
            </a:pPr>
            <a:r>
              <a:rPr lang="en-GB" b="1" spc="-50" dirty="0">
                <a:solidFill>
                  <a:schemeClr val="bg1"/>
                </a:solidFill>
                <a:latin typeface="+mj-lt"/>
                <a:cs typeface="Arial"/>
              </a:rPr>
              <a:t>Industry</a:t>
            </a:r>
            <a:r>
              <a:rPr lang="en-GB" b="1" spc="-45" dirty="0">
                <a:solidFill>
                  <a:schemeClr val="bg1"/>
                </a:solidFill>
                <a:latin typeface="+mj-lt"/>
                <a:cs typeface="Arial"/>
              </a:rPr>
              <a:t> </a:t>
            </a:r>
            <a:r>
              <a:rPr lang="en-GB" b="1" spc="-10" dirty="0">
                <a:solidFill>
                  <a:schemeClr val="bg1"/>
                </a:solidFill>
                <a:latin typeface="+mj-lt"/>
                <a:cs typeface="Arial"/>
              </a:rPr>
              <a:t>Overview</a:t>
            </a:r>
            <a:endParaRPr lang="en-GB" dirty="0">
              <a:solidFill>
                <a:schemeClr val="bg1"/>
              </a:solidFill>
              <a:latin typeface="+mj-lt"/>
              <a:cs typeface="Arial"/>
            </a:endParaRPr>
          </a:p>
        </p:txBody>
      </p:sp>
      <p:sp>
        <p:nvSpPr>
          <p:cNvPr id="13" name="TextBox 12">
            <a:extLst>
              <a:ext uri="{FF2B5EF4-FFF2-40B4-BE49-F238E27FC236}">
                <a16:creationId xmlns:a16="http://schemas.microsoft.com/office/drawing/2014/main" id="{97F52E80-EC8F-D203-E6E6-81363D1DEF5C}"/>
              </a:ext>
            </a:extLst>
          </p:cNvPr>
          <p:cNvSpPr txBox="1"/>
          <p:nvPr/>
        </p:nvSpPr>
        <p:spPr>
          <a:xfrm>
            <a:off x="141830" y="1706231"/>
            <a:ext cx="6411368" cy="4339650"/>
          </a:xfrm>
          <a:prstGeom prst="rect">
            <a:avLst/>
          </a:prstGeom>
          <a:noFill/>
        </p:spPr>
        <p:txBody>
          <a:bodyPr wrap="square">
            <a:spAutoFit/>
          </a:bodyPr>
          <a:lstStyle/>
          <a:p>
            <a:pPr marL="204470" algn="just">
              <a:lnSpc>
                <a:spcPct val="100000"/>
              </a:lnSpc>
            </a:pPr>
            <a:endParaRPr lang="en-GB" sz="1200" dirty="0">
              <a:latin typeface="+mn-lt"/>
              <a:ea typeface="Tahoma" panose="020B0604030504040204" pitchFamily="34" charset="0"/>
              <a:cs typeface="Tahoma" panose="020B0604030504040204" pitchFamily="34" charset="0"/>
            </a:endParaRPr>
          </a:p>
          <a:p>
            <a:pPr algn="just"/>
            <a:r>
              <a:rPr lang="en-GB" sz="1200" dirty="0">
                <a:latin typeface="+mn-lt"/>
                <a:ea typeface="Tahoma" panose="020B0604030504040204" pitchFamily="34" charset="0"/>
                <a:cs typeface="Tahoma" panose="020B0604030504040204" pitchFamily="34" charset="0"/>
              </a:rPr>
              <a:t>The global pharmaceutical industry, typically analysed across branded, generic, and specialty medicine segments, is projected to reach an estimated market size of approximately </a:t>
            </a:r>
            <a:r>
              <a:rPr lang="en-GB" sz="1200" b="1" dirty="0">
                <a:latin typeface="+mn-lt"/>
                <a:ea typeface="Tahoma" panose="020B0604030504040204" pitchFamily="34" charset="0"/>
                <a:cs typeface="Tahoma" panose="020B0604030504040204" pitchFamily="34" charset="0"/>
              </a:rPr>
              <a:t>US 1.76 trillion in 2026</a:t>
            </a:r>
            <a:r>
              <a:rPr lang="en-GB" sz="1200" dirty="0">
                <a:latin typeface="+mn-lt"/>
                <a:ea typeface="Tahoma" panose="020B0604030504040204" pitchFamily="34" charset="0"/>
                <a:cs typeface="Tahoma" panose="020B0604030504040204" pitchFamily="34" charset="0"/>
              </a:rPr>
              <a:t> based on direct industry estimates. More recent industry tracking values the baseline market at </a:t>
            </a:r>
            <a:r>
              <a:rPr lang="en-GB" sz="1200" b="1" dirty="0">
                <a:latin typeface="+mn-lt"/>
                <a:ea typeface="Tahoma" panose="020B0604030504040204" pitchFamily="34" charset="0"/>
                <a:cs typeface="Tahoma" panose="020B0604030504040204" pitchFamily="34" charset="0"/>
              </a:rPr>
              <a:t>US 2.225 to US 60.32 billion in 2026</a:t>
            </a:r>
            <a:r>
              <a:rPr lang="en-GB" sz="1200" dirty="0">
                <a:latin typeface="+mn-lt"/>
                <a:ea typeface="Tahoma" panose="020B0604030504040204" pitchFamily="34" charset="0"/>
                <a:cs typeface="Tahoma" panose="020B0604030504040204" pitchFamily="34" charset="0"/>
              </a:rPr>
              <a:t>. This specific figure is sourced from Mordor Intelligence, a reputable market research firm that provides a direct estimate for 2026.</a:t>
            </a:r>
          </a:p>
          <a:p>
            <a:pPr algn="just"/>
            <a:endParaRPr lang="en-GB" sz="1200" dirty="0">
              <a:latin typeface="+mn-lt"/>
              <a:ea typeface="Tahoma" panose="020B0604030504040204" pitchFamily="34" charset="0"/>
              <a:cs typeface="Tahoma" panose="020B0604030504040204" pitchFamily="34" charset="0"/>
            </a:endParaRPr>
          </a:p>
          <a:p>
            <a:pPr algn="just"/>
            <a:r>
              <a:rPr lang="en-GB" sz="1200" dirty="0">
                <a:latin typeface="+mn-lt"/>
                <a:ea typeface="Tahoma" panose="020B0604030504040204" pitchFamily="34" charset="0"/>
                <a:cs typeface="Tahoma" panose="020B0604030504040204" pitchFamily="34" charset="0"/>
              </a:rPr>
              <a:t>The global pharmaceutical industry's expanding size in 2026 reflects its critical role in worldwide disease management and healthcare. </a:t>
            </a:r>
            <a:r>
              <a:rPr lang="en-GB" sz="1200" b="1" dirty="0">
                <a:latin typeface="+mn-lt"/>
                <a:ea typeface="Tahoma" panose="020B0604030504040204" pitchFamily="34" charset="0"/>
                <a:cs typeface="Tahoma" panose="020B0604030504040204" pitchFamily="34" charset="0"/>
              </a:rPr>
              <a:t>Original branded medicines</a:t>
            </a:r>
            <a:r>
              <a:rPr lang="en-GB" sz="1200" dirty="0">
                <a:latin typeface="+mn-lt"/>
                <a:ea typeface="Tahoma" panose="020B0604030504040204" pitchFamily="34" charset="0"/>
                <a:cs typeface="Tahoma" panose="020B0604030504040204" pitchFamily="34" charset="0"/>
              </a:rPr>
              <a:t> dominate the market value, accounting for approximately </a:t>
            </a:r>
            <a:r>
              <a:rPr lang="en-GB" sz="1200" b="1" dirty="0">
                <a:latin typeface="+mn-lt"/>
                <a:ea typeface="Tahoma" panose="020B0604030504040204" pitchFamily="34" charset="0"/>
                <a:cs typeface="Tahoma" panose="020B0604030504040204" pitchFamily="34" charset="0"/>
              </a:rPr>
              <a:t>66% of the total global spending</a:t>
            </a:r>
            <a:r>
              <a:rPr lang="en-GB" sz="1200" dirty="0">
                <a:latin typeface="+mn-lt"/>
                <a:ea typeface="Tahoma" panose="020B0604030504040204" pitchFamily="34" charset="0"/>
                <a:cs typeface="Tahoma" panose="020B0604030504040204" pitchFamily="34" charset="0"/>
              </a:rPr>
              <a:t>, primarily due to high-income developed markets. Additionally, </a:t>
            </a:r>
            <a:r>
              <a:rPr lang="en-GB" sz="1200" b="1" dirty="0">
                <a:latin typeface="+mn-lt"/>
                <a:ea typeface="Tahoma" panose="020B0604030504040204" pitchFamily="34" charset="0"/>
                <a:cs typeface="Tahoma" panose="020B0604030504040204" pitchFamily="34" charset="0"/>
              </a:rPr>
              <a:t>specialty medicines</a:t>
            </a:r>
            <a:r>
              <a:rPr lang="en-GB" sz="1200" dirty="0">
                <a:latin typeface="+mn-lt"/>
                <a:ea typeface="Tahoma" panose="020B0604030504040204" pitchFamily="34" charset="0"/>
                <a:cs typeface="Tahoma" panose="020B0604030504040204" pitchFamily="34" charset="0"/>
              </a:rPr>
              <a:t>—used to treat chronic, complex, and rare diseases—make up a rapidly surging segment of the market and are expected to account for </a:t>
            </a:r>
            <a:r>
              <a:rPr lang="en-GB" sz="1200" b="1" dirty="0">
                <a:latin typeface="+mn-lt"/>
                <a:ea typeface="Tahoma" panose="020B0604030504040204" pitchFamily="34" charset="0"/>
                <a:cs typeface="Tahoma" panose="020B0604030504040204" pitchFamily="34" charset="0"/>
              </a:rPr>
              <a:t>43% of total global spending</a:t>
            </a:r>
            <a:r>
              <a:rPr lang="en-GB" sz="1200" dirty="0">
                <a:latin typeface="+mn-lt"/>
                <a:ea typeface="Tahoma" panose="020B0604030504040204" pitchFamily="34" charset="0"/>
                <a:cs typeface="Tahoma" panose="020B0604030504040204" pitchFamily="34" charset="0"/>
              </a:rPr>
              <a:t> by 2027 and 2028.</a:t>
            </a:r>
          </a:p>
          <a:p>
            <a:pPr algn="just"/>
            <a:endParaRPr lang="en-GB" sz="1200" dirty="0">
              <a:latin typeface="+mn-lt"/>
              <a:ea typeface="Tahoma" panose="020B0604030504040204" pitchFamily="34" charset="0"/>
              <a:cs typeface="Tahoma" panose="020B0604030504040204" pitchFamily="34" charset="0"/>
            </a:endParaRPr>
          </a:p>
          <a:p>
            <a:pPr algn="just"/>
            <a:r>
              <a:rPr lang="en-GB" sz="1200" b="1" dirty="0">
                <a:latin typeface="+mn-lt"/>
                <a:ea typeface="Tahoma" panose="020B0604030504040204" pitchFamily="34" charset="0"/>
                <a:cs typeface="Tahoma" panose="020B0604030504040204" pitchFamily="34" charset="0"/>
              </a:rPr>
              <a:t>Generic medicines and Active Pharmaceutical Ingredients (APIs)</a:t>
            </a:r>
            <a:r>
              <a:rPr lang="en-GB" sz="1200" dirty="0">
                <a:latin typeface="+mn-lt"/>
                <a:ea typeface="Tahoma" panose="020B0604030504040204" pitchFamily="34" charset="0"/>
                <a:cs typeface="Tahoma" panose="020B0604030504040204" pitchFamily="34" charset="0"/>
              </a:rPr>
              <a:t> make up a highly significant portion of the market's volume, driven by global cost-containment pressures and the need for affordable healthcare access. The </a:t>
            </a:r>
            <a:r>
              <a:rPr lang="en-GB" sz="1200" b="1" dirty="0">
                <a:latin typeface="+mn-lt"/>
                <a:ea typeface="Tahoma" panose="020B0604030504040204" pitchFamily="34" charset="0"/>
                <a:cs typeface="Tahoma" panose="020B0604030504040204" pitchFamily="34" charset="0"/>
              </a:rPr>
              <a:t>"Pharmerging" markets'</a:t>
            </a:r>
            <a:r>
              <a:rPr lang="en-GB" sz="1200" dirty="0">
                <a:latin typeface="+mn-lt"/>
                <a:ea typeface="Tahoma" panose="020B0604030504040204" pitchFamily="34" charset="0"/>
                <a:cs typeface="Tahoma" panose="020B0604030504040204" pitchFamily="34" charset="0"/>
              </a:rPr>
              <a:t> growth is particularly notable, as they are projected to expand at a rapid </a:t>
            </a:r>
            <a:r>
              <a:rPr lang="en-GB" sz="1200" b="1" dirty="0">
                <a:latin typeface="+mn-lt"/>
                <a:ea typeface="Tahoma" panose="020B0604030504040204" pitchFamily="34" charset="0"/>
                <a:cs typeface="Tahoma" panose="020B0604030504040204" pitchFamily="34" charset="0"/>
              </a:rPr>
              <a:t>10-13% CAGR</a:t>
            </a:r>
            <a:r>
              <a:rPr lang="en-GB" sz="1200" dirty="0">
                <a:latin typeface="+mn-lt"/>
                <a:ea typeface="Tahoma" panose="020B0604030504040204" pitchFamily="34" charset="0"/>
                <a:cs typeface="Tahoma" panose="020B0604030504040204" pitchFamily="34" charset="0"/>
              </a:rPr>
              <a:t> to reach US$ 400-430 billion by 2028, with China and India being the largest global volume contributors. This regional strength is underpinned by demographic shifts such as an aging population, rising per capita incomes, and robust government initiatives like India's Production Linked Incentive (PLI) scheme to boost domestic manufacturing capabilities.</a:t>
            </a:r>
          </a:p>
          <a:p>
            <a:pPr algn="just"/>
            <a:endParaRPr lang="en-GB" sz="1200" dirty="0">
              <a:latin typeface="+mn-lt"/>
              <a:ea typeface="Tahoma" panose="020B0604030504040204" pitchFamily="34" charset="0"/>
              <a:cs typeface="Tahoma" panose="020B0604030504040204" pitchFamily="34" charset="0"/>
            </a:endParaRPr>
          </a:p>
        </p:txBody>
      </p:sp>
      <p:sp>
        <p:nvSpPr>
          <p:cNvPr id="15" name="TextBox 14">
            <a:extLst>
              <a:ext uri="{FF2B5EF4-FFF2-40B4-BE49-F238E27FC236}">
                <a16:creationId xmlns:a16="http://schemas.microsoft.com/office/drawing/2014/main" id="{C4B374DF-EC22-0EFB-56EC-AED7A63A24A9}"/>
              </a:ext>
            </a:extLst>
          </p:cNvPr>
          <p:cNvSpPr txBox="1"/>
          <p:nvPr/>
        </p:nvSpPr>
        <p:spPr>
          <a:xfrm>
            <a:off x="-67628" y="1590863"/>
            <a:ext cx="3611880" cy="307777"/>
          </a:xfrm>
          <a:prstGeom prst="rect">
            <a:avLst/>
          </a:prstGeom>
          <a:noFill/>
        </p:spPr>
        <p:txBody>
          <a:bodyPr wrap="square">
            <a:spAutoFit/>
          </a:bodyPr>
          <a:lstStyle/>
          <a:p>
            <a:pPr marL="204470">
              <a:lnSpc>
                <a:spcPct val="100000"/>
              </a:lnSpc>
            </a:pPr>
            <a:r>
              <a:rPr lang="en-GB" sz="1400" b="1" spc="-35" dirty="0">
                <a:solidFill>
                  <a:srgbClr val="E36B0C"/>
                </a:solidFill>
                <a:latin typeface="+mj-lt"/>
                <a:cs typeface="Arial"/>
              </a:rPr>
              <a:t>Industry</a:t>
            </a:r>
            <a:r>
              <a:rPr lang="en-GB" sz="1400" b="1" spc="-55" dirty="0">
                <a:solidFill>
                  <a:srgbClr val="E36B0C"/>
                </a:solidFill>
                <a:latin typeface="+mj-lt"/>
                <a:cs typeface="Arial"/>
              </a:rPr>
              <a:t> </a:t>
            </a:r>
            <a:r>
              <a:rPr lang="en-GB" sz="1400" b="1" spc="-50" dirty="0">
                <a:solidFill>
                  <a:srgbClr val="E36B0C"/>
                </a:solidFill>
                <a:latin typeface="+mj-lt"/>
                <a:cs typeface="Arial"/>
              </a:rPr>
              <a:t>Size </a:t>
            </a:r>
            <a:r>
              <a:rPr lang="en-GB" sz="1400" b="1" spc="-10" dirty="0">
                <a:solidFill>
                  <a:srgbClr val="E36B0C"/>
                </a:solidFill>
                <a:latin typeface="+mj-lt"/>
                <a:cs typeface="Arial"/>
              </a:rPr>
              <a:t>(2026</a:t>
            </a:r>
            <a:r>
              <a:rPr lang="en-GB" sz="1200" b="1" spc="-10" dirty="0">
                <a:solidFill>
                  <a:srgbClr val="E36B0C"/>
                </a:solidFill>
                <a:latin typeface="+mj-lt"/>
                <a:cs typeface="Arial"/>
              </a:rPr>
              <a:t>)</a:t>
            </a:r>
            <a:endParaRPr lang="en-GB" sz="1200" dirty="0">
              <a:solidFill>
                <a:srgbClr val="E36B0C"/>
              </a:solidFill>
              <a:latin typeface="+mj-lt"/>
              <a:cs typeface="Arial"/>
            </a:endParaRPr>
          </a:p>
        </p:txBody>
      </p:sp>
      <p:sp>
        <p:nvSpPr>
          <p:cNvPr id="17" name="TextBox 16">
            <a:extLst>
              <a:ext uri="{FF2B5EF4-FFF2-40B4-BE49-F238E27FC236}">
                <a16:creationId xmlns:a16="http://schemas.microsoft.com/office/drawing/2014/main" id="{92B8356F-EEC5-75F0-448A-B3F1FF0514E7}"/>
              </a:ext>
            </a:extLst>
          </p:cNvPr>
          <p:cNvSpPr txBox="1"/>
          <p:nvPr/>
        </p:nvSpPr>
        <p:spPr>
          <a:xfrm>
            <a:off x="223316" y="6449060"/>
            <a:ext cx="6411368" cy="2677656"/>
          </a:xfrm>
          <a:prstGeom prst="rect">
            <a:avLst/>
          </a:prstGeom>
          <a:noFill/>
        </p:spPr>
        <p:txBody>
          <a:bodyPr wrap="square">
            <a:spAutoFit/>
          </a:bodyPr>
          <a:lstStyle/>
          <a:p>
            <a:pPr algn="just"/>
            <a:r>
              <a:rPr lang="en-GB" sz="1200" dirty="0">
                <a:latin typeface="+mn-lt"/>
              </a:rPr>
              <a:t>The global pharmaceutical industry is projected to grow at a CAGR of approximately 6%–9% from 2024 to 2028. This range is derived from recent global pharmaceutical market estimates, which reflect an upward revision in the outlook for medicine spending as the pandemic transitioned to an endemic phase and global medicine usage steadily expanded.</a:t>
            </a:r>
          </a:p>
          <a:p>
            <a:pPr algn="just"/>
            <a:endParaRPr lang="en-GB" sz="1200" dirty="0">
              <a:latin typeface="+mn-lt"/>
            </a:endParaRPr>
          </a:p>
          <a:p>
            <a:pPr algn="just"/>
            <a:r>
              <a:rPr lang="en-GB" sz="1200" dirty="0">
                <a:latin typeface="+mn-lt"/>
              </a:rPr>
              <a:t>The growth is underpinned by the increasing demand for chronic care, specialty treatments, and innovative therapies across various applications, with the market size expected to expand significantly. For instance, the global pharmaceutical market was valued at US 2.225 trillion and US$ 2.255 trillion by 2028. These figures indicate a robust market trajectory, driven by global demographic shifts such as an aging population, the rising prevalence of chronic lifestyle diseases, and sustained investments in high-value innovative treatments like oncology and immunology.</a:t>
            </a:r>
          </a:p>
          <a:p>
            <a:pPr algn="just"/>
            <a:endParaRPr lang="en-GB" sz="1200" dirty="0">
              <a:latin typeface="+mn-lt"/>
            </a:endParaRPr>
          </a:p>
          <a:p>
            <a:pPr algn="just"/>
            <a:endParaRPr lang="en-GB" sz="1200" dirty="0">
              <a:latin typeface="+mn-lt"/>
            </a:endParaRPr>
          </a:p>
          <a:p>
            <a:pPr algn="just"/>
            <a:endParaRPr lang="en-GB" sz="1200" dirty="0">
              <a:latin typeface="+mn-lt"/>
            </a:endParaRPr>
          </a:p>
        </p:txBody>
      </p:sp>
      <p:sp>
        <p:nvSpPr>
          <p:cNvPr id="19" name="TextBox 18">
            <a:extLst>
              <a:ext uri="{FF2B5EF4-FFF2-40B4-BE49-F238E27FC236}">
                <a16:creationId xmlns:a16="http://schemas.microsoft.com/office/drawing/2014/main" id="{3CC20802-5961-DC6E-F627-64D6A3B15810}"/>
              </a:ext>
            </a:extLst>
          </p:cNvPr>
          <p:cNvSpPr txBox="1"/>
          <p:nvPr/>
        </p:nvSpPr>
        <p:spPr>
          <a:xfrm>
            <a:off x="17780" y="6051137"/>
            <a:ext cx="3647440" cy="307777"/>
          </a:xfrm>
          <a:prstGeom prst="rect">
            <a:avLst/>
          </a:prstGeom>
          <a:noFill/>
        </p:spPr>
        <p:txBody>
          <a:bodyPr wrap="square">
            <a:spAutoFit/>
          </a:bodyPr>
          <a:lstStyle/>
          <a:p>
            <a:pPr marL="204470" algn="just">
              <a:lnSpc>
                <a:spcPct val="100000"/>
              </a:lnSpc>
            </a:pPr>
            <a:r>
              <a:rPr lang="en-GB" sz="1400" b="1" spc="-35" dirty="0">
                <a:solidFill>
                  <a:srgbClr val="E46C0A"/>
                </a:solidFill>
                <a:latin typeface="+mj-lt"/>
                <a:cs typeface="Arial"/>
              </a:rPr>
              <a:t>Industry</a:t>
            </a:r>
            <a:r>
              <a:rPr lang="en-GB" sz="1400" b="1" spc="-40" dirty="0">
                <a:solidFill>
                  <a:srgbClr val="E46C0A"/>
                </a:solidFill>
                <a:latin typeface="+mj-lt"/>
                <a:cs typeface="Arial"/>
              </a:rPr>
              <a:t> </a:t>
            </a:r>
            <a:r>
              <a:rPr lang="en-GB" sz="1400" b="1" spc="-45" dirty="0">
                <a:solidFill>
                  <a:srgbClr val="E46C0A"/>
                </a:solidFill>
                <a:latin typeface="+mj-lt"/>
                <a:cs typeface="Arial"/>
              </a:rPr>
              <a:t>Growth</a:t>
            </a:r>
            <a:r>
              <a:rPr lang="en-GB" sz="1400" b="1" spc="-35" dirty="0">
                <a:solidFill>
                  <a:srgbClr val="E46C0A"/>
                </a:solidFill>
                <a:latin typeface="+mj-lt"/>
                <a:cs typeface="Arial"/>
              </a:rPr>
              <a:t> </a:t>
            </a:r>
            <a:r>
              <a:rPr lang="en-GB" sz="1400" b="1" spc="-10" dirty="0">
                <a:solidFill>
                  <a:srgbClr val="E46C0A"/>
                </a:solidFill>
                <a:latin typeface="+mj-lt"/>
                <a:cs typeface="Arial"/>
              </a:rPr>
              <a:t>Projections</a:t>
            </a:r>
            <a:endParaRPr lang="en-GB" sz="1400" dirty="0">
              <a:solidFill>
                <a:srgbClr val="E46C0A"/>
              </a:solidFill>
              <a:latin typeface="+mj-lt"/>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BC30D-FE3F-C42C-A8DD-8EA77516567C}"/>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0C5F4C67-74F5-26DF-D27D-F35B5B48B618}"/>
              </a:ext>
            </a:extLst>
          </p:cNvPr>
          <p:cNvGrpSpPr/>
          <p:nvPr/>
        </p:nvGrpSpPr>
        <p:grpSpPr>
          <a:xfrm>
            <a:off x="0" y="0"/>
            <a:ext cx="6858000" cy="1625597"/>
            <a:chOff x="0" y="0"/>
            <a:chExt cx="6858000" cy="1625597"/>
          </a:xfrm>
        </p:grpSpPr>
        <p:sp>
          <p:nvSpPr>
            <p:cNvPr id="3" name="object 3">
              <a:extLst>
                <a:ext uri="{FF2B5EF4-FFF2-40B4-BE49-F238E27FC236}">
                  <a16:creationId xmlns:a16="http://schemas.microsoft.com/office/drawing/2014/main" id="{E515B0F1-1D67-982F-D201-4B37E4FB12CB}"/>
                </a:ext>
              </a:extLst>
            </p:cNvPr>
            <p:cNvSpPr/>
            <p:nvPr/>
          </p:nvSpPr>
          <p:spPr>
            <a:xfrm>
              <a:off x="0" y="0"/>
              <a:ext cx="6858000" cy="949325"/>
            </a:xfrm>
            <a:custGeom>
              <a:avLst/>
              <a:gdLst/>
              <a:ahLst/>
              <a:cxnLst/>
              <a:rect l="l" t="t" r="r" b="b"/>
              <a:pathLst>
                <a:path w="6858000" h="949325">
                  <a:moveTo>
                    <a:pt x="0" y="949198"/>
                  </a:moveTo>
                  <a:lnTo>
                    <a:pt x="6858000" y="949198"/>
                  </a:lnTo>
                  <a:lnTo>
                    <a:pt x="6858000" y="0"/>
                  </a:lnTo>
                  <a:lnTo>
                    <a:pt x="0" y="0"/>
                  </a:lnTo>
                  <a:lnTo>
                    <a:pt x="0" y="949198"/>
                  </a:lnTo>
                  <a:close/>
                </a:path>
              </a:pathLst>
            </a:custGeom>
            <a:solidFill>
              <a:schemeClr val="accent6">
                <a:lumMod val="75000"/>
              </a:schemeClr>
            </a:solidFill>
          </p:spPr>
          <p:txBody>
            <a:bodyPr wrap="square" lIns="0" tIns="0" rIns="0" bIns="0" rtlCol="0"/>
            <a:lstStyle/>
            <a:p>
              <a:endParaRPr/>
            </a:p>
          </p:txBody>
        </p:sp>
        <p:sp>
          <p:nvSpPr>
            <p:cNvPr id="4" name="object 4">
              <a:extLst>
                <a:ext uri="{FF2B5EF4-FFF2-40B4-BE49-F238E27FC236}">
                  <a16:creationId xmlns:a16="http://schemas.microsoft.com/office/drawing/2014/main" id="{CA917A66-0DF8-3655-1C09-8DA1A9EE5F35}"/>
                </a:ext>
              </a:extLst>
            </p:cNvPr>
            <p:cNvSpPr/>
            <p:nvPr/>
          </p:nvSpPr>
          <p:spPr>
            <a:xfrm>
              <a:off x="0" y="316227"/>
              <a:ext cx="4147185" cy="1309370"/>
            </a:xfrm>
            <a:custGeom>
              <a:avLst/>
              <a:gdLst/>
              <a:ahLst/>
              <a:cxnLst/>
              <a:rect l="l" t="t" r="r" b="b"/>
              <a:pathLst>
                <a:path w="4147185" h="1309370">
                  <a:moveTo>
                    <a:pt x="3492246" y="0"/>
                  </a:moveTo>
                  <a:lnTo>
                    <a:pt x="0" y="0"/>
                  </a:lnTo>
                  <a:lnTo>
                    <a:pt x="0" y="1309243"/>
                  </a:lnTo>
                  <a:lnTo>
                    <a:pt x="3492246" y="1309243"/>
                  </a:lnTo>
                  <a:lnTo>
                    <a:pt x="4146804" y="654685"/>
                  </a:lnTo>
                  <a:lnTo>
                    <a:pt x="3492246" y="0"/>
                  </a:lnTo>
                  <a:close/>
                </a:path>
              </a:pathLst>
            </a:custGeom>
            <a:solidFill>
              <a:srgbClr val="FFFFFF"/>
            </a:solidFill>
          </p:spPr>
          <p:txBody>
            <a:bodyPr wrap="square" lIns="0" tIns="0" rIns="0" bIns="0" rtlCol="0"/>
            <a:lstStyle/>
            <a:p>
              <a:endParaRPr dirty="0"/>
            </a:p>
          </p:txBody>
        </p:sp>
      </p:grpSp>
      <p:sp>
        <p:nvSpPr>
          <p:cNvPr id="5" name="object 5">
            <a:extLst>
              <a:ext uri="{FF2B5EF4-FFF2-40B4-BE49-F238E27FC236}">
                <a16:creationId xmlns:a16="http://schemas.microsoft.com/office/drawing/2014/main" id="{E595CB1C-0E54-57D0-B192-B12225EEDBA4}"/>
              </a:ext>
            </a:extLst>
          </p:cNvPr>
          <p:cNvSpPr txBox="1"/>
          <p:nvPr/>
        </p:nvSpPr>
        <p:spPr>
          <a:xfrm>
            <a:off x="147015" y="4952"/>
            <a:ext cx="2081530" cy="247015"/>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FFFFFF"/>
                </a:solidFill>
                <a:latin typeface="Calibri"/>
                <a:cs typeface="Calibri"/>
              </a:rPr>
              <a:t>EQUITY</a:t>
            </a:r>
            <a:r>
              <a:rPr sz="1450" b="1" spc="-65" dirty="0">
                <a:solidFill>
                  <a:srgbClr val="FFFFFF"/>
                </a:solidFill>
                <a:latin typeface="Calibri"/>
                <a:cs typeface="Calibri"/>
              </a:rPr>
              <a:t> </a:t>
            </a:r>
            <a:r>
              <a:rPr sz="1450" b="1" dirty="0">
                <a:solidFill>
                  <a:srgbClr val="FFFFFF"/>
                </a:solidFill>
                <a:latin typeface="Calibri"/>
                <a:cs typeface="Calibri"/>
              </a:rPr>
              <a:t>RESEARCH</a:t>
            </a:r>
            <a:r>
              <a:rPr sz="1450" b="1" spc="-60" dirty="0">
                <a:solidFill>
                  <a:srgbClr val="FFFFFF"/>
                </a:solidFill>
                <a:latin typeface="Calibri"/>
                <a:cs typeface="Calibri"/>
              </a:rPr>
              <a:t> </a:t>
            </a:r>
            <a:r>
              <a:rPr sz="1450" b="1" spc="-10" dirty="0">
                <a:solidFill>
                  <a:srgbClr val="FFFFFF"/>
                </a:solidFill>
                <a:latin typeface="Calibri"/>
                <a:cs typeface="Calibri"/>
              </a:rPr>
              <a:t>REPORT</a:t>
            </a:r>
            <a:endParaRPr sz="1450">
              <a:latin typeface="Calibri"/>
              <a:cs typeface="Calibri"/>
            </a:endParaRPr>
          </a:p>
        </p:txBody>
      </p:sp>
      <p:sp>
        <p:nvSpPr>
          <p:cNvPr id="40" name="object 40">
            <a:extLst>
              <a:ext uri="{FF2B5EF4-FFF2-40B4-BE49-F238E27FC236}">
                <a16:creationId xmlns:a16="http://schemas.microsoft.com/office/drawing/2014/main" id="{73C37ADF-4542-92E9-A0EF-8C436BC3DE25}"/>
              </a:ext>
            </a:extLst>
          </p:cNvPr>
          <p:cNvSpPr txBox="1">
            <a:spLocks noGrp="1"/>
          </p:cNvSpPr>
          <p:nvPr>
            <p:ph type="title"/>
          </p:nvPr>
        </p:nvSpPr>
        <p:spPr>
          <a:xfrm>
            <a:off x="141831" y="295140"/>
            <a:ext cx="4269104" cy="289182"/>
          </a:xfrm>
          <a:prstGeom prst="rect">
            <a:avLst/>
          </a:prstGeom>
        </p:spPr>
        <p:txBody>
          <a:bodyPr vert="horz" wrap="square" lIns="0" tIns="12065" rIns="0" bIns="0" rtlCol="0">
            <a:spAutoFit/>
          </a:bodyPr>
          <a:lstStyle/>
          <a:p>
            <a:pPr marL="12700">
              <a:lnSpc>
                <a:spcPct val="100000"/>
              </a:lnSpc>
              <a:spcBef>
                <a:spcPts val="95"/>
              </a:spcBef>
            </a:pPr>
            <a:r>
              <a:rPr lang="en-GB" sz="1800" dirty="0"/>
              <a:t>Sun Pharmaceutical Industries Ltd.</a:t>
            </a:r>
            <a:endParaRPr sz="1800" dirty="0"/>
          </a:p>
        </p:txBody>
      </p:sp>
      <p:sp>
        <p:nvSpPr>
          <p:cNvPr id="41" name="object 41">
            <a:extLst>
              <a:ext uri="{FF2B5EF4-FFF2-40B4-BE49-F238E27FC236}">
                <a16:creationId xmlns:a16="http://schemas.microsoft.com/office/drawing/2014/main" id="{56EE851D-FDF9-23B8-F38B-5CB4E6D03A09}"/>
              </a:ext>
            </a:extLst>
          </p:cNvPr>
          <p:cNvSpPr txBox="1"/>
          <p:nvPr/>
        </p:nvSpPr>
        <p:spPr>
          <a:xfrm>
            <a:off x="141831" y="526972"/>
            <a:ext cx="3210968"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D2841"/>
                </a:solidFill>
                <a:latin typeface="Calibri"/>
                <a:cs typeface="Calibri"/>
              </a:rPr>
              <a:t>NSE</a:t>
            </a:r>
            <a:r>
              <a:rPr sz="1200" b="1" spc="-20" dirty="0">
                <a:solidFill>
                  <a:srgbClr val="0D2841"/>
                </a:solidFill>
                <a:latin typeface="Calibri"/>
                <a:cs typeface="Calibri"/>
              </a:rPr>
              <a:t> </a:t>
            </a:r>
            <a:r>
              <a:rPr sz="1200" b="1" dirty="0">
                <a:solidFill>
                  <a:srgbClr val="0D2841"/>
                </a:solidFill>
                <a:latin typeface="Calibri"/>
                <a:cs typeface="Calibri"/>
              </a:rPr>
              <a:t>:</a:t>
            </a:r>
            <a:r>
              <a:rPr lang="en-US" sz="1200" b="1" spc="-15" dirty="0">
                <a:solidFill>
                  <a:srgbClr val="0D2841"/>
                </a:solidFill>
                <a:latin typeface="Calibri"/>
                <a:cs typeface="Calibri"/>
              </a:rPr>
              <a:t> </a:t>
            </a:r>
            <a:r>
              <a:rPr lang="en-GB" sz="1200" b="1" dirty="0">
                <a:latin typeface="+mj-lt"/>
              </a:rPr>
              <a:t>SUNPHARMA</a:t>
            </a:r>
            <a:r>
              <a:rPr sz="1200" b="1" spc="10" dirty="0">
                <a:solidFill>
                  <a:srgbClr val="0D2841"/>
                </a:solidFill>
                <a:latin typeface="Calibri"/>
                <a:cs typeface="Calibri"/>
              </a:rPr>
              <a:t> </a:t>
            </a:r>
            <a:r>
              <a:rPr sz="1200" b="1" dirty="0">
                <a:solidFill>
                  <a:srgbClr val="0D2841"/>
                </a:solidFill>
                <a:latin typeface="Calibri"/>
                <a:cs typeface="Calibri"/>
              </a:rPr>
              <a:t>|</a:t>
            </a:r>
            <a:r>
              <a:rPr sz="1200" b="1" spc="-15" dirty="0">
                <a:solidFill>
                  <a:srgbClr val="0D2841"/>
                </a:solidFill>
                <a:latin typeface="Calibri"/>
                <a:cs typeface="Calibri"/>
              </a:rPr>
              <a:t> </a:t>
            </a:r>
            <a:r>
              <a:rPr sz="1200" b="1" dirty="0">
                <a:solidFill>
                  <a:srgbClr val="0D2841"/>
                </a:solidFill>
                <a:latin typeface="Calibri"/>
                <a:cs typeface="Calibri"/>
              </a:rPr>
              <a:t>BSE Code:</a:t>
            </a:r>
            <a:r>
              <a:rPr sz="1200" b="1" spc="-5" dirty="0">
                <a:solidFill>
                  <a:srgbClr val="0D2841"/>
                </a:solidFill>
                <a:latin typeface="Calibri"/>
                <a:cs typeface="Calibri"/>
              </a:rPr>
              <a:t> </a:t>
            </a:r>
            <a:r>
              <a:rPr lang="en-GB" sz="1200" b="1" dirty="0">
                <a:latin typeface="+mj-lt"/>
              </a:rPr>
              <a:t>524715</a:t>
            </a:r>
          </a:p>
        </p:txBody>
      </p:sp>
      <p:sp>
        <p:nvSpPr>
          <p:cNvPr id="57" name="object 41">
            <a:extLst>
              <a:ext uri="{FF2B5EF4-FFF2-40B4-BE49-F238E27FC236}">
                <a16:creationId xmlns:a16="http://schemas.microsoft.com/office/drawing/2014/main" id="{D0B25858-FFE5-A795-3021-E1E0B5F448A6}"/>
              </a:ext>
            </a:extLst>
          </p:cNvPr>
          <p:cNvSpPr txBox="1"/>
          <p:nvPr/>
        </p:nvSpPr>
        <p:spPr>
          <a:xfrm>
            <a:off x="141831" y="686543"/>
            <a:ext cx="3210968" cy="197490"/>
          </a:xfrm>
          <a:prstGeom prst="rect">
            <a:avLst/>
          </a:prstGeom>
        </p:spPr>
        <p:txBody>
          <a:bodyPr vert="horz" wrap="square" lIns="0" tIns="12700" rIns="0" bIns="0" rtlCol="0">
            <a:spAutoFit/>
          </a:bodyPr>
          <a:lstStyle/>
          <a:p>
            <a:pPr marL="12700">
              <a:lnSpc>
                <a:spcPct val="100000"/>
              </a:lnSpc>
              <a:spcBef>
                <a:spcPts val="100"/>
              </a:spcBef>
            </a:pPr>
            <a:r>
              <a:rPr lang="en-GB" sz="1200" b="1" dirty="0">
                <a:latin typeface="Calibri "/>
              </a:rPr>
              <a:t>Pharmaceuticals &amp; Drugs</a:t>
            </a:r>
          </a:p>
        </p:txBody>
      </p:sp>
      <p:pic>
        <p:nvPicPr>
          <p:cNvPr id="59" name="Picture 58">
            <a:extLst>
              <a:ext uri="{FF2B5EF4-FFF2-40B4-BE49-F238E27FC236}">
                <a16:creationId xmlns:a16="http://schemas.microsoft.com/office/drawing/2014/main" id="{AC5A59DF-CFC1-6DD2-F63E-B2818C9D400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04126" y="17284"/>
            <a:ext cx="1295705" cy="879830"/>
          </a:xfrm>
          <a:prstGeom prst="rect">
            <a:avLst/>
          </a:prstGeom>
        </p:spPr>
      </p:pic>
      <p:cxnSp>
        <p:nvCxnSpPr>
          <p:cNvPr id="61" name="Straight Connector 60">
            <a:extLst>
              <a:ext uri="{FF2B5EF4-FFF2-40B4-BE49-F238E27FC236}">
                <a16:creationId xmlns:a16="http://schemas.microsoft.com/office/drawing/2014/main" id="{D0F638FC-E412-8A75-40B0-9AC91C3F0842}"/>
              </a:ext>
            </a:extLst>
          </p:cNvPr>
          <p:cNvCxnSpPr>
            <a:cxnSpLocks/>
          </p:cNvCxnSpPr>
          <p:nvPr/>
        </p:nvCxnSpPr>
        <p:spPr>
          <a:xfrm>
            <a:off x="0" y="8859394"/>
            <a:ext cx="6858000" cy="0"/>
          </a:xfrm>
          <a:prstGeom prst="line">
            <a:avLst/>
          </a:prstGeom>
          <a:ln w="41275">
            <a:solidFill>
              <a:srgbClr val="E46C0A"/>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80C470CC-1569-42D2-A299-54143F62AFA7}"/>
              </a:ext>
            </a:extLst>
          </p:cNvPr>
          <p:cNvSpPr txBox="1"/>
          <p:nvPr/>
        </p:nvSpPr>
        <p:spPr>
          <a:xfrm>
            <a:off x="6553200" y="8810228"/>
            <a:ext cx="667055" cy="369332"/>
          </a:xfrm>
          <a:prstGeom prst="rect">
            <a:avLst/>
          </a:prstGeom>
          <a:noFill/>
        </p:spPr>
        <p:txBody>
          <a:bodyPr wrap="square" rtlCol="0">
            <a:spAutoFit/>
          </a:bodyPr>
          <a:lstStyle/>
          <a:p>
            <a:r>
              <a:rPr lang="en-US" b="1" dirty="0">
                <a:solidFill>
                  <a:srgbClr val="E46C0A"/>
                </a:solidFill>
              </a:rPr>
              <a:t>1</a:t>
            </a:r>
            <a:endParaRPr lang="en-GB" b="1" dirty="0">
              <a:solidFill>
                <a:srgbClr val="E46C0A"/>
              </a:solidFill>
            </a:endParaRPr>
          </a:p>
        </p:txBody>
      </p:sp>
      <p:cxnSp>
        <p:nvCxnSpPr>
          <p:cNvPr id="69" name="Straight Connector 68">
            <a:extLst>
              <a:ext uri="{FF2B5EF4-FFF2-40B4-BE49-F238E27FC236}">
                <a16:creationId xmlns:a16="http://schemas.microsoft.com/office/drawing/2014/main" id="{2055E142-D6B9-1FCD-E34C-C54599B4FB7A}"/>
              </a:ext>
            </a:extLst>
          </p:cNvPr>
          <p:cNvCxnSpPr>
            <a:cxnSpLocks/>
          </p:cNvCxnSpPr>
          <p:nvPr/>
        </p:nvCxnSpPr>
        <p:spPr>
          <a:xfrm flipV="1">
            <a:off x="0" y="933199"/>
            <a:ext cx="6858000" cy="37713"/>
          </a:xfrm>
          <a:prstGeom prst="line">
            <a:avLst/>
          </a:prstGeom>
          <a:ln>
            <a:solidFill>
              <a:srgbClr val="E46C0A"/>
            </a:solidFill>
          </a:ln>
        </p:spPr>
        <p:style>
          <a:lnRef idx="1">
            <a:schemeClr val="accent1"/>
          </a:lnRef>
          <a:fillRef idx="0">
            <a:schemeClr val="accent1"/>
          </a:fillRef>
          <a:effectRef idx="0">
            <a:schemeClr val="accent1"/>
          </a:effectRef>
          <a:fontRef idx="minor">
            <a:schemeClr val="tx1"/>
          </a:fontRef>
        </p:style>
      </p:cxnSp>
      <p:sp>
        <p:nvSpPr>
          <p:cNvPr id="7" name="object 2">
            <a:extLst>
              <a:ext uri="{FF2B5EF4-FFF2-40B4-BE49-F238E27FC236}">
                <a16:creationId xmlns:a16="http://schemas.microsoft.com/office/drawing/2014/main" id="{3524E076-7AA7-DDA3-C11C-1B944C9C92D5}"/>
              </a:ext>
            </a:extLst>
          </p:cNvPr>
          <p:cNvSpPr/>
          <p:nvPr/>
        </p:nvSpPr>
        <p:spPr>
          <a:xfrm>
            <a:off x="141831" y="1051546"/>
            <a:ext cx="6411369" cy="429865"/>
          </a:xfrm>
          <a:custGeom>
            <a:avLst/>
            <a:gdLst/>
            <a:ahLst/>
            <a:cxnLst/>
            <a:rect l="l" t="t" r="r" b="b"/>
            <a:pathLst>
              <a:path w="7296784" h="401319">
                <a:moveTo>
                  <a:pt x="7296359" y="400830"/>
                </a:moveTo>
                <a:lnTo>
                  <a:pt x="0" y="400830"/>
                </a:lnTo>
                <a:lnTo>
                  <a:pt x="0" y="0"/>
                </a:lnTo>
                <a:lnTo>
                  <a:pt x="7296359" y="0"/>
                </a:lnTo>
                <a:lnTo>
                  <a:pt x="7296359" y="400830"/>
                </a:lnTo>
                <a:close/>
              </a:path>
            </a:pathLst>
          </a:custGeom>
          <a:solidFill>
            <a:srgbClr val="E46C0A"/>
          </a:solidFill>
        </p:spPr>
        <p:txBody>
          <a:bodyPr wrap="square" lIns="0" tIns="0" rIns="0" bIns="0" rtlCol="0"/>
          <a:lstStyle/>
          <a:p>
            <a:endParaRPr/>
          </a:p>
        </p:txBody>
      </p:sp>
      <p:sp>
        <p:nvSpPr>
          <p:cNvPr id="9" name="TextBox 8">
            <a:extLst>
              <a:ext uri="{FF2B5EF4-FFF2-40B4-BE49-F238E27FC236}">
                <a16:creationId xmlns:a16="http://schemas.microsoft.com/office/drawing/2014/main" id="{48BA722F-13BF-7AC2-2CAE-F71D00B12468}"/>
              </a:ext>
            </a:extLst>
          </p:cNvPr>
          <p:cNvSpPr txBox="1"/>
          <p:nvPr/>
        </p:nvSpPr>
        <p:spPr>
          <a:xfrm>
            <a:off x="0" y="1059683"/>
            <a:ext cx="3611880" cy="369332"/>
          </a:xfrm>
          <a:prstGeom prst="rect">
            <a:avLst/>
          </a:prstGeom>
          <a:noFill/>
        </p:spPr>
        <p:txBody>
          <a:bodyPr wrap="square">
            <a:spAutoFit/>
          </a:bodyPr>
          <a:lstStyle/>
          <a:p>
            <a:pPr marL="136525">
              <a:lnSpc>
                <a:spcPct val="100000"/>
              </a:lnSpc>
            </a:pPr>
            <a:r>
              <a:rPr lang="en-GB" b="1" spc="-50" dirty="0">
                <a:solidFill>
                  <a:schemeClr val="bg1"/>
                </a:solidFill>
                <a:latin typeface="+mj-lt"/>
                <a:cs typeface="Arial"/>
              </a:rPr>
              <a:t>Industry</a:t>
            </a:r>
            <a:r>
              <a:rPr lang="en-GB" b="1" spc="-45" dirty="0">
                <a:solidFill>
                  <a:schemeClr val="bg1"/>
                </a:solidFill>
                <a:latin typeface="+mj-lt"/>
                <a:cs typeface="Arial"/>
              </a:rPr>
              <a:t> </a:t>
            </a:r>
            <a:r>
              <a:rPr lang="en-GB" b="1" spc="-10" dirty="0">
                <a:solidFill>
                  <a:schemeClr val="bg1"/>
                </a:solidFill>
                <a:latin typeface="+mj-lt"/>
                <a:cs typeface="Arial"/>
              </a:rPr>
              <a:t>Overview</a:t>
            </a:r>
            <a:endParaRPr lang="en-GB" dirty="0">
              <a:solidFill>
                <a:schemeClr val="bg1"/>
              </a:solidFill>
              <a:latin typeface="+mj-lt"/>
              <a:cs typeface="Arial"/>
            </a:endParaRPr>
          </a:p>
        </p:txBody>
      </p:sp>
      <p:sp>
        <p:nvSpPr>
          <p:cNvPr id="8" name="TextBox 7">
            <a:extLst>
              <a:ext uri="{FF2B5EF4-FFF2-40B4-BE49-F238E27FC236}">
                <a16:creationId xmlns:a16="http://schemas.microsoft.com/office/drawing/2014/main" id="{CD4076BC-1256-8998-8DB0-49EFB8698E7B}"/>
              </a:ext>
            </a:extLst>
          </p:cNvPr>
          <p:cNvSpPr txBox="1"/>
          <p:nvPr/>
        </p:nvSpPr>
        <p:spPr>
          <a:xfrm>
            <a:off x="141830" y="1651661"/>
            <a:ext cx="6411368" cy="1384995"/>
          </a:xfrm>
          <a:prstGeom prst="rect">
            <a:avLst/>
          </a:prstGeom>
          <a:noFill/>
        </p:spPr>
        <p:txBody>
          <a:bodyPr wrap="square">
            <a:spAutoFit/>
          </a:bodyPr>
          <a:lstStyle/>
          <a:p>
            <a:pPr algn="just"/>
            <a:r>
              <a:rPr lang="en-GB" sz="1200" dirty="0">
                <a:latin typeface="+mn-lt"/>
              </a:rPr>
              <a:t>The "Pharmerging" markets, led by India, China, and other Asian and Latin American nations, are the primary volume growth engines, while mature markets like North America and Western Europe see slower volume growth due to already high per capita usage. Pharmerging markets are projected to grow at an impressive 10%–13% CAGR, accounting for US 38–42 billion by 2028, reflecting a strong 7%–10% CAGR. This regional strength is underpinned by rising per capita incomes, improving healthcare affordability, expanding distribution networks, and robust government support, such as the Production Linked Incentive (PLI) scheme.</a:t>
            </a:r>
          </a:p>
        </p:txBody>
      </p:sp>
      <p:sp>
        <p:nvSpPr>
          <p:cNvPr id="26" name="TextBox 25">
            <a:extLst>
              <a:ext uri="{FF2B5EF4-FFF2-40B4-BE49-F238E27FC236}">
                <a16:creationId xmlns:a16="http://schemas.microsoft.com/office/drawing/2014/main" id="{8EAB1881-2771-993E-7F49-CFDABBBBCA05}"/>
              </a:ext>
            </a:extLst>
          </p:cNvPr>
          <p:cNvSpPr txBox="1"/>
          <p:nvPr/>
        </p:nvSpPr>
        <p:spPr>
          <a:xfrm>
            <a:off x="84773" y="3388551"/>
            <a:ext cx="3611880" cy="338554"/>
          </a:xfrm>
          <a:prstGeom prst="rect">
            <a:avLst/>
          </a:prstGeom>
          <a:noFill/>
        </p:spPr>
        <p:txBody>
          <a:bodyPr wrap="square">
            <a:spAutoFit/>
          </a:bodyPr>
          <a:lstStyle/>
          <a:p>
            <a:pPr marL="136525">
              <a:lnSpc>
                <a:spcPct val="100000"/>
              </a:lnSpc>
            </a:pPr>
            <a:r>
              <a:rPr lang="en-GB" sz="1600" b="1" spc="-50" dirty="0">
                <a:solidFill>
                  <a:schemeClr val="bg1"/>
                </a:solidFill>
                <a:latin typeface="Arial"/>
                <a:cs typeface="Arial"/>
              </a:rPr>
              <a:t>Industry</a:t>
            </a:r>
            <a:r>
              <a:rPr lang="en-GB" sz="1600" b="1" spc="-45" dirty="0">
                <a:solidFill>
                  <a:schemeClr val="bg1"/>
                </a:solidFill>
                <a:latin typeface="Arial"/>
                <a:cs typeface="Arial"/>
              </a:rPr>
              <a:t> </a:t>
            </a:r>
            <a:r>
              <a:rPr lang="en-GB" sz="1600" b="1" spc="-10" dirty="0">
                <a:solidFill>
                  <a:schemeClr val="bg1"/>
                </a:solidFill>
                <a:latin typeface="Arial"/>
                <a:cs typeface="Arial"/>
              </a:rPr>
              <a:t>Overview</a:t>
            </a:r>
            <a:endParaRPr lang="en-GB" sz="1600" dirty="0">
              <a:solidFill>
                <a:schemeClr val="bg1"/>
              </a:solidFill>
              <a:latin typeface="Arial"/>
              <a:cs typeface="Arial"/>
            </a:endParaRPr>
          </a:p>
        </p:txBody>
      </p:sp>
      <p:sp>
        <p:nvSpPr>
          <p:cNvPr id="28" name="object 17">
            <a:extLst>
              <a:ext uri="{FF2B5EF4-FFF2-40B4-BE49-F238E27FC236}">
                <a16:creationId xmlns:a16="http://schemas.microsoft.com/office/drawing/2014/main" id="{1B8C4B74-99F8-9016-ABED-C31CCB3EF162}"/>
              </a:ext>
            </a:extLst>
          </p:cNvPr>
          <p:cNvSpPr txBox="1"/>
          <p:nvPr/>
        </p:nvSpPr>
        <p:spPr>
          <a:xfrm>
            <a:off x="322616" y="3384322"/>
            <a:ext cx="3501952" cy="228268"/>
          </a:xfrm>
          <a:prstGeom prst="rect">
            <a:avLst/>
          </a:prstGeom>
        </p:spPr>
        <p:txBody>
          <a:bodyPr vert="horz" wrap="square" lIns="0" tIns="12700" rIns="0" bIns="0" rtlCol="0">
            <a:spAutoFit/>
          </a:bodyPr>
          <a:lstStyle/>
          <a:p>
            <a:pPr marL="12700">
              <a:lnSpc>
                <a:spcPct val="100000"/>
              </a:lnSpc>
              <a:spcBef>
                <a:spcPts val="100"/>
              </a:spcBef>
            </a:pPr>
            <a:r>
              <a:rPr sz="1400" b="1" spc="-35" dirty="0">
                <a:solidFill>
                  <a:srgbClr val="4A008C"/>
                </a:solidFill>
                <a:latin typeface="Arial"/>
                <a:cs typeface="Arial"/>
              </a:rPr>
              <a:t>Global</a:t>
            </a:r>
            <a:r>
              <a:rPr sz="1400" b="1" spc="-60" dirty="0">
                <a:solidFill>
                  <a:srgbClr val="4A008C"/>
                </a:solidFill>
                <a:latin typeface="Arial"/>
                <a:cs typeface="Arial"/>
              </a:rPr>
              <a:t> </a:t>
            </a:r>
            <a:r>
              <a:rPr sz="1400" b="1" spc="-25" dirty="0">
                <a:solidFill>
                  <a:srgbClr val="4A008C"/>
                </a:solidFill>
                <a:latin typeface="Arial"/>
                <a:cs typeface="Arial"/>
              </a:rPr>
              <a:t>Market</a:t>
            </a:r>
            <a:r>
              <a:rPr sz="1400" b="1" spc="-55" dirty="0">
                <a:solidFill>
                  <a:srgbClr val="4A008C"/>
                </a:solidFill>
                <a:latin typeface="Arial"/>
                <a:cs typeface="Arial"/>
              </a:rPr>
              <a:t> </a:t>
            </a:r>
            <a:r>
              <a:rPr sz="1400" b="1" spc="-35" dirty="0">
                <a:solidFill>
                  <a:srgbClr val="4A008C"/>
                </a:solidFill>
                <a:latin typeface="Arial"/>
                <a:cs typeface="Arial"/>
              </a:rPr>
              <a:t>Share</a:t>
            </a:r>
            <a:r>
              <a:rPr sz="1400" b="1" spc="-55" dirty="0">
                <a:solidFill>
                  <a:srgbClr val="4A008C"/>
                </a:solidFill>
                <a:latin typeface="Arial"/>
                <a:cs typeface="Arial"/>
              </a:rPr>
              <a:t> </a:t>
            </a:r>
            <a:r>
              <a:rPr sz="1400" b="1" spc="-70" dirty="0">
                <a:solidFill>
                  <a:srgbClr val="4A008C"/>
                </a:solidFill>
                <a:latin typeface="Arial"/>
                <a:cs typeface="Arial"/>
              </a:rPr>
              <a:t>by</a:t>
            </a:r>
            <a:r>
              <a:rPr sz="1400" b="1" spc="-55" dirty="0">
                <a:solidFill>
                  <a:srgbClr val="4A008C"/>
                </a:solidFill>
                <a:latin typeface="Arial"/>
                <a:cs typeface="Arial"/>
              </a:rPr>
              <a:t> </a:t>
            </a:r>
            <a:r>
              <a:rPr sz="1400" b="1" spc="-70" dirty="0">
                <a:solidFill>
                  <a:srgbClr val="4A008C"/>
                </a:solidFill>
                <a:latin typeface="Arial"/>
                <a:cs typeface="Arial"/>
              </a:rPr>
              <a:t>Region</a:t>
            </a:r>
            <a:r>
              <a:rPr sz="1400" b="1" spc="-55" dirty="0">
                <a:solidFill>
                  <a:srgbClr val="4A008C"/>
                </a:solidFill>
                <a:latin typeface="Arial"/>
                <a:cs typeface="Arial"/>
              </a:rPr>
              <a:t> </a:t>
            </a:r>
            <a:r>
              <a:rPr sz="1400" b="1" spc="-10" dirty="0">
                <a:solidFill>
                  <a:srgbClr val="4A008C"/>
                </a:solidFill>
                <a:latin typeface="Arial"/>
                <a:cs typeface="Arial"/>
              </a:rPr>
              <a:t>(2025)</a:t>
            </a:r>
            <a:endParaRPr sz="1400" dirty="0">
              <a:latin typeface="Arial"/>
              <a:cs typeface="Arial"/>
            </a:endParaRPr>
          </a:p>
        </p:txBody>
      </p:sp>
      <p:pic>
        <p:nvPicPr>
          <p:cNvPr id="30" name="Picture 29">
            <a:extLst>
              <a:ext uri="{FF2B5EF4-FFF2-40B4-BE49-F238E27FC236}">
                <a16:creationId xmlns:a16="http://schemas.microsoft.com/office/drawing/2014/main" id="{2B57B89C-432D-0633-FEA7-31D7B8A1129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701" y="4263650"/>
            <a:ext cx="3501952" cy="2241647"/>
          </a:xfrm>
          <a:prstGeom prst="rect">
            <a:avLst/>
          </a:prstGeom>
        </p:spPr>
      </p:pic>
      <p:pic>
        <p:nvPicPr>
          <p:cNvPr id="32" name="Picture 31">
            <a:extLst>
              <a:ext uri="{FF2B5EF4-FFF2-40B4-BE49-F238E27FC236}">
                <a16:creationId xmlns:a16="http://schemas.microsoft.com/office/drawing/2014/main" id="{6319073C-EE2E-C2FD-D1E4-372E1465825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24011" y="4138951"/>
            <a:ext cx="2994252" cy="2491046"/>
          </a:xfrm>
          <a:prstGeom prst="rect">
            <a:avLst/>
          </a:prstGeom>
        </p:spPr>
      </p:pic>
      <p:sp>
        <p:nvSpPr>
          <p:cNvPr id="34" name="object 17">
            <a:extLst>
              <a:ext uri="{FF2B5EF4-FFF2-40B4-BE49-F238E27FC236}">
                <a16:creationId xmlns:a16="http://schemas.microsoft.com/office/drawing/2014/main" id="{DC3A07CB-AF9A-F58B-F224-A2654BFEEA44}"/>
              </a:ext>
            </a:extLst>
          </p:cNvPr>
          <p:cNvSpPr txBox="1"/>
          <p:nvPr/>
        </p:nvSpPr>
        <p:spPr>
          <a:xfrm>
            <a:off x="4025834" y="3276600"/>
            <a:ext cx="2747393" cy="443711"/>
          </a:xfrm>
          <a:prstGeom prst="rect">
            <a:avLst/>
          </a:prstGeom>
        </p:spPr>
        <p:txBody>
          <a:bodyPr vert="horz" wrap="square" lIns="0" tIns="12700" rIns="0" bIns="0" rtlCol="0">
            <a:spAutoFit/>
          </a:bodyPr>
          <a:lstStyle/>
          <a:p>
            <a:pPr marL="12700">
              <a:lnSpc>
                <a:spcPct val="100000"/>
              </a:lnSpc>
              <a:spcBef>
                <a:spcPts val="100"/>
              </a:spcBef>
            </a:pPr>
            <a:r>
              <a:rPr lang="en-US" sz="1400" b="1" spc="-35" dirty="0">
                <a:solidFill>
                  <a:srgbClr val="4A008C"/>
                </a:solidFill>
                <a:latin typeface="Arial"/>
                <a:cs typeface="Arial"/>
              </a:rPr>
              <a:t>Indian Pharmaceutical Market Size ( 2025 vs. 2026)</a:t>
            </a:r>
            <a:endParaRPr sz="1400" dirty="0">
              <a:latin typeface="Arial"/>
              <a:cs typeface="Arial"/>
            </a:endParaRPr>
          </a:p>
        </p:txBody>
      </p:sp>
    </p:spTree>
    <p:extLst>
      <p:ext uri="{BB962C8B-B14F-4D97-AF65-F5344CB8AC3E}">
        <p14:creationId xmlns:p14="http://schemas.microsoft.com/office/powerpoint/2010/main" val="3732767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092EB-D92F-E436-5426-9EA0CEF2A4D8}"/>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018825DD-B804-F017-12D2-A39CF54B0BC5}"/>
              </a:ext>
            </a:extLst>
          </p:cNvPr>
          <p:cNvGrpSpPr/>
          <p:nvPr/>
        </p:nvGrpSpPr>
        <p:grpSpPr>
          <a:xfrm>
            <a:off x="0" y="0"/>
            <a:ext cx="6858000" cy="1625597"/>
            <a:chOff x="0" y="0"/>
            <a:chExt cx="6858000" cy="1625597"/>
          </a:xfrm>
        </p:grpSpPr>
        <p:sp>
          <p:nvSpPr>
            <p:cNvPr id="3" name="object 3">
              <a:extLst>
                <a:ext uri="{FF2B5EF4-FFF2-40B4-BE49-F238E27FC236}">
                  <a16:creationId xmlns:a16="http://schemas.microsoft.com/office/drawing/2014/main" id="{3C45D02D-B996-75E8-7F2A-D4097A12DC0C}"/>
                </a:ext>
              </a:extLst>
            </p:cNvPr>
            <p:cNvSpPr/>
            <p:nvPr/>
          </p:nvSpPr>
          <p:spPr>
            <a:xfrm>
              <a:off x="0" y="0"/>
              <a:ext cx="6858000" cy="949325"/>
            </a:xfrm>
            <a:custGeom>
              <a:avLst/>
              <a:gdLst/>
              <a:ahLst/>
              <a:cxnLst/>
              <a:rect l="l" t="t" r="r" b="b"/>
              <a:pathLst>
                <a:path w="6858000" h="949325">
                  <a:moveTo>
                    <a:pt x="0" y="949198"/>
                  </a:moveTo>
                  <a:lnTo>
                    <a:pt x="6858000" y="949198"/>
                  </a:lnTo>
                  <a:lnTo>
                    <a:pt x="6858000" y="0"/>
                  </a:lnTo>
                  <a:lnTo>
                    <a:pt x="0" y="0"/>
                  </a:lnTo>
                  <a:lnTo>
                    <a:pt x="0" y="949198"/>
                  </a:lnTo>
                  <a:close/>
                </a:path>
              </a:pathLst>
            </a:custGeom>
            <a:solidFill>
              <a:schemeClr val="accent6">
                <a:lumMod val="75000"/>
              </a:schemeClr>
            </a:solidFill>
          </p:spPr>
          <p:txBody>
            <a:bodyPr wrap="square" lIns="0" tIns="0" rIns="0" bIns="0" rtlCol="0"/>
            <a:lstStyle/>
            <a:p>
              <a:endParaRPr/>
            </a:p>
          </p:txBody>
        </p:sp>
        <p:sp>
          <p:nvSpPr>
            <p:cNvPr id="4" name="object 4">
              <a:extLst>
                <a:ext uri="{FF2B5EF4-FFF2-40B4-BE49-F238E27FC236}">
                  <a16:creationId xmlns:a16="http://schemas.microsoft.com/office/drawing/2014/main" id="{6D726E28-9410-5045-6359-026EBDE528D3}"/>
                </a:ext>
              </a:extLst>
            </p:cNvPr>
            <p:cNvSpPr/>
            <p:nvPr/>
          </p:nvSpPr>
          <p:spPr>
            <a:xfrm>
              <a:off x="0" y="316227"/>
              <a:ext cx="4147185" cy="1309370"/>
            </a:xfrm>
            <a:custGeom>
              <a:avLst/>
              <a:gdLst/>
              <a:ahLst/>
              <a:cxnLst/>
              <a:rect l="l" t="t" r="r" b="b"/>
              <a:pathLst>
                <a:path w="4147185" h="1309370">
                  <a:moveTo>
                    <a:pt x="3492246" y="0"/>
                  </a:moveTo>
                  <a:lnTo>
                    <a:pt x="0" y="0"/>
                  </a:lnTo>
                  <a:lnTo>
                    <a:pt x="0" y="1309243"/>
                  </a:lnTo>
                  <a:lnTo>
                    <a:pt x="3492246" y="1309243"/>
                  </a:lnTo>
                  <a:lnTo>
                    <a:pt x="4146804" y="654685"/>
                  </a:lnTo>
                  <a:lnTo>
                    <a:pt x="3492246" y="0"/>
                  </a:lnTo>
                  <a:close/>
                </a:path>
              </a:pathLst>
            </a:custGeom>
            <a:solidFill>
              <a:srgbClr val="FFFFFF"/>
            </a:solidFill>
          </p:spPr>
          <p:txBody>
            <a:bodyPr wrap="square" lIns="0" tIns="0" rIns="0" bIns="0" rtlCol="0"/>
            <a:lstStyle/>
            <a:p>
              <a:endParaRPr dirty="0"/>
            </a:p>
          </p:txBody>
        </p:sp>
      </p:grpSp>
      <p:sp>
        <p:nvSpPr>
          <p:cNvPr id="5" name="object 5">
            <a:extLst>
              <a:ext uri="{FF2B5EF4-FFF2-40B4-BE49-F238E27FC236}">
                <a16:creationId xmlns:a16="http://schemas.microsoft.com/office/drawing/2014/main" id="{C7521AF1-5492-8BB1-738D-C720612A4521}"/>
              </a:ext>
            </a:extLst>
          </p:cNvPr>
          <p:cNvSpPr txBox="1"/>
          <p:nvPr/>
        </p:nvSpPr>
        <p:spPr>
          <a:xfrm>
            <a:off x="147015" y="4952"/>
            <a:ext cx="2081530" cy="247015"/>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FFFFFF"/>
                </a:solidFill>
                <a:latin typeface="Calibri"/>
                <a:cs typeface="Calibri"/>
              </a:rPr>
              <a:t>EQUITY</a:t>
            </a:r>
            <a:r>
              <a:rPr sz="1450" b="1" spc="-65" dirty="0">
                <a:solidFill>
                  <a:srgbClr val="FFFFFF"/>
                </a:solidFill>
                <a:latin typeface="Calibri"/>
                <a:cs typeface="Calibri"/>
              </a:rPr>
              <a:t> </a:t>
            </a:r>
            <a:r>
              <a:rPr sz="1450" b="1" dirty="0">
                <a:solidFill>
                  <a:srgbClr val="FFFFFF"/>
                </a:solidFill>
                <a:latin typeface="Calibri"/>
                <a:cs typeface="Calibri"/>
              </a:rPr>
              <a:t>RESEARCH</a:t>
            </a:r>
            <a:r>
              <a:rPr sz="1450" b="1" spc="-60" dirty="0">
                <a:solidFill>
                  <a:srgbClr val="FFFFFF"/>
                </a:solidFill>
                <a:latin typeface="Calibri"/>
                <a:cs typeface="Calibri"/>
              </a:rPr>
              <a:t> </a:t>
            </a:r>
            <a:r>
              <a:rPr sz="1450" b="1" spc="-10" dirty="0">
                <a:solidFill>
                  <a:srgbClr val="FFFFFF"/>
                </a:solidFill>
                <a:latin typeface="Calibri"/>
                <a:cs typeface="Calibri"/>
              </a:rPr>
              <a:t>REPORT</a:t>
            </a:r>
            <a:endParaRPr sz="1450">
              <a:latin typeface="Calibri"/>
              <a:cs typeface="Calibri"/>
            </a:endParaRPr>
          </a:p>
        </p:txBody>
      </p:sp>
      <p:sp>
        <p:nvSpPr>
          <p:cNvPr id="40" name="object 40">
            <a:extLst>
              <a:ext uri="{FF2B5EF4-FFF2-40B4-BE49-F238E27FC236}">
                <a16:creationId xmlns:a16="http://schemas.microsoft.com/office/drawing/2014/main" id="{9D91C900-EB96-E02B-6E46-4E0210CBB187}"/>
              </a:ext>
            </a:extLst>
          </p:cNvPr>
          <p:cNvSpPr txBox="1">
            <a:spLocks noGrp="1"/>
          </p:cNvSpPr>
          <p:nvPr>
            <p:ph type="title"/>
          </p:nvPr>
        </p:nvSpPr>
        <p:spPr>
          <a:xfrm>
            <a:off x="141831" y="295140"/>
            <a:ext cx="4269104" cy="289182"/>
          </a:xfrm>
          <a:prstGeom prst="rect">
            <a:avLst/>
          </a:prstGeom>
        </p:spPr>
        <p:txBody>
          <a:bodyPr vert="horz" wrap="square" lIns="0" tIns="12065" rIns="0" bIns="0" rtlCol="0">
            <a:spAutoFit/>
          </a:bodyPr>
          <a:lstStyle/>
          <a:p>
            <a:pPr marL="12700">
              <a:lnSpc>
                <a:spcPct val="100000"/>
              </a:lnSpc>
              <a:spcBef>
                <a:spcPts val="95"/>
              </a:spcBef>
            </a:pPr>
            <a:r>
              <a:rPr lang="en-GB" sz="1800" dirty="0"/>
              <a:t>Sun Pharmaceutical Industries Ltd.</a:t>
            </a:r>
            <a:endParaRPr sz="1800" dirty="0"/>
          </a:p>
        </p:txBody>
      </p:sp>
      <p:sp>
        <p:nvSpPr>
          <p:cNvPr id="41" name="object 41">
            <a:extLst>
              <a:ext uri="{FF2B5EF4-FFF2-40B4-BE49-F238E27FC236}">
                <a16:creationId xmlns:a16="http://schemas.microsoft.com/office/drawing/2014/main" id="{705B7AD2-D8BA-51EC-91E0-F51141DA301D}"/>
              </a:ext>
            </a:extLst>
          </p:cNvPr>
          <p:cNvSpPr txBox="1"/>
          <p:nvPr/>
        </p:nvSpPr>
        <p:spPr>
          <a:xfrm>
            <a:off x="141831" y="526972"/>
            <a:ext cx="3210968"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D2841"/>
                </a:solidFill>
                <a:latin typeface="Calibri"/>
                <a:cs typeface="Calibri"/>
              </a:rPr>
              <a:t>NSE</a:t>
            </a:r>
            <a:r>
              <a:rPr sz="1200" b="1" spc="-20" dirty="0">
                <a:solidFill>
                  <a:srgbClr val="0D2841"/>
                </a:solidFill>
                <a:latin typeface="Calibri"/>
                <a:cs typeface="Calibri"/>
              </a:rPr>
              <a:t> </a:t>
            </a:r>
            <a:r>
              <a:rPr sz="1200" b="1" dirty="0">
                <a:solidFill>
                  <a:srgbClr val="0D2841"/>
                </a:solidFill>
                <a:latin typeface="Calibri"/>
                <a:cs typeface="Calibri"/>
              </a:rPr>
              <a:t>:</a:t>
            </a:r>
            <a:r>
              <a:rPr lang="en-US" sz="1200" b="1" spc="-15" dirty="0">
                <a:solidFill>
                  <a:srgbClr val="0D2841"/>
                </a:solidFill>
                <a:latin typeface="Calibri"/>
                <a:cs typeface="Calibri"/>
              </a:rPr>
              <a:t> </a:t>
            </a:r>
            <a:r>
              <a:rPr lang="en-GB" sz="1200" b="1" dirty="0">
                <a:latin typeface="+mj-lt"/>
              </a:rPr>
              <a:t>SUNPHARMA</a:t>
            </a:r>
            <a:r>
              <a:rPr sz="1200" b="1" spc="10" dirty="0">
                <a:solidFill>
                  <a:srgbClr val="0D2841"/>
                </a:solidFill>
                <a:latin typeface="Calibri"/>
                <a:cs typeface="Calibri"/>
              </a:rPr>
              <a:t> </a:t>
            </a:r>
            <a:r>
              <a:rPr sz="1200" b="1" dirty="0">
                <a:solidFill>
                  <a:srgbClr val="0D2841"/>
                </a:solidFill>
                <a:latin typeface="Calibri"/>
                <a:cs typeface="Calibri"/>
              </a:rPr>
              <a:t>|</a:t>
            </a:r>
            <a:r>
              <a:rPr sz="1200" b="1" spc="-15" dirty="0">
                <a:solidFill>
                  <a:srgbClr val="0D2841"/>
                </a:solidFill>
                <a:latin typeface="Calibri"/>
                <a:cs typeface="Calibri"/>
              </a:rPr>
              <a:t> </a:t>
            </a:r>
            <a:r>
              <a:rPr sz="1200" b="1" dirty="0">
                <a:solidFill>
                  <a:srgbClr val="0D2841"/>
                </a:solidFill>
                <a:latin typeface="Calibri"/>
                <a:cs typeface="Calibri"/>
              </a:rPr>
              <a:t>BSE Code:</a:t>
            </a:r>
            <a:r>
              <a:rPr sz="1200" b="1" spc="-5" dirty="0">
                <a:solidFill>
                  <a:srgbClr val="0D2841"/>
                </a:solidFill>
                <a:latin typeface="Calibri"/>
                <a:cs typeface="Calibri"/>
              </a:rPr>
              <a:t> </a:t>
            </a:r>
            <a:r>
              <a:rPr lang="en-GB" sz="1200" b="1" dirty="0">
                <a:latin typeface="+mj-lt"/>
              </a:rPr>
              <a:t>524715</a:t>
            </a:r>
          </a:p>
        </p:txBody>
      </p:sp>
      <p:sp>
        <p:nvSpPr>
          <p:cNvPr id="57" name="object 41">
            <a:extLst>
              <a:ext uri="{FF2B5EF4-FFF2-40B4-BE49-F238E27FC236}">
                <a16:creationId xmlns:a16="http://schemas.microsoft.com/office/drawing/2014/main" id="{85E75B12-71D5-F469-C52A-34F8CDDD0E9E}"/>
              </a:ext>
            </a:extLst>
          </p:cNvPr>
          <p:cNvSpPr txBox="1"/>
          <p:nvPr/>
        </p:nvSpPr>
        <p:spPr>
          <a:xfrm>
            <a:off x="141831" y="686543"/>
            <a:ext cx="3210968" cy="197490"/>
          </a:xfrm>
          <a:prstGeom prst="rect">
            <a:avLst/>
          </a:prstGeom>
        </p:spPr>
        <p:txBody>
          <a:bodyPr vert="horz" wrap="square" lIns="0" tIns="12700" rIns="0" bIns="0" rtlCol="0">
            <a:spAutoFit/>
          </a:bodyPr>
          <a:lstStyle/>
          <a:p>
            <a:pPr marL="12700">
              <a:lnSpc>
                <a:spcPct val="100000"/>
              </a:lnSpc>
              <a:spcBef>
                <a:spcPts val="100"/>
              </a:spcBef>
            </a:pPr>
            <a:r>
              <a:rPr lang="en-GB" sz="1200" b="1" dirty="0">
                <a:latin typeface="Calibri "/>
              </a:rPr>
              <a:t>Pharmaceuticals &amp; Drugs</a:t>
            </a:r>
          </a:p>
        </p:txBody>
      </p:sp>
      <p:pic>
        <p:nvPicPr>
          <p:cNvPr id="59" name="Picture 58">
            <a:extLst>
              <a:ext uri="{FF2B5EF4-FFF2-40B4-BE49-F238E27FC236}">
                <a16:creationId xmlns:a16="http://schemas.microsoft.com/office/drawing/2014/main" id="{367A0BE1-3A4F-C62B-B5B5-41FFB13F563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04126" y="17284"/>
            <a:ext cx="1295705" cy="879830"/>
          </a:xfrm>
          <a:prstGeom prst="rect">
            <a:avLst/>
          </a:prstGeom>
        </p:spPr>
      </p:pic>
      <p:cxnSp>
        <p:nvCxnSpPr>
          <p:cNvPr id="61" name="Straight Connector 60">
            <a:extLst>
              <a:ext uri="{FF2B5EF4-FFF2-40B4-BE49-F238E27FC236}">
                <a16:creationId xmlns:a16="http://schemas.microsoft.com/office/drawing/2014/main" id="{13C601E1-C8D3-368A-4F75-B1E37EBEFBE4}"/>
              </a:ext>
            </a:extLst>
          </p:cNvPr>
          <p:cNvCxnSpPr>
            <a:cxnSpLocks/>
          </p:cNvCxnSpPr>
          <p:nvPr/>
        </p:nvCxnSpPr>
        <p:spPr>
          <a:xfrm>
            <a:off x="0" y="8859394"/>
            <a:ext cx="6858000" cy="0"/>
          </a:xfrm>
          <a:prstGeom prst="line">
            <a:avLst/>
          </a:prstGeom>
          <a:ln w="41275">
            <a:solidFill>
              <a:srgbClr val="E46C0A"/>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87B5BA4-6831-0CA5-993E-A2AD2D9483C6}"/>
              </a:ext>
            </a:extLst>
          </p:cNvPr>
          <p:cNvSpPr txBox="1"/>
          <p:nvPr/>
        </p:nvSpPr>
        <p:spPr>
          <a:xfrm>
            <a:off x="6553200" y="8810228"/>
            <a:ext cx="667055" cy="369332"/>
          </a:xfrm>
          <a:prstGeom prst="rect">
            <a:avLst/>
          </a:prstGeom>
          <a:noFill/>
        </p:spPr>
        <p:txBody>
          <a:bodyPr wrap="square" rtlCol="0">
            <a:spAutoFit/>
          </a:bodyPr>
          <a:lstStyle/>
          <a:p>
            <a:r>
              <a:rPr lang="en-US" b="1" dirty="0">
                <a:solidFill>
                  <a:srgbClr val="E46C0A"/>
                </a:solidFill>
              </a:rPr>
              <a:t>1</a:t>
            </a:r>
            <a:endParaRPr lang="en-GB" b="1" dirty="0">
              <a:solidFill>
                <a:srgbClr val="E46C0A"/>
              </a:solidFill>
            </a:endParaRPr>
          </a:p>
        </p:txBody>
      </p:sp>
      <p:cxnSp>
        <p:nvCxnSpPr>
          <p:cNvPr id="69" name="Straight Connector 68">
            <a:extLst>
              <a:ext uri="{FF2B5EF4-FFF2-40B4-BE49-F238E27FC236}">
                <a16:creationId xmlns:a16="http://schemas.microsoft.com/office/drawing/2014/main" id="{C5EFE23D-F407-6F6B-9218-365CC49FCA1F}"/>
              </a:ext>
            </a:extLst>
          </p:cNvPr>
          <p:cNvCxnSpPr>
            <a:cxnSpLocks/>
          </p:cNvCxnSpPr>
          <p:nvPr/>
        </p:nvCxnSpPr>
        <p:spPr>
          <a:xfrm flipV="1">
            <a:off x="0" y="933199"/>
            <a:ext cx="6858000" cy="37713"/>
          </a:xfrm>
          <a:prstGeom prst="line">
            <a:avLst/>
          </a:prstGeom>
          <a:ln>
            <a:solidFill>
              <a:srgbClr val="E46C0A"/>
            </a:solidFill>
          </a:ln>
        </p:spPr>
        <p:style>
          <a:lnRef idx="1">
            <a:schemeClr val="accent1"/>
          </a:lnRef>
          <a:fillRef idx="0">
            <a:schemeClr val="accent1"/>
          </a:fillRef>
          <a:effectRef idx="0">
            <a:schemeClr val="accent1"/>
          </a:effectRef>
          <a:fontRef idx="minor">
            <a:schemeClr val="tx1"/>
          </a:fontRef>
        </p:style>
      </p:cxnSp>
      <p:sp>
        <p:nvSpPr>
          <p:cNvPr id="10" name="object 2">
            <a:extLst>
              <a:ext uri="{FF2B5EF4-FFF2-40B4-BE49-F238E27FC236}">
                <a16:creationId xmlns:a16="http://schemas.microsoft.com/office/drawing/2014/main" id="{16174818-41CD-7D7C-188B-663CF66CFEDA}"/>
              </a:ext>
            </a:extLst>
          </p:cNvPr>
          <p:cNvSpPr/>
          <p:nvPr/>
        </p:nvSpPr>
        <p:spPr>
          <a:xfrm>
            <a:off x="218032" y="1086757"/>
            <a:ext cx="6411368" cy="294970"/>
          </a:xfrm>
          <a:custGeom>
            <a:avLst/>
            <a:gdLst/>
            <a:ahLst/>
            <a:cxnLst/>
            <a:rect l="l" t="t" r="r" b="b"/>
            <a:pathLst>
              <a:path w="7296784" h="401319">
                <a:moveTo>
                  <a:pt x="7296359" y="400830"/>
                </a:moveTo>
                <a:lnTo>
                  <a:pt x="0" y="400830"/>
                </a:lnTo>
                <a:lnTo>
                  <a:pt x="0" y="0"/>
                </a:lnTo>
                <a:lnTo>
                  <a:pt x="7296359" y="0"/>
                </a:lnTo>
                <a:lnTo>
                  <a:pt x="7296359" y="400830"/>
                </a:lnTo>
                <a:close/>
              </a:path>
            </a:pathLst>
          </a:custGeom>
          <a:solidFill>
            <a:srgbClr val="E46C0A"/>
          </a:solidFill>
        </p:spPr>
        <p:txBody>
          <a:bodyPr wrap="square" lIns="0" tIns="0" rIns="0" bIns="0" rtlCol="0"/>
          <a:lstStyle/>
          <a:p>
            <a:endParaRPr/>
          </a:p>
        </p:txBody>
      </p:sp>
      <p:sp>
        <p:nvSpPr>
          <p:cNvPr id="12" name="TextBox 11">
            <a:extLst>
              <a:ext uri="{FF2B5EF4-FFF2-40B4-BE49-F238E27FC236}">
                <a16:creationId xmlns:a16="http://schemas.microsoft.com/office/drawing/2014/main" id="{8DE6303E-F3F5-10D2-AF95-541727FA11AA}"/>
              </a:ext>
            </a:extLst>
          </p:cNvPr>
          <p:cNvSpPr txBox="1"/>
          <p:nvPr/>
        </p:nvSpPr>
        <p:spPr>
          <a:xfrm>
            <a:off x="-17847" y="1056828"/>
            <a:ext cx="3523049" cy="369332"/>
          </a:xfrm>
          <a:prstGeom prst="rect">
            <a:avLst/>
          </a:prstGeom>
          <a:noFill/>
        </p:spPr>
        <p:txBody>
          <a:bodyPr wrap="square">
            <a:spAutoFit/>
          </a:bodyPr>
          <a:lstStyle/>
          <a:p>
            <a:pPr marL="203200">
              <a:lnSpc>
                <a:spcPct val="100000"/>
              </a:lnSpc>
              <a:spcBef>
                <a:spcPts val="975"/>
              </a:spcBef>
            </a:pPr>
            <a:r>
              <a:rPr lang="en-GB" b="1" spc="-85" dirty="0">
                <a:solidFill>
                  <a:schemeClr val="bg1"/>
                </a:solidFill>
                <a:latin typeface="Arial"/>
                <a:cs typeface="Arial"/>
              </a:rPr>
              <a:t>Key Growth</a:t>
            </a:r>
            <a:r>
              <a:rPr lang="en-GB" b="1" spc="-70" dirty="0">
                <a:solidFill>
                  <a:schemeClr val="bg1"/>
                </a:solidFill>
                <a:latin typeface="Arial"/>
                <a:cs typeface="Arial"/>
              </a:rPr>
              <a:t> </a:t>
            </a:r>
            <a:r>
              <a:rPr lang="en-GB" b="1" spc="-10" dirty="0">
                <a:solidFill>
                  <a:schemeClr val="bg1"/>
                </a:solidFill>
                <a:latin typeface="Arial"/>
                <a:cs typeface="Arial"/>
              </a:rPr>
              <a:t>Drivers</a:t>
            </a:r>
            <a:endParaRPr lang="en-GB" dirty="0">
              <a:solidFill>
                <a:schemeClr val="bg1"/>
              </a:solidFill>
              <a:latin typeface="Arial"/>
              <a:cs typeface="Arial"/>
            </a:endParaRPr>
          </a:p>
        </p:txBody>
      </p:sp>
      <p:sp>
        <p:nvSpPr>
          <p:cNvPr id="17" name="TextBox 16">
            <a:extLst>
              <a:ext uri="{FF2B5EF4-FFF2-40B4-BE49-F238E27FC236}">
                <a16:creationId xmlns:a16="http://schemas.microsoft.com/office/drawing/2014/main" id="{74B465D4-7760-00FF-8862-5FAA66D4EEF5}"/>
              </a:ext>
            </a:extLst>
          </p:cNvPr>
          <p:cNvSpPr txBox="1"/>
          <p:nvPr/>
        </p:nvSpPr>
        <p:spPr>
          <a:xfrm>
            <a:off x="218032" y="1608311"/>
            <a:ext cx="6329881" cy="4708981"/>
          </a:xfrm>
          <a:prstGeom prst="rect">
            <a:avLst/>
          </a:prstGeom>
          <a:noFill/>
        </p:spPr>
        <p:txBody>
          <a:bodyPr wrap="square">
            <a:spAutoFit/>
          </a:bodyPr>
          <a:lstStyle/>
          <a:p>
            <a:pPr lvl="0" algn="just"/>
            <a:r>
              <a:rPr lang="en-GB" sz="1200" b="1" dirty="0">
                <a:latin typeface="+mn-lt"/>
              </a:rPr>
              <a:t>Aging Population &amp; Demographics</a:t>
            </a:r>
            <a:r>
              <a:rPr lang="en-GB" sz="1200" dirty="0">
                <a:latin typeface="+mn-lt"/>
              </a:rPr>
              <a:t>: The expanding global geriatric population is a primary growth engine for the industry. By 2030, 1 in 6 people globally will be aged 60 or older, and the population of those aged 80 years or older is projected to triple to 426 million between 2020 and 2050, heavily driving the demand for age-related and chronic medications.</a:t>
            </a:r>
          </a:p>
          <a:p>
            <a:pPr lvl="0" algn="just"/>
            <a:endParaRPr lang="en-GB" sz="1200" dirty="0">
              <a:latin typeface="+mn-lt"/>
            </a:endParaRPr>
          </a:p>
          <a:p>
            <a:pPr lvl="0" algn="just"/>
            <a:r>
              <a:rPr lang="en-GB" sz="1200" b="1" dirty="0">
                <a:latin typeface="+mn-lt"/>
              </a:rPr>
              <a:t>Rise of Chronic &amp; Lifestyle Diseases</a:t>
            </a:r>
            <a:r>
              <a:rPr lang="en-GB" sz="1200" dirty="0">
                <a:latin typeface="+mn-lt"/>
              </a:rPr>
              <a:t>: Sedentary lifestyles, urbanization, and changing dietary habits are driving a rapid surge in Non-Communicable Diseases (NCDs) like cardiovascular ailments and hypertension. Medicines to treat NCDs are projected to account for 85% of global spending, with diabetes care alone expected to reach nearly US$ 168 billion in revenues to become the third-largest therapy area globally by 2027.</a:t>
            </a:r>
          </a:p>
          <a:p>
            <a:pPr lvl="0" algn="just"/>
            <a:endParaRPr lang="en-GB" sz="1200" dirty="0">
              <a:latin typeface="+mn-lt"/>
            </a:endParaRPr>
          </a:p>
          <a:p>
            <a:pPr lvl="0" algn="just"/>
            <a:r>
              <a:rPr lang="en-GB" sz="1200" b="1" dirty="0">
                <a:latin typeface="+mn-lt"/>
              </a:rPr>
              <a:t>Specialty Medicines &amp; Innovative Therapies</a:t>
            </a:r>
            <a:r>
              <a:rPr lang="en-GB" sz="1200" dirty="0">
                <a:latin typeface="+mn-lt"/>
              </a:rPr>
              <a:t>: There is a massive shift toward advanced treatments for complex, chronic, and rare conditions, particularly in oncology, immunology, and endocrinology. Specialty medicines are expected to account for 43% of total global pharmaceutical spending by 2028, and will command over 55% of the total spending in developed markets</a:t>
            </a:r>
          </a:p>
          <a:p>
            <a:pPr lvl="0" algn="just"/>
            <a:r>
              <a:rPr lang="en-GB" sz="1200" dirty="0">
                <a:latin typeface="+mn-lt"/>
              </a:rPr>
              <a:t>.</a:t>
            </a:r>
          </a:p>
          <a:p>
            <a:pPr lvl="0" algn="just"/>
            <a:r>
              <a:rPr lang="en-GB" sz="1200" b="1" dirty="0">
                <a:latin typeface="+mn-lt"/>
              </a:rPr>
              <a:t>Government Support &amp; Infrastructure Push</a:t>
            </a:r>
            <a:r>
              <a:rPr lang="en-GB" sz="1200" dirty="0">
                <a:latin typeface="+mn-lt"/>
              </a:rPr>
              <a:t>: In India, robust government incentives are bolstering domestic manufacturing and reducing import dependence to solidify its position as the "pharmacy of the world". Key drivers include a Rs. 15,000 crore (US 7 billion) strategic push to elevate local Active Pharmaceutical Ingredient (API) production capacity.</a:t>
            </a:r>
          </a:p>
          <a:p>
            <a:pPr lvl="0" algn="just"/>
            <a:endParaRPr lang="en-GB" sz="1200" dirty="0">
              <a:latin typeface="+mn-lt"/>
            </a:endParaRPr>
          </a:p>
          <a:p>
            <a:pPr lvl="0" algn="just"/>
            <a:r>
              <a:rPr lang="en-GB" sz="1200" b="1" dirty="0">
                <a:latin typeface="+mn-lt"/>
              </a:rPr>
              <a:t>Digital Health &amp; AI Integration</a:t>
            </a:r>
            <a:r>
              <a:rPr lang="en-GB" sz="1200" dirty="0">
                <a:latin typeface="+mn-lt"/>
              </a:rPr>
              <a:t>: The adoption of artificial intelligence, machine learning, and advanced analytics is revolutionizing the pharmaceutical value chain. These technologies are optimizing clinical trial designs, accelerating drug discovery, predicting supply chain models, and enabling personalized medicine, thereby driving immense productivity and new care outcomes.</a:t>
            </a:r>
          </a:p>
        </p:txBody>
      </p:sp>
      <p:sp>
        <p:nvSpPr>
          <p:cNvPr id="7" name="object 2">
            <a:extLst>
              <a:ext uri="{FF2B5EF4-FFF2-40B4-BE49-F238E27FC236}">
                <a16:creationId xmlns:a16="http://schemas.microsoft.com/office/drawing/2014/main" id="{8C61FD93-D7D5-D019-C3C3-3F76EEC70141}"/>
              </a:ext>
            </a:extLst>
          </p:cNvPr>
          <p:cNvSpPr/>
          <p:nvPr/>
        </p:nvSpPr>
        <p:spPr>
          <a:xfrm>
            <a:off x="218032" y="6407065"/>
            <a:ext cx="6411368" cy="294970"/>
          </a:xfrm>
          <a:custGeom>
            <a:avLst/>
            <a:gdLst/>
            <a:ahLst/>
            <a:cxnLst/>
            <a:rect l="l" t="t" r="r" b="b"/>
            <a:pathLst>
              <a:path w="7296784" h="401319">
                <a:moveTo>
                  <a:pt x="7296359" y="400830"/>
                </a:moveTo>
                <a:lnTo>
                  <a:pt x="0" y="400830"/>
                </a:lnTo>
                <a:lnTo>
                  <a:pt x="0" y="0"/>
                </a:lnTo>
                <a:lnTo>
                  <a:pt x="7296359" y="0"/>
                </a:lnTo>
                <a:lnTo>
                  <a:pt x="7296359" y="400830"/>
                </a:lnTo>
                <a:close/>
              </a:path>
            </a:pathLst>
          </a:custGeom>
          <a:solidFill>
            <a:srgbClr val="E46C0A"/>
          </a:solidFill>
        </p:spPr>
        <p:txBody>
          <a:bodyPr wrap="square" lIns="0" tIns="0" rIns="0" bIns="0" rtlCol="0"/>
          <a:lstStyle/>
          <a:p>
            <a:endParaRPr/>
          </a:p>
        </p:txBody>
      </p:sp>
      <p:sp>
        <p:nvSpPr>
          <p:cNvPr id="9" name="TextBox 8">
            <a:extLst>
              <a:ext uri="{FF2B5EF4-FFF2-40B4-BE49-F238E27FC236}">
                <a16:creationId xmlns:a16="http://schemas.microsoft.com/office/drawing/2014/main" id="{054E89BC-2EBF-B7AB-C126-1A1FAAEBD2FE}"/>
              </a:ext>
            </a:extLst>
          </p:cNvPr>
          <p:cNvSpPr txBox="1"/>
          <p:nvPr/>
        </p:nvSpPr>
        <p:spPr>
          <a:xfrm>
            <a:off x="0" y="6356054"/>
            <a:ext cx="3523049" cy="369332"/>
          </a:xfrm>
          <a:prstGeom prst="rect">
            <a:avLst/>
          </a:prstGeom>
          <a:noFill/>
        </p:spPr>
        <p:txBody>
          <a:bodyPr wrap="square">
            <a:spAutoFit/>
          </a:bodyPr>
          <a:lstStyle/>
          <a:p>
            <a:pPr marL="203200">
              <a:lnSpc>
                <a:spcPct val="100000"/>
              </a:lnSpc>
              <a:spcBef>
                <a:spcPts val="975"/>
              </a:spcBef>
            </a:pPr>
            <a:r>
              <a:rPr lang="en-US" b="1" spc="-85" dirty="0">
                <a:solidFill>
                  <a:schemeClr val="bg1"/>
                </a:solidFill>
                <a:latin typeface="Arial"/>
                <a:cs typeface="Arial"/>
              </a:rPr>
              <a:t>S</a:t>
            </a:r>
            <a:r>
              <a:rPr lang="en-GB" b="1" spc="-85" dirty="0" err="1">
                <a:solidFill>
                  <a:schemeClr val="bg1"/>
                </a:solidFill>
                <a:latin typeface="Arial"/>
                <a:cs typeface="Arial"/>
              </a:rPr>
              <a:t>ome</a:t>
            </a:r>
            <a:r>
              <a:rPr lang="en-GB" b="1" spc="-85" dirty="0">
                <a:solidFill>
                  <a:schemeClr val="bg1"/>
                </a:solidFill>
                <a:latin typeface="Arial"/>
                <a:cs typeface="Arial"/>
              </a:rPr>
              <a:t> Major Indian Players </a:t>
            </a:r>
            <a:endParaRPr lang="en-GB" dirty="0">
              <a:solidFill>
                <a:schemeClr val="bg1"/>
              </a:solidFill>
              <a:latin typeface="Arial"/>
              <a:cs typeface="Arial"/>
            </a:endParaRPr>
          </a:p>
        </p:txBody>
      </p:sp>
      <p:pic>
        <p:nvPicPr>
          <p:cNvPr id="13" name="Picture 12">
            <a:extLst>
              <a:ext uri="{FF2B5EF4-FFF2-40B4-BE49-F238E27FC236}">
                <a16:creationId xmlns:a16="http://schemas.microsoft.com/office/drawing/2014/main" id="{FF6A8ED5-B67E-34D6-3D1A-FDA26FF8FC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725386"/>
            <a:ext cx="1662992" cy="1129231"/>
          </a:xfrm>
          <a:prstGeom prst="rect">
            <a:avLst/>
          </a:prstGeom>
        </p:spPr>
      </p:pic>
      <p:pic>
        <p:nvPicPr>
          <p:cNvPr id="15" name="Picture 14" descr="Corporate Social Responsibility | Abbott India Limited">
            <a:extLst>
              <a:ext uri="{FF2B5EF4-FFF2-40B4-BE49-F238E27FC236}">
                <a16:creationId xmlns:a16="http://schemas.microsoft.com/office/drawing/2014/main" id="{F10C1307-6CC1-03D8-ADAE-D6FC759A2A68}"/>
              </a:ext>
            </a:extLst>
          </p:cNvPr>
          <p:cNvPicPr>
            <a:picLocks noChangeAspect="1"/>
          </p:cNvPicPr>
          <p:nvPr/>
        </p:nvPicPr>
        <p:blipFill>
          <a:blip r:embed="rId3"/>
          <a:stretch>
            <a:fillRect/>
          </a:stretch>
        </p:blipFill>
        <p:spPr>
          <a:xfrm>
            <a:off x="1494871" y="6900347"/>
            <a:ext cx="1467348" cy="771541"/>
          </a:xfrm>
          <a:prstGeom prst="rect">
            <a:avLst/>
          </a:prstGeom>
        </p:spPr>
      </p:pic>
      <p:pic>
        <p:nvPicPr>
          <p:cNvPr id="24" name="Picture 23">
            <a:extLst>
              <a:ext uri="{FF2B5EF4-FFF2-40B4-BE49-F238E27FC236}">
                <a16:creationId xmlns:a16="http://schemas.microsoft.com/office/drawing/2014/main" id="{E2B34EC3-E41E-F325-387B-981CDE1822F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49469" y="7065340"/>
            <a:ext cx="1371600" cy="474971"/>
          </a:xfrm>
          <a:prstGeom prst="rect">
            <a:avLst/>
          </a:prstGeom>
        </p:spPr>
      </p:pic>
      <p:pic>
        <p:nvPicPr>
          <p:cNvPr id="26" name="Picture 25">
            <a:extLst>
              <a:ext uri="{FF2B5EF4-FFF2-40B4-BE49-F238E27FC236}">
                <a16:creationId xmlns:a16="http://schemas.microsoft.com/office/drawing/2014/main" id="{CFDD441B-17B8-440C-D83A-053D7FFF47C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1659" y="7867442"/>
            <a:ext cx="994693" cy="753555"/>
          </a:xfrm>
          <a:prstGeom prst="rect">
            <a:avLst/>
          </a:prstGeom>
        </p:spPr>
      </p:pic>
      <p:pic>
        <p:nvPicPr>
          <p:cNvPr id="28" name="Picture 27">
            <a:extLst>
              <a:ext uri="{FF2B5EF4-FFF2-40B4-BE49-F238E27FC236}">
                <a16:creationId xmlns:a16="http://schemas.microsoft.com/office/drawing/2014/main" id="{565A7B5F-CEE4-05CA-D19F-7FEC1774FAD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980378" y="6887676"/>
            <a:ext cx="1371600" cy="748699"/>
          </a:xfrm>
          <a:prstGeom prst="rect">
            <a:avLst/>
          </a:prstGeom>
        </p:spPr>
      </p:pic>
      <p:pic>
        <p:nvPicPr>
          <p:cNvPr id="30" name="Picture 29">
            <a:extLst>
              <a:ext uri="{FF2B5EF4-FFF2-40B4-BE49-F238E27FC236}">
                <a16:creationId xmlns:a16="http://schemas.microsoft.com/office/drawing/2014/main" id="{9C75BA5C-B368-42A8-878B-FE7D80CB00D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130377" y="7926204"/>
            <a:ext cx="1371600" cy="569194"/>
          </a:xfrm>
          <a:prstGeom prst="rect">
            <a:avLst/>
          </a:prstGeom>
        </p:spPr>
      </p:pic>
      <p:pic>
        <p:nvPicPr>
          <p:cNvPr id="32" name="Picture 31">
            <a:extLst>
              <a:ext uri="{FF2B5EF4-FFF2-40B4-BE49-F238E27FC236}">
                <a16:creationId xmlns:a16="http://schemas.microsoft.com/office/drawing/2014/main" id="{C556DB4B-CEDF-4B23-B4DC-70F7258DE7B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888055" y="7702502"/>
            <a:ext cx="843168" cy="1025315"/>
          </a:xfrm>
          <a:prstGeom prst="rect">
            <a:avLst/>
          </a:prstGeom>
        </p:spPr>
      </p:pic>
      <p:pic>
        <p:nvPicPr>
          <p:cNvPr id="34" name="Picture 33">
            <a:extLst>
              <a:ext uri="{FF2B5EF4-FFF2-40B4-BE49-F238E27FC236}">
                <a16:creationId xmlns:a16="http://schemas.microsoft.com/office/drawing/2014/main" id="{525D877D-C286-88ED-21FA-C77926848954}"/>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845426" y="8003906"/>
            <a:ext cx="1719048" cy="662817"/>
          </a:xfrm>
          <a:prstGeom prst="rect">
            <a:avLst/>
          </a:prstGeom>
        </p:spPr>
      </p:pic>
    </p:spTree>
    <p:extLst>
      <p:ext uri="{BB962C8B-B14F-4D97-AF65-F5344CB8AC3E}">
        <p14:creationId xmlns:p14="http://schemas.microsoft.com/office/powerpoint/2010/main" val="2916030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BC285-FE36-4FFB-A2E5-5AE10D8C0596}"/>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242F3C11-136E-BFB8-BD08-4FF28499F066}"/>
              </a:ext>
            </a:extLst>
          </p:cNvPr>
          <p:cNvGrpSpPr/>
          <p:nvPr/>
        </p:nvGrpSpPr>
        <p:grpSpPr>
          <a:xfrm>
            <a:off x="0" y="0"/>
            <a:ext cx="6858000" cy="1625597"/>
            <a:chOff x="0" y="0"/>
            <a:chExt cx="6858000" cy="1625597"/>
          </a:xfrm>
        </p:grpSpPr>
        <p:sp>
          <p:nvSpPr>
            <p:cNvPr id="3" name="object 3">
              <a:extLst>
                <a:ext uri="{FF2B5EF4-FFF2-40B4-BE49-F238E27FC236}">
                  <a16:creationId xmlns:a16="http://schemas.microsoft.com/office/drawing/2014/main" id="{54D7A4B4-44FE-6732-B3AE-F0C7BA12D104}"/>
                </a:ext>
              </a:extLst>
            </p:cNvPr>
            <p:cNvSpPr/>
            <p:nvPr/>
          </p:nvSpPr>
          <p:spPr>
            <a:xfrm>
              <a:off x="0" y="0"/>
              <a:ext cx="6858000" cy="949325"/>
            </a:xfrm>
            <a:custGeom>
              <a:avLst/>
              <a:gdLst/>
              <a:ahLst/>
              <a:cxnLst/>
              <a:rect l="l" t="t" r="r" b="b"/>
              <a:pathLst>
                <a:path w="6858000" h="949325">
                  <a:moveTo>
                    <a:pt x="0" y="949198"/>
                  </a:moveTo>
                  <a:lnTo>
                    <a:pt x="6858000" y="949198"/>
                  </a:lnTo>
                  <a:lnTo>
                    <a:pt x="6858000" y="0"/>
                  </a:lnTo>
                  <a:lnTo>
                    <a:pt x="0" y="0"/>
                  </a:lnTo>
                  <a:lnTo>
                    <a:pt x="0" y="949198"/>
                  </a:lnTo>
                  <a:close/>
                </a:path>
              </a:pathLst>
            </a:custGeom>
            <a:solidFill>
              <a:schemeClr val="accent6">
                <a:lumMod val="75000"/>
              </a:schemeClr>
            </a:solidFill>
          </p:spPr>
          <p:txBody>
            <a:bodyPr wrap="square" lIns="0" tIns="0" rIns="0" bIns="0" rtlCol="0"/>
            <a:lstStyle/>
            <a:p>
              <a:endParaRPr/>
            </a:p>
          </p:txBody>
        </p:sp>
        <p:sp>
          <p:nvSpPr>
            <p:cNvPr id="4" name="object 4">
              <a:extLst>
                <a:ext uri="{FF2B5EF4-FFF2-40B4-BE49-F238E27FC236}">
                  <a16:creationId xmlns:a16="http://schemas.microsoft.com/office/drawing/2014/main" id="{65B26BE8-147C-0E26-796C-5A2AD61355E3}"/>
                </a:ext>
              </a:extLst>
            </p:cNvPr>
            <p:cNvSpPr/>
            <p:nvPr/>
          </p:nvSpPr>
          <p:spPr>
            <a:xfrm>
              <a:off x="0" y="316227"/>
              <a:ext cx="4147185" cy="1309370"/>
            </a:xfrm>
            <a:custGeom>
              <a:avLst/>
              <a:gdLst/>
              <a:ahLst/>
              <a:cxnLst/>
              <a:rect l="l" t="t" r="r" b="b"/>
              <a:pathLst>
                <a:path w="4147185" h="1309370">
                  <a:moveTo>
                    <a:pt x="3492246" y="0"/>
                  </a:moveTo>
                  <a:lnTo>
                    <a:pt x="0" y="0"/>
                  </a:lnTo>
                  <a:lnTo>
                    <a:pt x="0" y="1309243"/>
                  </a:lnTo>
                  <a:lnTo>
                    <a:pt x="3492246" y="1309243"/>
                  </a:lnTo>
                  <a:lnTo>
                    <a:pt x="4146804" y="654685"/>
                  </a:lnTo>
                  <a:lnTo>
                    <a:pt x="3492246" y="0"/>
                  </a:lnTo>
                  <a:close/>
                </a:path>
              </a:pathLst>
            </a:custGeom>
            <a:solidFill>
              <a:srgbClr val="FFFFFF"/>
            </a:solidFill>
          </p:spPr>
          <p:txBody>
            <a:bodyPr wrap="square" lIns="0" tIns="0" rIns="0" bIns="0" rtlCol="0"/>
            <a:lstStyle/>
            <a:p>
              <a:endParaRPr dirty="0"/>
            </a:p>
          </p:txBody>
        </p:sp>
      </p:grpSp>
      <p:sp>
        <p:nvSpPr>
          <p:cNvPr id="5" name="object 5">
            <a:extLst>
              <a:ext uri="{FF2B5EF4-FFF2-40B4-BE49-F238E27FC236}">
                <a16:creationId xmlns:a16="http://schemas.microsoft.com/office/drawing/2014/main" id="{9CA5510D-EA71-504E-968C-BD68C5EE4781}"/>
              </a:ext>
            </a:extLst>
          </p:cNvPr>
          <p:cNvSpPr txBox="1"/>
          <p:nvPr/>
        </p:nvSpPr>
        <p:spPr>
          <a:xfrm>
            <a:off x="147015" y="4952"/>
            <a:ext cx="2081530" cy="247015"/>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FFFFFF"/>
                </a:solidFill>
                <a:latin typeface="Calibri"/>
                <a:cs typeface="Calibri"/>
              </a:rPr>
              <a:t>EQUITY</a:t>
            </a:r>
            <a:r>
              <a:rPr sz="1450" b="1" spc="-65" dirty="0">
                <a:solidFill>
                  <a:srgbClr val="FFFFFF"/>
                </a:solidFill>
                <a:latin typeface="Calibri"/>
                <a:cs typeface="Calibri"/>
              </a:rPr>
              <a:t> </a:t>
            </a:r>
            <a:r>
              <a:rPr sz="1450" b="1" dirty="0">
                <a:solidFill>
                  <a:srgbClr val="FFFFFF"/>
                </a:solidFill>
                <a:latin typeface="Calibri"/>
                <a:cs typeface="Calibri"/>
              </a:rPr>
              <a:t>RESEARCH</a:t>
            </a:r>
            <a:r>
              <a:rPr sz="1450" b="1" spc="-60" dirty="0">
                <a:solidFill>
                  <a:srgbClr val="FFFFFF"/>
                </a:solidFill>
                <a:latin typeface="Calibri"/>
                <a:cs typeface="Calibri"/>
              </a:rPr>
              <a:t> </a:t>
            </a:r>
            <a:r>
              <a:rPr sz="1450" b="1" spc="-10" dirty="0">
                <a:solidFill>
                  <a:srgbClr val="FFFFFF"/>
                </a:solidFill>
                <a:latin typeface="Calibri"/>
                <a:cs typeface="Calibri"/>
              </a:rPr>
              <a:t>REPORT</a:t>
            </a:r>
            <a:endParaRPr sz="1450">
              <a:latin typeface="Calibri"/>
              <a:cs typeface="Calibri"/>
            </a:endParaRPr>
          </a:p>
        </p:txBody>
      </p:sp>
      <p:sp>
        <p:nvSpPr>
          <p:cNvPr id="40" name="object 40">
            <a:extLst>
              <a:ext uri="{FF2B5EF4-FFF2-40B4-BE49-F238E27FC236}">
                <a16:creationId xmlns:a16="http://schemas.microsoft.com/office/drawing/2014/main" id="{F588DCD8-9781-CA69-7766-33FD7660347E}"/>
              </a:ext>
            </a:extLst>
          </p:cNvPr>
          <p:cNvSpPr txBox="1">
            <a:spLocks noGrp="1"/>
          </p:cNvSpPr>
          <p:nvPr>
            <p:ph type="title"/>
          </p:nvPr>
        </p:nvSpPr>
        <p:spPr>
          <a:xfrm>
            <a:off x="141831" y="295140"/>
            <a:ext cx="4269104" cy="289182"/>
          </a:xfrm>
          <a:prstGeom prst="rect">
            <a:avLst/>
          </a:prstGeom>
        </p:spPr>
        <p:txBody>
          <a:bodyPr vert="horz" wrap="square" lIns="0" tIns="12065" rIns="0" bIns="0" rtlCol="0">
            <a:spAutoFit/>
          </a:bodyPr>
          <a:lstStyle/>
          <a:p>
            <a:pPr marL="12700">
              <a:lnSpc>
                <a:spcPct val="100000"/>
              </a:lnSpc>
              <a:spcBef>
                <a:spcPts val="95"/>
              </a:spcBef>
            </a:pPr>
            <a:r>
              <a:rPr lang="en-GB" sz="1800" dirty="0"/>
              <a:t>Sun Pharmaceutical Industries Ltd.</a:t>
            </a:r>
            <a:endParaRPr sz="1800" dirty="0"/>
          </a:p>
        </p:txBody>
      </p:sp>
      <p:sp>
        <p:nvSpPr>
          <p:cNvPr id="41" name="object 41">
            <a:extLst>
              <a:ext uri="{FF2B5EF4-FFF2-40B4-BE49-F238E27FC236}">
                <a16:creationId xmlns:a16="http://schemas.microsoft.com/office/drawing/2014/main" id="{1D367A1C-48FB-751C-6B7C-2AD786F52CE4}"/>
              </a:ext>
            </a:extLst>
          </p:cNvPr>
          <p:cNvSpPr txBox="1"/>
          <p:nvPr/>
        </p:nvSpPr>
        <p:spPr>
          <a:xfrm>
            <a:off x="141831" y="526972"/>
            <a:ext cx="3210968"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D2841"/>
                </a:solidFill>
                <a:latin typeface="Calibri"/>
                <a:cs typeface="Calibri"/>
              </a:rPr>
              <a:t>NSE</a:t>
            </a:r>
            <a:r>
              <a:rPr sz="1200" b="1" spc="-20" dirty="0">
                <a:solidFill>
                  <a:srgbClr val="0D2841"/>
                </a:solidFill>
                <a:latin typeface="Calibri"/>
                <a:cs typeface="Calibri"/>
              </a:rPr>
              <a:t> </a:t>
            </a:r>
            <a:r>
              <a:rPr sz="1200" b="1" dirty="0">
                <a:solidFill>
                  <a:srgbClr val="0D2841"/>
                </a:solidFill>
                <a:latin typeface="Calibri"/>
                <a:cs typeface="Calibri"/>
              </a:rPr>
              <a:t>:</a:t>
            </a:r>
            <a:r>
              <a:rPr lang="en-US" sz="1200" b="1" spc="-15" dirty="0">
                <a:solidFill>
                  <a:srgbClr val="0D2841"/>
                </a:solidFill>
                <a:latin typeface="Calibri"/>
                <a:cs typeface="Calibri"/>
              </a:rPr>
              <a:t> </a:t>
            </a:r>
            <a:r>
              <a:rPr lang="en-GB" sz="1200" b="1" dirty="0">
                <a:latin typeface="+mj-lt"/>
              </a:rPr>
              <a:t>SUNPHARMA</a:t>
            </a:r>
            <a:r>
              <a:rPr sz="1200" b="1" spc="10" dirty="0">
                <a:solidFill>
                  <a:srgbClr val="0D2841"/>
                </a:solidFill>
                <a:latin typeface="Calibri"/>
                <a:cs typeface="Calibri"/>
              </a:rPr>
              <a:t> </a:t>
            </a:r>
            <a:r>
              <a:rPr sz="1200" b="1" dirty="0">
                <a:solidFill>
                  <a:srgbClr val="0D2841"/>
                </a:solidFill>
                <a:latin typeface="Calibri"/>
                <a:cs typeface="Calibri"/>
              </a:rPr>
              <a:t>|</a:t>
            </a:r>
            <a:r>
              <a:rPr sz="1200" b="1" spc="-15" dirty="0">
                <a:solidFill>
                  <a:srgbClr val="0D2841"/>
                </a:solidFill>
                <a:latin typeface="Calibri"/>
                <a:cs typeface="Calibri"/>
              </a:rPr>
              <a:t> </a:t>
            </a:r>
            <a:r>
              <a:rPr sz="1200" b="1" dirty="0">
                <a:solidFill>
                  <a:srgbClr val="0D2841"/>
                </a:solidFill>
                <a:latin typeface="Calibri"/>
                <a:cs typeface="Calibri"/>
              </a:rPr>
              <a:t>BSE Code:</a:t>
            </a:r>
            <a:r>
              <a:rPr sz="1200" b="1" spc="-5" dirty="0">
                <a:solidFill>
                  <a:srgbClr val="0D2841"/>
                </a:solidFill>
                <a:latin typeface="Calibri"/>
                <a:cs typeface="Calibri"/>
              </a:rPr>
              <a:t> </a:t>
            </a:r>
            <a:r>
              <a:rPr lang="en-GB" sz="1200" b="1" dirty="0">
                <a:latin typeface="+mj-lt"/>
              </a:rPr>
              <a:t>524715</a:t>
            </a:r>
          </a:p>
        </p:txBody>
      </p:sp>
      <p:sp>
        <p:nvSpPr>
          <p:cNvPr id="57" name="object 41">
            <a:extLst>
              <a:ext uri="{FF2B5EF4-FFF2-40B4-BE49-F238E27FC236}">
                <a16:creationId xmlns:a16="http://schemas.microsoft.com/office/drawing/2014/main" id="{2B43CCD7-FBE4-8122-0ECD-5EDA2476A78E}"/>
              </a:ext>
            </a:extLst>
          </p:cNvPr>
          <p:cNvSpPr txBox="1"/>
          <p:nvPr/>
        </p:nvSpPr>
        <p:spPr>
          <a:xfrm>
            <a:off x="141831" y="686543"/>
            <a:ext cx="3210968" cy="197490"/>
          </a:xfrm>
          <a:prstGeom prst="rect">
            <a:avLst/>
          </a:prstGeom>
        </p:spPr>
        <p:txBody>
          <a:bodyPr vert="horz" wrap="square" lIns="0" tIns="12700" rIns="0" bIns="0" rtlCol="0">
            <a:spAutoFit/>
          </a:bodyPr>
          <a:lstStyle/>
          <a:p>
            <a:pPr marL="12700">
              <a:lnSpc>
                <a:spcPct val="100000"/>
              </a:lnSpc>
              <a:spcBef>
                <a:spcPts val="100"/>
              </a:spcBef>
            </a:pPr>
            <a:r>
              <a:rPr lang="en-GB" sz="1200" b="1" dirty="0">
                <a:latin typeface="Calibri "/>
              </a:rPr>
              <a:t>Pharmaceuticals &amp; Drugs</a:t>
            </a:r>
          </a:p>
        </p:txBody>
      </p:sp>
      <p:pic>
        <p:nvPicPr>
          <p:cNvPr id="59" name="Picture 58">
            <a:extLst>
              <a:ext uri="{FF2B5EF4-FFF2-40B4-BE49-F238E27FC236}">
                <a16:creationId xmlns:a16="http://schemas.microsoft.com/office/drawing/2014/main" id="{0C47DEB1-209B-25BD-02A5-D57865E01FB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04126" y="17284"/>
            <a:ext cx="1295705" cy="879830"/>
          </a:xfrm>
          <a:prstGeom prst="rect">
            <a:avLst/>
          </a:prstGeom>
        </p:spPr>
      </p:pic>
      <p:cxnSp>
        <p:nvCxnSpPr>
          <p:cNvPr id="61" name="Straight Connector 60">
            <a:extLst>
              <a:ext uri="{FF2B5EF4-FFF2-40B4-BE49-F238E27FC236}">
                <a16:creationId xmlns:a16="http://schemas.microsoft.com/office/drawing/2014/main" id="{EB5075E4-3C0C-A48F-72CE-26D04AAF8B6A}"/>
              </a:ext>
            </a:extLst>
          </p:cNvPr>
          <p:cNvCxnSpPr>
            <a:cxnSpLocks/>
          </p:cNvCxnSpPr>
          <p:nvPr/>
        </p:nvCxnSpPr>
        <p:spPr>
          <a:xfrm>
            <a:off x="0" y="8859394"/>
            <a:ext cx="6858000" cy="0"/>
          </a:xfrm>
          <a:prstGeom prst="line">
            <a:avLst/>
          </a:prstGeom>
          <a:ln w="41275">
            <a:solidFill>
              <a:srgbClr val="E46C0A"/>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0AA30A9D-CFC2-3270-029C-B8DB2799DD2B}"/>
              </a:ext>
            </a:extLst>
          </p:cNvPr>
          <p:cNvSpPr txBox="1"/>
          <p:nvPr/>
        </p:nvSpPr>
        <p:spPr>
          <a:xfrm>
            <a:off x="6553200" y="8810228"/>
            <a:ext cx="667055" cy="369332"/>
          </a:xfrm>
          <a:prstGeom prst="rect">
            <a:avLst/>
          </a:prstGeom>
          <a:noFill/>
        </p:spPr>
        <p:txBody>
          <a:bodyPr wrap="square" rtlCol="0">
            <a:spAutoFit/>
          </a:bodyPr>
          <a:lstStyle/>
          <a:p>
            <a:r>
              <a:rPr lang="en-US" b="1" dirty="0">
                <a:solidFill>
                  <a:srgbClr val="E46C0A"/>
                </a:solidFill>
              </a:rPr>
              <a:t>1</a:t>
            </a:r>
            <a:endParaRPr lang="en-GB" b="1" dirty="0">
              <a:solidFill>
                <a:srgbClr val="E46C0A"/>
              </a:solidFill>
            </a:endParaRPr>
          </a:p>
        </p:txBody>
      </p:sp>
      <p:cxnSp>
        <p:nvCxnSpPr>
          <p:cNvPr id="69" name="Straight Connector 68">
            <a:extLst>
              <a:ext uri="{FF2B5EF4-FFF2-40B4-BE49-F238E27FC236}">
                <a16:creationId xmlns:a16="http://schemas.microsoft.com/office/drawing/2014/main" id="{894E4C7B-D8B6-CAD7-B8B8-7A530893E2E5}"/>
              </a:ext>
            </a:extLst>
          </p:cNvPr>
          <p:cNvCxnSpPr>
            <a:cxnSpLocks/>
          </p:cNvCxnSpPr>
          <p:nvPr/>
        </p:nvCxnSpPr>
        <p:spPr>
          <a:xfrm flipV="1">
            <a:off x="0" y="933199"/>
            <a:ext cx="6858000" cy="37713"/>
          </a:xfrm>
          <a:prstGeom prst="line">
            <a:avLst/>
          </a:prstGeom>
          <a:ln>
            <a:solidFill>
              <a:srgbClr val="E46C0A"/>
            </a:solidFill>
          </a:ln>
        </p:spPr>
        <p:style>
          <a:lnRef idx="1">
            <a:schemeClr val="accent1"/>
          </a:lnRef>
          <a:fillRef idx="0">
            <a:schemeClr val="accent1"/>
          </a:fillRef>
          <a:effectRef idx="0">
            <a:schemeClr val="accent1"/>
          </a:effectRef>
          <a:fontRef idx="minor">
            <a:schemeClr val="tx1"/>
          </a:fontRef>
        </p:style>
      </p:cxnSp>
      <p:sp>
        <p:nvSpPr>
          <p:cNvPr id="7" name="object 2">
            <a:extLst>
              <a:ext uri="{FF2B5EF4-FFF2-40B4-BE49-F238E27FC236}">
                <a16:creationId xmlns:a16="http://schemas.microsoft.com/office/drawing/2014/main" id="{7B0FE7E7-75A6-9067-6EC5-13774AAE9DEF}"/>
              </a:ext>
            </a:extLst>
          </p:cNvPr>
          <p:cNvSpPr/>
          <p:nvPr/>
        </p:nvSpPr>
        <p:spPr>
          <a:xfrm>
            <a:off x="141831" y="1126501"/>
            <a:ext cx="6411369" cy="429865"/>
          </a:xfrm>
          <a:custGeom>
            <a:avLst/>
            <a:gdLst/>
            <a:ahLst/>
            <a:cxnLst/>
            <a:rect l="l" t="t" r="r" b="b"/>
            <a:pathLst>
              <a:path w="7296784" h="401319">
                <a:moveTo>
                  <a:pt x="7296359" y="400830"/>
                </a:moveTo>
                <a:lnTo>
                  <a:pt x="0" y="400830"/>
                </a:lnTo>
                <a:lnTo>
                  <a:pt x="0" y="0"/>
                </a:lnTo>
                <a:lnTo>
                  <a:pt x="7296359" y="0"/>
                </a:lnTo>
                <a:lnTo>
                  <a:pt x="7296359" y="400830"/>
                </a:lnTo>
                <a:close/>
              </a:path>
            </a:pathLst>
          </a:custGeom>
          <a:solidFill>
            <a:srgbClr val="E46C0A"/>
          </a:solidFill>
        </p:spPr>
        <p:txBody>
          <a:bodyPr wrap="square" lIns="0" tIns="0" rIns="0" bIns="0" rtlCol="0"/>
          <a:lstStyle/>
          <a:p>
            <a:endParaRPr/>
          </a:p>
        </p:txBody>
      </p:sp>
      <p:sp>
        <p:nvSpPr>
          <p:cNvPr id="6" name="TextBox 5">
            <a:extLst>
              <a:ext uri="{FF2B5EF4-FFF2-40B4-BE49-F238E27FC236}">
                <a16:creationId xmlns:a16="http://schemas.microsoft.com/office/drawing/2014/main" id="{0DCDA7B5-EDA2-FC11-361E-BE0A93A01F03}"/>
              </a:ext>
            </a:extLst>
          </p:cNvPr>
          <p:cNvSpPr txBox="1"/>
          <p:nvPr/>
        </p:nvSpPr>
        <p:spPr>
          <a:xfrm>
            <a:off x="876300" y="1140645"/>
            <a:ext cx="5105400" cy="646331"/>
          </a:xfrm>
          <a:prstGeom prst="rect">
            <a:avLst/>
          </a:prstGeom>
          <a:noFill/>
        </p:spPr>
        <p:txBody>
          <a:bodyPr wrap="square" rtlCol="0">
            <a:spAutoFit/>
          </a:bodyPr>
          <a:lstStyle/>
          <a:p>
            <a:pPr algn="ctr"/>
            <a:r>
              <a:rPr lang="en-GB" sz="1800" b="1" spc="-55" dirty="0">
                <a:solidFill>
                  <a:srgbClr val="FFFFFF"/>
                </a:solidFill>
                <a:latin typeface="+mj-lt"/>
                <a:cs typeface="Trebuchet MS"/>
              </a:rPr>
              <a:t>PORTER’S</a:t>
            </a:r>
            <a:r>
              <a:rPr lang="en-GB" sz="1800" b="1" spc="-125" dirty="0">
                <a:solidFill>
                  <a:srgbClr val="FFFFFF"/>
                </a:solidFill>
                <a:latin typeface="+mj-lt"/>
                <a:cs typeface="Trebuchet MS"/>
              </a:rPr>
              <a:t> </a:t>
            </a:r>
            <a:r>
              <a:rPr lang="en-GB" sz="1800" b="1" spc="-65" dirty="0">
                <a:solidFill>
                  <a:srgbClr val="FFFFFF"/>
                </a:solidFill>
                <a:latin typeface="+mj-lt"/>
                <a:cs typeface="Trebuchet MS"/>
              </a:rPr>
              <a:t>FIVE</a:t>
            </a:r>
            <a:r>
              <a:rPr lang="en-GB" sz="1800" b="1" spc="-125" dirty="0">
                <a:solidFill>
                  <a:srgbClr val="FFFFFF"/>
                </a:solidFill>
                <a:latin typeface="+mj-lt"/>
                <a:cs typeface="Trebuchet MS"/>
              </a:rPr>
              <a:t> </a:t>
            </a:r>
            <a:r>
              <a:rPr lang="en-GB" sz="1800" b="1" spc="-10" dirty="0">
                <a:solidFill>
                  <a:srgbClr val="FFFFFF"/>
                </a:solidFill>
                <a:latin typeface="+mj-lt"/>
                <a:cs typeface="Trebuchet MS"/>
              </a:rPr>
              <a:t>FORCES</a:t>
            </a:r>
            <a:endParaRPr lang="en-GB" sz="1800" dirty="0">
              <a:latin typeface="+mj-lt"/>
              <a:cs typeface="Trebuchet MS"/>
            </a:endParaRPr>
          </a:p>
          <a:p>
            <a:endParaRPr lang="en-GB" dirty="0">
              <a:latin typeface="+mj-lt"/>
            </a:endParaRPr>
          </a:p>
        </p:txBody>
      </p:sp>
      <p:sp>
        <p:nvSpPr>
          <p:cNvPr id="10" name="object 12">
            <a:extLst>
              <a:ext uri="{FF2B5EF4-FFF2-40B4-BE49-F238E27FC236}">
                <a16:creationId xmlns:a16="http://schemas.microsoft.com/office/drawing/2014/main" id="{8F35E78F-CB98-5276-7969-DE655997FBAD}"/>
              </a:ext>
            </a:extLst>
          </p:cNvPr>
          <p:cNvSpPr/>
          <p:nvPr/>
        </p:nvSpPr>
        <p:spPr>
          <a:xfrm>
            <a:off x="377190" y="1882074"/>
            <a:ext cx="6112510" cy="2018355"/>
          </a:xfrm>
          <a:custGeom>
            <a:avLst/>
            <a:gdLst/>
            <a:ahLst/>
            <a:cxnLst/>
            <a:rect l="l" t="t" r="r" b="b"/>
            <a:pathLst>
              <a:path w="6112510" h="1224280">
                <a:moveTo>
                  <a:pt x="6112510" y="0"/>
                </a:moveTo>
                <a:lnTo>
                  <a:pt x="0" y="0"/>
                </a:lnTo>
                <a:lnTo>
                  <a:pt x="0" y="1224267"/>
                </a:lnTo>
                <a:lnTo>
                  <a:pt x="6112510" y="1224267"/>
                </a:lnTo>
                <a:lnTo>
                  <a:pt x="6112510" y="0"/>
                </a:lnTo>
                <a:close/>
              </a:path>
            </a:pathLst>
          </a:custGeom>
          <a:solidFill>
            <a:schemeClr val="accent6">
              <a:lumMod val="60000"/>
              <a:lumOff val="40000"/>
            </a:schemeClr>
          </a:solidFill>
        </p:spPr>
        <p:txBody>
          <a:bodyPr wrap="square" lIns="0" tIns="0" rIns="0" bIns="0" rtlCol="0"/>
          <a:lstStyle/>
          <a:p>
            <a:endParaRPr/>
          </a:p>
        </p:txBody>
      </p:sp>
      <p:grpSp>
        <p:nvGrpSpPr>
          <p:cNvPr id="14" name="object 15">
            <a:extLst>
              <a:ext uri="{FF2B5EF4-FFF2-40B4-BE49-F238E27FC236}">
                <a16:creationId xmlns:a16="http://schemas.microsoft.com/office/drawing/2014/main" id="{C38FD1AA-EE73-28DD-6455-E735D4C12E2A}"/>
              </a:ext>
            </a:extLst>
          </p:cNvPr>
          <p:cNvGrpSpPr/>
          <p:nvPr/>
        </p:nvGrpSpPr>
        <p:grpSpPr>
          <a:xfrm>
            <a:off x="394957" y="4070567"/>
            <a:ext cx="6112510" cy="1942992"/>
            <a:chOff x="394957" y="3130676"/>
            <a:chExt cx="6112510" cy="1149643"/>
          </a:xfrm>
          <a:solidFill>
            <a:schemeClr val="accent6">
              <a:lumMod val="60000"/>
              <a:lumOff val="40000"/>
            </a:schemeClr>
          </a:solidFill>
        </p:grpSpPr>
        <p:sp>
          <p:nvSpPr>
            <p:cNvPr id="16" name="object 16">
              <a:extLst>
                <a:ext uri="{FF2B5EF4-FFF2-40B4-BE49-F238E27FC236}">
                  <a16:creationId xmlns:a16="http://schemas.microsoft.com/office/drawing/2014/main" id="{D1A6F5ED-6E13-2485-C6AB-D93C91FD550C}"/>
                </a:ext>
              </a:extLst>
            </p:cNvPr>
            <p:cNvSpPr/>
            <p:nvPr/>
          </p:nvSpPr>
          <p:spPr>
            <a:xfrm>
              <a:off x="394957" y="3264972"/>
              <a:ext cx="6112510" cy="1015347"/>
            </a:xfrm>
            <a:custGeom>
              <a:avLst/>
              <a:gdLst/>
              <a:ahLst/>
              <a:cxnLst/>
              <a:rect l="l" t="t" r="r" b="b"/>
              <a:pathLst>
                <a:path w="6112509" h="1077595">
                  <a:moveTo>
                    <a:pt x="6112510" y="0"/>
                  </a:moveTo>
                  <a:lnTo>
                    <a:pt x="0" y="0"/>
                  </a:lnTo>
                  <a:lnTo>
                    <a:pt x="0" y="1077175"/>
                  </a:lnTo>
                  <a:lnTo>
                    <a:pt x="6112510" y="1077175"/>
                  </a:lnTo>
                  <a:lnTo>
                    <a:pt x="6112510" y="0"/>
                  </a:lnTo>
                  <a:close/>
                </a:path>
              </a:pathLst>
            </a:custGeom>
            <a:grpFill/>
          </p:spPr>
          <p:txBody>
            <a:bodyPr wrap="square" lIns="0" tIns="0" rIns="0" bIns="0" rtlCol="0"/>
            <a:lstStyle/>
            <a:p>
              <a:endParaRPr dirty="0"/>
            </a:p>
          </p:txBody>
        </p:sp>
        <p:sp>
          <p:nvSpPr>
            <p:cNvPr id="18" name="object 17">
              <a:extLst>
                <a:ext uri="{FF2B5EF4-FFF2-40B4-BE49-F238E27FC236}">
                  <a16:creationId xmlns:a16="http://schemas.microsoft.com/office/drawing/2014/main" id="{C2F42528-C515-3245-2BBD-EDFB9054E3E8}"/>
                </a:ext>
              </a:extLst>
            </p:cNvPr>
            <p:cNvSpPr/>
            <p:nvPr/>
          </p:nvSpPr>
          <p:spPr>
            <a:xfrm>
              <a:off x="1600200" y="3130676"/>
              <a:ext cx="4114800" cy="174035"/>
            </a:xfrm>
            <a:custGeom>
              <a:avLst/>
              <a:gdLst/>
              <a:ahLst/>
              <a:cxnLst/>
              <a:rect l="l" t="t" r="r" b="b"/>
              <a:pathLst>
                <a:path w="2773679" h="187960">
                  <a:moveTo>
                    <a:pt x="2773679" y="0"/>
                  </a:moveTo>
                  <a:lnTo>
                    <a:pt x="0" y="0"/>
                  </a:lnTo>
                  <a:lnTo>
                    <a:pt x="0" y="187451"/>
                  </a:lnTo>
                  <a:lnTo>
                    <a:pt x="2773679" y="187451"/>
                  </a:lnTo>
                  <a:lnTo>
                    <a:pt x="2773679" y="0"/>
                  </a:lnTo>
                  <a:close/>
                </a:path>
              </a:pathLst>
            </a:custGeom>
            <a:solidFill>
              <a:schemeClr val="accent6">
                <a:lumMod val="75000"/>
              </a:schemeClr>
            </a:solidFill>
          </p:spPr>
          <p:txBody>
            <a:bodyPr wrap="square" lIns="0" tIns="0" rIns="0" bIns="0" rtlCol="0"/>
            <a:lstStyle/>
            <a:p>
              <a:endParaRPr dirty="0"/>
            </a:p>
          </p:txBody>
        </p:sp>
      </p:grpSp>
      <p:sp>
        <p:nvSpPr>
          <p:cNvPr id="31" name="TextBox 30">
            <a:extLst>
              <a:ext uri="{FF2B5EF4-FFF2-40B4-BE49-F238E27FC236}">
                <a16:creationId xmlns:a16="http://schemas.microsoft.com/office/drawing/2014/main" id="{CB25A1E3-444A-23B8-1DA3-02830574212F}"/>
              </a:ext>
            </a:extLst>
          </p:cNvPr>
          <p:cNvSpPr txBox="1"/>
          <p:nvPr/>
        </p:nvSpPr>
        <p:spPr>
          <a:xfrm>
            <a:off x="434059" y="1972989"/>
            <a:ext cx="6026430" cy="1200329"/>
          </a:xfrm>
          <a:prstGeom prst="rect">
            <a:avLst/>
          </a:prstGeom>
          <a:noFill/>
        </p:spPr>
        <p:txBody>
          <a:bodyPr wrap="square" rtlCol="0">
            <a:spAutoFit/>
          </a:bodyPr>
          <a:lstStyle/>
          <a:p>
            <a:pPr algn="just"/>
            <a:r>
              <a:rPr lang="en-GB" sz="1200" b="1" dirty="0">
                <a:latin typeface="+mn-lt"/>
              </a:rPr>
              <a:t>High Capital and Regulatory Requirement:</a:t>
            </a:r>
            <a:r>
              <a:rPr lang="en-GB" sz="1200" dirty="0">
                <a:latin typeface="+mn-lt"/>
              </a:rPr>
              <a:t> Entering the global pharmaceutical market requires massive financial investments in R&amp;D (Sun Pharma consistently invests 6-8% of its annual revenues), complex manufacturing infrastructure, and strict, continuous adherence to global cGMP regulatory standards (like USFDA and EMA), which acts as a massive deterrent for new players.</a:t>
            </a:r>
          </a:p>
          <a:p>
            <a:pPr algn="just"/>
            <a:endParaRPr lang="en-GB" sz="1200" dirty="0">
              <a:latin typeface="+mn-lt"/>
            </a:endParaRPr>
          </a:p>
        </p:txBody>
      </p:sp>
      <p:sp>
        <p:nvSpPr>
          <p:cNvPr id="37" name="TextBox 36">
            <a:extLst>
              <a:ext uri="{FF2B5EF4-FFF2-40B4-BE49-F238E27FC236}">
                <a16:creationId xmlns:a16="http://schemas.microsoft.com/office/drawing/2014/main" id="{981C7E25-4547-7610-2D64-BC83CBFE42B4}"/>
              </a:ext>
            </a:extLst>
          </p:cNvPr>
          <p:cNvSpPr txBox="1"/>
          <p:nvPr/>
        </p:nvSpPr>
        <p:spPr>
          <a:xfrm>
            <a:off x="397511" y="2961989"/>
            <a:ext cx="6062978" cy="830997"/>
          </a:xfrm>
          <a:prstGeom prst="rect">
            <a:avLst/>
          </a:prstGeom>
          <a:noFill/>
        </p:spPr>
        <p:txBody>
          <a:bodyPr wrap="square" rtlCol="0">
            <a:spAutoFit/>
          </a:bodyPr>
          <a:lstStyle/>
          <a:p>
            <a:pPr algn="just"/>
            <a:r>
              <a:rPr lang="en-GB" sz="1200" b="1" dirty="0">
                <a:latin typeface="+mn-lt"/>
              </a:rPr>
              <a:t>Economies of Scale and Vertical Integration:</a:t>
            </a:r>
            <a:r>
              <a:rPr lang="en-GB" sz="1200" dirty="0">
                <a:latin typeface="+mn-lt"/>
              </a:rPr>
              <a:t> Established leaders possess extensive vertically integrated operations—manufacturing both finished formulations and their own Active Pharmaceutical Ingredients (APIs)—which provides unmatched cost competitiveness and supply reliability that new entrants cannot easily replicate.</a:t>
            </a:r>
          </a:p>
        </p:txBody>
      </p:sp>
      <p:sp>
        <p:nvSpPr>
          <p:cNvPr id="39" name="TextBox 38">
            <a:extLst>
              <a:ext uri="{FF2B5EF4-FFF2-40B4-BE49-F238E27FC236}">
                <a16:creationId xmlns:a16="http://schemas.microsoft.com/office/drawing/2014/main" id="{9DEEE1AA-A4A9-244E-E649-46C6D3E432C1}"/>
              </a:ext>
            </a:extLst>
          </p:cNvPr>
          <p:cNvSpPr txBox="1"/>
          <p:nvPr/>
        </p:nvSpPr>
        <p:spPr>
          <a:xfrm>
            <a:off x="1600200" y="4070566"/>
            <a:ext cx="4267200" cy="307777"/>
          </a:xfrm>
          <a:prstGeom prst="rect">
            <a:avLst/>
          </a:prstGeom>
          <a:noFill/>
        </p:spPr>
        <p:txBody>
          <a:bodyPr wrap="square">
            <a:spAutoFit/>
          </a:bodyPr>
          <a:lstStyle/>
          <a:p>
            <a:r>
              <a:rPr lang="en-GB" sz="1400" b="1" dirty="0">
                <a:solidFill>
                  <a:schemeClr val="bg1"/>
                </a:solidFill>
              </a:rPr>
              <a:t>Bargaining Power of Suppliers: Low to Medium</a:t>
            </a:r>
            <a:endParaRPr lang="en-GB" sz="1400" dirty="0">
              <a:solidFill>
                <a:schemeClr val="bg1"/>
              </a:solidFill>
            </a:endParaRPr>
          </a:p>
        </p:txBody>
      </p:sp>
      <p:sp>
        <p:nvSpPr>
          <p:cNvPr id="45" name="TextBox 44">
            <a:extLst>
              <a:ext uri="{FF2B5EF4-FFF2-40B4-BE49-F238E27FC236}">
                <a16:creationId xmlns:a16="http://schemas.microsoft.com/office/drawing/2014/main" id="{F6A7246B-8B6E-0034-9A31-103C00995D01}"/>
              </a:ext>
            </a:extLst>
          </p:cNvPr>
          <p:cNvSpPr txBox="1"/>
          <p:nvPr/>
        </p:nvSpPr>
        <p:spPr>
          <a:xfrm>
            <a:off x="501451" y="4348425"/>
            <a:ext cx="5959038" cy="830997"/>
          </a:xfrm>
          <a:prstGeom prst="rect">
            <a:avLst/>
          </a:prstGeom>
          <a:noFill/>
        </p:spPr>
        <p:txBody>
          <a:bodyPr wrap="square" rtlCol="0">
            <a:spAutoFit/>
          </a:bodyPr>
          <a:lstStyle/>
          <a:p>
            <a:pPr algn="just"/>
            <a:r>
              <a:rPr lang="en-GB" sz="1200" b="1" dirty="0">
                <a:latin typeface="+mn-lt"/>
              </a:rPr>
              <a:t>Strategic Backward Integration:</a:t>
            </a:r>
            <a:r>
              <a:rPr lang="en-GB" sz="1200" dirty="0">
                <a:latin typeface="+mn-lt"/>
              </a:rPr>
              <a:t> Sun Pharma manufactures over 400 APIs in-house across 14 dedicated global facilities. This strategic backward integration significantly reduces its reliance on external suppliers for critical raw materials, ensuring supply reliability and insulating profit margins.</a:t>
            </a:r>
          </a:p>
        </p:txBody>
      </p:sp>
      <p:sp>
        <p:nvSpPr>
          <p:cNvPr id="47" name="TextBox 46">
            <a:extLst>
              <a:ext uri="{FF2B5EF4-FFF2-40B4-BE49-F238E27FC236}">
                <a16:creationId xmlns:a16="http://schemas.microsoft.com/office/drawing/2014/main" id="{6EE9CD7C-BADE-EB8B-F381-CF79A77EDE8F}"/>
              </a:ext>
            </a:extLst>
          </p:cNvPr>
          <p:cNvSpPr txBox="1"/>
          <p:nvPr/>
        </p:nvSpPr>
        <p:spPr>
          <a:xfrm>
            <a:off x="531995" y="5182561"/>
            <a:ext cx="5928493" cy="830997"/>
          </a:xfrm>
          <a:prstGeom prst="rect">
            <a:avLst/>
          </a:prstGeom>
          <a:noFill/>
        </p:spPr>
        <p:txBody>
          <a:bodyPr wrap="square" rtlCol="0">
            <a:spAutoFit/>
          </a:bodyPr>
          <a:lstStyle/>
          <a:p>
            <a:pPr algn="just"/>
            <a:r>
              <a:rPr lang="en-GB" sz="1200" b="1" dirty="0">
                <a:latin typeface="+mn-lt"/>
              </a:rPr>
              <a:t>Global Supply Chain Vulnerabilities:</a:t>
            </a:r>
            <a:r>
              <a:rPr lang="en-GB" sz="1200" dirty="0">
                <a:latin typeface="+mn-lt"/>
              </a:rPr>
              <a:t> While the company's massive scale allows for diversified sourcing, suppliers of non-substitutable and critical raw materials still hold some power, especially when global supply chains are disrupted by geopolitical tensions and economic downturns.</a:t>
            </a:r>
          </a:p>
        </p:txBody>
      </p:sp>
      <p:sp>
        <p:nvSpPr>
          <p:cNvPr id="19" name="object 17">
            <a:extLst>
              <a:ext uri="{FF2B5EF4-FFF2-40B4-BE49-F238E27FC236}">
                <a16:creationId xmlns:a16="http://schemas.microsoft.com/office/drawing/2014/main" id="{9149B745-832D-E4DF-5593-29597B31A198}"/>
              </a:ext>
            </a:extLst>
          </p:cNvPr>
          <p:cNvSpPr/>
          <p:nvPr/>
        </p:nvSpPr>
        <p:spPr>
          <a:xfrm>
            <a:off x="1553716" y="1708367"/>
            <a:ext cx="4114800" cy="294134"/>
          </a:xfrm>
          <a:custGeom>
            <a:avLst/>
            <a:gdLst/>
            <a:ahLst/>
            <a:cxnLst/>
            <a:rect l="l" t="t" r="r" b="b"/>
            <a:pathLst>
              <a:path w="2773679" h="187960">
                <a:moveTo>
                  <a:pt x="2773679" y="0"/>
                </a:moveTo>
                <a:lnTo>
                  <a:pt x="0" y="0"/>
                </a:lnTo>
                <a:lnTo>
                  <a:pt x="0" y="187451"/>
                </a:lnTo>
                <a:lnTo>
                  <a:pt x="2773679" y="187451"/>
                </a:lnTo>
                <a:lnTo>
                  <a:pt x="2773679" y="0"/>
                </a:lnTo>
                <a:close/>
              </a:path>
            </a:pathLst>
          </a:custGeom>
          <a:solidFill>
            <a:schemeClr val="accent6">
              <a:lumMod val="75000"/>
            </a:schemeClr>
          </a:solidFill>
        </p:spPr>
        <p:txBody>
          <a:bodyPr wrap="square" lIns="0" tIns="0" rIns="0" bIns="0" rtlCol="0"/>
          <a:lstStyle/>
          <a:p>
            <a:endParaRPr dirty="0"/>
          </a:p>
        </p:txBody>
      </p:sp>
      <p:sp>
        <p:nvSpPr>
          <p:cNvPr id="30" name="TextBox 29">
            <a:extLst>
              <a:ext uri="{FF2B5EF4-FFF2-40B4-BE49-F238E27FC236}">
                <a16:creationId xmlns:a16="http://schemas.microsoft.com/office/drawing/2014/main" id="{5D1A1213-8296-1824-2E77-A3212265837D}"/>
              </a:ext>
            </a:extLst>
          </p:cNvPr>
          <p:cNvSpPr txBox="1"/>
          <p:nvPr/>
        </p:nvSpPr>
        <p:spPr>
          <a:xfrm>
            <a:off x="2318196" y="1676400"/>
            <a:ext cx="3068955" cy="338554"/>
          </a:xfrm>
          <a:prstGeom prst="rect">
            <a:avLst/>
          </a:prstGeom>
          <a:noFill/>
        </p:spPr>
        <p:txBody>
          <a:bodyPr wrap="square">
            <a:spAutoFit/>
          </a:bodyPr>
          <a:lstStyle/>
          <a:p>
            <a:r>
              <a:rPr lang="en-GB" sz="1600" b="1" i="0" dirty="0">
                <a:solidFill>
                  <a:schemeClr val="bg1"/>
                </a:solidFill>
                <a:effectLst/>
                <a:latin typeface="+mj-lt"/>
              </a:rPr>
              <a:t>Threat of New Entrants: Low</a:t>
            </a:r>
            <a:endParaRPr lang="en-GB" sz="1600" dirty="0">
              <a:solidFill>
                <a:schemeClr val="bg1"/>
              </a:solidFill>
              <a:latin typeface="+mj-lt"/>
            </a:endParaRPr>
          </a:p>
        </p:txBody>
      </p:sp>
      <p:grpSp>
        <p:nvGrpSpPr>
          <p:cNvPr id="29" name="object 15">
            <a:extLst>
              <a:ext uri="{FF2B5EF4-FFF2-40B4-BE49-F238E27FC236}">
                <a16:creationId xmlns:a16="http://schemas.microsoft.com/office/drawing/2014/main" id="{B0B1CFAF-48DC-B113-FAEB-EC323A1F36C9}"/>
              </a:ext>
            </a:extLst>
          </p:cNvPr>
          <p:cNvGrpSpPr/>
          <p:nvPr/>
        </p:nvGrpSpPr>
        <p:grpSpPr>
          <a:xfrm>
            <a:off x="394957" y="6102837"/>
            <a:ext cx="6112510" cy="2317555"/>
            <a:chOff x="394957" y="3130676"/>
            <a:chExt cx="6112510" cy="1149643"/>
          </a:xfrm>
          <a:solidFill>
            <a:schemeClr val="accent6">
              <a:lumMod val="60000"/>
              <a:lumOff val="40000"/>
            </a:schemeClr>
          </a:solidFill>
        </p:grpSpPr>
        <p:sp>
          <p:nvSpPr>
            <p:cNvPr id="32" name="object 16">
              <a:extLst>
                <a:ext uri="{FF2B5EF4-FFF2-40B4-BE49-F238E27FC236}">
                  <a16:creationId xmlns:a16="http://schemas.microsoft.com/office/drawing/2014/main" id="{565FCDA5-A83E-FA7A-D4F1-61F8E7B0031A}"/>
                </a:ext>
              </a:extLst>
            </p:cNvPr>
            <p:cNvSpPr/>
            <p:nvPr/>
          </p:nvSpPr>
          <p:spPr>
            <a:xfrm>
              <a:off x="394957" y="3264972"/>
              <a:ext cx="6112510" cy="1015347"/>
            </a:xfrm>
            <a:custGeom>
              <a:avLst/>
              <a:gdLst/>
              <a:ahLst/>
              <a:cxnLst/>
              <a:rect l="l" t="t" r="r" b="b"/>
              <a:pathLst>
                <a:path w="6112509" h="1077595">
                  <a:moveTo>
                    <a:pt x="6112510" y="0"/>
                  </a:moveTo>
                  <a:lnTo>
                    <a:pt x="0" y="0"/>
                  </a:lnTo>
                  <a:lnTo>
                    <a:pt x="0" y="1077175"/>
                  </a:lnTo>
                  <a:lnTo>
                    <a:pt x="6112510" y="1077175"/>
                  </a:lnTo>
                  <a:lnTo>
                    <a:pt x="6112510" y="0"/>
                  </a:lnTo>
                  <a:close/>
                </a:path>
              </a:pathLst>
            </a:custGeom>
            <a:grpFill/>
          </p:spPr>
          <p:txBody>
            <a:bodyPr wrap="square" lIns="0" tIns="0" rIns="0" bIns="0" rtlCol="0"/>
            <a:lstStyle/>
            <a:p>
              <a:endParaRPr dirty="0"/>
            </a:p>
          </p:txBody>
        </p:sp>
        <p:sp>
          <p:nvSpPr>
            <p:cNvPr id="33" name="object 17">
              <a:extLst>
                <a:ext uri="{FF2B5EF4-FFF2-40B4-BE49-F238E27FC236}">
                  <a16:creationId xmlns:a16="http://schemas.microsoft.com/office/drawing/2014/main" id="{67481533-5118-2B53-52C5-907AFF72F563}"/>
                </a:ext>
              </a:extLst>
            </p:cNvPr>
            <p:cNvSpPr/>
            <p:nvPr/>
          </p:nvSpPr>
          <p:spPr>
            <a:xfrm>
              <a:off x="1600200" y="3130676"/>
              <a:ext cx="4114800" cy="174035"/>
            </a:xfrm>
            <a:custGeom>
              <a:avLst/>
              <a:gdLst/>
              <a:ahLst/>
              <a:cxnLst/>
              <a:rect l="l" t="t" r="r" b="b"/>
              <a:pathLst>
                <a:path w="2773679" h="187960">
                  <a:moveTo>
                    <a:pt x="2773679" y="0"/>
                  </a:moveTo>
                  <a:lnTo>
                    <a:pt x="0" y="0"/>
                  </a:lnTo>
                  <a:lnTo>
                    <a:pt x="0" y="187451"/>
                  </a:lnTo>
                  <a:lnTo>
                    <a:pt x="2773679" y="187451"/>
                  </a:lnTo>
                  <a:lnTo>
                    <a:pt x="2773679" y="0"/>
                  </a:lnTo>
                  <a:close/>
                </a:path>
              </a:pathLst>
            </a:custGeom>
            <a:solidFill>
              <a:schemeClr val="accent6">
                <a:lumMod val="75000"/>
              </a:schemeClr>
            </a:solidFill>
          </p:spPr>
          <p:txBody>
            <a:bodyPr wrap="square" lIns="0" tIns="0" rIns="0" bIns="0" rtlCol="0"/>
            <a:lstStyle/>
            <a:p>
              <a:endParaRPr dirty="0"/>
            </a:p>
          </p:txBody>
        </p:sp>
      </p:grpSp>
      <p:sp>
        <p:nvSpPr>
          <p:cNvPr id="58" name="TextBox 57">
            <a:extLst>
              <a:ext uri="{FF2B5EF4-FFF2-40B4-BE49-F238E27FC236}">
                <a16:creationId xmlns:a16="http://schemas.microsoft.com/office/drawing/2014/main" id="{435A2114-862A-FC70-9783-AC9675AD719B}"/>
              </a:ext>
            </a:extLst>
          </p:cNvPr>
          <p:cNvSpPr txBox="1"/>
          <p:nvPr/>
        </p:nvSpPr>
        <p:spPr>
          <a:xfrm>
            <a:off x="2343596" y="6112318"/>
            <a:ext cx="3068955" cy="338554"/>
          </a:xfrm>
          <a:prstGeom prst="rect">
            <a:avLst/>
          </a:prstGeom>
          <a:noFill/>
        </p:spPr>
        <p:txBody>
          <a:bodyPr wrap="square">
            <a:spAutoFit/>
          </a:bodyPr>
          <a:lstStyle/>
          <a:p>
            <a:r>
              <a:rPr lang="en-GB" sz="1600" b="1" dirty="0">
                <a:solidFill>
                  <a:schemeClr val="bg1"/>
                </a:solidFill>
                <a:latin typeface="+mj-lt"/>
              </a:rPr>
              <a:t>Competitive Rivalry: High</a:t>
            </a:r>
            <a:endParaRPr lang="en-GB" sz="1600" dirty="0">
              <a:solidFill>
                <a:schemeClr val="bg1"/>
              </a:solidFill>
              <a:latin typeface="+mj-lt"/>
            </a:endParaRPr>
          </a:p>
        </p:txBody>
      </p:sp>
      <p:sp>
        <p:nvSpPr>
          <p:cNvPr id="67" name="TextBox 66">
            <a:extLst>
              <a:ext uri="{FF2B5EF4-FFF2-40B4-BE49-F238E27FC236}">
                <a16:creationId xmlns:a16="http://schemas.microsoft.com/office/drawing/2014/main" id="{0B9317B7-25A7-D3A5-BAE0-46DF7FF62FEC}"/>
              </a:ext>
            </a:extLst>
          </p:cNvPr>
          <p:cNvSpPr txBox="1"/>
          <p:nvPr/>
        </p:nvSpPr>
        <p:spPr>
          <a:xfrm>
            <a:off x="434058" y="6515331"/>
            <a:ext cx="6055642" cy="1015663"/>
          </a:xfrm>
          <a:prstGeom prst="rect">
            <a:avLst/>
          </a:prstGeom>
          <a:noFill/>
        </p:spPr>
        <p:txBody>
          <a:bodyPr wrap="square" rtlCol="0">
            <a:spAutoFit/>
          </a:bodyPr>
          <a:lstStyle/>
          <a:p>
            <a:pPr algn="just"/>
            <a:r>
              <a:rPr lang="en-GB" sz="1200" b="1" dirty="0">
                <a:latin typeface="+mn-lt"/>
              </a:rPr>
              <a:t>Hyper-Competitive US Generics Market:</a:t>
            </a:r>
            <a:r>
              <a:rPr lang="en-GB" sz="1200" dirty="0">
                <a:latin typeface="+mn-lt"/>
              </a:rPr>
              <a:t> The global generics space, particularly the US, is fiercely competitive. A faster pace of generic drug approvals by the USFDA, combined with multiple manufacturers targeting the same off-patent molecules, results in severe price erosion, forcing companies to continuously optimize costs and withdraw non-remunerative products.</a:t>
            </a:r>
          </a:p>
        </p:txBody>
      </p:sp>
      <p:sp>
        <p:nvSpPr>
          <p:cNvPr id="70" name="TextBox 69">
            <a:extLst>
              <a:ext uri="{FF2B5EF4-FFF2-40B4-BE49-F238E27FC236}">
                <a16:creationId xmlns:a16="http://schemas.microsoft.com/office/drawing/2014/main" id="{BC53E671-07D1-C75B-122C-4A8CA065C539}"/>
              </a:ext>
            </a:extLst>
          </p:cNvPr>
          <p:cNvSpPr txBox="1"/>
          <p:nvPr/>
        </p:nvSpPr>
        <p:spPr>
          <a:xfrm>
            <a:off x="425438" y="7424454"/>
            <a:ext cx="6055642" cy="1015663"/>
          </a:xfrm>
          <a:prstGeom prst="rect">
            <a:avLst/>
          </a:prstGeom>
          <a:noFill/>
        </p:spPr>
        <p:txBody>
          <a:bodyPr wrap="square" rtlCol="0">
            <a:spAutoFit/>
          </a:bodyPr>
          <a:lstStyle/>
          <a:p>
            <a:pPr algn="just"/>
            <a:r>
              <a:rPr lang="en-GB" sz="1200" b="1" dirty="0">
                <a:latin typeface="+mn-lt"/>
              </a:rPr>
              <a:t>Fierce Battles in Emerging Markets:</a:t>
            </a:r>
            <a:r>
              <a:rPr lang="en-GB" sz="1200" dirty="0">
                <a:latin typeface="+mn-lt"/>
              </a:rPr>
              <a:t> In </a:t>
            </a:r>
            <a:r>
              <a:rPr lang="en-GB" sz="1200" dirty="0" err="1">
                <a:latin typeface="+mn-lt"/>
              </a:rPr>
              <a:t>pharmerging</a:t>
            </a:r>
            <a:r>
              <a:rPr lang="en-GB" sz="1200" dirty="0">
                <a:latin typeface="+mn-lt"/>
              </a:rPr>
              <a:t> markets (including India), competitive intensity between multinational pharmaceutical giants and deeply entrenched local players is incredibly high. Companies must continuously innovate, build strong brand equity with doctors, and rapidly launch complex or specialty products to defend and grow their market share.</a:t>
            </a:r>
          </a:p>
        </p:txBody>
      </p:sp>
    </p:spTree>
    <p:extLst>
      <p:ext uri="{BB962C8B-B14F-4D97-AF65-F5344CB8AC3E}">
        <p14:creationId xmlns:p14="http://schemas.microsoft.com/office/powerpoint/2010/main" val="3028527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1DAC1-DC68-A33B-34AA-B670191408A0}"/>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CF2842AD-1C95-6C9F-84EB-CB5D95335C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6350" y="5925652"/>
            <a:ext cx="3094484" cy="3094484"/>
          </a:xfrm>
          <a:prstGeom prst="rect">
            <a:avLst/>
          </a:prstGeom>
        </p:spPr>
      </p:pic>
      <p:pic>
        <p:nvPicPr>
          <p:cNvPr id="12" name="Picture 11">
            <a:extLst>
              <a:ext uri="{FF2B5EF4-FFF2-40B4-BE49-F238E27FC236}">
                <a16:creationId xmlns:a16="http://schemas.microsoft.com/office/drawing/2014/main" id="{0AE6AFDC-0B69-5BCD-BD1B-F0B8346E05A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65358" y="6289214"/>
            <a:ext cx="2467026" cy="2463674"/>
          </a:xfrm>
          <a:prstGeom prst="rect">
            <a:avLst/>
          </a:prstGeom>
        </p:spPr>
      </p:pic>
      <p:grpSp>
        <p:nvGrpSpPr>
          <p:cNvPr id="2" name="object 2">
            <a:extLst>
              <a:ext uri="{FF2B5EF4-FFF2-40B4-BE49-F238E27FC236}">
                <a16:creationId xmlns:a16="http://schemas.microsoft.com/office/drawing/2014/main" id="{116062C9-B9EA-7FA7-2E94-039524FA314D}"/>
              </a:ext>
            </a:extLst>
          </p:cNvPr>
          <p:cNvGrpSpPr/>
          <p:nvPr/>
        </p:nvGrpSpPr>
        <p:grpSpPr>
          <a:xfrm>
            <a:off x="0" y="0"/>
            <a:ext cx="6858000" cy="1625597"/>
            <a:chOff x="0" y="0"/>
            <a:chExt cx="6858000" cy="1625597"/>
          </a:xfrm>
        </p:grpSpPr>
        <p:sp>
          <p:nvSpPr>
            <p:cNvPr id="3" name="object 3">
              <a:extLst>
                <a:ext uri="{FF2B5EF4-FFF2-40B4-BE49-F238E27FC236}">
                  <a16:creationId xmlns:a16="http://schemas.microsoft.com/office/drawing/2014/main" id="{17D63FA0-7627-8F38-956F-48DA52D565CB}"/>
                </a:ext>
              </a:extLst>
            </p:cNvPr>
            <p:cNvSpPr/>
            <p:nvPr/>
          </p:nvSpPr>
          <p:spPr>
            <a:xfrm>
              <a:off x="0" y="0"/>
              <a:ext cx="6858000" cy="949325"/>
            </a:xfrm>
            <a:custGeom>
              <a:avLst/>
              <a:gdLst/>
              <a:ahLst/>
              <a:cxnLst/>
              <a:rect l="l" t="t" r="r" b="b"/>
              <a:pathLst>
                <a:path w="6858000" h="949325">
                  <a:moveTo>
                    <a:pt x="0" y="949198"/>
                  </a:moveTo>
                  <a:lnTo>
                    <a:pt x="6858000" y="949198"/>
                  </a:lnTo>
                  <a:lnTo>
                    <a:pt x="6858000" y="0"/>
                  </a:lnTo>
                  <a:lnTo>
                    <a:pt x="0" y="0"/>
                  </a:lnTo>
                  <a:lnTo>
                    <a:pt x="0" y="949198"/>
                  </a:lnTo>
                  <a:close/>
                </a:path>
              </a:pathLst>
            </a:custGeom>
            <a:solidFill>
              <a:schemeClr val="accent6">
                <a:lumMod val="75000"/>
              </a:schemeClr>
            </a:solidFill>
          </p:spPr>
          <p:txBody>
            <a:bodyPr wrap="square" lIns="0" tIns="0" rIns="0" bIns="0" rtlCol="0"/>
            <a:lstStyle/>
            <a:p>
              <a:endParaRPr/>
            </a:p>
          </p:txBody>
        </p:sp>
        <p:sp>
          <p:nvSpPr>
            <p:cNvPr id="4" name="object 4">
              <a:extLst>
                <a:ext uri="{FF2B5EF4-FFF2-40B4-BE49-F238E27FC236}">
                  <a16:creationId xmlns:a16="http://schemas.microsoft.com/office/drawing/2014/main" id="{4905E5B3-5805-5E6F-0ADC-4F185855F26C}"/>
                </a:ext>
              </a:extLst>
            </p:cNvPr>
            <p:cNvSpPr/>
            <p:nvPr/>
          </p:nvSpPr>
          <p:spPr>
            <a:xfrm>
              <a:off x="0" y="316227"/>
              <a:ext cx="4147185" cy="1309370"/>
            </a:xfrm>
            <a:custGeom>
              <a:avLst/>
              <a:gdLst/>
              <a:ahLst/>
              <a:cxnLst/>
              <a:rect l="l" t="t" r="r" b="b"/>
              <a:pathLst>
                <a:path w="4147185" h="1309370">
                  <a:moveTo>
                    <a:pt x="3492246" y="0"/>
                  </a:moveTo>
                  <a:lnTo>
                    <a:pt x="0" y="0"/>
                  </a:lnTo>
                  <a:lnTo>
                    <a:pt x="0" y="1309243"/>
                  </a:lnTo>
                  <a:lnTo>
                    <a:pt x="3492246" y="1309243"/>
                  </a:lnTo>
                  <a:lnTo>
                    <a:pt x="4146804" y="654685"/>
                  </a:lnTo>
                  <a:lnTo>
                    <a:pt x="3492246" y="0"/>
                  </a:lnTo>
                  <a:close/>
                </a:path>
              </a:pathLst>
            </a:custGeom>
            <a:solidFill>
              <a:srgbClr val="FFFFFF"/>
            </a:solidFill>
          </p:spPr>
          <p:txBody>
            <a:bodyPr wrap="square" lIns="0" tIns="0" rIns="0" bIns="0" rtlCol="0"/>
            <a:lstStyle/>
            <a:p>
              <a:endParaRPr dirty="0"/>
            </a:p>
          </p:txBody>
        </p:sp>
      </p:grpSp>
      <p:sp>
        <p:nvSpPr>
          <p:cNvPr id="5" name="object 5">
            <a:extLst>
              <a:ext uri="{FF2B5EF4-FFF2-40B4-BE49-F238E27FC236}">
                <a16:creationId xmlns:a16="http://schemas.microsoft.com/office/drawing/2014/main" id="{CD47084B-B1E6-C3D9-A7F8-96EBE5DD1DA7}"/>
              </a:ext>
            </a:extLst>
          </p:cNvPr>
          <p:cNvSpPr txBox="1"/>
          <p:nvPr/>
        </p:nvSpPr>
        <p:spPr>
          <a:xfrm>
            <a:off x="147015" y="4952"/>
            <a:ext cx="2081530" cy="247015"/>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FFFFFF"/>
                </a:solidFill>
                <a:latin typeface="Calibri"/>
                <a:cs typeface="Calibri"/>
              </a:rPr>
              <a:t>EQUITY</a:t>
            </a:r>
            <a:r>
              <a:rPr sz="1450" b="1" spc="-65" dirty="0">
                <a:solidFill>
                  <a:srgbClr val="FFFFFF"/>
                </a:solidFill>
                <a:latin typeface="Calibri"/>
                <a:cs typeface="Calibri"/>
              </a:rPr>
              <a:t> </a:t>
            </a:r>
            <a:r>
              <a:rPr sz="1450" b="1" dirty="0">
                <a:solidFill>
                  <a:srgbClr val="FFFFFF"/>
                </a:solidFill>
                <a:latin typeface="Calibri"/>
                <a:cs typeface="Calibri"/>
              </a:rPr>
              <a:t>RESEARCH</a:t>
            </a:r>
            <a:r>
              <a:rPr sz="1450" b="1" spc="-60" dirty="0">
                <a:solidFill>
                  <a:srgbClr val="FFFFFF"/>
                </a:solidFill>
                <a:latin typeface="Calibri"/>
                <a:cs typeface="Calibri"/>
              </a:rPr>
              <a:t> </a:t>
            </a:r>
            <a:r>
              <a:rPr sz="1450" b="1" spc="-10" dirty="0">
                <a:solidFill>
                  <a:srgbClr val="FFFFFF"/>
                </a:solidFill>
                <a:latin typeface="Calibri"/>
                <a:cs typeface="Calibri"/>
              </a:rPr>
              <a:t>REPORT</a:t>
            </a:r>
            <a:endParaRPr sz="1450">
              <a:latin typeface="Calibri"/>
              <a:cs typeface="Calibri"/>
            </a:endParaRPr>
          </a:p>
        </p:txBody>
      </p:sp>
      <p:sp>
        <p:nvSpPr>
          <p:cNvPr id="40" name="object 40">
            <a:extLst>
              <a:ext uri="{FF2B5EF4-FFF2-40B4-BE49-F238E27FC236}">
                <a16:creationId xmlns:a16="http://schemas.microsoft.com/office/drawing/2014/main" id="{5F943A23-0339-63A5-FCC4-C6BAA069032D}"/>
              </a:ext>
            </a:extLst>
          </p:cNvPr>
          <p:cNvSpPr txBox="1">
            <a:spLocks noGrp="1"/>
          </p:cNvSpPr>
          <p:nvPr>
            <p:ph type="title"/>
          </p:nvPr>
        </p:nvSpPr>
        <p:spPr>
          <a:xfrm>
            <a:off x="141831" y="295140"/>
            <a:ext cx="4269104" cy="289182"/>
          </a:xfrm>
          <a:prstGeom prst="rect">
            <a:avLst/>
          </a:prstGeom>
        </p:spPr>
        <p:txBody>
          <a:bodyPr vert="horz" wrap="square" lIns="0" tIns="12065" rIns="0" bIns="0" rtlCol="0">
            <a:spAutoFit/>
          </a:bodyPr>
          <a:lstStyle/>
          <a:p>
            <a:pPr marL="12700">
              <a:lnSpc>
                <a:spcPct val="100000"/>
              </a:lnSpc>
              <a:spcBef>
                <a:spcPts val="95"/>
              </a:spcBef>
            </a:pPr>
            <a:r>
              <a:rPr lang="en-GB" sz="1800" dirty="0"/>
              <a:t>Sun Pharmaceutical Industries Ltd.</a:t>
            </a:r>
            <a:endParaRPr sz="1800" dirty="0"/>
          </a:p>
        </p:txBody>
      </p:sp>
      <p:sp>
        <p:nvSpPr>
          <p:cNvPr id="41" name="object 41">
            <a:extLst>
              <a:ext uri="{FF2B5EF4-FFF2-40B4-BE49-F238E27FC236}">
                <a16:creationId xmlns:a16="http://schemas.microsoft.com/office/drawing/2014/main" id="{9DE08A3F-A409-138B-F52D-D44A8B871C3F}"/>
              </a:ext>
            </a:extLst>
          </p:cNvPr>
          <p:cNvSpPr txBox="1"/>
          <p:nvPr/>
        </p:nvSpPr>
        <p:spPr>
          <a:xfrm>
            <a:off x="141831" y="526972"/>
            <a:ext cx="3210968"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D2841"/>
                </a:solidFill>
                <a:latin typeface="Calibri"/>
                <a:cs typeface="Calibri"/>
              </a:rPr>
              <a:t>NSE</a:t>
            </a:r>
            <a:r>
              <a:rPr sz="1200" b="1" spc="-20" dirty="0">
                <a:solidFill>
                  <a:srgbClr val="0D2841"/>
                </a:solidFill>
                <a:latin typeface="Calibri"/>
                <a:cs typeface="Calibri"/>
              </a:rPr>
              <a:t> </a:t>
            </a:r>
            <a:r>
              <a:rPr sz="1200" b="1" dirty="0">
                <a:solidFill>
                  <a:srgbClr val="0D2841"/>
                </a:solidFill>
                <a:latin typeface="Calibri"/>
                <a:cs typeface="Calibri"/>
              </a:rPr>
              <a:t>:</a:t>
            </a:r>
            <a:r>
              <a:rPr lang="en-US" sz="1200" b="1" spc="-15" dirty="0">
                <a:solidFill>
                  <a:srgbClr val="0D2841"/>
                </a:solidFill>
                <a:latin typeface="Calibri"/>
                <a:cs typeface="Calibri"/>
              </a:rPr>
              <a:t> </a:t>
            </a:r>
            <a:r>
              <a:rPr lang="en-GB" sz="1200" b="1" dirty="0">
                <a:latin typeface="+mj-lt"/>
              </a:rPr>
              <a:t>SUNPHARMA</a:t>
            </a:r>
            <a:r>
              <a:rPr sz="1200" b="1" spc="10" dirty="0">
                <a:solidFill>
                  <a:srgbClr val="0D2841"/>
                </a:solidFill>
                <a:latin typeface="Calibri"/>
                <a:cs typeface="Calibri"/>
              </a:rPr>
              <a:t> </a:t>
            </a:r>
            <a:r>
              <a:rPr sz="1200" b="1" dirty="0">
                <a:solidFill>
                  <a:srgbClr val="0D2841"/>
                </a:solidFill>
                <a:latin typeface="Calibri"/>
                <a:cs typeface="Calibri"/>
              </a:rPr>
              <a:t>|</a:t>
            </a:r>
            <a:r>
              <a:rPr sz="1200" b="1" spc="-15" dirty="0">
                <a:solidFill>
                  <a:srgbClr val="0D2841"/>
                </a:solidFill>
                <a:latin typeface="Calibri"/>
                <a:cs typeface="Calibri"/>
              </a:rPr>
              <a:t> </a:t>
            </a:r>
            <a:r>
              <a:rPr sz="1200" b="1" dirty="0">
                <a:solidFill>
                  <a:srgbClr val="0D2841"/>
                </a:solidFill>
                <a:latin typeface="Calibri"/>
                <a:cs typeface="Calibri"/>
              </a:rPr>
              <a:t>BSE Code:</a:t>
            </a:r>
            <a:r>
              <a:rPr sz="1200" b="1" spc="-5" dirty="0">
                <a:solidFill>
                  <a:srgbClr val="0D2841"/>
                </a:solidFill>
                <a:latin typeface="Calibri"/>
                <a:cs typeface="Calibri"/>
              </a:rPr>
              <a:t> </a:t>
            </a:r>
            <a:r>
              <a:rPr lang="en-GB" sz="1200" b="1" dirty="0">
                <a:latin typeface="+mj-lt"/>
              </a:rPr>
              <a:t>524715</a:t>
            </a:r>
          </a:p>
        </p:txBody>
      </p:sp>
      <p:sp>
        <p:nvSpPr>
          <p:cNvPr id="57" name="object 41">
            <a:extLst>
              <a:ext uri="{FF2B5EF4-FFF2-40B4-BE49-F238E27FC236}">
                <a16:creationId xmlns:a16="http://schemas.microsoft.com/office/drawing/2014/main" id="{7DE16CB2-0173-84EA-3053-3C32249E5F19}"/>
              </a:ext>
            </a:extLst>
          </p:cNvPr>
          <p:cNvSpPr txBox="1"/>
          <p:nvPr/>
        </p:nvSpPr>
        <p:spPr>
          <a:xfrm>
            <a:off x="141831" y="686543"/>
            <a:ext cx="3210968" cy="197490"/>
          </a:xfrm>
          <a:prstGeom prst="rect">
            <a:avLst/>
          </a:prstGeom>
        </p:spPr>
        <p:txBody>
          <a:bodyPr vert="horz" wrap="square" lIns="0" tIns="12700" rIns="0" bIns="0" rtlCol="0">
            <a:spAutoFit/>
          </a:bodyPr>
          <a:lstStyle/>
          <a:p>
            <a:pPr marL="12700">
              <a:lnSpc>
                <a:spcPct val="100000"/>
              </a:lnSpc>
              <a:spcBef>
                <a:spcPts val="100"/>
              </a:spcBef>
            </a:pPr>
            <a:r>
              <a:rPr lang="en-GB" sz="1200" b="1" dirty="0">
                <a:latin typeface="Calibri "/>
              </a:rPr>
              <a:t>Pharmaceuticals &amp; Drugs</a:t>
            </a:r>
          </a:p>
        </p:txBody>
      </p:sp>
      <p:pic>
        <p:nvPicPr>
          <p:cNvPr id="59" name="Picture 58">
            <a:extLst>
              <a:ext uri="{FF2B5EF4-FFF2-40B4-BE49-F238E27FC236}">
                <a16:creationId xmlns:a16="http://schemas.microsoft.com/office/drawing/2014/main" id="{087C1F6C-EB4C-C05B-168A-E79662EA39F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04126" y="17284"/>
            <a:ext cx="1295705" cy="879830"/>
          </a:xfrm>
          <a:prstGeom prst="rect">
            <a:avLst/>
          </a:prstGeom>
        </p:spPr>
      </p:pic>
      <p:cxnSp>
        <p:nvCxnSpPr>
          <p:cNvPr id="61" name="Straight Connector 60">
            <a:extLst>
              <a:ext uri="{FF2B5EF4-FFF2-40B4-BE49-F238E27FC236}">
                <a16:creationId xmlns:a16="http://schemas.microsoft.com/office/drawing/2014/main" id="{5E80B43D-510E-B442-1EBA-F6781443C52E}"/>
              </a:ext>
            </a:extLst>
          </p:cNvPr>
          <p:cNvCxnSpPr>
            <a:cxnSpLocks/>
          </p:cNvCxnSpPr>
          <p:nvPr/>
        </p:nvCxnSpPr>
        <p:spPr>
          <a:xfrm>
            <a:off x="0" y="8859394"/>
            <a:ext cx="6858000" cy="0"/>
          </a:xfrm>
          <a:prstGeom prst="line">
            <a:avLst/>
          </a:prstGeom>
          <a:ln w="41275">
            <a:solidFill>
              <a:srgbClr val="E46C0A"/>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09B26069-5283-0EF2-2E70-E374BB97C714}"/>
              </a:ext>
            </a:extLst>
          </p:cNvPr>
          <p:cNvSpPr txBox="1"/>
          <p:nvPr/>
        </p:nvSpPr>
        <p:spPr>
          <a:xfrm>
            <a:off x="6553200" y="8810228"/>
            <a:ext cx="667055" cy="369332"/>
          </a:xfrm>
          <a:prstGeom prst="rect">
            <a:avLst/>
          </a:prstGeom>
          <a:noFill/>
        </p:spPr>
        <p:txBody>
          <a:bodyPr wrap="square" rtlCol="0">
            <a:spAutoFit/>
          </a:bodyPr>
          <a:lstStyle/>
          <a:p>
            <a:r>
              <a:rPr lang="en-US" b="1" dirty="0">
                <a:solidFill>
                  <a:srgbClr val="E46C0A"/>
                </a:solidFill>
              </a:rPr>
              <a:t>1</a:t>
            </a:r>
            <a:endParaRPr lang="en-GB" b="1" dirty="0">
              <a:solidFill>
                <a:srgbClr val="E46C0A"/>
              </a:solidFill>
            </a:endParaRPr>
          </a:p>
        </p:txBody>
      </p:sp>
      <p:cxnSp>
        <p:nvCxnSpPr>
          <p:cNvPr id="69" name="Straight Connector 68">
            <a:extLst>
              <a:ext uri="{FF2B5EF4-FFF2-40B4-BE49-F238E27FC236}">
                <a16:creationId xmlns:a16="http://schemas.microsoft.com/office/drawing/2014/main" id="{FF1EB051-0B52-6A91-7E5C-5A1DC52F1D53}"/>
              </a:ext>
            </a:extLst>
          </p:cNvPr>
          <p:cNvCxnSpPr>
            <a:cxnSpLocks/>
          </p:cNvCxnSpPr>
          <p:nvPr/>
        </p:nvCxnSpPr>
        <p:spPr>
          <a:xfrm flipV="1">
            <a:off x="0" y="933199"/>
            <a:ext cx="6858000" cy="37713"/>
          </a:xfrm>
          <a:prstGeom prst="line">
            <a:avLst/>
          </a:prstGeom>
          <a:ln>
            <a:solidFill>
              <a:srgbClr val="E46C0A"/>
            </a:solidFill>
          </a:ln>
        </p:spPr>
        <p:style>
          <a:lnRef idx="1">
            <a:schemeClr val="accent1"/>
          </a:lnRef>
          <a:fillRef idx="0">
            <a:schemeClr val="accent1"/>
          </a:fillRef>
          <a:effectRef idx="0">
            <a:schemeClr val="accent1"/>
          </a:effectRef>
          <a:fontRef idx="minor">
            <a:schemeClr val="tx1"/>
          </a:fontRef>
        </p:style>
      </p:cxnSp>
      <p:sp>
        <p:nvSpPr>
          <p:cNvPr id="7" name="object 2">
            <a:extLst>
              <a:ext uri="{FF2B5EF4-FFF2-40B4-BE49-F238E27FC236}">
                <a16:creationId xmlns:a16="http://schemas.microsoft.com/office/drawing/2014/main" id="{D5E96EC4-F2FC-A534-ABDB-CA06E53E3D5C}"/>
              </a:ext>
            </a:extLst>
          </p:cNvPr>
          <p:cNvSpPr/>
          <p:nvPr/>
        </p:nvSpPr>
        <p:spPr>
          <a:xfrm>
            <a:off x="141831" y="1126501"/>
            <a:ext cx="6411369" cy="429865"/>
          </a:xfrm>
          <a:custGeom>
            <a:avLst/>
            <a:gdLst/>
            <a:ahLst/>
            <a:cxnLst/>
            <a:rect l="l" t="t" r="r" b="b"/>
            <a:pathLst>
              <a:path w="7296784" h="401319">
                <a:moveTo>
                  <a:pt x="7296359" y="400830"/>
                </a:moveTo>
                <a:lnTo>
                  <a:pt x="0" y="400830"/>
                </a:lnTo>
                <a:lnTo>
                  <a:pt x="0" y="0"/>
                </a:lnTo>
                <a:lnTo>
                  <a:pt x="7296359" y="0"/>
                </a:lnTo>
                <a:lnTo>
                  <a:pt x="7296359" y="400830"/>
                </a:lnTo>
                <a:close/>
              </a:path>
            </a:pathLst>
          </a:custGeom>
          <a:solidFill>
            <a:srgbClr val="E46C0A"/>
          </a:solidFill>
        </p:spPr>
        <p:txBody>
          <a:bodyPr wrap="square" lIns="0" tIns="0" rIns="0" bIns="0" rtlCol="0"/>
          <a:lstStyle/>
          <a:p>
            <a:endParaRPr/>
          </a:p>
        </p:txBody>
      </p:sp>
      <p:sp>
        <p:nvSpPr>
          <p:cNvPr id="6" name="TextBox 5">
            <a:extLst>
              <a:ext uri="{FF2B5EF4-FFF2-40B4-BE49-F238E27FC236}">
                <a16:creationId xmlns:a16="http://schemas.microsoft.com/office/drawing/2014/main" id="{2F741FD5-A80A-E363-BE50-4515110481F8}"/>
              </a:ext>
            </a:extLst>
          </p:cNvPr>
          <p:cNvSpPr txBox="1"/>
          <p:nvPr/>
        </p:nvSpPr>
        <p:spPr>
          <a:xfrm>
            <a:off x="876300" y="1140645"/>
            <a:ext cx="5105400" cy="646331"/>
          </a:xfrm>
          <a:prstGeom prst="rect">
            <a:avLst/>
          </a:prstGeom>
          <a:noFill/>
        </p:spPr>
        <p:txBody>
          <a:bodyPr wrap="square" rtlCol="0">
            <a:spAutoFit/>
          </a:bodyPr>
          <a:lstStyle/>
          <a:p>
            <a:pPr algn="ctr"/>
            <a:r>
              <a:rPr lang="en-GB" sz="1800" b="1" spc="-55" dirty="0">
                <a:solidFill>
                  <a:srgbClr val="FFFFFF"/>
                </a:solidFill>
                <a:latin typeface="+mj-lt"/>
                <a:cs typeface="Trebuchet MS"/>
              </a:rPr>
              <a:t>PORTER’S</a:t>
            </a:r>
            <a:r>
              <a:rPr lang="en-GB" sz="1800" b="1" spc="-125" dirty="0">
                <a:solidFill>
                  <a:srgbClr val="FFFFFF"/>
                </a:solidFill>
                <a:latin typeface="+mj-lt"/>
                <a:cs typeface="Trebuchet MS"/>
              </a:rPr>
              <a:t> </a:t>
            </a:r>
            <a:r>
              <a:rPr lang="en-GB" sz="1800" b="1" spc="-65" dirty="0">
                <a:solidFill>
                  <a:srgbClr val="FFFFFF"/>
                </a:solidFill>
                <a:latin typeface="+mj-lt"/>
                <a:cs typeface="Trebuchet MS"/>
              </a:rPr>
              <a:t>FIVE</a:t>
            </a:r>
            <a:r>
              <a:rPr lang="en-GB" sz="1800" b="1" spc="-125" dirty="0">
                <a:solidFill>
                  <a:srgbClr val="FFFFFF"/>
                </a:solidFill>
                <a:latin typeface="+mj-lt"/>
                <a:cs typeface="Trebuchet MS"/>
              </a:rPr>
              <a:t> </a:t>
            </a:r>
            <a:r>
              <a:rPr lang="en-GB" sz="1800" b="1" spc="-10" dirty="0">
                <a:solidFill>
                  <a:srgbClr val="FFFFFF"/>
                </a:solidFill>
                <a:latin typeface="+mj-lt"/>
                <a:cs typeface="Trebuchet MS"/>
              </a:rPr>
              <a:t>FORCES</a:t>
            </a:r>
            <a:endParaRPr lang="en-GB" sz="1800" dirty="0">
              <a:latin typeface="+mj-lt"/>
              <a:cs typeface="Trebuchet MS"/>
            </a:endParaRPr>
          </a:p>
          <a:p>
            <a:endParaRPr lang="en-GB" dirty="0">
              <a:latin typeface="+mj-lt"/>
            </a:endParaRPr>
          </a:p>
        </p:txBody>
      </p:sp>
      <p:sp>
        <p:nvSpPr>
          <p:cNvPr id="10" name="object 12">
            <a:extLst>
              <a:ext uri="{FF2B5EF4-FFF2-40B4-BE49-F238E27FC236}">
                <a16:creationId xmlns:a16="http://schemas.microsoft.com/office/drawing/2014/main" id="{75F6D67D-F025-5567-1175-C4BD658AC896}"/>
              </a:ext>
            </a:extLst>
          </p:cNvPr>
          <p:cNvSpPr/>
          <p:nvPr/>
        </p:nvSpPr>
        <p:spPr>
          <a:xfrm>
            <a:off x="377190" y="1882074"/>
            <a:ext cx="6112510" cy="2018355"/>
          </a:xfrm>
          <a:custGeom>
            <a:avLst/>
            <a:gdLst/>
            <a:ahLst/>
            <a:cxnLst/>
            <a:rect l="l" t="t" r="r" b="b"/>
            <a:pathLst>
              <a:path w="6112510" h="1224280">
                <a:moveTo>
                  <a:pt x="6112510" y="0"/>
                </a:moveTo>
                <a:lnTo>
                  <a:pt x="0" y="0"/>
                </a:lnTo>
                <a:lnTo>
                  <a:pt x="0" y="1224267"/>
                </a:lnTo>
                <a:lnTo>
                  <a:pt x="6112510" y="1224267"/>
                </a:lnTo>
                <a:lnTo>
                  <a:pt x="6112510" y="0"/>
                </a:lnTo>
                <a:close/>
              </a:path>
            </a:pathLst>
          </a:custGeom>
          <a:solidFill>
            <a:schemeClr val="accent6">
              <a:lumMod val="60000"/>
              <a:lumOff val="40000"/>
            </a:schemeClr>
          </a:solidFill>
        </p:spPr>
        <p:txBody>
          <a:bodyPr wrap="square" lIns="0" tIns="0" rIns="0" bIns="0" rtlCol="0"/>
          <a:lstStyle/>
          <a:p>
            <a:endParaRPr/>
          </a:p>
        </p:txBody>
      </p:sp>
      <p:grpSp>
        <p:nvGrpSpPr>
          <p:cNvPr id="14" name="object 15">
            <a:extLst>
              <a:ext uri="{FF2B5EF4-FFF2-40B4-BE49-F238E27FC236}">
                <a16:creationId xmlns:a16="http://schemas.microsoft.com/office/drawing/2014/main" id="{FB4870A6-8D8B-441F-26A6-4F96AE8AE278}"/>
              </a:ext>
            </a:extLst>
          </p:cNvPr>
          <p:cNvGrpSpPr/>
          <p:nvPr/>
        </p:nvGrpSpPr>
        <p:grpSpPr>
          <a:xfrm>
            <a:off x="394957" y="4070566"/>
            <a:ext cx="6112510" cy="2101631"/>
            <a:chOff x="394957" y="3130676"/>
            <a:chExt cx="6112510" cy="1149643"/>
          </a:xfrm>
          <a:solidFill>
            <a:schemeClr val="accent6">
              <a:lumMod val="60000"/>
              <a:lumOff val="40000"/>
            </a:schemeClr>
          </a:solidFill>
        </p:grpSpPr>
        <p:sp>
          <p:nvSpPr>
            <p:cNvPr id="16" name="object 16">
              <a:extLst>
                <a:ext uri="{FF2B5EF4-FFF2-40B4-BE49-F238E27FC236}">
                  <a16:creationId xmlns:a16="http://schemas.microsoft.com/office/drawing/2014/main" id="{DF32AC18-73C3-D797-B507-A969FCAAF335}"/>
                </a:ext>
              </a:extLst>
            </p:cNvPr>
            <p:cNvSpPr/>
            <p:nvPr/>
          </p:nvSpPr>
          <p:spPr>
            <a:xfrm>
              <a:off x="394957" y="3264972"/>
              <a:ext cx="6112510" cy="1015347"/>
            </a:xfrm>
            <a:custGeom>
              <a:avLst/>
              <a:gdLst/>
              <a:ahLst/>
              <a:cxnLst/>
              <a:rect l="l" t="t" r="r" b="b"/>
              <a:pathLst>
                <a:path w="6112509" h="1077595">
                  <a:moveTo>
                    <a:pt x="6112510" y="0"/>
                  </a:moveTo>
                  <a:lnTo>
                    <a:pt x="0" y="0"/>
                  </a:lnTo>
                  <a:lnTo>
                    <a:pt x="0" y="1077175"/>
                  </a:lnTo>
                  <a:lnTo>
                    <a:pt x="6112510" y="1077175"/>
                  </a:lnTo>
                  <a:lnTo>
                    <a:pt x="6112510" y="0"/>
                  </a:lnTo>
                  <a:close/>
                </a:path>
              </a:pathLst>
            </a:custGeom>
            <a:grpFill/>
          </p:spPr>
          <p:txBody>
            <a:bodyPr wrap="square" lIns="0" tIns="0" rIns="0" bIns="0" rtlCol="0"/>
            <a:lstStyle/>
            <a:p>
              <a:endParaRPr dirty="0"/>
            </a:p>
          </p:txBody>
        </p:sp>
        <p:sp>
          <p:nvSpPr>
            <p:cNvPr id="18" name="object 17">
              <a:extLst>
                <a:ext uri="{FF2B5EF4-FFF2-40B4-BE49-F238E27FC236}">
                  <a16:creationId xmlns:a16="http://schemas.microsoft.com/office/drawing/2014/main" id="{6606E1C7-3491-6018-A634-7F47ABBF90C8}"/>
                </a:ext>
              </a:extLst>
            </p:cNvPr>
            <p:cNvSpPr/>
            <p:nvPr/>
          </p:nvSpPr>
          <p:spPr>
            <a:xfrm>
              <a:off x="1600200" y="3130676"/>
              <a:ext cx="4114800" cy="174035"/>
            </a:xfrm>
            <a:custGeom>
              <a:avLst/>
              <a:gdLst/>
              <a:ahLst/>
              <a:cxnLst/>
              <a:rect l="l" t="t" r="r" b="b"/>
              <a:pathLst>
                <a:path w="2773679" h="187960">
                  <a:moveTo>
                    <a:pt x="2773679" y="0"/>
                  </a:moveTo>
                  <a:lnTo>
                    <a:pt x="0" y="0"/>
                  </a:lnTo>
                  <a:lnTo>
                    <a:pt x="0" y="187451"/>
                  </a:lnTo>
                  <a:lnTo>
                    <a:pt x="2773679" y="187451"/>
                  </a:lnTo>
                  <a:lnTo>
                    <a:pt x="2773679" y="0"/>
                  </a:lnTo>
                  <a:close/>
                </a:path>
              </a:pathLst>
            </a:custGeom>
            <a:solidFill>
              <a:schemeClr val="accent6">
                <a:lumMod val="75000"/>
              </a:schemeClr>
            </a:solidFill>
          </p:spPr>
          <p:txBody>
            <a:bodyPr wrap="square" lIns="0" tIns="0" rIns="0" bIns="0" rtlCol="0"/>
            <a:lstStyle/>
            <a:p>
              <a:endParaRPr dirty="0"/>
            </a:p>
          </p:txBody>
        </p:sp>
      </p:grpSp>
      <p:sp>
        <p:nvSpPr>
          <p:cNvPr id="19" name="object 17">
            <a:extLst>
              <a:ext uri="{FF2B5EF4-FFF2-40B4-BE49-F238E27FC236}">
                <a16:creationId xmlns:a16="http://schemas.microsoft.com/office/drawing/2014/main" id="{069262B6-E976-DF81-9252-D3C9E027C9F7}"/>
              </a:ext>
            </a:extLst>
          </p:cNvPr>
          <p:cNvSpPr/>
          <p:nvPr/>
        </p:nvSpPr>
        <p:spPr>
          <a:xfrm>
            <a:off x="1553716" y="1708367"/>
            <a:ext cx="4114800" cy="294134"/>
          </a:xfrm>
          <a:custGeom>
            <a:avLst/>
            <a:gdLst/>
            <a:ahLst/>
            <a:cxnLst/>
            <a:rect l="l" t="t" r="r" b="b"/>
            <a:pathLst>
              <a:path w="2773679" h="187960">
                <a:moveTo>
                  <a:pt x="2773679" y="0"/>
                </a:moveTo>
                <a:lnTo>
                  <a:pt x="0" y="0"/>
                </a:lnTo>
                <a:lnTo>
                  <a:pt x="0" y="187451"/>
                </a:lnTo>
                <a:lnTo>
                  <a:pt x="2773679" y="187451"/>
                </a:lnTo>
                <a:lnTo>
                  <a:pt x="2773679" y="0"/>
                </a:lnTo>
                <a:close/>
              </a:path>
            </a:pathLst>
          </a:custGeom>
          <a:solidFill>
            <a:schemeClr val="accent6">
              <a:lumMod val="75000"/>
            </a:schemeClr>
          </a:solidFill>
        </p:spPr>
        <p:txBody>
          <a:bodyPr wrap="square" lIns="0" tIns="0" rIns="0" bIns="0" rtlCol="0"/>
          <a:lstStyle/>
          <a:p>
            <a:endParaRPr dirty="0"/>
          </a:p>
        </p:txBody>
      </p:sp>
      <p:sp>
        <p:nvSpPr>
          <p:cNvPr id="20" name="TextBox 19">
            <a:extLst>
              <a:ext uri="{FF2B5EF4-FFF2-40B4-BE49-F238E27FC236}">
                <a16:creationId xmlns:a16="http://schemas.microsoft.com/office/drawing/2014/main" id="{46C75C1E-3E75-B580-1EA3-716955E85857}"/>
              </a:ext>
            </a:extLst>
          </p:cNvPr>
          <p:cNvSpPr txBox="1"/>
          <p:nvPr/>
        </p:nvSpPr>
        <p:spPr>
          <a:xfrm>
            <a:off x="1553716" y="1688294"/>
            <a:ext cx="4245104" cy="338554"/>
          </a:xfrm>
          <a:prstGeom prst="rect">
            <a:avLst/>
          </a:prstGeom>
          <a:noFill/>
        </p:spPr>
        <p:txBody>
          <a:bodyPr wrap="square">
            <a:spAutoFit/>
          </a:bodyPr>
          <a:lstStyle/>
          <a:p>
            <a:r>
              <a:rPr lang="en-GB" sz="1600" b="1" dirty="0">
                <a:solidFill>
                  <a:schemeClr val="bg1"/>
                </a:solidFill>
                <a:latin typeface="+mj-lt"/>
              </a:rPr>
              <a:t>Threat of Substitute Products: Medium to High</a:t>
            </a:r>
            <a:endParaRPr lang="en-GB" sz="1600" dirty="0">
              <a:solidFill>
                <a:schemeClr val="bg1"/>
              </a:solidFill>
              <a:latin typeface="+mj-lt"/>
            </a:endParaRPr>
          </a:p>
        </p:txBody>
      </p:sp>
      <p:sp>
        <p:nvSpPr>
          <p:cNvPr id="22" name="TextBox 21">
            <a:extLst>
              <a:ext uri="{FF2B5EF4-FFF2-40B4-BE49-F238E27FC236}">
                <a16:creationId xmlns:a16="http://schemas.microsoft.com/office/drawing/2014/main" id="{81FBFA1A-C598-45DB-78EA-88F4C19D7E59}"/>
              </a:ext>
            </a:extLst>
          </p:cNvPr>
          <p:cNvSpPr txBox="1"/>
          <p:nvPr/>
        </p:nvSpPr>
        <p:spPr>
          <a:xfrm>
            <a:off x="2330880" y="4055135"/>
            <a:ext cx="3068955" cy="338554"/>
          </a:xfrm>
          <a:prstGeom prst="rect">
            <a:avLst/>
          </a:prstGeom>
          <a:noFill/>
        </p:spPr>
        <p:txBody>
          <a:bodyPr wrap="square">
            <a:spAutoFit/>
          </a:bodyPr>
          <a:lstStyle/>
          <a:p>
            <a:r>
              <a:rPr lang="en-GB" sz="1600" b="1" dirty="0">
                <a:solidFill>
                  <a:schemeClr val="bg1"/>
                </a:solidFill>
                <a:latin typeface="+mj-lt"/>
              </a:rPr>
              <a:t>Competitive Rivalry: High</a:t>
            </a:r>
            <a:endParaRPr lang="en-GB" sz="1600" dirty="0">
              <a:solidFill>
                <a:schemeClr val="bg1"/>
              </a:solidFill>
              <a:latin typeface="+mj-lt"/>
            </a:endParaRPr>
          </a:p>
        </p:txBody>
      </p:sp>
      <p:sp>
        <p:nvSpPr>
          <p:cNvPr id="24" name="TextBox 23">
            <a:extLst>
              <a:ext uri="{FF2B5EF4-FFF2-40B4-BE49-F238E27FC236}">
                <a16:creationId xmlns:a16="http://schemas.microsoft.com/office/drawing/2014/main" id="{228C7642-BA1F-4C3C-FEDE-B93CFCE96F7A}"/>
              </a:ext>
            </a:extLst>
          </p:cNvPr>
          <p:cNvSpPr txBox="1"/>
          <p:nvPr/>
        </p:nvSpPr>
        <p:spPr>
          <a:xfrm>
            <a:off x="434061" y="2044637"/>
            <a:ext cx="6046750" cy="1015663"/>
          </a:xfrm>
          <a:prstGeom prst="rect">
            <a:avLst/>
          </a:prstGeom>
          <a:noFill/>
        </p:spPr>
        <p:txBody>
          <a:bodyPr wrap="square" rtlCol="0">
            <a:spAutoFit/>
          </a:bodyPr>
          <a:lstStyle/>
          <a:p>
            <a:pPr algn="ctr"/>
            <a:r>
              <a:rPr lang="en-GB" sz="1200" b="1" dirty="0">
                <a:solidFill>
                  <a:schemeClr val="tx1"/>
                </a:solidFill>
                <a:latin typeface="+mn-lt"/>
              </a:rPr>
              <a:t>Severe Customer Consolidation:</a:t>
            </a:r>
            <a:r>
              <a:rPr lang="en-GB" sz="1200" dirty="0">
                <a:solidFill>
                  <a:schemeClr val="tx1"/>
                </a:solidFill>
                <a:latin typeface="+mn-lt"/>
              </a:rPr>
              <a:t> In key developed markets like the US, the consolidation of buying consortiums, wholesalers, and chain drugstores has significantly increased buyer power. This leads to an intensely competitive pricing environment characterized by severe off-invoice discounts and rebates</a:t>
            </a:r>
            <a:br>
              <a:rPr lang="en-GB" sz="1200" dirty="0">
                <a:solidFill>
                  <a:schemeClr val="tx1"/>
                </a:solidFill>
                <a:latin typeface="+mn-lt"/>
              </a:rPr>
            </a:br>
            <a:endParaRPr lang="en-GB" sz="1200" dirty="0">
              <a:solidFill>
                <a:schemeClr val="tx1"/>
              </a:solidFill>
              <a:latin typeface="+mn-lt"/>
            </a:endParaRPr>
          </a:p>
        </p:txBody>
      </p:sp>
      <p:sp>
        <p:nvSpPr>
          <p:cNvPr id="26" name="TextBox 25">
            <a:extLst>
              <a:ext uri="{FF2B5EF4-FFF2-40B4-BE49-F238E27FC236}">
                <a16:creationId xmlns:a16="http://schemas.microsoft.com/office/drawing/2014/main" id="{61CC3C9D-09F9-A898-1B1F-E6F5BFD8EE69}"/>
              </a:ext>
            </a:extLst>
          </p:cNvPr>
          <p:cNvSpPr txBox="1"/>
          <p:nvPr/>
        </p:nvSpPr>
        <p:spPr>
          <a:xfrm>
            <a:off x="434061" y="2860701"/>
            <a:ext cx="6055640" cy="830997"/>
          </a:xfrm>
          <a:prstGeom prst="rect">
            <a:avLst/>
          </a:prstGeom>
          <a:noFill/>
        </p:spPr>
        <p:txBody>
          <a:bodyPr wrap="square" rtlCol="0">
            <a:spAutoFit/>
          </a:bodyPr>
          <a:lstStyle/>
          <a:p>
            <a:pPr algn="just"/>
            <a:r>
              <a:rPr lang="en-GB" sz="1200" b="1" dirty="0">
                <a:latin typeface="+mn-lt"/>
              </a:rPr>
              <a:t>Government-Mandated Price Controls:</a:t>
            </a:r>
            <a:r>
              <a:rPr lang="en-GB" sz="1200" dirty="0">
                <a:latin typeface="+mn-lt"/>
              </a:rPr>
              <a:t> Governments and institutional payers globally act as massive buyers. Faced with soaring healthcare deficits, they frequently enforce strict drug price controls, mandate periodic price cuts (as seen in Japan), and promote aggressive generic substitution to force down pharmaceutical prices.</a:t>
            </a:r>
          </a:p>
        </p:txBody>
      </p:sp>
      <p:sp>
        <p:nvSpPr>
          <p:cNvPr id="28" name="TextBox 27">
            <a:extLst>
              <a:ext uri="{FF2B5EF4-FFF2-40B4-BE49-F238E27FC236}">
                <a16:creationId xmlns:a16="http://schemas.microsoft.com/office/drawing/2014/main" id="{E316A5EA-EFDF-425B-F791-E28C99A500D5}"/>
              </a:ext>
            </a:extLst>
          </p:cNvPr>
          <p:cNvSpPr txBox="1"/>
          <p:nvPr/>
        </p:nvSpPr>
        <p:spPr>
          <a:xfrm>
            <a:off x="414718" y="4432232"/>
            <a:ext cx="6158243" cy="830997"/>
          </a:xfrm>
          <a:prstGeom prst="rect">
            <a:avLst/>
          </a:prstGeom>
          <a:noFill/>
        </p:spPr>
        <p:txBody>
          <a:bodyPr wrap="square" rtlCol="0">
            <a:spAutoFit/>
          </a:bodyPr>
          <a:lstStyle/>
          <a:p>
            <a:r>
              <a:rPr lang="en-GB" sz="1200" b="1" dirty="0">
                <a:latin typeface="+mn-lt"/>
              </a:rPr>
              <a:t>Generic and Biosimilar Competition:</a:t>
            </a:r>
            <a:r>
              <a:rPr lang="en-GB" sz="1200" dirty="0">
                <a:latin typeface="+mn-lt"/>
              </a:rPr>
              <a:t> For patented and specialty medicines, the loss of patent exclusivity immediately exposes them to highly affordable generic and biosimilar substitutes. Furthermore, the rapid pace of FDA approvals continuously introduces competing generic substitutes into the market.</a:t>
            </a:r>
          </a:p>
        </p:txBody>
      </p:sp>
      <p:sp>
        <p:nvSpPr>
          <p:cNvPr id="35" name="TextBox 34">
            <a:extLst>
              <a:ext uri="{FF2B5EF4-FFF2-40B4-BE49-F238E27FC236}">
                <a16:creationId xmlns:a16="http://schemas.microsoft.com/office/drawing/2014/main" id="{50751AEF-2ECC-5ECD-F03A-FE64C45D74EA}"/>
              </a:ext>
            </a:extLst>
          </p:cNvPr>
          <p:cNvSpPr txBox="1"/>
          <p:nvPr/>
        </p:nvSpPr>
        <p:spPr>
          <a:xfrm>
            <a:off x="434060" y="5255397"/>
            <a:ext cx="6158243" cy="830997"/>
          </a:xfrm>
          <a:prstGeom prst="rect">
            <a:avLst/>
          </a:prstGeom>
          <a:noFill/>
        </p:spPr>
        <p:txBody>
          <a:bodyPr wrap="square" rtlCol="0">
            <a:spAutoFit/>
          </a:bodyPr>
          <a:lstStyle/>
          <a:p>
            <a:r>
              <a:rPr lang="en-GB" sz="1200" b="1" dirty="0">
                <a:latin typeface="+mn-lt"/>
              </a:rPr>
              <a:t>Shift Towards Preventative Care:</a:t>
            </a:r>
            <a:r>
              <a:rPr lang="en-GB" sz="1200" dirty="0">
                <a:latin typeface="+mn-lt"/>
              </a:rPr>
              <a:t> There is a growing global consumer shift towards self-care, wellness, and over-the-counter (OTC) alternative products, which can act as substitutes for traditional prescription therapeutics, though Sun Pharma actively mitigates this by aggressively expanding its own Global Consumer Healthcare business.</a:t>
            </a:r>
          </a:p>
        </p:txBody>
      </p:sp>
    </p:spTree>
    <p:extLst>
      <p:ext uri="{BB962C8B-B14F-4D97-AF65-F5344CB8AC3E}">
        <p14:creationId xmlns:p14="http://schemas.microsoft.com/office/powerpoint/2010/main" val="4233298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B7BCF-B4A9-067E-3C8C-7F33D41EA573}"/>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6E3E0BD4-FB89-2D13-6ED3-C21F57039645}"/>
              </a:ext>
            </a:extLst>
          </p:cNvPr>
          <p:cNvSpPr/>
          <p:nvPr/>
        </p:nvSpPr>
        <p:spPr>
          <a:xfrm>
            <a:off x="3689199" y="1377957"/>
            <a:ext cx="3025580" cy="3002145"/>
          </a:xfrm>
          <a:prstGeom prst="rect">
            <a:avLst/>
          </a:prstGeom>
          <a:solidFill>
            <a:srgbClr val="FCD6B6"/>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Rectangle 32">
            <a:extLst>
              <a:ext uri="{FF2B5EF4-FFF2-40B4-BE49-F238E27FC236}">
                <a16:creationId xmlns:a16="http://schemas.microsoft.com/office/drawing/2014/main" id="{004F61F4-2217-020D-634D-F49624DE6801}"/>
              </a:ext>
            </a:extLst>
          </p:cNvPr>
          <p:cNvSpPr/>
          <p:nvPr/>
        </p:nvSpPr>
        <p:spPr>
          <a:xfrm>
            <a:off x="152793" y="5106313"/>
            <a:ext cx="2990003" cy="3351141"/>
          </a:xfrm>
          <a:prstGeom prst="rect">
            <a:avLst/>
          </a:prstGeom>
          <a:solidFill>
            <a:srgbClr val="FCD6B6"/>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34">
            <a:extLst>
              <a:ext uri="{FF2B5EF4-FFF2-40B4-BE49-F238E27FC236}">
                <a16:creationId xmlns:a16="http://schemas.microsoft.com/office/drawing/2014/main" id="{A50B1318-E8E1-48DE-F915-DAB9AF517077}"/>
              </a:ext>
            </a:extLst>
          </p:cNvPr>
          <p:cNvSpPr/>
          <p:nvPr/>
        </p:nvSpPr>
        <p:spPr>
          <a:xfrm>
            <a:off x="3679627" y="5089735"/>
            <a:ext cx="3025580" cy="3292266"/>
          </a:xfrm>
          <a:prstGeom prst="rect">
            <a:avLst/>
          </a:prstGeom>
          <a:solidFill>
            <a:srgbClr val="FCD6B6"/>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object 2">
            <a:extLst>
              <a:ext uri="{FF2B5EF4-FFF2-40B4-BE49-F238E27FC236}">
                <a16:creationId xmlns:a16="http://schemas.microsoft.com/office/drawing/2014/main" id="{318F24CF-2B50-0F5B-237C-5867992D0A93}"/>
              </a:ext>
            </a:extLst>
          </p:cNvPr>
          <p:cNvGrpSpPr/>
          <p:nvPr/>
        </p:nvGrpSpPr>
        <p:grpSpPr>
          <a:xfrm>
            <a:off x="0" y="0"/>
            <a:ext cx="6811279" cy="1813218"/>
            <a:chOff x="0" y="0"/>
            <a:chExt cx="6858000" cy="1625597"/>
          </a:xfrm>
        </p:grpSpPr>
        <p:sp>
          <p:nvSpPr>
            <p:cNvPr id="3" name="object 3">
              <a:extLst>
                <a:ext uri="{FF2B5EF4-FFF2-40B4-BE49-F238E27FC236}">
                  <a16:creationId xmlns:a16="http://schemas.microsoft.com/office/drawing/2014/main" id="{62D677AE-C0F6-16B4-82DE-3A3E8BF43260}"/>
                </a:ext>
              </a:extLst>
            </p:cNvPr>
            <p:cNvSpPr/>
            <p:nvPr/>
          </p:nvSpPr>
          <p:spPr>
            <a:xfrm>
              <a:off x="0" y="0"/>
              <a:ext cx="6858000" cy="949325"/>
            </a:xfrm>
            <a:custGeom>
              <a:avLst/>
              <a:gdLst/>
              <a:ahLst/>
              <a:cxnLst/>
              <a:rect l="l" t="t" r="r" b="b"/>
              <a:pathLst>
                <a:path w="6858000" h="949325">
                  <a:moveTo>
                    <a:pt x="0" y="949198"/>
                  </a:moveTo>
                  <a:lnTo>
                    <a:pt x="6858000" y="949198"/>
                  </a:lnTo>
                  <a:lnTo>
                    <a:pt x="6858000" y="0"/>
                  </a:lnTo>
                  <a:lnTo>
                    <a:pt x="0" y="0"/>
                  </a:lnTo>
                  <a:lnTo>
                    <a:pt x="0" y="949198"/>
                  </a:lnTo>
                  <a:close/>
                </a:path>
              </a:pathLst>
            </a:custGeom>
            <a:solidFill>
              <a:schemeClr val="accent6">
                <a:lumMod val="75000"/>
              </a:schemeClr>
            </a:solidFill>
          </p:spPr>
          <p:txBody>
            <a:bodyPr wrap="square" lIns="0" tIns="0" rIns="0" bIns="0" rtlCol="0"/>
            <a:lstStyle/>
            <a:p>
              <a:endParaRPr/>
            </a:p>
          </p:txBody>
        </p:sp>
        <p:sp>
          <p:nvSpPr>
            <p:cNvPr id="4" name="object 4">
              <a:extLst>
                <a:ext uri="{FF2B5EF4-FFF2-40B4-BE49-F238E27FC236}">
                  <a16:creationId xmlns:a16="http://schemas.microsoft.com/office/drawing/2014/main" id="{B6B46E87-1F9A-BD67-B0CC-D6AF4EDCC85E}"/>
                </a:ext>
              </a:extLst>
            </p:cNvPr>
            <p:cNvSpPr/>
            <p:nvPr/>
          </p:nvSpPr>
          <p:spPr>
            <a:xfrm>
              <a:off x="0" y="316227"/>
              <a:ext cx="4147185" cy="1309370"/>
            </a:xfrm>
            <a:custGeom>
              <a:avLst/>
              <a:gdLst/>
              <a:ahLst/>
              <a:cxnLst/>
              <a:rect l="l" t="t" r="r" b="b"/>
              <a:pathLst>
                <a:path w="4147185" h="1309370">
                  <a:moveTo>
                    <a:pt x="3492246" y="0"/>
                  </a:moveTo>
                  <a:lnTo>
                    <a:pt x="0" y="0"/>
                  </a:lnTo>
                  <a:lnTo>
                    <a:pt x="0" y="1309243"/>
                  </a:lnTo>
                  <a:lnTo>
                    <a:pt x="3492246" y="1309243"/>
                  </a:lnTo>
                  <a:lnTo>
                    <a:pt x="4146804" y="654685"/>
                  </a:lnTo>
                  <a:lnTo>
                    <a:pt x="3492246" y="0"/>
                  </a:lnTo>
                  <a:close/>
                </a:path>
              </a:pathLst>
            </a:custGeom>
            <a:solidFill>
              <a:srgbClr val="FFFFFF"/>
            </a:solidFill>
          </p:spPr>
          <p:txBody>
            <a:bodyPr wrap="square" lIns="0" tIns="0" rIns="0" bIns="0" rtlCol="0"/>
            <a:lstStyle/>
            <a:p>
              <a:endParaRPr dirty="0"/>
            </a:p>
          </p:txBody>
        </p:sp>
      </p:grpSp>
      <p:sp>
        <p:nvSpPr>
          <p:cNvPr id="5" name="object 5">
            <a:extLst>
              <a:ext uri="{FF2B5EF4-FFF2-40B4-BE49-F238E27FC236}">
                <a16:creationId xmlns:a16="http://schemas.microsoft.com/office/drawing/2014/main" id="{12F15DB1-81D8-9E38-9AB3-67178FD70C21}"/>
              </a:ext>
            </a:extLst>
          </p:cNvPr>
          <p:cNvSpPr txBox="1"/>
          <p:nvPr/>
        </p:nvSpPr>
        <p:spPr>
          <a:xfrm>
            <a:off x="147015" y="4952"/>
            <a:ext cx="2067349" cy="235962"/>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FFFFFF"/>
                </a:solidFill>
                <a:latin typeface="Calibri"/>
                <a:cs typeface="Calibri"/>
              </a:rPr>
              <a:t>EQUITY</a:t>
            </a:r>
            <a:r>
              <a:rPr sz="1450" b="1" spc="-65" dirty="0">
                <a:solidFill>
                  <a:srgbClr val="FFFFFF"/>
                </a:solidFill>
                <a:latin typeface="Calibri"/>
                <a:cs typeface="Calibri"/>
              </a:rPr>
              <a:t> </a:t>
            </a:r>
            <a:r>
              <a:rPr sz="1450" b="1" dirty="0">
                <a:solidFill>
                  <a:srgbClr val="FFFFFF"/>
                </a:solidFill>
                <a:latin typeface="Calibri"/>
                <a:cs typeface="Calibri"/>
              </a:rPr>
              <a:t>RESEARCH</a:t>
            </a:r>
            <a:r>
              <a:rPr sz="1450" b="1" spc="-60" dirty="0">
                <a:solidFill>
                  <a:srgbClr val="FFFFFF"/>
                </a:solidFill>
                <a:latin typeface="Calibri"/>
                <a:cs typeface="Calibri"/>
              </a:rPr>
              <a:t> </a:t>
            </a:r>
            <a:r>
              <a:rPr sz="1450" b="1" spc="-10" dirty="0">
                <a:solidFill>
                  <a:srgbClr val="FFFFFF"/>
                </a:solidFill>
                <a:latin typeface="Calibri"/>
                <a:cs typeface="Calibri"/>
              </a:rPr>
              <a:t>REPORT</a:t>
            </a:r>
            <a:endParaRPr sz="1450">
              <a:latin typeface="Calibri"/>
              <a:cs typeface="Calibri"/>
            </a:endParaRPr>
          </a:p>
        </p:txBody>
      </p:sp>
      <p:sp>
        <p:nvSpPr>
          <p:cNvPr id="40" name="object 40">
            <a:extLst>
              <a:ext uri="{FF2B5EF4-FFF2-40B4-BE49-F238E27FC236}">
                <a16:creationId xmlns:a16="http://schemas.microsoft.com/office/drawing/2014/main" id="{D6397DAD-0665-2C1F-981F-5B2808E00A79}"/>
              </a:ext>
            </a:extLst>
          </p:cNvPr>
          <p:cNvSpPr txBox="1">
            <a:spLocks noGrp="1"/>
          </p:cNvSpPr>
          <p:nvPr>
            <p:ph type="title"/>
          </p:nvPr>
        </p:nvSpPr>
        <p:spPr>
          <a:xfrm>
            <a:off x="141831" y="295140"/>
            <a:ext cx="4240020" cy="289182"/>
          </a:xfrm>
          <a:prstGeom prst="rect">
            <a:avLst/>
          </a:prstGeom>
        </p:spPr>
        <p:txBody>
          <a:bodyPr vert="horz" wrap="square" lIns="0" tIns="12065" rIns="0" bIns="0" rtlCol="0">
            <a:spAutoFit/>
          </a:bodyPr>
          <a:lstStyle/>
          <a:p>
            <a:pPr marL="12700">
              <a:lnSpc>
                <a:spcPct val="100000"/>
              </a:lnSpc>
              <a:spcBef>
                <a:spcPts val="95"/>
              </a:spcBef>
            </a:pPr>
            <a:r>
              <a:rPr lang="en-GB" sz="1800" dirty="0"/>
              <a:t>Sun Pharmaceutical Industries Ltd.</a:t>
            </a:r>
            <a:endParaRPr sz="1800" dirty="0"/>
          </a:p>
        </p:txBody>
      </p:sp>
      <p:sp>
        <p:nvSpPr>
          <p:cNvPr id="41" name="object 41">
            <a:extLst>
              <a:ext uri="{FF2B5EF4-FFF2-40B4-BE49-F238E27FC236}">
                <a16:creationId xmlns:a16="http://schemas.microsoft.com/office/drawing/2014/main" id="{5091D0B2-66EA-4688-4A9D-2DA2D23AC1B8}"/>
              </a:ext>
            </a:extLst>
          </p:cNvPr>
          <p:cNvSpPr txBox="1"/>
          <p:nvPr/>
        </p:nvSpPr>
        <p:spPr>
          <a:xfrm>
            <a:off x="141831" y="526972"/>
            <a:ext cx="3189093"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D2841"/>
                </a:solidFill>
                <a:latin typeface="Calibri"/>
                <a:cs typeface="Calibri"/>
              </a:rPr>
              <a:t>NSE</a:t>
            </a:r>
            <a:r>
              <a:rPr sz="1200" b="1" spc="-20" dirty="0">
                <a:solidFill>
                  <a:srgbClr val="0D2841"/>
                </a:solidFill>
                <a:latin typeface="Calibri"/>
                <a:cs typeface="Calibri"/>
              </a:rPr>
              <a:t> </a:t>
            </a:r>
            <a:r>
              <a:rPr sz="1200" b="1" dirty="0">
                <a:solidFill>
                  <a:srgbClr val="0D2841"/>
                </a:solidFill>
                <a:latin typeface="Calibri"/>
                <a:cs typeface="Calibri"/>
              </a:rPr>
              <a:t>:</a:t>
            </a:r>
            <a:r>
              <a:rPr lang="en-US" sz="1200" b="1" spc="-15" dirty="0">
                <a:solidFill>
                  <a:srgbClr val="0D2841"/>
                </a:solidFill>
                <a:latin typeface="Calibri"/>
                <a:cs typeface="Calibri"/>
              </a:rPr>
              <a:t> </a:t>
            </a:r>
            <a:r>
              <a:rPr lang="en-GB" sz="1200" b="1" dirty="0">
                <a:latin typeface="+mj-lt"/>
              </a:rPr>
              <a:t>SUNPHARMA</a:t>
            </a:r>
            <a:r>
              <a:rPr sz="1200" b="1" spc="10" dirty="0">
                <a:solidFill>
                  <a:srgbClr val="0D2841"/>
                </a:solidFill>
                <a:latin typeface="Calibri"/>
                <a:cs typeface="Calibri"/>
              </a:rPr>
              <a:t> </a:t>
            </a:r>
            <a:r>
              <a:rPr sz="1200" b="1" dirty="0">
                <a:solidFill>
                  <a:srgbClr val="0D2841"/>
                </a:solidFill>
                <a:latin typeface="Calibri"/>
                <a:cs typeface="Calibri"/>
              </a:rPr>
              <a:t>|</a:t>
            </a:r>
            <a:r>
              <a:rPr sz="1200" b="1" spc="-15" dirty="0">
                <a:solidFill>
                  <a:srgbClr val="0D2841"/>
                </a:solidFill>
                <a:latin typeface="Calibri"/>
                <a:cs typeface="Calibri"/>
              </a:rPr>
              <a:t> </a:t>
            </a:r>
            <a:r>
              <a:rPr sz="1200" b="1" dirty="0">
                <a:solidFill>
                  <a:srgbClr val="0D2841"/>
                </a:solidFill>
                <a:latin typeface="Calibri"/>
                <a:cs typeface="Calibri"/>
              </a:rPr>
              <a:t>BSE Code:</a:t>
            </a:r>
            <a:r>
              <a:rPr sz="1200" b="1" spc="-5" dirty="0">
                <a:solidFill>
                  <a:srgbClr val="0D2841"/>
                </a:solidFill>
                <a:latin typeface="Calibri"/>
                <a:cs typeface="Calibri"/>
              </a:rPr>
              <a:t> </a:t>
            </a:r>
            <a:r>
              <a:rPr lang="en-GB" sz="1200" b="1" dirty="0">
                <a:latin typeface="+mj-lt"/>
              </a:rPr>
              <a:t>524715</a:t>
            </a:r>
          </a:p>
        </p:txBody>
      </p:sp>
      <p:sp>
        <p:nvSpPr>
          <p:cNvPr id="57" name="object 41">
            <a:extLst>
              <a:ext uri="{FF2B5EF4-FFF2-40B4-BE49-F238E27FC236}">
                <a16:creationId xmlns:a16="http://schemas.microsoft.com/office/drawing/2014/main" id="{1234AB9E-3177-00AA-8AC7-511CFB8197CE}"/>
              </a:ext>
            </a:extLst>
          </p:cNvPr>
          <p:cNvSpPr txBox="1"/>
          <p:nvPr/>
        </p:nvSpPr>
        <p:spPr>
          <a:xfrm>
            <a:off x="141831" y="686543"/>
            <a:ext cx="3189093" cy="197490"/>
          </a:xfrm>
          <a:prstGeom prst="rect">
            <a:avLst/>
          </a:prstGeom>
        </p:spPr>
        <p:txBody>
          <a:bodyPr vert="horz" wrap="square" lIns="0" tIns="12700" rIns="0" bIns="0" rtlCol="0">
            <a:spAutoFit/>
          </a:bodyPr>
          <a:lstStyle/>
          <a:p>
            <a:pPr marL="12700">
              <a:lnSpc>
                <a:spcPct val="100000"/>
              </a:lnSpc>
              <a:spcBef>
                <a:spcPts val="100"/>
              </a:spcBef>
            </a:pPr>
            <a:r>
              <a:rPr lang="en-GB" sz="1200" b="1" dirty="0">
                <a:latin typeface="Calibri "/>
              </a:rPr>
              <a:t>Pharmaceuticals &amp; Drugs</a:t>
            </a:r>
          </a:p>
        </p:txBody>
      </p:sp>
      <p:pic>
        <p:nvPicPr>
          <p:cNvPr id="59" name="Picture 58">
            <a:extLst>
              <a:ext uri="{FF2B5EF4-FFF2-40B4-BE49-F238E27FC236}">
                <a16:creationId xmlns:a16="http://schemas.microsoft.com/office/drawing/2014/main" id="{8BB45A75-4F1D-DFF9-9295-6EBB1B1D1B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04126" y="17283"/>
            <a:ext cx="1445251" cy="981377"/>
          </a:xfrm>
          <a:prstGeom prst="rect">
            <a:avLst/>
          </a:prstGeom>
        </p:spPr>
      </p:pic>
      <p:cxnSp>
        <p:nvCxnSpPr>
          <p:cNvPr id="61" name="Straight Connector 60">
            <a:extLst>
              <a:ext uri="{FF2B5EF4-FFF2-40B4-BE49-F238E27FC236}">
                <a16:creationId xmlns:a16="http://schemas.microsoft.com/office/drawing/2014/main" id="{EE45B5DE-CBAC-8A50-AE89-132AFC002763}"/>
              </a:ext>
            </a:extLst>
          </p:cNvPr>
          <p:cNvCxnSpPr>
            <a:cxnSpLocks/>
          </p:cNvCxnSpPr>
          <p:nvPr/>
        </p:nvCxnSpPr>
        <p:spPr>
          <a:xfrm>
            <a:off x="0" y="8859394"/>
            <a:ext cx="6811279" cy="0"/>
          </a:xfrm>
          <a:prstGeom prst="line">
            <a:avLst/>
          </a:prstGeom>
          <a:ln w="41275">
            <a:solidFill>
              <a:srgbClr val="E46C0A"/>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180DAAA6-8DF1-4FC9-FBD9-D44CF3169001}"/>
              </a:ext>
            </a:extLst>
          </p:cNvPr>
          <p:cNvSpPr txBox="1"/>
          <p:nvPr/>
        </p:nvSpPr>
        <p:spPr>
          <a:xfrm>
            <a:off x="6553200" y="8810227"/>
            <a:ext cx="662511" cy="369332"/>
          </a:xfrm>
          <a:prstGeom prst="rect">
            <a:avLst/>
          </a:prstGeom>
          <a:noFill/>
        </p:spPr>
        <p:txBody>
          <a:bodyPr wrap="square" rtlCol="0">
            <a:spAutoFit/>
          </a:bodyPr>
          <a:lstStyle/>
          <a:p>
            <a:r>
              <a:rPr lang="en-US" b="1" dirty="0">
                <a:solidFill>
                  <a:srgbClr val="E46C0A"/>
                </a:solidFill>
              </a:rPr>
              <a:t>1</a:t>
            </a:r>
            <a:endParaRPr lang="en-GB" b="1" dirty="0">
              <a:solidFill>
                <a:srgbClr val="E46C0A"/>
              </a:solidFill>
            </a:endParaRPr>
          </a:p>
        </p:txBody>
      </p:sp>
      <p:cxnSp>
        <p:nvCxnSpPr>
          <p:cNvPr id="69" name="Straight Connector 68">
            <a:extLst>
              <a:ext uri="{FF2B5EF4-FFF2-40B4-BE49-F238E27FC236}">
                <a16:creationId xmlns:a16="http://schemas.microsoft.com/office/drawing/2014/main" id="{188BDBC4-198F-BD87-3580-DD07B9D38FF0}"/>
              </a:ext>
            </a:extLst>
          </p:cNvPr>
          <p:cNvCxnSpPr>
            <a:cxnSpLocks/>
          </p:cNvCxnSpPr>
          <p:nvPr/>
        </p:nvCxnSpPr>
        <p:spPr>
          <a:xfrm>
            <a:off x="-6287" y="970912"/>
            <a:ext cx="6811279" cy="4353"/>
          </a:xfrm>
          <a:prstGeom prst="line">
            <a:avLst/>
          </a:prstGeom>
          <a:ln>
            <a:solidFill>
              <a:srgbClr val="E46C0A"/>
            </a:soli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7F56CFB9-1AB0-20E5-1E0F-DF7F695D0CF0}"/>
              </a:ext>
            </a:extLst>
          </p:cNvPr>
          <p:cNvSpPr/>
          <p:nvPr/>
        </p:nvSpPr>
        <p:spPr>
          <a:xfrm>
            <a:off x="152793" y="1377957"/>
            <a:ext cx="2990003" cy="3002145"/>
          </a:xfrm>
          <a:prstGeom prst="rect">
            <a:avLst/>
          </a:prstGeom>
          <a:solidFill>
            <a:srgbClr val="FCD6B6"/>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71" name="object 28">
            <a:extLst>
              <a:ext uri="{FF2B5EF4-FFF2-40B4-BE49-F238E27FC236}">
                <a16:creationId xmlns:a16="http://schemas.microsoft.com/office/drawing/2014/main" id="{89CF3727-2465-BA8C-6492-188E7174E986}"/>
              </a:ext>
            </a:extLst>
          </p:cNvPr>
          <p:cNvGrpSpPr/>
          <p:nvPr/>
        </p:nvGrpSpPr>
        <p:grpSpPr>
          <a:xfrm>
            <a:off x="723353" y="1224973"/>
            <a:ext cx="1818863" cy="335729"/>
            <a:chOff x="723353" y="1799996"/>
            <a:chExt cx="1831339" cy="300990"/>
          </a:xfrm>
          <a:solidFill>
            <a:schemeClr val="accent6">
              <a:lumMod val="75000"/>
            </a:schemeClr>
          </a:solidFill>
        </p:grpSpPr>
        <p:sp>
          <p:nvSpPr>
            <p:cNvPr id="72" name="object 29">
              <a:extLst>
                <a:ext uri="{FF2B5EF4-FFF2-40B4-BE49-F238E27FC236}">
                  <a16:creationId xmlns:a16="http://schemas.microsoft.com/office/drawing/2014/main" id="{1CD91128-8266-471C-3CE8-317BDF1967B0}"/>
                </a:ext>
              </a:extLst>
            </p:cNvPr>
            <p:cNvSpPr/>
            <p:nvPr/>
          </p:nvSpPr>
          <p:spPr>
            <a:xfrm>
              <a:off x="732878" y="1809521"/>
              <a:ext cx="1812289" cy="281940"/>
            </a:xfrm>
            <a:custGeom>
              <a:avLst/>
              <a:gdLst/>
              <a:ahLst/>
              <a:cxnLst/>
              <a:rect l="l" t="t" r="r" b="b"/>
              <a:pathLst>
                <a:path w="1812289" h="281939">
                  <a:moveTo>
                    <a:pt x="1811908" y="0"/>
                  </a:moveTo>
                  <a:lnTo>
                    <a:pt x="0" y="0"/>
                  </a:lnTo>
                  <a:lnTo>
                    <a:pt x="0" y="281406"/>
                  </a:lnTo>
                  <a:lnTo>
                    <a:pt x="1811908" y="281406"/>
                  </a:lnTo>
                  <a:lnTo>
                    <a:pt x="1811908" y="0"/>
                  </a:lnTo>
                  <a:close/>
                </a:path>
              </a:pathLst>
            </a:custGeom>
            <a:grpFill/>
          </p:spPr>
          <p:txBody>
            <a:bodyPr wrap="square" lIns="0" tIns="0" rIns="0" bIns="0" rtlCol="0"/>
            <a:lstStyle/>
            <a:p>
              <a:endParaRPr/>
            </a:p>
          </p:txBody>
        </p:sp>
        <p:sp>
          <p:nvSpPr>
            <p:cNvPr id="73" name="object 30">
              <a:extLst>
                <a:ext uri="{FF2B5EF4-FFF2-40B4-BE49-F238E27FC236}">
                  <a16:creationId xmlns:a16="http://schemas.microsoft.com/office/drawing/2014/main" id="{8C7C97AA-7020-EA99-2390-317E6D6D8DC3}"/>
                </a:ext>
              </a:extLst>
            </p:cNvPr>
            <p:cNvSpPr/>
            <p:nvPr/>
          </p:nvSpPr>
          <p:spPr>
            <a:xfrm>
              <a:off x="732878" y="1809521"/>
              <a:ext cx="1812289" cy="281940"/>
            </a:xfrm>
            <a:custGeom>
              <a:avLst/>
              <a:gdLst/>
              <a:ahLst/>
              <a:cxnLst/>
              <a:rect l="l" t="t" r="r" b="b"/>
              <a:pathLst>
                <a:path w="1812289" h="281939">
                  <a:moveTo>
                    <a:pt x="0" y="281406"/>
                  </a:moveTo>
                  <a:lnTo>
                    <a:pt x="1811908" y="281406"/>
                  </a:lnTo>
                  <a:lnTo>
                    <a:pt x="1811908" y="0"/>
                  </a:lnTo>
                  <a:lnTo>
                    <a:pt x="0" y="0"/>
                  </a:lnTo>
                  <a:lnTo>
                    <a:pt x="0" y="281406"/>
                  </a:lnTo>
                  <a:close/>
                </a:path>
              </a:pathLst>
            </a:custGeom>
            <a:grpFill/>
            <a:ln w="19050">
              <a:solidFill>
                <a:srgbClr val="001F5F"/>
              </a:solidFill>
            </a:ln>
          </p:spPr>
          <p:txBody>
            <a:bodyPr wrap="square" lIns="0" tIns="0" rIns="0" bIns="0" rtlCol="0"/>
            <a:lstStyle/>
            <a:p>
              <a:endParaRPr/>
            </a:p>
          </p:txBody>
        </p:sp>
      </p:grpSp>
      <p:sp>
        <p:nvSpPr>
          <p:cNvPr id="74" name="object 31">
            <a:extLst>
              <a:ext uri="{FF2B5EF4-FFF2-40B4-BE49-F238E27FC236}">
                <a16:creationId xmlns:a16="http://schemas.microsoft.com/office/drawing/2014/main" id="{E40B6112-3B5F-1BFC-3E07-2BB68BD94589}"/>
              </a:ext>
            </a:extLst>
          </p:cNvPr>
          <p:cNvSpPr txBox="1"/>
          <p:nvPr/>
        </p:nvSpPr>
        <p:spPr>
          <a:xfrm>
            <a:off x="1095916" y="1219200"/>
            <a:ext cx="1368146" cy="289182"/>
          </a:xfrm>
          <a:prstGeom prst="rect">
            <a:avLst/>
          </a:prstGeom>
        </p:spPr>
        <p:txBody>
          <a:bodyPr vert="horz" wrap="square" lIns="0" tIns="12065" rIns="0" bIns="0" rtlCol="0">
            <a:spAutoFit/>
          </a:bodyPr>
          <a:lstStyle/>
          <a:p>
            <a:pPr marL="12700">
              <a:lnSpc>
                <a:spcPct val="100000"/>
              </a:lnSpc>
              <a:spcBef>
                <a:spcPts val="95"/>
              </a:spcBef>
            </a:pPr>
            <a:r>
              <a:rPr b="1" spc="-10" dirty="0">
                <a:solidFill>
                  <a:srgbClr val="FFFFFF"/>
                </a:solidFill>
                <a:latin typeface="Calibri"/>
                <a:cs typeface="Calibri"/>
              </a:rPr>
              <a:t>STRENGTHS</a:t>
            </a:r>
            <a:endParaRPr dirty="0">
              <a:latin typeface="Calibri"/>
              <a:cs typeface="Calibri"/>
            </a:endParaRPr>
          </a:p>
        </p:txBody>
      </p:sp>
      <p:grpSp>
        <p:nvGrpSpPr>
          <p:cNvPr id="75" name="object 32">
            <a:extLst>
              <a:ext uri="{FF2B5EF4-FFF2-40B4-BE49-F238E27FC236}">
                <a16:creationId xmlns:a16="http://schemas.microsoft.com/office/drawing/2014/main" id="{3566D509-1760-4547-9127-2CD9688CC715}"/>
              </a:ext>
            </a:extLst>
          </p:cNvPr>
          <p:cNvGrpSpPr/>
          <p:nvPr/>
        </p:nvGrpSpPr>
        <p:grpSpPr>
          <a:xfrm>
            <a:off x="750969" y="8274871"/>
            <a:ext cx="1818863" cy="335729"/>
            <a:chOff x="723353" y="7724267"/>
            <a:chExt cx="1831339" cy="300990"/>
          </a:xfrm>
          <a:solidFill>
            <a:schemeClr val="accent6">
              <a:lumMod val="75000"/>
            </a:schemeClr>
          </a:solidFill>
        </p:grpSpPr>
        <p:sp>
          <p:nvSpPr>
            <p:cNvPr id="76" name="object 33">
              <a:extLst>
                <a:ext uri="{FF2B5EF4-FFF2-40B4-BE49-F238E27FC236}">
                  <a16:creationId xmlns:a16="http://schemas.microsoft.com/office/drawing/2014/main" id="{11E4A28D-F7DD-80D0-8EDF-8F522D0DBBFC}"/>
                </a:ext>
              </a:extLst>
            </p:cNvPr>
            <p:cNvSpPr/>
            <p:nvPr/>
          </p:nvSpPr>
          <p:spPr>
            <a:xfrm>
              <a:off x="732878" y="7733792"/>
              <a:ext cx="1812289" cy="281940"/>
            </a:xfrm>
            <a:custGeom>
              <a:avLst/>
              <a:gdLst/>
              <a:ahLst/>
              <a:cxnLst/>
              <a:rect l="l" t="t" r="r" b="b"/>
              <a:pathLst>
                <a:path w="1812289" h="281940">
                  <a:moveTo>
                    <a:pt x="1811908" y="0"/>
                  </a:moveTo>
                  <a:lnTo>
                    <a:pt x="0" y="0"/>
                  </a:lnTo>
                  <a:lnTo>
                    <a:pt x="0" y="281406"/>
                  </a:lnTo>
                  <a:lnTo>
                    <a:pt x="1811908" y="281406"/>
                  </a:lnTo>
                  <a:lnTo>
                    <a:pt x="1811908" y="0"/>
                  </a:lnTo>
                  <a:close/>
                </a:path>
              </a:pathLst>
            </a:custGeom>
            <a:grpFill/>
          </p:spPr>
          <p:txBody>
            <a:bodyPr wrap="square" lIns="0" tIns="0" rIns="0" bIns="0" rtlCol="0"/>
            <a:lstStyle/>
            <a:p>
              <a:endParaRPr/>
            </a:p>
          </p:txBody>
        </p:sp>
        <p:sp>
          <p:nvSpPr>
            <p:cNvPr id="77" name="object 34">
              <a:extLst>
                <a:ext uri="{FF2B5EF4-FFF2-40B4-BE49-F238E27FC236}">
                  <a16:creationId xmlns:a16="http://schemas.microsoft.com/office/drawing/2014/main" id="{9FC6F1C7-C98F-2BBC-F5C8-54CFC424E126}"/>
                </a:ext>
              </a:extLst>
            </p:cNvPr>
            <p:cNvSpPr/>
            <p:nvPr/>
          </p:nvSpPr>
          <p:spPr>
            <a:xfrm>
              <a:off x="732878" y="7733792"/>
              <a:ext cx="1812289" cy="281940"/>
            </a:xfrm>
            <a:custGeom>
              <a:avLst/>
              <a:gdLst/>
              <a:ahLst/>
              <a:cxnLst/>
              <a:rect l="l" t="t" r="r" b="b"/>
              <a:pathLst>
                <a:path w="1812289" h="281940">
                  <a:moveTo>
                    <a:pt x="0" y="281406"/>
                  </a:moveTo>
                  <a:lnTo>
                    <a:pt x="1811908" y="281406"/>
                  </a:lnTo>
                  <a:lnTo>
                    <a:pt x="1811908" y="0"/>
                  </a:lnTo>
                  <a:lnTo>
                    <a:pt x="0" y="0"/>
                  </a:lnTo>
                  <a:lnTo>
                    <a:pt x="0" y="281406"/>
                  </a:lnTo>
                  <a:close/>
                </a:path>
              </a:pathLst>
            </a:custGeom>
            <a:grpFill/>
            <a:ln w="19050">
              <a:solidFill>
                <a:srgbClr val="001F5F"/>
              </a:solidFill>
            </a:ln>
          </p:spPr>
          <p:txBody>
            <a:bodyPr wrap="square" lIns="0" tIns="0" rIns="0" bIns="0" rtlCol="0"/>
            <a:lstStyle/>
            <a:p>
              <a:endParaRPr/>
            </a:p>
          </p:txBody>
        </p:sp>
      </p:grpSp>
      <p:sp>
        <p:nvSpPr>
          <p:cNvPr id="78" name="object 35">
            <a:extLst>
              <a:ext uri="{FF2B5EF4-FFF2-40B4-BE49-F238E27FC236}">
                <a16:creationId xmlns:a16="http://schemas.microsoft.com/office/drawing/2014/main" id="{BE90992E-4FFF-ACC2-B226-091911B73EEF}"/>
              </a:ext>
            </a:extLst>
          </p:cNvPr>
          <p:cNvSpPr txBox="1"/>
          <p:nvPr/>
        </p:nvSpPr>
        <p:spPr>
          <a:xfrm>
            <a:off x="919981" y="8306223"/>
            <a:ext cx="1799943" cy="289182"/>
          </a:xfrm>
          <a:prstGeom prst="rect">
            <a:avLst/>
          </a:prstGeom>
        </p:spPr>
        <p:txBody>
          <a:bodyPr vert="horz" wrap="square" lIns="0" tIns="12065" rIns="0" bIns="0" rtlCol="0">
            <a:spAutoFit/>
          </a:bodyPr>
          <a:lstStyle/>
          <a:p>
            <a:pPr marL="12700">
              <a:lnSpc>
                <a:spcPct val="100000"/>
              </a:lnSpc>
              <a:spcBef>
                <a:spcPts val="95"/>
              </a:spcBef>
            </a:pPr>
            <a:r>
              <a:rPr b="1" spc="-10" dirty="0">
                <a:solidFill>
                  <a:srgbClr val="FFFFFF"/>
                </a:solidFill>
                <a:latin typeface="Calibri"/>
                <a:cs typeface="Calibri"/>
              </a:rPr>
              <a:t>OPPORTUNITIES</a:t>
            </a:r>
            <a:endParaRPr dirty="0">
              <a:latin typeface="Calibri"/>
              <a:cs typeface="Calibri"/>
            </a:endParaRPr>
          </a:p>
        </p:txBody>
      </p:sp>
      <p:grpSp>
        <p:nvGrpSpPr>
          <p:cNvPr id="79" name="object 36">
            <a:extLst>
              <a:ext uri="{FF2B5EF4-FFF2-40B4-BE49-F238E27FC236}">
                <a16:creationId xmlns:a16="http://schemas.microsoft.com/office/drawing/2014/main" id="{180CE26A-F48B-368C-D02E-BFF86FDE0409}"/>
              </a:ext>
            </a:extLst>
          </p:cNvPr>
          <p:cNvGrpSpPr/>
          <p:nvPr/>
        </p:nvGrpSpPr>
        <p:grpSpPr>
          <a:xfrm>
            <a:off x="4294742" y="8229600"/>
            <a:ext cx="1799943" cy="314480"/>
            <a:chOff x="4215384" y="7736217"/>
            <a:chExt cx="1812289" cy="281940"/>
          </a:xfrm>
        </p:grpSpPr>
        <p:sp>
          <p:nvSpPr>
            <p:cNvPr id="80" name="object 37">
              <a:extLst>
                <a:ext uri="{FF2B5EF4-FFF2-40B4-BE49-F238E27FC236}">
                  <a16:creationId xmlns:a16="http://schemas.microsoft.com/office/drawing/2014/main" id="{3F481F50-5603-87CF-15FC-7084E18E3DC7}"/>
                </a:ext>
              </a:extLst>
            </p:cNvPr>
            <p:cNvSpPr/>
            <p:nvPr/>
          </p:nvSpPr>
          <p:spPr>
            <a:xfrm>
              <a:off x="4215384" y="7736217"/>
              <a:ext cx="1812289" cy="278963"/>
            </a:xfrm>
            <a:custGeom>
              <a:avLst/>
              <a:gdLst/>
              <a:ahLst/>
              <a:cxnLst/>
              <a:rect l="l" t="t" r="r" b="b"/>
              <a:pathLst>
                <a:path w="1812289" h="281940">
                  <a:moveTo>
                    <a:pt x="1811909" y="0"/>
                  </a:moveTo>
                  <a:lnTo>
                    <a:pt x="0" y="0"/>
                  </a:lnTo>
                  <a:lnTo>
                    <a:pt x="0" y="281406"/>
                  </a:lnTo>
                  <a:lnTo>
                    <a:pt x="1811909" y="281406"/>
                  </a:lnTo>
                  <a:lnTo>
                    <a:pt x="1811909" y="0"/>
                  </a:lnTo>
                  <a:close/>
                </a:path>
              </a:pathLst>
            </a:custGeom>
            <a:solidFill>
              <a:schemeClr val="accent6">
                <a:lumMod val="75000"/>
              </a:schemeClr>
            </a:solidFill>
          </p:spPr>
          <p:txBody>
            <a:bodyPr wrap="square" lIns="0" tIns="0" rIns="0" bIns="0" rtlCol="0"/>
            <a:lstStyle/>
            <a:p>
              <a:endParaRPr dirty="0"/>
            </a:p>
          </p:txBody>
        </p:sp>
        <p:sp>
          <p:nvSpPr>
            <p:cNvPr id="81" name="object 38">
              <a:extLst>
                <a:ext uri="{FF2B5EF4-FFF2-40B4-BE49-F238E27FC236}">
                  <a16:creationId xmlns:a16="http://schemas.microsoft.com/office/drawing/2014/main" id="{EB416190-1185-CDE8-5CB6-0C326F613298}"/>
                </a:ext>
              </a:extLst>
            </p:cNvPr>
            <p:cNvSpPr/>
            <p:nvPr/>
          </p:nvSpPr>
          <p:spPr>
            <a:xfrm>
              <a:off x="4215384" y="7736217"/>
              <a:ext cx="1812289" cy="281940"/>
            </a:xfrm>
            <a:custGeom>
              <a:avLst/>
              <a:gdLst/>
              <a:ahLst/>
              <a:cxnLst/>
              <a:rect l="l" t="t" r="r" b="b"/>
              <a:pathLst>
                <a:path w="1812289" h="281940">
                  <a:moveTo>
                    <a:pt x="0" y="281406"/>
                  </a:moveTo>
                  <a:lnTo>
                    <a:pt x="1811909" y="281406"/>
                  </a:lnTo>
                  <a:lnTo>
                    <a:pt x="1811909" y="0"/>
                  </a:lnTo>
                  <a:lnTo>
                    <a:pt x="0" y="0"/>
                  </a:lnTo>
                  <a:lnTo>
                    <a:pt x="0" y="281406"/>
                  </a:lnTo>
                  <a:close/>
                </a:path>
              </a:pathLst>
            </a:custGeom>
            <a:ln w="19050">
              <a:solidFill>
                <a:srgbClr val="001F5F"/>
              </a:solidFill>
            </a:ln>
          </p:spPr>
          <p:txBody>
            <a:bodyPr wrap="square" lIns="0" tIns="0" rIns="0" bIns="0" rtlCol="0"/>
            <a:lstStyle/>
            <a:p>
              <a:endParaRPr/>
            </a:p>
          </p:txBody>
        </p:sp>
      </p:grpSp>
      <p:sp>
        <p:nvSpPr>
          <p:cNvPr id="82" name="object 39">
            <a:extLst>
              <a:ext uri="{FF2B5EF4-FFF2-40B4-BE49-F238E27FC236}">
                <a16:creationId xmlns:a16="http://schemas.microsoft.com/office/drawing/2014/main" id="{59014708-5F1B-FC5C-82E5-148D180C9F62}"/>
              </a:ext>
            </a:extLst>
          </p:cNvPr>
          <p:cNvSpPr txBox="1"/>
          <p:nvPr/>
        </p:nvSpPr>
        <p:spPr>
          <a:xfrm>
            <a:off x="4774787" y="8235254"/>
            <a:ext cx="929205" cy="289182"/>
          </a:xfrm>
          <a:prstGeom prst="rect">
            <a:avLst/>
          </a:prstGeom>
        </p:spPr>
        <p:txBody>
          <a:bodyPr vert="horz" wrap="square" lIns="0" tIns="12065" rIns="0" bIns="0" rtlCol="0">
            <a:spAutoFit/>
          </a:bodyPr>
          <a:lstStyle/>
          <a:p>
            <a:pPr marL="12700">
              <a:lnSpc>
                <a:spcPct val="100000"/>
              </a:lnSpc>
              <a:spcBef>
                <a:spcPts val="95"/>
              </a:spcBef>
            </a:pPr>
            <a:r>
              <a:rPr b="1" spc="-20" dirty="0">
                <a:solidFill>
                  <a:srgbClr val="FFFFFF"/>
                </a:solidFill>
                <a:latin typeface="Calibri"/>
                <a:cs typeface="Calibri"/>
              </a:rPr>
              <a:t>THREATS</a:t>
            </a:r>
            <a:endParaRPr dirty="0">
              <a:latin typeface="Calibri"/>
              <a:cs typeface="Calibri"/>
            </a:endParaRPr>
          </a:p>
        </p:txBody>
      </p:sp>
      <p:sp>
        <p:nvSpPr>
          <p:cNvPr id="84" name="object 48">
            <a:extLst>
              <a:ext uri="{FF2B5EF4-FFF2-40B4-BE49-F238E27FC236}">
                <a16:creationId xmlns:a16="http://schemas.microsoft.com/office/drawing/2014/main" id="{4AF73AFC-7984-5A57-061D-EC46324F07DB}"/>
              </a:ext>
            </a:extLst>
          </p:cNvPr>
          <p:cNvSpPr txBox="1"/>
          <p:nvPr/>
        </p:nvSpPr>
        <p:spPr>
          <a:xfrm>
            <a:off x="224795" y="2972127"/>
            <a:ext cx="3110388" cy="1331775"/>
          </a:xfrm>
          <a:prstGeom prst="rect">
            <a:avLst/>
          </a:prstGeom>
        </p:spPr>
        <p:txBody>
          <a:bodyPr vert="horz" wrap="square" lIns="0" tIns="13335" rIns="0" bIns="0" rtlCol="0">
            <a:spAutoFit/>
          </a:bodyPr>
          <a:lstStyle/>
          <a:p>
            <a:pPr marL="12700">
              <a:spcBef>
                <a:spcPts val="105"/>
              </a:spcBef>
              <a:tabLst>
                <a:tab pos="182245" algn="l"/>
              </a:tabLst>
            </a:pPr>
            <a:r>
              <a:rPr lang="en-GB" sz="1200" b="1" dirty="0">
                <a:latin typeface="+mn-lt"/>
              </a:rPr>
              <a:t>ROBUST R&amp;D CAPABLITY AND INNOVATION</a:t>
            </a:r>
          </a:p>
          <a:p>
            <a:pPr marL="12700">
              <a:lnSpc>
                <a:spcPct val="100000"/>
              </a:lnSpc>
              <a:spcBef>
                <a:spcPts val="105"/>
              </a:spcBef>
              <a:tabLst>
                <a:tab pos="182245" algn="l"/>
              </a:tabLst>
            </a:pPr>
            <a:r>
              <a:rPr lang="en-GB" sz="1100" dirty="0">
                <a:latin typeface="+mn-lt"/>
              </a:rPr>
              <a:t> </a:t>
            </a:r>
            <a:r>
              <a:rPr lang="en-GB" sz="1200" dirty="0">
                <a:latin typeface="+mn-lt"/>
              </a:rPr>
              <a:t>Backed by over 3,000 global scientists, Sun Pharma consistently invests 6% to 8% of its annual revenues into R&amp;D to develop complex generics, expand its specialty pipeline, and successfully challenge </a:t>
            </a:r>
          </a:p>
          <a:p>
            <a:pPr marL="12700">
              <a:lnSpc>
                <a:spcPct val="100000"/>
              </a:lnSpc>
              <a:spcBef>
                <a:spcPts val="105"/>
              </a:spcBef>
              <a:tabLst>
                <a:tab pos="182245" algn="l"/>
              </a:tabLst>
            </a:pPr>
            <a:r>
              <a:rPr lang="en-GB" sz="1200" dirty="0">
                <a:latin typeface="+mn-lt"/>
              </a:rPr>
              <a:t>global patents.</a:t>
            </a:r>
            <a:endParaRPr sz="1200" dirty="0">
              <a:latin typeface="+mn-lt"/>
              <a:cs typeface="Calibri"/>
            </a:endParaRPr>
          </a:p>
        </p:txBody>
      </p:sp>
      <p:sp>
        <p:nvSpPr>
          <p:cNvPr id="86" name="object 48">
            <a:extLst>
              <a:ext uri="{FF2B5EF4-FFF2-40B4-BE49-F238E27FC236}">
                <a16:creationId xmlns:a16="http://schemas.microsoft.com/office/drawing/2014/main" id="{BFF67EFD-30A3-1568-D626-C8CF321FEEAA}"/>
              </a:ext>
            </a:extLst>
          </p:cNvPr>
          <p:cNvSpPr txBox="1"/>
          <p:nvPr/>
        </p:nvSpPr>
        <p:spPr>
          <a:xfrm>
            <a:off x="253404" y="1636902"/>
            <a:ext cx="2762253" cy="1318951"/>
          </a:xfrm>
          <a:prstGeom prst="rect">
            <a:avLst/>
          </a:prstGeom>
        </p:spPr>
        <p:txBody>
          <a:bodyPr vert="horz" wrap="square" lIns="0" tIns="13335" rIns="0" bIns="0" rtlCol="0">
            <a:spAutoFit/>
          </a:bodyPr>
          <a:lstStyle/>
          <a:p>
            <a:pPr marL="12700">
              <a:lnSpc>
                <a:spcPct val="100000"/>
              </a:lnSpc>
              <a:spcBef>
                <a:spcPts val="105"/>
              </a:spcBef>
              <a:tabLst>
                <a:tab pos="182245" algn="l"/>
              </a:tabLst>
            </a:pPr>
            <a:r>
              <a:rPr lang="en-GB" sz="1200" b="1" dirty="0">
                <a:latin typeface="+mn-lt"/>
              </a:rPr>
              <a:t>STRONG FINANCIAL POSITION FOR INORGANIC GROWTH</a:t>
            </a:r>
            <a:endParaRPr lang="en-GB" sz="1200" dirty="0">
              <a:latin typeface="+mn-lt"/>
            </a:endParaRPr>
          </a:p>
          <a:p>
            <a:pPr marL="12700" algn="just">
              <a:lnSpc>
                <a:spcPct val="100000"/>
              </a:lnSpc>
              <a:spcBef>
                <a:spcPts val="105"/>
              </a:spcBef>
              <a:tabLst>
                <a:tab pos="182245" algn="l"/>
              </a:tabLst>
            </a:pPr>
            <a:r>
              <a:rPr lang="en-GB" sz="1200" dirty="0">
                <a:latin typeface="+mn-lt"/>
              </a:rPr>
              <a:t>A highly resilient balance sheet with strong cash reserves empowers Sun Pharma to pursue strategic, value-accretive M&amp;A and in-licensing opportunities without taking on significant debt.</a:t>
            </a:r>
            <a:endParaRPr sz="1200" dirty="0">
              <a:latin typeface="+mn-lt"/>
              <a:cs typeface="Calibri"/>
            </a:endParaRPr>
          </a:p>
        </p:txBody>
      </p:sp>
      <p:sp>
        <p:nvSpPr>
          <p:cNvPr id="88" name="object 48">
            <a:extLst>
              <a:ext uri="{FF2B5EF4-FFF2-40B4-BE49-F238E27FC236}">
                <a16:creationId xmlns:a16="http://schemas.microsoft.com/office/drawing/2014/main" id="{0E43D6F0-366E-3E08-3FF5-D988D3992393}"/>
              </a:ext>
            </a:extLst>
          </p:cNvPr>
          <p:cNvSpPr txBox="1"/>
          <p:nvPr/>
        </p:nvSpPr>
        <p:spPr>
          <a:xfrm>
            <a:off x="3810000" y="2025546"/>
            <a:ext cx="2895207" cy="1029128"/>
          </a:xfrm>
          <a:prstGeom prst="rect">
            <a:avLst/>
          </a:prstGeom>
        </p:spPr>
        <p:txBody>
          <a:bodyPr vert="horz" wrap="square" lIns="0" tIns="13335" rIns="0" bIns="0" rtlCol="0">
            <a:spAutoFit/>
          </a:bodyPr>
          <a:lstStyle/>
          <a:p>
            <a:pPr marL="12700">
              <a:lnSpc>
                <a:spcPct val="100000"/>
              </a:lnSpc>
              <a:spcBef>
                <a:spcPts val="105"/>
              </a:spcBef>
              <a:tabLst>
                <a:tab pos="182245" algn="l"/>
              </a:tabLst>
            </a:pPr>
            <a:r>
              <a:rPr lang="en-GB" sz="1100" dirty="0">
                <a:latin typeface="+mn-lt"/>
              </a:rPr>
              <a:t>Building a global specialty pipeline requires massive upfront capital. The strategic increase in Specialty R&amp;D spending (reaching </a:t>
            </a:r>
            <a:r>
              <a:rPr lang="en-GB" sz="1100" b="1" dirty="0">
                <a:latin typeface="+mn-lt"/>
              </a:rPr>
              <a:t>US$ 148 million</a:t>
            </a:r>
            <a:r>
              <a:rPr lang="en-GB" sz="1100" dirty="0">
                <a:latin typeface="+mn-lt"/>
              </a:rPr>
              <a:t> in FY24) actively pressures profit margins as the company waits for these long-term clinical trials and market access teams to yield returns.</a:t>
            </a:r>
            <a:endParaRPr sz="1100" dirty="0">
              <a:latin typeface="+mn-lt"/>
              <a:cs typeface="Calibri"/>
            </a:endParaRPr>
          </a:p>
        </p:txBody>
      </p:sp>
      <p:sp>
        <p:nvSpPr>
          <p:cNvPr id="90" name="TextBox 89">
            <a:extLst>
              <a:ext uri="{FF2B5EF4-FFF2-40B4-BE49-F238E27FC236}">
                <a16:creationId xmlns:a16="http://schemas.microsoft.com/office/drawing/2014/main" id="{E544859B-08E4-95C8-BFBE-8BC5B9F56909}"/>
              </a:ext>
            </a:extLst>
          </p:cNvPr>
          <p:cNvSpPr txBox="1"/>
          <p:nvPr/>
        </p:nvSpPr>
        <p:spPr>
          <a:xfrm>
            <a:off x="3742657" y="1647358"/>
            <a:ext cx="3115343" cy="461665"/>
          </a:xfrm>
          <a:prstGeom prst="rect">
            <a:avLst/>
          </a:prstGeom>
          <a:noFill/>
        </p:spPr>
        <p:txBody>
          <a:bodyPr wrap="square">
            <a:spAutoFit/>
          </a:bodyPr>
          <a:lstStyle/>
          <a:p>
            <a:pPr>
              <a:spcBef>
                <a:spcPts val="105"/>
              </a:spcBef>
              <a:tabLst>
                <a:tab pos="182245" algn="l"/>
              </a:tabLst>
            </a:pPr>
            <a:r>
              <a:rPr lang="en-GB" sz="1200" b="1" dirty="0">
                <a:latin typeface="+mn-lt"/>
              </a:rPr>
              <a:t>SHORT-TERM PROFITABILITY PRESSURES FROM SPECIALTY</a:t>
            </a:r>
          </a:p>
        </p:txBody>
      </p:sp>
      <p:sp>
        <p:nvSpPr>
          <p:cNvPr id="98" name="TextBox 97">
            <a:extLst>
              <a:ext uri="{FF2B5EF4-FFF2-40B4-BE49-F238E27FC236}">
                <a16:creationId xmlns:a16="http://schemas.microsoft.com/office/drawing/2014/main" id="{23E3C846-4126-AA6A-0A94-4C6D82236D90}"/>
              </a:ext>
            </a:extLst>
          </p:cNvPr>
          <p:cNvSpPr txBox="1"/>
          <p:nvPr/>
        </p:nvSpPr>
        <p:spPr>
          <a:xfrm>
            <a:off x="4187377" y="4289366"/>
            <a:ext cx="2766390" cy="276999"/>
          </a:xfrm>
          <a:prstGeom prst="rect">
            <a:avLst/>
          </a:prstGeom>
          <a:noFill/>
        </p:spPr>
        <p:txBody>
          <a:bodyPr wrap="square">
            <a:spAutoFit/>
          </a:bodyPr>
          <a:lstStyle/>
          <a:p>
            <a:pPr marL="12700">
              <a:lnSpc>
                <a:spcPct val="100000"/>
              </a:lnSpc>
              <a:spcBef>
                <a:spcPts val="105"/>
              </a:spcBef>
              <a:tabLst>
                <a:tab pos="182245" algn="l"/>
              </a:tabLst>
            </a:pPr>
            <a:endParaRPr lang="en-GB" sz="1200" dirty="0">
              <a:latin typeface="Calibri"/>
              <a:cs typeface="Calibri"/>
            </a:endParaRPr>
          </a:p>
        </p:txBody>
      </p:sp>
      <p:sp>
        <p:nvSpPr>
          <p:cNvPr id="100" name="object 48">
            <a:extLst>
              <a:ext uri="{FF2B5EF4-FFF2-40B4-BE49-F238E27FC236}">
                <a16:creationId xmlns:a16="http://schemas.microsoft.com/office/drawing/2014/main" id="{85B9F0D5-DC96-D7A3-6DA9-165E666782E2}"/>
              </a:ext>
            </a:extLst>
          </p:cNvPr>
          <p:cNvSpPr txBox="1"/>
          <p:nvPr/>
        </p:nvSpPr>
        <p:spPr>
          <a:xfrm>
            <a:off x="225558" y="5504942"/>
            <a:ext cx="3051042" cy="1211229"/>
          </a:xfrm>
          <a:prstGeom prst="rect">
            <a:avLst/>
          </a:prstGeom>
        </p:spPr>
        <p:txBody>
          <a:bodyPr vert="horz" wrap="square" lIns="0" tIns="13335" rIns="0" bIns="0" rtlCol="0">
            <a:spAutoFit/>
          </a:bodyPr>
          <a:lstStyle/>
          <a:p>
            <a:pPr marL="12700">
              <a:lnSpc>
                <a:spcPct val="100000"/>
              </a:lnSpc>
              <a:spcBef>
                <a:spcPts val="105"/>
              </a:spcBef>
              <a:tabLst>
                <a:tab pos="182245" algn="l"/>
              </a:tabLst>
            </a:pPr>
            <a:r>
              <a:rPr lang="en-GB" sz="1100" dirty="0">
                <a:latin typeface="+mn-lt"/>
              </a:rPr>
              <a:t>Specialty medicines are transforming</a:t>
            </a:r>
          </a:p>
          <a:p>
            <a:pPr marL="12700">
              <a:lnSpc>
                <a:spcPct val="100000"/>
              </a:lnSpc>
              <a:spcBef>
                <a:spcPts val="105"/>
              </a:spcBef>
              <a:tabLst>
                <a:tab pos="182245" algn="l"/>
              </a:tabLst>
            </a:pPr>
            <a:r>
              <a:rPr lang="en-GB" sz="1100" dirty="0">
                <a:latin typeface="+mn-lt"/>
              </a:rPr>
              <a:t> global healthcare and are projected to account for </a:t>
            </a:r>
            <a:r>
              <a:rPr lang="en-GB" sz="1100" b="1" dirty="0">
                <a:latin typeface="+mn-lt"/>
              </a:rPr>
              <a:t>43% of total global pharmaceutical spending</a:t>
            </a:r>
            <a:r>
              <a:rPr lang="en-GB" sz="1100" dirty="0">
                <a:latin typeface="+mn-lt"/>
              </a:rPr>
              <a:t> by 2028. In developed markets, this share will exceed </a:t>
            </a:r>
            <a:r>
              <a:rPr lang="en-GB" sz="1100" b="1" dirty="0">
                <a:latin typeface="+mn-lt"/>
              </a:rPr>
              <a:t>55%</a:t>
            </a:r>
            <a:r>
              <a:rPr lang="en-GB" sz="1100" dirty="0">
                <a:latin typeface="+mn-lt"/>
              </a:rPr>
              <a:t>. Sun Pharma is perfectly positioned to capture this, with its own Global Specialty revenues already growing to </a:t>
            </a:r>
            <a:r>
              <a:rPr lang="en-GB" sz="1100" b="1" dirty="0">
                <a:latin typeface="+mn-lt"/>
              </a:rPr>
              <a:t>20% to 22% of total sales</a:t>
            </a:r>
            <a:r>
              <a:rPr lang="en-GB" sz="1100" dirty="0">
                <a:latin typeface="+mn-lt"/>
              </a:rPr>
              <a:t>.</a:t>
            </a:r>
            <a:endParaRPr sz="1100" dirty="0">
              <a:latin typeface="+mn-lt"/>
              <a:cs typeface="Calibri"/>
            </a:endParaRPr>
          </a:p>
        </p:txBody>
      </p:sp>
      <p:sp>
        <p:nvSpPr>
          <p:cNvPr id="104" name="object 48">
            <a:extLst>
              <a:ext uri="{FF2B5EF4-FFF2-40B4-BE49-F238E27FC236}">
                <a16:creationId xmlns:a16="http://schemas.microsoft.com/office/drawing/2014/main" id="{7AE8FCE4-9C85-969E-B682-AE76525EEA29}"/>
              </a:ext>
            </a:extLst>
          </p:cNvPr>
          <p:cNvSpPr txBox="1"/>
          <p:nvPr/>
        </p:nvSpPr>
        <p:spPr>
          <a:xfrm>
            <a:off x="231698" y="7086600"/>
            <a:ext cx="2917458" cy="1198405"/>
          </a:xfrm>
          <a:prstGeom prst="rect">
            <a:avLst/>
          </a:prstGeom>
        </p:spPr>
        <p:txBody>
          <a:bodyPr vert="horz" wrap="square" lIns="0" tIns="13335" rIns="0" bIns="0" rtlCol="0">
            <a:spAutoFit/>
          </a:bodyPr>
          <a:lstStyle/>
          <a:p>
            <a:pPr marL="12700">
              <a:lnSpc>
                <a:spcPct val="100000"/>
              </a:lnSpc>
              <a:spcBef>
                <a:spcPts val="105"/>
              </a:spcBef>
              <a:tabLst>
                <a:tab pos="182245" algn="l"/>
              </a:tabLst>
            </a:pPr>
            <a:r>
              <a:rPr lang="en-GB" sz="1100" dirty="0">
                <a:latin typeface="+mn-lt"/>
              </a:rPr>
              <a:t>Driven by a rapidly aging population (the global 80+ demographic is expected to triple by 2050), "Pharmerging" markets are projected to reach US400</a:t>
            </a:r>
            <a:r>
              <a:rPr lang="en-GB" sz="1100" i="1" dirty="0">
                <a:latin typeface="+mn-lt"/>
              </a:rPr>
              <a:t>toUS</a:t>
            </a:r>
            <a:r>
              <a:rPr lang="en-GB" sz="1100" dirty="0">
                <a:latin typeface="+mn-lt"/>
              </a:rPr>
              <a:t> 430 Billion by 2028 at a 10-13% CAGR. Concurrently, the domestic Indian market will mirror this strong growth, reaching US38</a:t>
            </a:r>
            <a:r>
              <a:rPr lang="en-GB" sz="1100" i="1" dirty="0">
                <a:latin typeface="+mn-lt"/>
              </a:rPr>
              <a:t>toUS</a:t>
            </a:r>
            <a:r>
              <a:rPr lang="en-GB" sz="1100" dirty="0">
                <a:latin typeface="+mn-lt"/>
              </a:rPr>
              <a:t> 42 Billion by 2028 (7-10% CAGR).</a:t>
            </a:r>
            <a:endParaRPr sz="1100" dirty="0">
              <a:latin typeface="+mn-lt"/>
              <a:cs typeface="Calibri"/>
            </a:endParaRPr>
          </a:p>
        </p:txBody>
      </p:sp>
      <p:sp>
        <p:nvSpPr>
          <p:cNvPr id="112" name="object 48">
            <a:extLst>
              <a:ext uri="{FF2B5EF4-FFF2-40B4-BE49-F238E27FC236}">
                <a16:creationId xmlns:a16="http://schemas.microsoft.com/office/drawing/2014/main" id="{1711C66F-9511-B1DD-8A81-772F722D2EA1}"/>
              </a:ext>
            </a:extLst>
          </p:cNvPr>
          <p:cNvSpPr txBox="1"/>
          <p:nvPr/>
        </p:nvSpPr>
        <p:spPr>
          <a:xfrm>
            <a:off x="3760400" y="5348489"/>
            <a:ext cx="2831229" cy="1367682"/>
          </a:xfrm>
          <a:prstGeom prst="rect">
            <a:avLst/>
          </a:prstGeom>
        </p:spPr>
        <p:txBody>
          <a:bodyPr vert="horz" wrap="square" lIns="0" tIns="13335" rIns="0" bIns="0" rtlCol="0">
            <a:spAutoFit/>
          </a:bodyPr>
          <a:lstStyle/>
          <a:p>
            <a:pPr marL="12700" algn="r">
              <a:lnSpc>
                <a:spcPct val="100000"/>
              </a:lnSpc>
              <a:spcBef>
                <a:spcPts val="105"/>
              </a:spcBef>
              <a:tabLst>
                <a:tab pos="182245" algn="l"/>
              </a:tabLst>
            </a:pPr>
            <a:r>
              <a:rPr lang="en-GB" sz="1100" dirty="0">
                <a:latin typeface="+mn-lt"/>
              </a:rPr>
              <a:t>  As a heavily regulated manufacturer, operational safety and product quality deviations present direct financial and reputational threats. Quantifiably, the company had to execute </a:t>
            </a:r>
            <a:r>
              <a:rPr lang="en-GB" sz="1100" b="1" dirty="0">
                <a:latin typeface="+mn-lt"/>
              </a:rPr>
              <a:t>91 voluntary product recalls</a:t>
            </a:r>
            <a:r>
              <a:rPr lang="en-GB" sz="1100" dirty="0">
                <a:latin typeface="+mn-lt"/>
              </a:rPr>
              <a:t> in the recent fiscal year alone, primarily due to product quality complaints, process deviations, and out-of-specification/out-of-trend test results.</a:t>
            </a:r>
            <a:endParaRPr sz="1100" dirty="0">
              <a:latin typeface="+mn-lt"/>
              <a:cs typeface="Calibri"/>
            </a:endParaRPr>
          </a:p>
        </p:txBody>
      </p:sp>
      <p:sp>
        <p:nvSpPr>
          <p:cNvPr id="114" name="TextBox 113">
            <a:extLst>
              <a:ext uri="{FF2B5EF4-FFF2-40B4-BE49-F238E27FC236}">
                <a16:creationId xmlns:a16="http://schemas.microsoft.com/office/drawing/2014/main" id="{2AC70E0A-01EF-6FCC-892C-2EA30020A213}"/>
              </a:ext>
            </a:extLst>
          </p:cNvPr>
          <p:cNvSpPr txBox="1"/>
          <p:nvPr/>
        </p:nvSpPr>
        <p:spPr>
          <a:xfrm>
            <a:off x="4118932" y="5090710"/>
            <a:ext cx="2869970" cy="276999"/>
          </a:xfrm>
          <a:prstGeom prst="rect">
            <a:avLst/>
          </a:prstGeom>
          <a:noFill/>
        </p:spPr>
        <p:txBody>
          <a:bodyPr wrap="square">
            <a:spAutoFit/>
          </a:bodyPr>
          <a:lstStyle/>
          <a:p>
            <a:pPr>
              <a:spcBef>
                <a:spcPts val="105"/>
              </a:spcBef>
              <a:tabLst>
                <a:tab pos="182245" algn="l"/>
              </a:tabLst>
            </a:pPr>
            <a:r>
              <a:rPr lang="en-GB" sz="1200" b="1" dirty="0">
                <a:latin typeface="+mn-lt"/>
              </a:rPr>
              <a:t>PRODUCT QUALITY AND RECALL RISKS</a:t>
            </a:r>
          </a:p>
        </p:txBody>
      </p:sp>
      <p:sp>
        <p:nvSpPr>
          <p:cNvPr id="116" name="TextBox 115">
            <a:extLst>
              <a:ext uri="{FF2B5EF4-FFF2-40B4-BE49-F238E27FC236}">
                <a16:creationId xmlns:a16="http://schemas.microsoft.com/office/drawing/2014/main" id="{AFED201D-FC8C-CABC-DEEC-097FA2C9E329}"/>
              </a:ext>
            </a:extLst>
          </p:cNvPr>
          <p:cNvSpPr txBox="1"/>
          <p:nvPr/>
        </p:nvSpPr>
        <p:spPr>
          <a:xfrm>
            <a:off x="3663084" y="6682732"/>
            <a:ext cx="3417279" cy="461665"/>
          </a:xfrm>
          <a:prstGeom prst="rect">
            <a:avLst/>
          </a:prstGeom>
          <a:noFill/>
        </p:spPr>
        <p:txBody>
          <a:bodyPr wrap="square">
            <a:spAutoFit/>
          </a:bodyPr>
          <a:lstStyle/>
          <a:p>
            <a:pPr>
              <a:spcBef>
                <a:spcPts val="105"/>
              </a:spcBef>
              <a:tabLst>
                <a:tab pos="182245" algn="l"/>
              </a:tabLst>
            </a:pPr>
            <a:r>
              <a:rPr lang="en-GB" sz="1200" b="1" dirty="0">
                <a:latin typeface="+mn-lt"/>
              </a:rPr>
              <a:t>GOVERNMENT PRICE CONTROLS (JAPAN &amp; EUROPE)</a:t>
            </a:r>
          </a:p>
        </p:txBody>
      </p:sp>
      <p:sp>
        <p:nvSpPr>
          <p:cNvPr id="120" name="object 48">
            <a:extLst>
              <a:ext uri="{FF2B5EF4-FFF2-40B4-BE49-F238E27FC236}">
                <a16:creationId xmlns:a16="http://schemas.microsoft.com/office/drawing/2014/main" id="{84D51778-F343-9FF0-2C51-2CF6F3EAE26C}"/>
              </a:ext>
            </a:extLst>
          </p:cNvPr>
          <p:cNvSpPr txBox="1"/>
          <p:nvPr/>
        </p:nvSpPr>
        <p:spPr>
          <a:xfrm>
            <a:off x="3760400" y="7092538"/>
            <a:ext cx="2944807" cy="690574"/>
          </a:xfrm>
          <a:prstGeom prst="rect">
            <a:avLst/>
          </a:prstGeom>
        </p:spPr>
        <p:txBody>
          <a:bodyPr vert="horz" wrap="square" lIns="0" tIns="13335" rIns="0" bIns="0" rtlCol="0">
            <a:spAutoFit/>
          </a:bodyPr>
          <a:lstStyle/>
          <a:p>
            <a:pPr marL="12700">
              <a:lnSpc>
                <a:spcPct val="100000"/>
              </a:lnSpc>
              <a:spcBef>
                <a:spcPts val="105"/>
              </a:spcBef>
              <a:tabLst>
                <a:tab pos="182245" algn="l"/>
              </a:tabLst>
            </a:pPr>
            <a:r>
              <a:rPr lang="en-GB" sz="1100" dirty="0">
                <a:latin typeface="+mn-lt"/>
              </a:rPr>
              <a:t>Japan's continuous price cuts will restrict market growth to -2% to 1%, while strict European budget constraints will compound a massive US$ 32.2 Billion patent cliff.</a:t>
            </a:r>
            <a:endParaRPr sz="1100" dirty="0">
              <a:latin typeface="+mn-lt"/>
              <a:cs typeface="Calibri"/>
            </a:endParaRPr>
          </a:p>
        </p:txBody>
      </p:sp>
      <p:sp>
        <p:nvSpPr>
          <p:cNvPr id="9" name="TextBox 8">
            <a:extLst>
              <a:ext uri="{FF2B5EF4-FFF2-40B4-BE49-F238E27FC236}">
                <a16:creationId xmlns:a16="http://schemas.microsoft.com/office/drawing/2014/main" id="{6ECBDE05-F840-E16A-DC7C-E184FCDBF508}"/>
              </a:ext>
            </a:extLst>
          </p:cNvPr>
          <p:cNvSpPr txBox="1"/>
          <p:nvPr/>
        </p:nvSpPr>
        <p:spPr>
          <a:xfrm>
            <a:off x="172527" y="5115676"/>
            <a:ext cx="2843130" cy="461665"/>
          </a:xfrm>
          <a:prstGeom prst="rect">
            <a:avLst/>
          </a:prstGeom>
          <a:noFill/>
        </p:spPr>
        <p:txBody>
          <a:bodyPr wrap="square">
            <a:spAutoFit/>
          </a:bodyPr>
          <a:lstStyle/>
          <a:p>
            <a:pPr>
              <a:spcBef>
                <a:spcPts val="105"/>
              </a:spcBef>
              <a:tabLst>
                <a:tab pos="182245" algn="l"/>
              </a:tabLst>
            </a:pPr>
            <a:r>
              <a:rPr lang="en-GB" sz="1200" b="1" dirty="0">
                <a:latin typeface="+mn-lt"/>
              </a:rPr>
              <a:t>EXPLOSIVE GROWTH IN SPECIALTY MARKETS</a:t>
            </a:r>
          </a:p>
        </p:txBody>
      </p:sp>
      <p:sp>
        <p:nvSpPr>
          <p:cNvPr id="11" name="TextBox 10">
            <a:extLst>
              <a:ext uri="{FF2B5EF4-FFF2-40B4-BE49-F238E27FC236}">
                <a16:creationId xmlns:a16="http://schemas.microsoft.com/office/drawing/2014/main" id="{50056137-5AE6-A5C0-0D4C-5B9BC175C67E}"/>
              </a:ext>
            </a:extLst>
          </p:cNvPr>
          <p:cNvSpPr txBox="1"/>
          <p:nvPr/>
        </p:nvSpPr>
        <p:spPr>
          <a:xfrm>
            <a:off x="152400" y="6701135"/>
            <a:ext cx="3124200" cy="461665"/>
          </a:xfrm>
          <a:prstGeom prst="rect">
            <a:avLst/>
          </a:prstGeom>
          <a:noFill/>
        </p:spPr>
        <p:txBody>
          <a:bodyPr wrap="square">
            <a:spAutoFit/>
          </a:bodyPr>
          <a:lstStyle/>
          <a:p>
            <a:pPr>
              <a:spcBef>
                <a:spcPts val="105"/>
              </a:spcBef>
              <a:tabLst>
                <a:tab pos="182245" algn="l"/>
              </a:tabLst>
            </a:pPr>
            <a:r>
              <a:rPr lang="en-GB" sz="1200" b="1" dirty="0">
                <a:latin typeface="+mn-lt"/>
              </a:rPr>
              <a:t>FAVOURABLE EMERGING MARKET DEMOGRAPHICS:</a:t>
            </a:r>
          </a:p>
        </p:txBody>
      </p:sp>
      <p:sp>
        <p:nvSpPr>
          <p:cNvPr id="13" name="TextBox 12">
            <a:extLst>
              <a:ext uri="{FF2B5EF4-FFF2-40B4-BE49-F238E27FC236}">
                <a16:creationId xmlns:a16="http://schemas.microsoft.com/office/drawing/2014/main" id="{170E6934-D179-1F12-064B-E39BF768D4A4}"/>
              </a:ext>
            </a:extLst>
          </p:cNvPr>
          <p:cNvSpPr txBox="1"/>
          <p:nvPr/>
        </p:nvSpPr>
        <p:spPr>
          <a:xfrm>
            <a:off x="3735282" y="3223181"/>
            <a:ext cx="3025579" cy="1277273"/>
          </a:xfrm>
          <a:prstGeom prst="rect">
            <a:avLst/>
          </a:prstGeom>
          <a:noFill/>
        </p:spPr>
        <p:txBody>
          <a:bodyPr wrap="square">
            <a:spAutoFit/>
          </a:bodyPr>
          <a:lstStyle/>
          <a:p>
            <a:pPr algn="r"/>
            <a:r>
              <a:rPr lang="en-GB" sz="1100" b="0" i="0" dirty="0">
                <a:solidFill>
                  <a:schemeClr val="tx1"/>
                </a:solidFill>
                <a:effectLst/>
                <a:latin typeface="+mn-lt"/>
              </a:rPr>
              <a:t>Ongoing regulatory actions at three major plants-Halol (Import Alert/Warning Letter), Mohali (mandated independent batch certifications), and Dadra (Warning Letter)-restrict new U.S. product approvals and persistently pressure the company's supply chain</a:t>
            </a:r>
            <a:br>
              <a:rPr lang="en-GB" sz="1100" dirty="0">
                <a:solidFill>
                  <a:schemeClr val="tx1"/>
                </a:solidFill>
                <a:latin typeface="+mn-lt"/>
              </a:rPr>
            </a:br>
            <a:endParaRPr lang="en-GB" sz="1100" dirty="0">
              <a:solidFill>
                <a:schemeClr val="tx1"/>
              </a:solidFill>
              <a:latin typeface="+mn-lt"/>
            </a:endParaRPr>
          </a:p>
        </p:txBody>
      </p:sp>
      <p:sp>
        <p:nvSpPr>
          <p:cNvPr id="15" name="TextBox 14">
            <a:extLst>
              <a:ext uri="{FF2B5EF4-FFF2-40B4-BE49-F238E27FC236}">
                <a16:creationId xmlns:a16="http://schemas.microsoft.com/office/drawing/2014/main" id="{ABC4BE79-CCA3-1EE7-63F0-C1DFC36729C4}"/>
              </a:ext>
            </a:extLst>
          </p:cNvPr>
          <p:cNvSpPr txBox="1"/>
          <p:nvPr/>
        </p:nvSpPr>
        <p:spPr>
          <a:xfrm>
            <a:off x="3735283" y="3024533"/>
            <a:ext cx="3611880" cy="276999"/>
          </a:xfrm>
          <a:prstGeom prst="rect">
            <a:avLst/>
          </a:prstGeom>
          <a:noFill/>
        </p:spPr>
        <p:txBody>
          <a:bodyPr wrap="square">
            <a:spAutoFit/>
          </a:bodyPr>
          <a:lstStyle/>
          <a:p>
            <a:pPr>
              <a:spcBef>
                <a:spcPts val="105"/>
              </a:spcBef>
              <a:tabLst>
                <a:tab pos="182245" algn="l"/>
              </a:tabLst>
            </a:pPr>
            <a:r>
              <a:rPr lang="en-GB" sz="1200" b="1" dirty="0">
                <a:latin typeface="+mn-lt"/>
              </a:rPr>
              <a:t>USFDA COMPLIANCE HURDLES: </a:t>
            </a:r>
          </a:p>
        </p:txBody>
      </p:sp>
      <p:grpSp>
        <p:nvGrpSpPr>
          <p:cNvPr id="24" name="object 28">
            <a:extLst>
              <a:ext uri="{FF2B5EF4-FFF2-40B4-BE49-F238E27FC236}">
                <a16:creationId xmlns:a16="http://schemas.microsoft.com/office/drawing/2014/main" id="{C86DB76F-EA82-EE3A-0D72-32A34F97E0C2}"/>
              </a:ext>
            </a:extLst>
          </p:cNvPr>
          <p:cNvGrpSpPr/>
          <p:nvPr/>
        </p:nvGrpSpPr>
        <p:grpSpPr>
          <a:xfrm>
            <a:off x="4275822" y="1222266"/>
            <a:ext cx="1818863" cy="335729"/>
            <a:chOff x="723353" y="1799996"/>
            <a:chExt cx="1831339" cy="300990"/>
          </a:xfrm>
          <a:solidFill>
            <a:schemeClr val="accent6">
              <a:lumMod val="75000"/>
            </a:schemeClr>
          </a:solidFill>
        </p:grpSpPr>
        <p:sp>
          <p:nvSpPr>
            <p:cNvPr id="25" name="object 29">
              <a:extLst>
                <a:ext uri="{FF2B5EF4-FFF2-40B4-BE49-F238E27FC236}">
                  <a16:creationId xmlns:a16="http://schemas.microsoft.com/office/drawing/2014/main" id="{78D1BEE0-7AD1-8BD8-F5D4-1A399C593546}"/>
                </a:ext>
              </a:extLst>
            </p:cNvPr>
            <p:cNvSpPr/>
            <p:nvPr/>
          </p:nvSpPr>
          <p:spPr>
            <a:xfrm>
              <a:off x="732878" y="1809521"/>
              <a:ext cx="1812289" cy="281940"/>
            </a:xfrm>
            <a:custGeom>
              <a:avLst/>
              <a:gdLst/>
              <a:ahLst/>
              <a:cxnLst/>
              <a:rect l="l" t="t" r="r" b="b"/>
              <a:pathLst>
                <a:path w="1812289" h="281939">
                  <a:moveTo>
                    <a:pt x="1811908" y="0"/>
                  </a:moveTo>
                  <a:lnTo>
                    <a:pt x="0" y="0"/>
                  </a:lnTo>
                  <a:lnTo>
                    <a:pt x="0" y="281406"/>
                  </a:lnTo>
                  <a:lnTo>
                    <a:pt x="1811908" y="281406"/>
                  </a:lnTo>
                  <a:lnTo>
                    <a:pt x="1811908" y="0"/>
                  </a:lnTo>
                  <a:close/>
                </a:path>
              </a:pathLst>
            </a:custGeom>
            <a:grpFill/>
          </p:spPr>
          <p:txBody>
            <a:bodyPr wrap="square" lIns="0" tIns="0" rIns="0" bIns="0" rtlCol="0"/>
            <a:lstStyle/>
            <a:p>
              <a:endParaRPr/>
            </a:p>
          </p:txBody>
        </p:sp>
        <p:sp>
          <p:nvSpPr>
            <p:cNvPr id="26" name="object 30">
              <a:extLst>
                <a:ext uri="{FF2B5EF4-FFF2-40B4-BE49-F238E27FC236}">
                  <a16:creationId xmlns:a16="http://schemas.microsoft.com/office/drawing/2014/main" id="{94DB58F0-0D3C-D8EC-7664-E1780D5B8E07}"/>
                </a:ext>
              </a:extLst>
            </p:cNvPr>
            <p:cNvSpPr/>
            <p:nvPr/>
          </p:nvSpPr>
          <p:spPr>
            <a:xfrm>
              <a:off x="732878" y="1809521"/>
              <a:ext cx="1812289" cy="281940"/>
            </a:xfrm>
            <a:custGeom>
              <a:avLst/>
              <a:gdLst/>
              <a:ahLst/>
              <a:cxnLst/>
              <a:rect l="l" t="t" r="r" b="b"/>
              <a:pathLst>
                <a:path w="1812289" h="281939">
                  <a:moveTo>
                    <a:pt x="0" y="281406"/>
                  </a:moveTo>
                  <a:lnTo>
                    <a:pt x="1811908" y="281406"/>
                  </a:lnTo>
                  <a:lnTo>
                    <a:pt x="1811908" y="0"/>
                  </a:lnTo>
                  <a:lnTo>
                    <a:pt x="0" y="0"/>
                  </a:lnTo>
                  <a:lnTo>
                    <a:pt x="0" y="281406"/>
                  </a:lnTo>
                  <a:close/>
                </a:path>
              </a:pathLst>
            </a:custGeom>
            <a:grpFill/>
            <a:ln w="19050">
              <a:solidFill>
                <a:srgbClr val="001F5F"/>
              </a:solidFill>
            </a:ln>
          </p:spPr>
          <p:txBody>
            <a:bodyPr wrap="square" lIns="0" tIns="0" rIns="0" bIns="0" rtlCol="0"/>
            <a:lstStyle/>
            <a:p>
              <a:endParaRPr/>
            </a:p>
          </p:txBody>
        </p:sp>
      </p:grpSp>
      <p:sp>
        <p:nvSpPr>
          <p:cNvPr id="27" name="object 31">
            <a:extLst>
              <a:ext uri="{FF2B5EF4-FFF2-40B4-BE49-F238E27FC236}">
                <a16:creationId xmlns:a16="http://schemas.microsoft.com/office/drawing/2014/main" id="{BA0AC436-E23C-D0EB-EB5C-6A24952E1121}"/>
              </a:ext>
            </a:extLst>
          </p:cNvPr>
          <p:cNvSpPr txBox="1"/>
          <p:nvPr/>
        </p:nvSpPr>
        <p:spPr>
          <a:xfrm>
            <a:off x="4687651" y="1259004"/>
            <a:ext cx="1368146" cy="289182"/>
          </a:xfrm>
          <a:prstGeom prst="rect">
            <a:avLst/>
          </a:prstGeom>
        </p:spPr>
        <p:txBody>
          <a:bodyPr vert="horz" wrap="square" lIns="0" tIns="12065" rIns="0" bIns="0" rtlCol="0">
            <a:spAutoFit/>
          </a:bodyPr>
          <a:lstStyle/>
          <a:p>
            <a:pPr marL="12700">
              <a:lnSpc>
                <a:spcPct val="100000"/>
              </a:lnSpc>
              <a:spcBef>
                <a:spcPts val="95"/>
              </a:spcBef>
            </a:pPr>
            <a:r>
              <a:rPr lang="en-US" b="1" spc="-10" dirty="0">
                <a:solidFill>
                  <a:srgbClr val="FFFFFF"/>
                </a:solidFill>
                <a:latin typeface="Calibri"/>
                <a:cs typeface="Calibri"/>
              </a:rPr>
              <a:t>WEAKNESS</a:t>
            </a:r>
          </a:p>
        </p:txBody>
      </p:sp>
      <p:sp>
        <p:nvSpPr>
          <p:cNvPr id="37" name="object 26">
            <a:extLst>
              <a:ext uri="{FF2B5EF4-FFF2-40B4-BE49-F238E27FC236}">
                <a16:creationId xmlns:a16="http://schemas.microsoft.com/office/drawing/2014/main" id="{712B71DD-AAA9-6BE9-03CC-178F5F025762}"/>
              </a:ext>
            </a:extLst>
          </p:cNvPr>
          <p:cNvSpPr/>
          <p:nvPr/>
        </p:nvSpPr>
        <p:spPr>
          <a:xfrm>
            <a:off x="2473787" y="3745075"/>
            <a:ext cx="1869613" cy="1893725"/>
          </a:xfrm>
          <a:custGeom>
            <a:avLst/>
            <a:gdLst/>
            <a:ahLst/>
            <a:cxnLst/>
            <a:rect l="l" t="t" r="r" b="b"/>
            <a:pathLst>
              <a:path w="1400175" h="1383664">
                <a:moveTo>
                  <a:pt x="699769" y="0"/>
                </a:moveTo>
                <a:lnTo>
                  <a:pt x="651860" y="1595"/>
                </a:lnTo>
                <a:lnTo>
                  <a:pt x="604817" y="6313"/>
                </a:lnTo>
                <a:lnTo>
                  <a:pt x="558745" y="14050"/>
                </a:lnTo>
                <a:lnTo>
                  <a:pt x="513747" y="24703"/>
                </a:lnTo>
                <a:lnTo>
                  <a:pt x="469928" y="38170"/>
                </a:lnTo>
                <a:lnTo>
                  <a:pt x="427392" y="54348"/>
                </a:lnTo>
                <a:lnTo>
                  <a:pt x="386244" y="73132"/>
                </a:lnTo>
                <a:lnTo>
                  <a:pt x="346587" y="94422"/>
                </a:lnTo>
                <a:lnTo>
                  <a:pt x="308526" y="118112"/>
                </a:lnTo>
                <a:lnTo>
                  <a:pt x="272166" y="144102"/>
                </a:lnTo>
                <a:lnTo>
                  <a:pt x="237609" y="172287"/>
                </a:lnTo>
                <a:lnTo>
                  <a:pt x="204962" y="202565"/>
                </a:lnTo>
                <a:lnTo>
                  <a:pt x="174327" y="234832"/>
                </a:lnTo>
                <a:lnTo>
                  <a:pt x="145809" y="268986"/>
                </a:lnTo>
                <a:lnTo>
                  <a:pt x="119512" y="304924"/>
                </a:lnTo>
                <a:lnTo>
                  <a:pt x="95541" y="342542"/>
                </a:lnTo>
                <a:lnTo>
                  <a:pt x="74000" y="381738"/>
                </a:lnTo>
                <a:lnTo>
                  <a:pt x="54992" y="422409"/>
                </a:lnTo>
                <a:lnTo>
                  <a:pt x="38623" y="464452"/>
                </a:lnTo>
                <a:lnTo>
                  <a:pt x="24997" y="507764"/>
                </a:lnTo>
                <a:lnTo>
                  <a:pt x="14217" y="552242"/>
                </a:lnTo>
                <a:lnTo>
                  <a:pt x="6388" y="597783"/>
                </a:lnTo>
                <a:lnTo>
                  <a:pt x="1614" y="644284"/>
                </a:lnTo>
                <a:lnTo>
                  <a:pt x="0" y="691641"/>
                </a:lnTo>
                <a:lnTo>
                  <a:pt x="1614" y="738999"/>
                </a:lnTo>
                <a:lnTo>
                  <a:pt x="6388" y="785500"/>
                </a:lnTo>
                <a:lnTo>
                  <a:pt x="14217" y="831041"/>
                </a:lnTo>
                <a:lnTo>
                  <a:pt x="24997" y="875519"/>
                </a:lnTo>
                <a:lnTo>
                  <a:pt x="38623" y="918831"/>
                </a:lnTo>
                <a:lnTo>
                  <a:pt x="54992" y="960874"/>
                </a:lnTo>
                <a:lnTo>
                  <a:pt x="74000" y="1001545"/>
                </a:lnTo>
                <a:lnTo>
                  <a:pt x="95541" y="1040741"/>
                </a:lnTo>
                <a:lnTo>
                  <a:pt x="119512" y="1078359"/>
                </a:lnTo>
                <a:lnTo>
                  <a:pt x="145809" y="1114297"/>
                </a:lnTo>
                <a:lnTo>
                  <a:pt x="174327" y="1148451"/>
                </a:lnTo>
                <a:lnTo>
                  <a:pt x="204962" y="1180718"/>
                </a:lnTo>
                <a:lnTo>
                  <a:pt x="237609" y="1210996"/>
                </a:lnTo>
                <a:lnTo>
                  <a:pt x="272166" y="1239181"/>
                </a:lnTo>
                <a:lnTo>
                  <a:pt x="308526" y="1265171"/>
                </a:lnTo>
                <a:lnTo>
                  <a:pt x="346587" y="1288861"/>
                </a:lnTo>
                <a:lnTo>
                  <a:pt x="386244" y="1310151"/>
                </a:lnTo>
                <a:lnTo>
                  <a:pt x="427392" y="1328935"/>
                </a:lnTo>
                <a:lnTo>
                  <a:pt x="469928" y="1345113"/>
                </a:lnTo>
                <a:lnTo>
                  <a:pt x="513747" y="1358580"/>
                </a:lnTo>
                <a:lnTo>
                  <a:pt x="558745" y="1369233"/>
                </a:lnTo>
                <a:lnTo>
                  <a:pt x="604817" y="1376970"/>
                </a:lnTo>
                <a:lnTo>
                  <a:pt x="651860" y="1381688"/>
                </a:lnTo>
                <a:lnTo>
                  <a:pt x="699769" y="1383284"/>
                </a:lnTo>
                <a:lnTo>
                  <a:pt x="747694" y="1381688"/>
                </a:lnTo>
                <a:lnTo>
                  <a:pt x="794751" y="1376970"/>
                </a:lnTo>
                <a:lnTo>
                  <a:pt x="840836" y="1369233"/>
                </a:lnTo>
                <a:lnTo>
                  <a:pt x="885846" y="1358580"/>
                </a:lnTo>
                <a:lnTo>
                  <a:pt x="929675" y="1345113"/>
                </a:lnTo>
                <a:lnTo>
                  <a:pt x="972220" y="1328935"/>
                </a:lnTo>
                <a:lnTo>
                  <a:pt x="1013377" y="1310151"/>
                </a:lnTo>
                <a:lnTo>
                  <a:pt x="1053041" y="1288861"/>
                </a:lnTo>
                <a:lnTo>
                  <a:pt x="1091109" y="1265171"/>
                </a:lnTo>
                <a:lnTo>
                  <a:pt x="1127475" y="1239181"/>
                </a:lnTo>
                <a:lnTo>
                  <a:pt x="1162036" y="1210996"/>
                </a:lnTo>
                <a:lnTo>
                  <a:pt x="1194689" y="1180718"/>
                </a:lnTo>
                <a:lnTo>
                  <a:pt x="1225327" y="1148451"/>
                </a:lnTo>
                <a:lnTo>
                  <a:pt x="1253848" y="1114297"/>
                </a:lnTo>
                <a:lnTo>
                  <a:pt x="1280147" y="1078359"/>
                </a:lnTo>
                <a:lnTo>
                  <a:pt x="1304120" y="1040741"/>
                </a:lnTo>
                <a:lnTo>
                  <a:pt x="1325663" y="1001545"/>
                </a:lnTo>
                <a:lnTo>
                  <a:pt x="1344672" y="960874"/>
                </a:lnTo>
                <a:lnTo>
                  <a:pt x="1361041" y="918831"/>
                </a:lnTo>
                <a:lnTo>
                  <a:pt x="1374669" y="875519"/>
                </a:lnTo>
                <a:lnTo>
                  <a:pt x="1385449" y="831041"/>
                </a:lnTo>
                <a:lnTo>
                  <a:pt x="1393278" y="785500"/>
                </a:lnTo>
                <a:lnTo>
                  <a:pt x="1398052" y="738999"/>
                </a:lnTo>
                <a:lnTo>
                  <a:pt x="1399667" y="691641"/>
                </a:lnTo>
                <a:lnTo>
                  <a:pt x="1398052" y="644284"/>
                </a:lnTo>
                <a:lnTo>
                  <a:pt x="1393278" y="597783"/>
                </a:lnTo>
                <a:lnTo>
                  <a:pt x="1385449" y="552242"/>
                </a:lnTo>
                <a:lnTo>
                  <a:pt x="1374669" y="507764"/>
                </a:lnTo>
                <a:lnTo>
                  <a:pt x="1361041" y="464452"/>
                </a:lnTo>
                <a:lnTo>
                  <a:pt x="1344672" y="422409"/>
                </a:lnTo>
                <a:lnTo>
                  <a:pt x="1325663" y="381738"/>
                </a:lnTo>
                <a:lnTo>
                  <a:pt x="1304120" y="342542"/>
                </a:lnTo>
                <a:lnTo>
                  <a:pt x="1280147" y="304924"/>
                </a:lnTo>
                <a:lnTo>
                  <a:pt x="1253848" y="268986"/>
                </a:lnTo>
                <a:lnTo>
                  <a:pt x="1225327" y="234832"/>
                </a:lnTo>
                <a:lnTo>
                  <a:pt x="1194689" y="202565"/>
                </a:lnTo>
                <a:lnTo>
                  <a:pt x="1162036" y="172287"/>
                </a:lnTo>
                <a:lnTo>
                  <a:pt x="1127475" y="144102"/>
                </a:lnTo>
                <a:lnTo>
                  <a:pt x="1091109" y="118112"/>
                </a:lnTo>
                <a:lnTo>
                  <a:pt x="1053041" y="94422"/>
                </a:lnTo>
                <a:lnTo>
                  <a:pt x="1013377" y="73132"/>
                </a:lnTo>
                <a:lnTo>
                  <a:pt x="972220" y="54348"/>
                </a:lnTo>
                <a:lnTo>
                  <a:pt x="929675" y="38170"/>
                </a:lnTo>
                <a:lnTo>
                  <a:pt x="885846" y="24703"/>
                </a:lnTo>
                <a:lnTo>
                  <a:pt x="840836" y="14050"/>
                </a:lnTo>
                <a:lnTo>
                  <a:pt x="794751" y="6313"/>
                </a:lnTo>
                <a:lnTo>
                  <a:pt x="747694" y="1595"/>
                </a:lnTo>
                <a:lnTo>
                  <a:pt x="699769" y="0"/>
                </a:lnTo>
                <a:close/>
              </a:path>
            </a:pathLst>
          </a:custGeom>
          <a:solidFill>
            <a:srgbClr val="C00000"/>
          </a:solidFill>
        </p:spPr>
        <p:txBody>
          <a:bodyPr wrap="square" lIns="0" tIns="0" rIns="0" bIns="0" rtlCol="0"/>
          <a:lstStyle/>
          <a:p>
            <a:endParaRPr/>
          </a:p>
        </p:txBody>
      </p:sp>
      <p:sp>
        <p:nvSpPr>
          <p:cNvPr id="39" name="TextBox 38">
            <a:extLst>
              <a:ext uri="{FF2B5EF4-FFF2-40B4-BE49-F238E27FC236}">
                <a16:creationId xmlns:a16="http://schemas.microsoft.com/office/drawing/2014/main" id="{7DF8003A-9230-818A-5A86-F6D7907B69AD}"/>
              </a:ext>
            </a:extLst>
          </p:cNvPr>
          <p:cNvSpPr txBox="1"/>
          <p:nvPr/>
        </p:nvSpPr>
        <p:spPr>
          <a:xfrm>
            <a:off x="1487134" y="4364023"/>
            <a:ext cx="3805766" cy="725711"/>
          </a:xfrm>
          <a:prstGeom prst="rect">
            <a:avLst/>
          </a:prstGeom>
          <a:noFill/>
        </p:spPr>
        <p:txBody>
          <a:bodyPr wrap="square">
            <a:spAutoFit/>
          </a:bodyPr>
          <a:lstStyle/>
          <a:p>
            <a:pPr algn="ctr">
              <a:lnSpc>
                <a:spcPts val="2395"/>
              </a:lnSpc>
              <a:spcBef>
                <a:spcPts val="105"/>
              </a:spcBef>
            </a:pPr>
            <a:r>
              <a:rPr lang="en-IN" sz="2800" b="1" spc="-20" dirty="0">
                <a:solidFill>
                  <a:srgbClr val="FFFFFF"/>
                </a:solidFill>
                <a:latin typeface="Calibri"/>
                <a:cs typeface="Calibri"/>
              </a:rPr>
              <a:t>SWOT</a:t>
            </a:r>
            <a:endParaRPr lang="en-IN" sz="2800" b="1" dirty="0">
              <a:latin typeface="Calibri"/>
              <a:cs typeface="Calibri"/>
            </a:endParaRPr>
          </a:p>
          <a:p>
            <a:pPr algn="ctr">
              <a:lnSpc>
                <a:spcPts val="2395"/>
              </a:lnSpc>
            </a:pPr>
            <a:r>
              <a:rPr lang="en-IN" sz="2800" b="1" spc="-10" dirty="0">
                <a:solidFill>
                  <a:srgbClr val="FFFFFF"/>
                </a:solidFill>
                <a:latin typeface="Calibri"/>
                <a:cs typeface="Calibri"/>
              </a:rPr>
              <a:t>ANALYSIS</a:t>
            </a:r>
            <a:endParaRPr lang="en-IN" sz="2800" b="1" dirty="0">
              <a:latin typeface="Calibri"/>
              <a:cs typeface="Calibri"/>
            </a:endParaRPr>
          </a:p>
        </p:txBody>
      </p:sp>
    </p:spTree>
    <p:extLst>
      <p:ext uri="{BB962C8B-B14F-4D97-AF65-F5344CB8AC3E}">
        <p14:creationId xmlns:p14="http://schemas.microsoft.com/office/powerpoint/2010/main" val="1989301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6858000" cy="1625597"/>
            <a:chOff x="0" y="0"/>
            <a:chExt cx="6858000" cy="1625597"/>
          </a:xfrm>
        </p:grpSpPr>
        <p:sp>
          <p:nvSpPr>
            <p:cNvPr id="3" name="object 3"/>
            <p:cNvSpPr/>
            <p:nvPr/>
          </p:nvSpPr>
          <p:spPr>
            <a:xfrm>
              <a:off x="0" y="0"/>
              <a:ext cx="6858000" cy="949325"/>
            </a:xfrm>
            <a:custGeom>
              <a:avLst/>
              <a:gdLst/>
              <a:ahLst/>
              <a:cxnLst/>
              <a:rect l="l" t="t" r="r" b="b"/>
              <a:pathLst>
                <a:path w="6858000" h="949325">
                  <a:moveTo>
                    <a:pt x="0" y="949198"/>
                  </a:moveTo>
                  <a:lnTo>
                    <a:pt x="6858000" y="949198"/>
                  </a:lnTo>
                  <a:lnTo>
                    <a:pt x="6858000" y="0"/>
                  </a:lnTo>
                  <a:lnTo>
                    <a:pt x="0" y="0"/>
                  </a:lnTo>
                  <a:lnTo>
                    <a:pt x="0" y="949198"/>
                  </a:lnTo>
                  <a:close/>
                </a:path>
              </a:pathLst>
            </a:custGeom>
            <a:solidFill>
              <a:schemeClr val="accent6">
                <a:lumMod val="75000"/>
              </a:schemeClr>
            </a:solidFill>
          </p:spPr>
          <p:txBody>
            <a:bodyPr wrap="square" lIns="0" tIns="0" rIns="0" bIns="0" rtlCol="0"/>
            <a:lstStyle/>
            <a:p>
              <a:endParaRPr/>
            </a:p>
          </p:txBody>
        </p:sp>
        <p:sp>
          <p:nvSpPr>
            <p:cNvPr id="4" name="object 4"/>
            <p:cNvSpPr/>
            <p:nvPr/>
          </p:nvSpPr>
          <p:spPr>
            <a:xfrm>
              <a:off x="0" y="316227"/>
              <a:ext cx="4147185" cy="1309370"/>
            </a:xfrm>
            <a:custGeom>
              <a:avLst/>
              <a:gdLst/>
              <a:ahLst/>
              <a:cxnLst/>
              <a:rect l="l" t="t" r="r" b="b"/>
              <a:pathLst>
                <a:path w="4147185" h="1309370">
                  <a:moveTo>
                    <a:pt x="3492246" y="0"/>
                  </a:moveTo>
                  <a:lnTo>
                    <a:pt x="0" y="0"/>
                  </a:lnTo>
                  <a:lnTo>
                    <a:pt x="0" y="1309243"/>
                  </a:lnTo>
                  <a:lnTo>
                    <a:pt x="3492246" y="1309243"/>
                  </a:lnTo>
                  <a:lnTo>
                    <a:pt x="4146804" y="654685"/>
                  </a:lnTo>
                  <a:lnTo>
                    <a:pt x="3492246" y="0"/>
                  </a:lnTo>
                  <a:close/>
                </a:path>
              </a:pathLst>
            </a:custGeom>
            <a:solidFill>
              <a:srgbClr val="FFFFFF"/>
            </a:solidFill>
          </p:spPr>
          <p:txBody>
            <a:bodyPr wrap="square" lIns="0" tIns="0" rIns="0" bIns="0" rtlCol="0"/>
            <a:lstStyle/>
            <a:p>
              <a:endParaRPr dirty="0"/>
            </a:p>
          </p:txBody>
        </p:sp>
      </p:grpSp>
      <p:sp>
        <p:nvSpPr>
          <p:cNvPr id="5" name="object 5"/>
          <p:cNvSpPr txBox="1"/>
          <p:nvPr/>
        </p:nvSpPr>
        <p:spPr>
          <a:xfrm>
            <a:off x="147015" y="4952"/>
            <a:ext cx="2081530" cy="247015"/>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FFFFFF"/>
                </a:solidFill>
                <a:latin typeface="Calibri"/>
                <a:cs typeface="Calibri"/>
              </a:rPr>
              <a:t>EQUITY</a:t>
            </a:r>
            <a:r>
              <a:rPr sz="1450" b="1" spc="-65" dirty="0">
                <a:solidFill>
                  <a:srgbClr val="FFFFFF"/>
                </a:solidFill>
                <a:latin typeface="Calibri"/>
                <a:cs typeface="Calibri"/>
              </a:rPr>
              <a:t> </a:t>
            </a:r>
            <a:r>
              <a:rPr sz="1450" b="1" dirty="0">
                <a:solidFill>
                  <a:srgbClr val="FFFFFF"/>
                </a:solidFill>
                <a:latin typeface="Calibri"/>
                <a:cs typeface="Calibri"/>
              </a:rPr>
              <a:t>RESEARCH</a:t>
            </a:r>
            <a:r>
              <a:rPr sz="1450" b="1" spc="-60" dirty="0">
                <a:solidFill>
                  <a:srgbClr val="FFFFFF"/>
                </a:solidFill>
                <a:latin typeface="Calibri"/>
                <a:cs typeface="Calibri"/>
              </a:rPr>
              <a:t> </a:t>
            </a:r>
            <a:r>
              <a:rPr sz="1450" b="1" spc="-10" dirty="0">
                <a:solidFill>
                  <a:srgbClr val="FFFFFF"/>
                </a:solidFill>
                <a:latin typeface="Calibri"/>
                <a:cs typeface="Calibri"/>
              </a:rPr>
              <a:t>REPORT</a:t>
            </a:r>
            <a:endParaRPr sz="1450">
              <a:latin typeface="Calibri"/>
              <a:cs typeface="Calibri"/>
            </a:endParaRPr>
          </a:p>
        </p:txBody>
      </p:sp>
      <p:sp>
        <p:nvSpPr>
          <p:cNvPr id="40" name="object 40"/>
          <p:cNvSpPr txBox="1">
            <a:spLocks noGrp="1"/>
          </p:cNvSpPr>
          <p:nvPr>
            <p:ph type="title"/>
          </p:nvPr>
        </p:nvSpPr>
        <p:spPr>
          <a:xfrm>
            <a:off x="141831" y="295140"/>
            <a:ext cx="4269104" cy="289182"/>
          </a:xfrm>
          <a:prstGeom prst="rect">
            <a:avLst/>
          </a:prstGeom>
        </p:spPr>
        <p:txBody>
          <a:bodyPr vert="horz" wrap="square" lIns="0" tIns="12065" rIns="0" bIns="0" rtlCol="0">
            <a:spAutoFit/>
          </a:bodyPr>
          <a:lstStyle/>
          <a:p>
            <a:pPr marL="12700">
              <a:lnSpc>
                <a:spcPct val="100000"/>
              </a:lnSpc>
              <a:spcBef>
                <a:spcPts val="95"/>
              </a:spcBef>
            </a:pPr>
            <a:r>
              <a:rPr lang="en-GB" sz="1800" dirty="0"/>
              <a:t>Sun Pharmaceutical Industries Ltd.</a:t>
            </a:r>
            <a:endParaRPr sz="1800" dirty="0"/>
          </a:p>
        </p:txBody>
      </p:sp>
      <p:sp>
        <p:nvSpPr>
          <p:cNvPr id="41" name="object 41"/>
          <p:cNvSpPr txBox="1"/>
          <p:nvPr/>
        </p:nvSpPr>
        <p:spPr>
          <a:xfrm>
            <a:off x="141831" y="526972"/>
            <a:ext cx="3210968"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D2841"/>
                </a:solidFill>
                <a:latin typeface="Calibri"/>
                <a:cs typeface="Calibri"/>
              </a:rPr>
              <a:t>NSE</a:t>
            </a:r>
            <a:r>
              <a:rPr sz="1200" b="1" spc="-20" dirty="0">
                <a:solidFill>
                  <a:srgbClr val="0D2841"/>
                </a:solidFill>
                <a:latin typeface="Calibri"/>
                <a:cs typeface="Calibri"/>
              </a:rPr>
              <a:t> </a:t>
            </a:r>
            <a:r>
              <a:rPr sz="1200" b="1" dirty="0">
                <a:solidFill>
                  <a:srgbClr val="0D2841"/>
                </a:solidFill>
                <a:latin typeface="Calibri"/>
                <a:cs typeface="Calibri"/>
              </a:rPr>
              <a:t>:</a:t>
            </a:r>
            <a:r>
              <a:rPr lang="en-US" sz="1200" b="1" spc="-15" dirty="0">
                <a:solidFill>
                  <a:srgbClr val="0D2841"/>
                </a:solidFill>
                <a:latin typeface="Calibri"/>
                <a:cs typeface="Calibri"/>
              </a:rPr>
              <a:t> </a:t>
            </a:r>
            <a:r>
              <a:rPr lang="en-GB" sz="1200" b="1" dirty="0">
                <a:latin typeface="+mj-lt"/>
              </a:rPr>
              <a:t>SUNPHARMA</a:t>
            </a:r>
            <a:r>
              <a:rPr sz="1200" b="1" spc="10" dirty="0">
                <a:solidFill>
                  <a:srgbClr val="0D2841"/>
                </a:solidFill>
                <a:latin typeface="Calibri"/>
                <a:cs typeface="Calibri"/>
              </a:rPr>
              <a:t> </a:t>
            </a:r>
            <a:r>
              <a:rPr sz="1200" b="1" dirty="0">
                <a:solidFill>
                  <a:srgbClr val="0D2841"/>
                </a:solidFill>
                <a:latin typeface="Calibri"/>
                <a:cs typeface="Calibri"/>
              </a:rPr>
              <a:t>|</a:t>
            </a:r>
            <a:r>
              <a:rPr sz="1200" b="1" spc="-15" dirty="0">
                <a:solidFill>
                  <a:srgbClr val="0D2841"/>
                </a:solidFill>
                <a:latin typeface="Calibri"/>
                <a:cs typeface="Calibri"/>
              </a:rPr>
              <a:t> </a:t>
            </a:r>
            <a:r>
              <a:rPr sz="1200" b="1" dirty="0">
                <a:solidFill>
                  <a:srgbClr val="0D2841"/>
                </a:solidFill>
                <a:latin typeface="Calibri"/>
                <a:cs typeface="Calibri"/>
              </a:rPr>
              <a:t>BSE Code:</a:t>
            </a:r>
            <a:r>
              <a:rPr sz="1200" b="1" spc="-5" dirty="0">
                <a:solidFill>
                  <a:srgbClr val="0D2841"/>
                </a:solidFill>
                <a:latin typeface="Calibri"/>
                <a:cs typeface="Calibri"/>
              </a:rPr>
              <a:t> </a:t>
            </a:r>
            <a:r>
              <a:rPr lang="en-GB" sz="1200" b="1" dirty="0">
                <a:latin typeface="+mj-lt"/>
              </a:rPr>
              <a:t>524715</a:t>
            </a:r>
          </a:p>
        </p:txBody>
      </p:sp>
      <p:sp>
        <p:nvSpPr>
          <p:cNvPr id="57" name="object 41">
            <a:extLst>
              <a:ext uri="{FF2B5EF4-FFF2-40B4-BE49-F238E27FC236}">
                <a16:creationId xmlns:a16="http://schemas.microsoft.com/office/drawing/2014/main" id="{A4CE2B38-9DA1-AD14-D09F-5355F60BA0B5}"/>
              </a:ext>
            </a:extLst>
          </p:cNvPr>
          <p:cNvSpPr txBox="1"/>
          <p:nvPr/>
        </p:nvSpPr>
        <p:spPr>
          <a:xfrm>
            <a:off x="141831" y="686543"/>
            <a:ext cx="3210968" cy="197490"/>
          </a:xfrm>
          <a:prstGeom prst="rect">
            <a:avLst/>
          </a:prstGeom>
        </p:spPr>
        <p:txBody>
          <a:bodyPr vert="horz" wrap="square" lIns="0" tIns="12700" rIns="0" bIns="0" rtlCol="0">
            <a:spAutoFit/>
          </a:bodyPr>
          <a:lstStyle/>
          <a:p>
            <a:pPr marL="12700">
              <a:lnSpc>
                <a:spcPct val="100000"/>
              </a:lnSpc>
              <a:spcBef>
                <a:spcPts val="100"/>
              </a:spcBef>
            </a:pPr>
            <a:r>
              <a:rPr lang="en-GB" sz="1200" b="1" dirty="0">
                <a:latin typeface="Calibri "/>
              </a:rPr>
              <a:t>Pharmaceuticals &amp; Drugs</a:t>
            </a:r>
          </a:p>
        </p:txBody>
      </p:sp>
      <p:pic>
        <p:nvPicPr>
          <p:cNvPr id="59" name="Picture 58">
            <a:extLst>
              <a:ext uri="{FF2B5EF4-FFF2-40B4-BE49-F238E27FC236}">
                <a16:creationId xmlns:a16="http://schemas.microsoft.com/office/drawing/2014/main" id="{E16D52EA-F1BD-484B-4CA0-DBFF0113C3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04126" y="17284"/>
            <a:ext cx="1295705" cy="879830"/>
          </a:xfrm>
          <a:prstGeom prst="rect">
            <a:avLst/>
          </a:prstGeom>
        </p:spPr>
      </p:pic>
      <p:cxnSp>
        <p:nvCxnSpPr>
          <p:cNvPr id="61" name="Straight Connector 60">
            <a:extLst>
              <a:ext uri="{FF2B5EF4-FFF2-40B4-BE49-F238E27FC236}">
                <a16:creationId xmlns:a16="http://schemas.microsoft.com/office/drawing/2014/main" id="{01430D55-C150-28B4-1B74-60D53B0357A2}"/>
              </a:ext>
            </a:extLst>
          </p:cNvPr>
          <p:cNvCxnSpPr>
            <a:cxnSpLocks/>
          </p:cNvCxnSpPr>
          <p:nvPr/>
        </p:nvCxnSpPr>
        <p:spPr>
          <a:xfrm>
            <a:off x="0" y="8859394"/>
            <a:ext cx="6858000" cy="0"/>
          </a:xfrm>
          <a:prstGeom prst="line">
            <a:avLst/>
          </a:prstGeom>
          <a:ln w="41275">
            <a:solidFill>
              <a:srgbClr val="E46C0A"/>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92CF3E35-22AB-C439-F95E-88E2CDE2061E}"/>
              </a:ext>
            </a:extLst>
          </p:cNvPr>
          <p:cNvSpPr txBox="1"/>
          <p:nvPr/>
        </p:nvSpPr>
        <p:spPr>
          <a:xfrm>
            <a:off x="6553200" y="8810228"/>
            <a:ext cx="667055" cy="369332"/>
          </a:xfrm>
          <a:prstGeom prst="rect">
            <a:avLst/>
          </a:prstGeom>
          <a:noFill/>
        </p:spPr>
        <p:txBody>
          <a:bodyPr wrap="square" rtlCol="0">
            <a:spAutoFit/>
          </a:bodyPr>
          <a:lstStyle/>
          <a:p>
            <a:r>
              <a:rPr lang="en-US" b="1" dirty="0">
                <a:solidFill>
                  <a:srgbClr val="E46C0A"/>
                </a:solidFill>
              </a:rPr>
              <a:t>7</a:t>
            </a:r>
            <a:endParaRPr lang="en-GB" b="1" dirty="0">
              <a:solidFill>
                <a:srgbClr val="E46C0A"/>
              </a:solidFill>
            </a:endParaRPr>
          </a:p>
        </p:txBody>
      </p:sp>
      <p:cxnSp>
        <p:nvCxnSpPr>
          <p:cNvPr id="69" name="Straight Connector 68">
            <a:extLst>
              <a:ext uri="{FF2B5EF4-FFF2-40B4-BE49-F238E27FC236}">
                <a16:creationId xmlns:a16="http://schemas.microsoft.com/office/drawing/2014/main" id="{784077AE-4C24-9691-27AE-FC71BA7D620F}"/>
              </a:ext>
            </a:extLst>
          </p:cNvPr>
          <p:cNvCxnSpPr>
            <a:cxnSpLocks/>
          </p:cNvCxnSpPr>
          <p:nvPr/>
        </p:nvCxnSpPr>
        <p:spPr>
          <a:xfrm flipV="1">
            <a:off x="0" y="933199"/>
            <a:ext cx="6858000" cy="37713"/>
          </a:xfrm>
          <a:prstGeom prst="line">
            <a:avLst/>
          </a:prstGeom>
          <a:ln>
            <a:solidFill>
              <a:srgbClr val="E46C0A"/>
            </a:solidFill>
          </a:ln>
        </p:spPr>
        <p:style>
          <a:lnRef idx="1">
            <a:schemeClr val="accent1"/>
          </a:lnRef>
          <a:fillRef idx="0">
            <a:schemeClr val="accent1"/>
          </a:fillRef>
          <a:effectRef idx="0">
            <a:schemeClr val="accent1"/>
          </a:effectRef>
          <a:fontRef idx="minor">
            <a:schemeClr val="tx1"/>
          </a:fontRef>
        </p:style>
      </p:cxnSp>
      <p:sp>
        <p:nvSpPr>
          <p:cNvPr id="16" name="object 6">
            <a:extLst>
              <a:ext uri="{FF2B5EF4-FFF2-40B4-BE49-F238E27FC236}">
                <a16:creationId xmlns:a16="http://schemas.microsoft.com/office/drawing/2014/main" id="{E19E5E69-3FF5-426D-AC40-8B3F8FD856D8}"/>
              </a:ext>
            </a:extLst>
          </p:cNvPr>
          <p:cNvSpPr/>
          <p:nvPr/>
        </p:nvSpPr>
        <p:spPr>
          <a:xfrm>
            <a:off x="107633" y="1041930"/>
            <a:ext cx="6642734" cy="339090"/>
          </a:xfrm>
          <a:custGeom>
            <a:avLst/>
            <a:gdLst/>
            <a:ahLst/>
            <a:cxnLst/>
            <a:rect l="l" t="t" r="r" b="b"/>
            <a:pathLst>
              <a:path w="6642734" h="339090">
                <a:moveTo>
                  <a:pt x="6642734" y="0"/>
                </a:moveTo>
                <a:lnTo>
                  <a:pt x="0" y="0"/>
                </a:lnTo>
                <a:lnTo>
                  <a:pt x="0" y="338556"/>
                </a:lnTo>
                <a:lnTo>
                  <a:pt x="6642734" y="338556"/>
                </a:lnTo>
                <a:lnTo>
                  <a:pt x="6642734" y="0"/>
                </a:lnTo>
                <a:close/>
              </a:path>
            </a:pathLst>
          </a:custGeom>
          <a:solidFill>
            <a:srgbClr val="E46C0A"/>
          </a:solidFill>
        </p:spPr>
        <p:txBody>
          <a:bodyPr wrap="square" lIns="0" tIns="0" rIns="0" bIns="0" rtlCol="0"/>
          <a:lstStyle/>
          <a:p>
            <a:endParaRPr/>
          </a:p>
        </p:txBody>
      </p:sp>
      <p:sp>
        <p:nvSpPr>
          <p:cNvPr id="17" name="object 13">
            <a:extLst>
              <a:ext uri="{FF2B5EF4-FFF2-40B4-BE49-F238E27FC236}">
                <a16:creationId xmlns:a16="http://schemas.microsoft.com/office/drawing/2014/main" id="{75B42186-A1D7-4DA8-AF31-778ECEF5221C}"/>
              </a:ext>
            </a:extLst>
          </p:cNvPr>
          <p:cNvSpPr txBox="1"/>
          <p:nvPr/>
        </p:nvSpPr>
        <p:spPr>
          <a:xfrm>
            <a:off x="160784" y="914400"/>
            <a:ext cx="5332538" cy="433452"/>
          </a:xfrm>
          <a:prstGeom prst="rect">
            <a:avLst/>
          </a:prstGeom>
        </p:spPr>
        <p:txBody>
          <a:bodyPr vert="horz" wrap="square" lIns="0" tIns="154940" rIns="0" bIns="0" rtlCol="0">
            <a:spAutoFit/>
          </a:bodyPr>
          <a:lstStyle/>
          <a:p>
            <a:pPr marL="2020570">
              <a:lnSpc>
                <a:spcPct val="100000"/>
              </a:lnSpc>
              <a:spcBef>
                <a:spcPts val="1220"/>
              </a:spcBef>
            </a:pPr>
            <a:r>
              <a:rPr lang="en-GB" b="1" spc="-20" dirty="0">
                <a:solidFill>
                  <a:schemeClr val="bg1"/>
                </a:solidFill>
                <a:latin typeface="+mj-lt"/>
                <a:cs typeface="Trebuchet MS"/>
              </a:rPr>
              <a:t>QUARTERLY PERFORMANCE</a:t>
            </a:r>
            <a:endParaRPr dirty="0">
              <a:solidFill>
                <a:schemeClr val="bg1"/>
              </a:solidFill>
              <a:latin typeface="+mj-lt"/>
              <a:cs typeface="Trebuchet MS"/>
            </a:endParaRPr>
          </a:p>
        </p:txBody>
      </p:sp>
      <p:sp>
        <p:nvSpPr>
          <p:cNvPr id="6" name="TextBox 5">
            <a:extLst>
              <a:ext uri="{FF2B5EF4-FFF2-40B4-BE49-F238E27FC236}">
                <a16:creationId xmlns:a16="http://schemas.microsoft.com/office/drawing/2014/main" id="{109B0FDC-2EFC-4C6D-9416-107803772A07}"/>
              </a:ext>
            </a:extLst>
          </p:cNvPr>
          <p:cNvSpPr txBox="1"/>
          <p:nvPr/>
        </p:nvSpPr>
        <p:spPr>
          <a:xfrm>
            <a:off x="107633" y="1646684"/>
            <a:ext cx="6642734" cy="830997"/>
          </a:xfrm>
          <a:prstGeom prst="rect">
            <a:avLst/>
          </a:prstGeom>
          <a:noFill/>
        </p:spPr>
        <p:txBody>
          <a:bodyPr wrap="square" rtlCol="0">
            <a:spAutoFit/>
          </a:bodyPr>
          <a:lstStyle/>
          <a:p>
            <a:pPr algn="just"/>
            <a:r>
              <a:rPr lang="en-GB" sz="1200" dirty="0">
                <a:latin typeface="+mn-lt"/>
              </a:rPr>
              <a:t>Sun Pharma delivered a strong Q4 FY25, with Revenue from Operations rising 8.96% YoY to ₹129,588 million. Profit Before Tax grew 15.59% YoY to ₹32,544 million, while Net Profit After Tax increased 18.62% YoY to ₹31,539 million  profit growth outpacing revenue growth, reflecting improved operating leverage and cost efficiency even within a single quarter.</a:t>
            </a:r>
          </a:p>
        </p:txBody>
      </p:sp>
      <p:graphicFrame>
        <p:nvGraphicFramePr>
          <p:cNvPr id="15" name="Chart 14">
            <a:extLst>
              <a:ext uri="{FF2B5EF4-FFF2-40B4-BE49-F238E27FC236}">
                <a16:creationId xmlns:a16="http://schemas.microsoft.com/office/drawing/2014/main" id="{9EA0B3C4-879E-44FB-B8F2-388D8A2517DE}"/>
              </a:ext>
            </a:extLst>
          </p:cNvPr>
          <p:cNvGraphicFramePr/>
          <p:nvPr>
            <p:extLst>
              <p:ext uri="{D42A27DB-BD31-4B8C-83A1-F6EECF244321}">
                <p14:modId xmlns:p14="http://schemas.microsoft.com/office/powerpoint/2010/main" val="969573993"/>
              </p:ext>
            </p:extLst>
          </p:nvPr>
        </p:nvGraphicFramePr>
        <p:xfrm>
          <a:off x="114350" y="2560317"/>
          <a:ext cx="6642734" cy="43211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88955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6858000" cy="1625597"/>
            <a:chOff x="0" y="0"/>
            <a:chExt cx="6858000" cy="1625597"/>
          </a:xfrm>
        </p:grpSpPr>
        <p:sp>
          <p:nvSpPr>
            <p:cNvPr id="3" name="object 3"/>
            <p:cNvSpPr/>
            <p:nvPr/>
          </p:nvSpPr>
          <p:spPr>
            <a:xfrm>
              <a:off x="0" y="0"/>
              <a:ext cx="6858000" cy="949325"/>
            </a:xfrm>
            <a:custGeom>
              <a:avLst/>
              <a:gdLst/>
              <a:ahLst/>
              <a:cxnLst/>
              <a:rect l="l" t="t" r="r" b="b"/>
              <a:pathLst>
                <a:path w="6858000" h="949325">
                  <a:moveTo>
                    <a:pt x="0" y="949198"/>
                  </a:moveTo>
                  <a:lnTo>
                    <a:pt x="6858000" y="949198"/>
                  </a:lnTo>
                  <a:lnTo>
                    <a:pt x="6858000" y="0"/>
                  </a:lnTo>
                  <a:lnTo>
                    <a:pt x="0" y="0"/>
                  </a:lnTo>
                  <a:lnTo>
                    <a:pt x="0" y="949198"/>
                  </a:lnTo>
                  <a:close/>
                </a:path>
              </a:pathLst>
            </a:custGeom>
            <a:solidFill>
              <a:schemeClr val="accent6">
                <a:lumMod val="75000"/>
              </a:schemeClr>
            </a:solidFill>
          </p:spPr>
          <p:txBody>
            <a:bodyPr wrap="square" lIns="0" tIns="0" rIns="0" bIns="0" rtlCol="0"/>
            <a:lstStyle/>
            <a:p>
              <a:endParaRPr/>
            </a:p>
          </p:txBody>
        </p:sp>
        <p:sp>
          <p:nvSpPr>
            <p:cNvPr id="4" name="object 4"/>
            <p:cNvSpPr/>
            <p:nvPr/>
          </p:nvSpPr>
          <p:spPr>
            <a:xfrm>
              <a:off x="0" y="316227"/>
              <a:ext cx="4147185" cy="1309370"/>
            </a:xfrm>
            <a:custGeom>
              <a:avLst/>
              <a:gdLst/>
              <a:ahLst/>
              <a:cxnLst/>
              <a:rect l="l" t="t" r="r" b="b"/>
              <a:pathLst>
                <a:path w="4147185" h="1309370">
                  <a:moveTo>
                    <a:pt x="3492246" y="0"/>
                  </a:moveTo>
                  <a:lnTo>
                    <a:pt x="0" y="0"/>
                  </a:lnTo>
                  <a:lnTo>
                    <a:pt x="0" y="1309243"/>
                  </a:lnTo>
                  <a:lnTo>
                    <a:pt x="3492246" y="1309243"/>
                  </a:lnTo>
                  <a:lnTo>
                    <a:pt x="4146804" y="654685"/>
                  </a:lnTo>
                  <a:lnTo>
                    <a:pt x="3492246" y="0"/>
                  </a:lnTo>
                  <a:close/>
                </a:path>
              </a:pathLst>
            </a:custGeom>
            <a:solidFill>
              <a:srgbClr val="FFFFFF"/>
            </a:solidFill>
          </p:spPr>
          <p:txBody>
            <a:bodyPr wrap="square" lIns="0" tIns="0" rIns="0" bIns="0" rtlCol="0"/>
            <a:lstStyle/>
            <a:p>
              <a:endParaRPr dirty="0"/>
            </a:p>
          </p:txBody>
        </p:sp>
      </p:grpSp>
      <p:sp>
        <p:nvSpPr>
          <p:cNvPr id="5" name="object 5"/>
          <p:cNvSpPr txBox="1"/>
          <p:nvPr/>
        </p:nvSpPr>
        <p:spPr>
          <a:xfrm>
            <a:off x="147015" y="4952"/>
            <a:ext cx="2081530" cy="247015"/>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FFFFFF"/>
                </a:solidFill>
                <a:latin typeface="Calibri"/>
                <a:cs typeface="Calibri"/>
              </a:rPr>
              <a:t>EQUITY</a:t>
            </a:r>
            <a:r>
              <a:rPr sz="1450" b="1" spc="-65" dirty="0">
                <a:solidFill>
                  <a:srgbClr val="FFFFFF"/>
                </a:solidFill>
                <a:latin typeface="Calibri"/>
                <a:cs typeface="Calibri"/>
              </a:rPr>
              <a:t> </a:t>
            </a:r>
            <a:r>
              <a:rPr sz="1450" b="1" dirty="0">
                <a:solidFill>
                  <a:srgbClr val="FFFFFF"/>
                </a:solidFill>
                <a:latin typeface="Calibri"/>
                <a:cs typeface="Calibri"/>
              </a:rPr>
              <a:t>RESEARCH</a:t>
            </a:r>
            <a:r>
              <a:rPr sz="1450" b="1" spc="-60" dirty="0">
                <a:solidFill>
                  <a:srgbClr val="FFFFFF"/>
                </a:solidFill>
                <a:latin typeface="Calibri"/>
                <a:cs typeface="Calibri"/>
              </a:rPr>
              <a:t> </a:t>
            </a:r>
            <a:r>
              <a:rPr sz="1450" b="1" spc="-10" dirty="0">
                <a:solidFill>
                  <a:srgbClr val="FFFFFF"/>
                </a:solidFill>
                <a:latin typeface="Calibri"/>
                <a:cs typeface="Calibri"/>
              </a:rPr>
              <a:t>REPORT</a:t>
            </a:r>
            <a:endParaRPr sz="1450">
              <a:latin typeface="Calibri"/>
              <a:cs typeface="Calibri"/>
            </a:endParaRPr>
          </a:p>
        </p:txBody>
      </p:sp>
      <p:sp>
        <p:nvSpPr>
          <p:cNvPr id="40" name="object 40"/>
          <p:cNvSpPr txBox="1">
            <a:spLocks noGrp="1"/>
          </p:cNvSpPr>
          <p:nvPr>
            <p:ph type="title"/>
          </p:nvPr>
        </p:nvSpPr>
        <p:spPr>
          <a:xfrm>
            <a:off x="141831" y="295140"/>
            <a:ext cx="4269104" cy="289182"/>
          </a:xfrm>
          <a:prstGeom prst="rect">
            <a:avLst/>
          </a:prstGeom>
        </p:spPr>
        <p:txBody>
          <a:bodyPr vert="horz" wrap="square" lIns="0" tIns="12065" rIns="0" bIns="0" rtlCol="0">
            <a:spAutoFit/>
          </a:bodyPr>
          <a:lstStyle/>
          <a:p>
            <a:pPr marL="12700">
              <a:lnSpc>
                <a:spcPct val="100000"/>
              </a:lnSpc>
              <a:spcBef>
                <a:spcPts val="95"/>
              </a:spcBef>
            </a:pPr>
            <a:r>
              <a:rPr lang="en-GB" sz="1800" dirty="0"/>
              <a:t>Sun Pharmaceutical Industries Ltd.</a:t>
            </a:r>
            <a:endParaRPr sz="1800" dirty="0"/>
          </a:p>
        </p:txBody>
      </p:sp>
      <p:sp>
        <p:nvSpPr>
          <p:cNvPr id="41" name="object 41"/>
          <p:cNvSpPr txBox="1"/>
          <p:nvPr/>
        </p:nvSpPr>
        <p:spPr>
          <a:xfrm>
            <a:off x="141831" y="526972"/>
            <a:ext cx="3210968"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D2841"/>
                </a:solidFill>
                <a:latin typeface="Calibri"/>
                <a:cs typeface="Calibri"/>
              </a:rPr>
              <a:t>NSE</a:t>
            </a:r>
            <a:r>
              <a:rPr sz="1200" b="1" spc="-20" dirty="0">
                <a:solidFill>
                  <a:srgbClr val="0D2841"/>
                </a:solidFill>
                <a:latin typeface="Calibri"/>
                <a:cs typeface="Calibri"/>
              </a:rPr>
              <a:t> </a:t>
            </a:r>
            <a:r>
              <a:rPr sz="1200" b="1" dirty="0">
                <a:solidFill>
                  <a:srgbClr val="0D2841"/>
                </a:solidFill>
                <a:latin typeface="Calibri"/>
                <a:cs typeface="Calibri"/>
              </a:rPr>
              <a:t>:</a:t>
            </a:r>
            <a:r>
              <a:rPr lang="en-US" sz="1200" b="1" spc="-15" dirty="0">
                <a:solidFill>
                  <a:srgbClr val="0D2841"/>
                </a:solidFill>
                <a:latin typeface="Calibri"/>
                <a:cs typeface="Calibri"/>
              </a:rPr>
              <a:t> </a:t>
            </a:r>
            <a:r>
              <a:rPr lang="en-GB" sz="1200" b="1" dirty="0">
                <a:latin typeface="+mj-lt"/>
              </a:rPr>
              <a:t>SUNPHARMA</a:t>
            </a:r>
            <a:r>
              <a:rPr sz="1200" b="1" spc="10" dirty="0">
                <a:solidFill>
                  <a:srgbClr val="0D2841"/>
                </a:solidFill>
                <a:latin typeface="Calibri"/>
                <a:cs typeface="Calibri"/>
              </a:rPr>
              <a:t> </a:t>
            </a:r>
            <a:r>
              <a:rPr sz="1200" b="1" dirty="0">
                <a:solidFill>
                  <a:srgbClr val="0D2841"/>
                </a:solidFill>
                <a:latin typeface="Calibri"/>
                <a:cs typeface="Calibri"/>
              </a:rPr>
              <a:t>|</a:t>
            </a:r>
            <a:r>
              <a:rPr sz="1200" b="1" spc="-15" dirty="0">
                <a:solidFill>
                  <a:srgbClr val="0D2841"/>
                </a:solidFill>
                <a:latin typeface="Calibri"/>
                <a:cs typeface="Calibri"/>
              </a:rPr>
              <a:t> </a:t>
            </a:r>
            <a:r>
              <a:rPr sz="1200" b="1" dirty="0">
                <a:solidFill>
                  <a:srgbClr val="0D2841"/>
                </a:solidFill>
                <a:latin typeface="Calibri"/>
                <a:cs typeface="Calibri"/>
              </a:rPr>
              <a:t>BSE Code:</a:t>
            </a:r>
            <a:r>
              <a:rPr sz="1200" b="1" spc="-5" dirty="0">
                <a:solidFill>
                  <a:srgbClr val="0D2841"/>
                </a:solidFill>
                <a:latin typeface="Calibri"/>
                <a:cs typeface="Calibri"/>
              </a:rPr>
              <a:t> </a:t>
            </a:r>
            <a:r>
              <a:rPr lang="en-GB" sz="1200" b="1" dirty="0">
                <a:latin typeface="+mj-lt"/>
              </a:rPr>
              <a:t>524715</a:t>
            </a:r>
          </a:p>
        </p:txBody>
      </p:sp>
      <p:sp>
        <p:nvSpPr>
          <p:cNvPr id="57" name="object 41">
            <a:extLst>
              <a:ext uri="{FF2B5EF4-FFF2-40B4-BE49-F238E27FC236}">
                <a16:creationId xmlns:a16="http://schemas.microsoft.com/office/drawing/2014/main" id="{A4CE2B38-9DA1-AD14-D09F-5355F60BA0B5}"/>
              </a:ext>
            </a:extLst>
          </p:cNvPr>
          <p:cNvSpPr txBox="1"/>
          <p:nvPr/>
        </p:nvSpPr>
        <p:spPr>
          <a:xfrm>
            <a:off x="141831" y="686543"/>
            <a:ext cx="3210968" cy="197490"/>
          </a:xfrm>
          <a:prstGeom prst="rect">
            <a:avLst/>
          </a:prstGeom>
        </p:spPr>
        <p:txBody>
          <a:bodyPr vert="horz" wrap="square" lIns="0" tIns="12700" rIns="0" bIns="0" rtlCol="0">
            <a:spAutoFit/>
          </a:bodyPr>
          <a:lstStyle/>
          <a:p>
            <a:pPr marL="12700">
              <a:lnSpc>
                <a:spcPct val="100000"/>
              </a:lnSpc>
              <a:spcBef>
                <a:spcPts val="100"/>
              </a:spcBef>
            </a:pPr>
            <a:r>
              <a:rPr lang="en-GB" sz="1200" b="1" dirty="0">
                <a:latin typeface="Calibri "/>
              </a:rPr>
              <a:t>Pharmaceuticals &amp; Drugs</a:t>
            </a:r>
          </a:p>
        </p:txBody>
      </p:sp>
      <p:pic>
        <p:nvPicPr>
          <p:cNvPr id="59" name="Picture 58">
            <a:extLst>
              <a:ext uri="{FF2B5EF4-FFF2-40B4-BE49-F238E27FC236}">
                <a16:creationId xmlns:a16="http://schemas.microsoft.com/office/drawing/2014/main" id="{E16D52EA-F1BD-484B-4CA0-DBFF0113C3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04126" y="17284"/>
            <a:ext cx="1295705" cy="879830"/>
          </a:xfrm>
          <a:prstGeom prst="rect">
            <a:avLst/>
          </a:prstGeom>
        </p:spPr>
      </p:pic>
      <p:cxnSp>
        <p:nvCxnSpPr>
          <p:cNvPr id="61" name="Straight Connector 60">
            <a:extLst>
              <a:ext uri="{FF2B5EF4-FFF2-40B4-BE49-F238E27FC236}">
                <a16:creationId xmlns:a16="http://schemas.microsoft.com/office/drawing/2014/main" id="{01430D55-C150-28B4-1B74-60D53B0357A2}"/>
              </a:ext>
            </a:extLst>
          </p:cNvPr>
          <p:cNvCxnSpPr>
            <a:cxnSpLocks/>
          </p:cNvCxnSpPr>
          <p:nvPr/>
        </p:nvCxnSpPr>
        <p:spPr>
          <a:xfrm>
            <a:off x="0" y="8859394"/>
            <a:ext cx="6858000" cy="0"/>
          </a:xfrm>
          <a:prstGeom prst="line">
            <a:avLst/>
          </a:prstGeom>
          <a:ln w="41275">
            <a:solidFill>
              <a:srgbClr val="E46C0A"/>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92CF3E35-22AB-C439-F95E-88E2CDE2061E}"/>
              </a:ext>
            </a:extLst>
          </p:cNvPr>
          <p:cNvSpPr txBox="1"/>
          <p:nvPr/>
        </p:nvSpPr>
        <p:spPr>
          <a:xfrm>
            <a:off x="6553200" y="8810228"/>
            <a:ext cx="667055" cy="369332"/>
          </a:xfrm>
          <a:prstGeom prst="rect">
            <a:avLst/>
          </a:prstGeom>
          <a:noFill/>
        </p:spPr>
        <p:txBody>
          <a:bodyPr wrap="square" rtlCol="0">
            <a:spAutoFit/>
          </a:bodyPr>
          <a:lstStyle/>
          <a:p>
            <a:r>
              <a:rPr lang="en-US" b="1" dirty="0">
                <a:solidFill>
                  <a:srgbClr val="E46C0A"/>
                </a:solidFill>
              </a:rPr>
              <a:t>7</a:t>
            </a:r>
            <a:endParaRPr lang="en-GB" b="1" dirty="0">
              <a:solidFill>
                <a:srgbClr val="E46C0A"/>
              </a:solidFill>
            </a:endParaRPr>
          </a:p>
        </p:txBody>
      </p:sp>
      <p:cxnSp>
        <p:nvCxnSpPr>
          <p:cNvPr id="69" name="Straight Connector 68">
            <a:extLst>
              <a:ext uri="{FF2B5EF4-FFF2-40B4-BE49-F238E27FC236}">
                <a16:creationId xmlns:a16="http://schemas.microsoft.com/office/drawing/2014/main" id="{784077AE-4C24-9691-27AE-FC71BA7D620F}"/>
              </a:ext>
            </a:extLst>
          </p:cNvPr>
          <p:cNvCxnSpPr>
            <a:cxnSpLocks/>
          </p:cNvCxnSpPr>
          <p:nvPr/>
        </p:nvCxnSpPr>
        <p:spPr>
          <a:xfrm flipV="1">
            <a:off x="0" y="933199"/>
            <a:ext cx="6858000" cy="37713"/>
          </a:xfrm>
          <a:prstGeom prst="line">
            <a:avLst/>
          </a:prstGeom>
          <a:ln>
            <a:solidFill>
              <a:srgbClr val="E46C0A"/>
            </a:solidFill>
          </a:ln>
        </p:spPr>
        <p:style>
          <a:lnRef idx="1">
            <a:schemeClr val="accent1"/>
          </a:lnRef>
          <a:fillRef idx="0">
            <a:schemeClr val="accent1"/>
          </a:fillRef>
          <a:effectRef idx="0">
            <a:schemeClr val="accent1"/>
          </a:effectRef>
          <a:fontRef idx="minor">
            <a:schemeClr val="tx1"/>
          </a:fontRef>
        </p:style>
      </p:cxnSp>
      <p:sp>
        <p:nvSpPr>
          <p:cNvPr id="15" name="object 6">
            <a:extLst>
              <a:ext uri="{FF2B5EF4-FFF2-40B4-BE49-F238E27FC236}">
                <a16:creationId xmlns:a16="http://schemas.microsoft.com/office/drawing/2014/main" id="{01E3585D-354F-4EA8-BA38-5316B41DB59F}"/>
              </a:ext>
            </a:extLst>
          </p:cNvPr>
          <p:cNvSpPr/>
          <p:nvPr/>
        </p:nvSpPr>
        <p:spPr>
          <a:xfrm>
            <a:off x="107633" y="1040689"/>
            <a:ext cx="6642734" cy="339090"/>
          </a:xfrm>
          <a:custGeom>
            <a:avLst/>
            <a:gdLst/>
            <a:ahLst/>
            <a:cxnLst/>
            <a:rect l="l" t="t" r="r" b="b"/>
            <a:pathLst>
              <a:path w="6642734" h="339090">
                <a:moveTo>
                  <a:pt x="6642734" y="0"/>
                </a:moveTo>
                <a:lnTo>
                  <a:pt x="0" y="0"/>
                </a:lnTo>
                <a:lnTo>
                  <a:pt x="0" y="338556"/>
                </a:lnTo>
                <a:lnTo>
                  <a:pt x="6642734" y="338556"/>
                </a:lnTo>
                <a:lnTo>
                  <a:pt x="6642734" y="0"/>
                </a:lnTo>
                <a:close/>
              </a:path>
            </a:pathLst>
          </a:custGeom>
          <a:solidFill>
            <a:srgbClr val="E46C0A"/>
          </a:solidFill>
        </p:spPr>
        <p:txBody>
          <a:bodyPr wrap="square" lIns="0" tIns="0" rIns="0" bIns="0" rtlCol="0"/>
          <a:lstStyle/>
          <a:p>
            <a:endParaRPr>
              <a:solidFill>
                <a:srgbClr val="E46C0A"/>
              </a:solidFill>
            </a:endParaRPr>
          </a:p>
        </p:txBody>
      </p:sp>
      <p:sp>
        <p:nvSpPr>
          <p:cNvPr id="16" name="object 13">
            <a:extLst>
              <a:ext uri="{FF2B5EF4-FFF2-40B4-BE49-F238E27FC236}">
                <a16:creationId xmlns:a16="http://schemas.microsoft.com/office/drawing/2014/main" id="{2BA63D94-A874-4672-AD29-B6F077901034}"/>
              </a:ext>
            </a:extLst>
          </p:cNvPr>
          <p:cNvSpPr txBox="1"/>
          <p:nvPr/>
        </p:nvSpPr>
        <p:spPr>
          <a:xfrm>
            <a:off x="116238" y="1349571"/>
            <a:ext cx="5332538" cy="402674"/>
          </a:xfrm>
          <a:prstGeom prst="rect">
            <a:avLst/>
          </a:prstGeom>
        </p:spPr>
        <p:txBody>
          <a:bodyPr vert="horz" wrap="square" lIns="0" tIns="154940" rIns="0" bIns="0" rtlCol="0">
            <a:spAutoFit/>
          </a:bodyPr>
          <a:lstStyle/>
          <a:p>
            <a:pPr marL="12700">
              <a:lnSpc>
                <a:spcPct val="100000"/>
              </a:lnSpc>
              <a:spcBef>
                <a:spcPts val="994"/>
              </a:spcBef>
            </a:pPr>
            <a:r>
              <a:rPr lang="en-GB" sz="1600" b="1" dirty="0">
                <a:solidFill>
                  <a:srgbClr val="E36B0C"/>
                </a:solidFill>
                <a:latin typeface="Calibri"/>
                <a:cs typeface="Calibri"/>
              </a:rPr>
              <a:t>INCOME STATEMENT</a:t>
            </a:r>
            <a:endParaRPr sz="1600" dirty="0">
              <a:solidFill>
                <a:srgbClr val="E36B0C"/>
              </a:solidFill>
              <a:latin typeface="Calibri"/>
              <a:cs typeface="Calibri"/>
            </a:endParaRPr>
          </a:p>
        </p:txBody>
      </p:sp>
      <p:sp>
        <p:nvSpPr>
          <p:cNvPr id="7" name="TextBox 6">
            <a:extLst>
              <a:ext uri="{FF2B5EF4-FFF2-40B4-BE49-F238E27FC236}">
                <a16:creationId xmlns:a16="http://schemas.microsoft.com/office/drawing/2014/main" id="{09114B62-ABFF-69D3-7B1C-2B4E1E3B9B8E}"/>
              </a:ext>
            </a:extLst>
          </p:cNvPr>
          <p:cNvSpPr txBox="1"/>
          <p:nvPr/>
        </p:nvSpPr>
        <p:spPr>
          <a:xfrm>
            <a:off x="-76200" y="1015594"/>
            <a:ext cx="5943600" cy="369332"/>
          </a:xfrm>
          <a:prstGeom prst="rect">
            <a:avLst/>
          </a:prstGeom>
          <a:noFill/>
        </p:spPr>
        <p:txBody>
          <a:bodyPr wrap="square">
            <a:spAutoFit/>
          </a:bodyPr>
          <a:lstStyle/>
          <a:p>
            <a:pPr marL="2020570">
              <a:lnSpc>
                <a:spcPct val="100000"/>
              </a:lnSpc>
              <a:spcBef>
                <a:spcPts val="1220"/>
              </a:spcBef>
            </a:pPr>
            <a:r>
              <a:rPr lang="en-GB" b="1" spc="-20" dirty="0">
                <a:solidFill>
                  <a:schemeClr val="bg1"/>
                </a:solidFill>
                <a:latin typeface="+mj-lt"/>
                <a:cs typeface="Trebuchet MS"/>
              </a:rPr>
              <a:t>INCOME STATEMENT</a:t>
            </a:r>
            <a:r>
              <a:rPr lang="en-GB" b="1" spc="-150" dirty="0">
                <a:solidFill>
                  <a:schemeClr val="bg1"/>
                </a:solidFill>
                <a:latin typeface="+mj-lt"/>
                <a:cs typeface="Trebuchet MS"/>
              </a:rPr>
              <a:t> </a:t>
            </a:r>
            <a:r>
              <a:rPr lang="en-GB" b="1" spc="-10" dirty="0">
                <a:solidFill>
                  <a:schemeClr val="bg1"/>
                </a:solidFill>
                <a:latin typeface="+mj-lt"/>
                <a:cs typeface="Trebuchet MS"/>
              </a:rPr>
              <a:t>ANALYSIS</a:t>
            </a:r>
            <a:endParaRPr lang="en-GB" dirty="0">
              <a:solidFill>
                <a:schemeClr val="bg1"/>
              </a:solidFill>
              <a:latin typeface="+mj-lt"/>
              <a:cs typeface="Trebuchet MS"/>
            </a:endParaRPr>
          </a:p>
        </p:txBody>
      </p:sp>
      <p:pic>
        <p:nvPicPr>
          <p:cNvPr id="19" name="Picture 18">
            <a:extLst>
              <a:ext uri="{FF2B5EF4-FFF2-40B4-BE49-F238E27FC236}">
                <a16:creationId xmlns:a16="http://schemas.microsoft.com/office/drawing/2014/main" id="{3AE8C463-8DBC-D338-3B5D-C11CCFA45080}"/>
              </a:ext>
            </a:extLst>
          </p:cNvPr>
          <p:cNvPicPr>
            <a:picLocks noChangeAspect="1"/>
          </p:cNvPicPr>
          <p:nvPr/>
        </p:nvPicPr>
        <p:blipFill>
          <a:blip r:embed="rId3"/>
          <a:stretch>
            <a:fillRect/>
          </a:stretch>
        </p:blipFill>
        <p:spPr>
          <a:xfrm>
            <a:off x="116238" y="1905000"/>
            <a:ext cx="6634129" cy="805954"/>
          </a:xfrm>
          <a:prstGeom prst="rect">
            <a:avLst/>
          </a:prstGeom>
        </p:spPr>
      </p:pic>
      <p:pic>
        <p:nvPicPr>
          <p:cNvPr id="21" name="Picture 20">
            <a:extLst>
              <a:ext uri="{FF2B5EF4-FFF2-40B4-BE49-F238E27FC236}">
                <a16:creationId xmlns:a16="http://schemas.microsoft.com/office/drawing/2014/main" id="{7E4382F0-81FE-F47C-A805-1777AB9C231C}"/>
              </a:ext>
            </a:extLst>
          </p:cNvPr>
          <p:cNvPicPr>
            <a:picLocks noChangeAspect="1"/>
          </p:cNvPicPr>
          <p:nvPr/>
        </p:nvPicPr>
        <p:blipFill>
          <a:blip r:embed="rId4"/>
          <a:stretch>
            <a:fillRect/>
          </a:stretch>
        </p:blipFill>
        <p:spPr>
          <a:xfrm>
            <a:off x="141830" y="3287536"/>
            <a:ext cx="6608537" cy="1614816"/>
          </a:xfrm>
          <a:prstGeom prst="rect">
            <a:avLst/>
          </a:prstGeom>
        </p:spPr>
      </p:pic>
      <p:pic>
        <p:nvPicPr>
          <p:cNvPr id="23" name="Picture 22">
            <a:extLst>
              <a:ext uri="{FF2B5EF4-FFF2-40B4-BE49-F238E27FC236}">
                <a16:creationId xmlns:a16="http://schemas.microsoft.com/office/drawing/2014/main" id="{EC9FE6F1-6075-2123-6203-FA0616DB124E}"/>
              </a:ext>
            </a:extLst>
          </p:cNvPr>
          <p:cNvPicPr>
            <a:picLocks noChangeAspect="1"/>
          </p:cNvPicPr>
          <p:nvPr/>
        </p:nvPicPr>
        <p:blipFill>
          <a:blip r:embed="rId5"/>
          <a:stretch>
            <a:fillRect/>
          </a:stretch>
        </p:blipFill>
        <p:spPr>
          <a:xfrm>
            <a:off x="141830" y="5374917"/>
            <a:ext cx="6608537" cy="1178283"/>
          </a:xfrm>
          <a:prstGeom prst="rect">
            <a:avLst/>
          </a:prstGeom>
        </p:spPr>
      </p:pic>
    </p:spTree>
    <p:extLst>
      <p:ext uri="{BB962C8B-B14F-4D97-AF65-F5344CB8AC3E}">
        <p14:creationId xmlns:p14="http://schemas.microsoft.com/office/powerpoint/2010/main" val="2652552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6858000" cy="1625597"/>
            <a:chOff x="0" y="0"/>
            <a:chExt cx="6858000" cy="1625597"/>
          </a:xfrm>
        </p:grpSpPr>
        <p:sp>
          <p:nvSpPr>
            <p:cNvPr id="3" name="object 3"/>
            <p:cNvSpPr/>
            <p:nvPr/>
          </p:nvSpPr>
          <p:spPr>
            <a:xfrm>
              <a:off x="0" y="0"/>
              <a:ext cx="6858000" cy="949325"/>
            </a:xfrm>
            <a:custGeom>
              <a:avLst/>
              <a:gdLst/>
              <a:ahLst/>
              <a:cxnLst/>
              <a:rect l="l" t="t" r="r" b="b"/>
              <a:pathLst>
                <a:path w="6858000" h="949325">
                  <a:moveTo>
                    <a:pt x="0" y="949198"/>
                  </a:moveTo>
                  <a:lnTo>
                    <a:pt x="6858000" y="949198"/>
                  </a:lnTo>
                  <a:lnTo>
                    <a:pt x="6858000" y="0"/>
                  </a:lnTo>
                  <a:lnTo>
                    <a:pt x="0" y="0"/>
                  </a:lnTo>
                  <a:lnTo>
                    <a:pt x="0" y="949198"/>
                  </a:lnTo>
                  <a:close/>
                </a:path>
              </a:pathLst>
            </a:custGeom>
            <a:solidFill>
              <a:schemeClr val="accent6">
                <a:lumMod val="75000"/>
              </a:schemeClr>
            </a:solidFill>
          </p:spPr>
          <p:txBody>
            <a:bodyPr wrap="square" lIns="0" tIns="0" rIns="0" bIns="0" rtlCol="0"/>
            <a:lstStyle/>
            <a:p>
              <a:endParaRPr/>
            </a:p>
          </p:txBody>
        </p:sp>
        <p:sp>
          <p:nvSpPr>
            <p:cNvPr id="4" name="object 4"/>
            <p:cNvSpPr/>
            <p:nvPr/>
          </p:nvSpPr>
          <p:spPr>
            <a:xfrm>
              <a:off x="0" y="316227"/>
              <a:ext cx="4147185" cy="1309370"/>
            </a:xfrm>
            <a:custGeom>
              <a:avLst/>
              <a:gdLst/>
              <a:ahLst/>
              <a:cxnLst/>
              <a:rect l="l" t="t" r="r" b="b"/>
              <a:pathLst>
                <a:path w="4147185" h="1309370">
                  <a:moveTo>
                    <a:pt x="3492246" y="0"/>
                  </a:moveTo>
                  <a:lnTo>
                    <a:pt x="0" y="0"/>
                  </a:lnTo>
                  <a:lnTo>
                    <a:pt x="0" y="1309243"/>
                  </a:lnTo>
                  <a:lnTo>
                    <a:pt x="3492246" y="1309243"/>
                  </a:lnTo>
                  <a:lnTo>
                    <a:pt x="4146804" y="654685"/>
                  </a:lnTo>
                  <a:lnTo>
                    <a:pt x="3492246" y="0"/>
                  </a:lnTo>
                  <a:close/>
                </a:path>
              </a:pathLst>
            </a:custGeom>
            <a:solidFill>
              <a:srgbClr val="FFFFFF"/>
            </a:solidFill>
          </p:spPr>
          <p:txBody>
            <a:bodyPr wrap="square" lIns="0" tIns="0" rIns="0" bIns="0" rtlCol="0"/>
            <a:lstStyle/>
            <a:p>
              <a:endParaRPr dirty="0"/>
            </a:p>
          </p:txBody>
        </p:sp>
      </p:grpSp>
      <p:sp>
        <p:nvSpPr>
          <p:cNvPr id="5" name="object 5"/>
          <p:cNvSpPr txBox="1"/>
          <p:nvPr/>
        </p:nvSpPr>
        <p:spPr>
          <a:xfrm>
            <a:off x="147015" y="4952"/>
            <a:ext cx="2081530" cy="247015"/>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FFFFFF"/>
                </a:solidFill>
                <a:latin typeface="Calibri"/>
                <a:cs typeface="Calibri"/>
              </a:rPr>
              <a:t>EQUITY</a:t>
            </a:r>
            <a:r>
              <a:rPr sz="1450" b="1" spc="-65" dirty="0">
                <a:solidFill>
                  <a:srgbClr val="FFFFFF"/>
                </a:solidFill>
                <a:latin typeface="Calibri"/>
                <a:cs typeface="Calibri"/>
              </a:rPr>
              <a:t> </a:t>
            </a:r>
            <a:r>
              <a:rPr sz="1450" b="1" dirty="0">
                <a:solidFill>
                  <a:srgbClr val="FFFFFF"/>
                </a:solidFill>
                <a:latin typeface="Calibri"/>
                <a:cs typeface="Calibri"/>
              </a:rPr>
              <a:t>RESEARCH</a:t>
            </a:r>
            <a:r>
              <a:rPr sz="1450" b="1" spc="-60" dirty="0">
                <a:solidFill>
                  <a:srgbClr val="FFFFFF"/>
                </a:solidFill>
                <a:latin typeface="Calibri"/>
                <a:cs typeface="Calibri"/>
              </a:rPr>
              <a:t> </a:t>
            </a:r>
            <a:r>
              <a:rPr sz="1450" b="1" spc="-10" dirty="0">
                <a:solidFill>
                  <a:srgbClr val="FFFFFF"/>
                </a:solidFill>
                <a:latin typeface="Calibri"/>
                <a:cs typeface="Calibri"/>
              </a:rPr>
              <a:t>REPORT</a:t>
            </a:r>
            <a:endParaRPr sz="1450">
              <a:latin typeface="Calibri"/>
              <a:cs typeface="Calibri"/>
            </a:endParaRPr>
          </a:p>
        </p:txBody>
      </p:sp>
      <p:sp>
        <p:nvSpPr>
          <p:cNvPr id="40" name="object 40"/>
          <p:cNvSpPr txBox="1">
            <a:spLocks noGrp="1"/>
          </p:cNvSpPr>
          <p:nvPr>
            <p:ph type="title"/>
          </p:nvPr>
        </p:nvSpPr>
        <p:spPr>
          <a:xfrm>
            <a:off x="141831" y="295140"/>
            <a:ext cx="4269104" cy="289182"/>
          </a:xfrm>
          <a:prstGeom prst="rect">
            <a:avLst/>
          </a:prstGeom>
        </p:spPr>
        <p:txBody>
          <a:bodyPr vert="horz" wrap="square" lIns="0" tIns="12065" rIns="0" bIns="0" rtlCol="0">
            <a:spAutoFit/>
          </a:bodyPr>
          <a:lstStyle/>
          <a:p>
            <a:pPr marL="12700">
              <a:lnSpc>
                <a:spcPct val="100000"/>
              </a:lnSpc>
              <a:spcBef>
                <a:spcPts val="95"/>
              </a:spcBef>
            </a:pPr>
            <a:r>
              <a:rPr lang="en-GB" sz="1800" dirty="0"/>
              <a:t>Sun Pharmaceutical Industries Ltd.</a:t>
            </a:r>
            <a:endParaRPr sz="1800" dirty="0"/>
          </a:p>
        </p:txBody>
      </p:sp>
      <p:sp>
        <p:nvSpPr>
          <p:cNvPr id="41" name="object 41"/>
          <p:cNvSpPr txBox="1"/>
          <p:nvPr/>
        </p:nvSpPr>
        <p:spPr>
          <a:xfrm>
            <a:off x="141831" y="526972"/>
            <a:ext cx="3210968"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D2841"/>
                </a:solidFill>
                <a:latin typeface="Calibri"/>
                <a:cs typeface="Calibri"/>
              </a:rPr>
              <a:t>NSE</a:t>
            </a:r>
            <a:r>
              <a:rPr sz="1200" b="1" spc="-20" dirty="0">
                <a:solidFill>
                  <a:srgbClr val="0D2841"/>
                </a:solidFill>
                <a:latin typeface="Calibri"/>
                <a:cs typeface="Calibri"/>
              </a:rPr>
              <a:t> </a:t>
            </a:r>
            <a:r>
              <a:rPr sz="1200" b="1" dirty="0">
                <a:solidFill>
                  <a:srgbClr val="0D2841"/>
                </a:solidFill>
                <a:latin typeface="Calibri"/>
                <a:cs typeface="Calibri"/>
              </a:rPr>
              <a:t>:</a:t>
            </a:r>
            <a:r>
              <a:rPr lang="en-US" sz="1200" b="1" spc="-15" dirty="0">
                <a:solidFill>
                  <a:srgbClr val="0D2841"/>
                </a:solidFill>
                <a:latin typeface="Calibri"/>
                <a:cs typeface="Calibri"/>
              </a:rPr>
              <a:t> </a:t>
            </a:r>
            <a:r>
              <a:rPr lang="en-GB" sz="1200" b="1" dirty="0">
                <a:latin typeface="+mj-lt"/>
              </a:rPr>
              <a:t>SUNPHARMA</a:t>
            </a:r>
            <a:r>
              <a:rPr sz="1200" b="1" spc="10" dirty="0">
                <a:solidFill>
                  <a:srgbClr val="0D2841"/>
                </a:solidFill>
                <a:latin typeface="Calibri"/>
                <a:cs typeface="Calibri"/>
              </a:rPr>
              <a:t> </a:t>
            </a:r>
            <a:r>
              <a:rPr sz="1200" b="1" dirty="0">
                <a:solidFill>
                  <a:srgbClr val="0D2841"/>
                </a:solidFill>
                <a:latin typeface="Calibri"/>
                <a:cs typeface="Calibri"/>
              </a:rPr>
              <a:t>|</a:t>
            </a:r>
            <a:r>
              <a:rPr sz="1200" b="1" spc="-15" dirty="0">
                <a:solidFill>
                  <a:srgbClr val="0D2841"/>
                </a:solidFill>
                <a:latin typeface="Calibri"/>
                <a:cs typeface="Calibri"/>
              </a:rPr>
              <a:t> </a:t>
            </a:r>
            <a:r>
              <a:rPr sz="1200" b="1" dirty="0">
                <a:solidFill>
                  <a:srgbClr val="0D2841"/>
                </a:solidFill>
                <a:latin typeface="Calibri"/>
                <a:cs typeface="Calibri"/>
              </a:rPr>
              <a:t>BSE Code:</a:t>
            </a:r>
            <a:r>
              <a:rPr sz="1200" b="1" spc="-5" dirty="0">
                <a:solidFill>
                  <a:srgbClr val="0D2841"/>
                </a:solidFill>
                <a:latin typeface="Calibri"/>
                <a:cs typeface="Calibri"/>
              </a:rPr>
              <a:t> </a:t>
            </a:r>
            <a:r>
              <a:rPr lang="en-GB" sz="1200" b="1" dirty="0">
                <a:latin typeface="+mj-lt"/>
              </a:rPr>
              <a:t>524715</a:t>
            </a:r>
          </a:p>
        </p:txBody>
      </p:sp>
      <p:sp>
        <p:nvSpPr>
          <p:cNvPr id="57" name="object 41">
            <a:extLst>
              <a:ext uri="{FF2B5EF4-FFF2-40B4-BE49-F238E27FC236}">
                <a16:creationId xmlns:a16="http://schemas.microsoft.com/office/drawing/2014/main" id="{A4CE2B38-9DA1-AD14-D09F-5355F60BA0B5}"/>
              </a:ext>
            </a:extLst>
          </p:cNvPr>
          <p:cNvSpPr txBox="1"/>
          <p:nvPr/>
        </p:nvSpPr>
        <p:spPr>
          <a:xfrm>
            <a:off x="141831" y="686543"/>
            <a:ext cx="3210968" cy="197490"/>
          </a:xfrm>
          <a:prstGeom prst="rect">
            <a:avLst/>
          </a:prstGeom>
        </p:spPr>
        <p:txBody>
          <a:bodyPr vert="horz" wrap="square" lIns="0" tIns="12700" rIns="0" bIns="0" rtlCol="0">
            <a:spAutoFit/>
          </a:bodyPr>
          <a:lstStyle/>
          <a:p>
            <a:pPr marL="12700">
              <a:lnSpc>
                <a:spcPct val="100000"/>
              </a:lnSpc>
              <a:spcBef>
                <a:spcPts val="100"/>
              </a:spcBef>
            </a:pPr>
            <a:r>
              <a:rPr lang="en-GB" sz="1200" b="1" dirty="0">
                <a:latin typeface="Calibri "/>
              </a:rPr>
              <a:t>Pharmaceuticals &amp; Drugs</a:t>
            </a:r>
          </a:p>
        </p:txBody>
      </p:sp>
      <p:pic>
        <p:nvPicPr>
          <p:cNvPr id="59" name="Picture 58">
            <a:extLst>
              <a:ext uri="{FF2B5EF4-FFF2-40B4-BE49-F238E27FC236}">
                <a16:creationId xmlns:a16="http://schemas.microsoft.com/office/drawing/2014/main" id="{E16D52EA-F1BD-484B-4CA0-DBFF0113C3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04126" y="17284"/>
            <a:ext cx="1295705" cy="879830"/>
          </a:xfrm>
          <a:prstGeom prst="rect">
            <a:avLst/>
          </a:prstGeom>
        </p:spPr>
      </p:pic>
      <p:cxnSp>
        <p:nvCxnSpPr>
          <p:cNvPr id="61" name="Straight Connector 60">
            <a:extLst>
              <a:ext uri="{FF2B5EF4-FFF2-40B4-BE49-F238E27FC236}">
                <a16:creationId xmlns:a16="http://schemas.microsoft.com/office/drawing/2014/main" id="{01430D55-C150-28B4-1B74-60D53B0357A2}"/>
              </a:ext>
            </a:extLst>
          </p:cNvPr>
          <p:cNvCxnSpPr>
            <a:cxnSpLocks/>
          </p:cNvCxnSpPr>
          <p:nvPr/>
        </p:nvCxnSpPr>
        <p:spPr>
          <a:xfrm>
            <a:off x="0" y="8859394"/>
            <a:ext cx="6858000" cy="0"/>
          </a:xfrm>
          <a:prstGeom prst="line">
            <a:avLst/>
          </a:prstGeom>
          <a:ln w="41275">
            <a:solidFill>
              <a:srgbClr val="E46C0A"/>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92CF3E35-22AB-C439-F95E-88E2CDE2061E}"/>
              </a:ext>
            </a:extLst>
          </p:cNvPr>
          <p:cNvSpPr txBox="1"/>
          <p:nvPr/>
        </p:nvSpPr>
        <p:spPr>
          <a:xfrm>
            <a:off x="6553200" y="8810228"/>
            <a:ext cx="667055" cy="369332"/>
          </a:xfrm>
          <a:prstGeom prst="rect">
            <a:avLst/>
          </a:prstGeom>
          <a:noFill/>
        </p:spPr>
        <p:txBody>
          <a:bodyPr wrap="square" rtlCol="0">
            <a:spAutoFit/>
          </a:bodyPr>
          <a:lstStyle/>
          <a:p>
            <a:r>
              <a:rPr lang="en-US" b="1" dirty="0">
                <a:solidFill>
                  <a:srgbClr val="E46C0A"/>
                </a:solidFill>
              </a:rPr>
              <a:t>7</a:t>
            </a:r>
            <a:endParaRPr lang="en-GB" b="1" dirty="0">
              <a:solidFill>
                <a:srgbClr val="E46C0A"/>
              </a:solidFill>
            </a:endParaRPr>
          </a:p>
        </p:txBody>
      </p:sp>
      <p:cxnSp>
        <p:nvCxnSpPr>
          <p:cNvPr id="69" name="Straight Connector 68">
            <a:extLst>
              <a:ext uri="{FF2B5EF4-FFF2-40B4-BE49-F238E27FC236}">
                <a16:creationId xmlns:a16="http://schemas.microsoft.com/office/drawing/2014/main" id="{784077AE-4C24-9691-27AE-FC71BA7D620F}"/>
              </a:ext>
            </a:extLst>
          </p:cNvPr>
          <p:cNvCxnSpPr>
            <a:cxnSpLocks/>
          </p:cNvCxnSpPr>
          <p:nvPr/>
        </p:nvCxnSpPr>
        <p:spPr>
          <a:xfrm flipV="1">
            <a:off x="0" y="933199"/>
            <a:ext cx="6858000" cy="37713"/>
          </a:xfrm>
          <a:prstGeom prst="line">
            <a:avLst/>
          </a:prstGeom>
          <a:ln>
            <a:solidFill>
              <a:srgbClr val="E46C0A"/>
            </a:solidFill>
          </a:ln>
        </p:spPr>
        <p:style>
          <a:lnRef idx="1">
            <a:schemeClr val="accent1"/>
          </a:lnRef>
          <a:fillRef idx="0">
            <a:schemeClr val="accent1"/>
          </a:fillRef>
          <a:effectRef idx="0">
            <a:schemeClr val="accent1"/>
          </a:effectRef>
          <a:fontRef idx="minor">
            <a:schemeClr val="tx1"/>
          </a:fontRef>
        </p:style>
      </p:cxnSp>
      <p:sp>
        <p:nvSpPr>
          <p:cNvPr id="13" name="object 6">
            <a:extLst>
              <a:ext uri="{FF2B5EF4-FFF2-40B4-BE49-F238E27FC236}">
                <a16:creationId xmlns:a16="http://schemas.microsoft.com/office/drawing/2014/main" id="{FCF9C4A5-7AB8-4B1D-82EB-573AE3C82E5D}"/>
              </a:ext>
            </a:extLst>
          </p:cNvPr>
          <p:cNvSpPr/>
          <p:nvPr/>
        </p:nvSpPr>
        <p:spPr>
          <a:xfrm>
            <a:off x="107633" y="1065933"/>
            <a:ext cx="6642734" cy="339090"/>
          </a:xfrm>
          <a:custGeom>
            <a:avLst/>
            <a:gdLst/>
            <a:ahLst/>
            <a:cxnLst/>
            <a:rect l="l" t="t" r="r" b="b"/>
            <a:pathLst>
              <a:path w="6642734" h="339090">
                <a:moveTo>
                  <a:pt x="6642734" y="0"/>
                </a:moveTo>
                <a:lnTo>
                  <a:pt x="0" y="0"/>
                </a:lnTo>
                <a:lnTo>
                  <a:pt x="0" y="338556"/>
                </a:lnTo>
                <a:lnTo>
                  <a:pt x="6642734" y="338556"/>
                </a:lnTo>
                <a:lnTo>
                  <a:pt x="6642734" y="0"/>
                </a:lnTo>
                <a:close/>
              </a:path>
            </a:pathLst>
          </a:custGeom>
          <a:solidFill>
            <a:srgbClr val="E46C0A"/>
          </a:solidFill>
        </p:spPr>
        <p:txBody>
          <a:bodyPr wrap="square" lIns="0" tIns="0" rIns="0" bIns="0" rtlCol="0"/>
          <a:lstStyle/>
          <a:p>
            <a:endParaRPr/>
          </a:p>
        </p:txBody>
      </p:sp>
      <p:sp>
        <p:nvSpPr>
          <p:cNvPr id="15" name="object 35">
            <a:extLst>
              <a:ext uri="{FF2B5EF4-FFF2-40B4-BE49-F238E27FC236}">
                <a16:creationId xmlns:a16="http://schemas.microsoft.com/office/drawing/2014/main" id="{D3C189A8-BEA4-4FB4-A1D7-B0F589CA6F8B}"/>
              </a:ext>
            </a:extLst>
          </p:cNvPr>
          <p:cNvSpPr txBox="1"/>
          <p:nvPr/>
        </p:nvSpPr>
        <p:spPr>
          <a:xfrm>
            <a:off x="155369" y="1298202"/>
            <a:ext cx="3124200" cy="2355773"/>
          </a:xfrm>
          <a:prstGeom prst="rect">
            <a:avLst/>
          </a:prstGeom>
        </p:spPr>
        <p:txBody>
          <a:bodyPr vert="horz" wrap="square" lIns="0" tIns="153670" rIns="0" bIns="0" rtlCol="0">
            <a:spAutoFit/>
          </a:bodyPr>
          <a:lstStyle/>
          <a:p>
            <a:pPr marL="12700" algn="just">
              <a:lnSpc>
                <a:spcPct val="100000"/>
              </a:lnSpc>
              <a:spcBef>
                <a:spcPts val="1210"/>
              </a:spcBef>
            </a:pPr>
            <a:r>
              <a:rPr lang="en-GB" sz="1600" b="1" dirty="0">
                <a:solidFill>
                  <a:srgbClr val="E46C0A"/>
                </a:solidFill>
                <a:latin typeface="+mj-lt"/>
                <a:cs typeface="Calibri"/>
              </a:rPr>
              <a:t>Sales</a:t>
            </a:r>
            <a:r>
              <a:rPr lang="en-GB" sz="1600" b="1" spc="-40" dirty="0">
                <a:solidFill>
                  <a:srgbClr val="E46C0A"/>
                </a:solidFill>
                <a:latin typeface="+mj-lt"/>
                <a:cs typeface="Calibri"/>
              </a:rPr>
              <a:t> </a:t>
            </a:r>
            <a:r>
              <a:rPr lang="en-GB" sz="1600" b="1" spc="-10" dirty="0">
                <a:solidFill>
                  <a:srgbClr val="E46C0A"/>
                </a:solidFill>
                <a:latin typeface="+mj-lt"/>
                <a:cs typeface="Calibri"/>
              </a:rPr>
              <a:t>Volume</a:t>
            </a:r>
            <a:endParaRPr lang="en-GB" sz="1600" dirty="0">
              <a:solidFill>
                <a:srgbClr val="E46C0A"/>
              </a:solidFill>
              <a:latin typeface="+mj-lt"/>
              <a:cs typeface="Calibri"/>
            </a:endParaRPr>
          </a:p>
          <a:p>
            <a:pPr marL="18415" marR="5080" algn="just">
              <a:lnSpc>
                <a:spcPct val="100000"/>
              </a:lnSpc>
              <a:spcBef>
                <a:spcPts val="610"/>
              </a:spcBef>
            </a:pPr>
            <a:r>
              <a:rPr lang="en-GB" sz="1200" dirty="0">
                <a:latin typeface="+mj-lt"/>
              </a:rPr>
              <a:t>Sun Pharma's revenue growth has been primarily driven by higher sales volumes across its branded formulations, specialty products, and international businesses rather than price-led expansion alone. The company continued strengthening its specialty portfolio while maintaining leadership in the Indian pharmaceutical market, enabling sustained growth despite industry pricing pressures and regulatory challenges.</a:t>
            </a:r>
            <a:endParaRPr sz="1200" dirty="0">
              <a:latin typeface="+mj-lt"/>
              <a:cs typeface="Calibri"/>
            </a:endParaRPr>
          </a:p>
        </p:txBody>
      </p:sp>
      <p:sp>
        <p:nvSpPr>
          <p:cNvPr id="16" name="object 14">
            <a:extLst>
              <a:ext uri="{FF2B5EF4-FFF2-40B4-BE49-F238E27FC236}">
                <a16:creationId xmlns:a16="http://schemas.microsoft.com/office/drawing/2014/main" id="{1E2110E2-9304-4623-BD92-9970B2C68ADC}"/>
              </a:ext>
            </a:extLst>
          </p:cNvPr>
          <p:cNvSpPr txBox="1"/>
          <p:nvPr/>
        </p:nvSpPr>
        <p:spPr>
          <a:xfrm>
            <a:off x="155369" y="3661576"/>
            <a:ext cx="3183891" cy="2257669"/>
          </a:xfrm>
          <a:prstGeom prst="rect">
            <a:avLst/>
          </a:prstGeom>
        </p:spPr>
        <p:txBody>
          <a:bodyPr vert="horz" wrap="square" lIns="0" tIns="112395" rIns="0" bIns="0" rtlCol="0">
            <a:spAutoFit/>
          </a:bodyPr>
          <a:lstStyle/>
          <a:p>
            <a:pPr marL="12700">
              <a:lnSpc>
                <a:spcPct val="100000"/>
              </a:lnSpc>
              <a:spcBef>
                <a:spcPts val="885"/>
              </a:spcBef>
            </a:pPr>
            <a:r>
              <a:rPr sz="1600" b="1" spc="-10" dirty="0">
                <a:solidFill>
                  <a:srgbClr val="E46C0A"/>
                </a:solidFill>
                <a:latin typeface="+mj-lt"/>
                <a:cs typeface="Calibri"/>
              </a:rPr>
              <a:t>Revenue</a:t>
            </a:r>
            <a:endParaRPr sz="1600" dirty="0">
              <a:solidFill>
                <a:srgbClr val="E46C0A"/>
              </a:solidFill>
              <a:latin typeface="+mj-lt"/>
              <a:cs typeface="Calibri"/>
            </a:endParaRPr>
          </a:p>
          <a:p>
            <a:pPr marL="12700" algn="just">
              <a:lnSpc>
                <a:spcPct val="100000"/>
              </a:lnSpc>
              <a:spcBef>
                <a:spcPts val="430"/>
              </a:spcBef>
            </a:pPr>
            <a:r>
              <a:rPr lang="en-GB" sz="1200" dirty="0">
                <a:latin typeface="+mn-lt"/>
              </a:rPr>
              <a:t>Revenue from operations has demonstrated a strong and consistent upward trajectory, increasing from ₹264,895 million in FY2018 to ₹584,620 million in FY2026, reflecting a CAGR of approximately 10%. Growth was supported by strong performance in the specialty business, increased domestic formulations sales, robust global generics demand, and strategic acquisitions. The acceleration after FY2022 highlights improved execution and expanding international presence</a:t>
            </a:r>
            <a:endParaRPr sz="1200" dirty="0">
              <a:latin typeface="+mn-lt"/>
              <a:cs typeface="Calibri"/>
            </a:endParaRPr>
          </a:p>
        </p:txBody>
      </p:sp>
      <p:sp>
        <p:nvSpPr>
          <p:cNvPr id="17" name="object 53">
            <a:extLst>
              <a:ext uri="{FF2B5EF4-FFF2-40B4-BE49-F238E27FC236}">
                <a16:creationId xmlns:a16="http://schemas.microsoft.com/office/drawing/2014/main" id="{757BFF84-1B0C-4B9F-A819-D3D1B2BA5183}"/>
              </a:ext>
            </a:extLst>
          </p:cNvPr>
          <p:cNvSpPr txBox="1"/>
          <p:nvPr/>
        </p:nvSpPr>
        <p:spPr>
          <a:xfrm>
            <a:off x="141831" y="6176331"/>
            <a:ext cx="3108325" cy="2322431"/>
          </a:xfrm>
          <a:prstGeom prst="rect">
            <a:avLst/>
          </a:prstGeom>
        </p:spPr>
        <p:txBody>
          <a:bodyPr vert="horz" wrap="square" lIns="0" tIns="113030" rIns="0" bIns="0" rtlCol="0">
            <a:spAutoFit/>
          </a:bodyPr>
          <a:lstStyle/>
          <a:p>
            <a:pPr marL="12700" algn="l">
              <a:lnSpc>
                <a:spcPct val="100000"/>
              </a:lnSpc>
              <a:spcBef>
                <a:spcPts val="890"/>
              </a:spcBef>
            </a:pPr>
            <a:r>
              <a:rPr sz="1600" b="1" spc="-10" dirty="0">
                <a:solidFill>
                  <a:srgbClr val="E46C0A"/>
                </a:solidFill>
                <a:latin typeface="+mj-lt"/>
                <a:cs typeface="Calibri"/>
              </a:rPr>
              <a:t>Profitability</a:t>
            </a:r>
            <a:endParaRPr lang="en-GB" sz="1600" b="1" spc="-10" dirty="0">
              <a:solidFill>
                <a:srgbClr val="E46C0A"/>
              </a:solidFill>
              <a:latin typeface="+mj-lt"/>
              <a:cs typeface="Calibri"/>
            </a:endParaRPr>
          </a:p>
          <a:p>
            <a:pPr marL="12700" algn="just">
              <a:lnSpc>
                <a:spcPct val="100000"/>
              </a:lnSpc>
              <a:spcBef>
                <a:spcPts val="890"/>
              </a:spcBef>
            </a:pPr>
            <a:r>
              <a:rPr lang="en-GB" sz="1200" dirty="0">
                <a:latin typeface="+mn-lt"/>
              </a:rPr>
              <a:t>Profitability improved significantly over the study period. Net Profit After Tax increased from ₹21,616 million in FY2018 to approximately ₹118,762 million in FY2026, while Profit Before Tax rose from ₹34,790 million to ₹151,189 million. After a temporary moderation during FY2021, earnings recovered strongly due to better operating leverage, improving product mix, specialty business expansion, and efficient cost management.</a:t>
            </a:r>
            <a:endParaRPr sz="1800" dirty="0">
              <a:latin typeface="+mn-lt"/>
              <a:cs typeface="Calibri"/>
            </a:endParaRPr>
          </a:p>
        </p:txBody>
      </p:sp>
      <p:graphicFrame>
        <p:nvGraphicFramePr>
          <p:cNvPr id="11" name="Chart 10">
            <a:extLst>
              <a:ext uri="{FF2B5EF4-FFF2-40B4-BE49-F238E27FC236}">
                <a16:creationId xmlns:a16="http://schemas.microsoft.com/office/drawing/2014/main" id="{4DB5EACD-8E59-4BD7-8CB9-5EF1F47B9FD9}"/>
              </a:ext>
            </a:extLst>
          </p:cNvPr>
          <p:cNvGraphicFramePr/>
          <p:nvPr/>
        </p:nvGraphicFramePr>
        <p:xfrm>
          <a:off x="3505204" y="3827212"/>
          <a:ext cx="3245164" cy="242271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Chart 18">
            <a:extLst>
              <a:ext uri="{FF2B5EF4-FFF2-40B4-BE49-F238E27FC236}">
                <a16:creationId xmlns:a16="http://schemas.microsoft.com/office/drawing/2014/main" id="{8FC5E66B-BDD3-4484-87B4-3012E61EB971}"/>
              </a:ext>
            </a:extLst>
          </p:cNvPr>
          <p:cNvGraphicFramePr/>
          <p:nvPr/>
        </p:nvGraphicFramePr>
        <p:xfrm>
          <a:off x="3429000" y="6346316"/>
          <a:ext cx="3352796" cy="229250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a:extLst>
              <a:ext uri="{FF2B5EF4-FFF2-40B4-BE49-F238E27FC236}">
                <a16:creationId xmlns:a16="http://schemas.microsoft.com/office/drawing/2014/main" id="{D120B30F-E657-4AAF-8E00-BD7AAA27BCC9}"/>
              </a:ext>
            </a:extLst>
          </p:cNvPr>
          <p:cNvGraphicFramePr/>
          <p:nvPr/>
        </p:nvGraphicFramePr>
        <p:xfrm>
          <a:off x="3371545" y="1504931"/>
          <a:ext cx="3486455" cy="2292504"/>
        </p:xfrm>
        <a:graphic>
          <a:graphicData uri="http://schemas.openxmlformats.org/drawingml/2006/chart">
            <c:chart xmlns:c="http://schemas.openxmlformats.org/drawingml/2006/chart" xmlns:r="http://schemas.openxmlformats.org/officeDocument/2006/relationships" r:id="rId5"/>
          </a:graphicData>
        </a:graphic>
      </p:graphicFrame>
      <p:sp>
        <p:nvSpPr>
          <p:cNvPr id="7" name="TextBox 6">
            <a:extLst>
              <a:ext uri="{FF2B5EF4-FFF2-40B4-BE49-F238E27FC236}">
                <a16:creationId xmlns:a16="http://schemas.microsoft.com/office/drawing/2014/main" id="{215610ED-6433-3415-D015-1D7A7C4CCC58}"/>
              </a:ext>
            </a:extLst>
          </p:cNvPr>
          <p:cNvSpPr txBox="1"/>
          <p:nvPr/>
        </p:nvSpPr>
        <p:spPr>
          <a:xfrm>
            <a:off x="-152400" y="1058368"/>
            <a:ext cx="5395927" cy="369332"/>
          </a:xfrm>
          <a:prstGeom prst="rect">
            <a:avLst/>
          </a:prstGeom>
          <a:noFill/>
        </p:spPr>
        <p:txBody>
          <a:bodyPr wrap="square">
            <a:spAutoFit/>
          </a:bodyPr>
          <a:lstStyle/>
          <a:p>
            <a:pPr marL="2020570">
              <a:lnSpc>
                <a:spcPct val="100000"/>
              </a:lnSpc>
              <a:spcBef>
                <a:spcPts val="1220"/>
              </a:spcBef>
            </a:pPr>
            <a:r>
              <a:rPr lang="en-GB" b="1" spc="-20" dirty="0">
                <a:solidFill>
                  <a:schemeClr val="bg1"/>
                </a:solidFill>
                <a:latin typeface="Trebuchet MS"/>
                <a:cs typeface="Trebuchet MS"/>
              </a:rPr>
              <a:t>INCOME STATEMENT</a:t>
            </a:r>
            <a:r>
              <a:rPr lang="en-GB" b="1" spc="-150" dirty="0">
                <a:solidFill>
                  <a:schemeClr val="bg1"/>
                </a:solidFill>
                <a:latin typeface="Trebuchet MS"/>
                <a:cs typeface="Trebuchet MS"/>
              </a:rPr>
              <a:t> </a:t>
            </a:r>
            <a:r>
              <a:rPr lang="en-GB" b="1" spc="-10" dirty="0">
                <a:solidFill>
                  <a:schemeClr val="bg1"/>
                </a:solidFill>
                <a:latin typeface="Trebuchet MS"/>
                <a:cs typeface="Trebuchet MS"/>
              </a:rPr>
              <a:t>ANALYSIS</a:t>
            </a:r>
            <a:endParaRPr lang="en-GB" dirty="0">
              <a:solidFill>
                <a:schemeClr val="bg1"/>
              </a:solidFill>
              <a:latin typeface="Trebuchet MS"/>
              <a:cs typeface="Trebuchet MS"/>
            </a:endParaRPr>
          </a:p>
        </p:txBody>
      </p:sp>
    </p:spTree>
    <p:extLst>
      <p:ext uri="{BB962C8B-B14F-4D97-AF65-F5344CB8AC3E}">
        <p14:creationId xmlns:p14="http://schemas.microsoft.com/office/powerpoint/2010/main" val="1241648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6858000" cy="1625597"/>
            <a:chOff x="0" y="0"/>
            <a:chExt cx="6858000" cy="1625597"/>
          </a:xfrm>
        </p:grpSpPr>
        <p:sp>
          <p:nvSpPr>
            <p:cNvPr id="3" name="object 3"/>
            <p:cNvSpPr/>
            <p:nvPr/>
          </p:nvSpPr>
          <p:spPr>
            <a:xfrm>
              <a:off x="0" y="0"/>
              <a:ext cx="6858000" cy="949325"/>
            </a:xfrm>
            <a:custGeom>
              <a:avLst/>
              <a:gdLst/>
              <a:ahLst/>
              <a:cxnLst/>
              <a:rect l="l" t="t" r="r" b="b"/>
              <a:pathLst>
                <a:path w="6858000" h="949325">
                  <a:moveTo>
                    <a:pt x="0" y="949198"/>
                  </a:moveTo>
                  <a:lnTo>
                    <a:pt x="6858000" y="949198"/>
                  </a:lnTo>
                  <a:lnTo>
                    <a:pt x="6858000" y="0"/>
                  </a:lnTo>
                  <a:lnTo>
                    <a:pt x="0" y="0"/>
                  </a:lnTo>
                  <a:lnTo>
                    <a:pt x="0" y="949198"/>
                  </a:lnTo>
                  <a:close/>
                </a:path>
              </a:pathLst>
            </a:custGeom>
            <a:solidFill>
              <a:schemeClr val="accent6">
                <a:lumMod val="75000"/>
              </a:schemeClr>
            </a:solidFill>
          </p:spPr>
          <p:txBody>
            <a:bodyPr wrap="square" lIns="0" tIns="0" rIns="0" bIns="0" rtlCol="0"/>
            <a:lstStyle/>
            <a:p>
              <a:endParaRPr/>
            </a:p>
          </p:txBody>
        </p:sp>
        <p:sp>
          <p:nvSpPr>
            <p:cNvPr id="4" name="object 4"/>
            <p:cNvSpPr/>
            <p:nvPr/>
          </p:nvSpPr>
          <p:spPr>
            <a:xfrm>
              <a:off x="0" y="316227"/>
              <a:ext cx="4147185" cy="1309370"/>
            </a:xfrm>
            <a:custGeom>
              <a:avLst/>
              <a:gdLst/>
              <a:ahLst/>
              <a:cxnLst/>
              <a:rect l="l" t="t" r="r" b="b"/>
              <a:pathLst>
                <a:path w="4147185" h="1309370">
                  <a:moveTo>
                    <a:pt x="3492246" y="0"/>
                  </a:moveTo>
                  <a:lnTo>
                    <a:pt x="0" y="0"/>
                  </a:lnTo>
                  <a:lnTo>
                    <a:pt x="0" y="1309243"/>
                  </a:lnTo>
                  <a:lnTo>
                    <a:pt x="3492246" y="1309243"/>
                  </a:lnTo>
                  <a:lnTo>
                    <a:pt x="4146804" y="654685"/>
                  </a:lnTo>
                  <a:lnTo>
                    <a:pt x="3492246" y="0"/>
                  </a:lnTo>
                  <a:close/>
                </a:path>
              </a:pathLst>
            </a:custGeom>
            <a:solidFill>
              <a:srgbClr val="FFFFFF"/>
            </a:solidFill>
          </p:spPr>
          <p:txBody>
            <a:bodyPr wrap="square" lIns="0" tIns="0" rIns="0" bIns="0" rtlCol="0"/>
            <a:lstStyle/>
            <a:p>
              <a:endParaRPr dirty="0"/>
            </a:p>
          </p:txBody>
        </p:sp>
      </p:grpSp>
      <p:sp>
        <p:nvSpPr>
          <p:cNvPr id="5" name="object 5"/>
          <p:cNvSpPr txBox="1"/>
          <p:nvPr/>
        </p:nvSpPr>
        <p:spPr>
          <a:xfrm>
            <a:off x="147015" y="4952"/>
            <a:ext cx="2081530" cy="247015"/>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FFFFFF"/>
                </a:solidFill>
                <a:latin typeface="Calibri"/>
                <a:cs typeface="Calibri"/>
              </a:rPr>
              <a:t>EQUITY</a:t>
            </a:r>
            <a:r>
              <a:rPr sz="1450" b="1" spc="-65" dirty="0">
                <a:solidFill>
                  <a:srgbClr val="FFFFFF"/>
                </a:solidFill>
                <a:latin typeface="Calibri"/>
                <a:cs typeface="Calibri"/>
              </a:rPr>
              <a:t> </a:t>
            </a:r>
            <a:r>
              <a:rPr sz="1450" b="1" dirty="0">
                <a:solidFill>
                  <a:srgbClr val="FFFFFF"/>
                </a:solidFill>
                <a:latin typeface="Calibri"/>
                <a:cs typeface="Calibri"/>
              </a:rPr>
              <a:t>RESEARCH</a:t>
            </a:r>
            <a:r>
              <a:rPr sz="1450" b="1" spc="-60" dirty="0">
                <a:solidFill>
                  <a:srgbClr val="FFFFFF"/>
                </a:solidFill>
                <a:latin typeface="Calibri"/>
                <a:cs typeface="Calibri"/>
              </a:rPr>
              <a:t> </a:t>
            </a:r>
            <a:r>
              <a:rPr sz="1450" b="1" spc="-10" dirty="0">
                <a:solidFill>
                  <a:srgbClr val="FFFFFF"/>
                </a:solidFill>
                <a:latin typeface="Calibri"/>
                <a:cs typeface="Calibri"/>
              </a:rPr>
              <a:t>REPORT</a:t>
            </a:r>
            <a:endParaRPr sz="1450">
              <a:latin typeface="Calibri"/>
              <a:cs typeface="Calibri"/>
            </a:endParaRPr>
          </a:p>
        </p:txBody>
      </p:sp>
      <p:sp>
        <p:nvSpPr>
          <p:cNvPr id="40" name="object 40"/>
          <p:cNvSpPr txBox="1">
            <a:spLocks noGrp="1"/>
          </p:cNvSpPr>
          <p:nvPr>
            <p:ph type="title"/>
          </p:nvPr>
        </p:nvSpPr>
        <p:spPr>
          <a:xfrm>
            <a:off x="141831" y="295140"/>
            <a:ext cx="4269104" cy="289182"/>
          </a:xfrm>
          <a:prstGeom prst="rect">
            <a:avLst/>
          </a:prstGeom>
        </p:spPr>
        <p:txBody>
          <a:bodyPr vert="horz" wrap="square" lIns="0" tIns="12065" rIns="0" bIns="0" rtlCol="0">
            <a:spAutoFit/>
          </a:bodyPr>
          <a:lstStyle/>
          <a:p>
            <a:pPr marL="12700">
              <a:lnSpc>
                <a:spcPct val="100000"/>
              </a:lnSpc>
              <a:spcBef>
                <a:spcPts val="95"/>
              </a:spcBef>
            </a:pPr>
            <a:r>
              <a:rPr lang="en-GB" sz="1800" dirty="0"/>
              <a:t>Sun Pharmaceutical Industries Ltd.</a:t>
            </a:r>
            <a:endParaRPr sz="1800" dirty="0"/>
          </a:p>
        </p:txBody>
      </p:sp>
      <p:sp>
        <p:nvSpPr>
          <p:cNvPr id="41" name="object 41"/>
          <p:cNvSpPr txBox="1"/>
          <p:nvPr/>
        </p:nvSpPr>
        <p:spPr>
          <a:xfrm>
            <a:off x="141831" y="526972"/>
            <a:ext cx="3210968"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D2841"/>
                </a:solidFill>
                <a:latin typeface="Calibri"/>
                <a:cs typeface="Calibri"/>
              </a:rPr>
              <a:t>NSE</a:t>
            </a:r>
            <a:r>
              <a:rPr sz="1200" b="1" spc="-20" dirty="0">
                <a:solidFill>
                  <a:srgbClr val="0D2841"/>
                </a:solidFill>
                <a:latin typeface="Calibri"/>
                <a:cs typeface="Calibri"/>
              </a:rPr>
              <a:t> </a:t>
            </a:r>
            <a:r>
              <a:rPr sz="1200" b="1" dirty="0">
                <a:solidFill>
                  <a:srgbClr val="0D2841"/>
                </a:solidFill>
                <a:latin typeface="Calibri"/>
                <a:cs typeface="Calibri"/>
              </a:rPr>
              <a:t>:</a:t>
            </a:r>
            <a:r>
              <a:rPr lang="en-US" sz="1200" b="1" spc="-15" dirty="0">
                <a:solidFill>
                  <a:srgbClr val="0D2841"/>
                </a:solidFill>
                <a:latin typeface="Calibri"/>
                <a:cs typeface="Calibri"/>
              </a:rPr>
              <a:t> </a:t>
            </a:r>
            <a:r>
              <a:rPr lang="en-GB" sz="1200" b="1" dirty="0">
                <a:latin typeface="+mj-lt"/>
              </a:rPr>
              <a:t>SUNPHARMA</a:t>
            </a:r>
            <a:r>
              <a:rPr sz="1200" b="1" spc="10" dirty="0">
                <a:solidFill>
                  <a:srgbClr val="0D2841"/>
                </a:solidFill>
                <a:latin typeface="Calibri"/>
                <a:cs typeface="Calibri"/>
              </a:rPr>
              <a:t> </a:t>
            </a:r>
            <a:r>
              <a:rPr sz="1200" b="1" dirty="0">
                <a:solidFill>
                  <a:srgbClr val="0D2841"/>
                </a:solidFill>
                <a:latin typeface="Calibri"/>
                <a:cs typeface="Calibri"/>
              </a:rPr>
              <a:t>|</a:t>
            </a:r>
            <a:r>
              <a:rPr sz="1200" b="1" spc="-15" dirty="0">
                <a:solidFill>
                  <a:srgbClr val="0D2841"/>
                </a:solidFill>
                <a:latin typeface="Calibri"/>
                <a:cs typeface="Calibri"/>
              </a:rPr>
              <a:t> </a:t>
            </a:r>
            <a:r>
              <a:rPr sz="1200" b="1" dirty="0">
                <a:solidFill>
                  <a:srgbClr val="0D2841"/>
                </a:solidFill>
                <a:latin typeface="Calibri"/>
                <a:cs typeface="Calibri"/>
              </a:rPr>
              <a:t>BSE Code:</a:t>
            </a:r>
            <a:r>
              <a:rPr sz="1200" b="1" spc="-5" dirty="0">
                <a:solidFill>
                  <a:srgbClr val="0D2841"/>
                </a:solidFill>
                <a:latin typeface="Calibri"/>
                <a:cs typeface="Calibri"/>
              </a:rPr>
              <a:t> </a:t>
            </a:r>
            <a:r>
              <a:rPr lang="en-GB" sz="1200" b="1" dirty="0">
                <a:latin typeface="+mj-lt"/>
              </a:rPr>
              <a:t>524715</a:t>
            </a:r>
          </a:p>
        </p:txBody>
      </p:sp>
      <p:sp>
        <p:nvSpPr>
          <p:cNvPr id="57" name="object 41">
            <a:extLst>
              <a:ext uri="{FF2B5EF4-FFF2-40B4-BE49-F238E27FC236}">
                <a16:creationId xmlns:a16="http://schemas.microsoft.com/office/drawing/2014/main" id="{A4CE2B38-9DA1-AD14-D09F-5355F60BA0B5}"/>
              </a:ext>
            </a:extLst>
          </p:cNvPr>
          <p:cNvSpPr txBox="1"/>
          <p:nvPr/>
        </p:nvSpPr>
        <p:spPr>
          <a:xfrm>
            <a:off x="141831" y="686543"/>
            <a:ext cx="3210968" cy="197490"/>
          </a:xfrm>
          <a:prstGeom prst="rect">
            <a:avLst/>
          </a:prstGeom>
        </p:spPr>
        <p:txBody>
          <a:bodyPr vert="horz" wrap="square" lIns="0" tIns="12700" rIns="0" bIns="0" rtlCol="0">
            <a:spAutoFit/>
          </a:bodyPr>
          <a:lstStyle/>
          <a:p>
            <a:pPr marL="12700">
              <a:lnSpc>
                <a:spcPct val="100000"/>
              </a:lnSpc>
              <a:spcBef>
                <a:spcPts val="100"/>
              </a:spcBef>
            </a:pPr>
            <a:r>
              <a:rPr lang="en-GB" sz="1200" b="1" dirty="0">
                <a:latin typeface="Calibri "/>
              </a:rPr>
              <a:t>Pharmaceuticals &amp; Drugs</a:t>
            </a:r>
          </a:p>
        </p:txBody>
      </p:sp>
      <p:pic>
        <p:nvPicPr>
          <p:cNvPr id="59" name="Picture 58">
            <a:extLst>
              <a:ext uri="{FF2B5EF4-FFF2-40B4-BE49-F238E27FC236}">
                <a16:creationId xmlns:a16="http://schemas.microsoft.com/office/drawing/2014/main" id="{E16D52EA-F1BD-484B-4CA0-DBFF0113C3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04126" y="17284"/>
            <a:ext cx="1295705" cy="879830"/>
          </a:xfrm>
          <a:prstGeom prst="rect">
            <a:avLst/>
          </a:prstGeom>
        </p:spPr>
      </p:pic>
      <p:cxnSp>
        <p:nvCxnSpPr>
          <p:cNvPr id="61" name="Straight Connector 60">
            <a:extLst>
              <a:ext uri="{FF2B5EF4-FFF2-40B4-BE49-F238E27FC236}">
                <a16:creationId xmlns:a16="http://schemas.microsoft.com/office/drawing/2014/main" id="{01430D55-C150-28B4-1B74-60D53B0357A2}"/>
              </a:ext>
            </a:extLst>
          </p:cNvPr>
          <p:cNvCxnSpPr>
            <a:cxnSpLocks/>
          </p:cNvCxnSpPr>
          <p:nvPr/>
        </p:nvCxnSpPr>
        <p:spPr>
          <a:xfrm>
            <a:off x="0" y="8859394"/>
            <a:ext cx="6858000" cy="0"/>
          </a:xfrm>
          <a:prstGeom prst="line">
            <a:avLst/>
          </a:prstGeom>
          <a:ln w="41275">
            <a:solidFill>
              <a:srgbClr val="E46C0A"/>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92CF3E35-22AB-C439-F95E-88E2CDE2061E}"/>
              </a:ext>
            </a:extLst>
          </p:cNvPr>
          <p:cNvSpPr txBox="1"/>
          <p:nvPr/>
        </p:nvSpPr>
        <p:spPr>
          <a:xfrm>
            <a:off x="6553200" y="8810228"/>
            <a:ext cx="667055" cy="369332"/>
          </a:xfrm>
          <a:prstGeom prst="rect">
            <a:avLst/>
          </a:prstGeom>
          <a:noFill/>
        </p:spPr>
        <p:txBody>
          <a:bodyPr wrap="square" rtlCol="0">
            <a:spAutoFit/>
          </a:bodyPr>
          <a:lstStyle/>
          <a:p>
            <a:r>
              <a:rPr lang="en-US" b="1" dirty="0">
                <a:solidFill>
                  <a:srgbClr val="E46C0A"/>
                </a:solidFill>
              </a:rPr>
              <a:t>7</a:t>
            </a:r>
            <a:endParaRPr lang="en-GB" b="1" dirty="0">
              <a:solidFill>
                <a:srgbClr val="E46C0A"/>
              </a:solidFill>
            </a:endParaRPr>
          </a:p>
        </p:txBody>
      </p:sp>
      <p:cxnSp>
        <p:nvCxnSpPr>
          <p:cNvPr id="69" name="Straight Connector 68">
            <a:extLst>
              <a:ext uri="{FF2B5EF4-FFF2-40B4-BE49-F238E27FC236}">
                <a16:creationId xmlns:a16="http://schemas.microsoft.com/office/drawing/2014/main" id="{784077AE-4C24-9691-27AE-FC71BA7D620F}"/>
              </a:ext>
            </a:extLst>
          </p:cNvPr>
          <p:cNvCxnSpPr>
            <a:cxnSpLocks/>
          </p:cNvCxnSpPr>
          <p:nvPr/>
        </p:nvCxnSpPr>
        <p:spPr>
          <a:xfrm flipV="1">
            <a:off x="0" y="933199"/>
            <a:ext cx="6858000" cy="37713"/>
          </a:xfrm>
          <a:prstGeom prst="line">
            <a:avLst/>
          </a:prstGeom>
          <a:ln>
            <a:solidFill>
              <a:srgbClr val="E46C0A"/>
            </a:solidFill>
          </a:ln>
        </p:spPr>
        <p:style>
          <a:lnRef idx="1">
            <a:schemeClr val="accent1"/>
          </a:lnRef>
          <a:fillRef idx="0">
            <a:schemeClr val="accent1"/>
          </a:fillRef>
          <a:effectRef idx="0">
            <a:schemeClr val="accent1"/>
          </a:effectRef>
          <a:fontRef idx="minor">
            <a:schemeClr val="tx1"/>
          </a:fontRef>
        </p:style>
      </p:cxnSp>
      <p:sp>
        <p:nvSpPr>
          <p:cNvPr id="13" name="object 6">
            <a:extLst>
              <a:ext uri="{FF2B5EF4-FFF2-40B4-BE49-F238E27FC236}">
                <a16:creationId xmlns:a16="http://schemas.microsoft.com/office/drawing/2014/main" id="{BD625FD4-F07D-4351-B66E-62FEB7F4F794}"/>
              </a:ext>
            </a:extLst>
          </p:cNvPr>
          <p:cNvSpPr/>
          <p:nvPr/>
        </p:nvSpPr>
        <p:spPr>
          <a:xfrm>
            <a:off x="107633" y="1023385"/>
            <a:ext cx="6642734" cy="339090"/>
          </a:xfrm>
          <a:custGeom>
            <a:avLst/>
            <a:gdLst/>
            <a:ahLst/>
            <a:cxnLst/>
            <a:rect l="l" t="t" r="r" b="b"/>
            <a:pathLst>
              <a:path w="6642734" h="339090">
                <a:moveTo>
                  <a:pt x="6642734" y="0"/>
                </a:moveTo>
                <a:lnTo>
                  <a:pt x="0" y="0"/>
                </a:lnTo>
                <a:lnTo>
                  <a:pt x="0" y="338556"/>
                </a:lnTo>
                <a:lnTo>
                  <a:pt x="6642734" y="338556"/>
                </a:lnTo>
                <a:lnTo>
                  <a:pt x="6642734" y="0"/>
                </a:lnTo>
                <a:close/>
              </a:path>
            </a:pathLst>
          </a:custGeom>
          <a:solidFill>
            <a:srgbClr val="E46C0A"/>
          </a:solidFill>
        </p:spPr>
        <p:txBody>
          <a:bodyPr wrap="square" lIns="0" tIns="0" rIns="0" bIns="0" rtlCol="0"/>
          <a:lstStyle/>
          <a:p>
            <a:endParaRPr/>
          </a:p>
        </p:txBody>
      </p:sp>
      <p:sp>
        <p:nvSpPr>
          <p:cNvPr id="14" name="object 13">
            <a:extLst>
              <a:ext uri="{FF2B5EF4-FFF2-40B4-BE49-F238E27FC236}">
                <a16:creationId xmlns:a16="http://schemas.microsoft.com/office/drawing/2014/main" id="{04754ADF-9168-4EEF-9BC2-CCDA9643BA8C}"/>
              </a:ext>
            </a:extLst>
          </p:cNvPr>
          <p:cNvSpPr txBox="1"/>
          <p:nvPr/>
        </p:nvSpPr>
        <p:spPr>
          <a:xfrm>
            <a:off x="145733" y="956044"/>
            <a:ext cx="4422140" cy="402674"/>
          </a:xfrm>
          <a:prstGeom prst="rect">
            <a:avLst/>
          </a:prstGeom>
        </p:spPr>
        <p:txBody>
          <a:bodyPr vert="horz" wrap="square" lIns="0" tIns="154940" rIns="0" bIns="0" rtlCol="0">
            <a:spAutoFit/>
          </a:bodyPr>
          <a:lstStyle/>
          <a:p>
            <a:pPr marL="2020570">
              <a:lnSpc>
                <a:spcPct val="100000"/>
              </a:lnSpc>
              <a:spcBef>
                <a:spcPts val="1220"/>
              </a:spcBef>
            </a:pPr>
            <a:r>
              <a:rPr sz="1600" b="1" spc="-20" dirty="0">
                <a:solidFill>
                  <a:schemeClr val="bg1"/>
                </a:solidFill>
                <a:latin typeface="Trebuchet MS"/>
                <a:cs typeface="Trebuchet MS"/>
              </a:rPr>
              <a:t>BALANCE</a:t>
            </a:r>
            <a:r>
              <a:rPr sz="1600" b="1" spc="-130" dirty="0">
                <a:solidFill>
                  <a:schemeClr val="bg1"/>
                </a:solidFill>
                <a:latin typeface="Trebuchet MS"/>
                <a:cs typeface="Trebuchet MS"/>
              </a:rPr>
              <a:t> </a:t>
            </a:r>
            <a:r>
              <a:rPr sz="1600" b="1" spc="-45" dirty="0">
                <a:solidFill>
                  <a:schemeClr val="bg1"/>
                </a:solidFill>
                <a:latin typeface="Trebuchet MS"/>
                <a:cs typeface="Trebuchet MS"/>
              </a:rPr>
              <a:t>SHEET</a:t>
            </a:r>
            <a:r>
              <a:rPr sz="1600" b="1" spc="-150" dirty="0">
                <a:solidFill>
                  <a:schemeClr val="bg1"/>
                </a:solidFill>
                <a:latin typeface="Trebuchet MS"/>
                <a:cs typeface="Trebuchet MS"/>
              </a:rPr>
              <a:t> </a:t>
            </a:r>
            <a:r>
              <a:rPr sz="1600" b="1" spc="-10" dirty="0">
                <a:solidFill>
                  <a:schemeClr val="bg1"/>
                </a:solidFill>
                <a:latin typeface="Trebuchet MS"/>
                <a:cs typeface="Trebuchet MS"/>
              </a:rPr>
              <a:t>ANALYSIS</a:t>
            </a:r>
            <a:endParaRPr sz="1600" dirty="0">
              <a:solidFill>
                <a:schemeClr val="bg1"/>
              </a:solidFill>
              <a:latin typeface="Trebuchet MS"/>
              <a:cs typeface="Trebuchet MS"/>
            </a:endParaRPr>
          </a:p>
        </p:txBody>
      </p:sp>
      <p:pic>
        <p:nvPicPr>
          <p:cNvPr id="7" name="Picture 6">
            <a:extLst>
              <a:ext uri="{FF2B5EF4-FFF2-40B4-BE49-F238E27FC236}">
                <a16:creationId xmlns:a16="http://schemas.microsoft.com/office/drawing/2014/main" id="{A2E7780E-59AE-4A67-8772-CE9E00542AB7}"/>
              </a:ext>
            </a:extLst>
          </p:cNvPr>
          <p:cNvPicPr>
            <a:picLocks noChangeAspect="1"/>
          </p:cNvPicPr>
          <p:nvPr/>
        </p:nvPicPr>
        <p:blipFill rotWithShape="1">
          <a:blip r:embed="rId3">
            <a:extLst>
              <a:ext uri="{28A0092B-C50C-407E-A947-70E740481C1C}">
                <a14:useLocalDpi xmlns:a14="http://schemas.microsoft.com/office/drawing/2010/main" val="0"/>
              </a:ext>
            </a:extLst>
          </a:blip>
          <a:srcRect l="8487" t="8889" r="8179" b="21326"/>
          <a:stretch/>
        </p:blipFill>
        <p:spPr>
          <a:xfrm>
            <a:off x="141830" y="1793711"/>
            <a:ext cx="6608537" cy="6963954"/>
          </a:xfrm>
          <a:prstGeom prst="rect">
            <a:avLst/>
          </a:prstGeom>
        </p:spPr>
      </p:pic>
      <p:sp>
        <p:nvSpPr>
          <p:cNvPr id="8" name="TextBox 7">
            <a:extLst>
              <a:ext uri="{FF2B5EF4-FFF2-40B4-BE49-F238E27FC236}">
                <a16:creationId xmlns:a16="http://schemas.microsoft.com/office/drawing/2014/main" id="{1C053374-BF17-91CF-EBCC-3F8D16C84829}"/>
              </a:ext>
            </a:extLst>
          </p:cNvPr>
          <p:cNvSpPr txBox="1"/>
          <p:nvPr/>
        </p:nvSpPr>
        <p:spPr>
          <a:xfrm>
            <a:off x="117279" y="1501518"/>
            <a:ext cx="3611300" cy="307777"/>
          </a:xfrm>
          <a:prstGeom prst="rect">
            <a:avLst/>
          </a:prstGeom>
          <a:noFill/>
        </p:spPr>
        <p:txBody>
          <a:bodyPr wrap="square">
            <a:spAutoFit/>
          </a:bodyPr>
          <a:lstStyle/>
          <a:p>
            <a:pPr marL="12700">
              <a:lnSpc>
                <a:spcPct val="100000"/>
              </a:lnSpc>
              <a:spcBef>
                <a:spcPts val="994"/>
              </a:spcBef>
            </a:pPr>
            <a:r>
              <a:rPr lang="en-GB" sz="1400" b="1" dirty="0">
                <a:solidFill>
                  <a:srgbClr val="E36B0C"/>
                </a:solidFill>
                <a:latin typeface="Calibri"/>
                <a:cs typeface="Calibri"/>
              </a:rPr>
              <a:t>BALANCE</a:t>
            </a:r>
            <a:r>
              <a:rPr lang="en-GB" sz="1400" b="1" spc="-45" dirty="0">
                <a:solidFill>
                  <a:srgbClr val="E36B0C"/>
                </a:solidFill>
                <a:latin typeface="Calibri"/>
                <a:cs typeface="Calibri"/>
              </a:rPr>
              <a:t> </a:t>
            </a:r>
            <a:r>
              <a:rPr lang="en-GB" sz="1400" b="1" spc="-20" dirty="0">
                <a:solidFill>
                  <a:srgbClr val="E36B0C"/>
                </a:solidFill>
                <a:latin typeface="Calibri"/>
                <a:cs typeface="Calibri"/>
              </a:rPr>
              <a:t>SHEET</a:t>
            </a:r>
            <a:endParaRPr lang="en-GB" sz="1400" dirty="0">
              <a:solidFill>
                <a:srgbClr val="E36B0C"/>
              </a:solidFill>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6858000" cy="1625597"/>
            <a:chOff x="0" y="0"/>
            <a:chExt cx="6858000" cy="1625597"/>
          </a:xfrm>
        </p:grpSpPr>
        <p:sp>
          <p:nvSpPr>
            <p:cNvPr id="3" name="object 3"/>
            <p:cNvSpPr/>
            <p:nvPr/>
          </p:nvSpPr>
          <p:spPr>
            <a:xfrm>
              <a:off x="0" y="0"/>
              <a:ext cx="6858000" cy="949325"/>
            </a:xfrm>
            <a:custGeom>
              <a:avLst/>
              <a:gdLst/>
              <a:ahLst/>
              <a:cxnLst/>
              <a:rect l="l" t="t" r="r" b="b"/>
              <a:pathLst>
                <a:path w="6858000" h="949325">
                  <a:moveTo>
                    <a:pt x="0" y="949198"/>
                  </a:moveTo>
                  <a:lnTo>
                    <a:pt x="6858000" y="949198"/>
                  </a:lnTo>
                  <a:lnTo>
                    <a:pt x="6858000" y="0"/>
                  </a:lnTo>
                  <a:lnTo>
                    <a:pt x="0" y="0"/>
                  </a:lnTo>
                  <a:lnTo>
                    <a:pt x="0" y="949198"/>
                  </a:lnTo>
                  <a:close/>
                </a:path>
              </a:pathLst>
            </a:custGeom>
            <a:solidFill>
              <a:schemeClr val="accent6">
                <a:lumMod val="75000"/>
              </a:schemeClr>
            </a:solidFill>
          </p:spPr>
          <p:txBody>
            <a:bodyPr wrap="square" lIns="0" tIns="0" rIns="0" bIns="0" rtlCol="0"/>
            <a:lstStyle/>
            <a:p>
              <a:endParaRPr/>
            </a:p>
          </p:txBody>
        </p:sp>
        <p:sp>
          <p:nvSpPr>
            <p:cNvPr id="4" name="object 4"/>
            <p:cNvSpPr/>
            <p:nvPr/>
          </p:nvSpPr>
          <p:spPr>
            <a:xfrm>
              <a:off x="0" y="316227"/>
              <a:ext cx="4147185" cy="1309370"/>
            </a:xfrm>
            <a:custGeom>
              <a:avLst/>
              <a:gdLst/>
              <a:ahLst/>
              <a:cxnLst/>
              <a:rect l="l" t="t" r="r" b="b"/>
              <a:pathLst>
                <a:path w="4147185" h="1309370">
                  <a:moveTo>
                    <a:pt x="3492246" y="0"/>
                  </a:moveTo>
                  <a:lnTo>
                    <a:pt x="0" y="0"/>
                  </a:lnTo>
                  <a:lnTo>
                    <a:pt x="0" y="1309243"/>
                  </a:lnTo>
                  <a:lnTo>
                    <a:pt x="3492246" y="1309243"/>
                  </a:lnTo>
                  <a:lnTo>
                    <a:pt x="4146804" y="654685"/>
                  </a:lnTo>
                  <a:lnTo>
                    <a:pt x="3492246" y="0"/>
                  </a:lnTo>
                  <a:close/>
                </a:path>
              </a:pathLst>
            </a:custGeom>
            <a:solidFill>
              <a:srgbClr val="FFFFFF"/>
            </a:solidFill>
          </p:spPr>
          <p:txBody>
            <a:bodyPr wrap="square" lIns="0" tIns="0" rIns="0" bIns="0" rtlCol="0"/>
            <a:lstStyle/>
            <a:p>
              <a:endParaRPr dirty="0"/>
            </a:p>
          </p:txBody>
        </p:sp>
      </p:grpSp>
      <p:sp>
        <p:nvSpPr>
          <p:cNvPr id="5" name="object 5"/>
          <p:cNvSpPr txBox="1"/>
          <p:nvPr/>
        </p:nvSpPr>
        <p:spPr>
          <a:xfrm>
            <a:off x="147015" y="4952"/>
            <a:ext cx="2081530" cy="247015"/>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FFFFFF"/>
                </a:solidFill>
                <a:latin typeface="Calibri"/>
                <a:cs typeface="Calibri"/>
              </a:rPr>
              <a:t>EQUITY</a:t>
            </a:r>
            <a:r>
              <a:rPr sz="1450" b="1" spc="-65" dirty="0">
                <a:solidFill>
                  <a:srgbClr val="FFFFFF"/>
                </a:solidFill>
                <a:latin typeface="Calibri"/>
                <a:cs typeface="Calibri"/>
              </a:rPr>
              <a:t> </a:t>
            </a:r>
            <a:r>
              <a:rPr sz="1450" b="1" dirty="0">
                <a:solidFill>
                  <a:srgbClr val="FFFFFF"/>
                </a:solidFill>
                <a:latin typeface="Calibri"/>
                <a:cs typeface="Calibri"/>
              </a:rPr>
              <a:t>RESEARCH</a:t>
            </a:r>
            <a:r>
              <a:rPr sz="1450" b="1" spc="-60" dirty="0">
                <a:solidFill>
                  <a:srgbClr val="FFFFFF"/>
                </a:solidFill>
                <a:latin typeface="Calibri"/>
                <a:cs typeface="Calibri"/>
              </a:rPr>
              <a:t> </a:t>
            </a:r>
            <a:r>
              <a:rPr sz="1450" b="1" spc="-10" dirty="0">
                <a:solidFill>
                  <a:srgbClr val="FFFFFF"/>
                </a:solidFill>
                <a:latin typeface="Calibri"/>
                <a:cs typeface="Calibri"/>
              </a:rPr>
              <a:t>REPORT</a:t>
            </a:r>
            <a:endParaRPr sz="1450">
              <a:latin typeface="Calibri"/>
              <a:cs typeface="Calibri"/>
            </a:endParaRPr>
          </a:p>
        </p:txBody>
      </p:sp>
      <p:sp>
        <p:nvSpPr>
          <p:cNvPr id="40" name="object 40"/>
          <p:cNvSpPr txBox="1">
            <a:spLocks noGrp="1"/>
          </p:cNvSpPr>
          <p:nvPr>
            <p:ph type="title"/>
          </p:nvPr>
        </p:nvSpPr>
        <p:spPr>
          <a:xfrm>
            <a:off x="141831" y="295140"/>
            <a:ext cx="4269104" cy="289182"/>
          </a:xfrm>
          <a:prstGeom prst="rect">
            <a:avLst/>
          </a:prstGeom>
        </p:spPr>
        <p:txBody>
          <a:bodyPr vert="horz" wrap="square" lIns="0" tIns="12065" rIns="0" bIns="0" rtlCol="0">
            <a:spAutoFit/>
          </a:bodyPr>
          <a:lstStyle/>
          <a:p>
            <a:pPr marL="12700">
              <a:lnSpc>
                <a:spcPct val="100000"/>
              </a:lnSpc>
              <a:spcBef>
                <a:spcPts val="95"/>
              </a:spcBef>
            </a:pPr>
            <a:r>
              <a:rPr lang="en-GB" sz="1800" dirty="0"/>
              <a:t>Sun Pharmaceutical Industries Ltd.</a:t>
            </a:r>
            <a:endParaRPr sz="1800" dirty="0"/>
          </a:p>
        </p:txBody>
      </p:sp>
      <p:sp>
        <p:nvSpPr>
          <p:cNvPr id="41" name="object 41"/>
          <p:cNvSpPr txBox="1"/>
          <p:nvPr/>
        </p:nvSpPr>
        <p:spPr>
          <a:xfrm>
            <a:off x="141831" y="526972"/>
            <a:ext cx="3210968"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D2841"/>
                </a:solidFill>
                <a:latin typeface="Calibri"/>
                <a:cs typeface="Calibri"/>
              </a:rPr>
              <a:t>NSE</a:t>
            </a:r>
            <a:r>
              <a:rPr sz="1200" b="1" spc="-20" dirty="0">
                <a:solidFill>
                  <a:srgbClr val="0D2841"/>
                </a:solidFill>
                <a:latin typeface="Calibri"/>
                <a:cs typeface="Calibri"/>
              </a:rPr>
              <a:t> </a:t>
            </a:r>
            <a:r>
              <a:rPr sz="1200" b="1" dirty="0">
                <a:solidFill>
                  <a:srgbClr val="0D2841"/>
                </a:solidFill>
                <a:latin typeface="Calibri"/>
                <a:cs typeface="Calibri"/>
              </a:rPr>
              <a:t>:</a:t>
            </a:r>
            <a:r>
              <a:rPr lang="en-US" sz="1200" b="1" spc="-15" dirty="0">
                <a:solidFill>
                  <a:srgbClr val="0D2841"/>
                </a:solidFill>
                <a:latin typeface="Calibri"/>
                <a:cs typeface="Calibri"/>
              </a:rPr>
              <a:t> </a:t>
            </a:r>
            <a:r>
              <a:rPr lang="en-GB" sz="1200" b="1" dirty="0">
                <a:latin typeface="+mj-lt"/>
              </a:rPr>
              <a:t>SUNPHARMA</a:t>
            </a:r>
            <a:r>
              <a:rPr sz="1200" b="1" spc="10" dirty="0">
                <a:solidFill>
                  <a:srgbClr val="0D2841"/>
                </a:solidFill>
                <a:latin typeface="Calibri"/>
                <a:cs typeface="Calibri"/>
              </a:rPr>
              <a:t> </a:t>
            </a:r>
            <a:r>
              <a:rPr sz="1200" b="1" dirty="0">
                <a:solidFill>
                  <a:srgbClr val="0D2841"/>
                </a:solidFill>
                <a:latin typeface="Calibri"/>
                <a:cs typeface="Calibri"/>
              </a:rPr>
              <a:t>|</a:t>
            </a:r>
            <a:r>
              <a:rPr sz="1200" b="1" spc="-15" dirty="0">
                <a:solidFill>
                  <a:srgbClr val="0D2841"/>
                </a:solidFill>
                <a:latin typeface="Calibri"/>
                <a:cs typeface="Calibri"/>
              </a:rPr>
              <a:t> </a:t>
            </a:r>
            <a:r>
              <a:rPr sz="1200" b="1" dirty="0">
                <a:solidFill>
                  <a:srgbClr val="0D2841"/>
                </a:solidFill>
                <a:latin typeface="Calibri"/>
                <a:cs typeface="Calibri"/>
              </a:rPr>
              <a:t>BSE Code:</a:t>
            </a:r>
            <a:r>
              <a:rPr sz="1200" b="1" spc="-5" dirty="0">
                <a:solidFill>
                  <a:srgbClr val="0D2841"/>
                </a:solidFill>
                <a:latin typeface="Calibri"/>
                <a:cs typeface="Calibri"/>
              </a:rPr>
              <a:t> </a:t>
            </a:r>
            <a:r>
              <a:rPr lang="en-GB" sz="1200" b="1" dirty="0">
                <a:latin typeface="+mj-lt"/>
              </a:rPr>
              <a:t>524715</a:t>
            </a:r>
          </a:p>
        </p:txBody>
      </p:sp>
      <p:sp>
        <p:nvSpPr>
          <p:cNvPr id="57" name="object 41">
            <a:extLst>
              <a:ext uri="{FF2B5EF4-FFF2-40B4-BE49-F238E27FC236}">
                <a16:creationId xmlns:a16="http://schemas.microsoft.com/office/drawing/2014/main" id="{A4CE2B38-9DA1-AD14-D09F-5355F60BA0B5}"/>
              </a:ext>
            </a:extLst>
          </p:cNvPr>
          <p:cNvSpPr txBox="1"/>
          <p:nvPr/>
        </p:nvSpPr>
        <p:spPr>
          <a:xfrm>
            <a:off x="141831" y="686543"/>
            <a:ext cx="3210968" cy="197490"/>
          </a:xfrm>
          <a:prstGeom prst="rect">
            <a:avLst/>
          </a:prstGeom>
        </p:spPr>
        <p:txBody>
          <a:bodyPr vert="horz" wrap="square" lIns="0" tIns="12700" rIns="0" bIns="0" rtlCol="0">
            <a:spAutoFit/>
          </a:bodyPr>
          <a:lstStyle/>
          <a:p>
            <a:pPr marL="12700">
              <a:lnSpc>
                <a:spcPct val="100000"/>
              </a:lnSpc>
              <a:spcBef>
                <a:spcPts val="100"/>
              </a:spcBef>
            </a:pPr>
            <a:r>
              <a:rPr lang="en-GB" sz="1200" b="1" dirty="0">
                <a:latin typeface="Calibri "/>
              </a:rPr>
              <a:t>Pharmaceuticals &amp; Drugs</a:t>
            </a:r>
          </a:p>
        </p:txBody>
      </p:sp>
      <p:pic>
        <p:nvPicPr>
          <p:cNvPr id="59" name="Picture 58">
            <a:extLst>
              <a:ext uri="{FF2B5EF4-FFF2-40B4-BE49-F238E27FC236}">
                <a16:creationId xmlns:a16="http://schemas.microsoft.com/office/drawing/2014/main" id="{E16D52EA-F1BD-484B-4CA0-DBFF0113C3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04126" y="17284"/>
            <a:ext cx="1295705" cy="879830"/>
          </a:xfrm>
          <a:prstGeom prst="rect">
            <a:avLst/>
          </a:prstGeom>
        </p:spPr>
      </p:pic>
      <p:cxnSp>
        <p:nvCxnSpPr>
          <p:cNvPr id="61" name="Straight Connector 60">
            <a:extLst>
              <a:ext uri="{FF2B5EF4-FFF2-40B4-BE49-F238E27FC236}">
                <a16:creationId xmlns:a16="http://schemas.microsoft.com/office/drawing/2014/main" id="{01430D55-C150-28B4-1B74-60D53B0357A2}"/>
              </a:ext>
            </a:extLst>
          </p:cNvPr>
          <p:cNvCxnSpPr>
            <a:cxnSpLocks/>
          </p:cNvCxnSpPr>
          <p:nvPr/>
        </p:nvCxnSpPr>
        <p:spPr>
          <a:xfrm>
            <a:off x="0" y="8859394"/>
            <a:ext cx="6858000" cy="0"/>
          </a:xfrm>
          <a:prstGeom prst="line">
            <a:avLst/>
          </a:prstGeom>
          <a:ln w="41275">
            <a:solidFill>
              <a:srgbClr val="E46C0A"/>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92CF3E35-22AB-C439-F95E-88E2CDE2061E}"/>
              </a:ext>
            </a:extLst>
          </p:cNvPr>
          <p:cNvSpPr txBox="1"/>
          <p:nvPr/>
        </p:nvSpPr>
        <p:spPr>
          <a:xfrm>
            <a:off x="6553200" y="8810228"/>
            <a:ext cx="667055" cy="369332"/>
          </a:xfrm>
          <a:prstGeom prst="rect">
            <a:avLst/>
          </a:prstGeom>
          <a:noFill/>
        </p:spPr>
        <p:txBody>
          <a:bodyPr wrap="square" rtlCol="0">
            <a:spAutoFit/>
          </a:bodyPr>
          <a:lstStyle/>
          <a:p>
            <a:r>
              <a:rPr lang="en-US" b="1" dirty="0">
                <a:solidFill>
                  <a:srgbClr val="E46C0A"/>
                </a:solidFill>
              </a:rPr>
              <a:t>7</a:t>
            </a:r>
            <a:endParaRPr lang="en-GB" b="1" dirty="0">
              <a:solidFill>
                <a:srgbClr val="E46C0A"/>
              </a:solidFill>
            </a:endParaRPr>
          </a:p>
        </p:txBody>
      </p:sp>
      <p:cxnSp>
        <p:nvCxnSpPr>
          <p:cNvPr id="69" name="Straight Connector 68">
            <a:extLst>
              <a:ext uri="{FF2B5EF4-FFF2-40B4-BE49-F238E27FC236}">
                <a16:creationId xmlns:a16="http://schemas.microsoft.com/office/drawing/2014/main" id="{784077AE-4C24-9691-27AE-FC71BA7D620F}"/>
              </a:ext>
            </a:extLst>
          </p:cNvPr>
          <p:cNvCxnSpPr>
            <a:cxnSpLocks/>
          </p:cNvCxnSpPr>
          <p:nvPr/>
        </p:nvCxnSpPr>
        <p:spPr>
          <a:xfrm flipV="1">
            <a:off x="0" y="933199"/>
            <a:ext cx="6858000" cy="37713"/>
          </a:xfrm>
          <a:prstGeom prst="line">
            <a:avLst/>
          </a:prstGeom>
          <a:ln>
            <a:solidFill>
              <a:srgbClr val="E46C0A"/>
            </a:solidFill>
          </a:ln>
        </p:spPr>
        <p:style>
          <a:lnRef idx="1">
            <a:schemeClr val="accent1"/>
          </a:lnRef>
          <a:fillRef idx="0">
            <a:schemeClr val="accent1"/>
          </a:fillRef>
          <a:effectRef idx="0">
            <a:schemeClr val="accent1"/>
          </a:effectRef>
          <a:fontRef idx="minor">
            <a:schemeClr val="tx1"/>
          </a:fontRef>
        </p:style>
      </p:cxnSp>
      <p:sp>
        <p:nvSpPr>
          <p:cNvPr id="23" name="object 2">
            <a:extLst>
              <a:ext uri="{FF2B5EF4-FFF2-40B4-BE49-F238E27FC236}">
                <a16:creationId xmlns:a16="http://schemas.microsoft.com/office/drawing/2014/main" id="{9D9AA474-E6B5-49FA-9FD3-865B32509DDD}"/>
              </a:ext>
            </a:extLst>
          </p:cNvPr>
          <p:cNvSpPr txBox="1"/>
          <p:nvPr/>
        </p:nvSpPr>
        <p:spPr>
          <a:xfrm>
            <a:off x="113460" y="7066456"/>
            <a:ext cx="3267710" cy="1526059"/>
          </a:xfrm>
          <a:prstGeom prst="rect">
            <a:avLst/>
          </a:prstGeom>
        </p:spPr>
        <p:txBody>
          <a:bodyPr vert="horz" wrap="square" lIns="0" tIns="12700" rIns="0" bIns="0" rtlCol="0">
            <a:spAutoFit/>
          </a:bodyPr>
          <a:lstStyle/>
          <a:p>
            <a:pPr marL="12700" algn="just">
              <a:lnSpc>
                <a:spcPts val="2150"/>
              </a:lnSpc>
              <a:spcBef>
                <a:spcPts val="100"/>
              </a:spcBef>
            </a:pPr>
            <a:r>
              <a:rPr lang="en-GB" sz="2000" b="1" dirty="0">
                <a:solidFill>
                  <a:srgbClr val="E46C0A"/>
                </a:solidFill>
                <a:latin typeface="+mj-lt"/>
                <a:cs typeface="Calibri"/>
              </a:rPr>
              <a:t>Borrowings</a:t>
            </a:r>
            <a:endParaRPr sz="2000" dirty="0">
              <a:solidFill>
                <a:srgbClr val="E46C0A"/>
              </a:solidFill>
              <a:latin typeface="+mj-lt"/>
              <a:cs typeface="Calibri"/>
            </a:endParaRPr>
          </a:p>
          <a:p>
            <a:pPr marL="25400" marR="5080" algn="just">
              <a:lnSpc>
                <a:spcPts val="1200"/>
              </a:lnSpc>
              <a:spcBef>
                <a:spcPts val="30"/>
              </a:spcBef>
            </a:pPr>
            <a:r>
              <a:rPr lang="en-GB" sz="1200" dirty="0">
                <a:latin typeface="+mj-lt"/>
              </a:rPr>
              <a:t>Borrowings declined substantially from ₹97,518 million in FY2018 to ₹40,504 million in FY2026. Although borrowings temporarily increased during FY2023 due to financing requirements related to the Concert Pharmaceuticals acquisition, the company rapidly reduced debt thereafter, demonstrating prudent financial management and a strong balance sheet.</a:t>
            </a:r>
            <a:endParaRPr sz="1200" dirty="0">
              <a:latin typeface="+mj-lt"/>
              <a:cs typeface="Calibri"/>
            </a:endParaRPr>
          </a:p>
        </p:txBody>
      </p:sp>
      <p:sp>
        <p:nvSpPr>
          <p:cNvPr id="58" name="object 60">
            <a:extLst>
              <a:ext uri="{FF2B5EF4-FFF2-40B4-BE49-F238E27FC236}">
                <a16:creationId xmlns:a16="http://schemas.microsoft.com/office/drawing/2014/main" id="{EEAD9FB7-53F5-400E-9CE2-A2003F09DDD3}"/>
              </a:ext>
            </a:extLst>
          </p:cNvPr>
          <p:cNvSpPr txBox="1"/>
          <p:nvPr/>
        </p:nvSpPr>
        <p:spPr>
          <a:xfrm>
            <a:off x="156334" y="3583153"/>
            <a:ext cx="3314065" cy="1207638"/>
          </a:xfrm>
          <a:prstGeom prst="rect">
            <a:avLst/>
          </a:prstGeom>
        </p:spPr>
        <p:txBody>
          <a:bodyPr vert="horz" wrap="square" lIns="0" tIns="12700" rIns="0" bIns="0" rtlCol="0">
            <a:spAutoFit/>
          </a:bodyPr>
          <a:lstStyle/>
          <a:p>
            <a:pPr marL="12700" algn="just">
              <a:lnSpc>
                <a:spcPts val="2130"/>
              </a:lnSpc>
              <a:spcBef>
                <a:spcPts val="100"/>
              </a:spcBef>
            </a:pPr>
            <a:r>
              <a:rPr sz="2000" b="1" dirty="0">
                <a:solidFill>
                  <a:srgbClr val="E36B0C"/>
                </a:solidFill>
                <a:latin typeface="+mj-lt"/>
                <a:cs typeface="Calibri"/>
              </a:rPr>
              <a:t>Current</a:t>
            </a:r>
            <a:r>
              <a:rPr sz="2000" b="1" spc="-85" dirty="0">
                <a:solidFill>
                  <a:srgbClr val="E36B0C"/>
                </a:solidFill>
                <a:latin typeface="+mj-lt"/>
                <a:cs typeface="Calibri"/>
              </a:rPr>
              <a:t> </a:t>
            </a:r>
            <a:r>
              <a:rPr sz="2000" b="1" spc="-10" dirty="0">
                <a:solidFill>
                  <a:srgbClr val="E36B0C"/>
                </a:solidFill>
                <a:latin typeface="+mj-lt"/>
                <a:cs typeface="Calibri"/>
              </a:rPr>
              <a:t>Assets</a:t>
            </a:r>
            <a:endParaRPr sz="2000" dirty="0">
              <a:solidFill>
                <a:srgbClr val="E36B0C"/>
              </a:solidFill>
              <a:latin typeface="+mj-lt"/>
              <a:cs typeface="Calibri"/>
            </a:endParaRPr>
          </a:p>
          <a:p>
            <a:pPr marL="29209" marR="5080" algn="just">
              <a:lnSpc>
                <a:spcPts val="1200"/>
              </a:lnSpc>
              <a:spcBef>
                <a:spcPts val="10"/>
              </a:spcBef>
            </a:pPr>
            <a:r>
              <a:rPr lang="en-GB" sz="1200" dirty="0">
                <a:latin typeface="+mj-lt"/>
              </a:rPr>
              <a:t>Current assets grew significantly from ₹316,359 million in FY2018 to ₹491,435.20 million in FY2026, mainly driven by higher cash &amp; cash equivalents and healthy working capital. This improvement enhances the company's liquidity position and provides financial flexibility for future growth initiatives.</a:t>
            </a:r>
            <a:endParaRPr sz="1200" dirty="0">
              <a:latin typeface="+mj-lt"/>
              <a:cs typeface="Calibri"/>
            </a:endParaRPr>
          </a:p>
        </p:txBody>
      </p:sp>
      <p:sp>
        <p:nvSpPr>
          <p:cNvPr id="60" name="object 61">
            <a:extLst>
              <a:ext uri="{FF2B5EF4-FFF2-40B4-BE49-F238E27FC236}">
                <a16:creationId xmlns:a16="http://schemas.microsoft.com/office/drawing/2014/main" id="{FDE85E0B-8E62-422E-8B3B-E2EBD059E6BB}"/>
              </a:ext>
            </a:extLst>
          </p:cNvPr>
          <p:cNvSpPr txBox="1"/>
          <p:nvPr/>
        </p:nvSpPr>
        <p:spPr>
          <a:xfrm>
            <a:off x="140235" y="5211846"/>
            <a:ext cx="3302000" cy="1731243"/>
          </a:xfrm>
          <a:prstGeom prst="rect">
            <a:avLst/>
          </a:prstGeom>
        </p:spPr>
        <p:txBody>
          <a:bodyPr vert="horz" wrap="square" lIns="0" tIns="83820" rIns="0" bIns="0" rtlCol="0">
            <a:spAutoFit/>
          </a:bodyPr>
          <a:lstStyle/>
          <a:p>
            <a:pPr marL="12700" algn="just">
              <a:lnSpc>
                <a:spcPct val="100000"/>
              </a:lnSpc>
              <a:spcBef>
                <a:spcPts val="660"/>
              </a:spcBef>
            </a:pPr>
            <a:r>
              <a:rPr sz="2000" b="1" dirty="0">
                <a:solidFill>
                  <a:srgbClr val="E46C0A"/>
                </a:solidFill>
                <a:latin typeface="+mj-lt"/>
                <a:cs typeface="Calibri"/>
              </a:rPr>
              <a:t>Equity</a:t>
            </a:r>
            <a:r>
              <a:rPr sz="2000" b="1" spc="-35" dirty="0">
                <a:solidFill>
                  <a:srgbClr val="E46C0A"/>
                </a:solidFill>
                <a:latin typeface="+mj-lt"/>
                <a:cs typeface="Calibri"/>
              </a:rPr>
              <a:t> </a:t>
            </a:r>
            <a:r>
              <a:rPr sz="2000" b="1" dirty="0">
                <a:solidFill>
                  <a:srgbClr val="E46C0A"/>
                </a:solidFill>
                <a:latin typeface="+mj-lt"/>
                <a:cs typeface="Calibri"/>
              </a:rPr>
              <a:t>&amp;</a:t>
            </a:r>
            <a:r>
              <a:rPr sz="2000" b="1" spc="-25" dirty="0">
                <a:solidFill>
                  <a:srgbClr val="E46C0A"/>
                </a:solidFill>
                <a:latin typeface="+mj-lt"/>
                <a:cs typeface="Calibri"/>
              </a:rPr>
              <a:t> </a:t>
            </a:r>
            <a:r>
              <a:rPr sz="2000" b="1" spc="-10" dirty="0">
                <a:solidFill>
                  <a:srgbClr val="E46C0A"/>
                </a:solidFill>
                <a:latin typeface="+mj-lt"/>
                <a:cs typeface="Calibri"/>
              </a:rPr>
              <a:t>Liabilities</a:t>
            </a:r>
            <a:endParaRPr lang="en-GB" sz="2000" b="1" spc="-10" dirty="0">
              <a:solidFill>
                <a:srgbClr val="E46C0A"/>
              </a:solidFill>
              <a:latin typeface="+mj-lt"/>
              <a:cs typeface="Calibri"/>
            </a:endParaRPr>
          </a:p>
          <a:p>
            <a:pPr marL="31750" marR="5080" algn="just">
              <a:spcBef>
                <a:spcPts val="310"/>
              </a:spcBef>
            </a:pPr>
            <a:r>
              <a:rPr lang="en-GB" sz="1200" dirty="0">
                <a:latin typeface="+mj-lt"/>
              </a:rPr>
              <a:t>Total Equity increased consistently from ₹419,847 million in FY2018 to ₹838,797 million in FY2026, reflecting sustained profitability and strong retained earnings. The continuous growth in shareholders' equity indicates effective capital allocation and increasing shareholder value.</a:t>
            </a:r>
          </a:p>
          <a:p>
            <a:pPr marL="31750" marR="5080" algn="just">
              <a:lnSpc>
                <a:spcPct val="100000"/>
              </a:lnSpc>
              <a:spcBef>
                <a:spcPts val="310"/>
              </a:spcBef>
            </a:pPr>
            <a:endParaRPr lang="en-GB" sz="1000" dirty="0">
              <a:latin typeface="+mj-lt"/>
              <a:cs typeface="Calibri"/>
            </a:endParaRPr>
          </a:p>
        </p:txBody>
      </p:sp>
      <p:sp>
        <p:nvSpPr>
          <p:cNvPr id="97" name="object 33">
            <a:extLst>
              <a:ext uri="{FF2B5EF4-FFF2-40B4-BE49-F238E27FC236}">
                <a16:creationId xmlns:a16="http://schemas.microsoft.com/office/drawing/2014/main" id="{46E4FA3C-7DE0-487E-9E8A-54E1B353A974}"/>
              </a:ext>
            </a:extLst>
          </p:cNvPr>
          <p:cNvSpPr txBox="1"/>
          <p:nvPr/>
        </p:nvSpPr>
        <p:spPr>
          <a:xfrm>
            <a:off x="156334" y="1646684"/>
            <a:ext cx="3298825" cy="1515415"/>
          </a:xfrm>
          <a:prstGeom prst="rect">
            <a:avLst/>
          </a:prstGeom>
        </p:spPr>
        <p:txBody>
          <a:bodyPr vert="horz" wrap="square" lIns="0" tIns="12700" rIns="0" bIns="0" rtlCol="0">
            <a:spAutoFit/>
          </a:bodyPr>
          <a:lstStyle/>
          <a:p>
            <a:pPr marL="19685" algn="just">
              <a:lnSpc>
                <a:spcPts val="2130"/>
              </a:lnSpc>
              <a:spcBef>
                <a:spcPts val="100"/>
              </a:spcBef>
            </a:pPr>
            <a:r>
              <a:rPr sz="2000" b="1" dirty="0">
                <a:solidFill>
                  <a:srgbClr val="E46C0A"/>
                </a:solidFill>
                <a:latin typeface="Calibri"/>
                <a:cs typeface="Calibri"/>
              </a:rPr>
              <a:t>Non</a:t>
            </a:r>
            <a:r>
              <a:rPr lang="en-GB" sz="2000" b="1" dirty="0">
                <a:solidFill>
                  <a:srgbClr val="E46C0A"/>
                </a:solidFill>
                <a:latin typeface="Calibri"/>
                <a:cs typeface="Calibri"/>
              </a:rPr>
              <a:t> </a:t>
            </a:r>
            <a:r>
              <a:rPr sz="2000" b="1" dirty="0">
                <a:solidFill>
                  <a:srgbClr val="E46C0A"/>
                </a:solidFill>
                <a:latin typeface="Calibri"/>
                <a:cs typeface="Calibri"/>
              </a:rPr>
              <a:t>–</a:t>
            </a:r>
            <a:r>
              <a:rPr lang="en-GB" sz="2000" b="1" dirty="0">
                <a:solidFill>
                  <a:srgbClr val="E46C0A"/>
                </a:solidFill>
                <a:latin typeface="Calibri"/>
                <a:cs typeface="Calibri"/>
              </a:rPr>
              <a:t> </a:t>
            </a:r>
            <a:r>
              <a:rPr sz="2000" b="1" dirty="0">
                <a:solidFill>
                  <a:srgbClr val="E46C0A"/>
                </a:solidFill>
                <a:latin typeface="Calibri"/>
                <a:cs typeface="Calibri"/>
              </a:rPr>
              <a:t>Current</a:t>
            </a:r>
            <a:r>
              <a:rPr sz="2000" b="1" spc="-105" dirty="0">
                <a:solidFill>
                  <a:srgbClr val="E46C0A"/>
                </a:solidFill>
                <a:latin typeface="Calibri"/>
                <a:cs typeface="Calibri"/>
              </a:rPr>
              <a:t> </a:t>
            </a:r>
            <a:r>
              <a:rPr sz="2000" b="1" spc="-10" dirty="0">
                <a:solidFill>
                  <a:srgbClr val="E46C0A"/>
                </a:solidFill>
                <a:latin typeface="Calibri"/>
                <a:cs typeface="Calibri"/>
              </a:rPr>
              <a:t>Asset</a:t>
            </a:r>
            <a:r>
              <a:rPr lang="en-IN" sz="2000" b="1" spc="-10" dirty="0">
                <a:solidFill>
                  <a:srgbClr val="E46C0A"/>
                </a:solidFill>
                <a:latin typeface="Calibri"/>
                <a:cs typeface="Calibri"/>
              </a:rPr>
              <a:t>s</a:t>
            </a:r>
            <a:endParaRPr lang="en-GB" sz="2000" b="1" spc="-10" dirty="0">
              <a:solidFill>
                <a:srgbClr val="E46C0A"/>
              </a:solidFill>
              <a:latin typeface="Calibri"/>
              <a:cs typeface="Calibri"/>
            </a:endParaRPr>
          </a:p>
          <a:p>
            <a:pPr marL="12700" marR="6985" algn="just">
              <a:lnSpc>
                <a:spcPts val="1200"/>
              </a:lnSpc>
              <a:spcBef>
                <a:spcPts val="10"/>
              </a:spcBef>
            </a:pPr>
            <a:r>
              <a:rPr lang="en-GB" sz="1200" dirty="0">
                <a:latin typeface="+mj-lt"/>
              </a:rPr>
              <a:t>Sun Pharma's non-current assets increased from ₹326,669 million in FY2018 to ₹430,226 million in FY2026, reflecting continued investments in manufacturing facilities, research &amp; development infrastructure, and strategic acquisitions. The steady rise highlights the company's long-term expansion strategy and commitment to strengthening its production capabilities.</a:t>
            </a:r>
            <a:endParaRPr lang="en-GB" sz="1200" dirty="0">
              <a:latin typeface="+mj-lt"/>
              <a:cs typeface="Calibri"/>
            </a:endParaRPr>
          </a:p>
        </p:txBody>
      </p:sp>
      <p:sp>
        <p:nvSpPr>
          <p:cNvPr id="98" name="object 6">
            <a:extLst>
              <a:ext uri="{FF2B5EF4-FFF2-40B4-BE49-F238E27FC236}">
                <a16:creationId xmlns:a16="http://schemas.microsoft.com/office/drawing/2014/main" id="{1AD440B9-875E-4DFC-8533-C2E5B5BB573C}"/>
              </a:ext>
            </a:extLst>
          </p:cNvPr>
          <p:cNvSpPr/>
          <p:nvPr/>
        </p:nvSpPr>
        <p:spPr>
          <a:xfrm>
            <a:off x="107633" y="1023385"/>
            <a:ext cx="6642734" cy="339090"/>
          </a:xfrm>
          <a:custGeom>
            <a:avLst/>
            <a:gdLst/>
            <a:ahLst/>
            <a:cxnLst/>
            <a:rect l="l" t="t" r="r" b="b"/>
            <a:pathLst>
              <a:path w="6642734" h="339090">
                <a:moveTo>
                  <a:pt x="6642734" y="0"/>
                </a:moveTo>
                <a:lnTo>
                  <a:pt x="0" y="0"/>
                </a:lnTo>
                <a:lnTo>
                  <a:pt x="0" y="338556"/>
                </a:lnTo>
                <a:lnTo>
                  <a:pt x="6642734" y="338556"/>
                </a:lnTo>
                <a:lnTo>
                  <a:pt x="6642734" y="0"/>
                </a:lnTo>
                <a:close/>
              </a:path>
            </a:pathLst>
          </a:custGeom>
          <a:solidFill>
            <a:srgbClr val="E46C0A"/>
          </a:solidFill>
        </p:spPr>
        <p:txBody>
          <a:bodyPr wrap="square" lIns="0" tIns="0" rIns="0" bIns="0" rtlCol="0"/>
          <a:lstStyle/>
          <a:p>
            <a:endParaRPr/>
          </a:p>
        </p:txBody>
      </p:sp>
      <p:sp>
        <p:nvSpPr>
          <p:cNvPr id="99" name="object 13">
            <a:extLst>
              <a:ext uri="{FF2B5EF4-FFF2-40B4-BE49-F238E27FC236}">
                <a16:creationId xmlns:a16="http://schemas.microsoft.com/office/drawing/2014/main" id="{85FB835A-4D87-461D-ACDD-BD640319C71A}"/>
              </a:ext>
            </a:extLst>
          </p:cNvPr>
          <p:cNvSpPr txBox="1"/>
          <p:nvPr/>
        </p:nvSpPr>
        <p:spPr>
          <a:xfrm>
            <a:off x="295706" y="928816"/>
            <a:ext cx="4422140" cy="402674"/>
          </a:xfrm>
          <a:prstGeom prst="rect">
            <a:avLst/>
          </a:prstGeom>
        </p:spPr>
        <p:txBody>
          <a:bodyPr vert="horz" wrap="square" lIns="0" tIns="154940" rIns="0" bIns="0" rtlCol="0">
            <a:spAutoFit/>
          </a:bodyPr>
          <a:lstStyle/>
          <a:p>
            <a:pPr marL="2020570">
              <a:lnSpc>
                <a:spcPct val="100000"/>
              </a:lnSpc>
              <a:spcBef>
                <a:spcPts val="1220"/>
              </a:spcBef>
            </a:pPr>
            <a:r>
              <a:rPr sz="1600" b="1" spc="-20" dirty="0">
                <a:solidFill>
                  <a:schemeClr val="bg1"/>
                </a:solidFill>
                <a:latin typeface="Trebuchet MS"/>
                <a:cs typeface="Trebuchet MS"/>
              </a:rPr>
              <a:t>BALANCE</a:t>
            </a:r>
            <a:r>
              <a:rPr sz="1600" b="1" spc="-130" dirty="0">
                <a:solidFill>
                  <a:schemeClr val="bg1"/>
                </a:solidFill>
                <a:latin typeface="Trebuchet MS"/>
                <a:cs typeface="Trebuchet MS"/>
              </a:rPr>
              <a:t> </a:t>
            </a:r>
            <a:r>
              <a:rPr sz="1600" b="1" spc="-45" dirty="0">
                <a:solidFill>
                  <a:schemeClr val="bg1"/>
                </a:solidFill>
                <a:latin typeface="Trebuchet MS"/>
                <a:cs typeface="Trebuchet MS"/>
              </a:rPr>
              <a:t>SHEET</a:t>
            </a:r>
            <a:r>
              <a:rPr sz="1600" b="1" spc="-150" dirty="0">
                <a:solidFill>
                  <a:schemeClr val="bg1"/>
                </a:solidFill>
                <a:latin typeface="Trebuchet MS"/>
                <a:cs typeface="Trebuchet MS"/>
              </a:rPr>
              <a:t> </a:t>
            </a:r>
            <a:r>
              <a:rPr sz="1600" b="1" spc="-10" dirty="0">
                <a:solidFill>
                  <a:schemeClr val="bg1"/>
                </a:solidFill>
                <a:latin typeface="Trebuchet MS"/>
                <a:cs typeface="Trebuchet MS"/>
              </a:rPr>
              <a:t>ANALYSIS</a:t>
            </a:r>
            <a:endParaRPr sz="1600" dirty="0">
              <a:solidFill>
                <a:schemeClr val="bg1"/>
              </a:solidFill>
              <a:latin typeface="Trebuchet MS"/>
              <a:cs typeface="Trebuchet MS"/>
            </a:endParaRPr>
          </a:p>
        </p:txBody>
      </p:sp>
      <p:graphicFrame>
        <p:nvGraphicFramePr>
          <p:cNvPr id="16" name="Chart 15">
            <a:extLst>
              <a:ext uri="{FF2B5EF4-FFF2-40B4-BE49-F238E27FC236}">
                <a16:creationId xmlns:a16="http://schemas.microsoft.com/office/drawing/2014/main" id="{D2F635EB-4172-4EE3-852D-315D73C1759E}"/>
              </a:ext>
            </a:extLst>
          </p:cNvPr>
          <p:cNvGraphicFramePr/>
          <p:nvPr/>
        </p:nvGraphicFramePr>
        <p:xfrm>
          <a:off x="3604795" y="1339971"/>
          <a:ext cx="3117732" cy="222151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Chart 18">
            <a:extLst>
              <a:ext uri="{FF2B5EF4-FFF2-40B4-BE49-F238E27FC236}">
                <a16:creationId xmlns:a16="http://schemas.microsoft.com/office/drawing/2014/main" id="{60B23AF1-632D-4F2E-9B1B-72E7EFD133D2}"/>
              </a:ext>
            </a:extLst>
          </p:cNvPr>
          <p:cNvGraphicFramePr/>
          <p:nvPr/>
        </p:nvGraphicFramePr>
        <p:xfrm>
          <a:off x="3664373" y="3422962"/>
          <a:ext cx="2998575" cy="173124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2" name="Chart 21">
            <a:extLst>
              <a:ext uri="{FF2B5EF4-FFF2-40B4-BE49-F238E27FC236}">
                <a16:creationId xmlns:a16="http://schemas.microsoft.com/office/drawing/2014/main" id="{84CEEE8C-825B-4BD8-AE69-1BC977B95AA2}"/>
              </a:ext>
            </a:extLst>
          </p:cNvPr>
          <p:cNvGraphicFramePr/>
          <p:nvPr/>
        </p:nvGraphicFramePr>
        <p:xfrm>
          <a:off x="3719190" y="5120357"/>
          <a:ext cx="2998575" cy="183121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6" name="Chart 25">
            <a:extLst>
              <a:ext uri="{FF2B5EF4-FFF2-40B4-BE49-F238E27FC236}">
                <a16:creationId xmlns:a16="http://schemas.microsoft.com/office/drawing/2014/main" id="{C1EF3666-A543-403D-A131-DDA1A6A06DB7}"/>
              </a:ext>
            </a:extLst>
          </p:cNvPr>
          <p:cNvGraphicFramePr/>
          <p:nvPr/>
        </p:nvGraphicFramePr>
        <p:xfrm>
          <a:off x="3439060" y="6951570"/>
          <a:ext cx="3505199" cy="1939437"/>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478748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0C37A-DD0E-8838-62E8-A6E9DDC369E4}"/>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826F63A0-2570-CC0B-CF75-7B5CB0B4091F}"/>
              </a:ext>
            </a:extLst>
          </p:cNvPr>
          <p:cNvGrpSpPr/>
          <p:nvPr/>
        </p:nvGrpSpPr>
        <p:grpSpPr>
          <a:xfrm>
            <a:off x="0" y="0"/>
            <a:ext cx="6858000" cy="1625597"/>
            <a:chOff x="0" y="0"/>
            <a:chExt cx="6858000" cy="1625597"/>
          </a:xfrm>
        </p:grpSpPr>
        <p:sp>
          <p:nvSpPr>
            <p:cNvPr id="3" name="object 3">
              <a:extLst>
                <a:ext uri="{FF2B5EF4-FFF2-40B4-BE49-F238E27FC236}">
                  <a16:creationId xmlns:a16="http://schemas.microsoft.com/office/drawing/2014/main" id="{8A1258BF-3EAB-3DFF-8B64-AEFE13FDBC60}"/>
                </a:ext>
              </a:extLst>
            </p:cNvPr>
            <p:cNvSpPr/>
            <p:nvPr/>
          </p:nvSpPr>
          <p:spPr>
            <a:xfrm>
              <a:off x="0" y="0"/>
              <a:ext cx="6858000" cy="949325"/>
            </a:xfrm>
            <a:custGeom>
              <a:avLst/>
              <a:gdLst/>
              <a:ahLst/>
              <a:cxnLst/>
              <a:rect l="l" t="t" r="r" b="b"/>
              <a:pathLst>
                <a:path w="6858000" h="949325">
                  <a:moveTo>
                    <a:pt x="0" y="949198"/>
                  </a:moveTo>
                  <a:lnTo>
                    <a:pt x="6858000" y="949198"/>
                  </a:lnTo>
                  <a:lnTo>
                    <a:pt x="6858000" y="0"/>
                  </a:lnTo>
                  <a:lnTo>
                    <a:pt x="0" y="0"/>
                  </a:lnTo>
                  <a:lnTo>
                    <a:pt x="0" y="949198"/>
                  </a:lnTo>
                  <a:close/>
                </a:path>
              </a:pathLst>
            </a:custGeom>
            <a:solidFill>
              <a:schemeClr val="accent6">
                <a:lumMod val="75000"/>
              </a:schemeClr>
            </a:solidFill>
          </p:spPr>
          <p:txBody>
            <a:bodyPr wrap="square" lIns="0" tIns="0" rIns="0" bIns="0" rtlCol="0"/>
            <a:lstStyle/>
            <a:p>
              <a:endParaRPr/>
            </a:p>
          </p:txBody>
        </p:sp>
        <p:sp>
          <p:nvSpPr>
            <p:cNvPr id="4" name="object 4">
              <a:extLst>
                <a:ext uri="{FF2B5EF4-FFF2-40B4-BE49-F238E27FC236}">
                  <a16:creationId xmlns:a16="http://schemas.microsoft.com/office/drawing/2014/main" id="{0A00FEF9-E701-CE35-270B-E69436FC0DA0}"/>
                </a:ext>
              </a:extLst>
            </p:cNvPr>
            <p:cNvSpPr/>
            <p:nvPr/>
          </p:nvSpPr>
          <p:spPr>
            <a:xfrm>
              <a:off x="0" y="316227"/>
              <a:ext cx="4147185" cy="1309370"/>
            </a:xfrm>
            <a:custGeom>
              <a:avLst/>
              <a:gdLst/>
              <a:ahLst/>
              <a:cxnLst/>
              <a:rect l="l" t="t" r="r" b="b"/>
              <a:pathLst>
                <a:path w="4147185" h="1309370">
                  <a:moveTo>
                    <a:pt x="3492246" y="0"/>
                  </a:moveTo>
                  <a:lnTo>
                    <a:pt x="0" y="0"/>
                  </a:lnTo>
                  <a:lnTo>
                    <a:pt x="0" y="1309243"/>
                  </a:lnTo>
                  <a:lnTo>
                    <a:pt x="3492246" y="1309243"/>
                  </a:lnTo>
                  <a:lnTo>
                    <a:pt x="4146804" y="654685"/>
                  </a:lnTo>
                  <a:lnTo>
                    <a:pt x="3492246" y="0"/>
                  </a:lnTo>
                  <a:close/>
                </a:path>
              </a:pathLst>
            </a:custGeom>
            <a:solidFill>
              <a:srgbClr val="FFFFFF"/>
            </a:solidFill>
          </p:spPr>
          <p:txBody>
            <a:bodyPr wrap="square" lIns="0" tIns="0" rIns="0" bIns="0" rtlCol="0"/>
            <a:lstStyle/>
            <a:p>
              <a:endParaRPr dirty="0"/>
            </a:p>
          </p:txBody>
        </p:sp>
      </p:grpSp>
      <p:sp>
        <p:nvSpPr>
          <p:cNvPr id="5" name="object 5">
            <a:extLst>
              <a:ext uri="{FF2B5EF4-FFF2-40B4-BE49-F238E27FC236}">
                <a16:creationId xmlns:a16="http://schemas.microsoft.com/office/drawing/2014/main" id="{EDE31D21-892B-E50D-8360-2B9357BB5E53}"/>
              </a:ext>
            </a:extLst>
          </p:cNvPr>
          <p:cNvSpPr txBox="1"/>
          <p:nvPr/>
        </p:nvSpPr>
        <p:spPr>
          <a:xfrm>
            <a:off x="147015" y="4952"/>
            <a:ext cx="2081530" cy="247015"/>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FFFFFF"/>
                </a:solidFill>
                <a:latin typeface="Calibri"/>
                <a:cs typeface="Calibri"/>
              </a:rPr>
              <a:t>EQUITY</a:t>
            </a:r>
            <a:r>
              <a:rPr sz="1450" b="1" spc="-65" dirty="0">
                <a:solidFill>
                  <a:srgbClr val="FFFFFF"/>
                </a:solidFill>
                <a:latin typeface="Calibri"/>
                <a:cs typeface="Calibri"/>
              </a:rPr>
              <a:t> </a:t>
            </a:r>
            <a:r>
              <a:rPr sz="1450" b="1" dirty="0">
                <a:solidFill>
                  <a:srgbClr val="FFFFFF"/>
                </a:solidFill>
                <a:latin typeface="Calibri"/>
                <a:cs typeface="Calibri"/>
              </a:rPr>
              <a:t>RESEARCH</a:t>
            </a:r>
            <a:r>
              <a:rPr sz="1450" b="1" spc="-60" dirty="0">
                <a:solidFill>
                  <a:srgbClr val="FFFFFF"/>
                </a:solidFill>
                <a:latin typeface="Calibri"/>
                <a:cs typeface="Calibri"/>
              </a:rPr>
              <a:t> </a:t>
            </a:r>
            <a:r>
              <a:rPr sz="1450" b="1" spc="-10" dirty="0">
                <a:solidFill>
                  <a:srgbClr val="FFFFFF"/>
                </a:solidFill>
                <a:latin typeface="Calibri"/>
                <a:cs typeface="Calibri"/>
              </a:rPr>
              <a:t>REPORT</a:t>
            </a:r>
            <a:endParaRPr sz="1450" dirty="0">
              <a:latin typeface="Calibri"/>
              <a:cs typeface="Calibri"/>
            </a:endParaRPr>
          </a:p>
        </p:txBody>
      </p:sp>
      <p:sp>
        <p:nvSpPr>
          <p:cNvPr id="40" name="object 40">
            <a:extLst>
              <a:ext uri="{FF2B5EF4-FFF2-40B4-BE49-F238E27FC236}">
                <a16:creationId xmlns:a16="http://schemas.microsoft.com/office/drawing/2014/main" id="{CB80A02C-64ED-B006-B540-177AA1B774A4}"/>
              </a:ext>
            </a:extLst>
          </p:cNvPr>
          <p:cNvSpPr txBox="1">
            <a:spLocks noGrp="1"/>
          </p:cNvSpPr>
          <p:nvPr>
            <p:ph type="title"/>
          </p:nvPr>
        </p:nvSpPr>
        <p:spPr>
          <a:xfrm>
            <a:off x="141831" y="295140"/>
            <a:ext cx="4269104" cy="289182"/>
          </a:xfrm>
          <a:prstGeom prst="rect">
            <a:avLst/>
          </a:prstGeom>
        </p:spPr>
        <p:txBody>
          <a:bodyPr vert="horz" wrap="square" lIns="0" tIns="12065" rIns="0" bIns="0" rtlCol="0">
            <a:spAutoFit/>
          </a:bodyPr>
          <a:lstStyle/>
          <a:p>
            <a:pPr marL="12700">
              <a:lnSpc>
                <a:spcPct val="100000"/>
              </a:lnSpc>
              <a:spcBef>
                <a:spcPts val="95"/>
              </a:spcBef>
            </a:pPr>
            <a:r>
              <a:rPr lang="en-GB" sz="1800" dirty="0"/>
              <a:t>Sun Pharmaceutical Industries Ltd.</a:t>
            </a:r>
            <a:endParaRPr sz="1800" dirty="0"/>
          </a:p>
        </p:txBody>
      </p:sp>
      <p:sp>
        <p:nvSpPr>
          <p:cNvPr id="41" name="object 41">
            <a:extLst>
              <a:ext uri="{FF2B5EF4-FFF2-40B4-BE49-F238E27FC236}">
                <a16:creationId xmlns:a16="http://schemas.microsoft.com/office/drawing/2014/main" id="{54A1FEC3-58D0-F853-20CE-D4B45EB33BF7}"/>
              </a:ext>
            </a:extLst>
          </p:cNvPr>
          <p:cNvSpPr txBox="1"/>
          <p:nvPr/>
        </p:nvSpPr>
        <p:spPr>
          <a:xfrm>
            <a:off x="141831" y="526972"/>
            <a:ext cx="3210968"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D2841"/>
                </a:solidFill>
                <a:latin typeface="Calibri"/>
                <a:cs typeface="Calibri"/>
              </a:rPr>
              <a:t>NSE</a:t>
            </a:r>
            <a:r>
              <a:rPr sz="1200" b="1" spc="-20" dirty="0">
                <a:solidFill>
                  <a:srgbClr val="0D2841"/>
                </a:solidFill>
                <a:latin typeface="Calibri"/>
                <a:cs typeface="Calibri"/>
              </a:rPr>
              <a:t> </a:t>
            </a:r>
            <a:r>
              <a:rPr sz="1200" b="1" dirty="0">
                <a:solidFill>
                  <a:srgbClr val="0D2841"/>
                </a:solidFill>
                <a:latin typeface="Calibri"/>
                <a:cs typeface="Calibri"/>
              </a:rPr>
              <a:t>:</a:t>
            </a:r>
            <a:r>
              <a:rPr lang="en-US" sz="1200" b="1" spc="-15" dirty="0">
                <a:solidFill>
                  <a:srgbClr val="0D2841"/>
                </a:solidFill>
                <a:latin typeface="Calibri"/>
                <a:cs typeface="Calibri"/>
              </a:rPr>
              <a:t> </a:t>
            </a:r>
            <a:r>
              <a:rPr lang="en-GB" sz="1200" b="1" dirty="0">
                <a:latin typeface="+mj-lt"/>
              </a:rPr>
              <a:t>SUNPHARMA</a:t>
            </a:r>
            <a:r>
              <a:rPr sz="1200" b="1" spc="10" dirty="0">
                <a:solidFill>
                  <a:srgbClr val="0D2841"/>
                </a:solidFill>
                <a:latin typeface="Calibri"/>
                <a:cs typeface="Calibri"/>
              </a:rPr>
              <a:t> </a:t>
            </a:r>
            <a:r>
              <a:rPr sz="1200" b="1" dirty="0">
                <a:solidFill>
                  <a:srgbClr val="0D2841"/>
                </a:solidFill>
                <a:latin typeface="Calibri"/>
                <a:cs typeface="Calibri"/>
              </a:rPr>
              <a:t>|</a:t>
            </a:r>
            <a:r>
              <a:rPr sz="1200" b="1" spc="-15" dirty="0">
                <a:solidFill>
                  <a:srgbClr val="0D2841"/>
                </a:solidFill>
                <a:latin typeface="Calibri"/>
                <a:cs typeface="Calibri"/>
              </a:rPr>
              <a:t> </a:t>
            </a:r>
            <a:r>
              <a:rPr sz="1200" b="1" dirty="0">
                <a:solidFill>
                  <a:srgbClr val="0D2841"/>
                </a:solidFill>
                <a:latin typeface="Calibri"/>
                <a:cs typeface="Calibri"/>
              </a:rPr>
              <a:t>BSE Code:</a:t>
            </a:r>
            <a:r>
              <a:rPr sz="1200" b="1" spc="-5" dirty="0">
                <a:solidFill>
                  <a:srgbClr val="0D2841"/>
                </a:solidFill>
                <a:latin typeface="Calibri"/>
                <a:cs typeface="Calibri"/>
              </a:rPr>
              <a:t> </a:t>
            </a:r>
            <a:r>
              <a:rPr lang="en-GB" sz="1200" b="1" dirty="0">
                <a:latin typeface="+mj-lt"/>
              </a:rPr>
              <a:t>524715</a:t>
            </a:r>
          </a:p>
        </p:txBody>
      </p:sp>
      <p:sp>
        <p:nvSpPr>
          <p:cNvPr id="57" name="object 41">
            <a:extLst>
              <a:ext uri="{FF2B5EF4-FFF2-40B4-BE49-F238E27FC236}">
                <a16:creationId xmlns:a16="http://schemas.microsoft.com/office/drawing/2014/main" id="{4387223D-D28A-5CAB-F80C-0781DA7BF89D}"/>
              </a:ext>
            </a:extLst>
          </p:cNvPr>
          <p:cNvSpPr txBox="1"/>
          <p:nvPr/>
        </p:nvSpPr>
        <p:spPr>
          <a:xfrm>
            <a:off x="141831" y="686543"/>
            <a:ext cx="3210968" cy="197490"/>
          </a:xfrm>
          <a:prstGeom prst="rect">
            <a:avLst/>
          </a:prstGeom>
        </p:spPr>
        <p:txBody>
          <a:bodyPr vert="horz" wrap="square" lIns="0" tIns="12700" rIns="0" bIns="0" rtlCol="0">
            <a:spAutoFit/>
          </a:bodyPr>
          <a:lstStyle/>
          <a:p>
            <a:pPr marL="12700">
              <a:lnSpc>
                <a:spcPct val="100000"/>
              </a:lnSpc>
              <a:spcBef>
                <a:spcPts val="100"/>
              </a:spcBef>
            </a:pPr>
            <a:r>
              <a:rPr lang="en-GB" sz="1200" b="1" dirty="0">
                <a:latin typeface="Calibri "/>
              </a:rPr>
              <a:t>Pharmaceuticals &amp; Drugs</a:t>
            </a:r>
          </a:p>
        </p:txBody>
      </p:sp>
      <p:pic>
        <p:nvPicPr>
          <p:cNvPr id="59" name="Picture 58">
            <a:extLst>
              <a:ext uri="{FF2B5EF4-FFF2-40B4-BE49-F238E27FC236}">
                <a16:creationId xmlns:a16="http://schemas.microsoft.com/office/drawing/2014/main" id="{E1C694BE-F3FE-1E88-1F72-E33398A056B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04126" y="17284"/>
            <a:ext cx="1295705" cy="879830"/>
          </a:xfrm>
          <a:prstGeom prst="rect">
            <a:avLst/>
          </a:prstGeom>
        </p:spPr>
      </p:pic>
      <p:cxnSp>
        <p:nvCxnSpPr>
          <p:cNvPr id="61" name="Straight Connector 60">
            <a:extLst>
              <a:ext uri="{FF2B5EF4-FFF2-40B4-BE49-F238E27FC236}">
                <a16:creationId xmlns:a16="http://schemas.microsoft.com/office/drawing/2014/main" id="{DB63A369-45BF-8B56-218C-279B42D5AA90}"/>
              </a:ext>
            </a:extLst>
          </p:cNvPr>
          <p:cNvCxnSpPr>
            <a:cxnSpLocks/>
          </p:cNvCxnSpPr>
          <p:nvPr/>
        </p:nvCxnSpPr>
        <p:spPr>
          <a:xfrm>
            <a:off x="0" y="8859394"/>
            <a:ext cx="6858000" cy="0"/>
          </a:xfrm>
          <a:prstGeom prst="line">
            <a:avLst/>
          </a:prstGeom>
          <a:ln w="41275">
            <a:solidFill>
              <a:srgbClr val="E46C0A"/>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E571141B-7249-2182-2528-2CFB91C7853F}"/>
              </a:ext>
            </a:extLst>
          </p:cNvPr>
          <p:cNvSpPr txBox="1"/>
          <p:nvPr/>
        </p:nvSpPr>
        <p:spPr>
          <a:xfrm>
            <a:off x="6553200" y="8810228"/>
            <a:ext cx="667055" cy="369332"/>
          </a:xfrm>
          <a:prstGeom prst="rect">
            <a:avLst/>
          </a:prstGeom>
          <a:noFill/>
        </p:spPr>
        <p:txBody>
          <a:bodyPr wrap="square" rtlCol="0">
            <a:spAutoFit/>
          </a:bodyPr>
          <a:lstStyle/>
          <a:p>
            <a:r>
              <a:rPr lang="en-US" b="1" dirty="0">
                <a:solidFill>
                  <a:srgbClr val="E46C0A"/>
                </a:solidFill>
              </a:rPr>
              <a:t>1</a:t>
            </a:r>
            <a:endParaRPr lang="en-GB" b="1" dirty="0">
              <a:solidFill>
                <a:srgbClr val="E46C0A"/>
              </a:solidFill>
            </a:endParaRPr>
          </a:p>
        </p:txBody>
      </p:sp>
      <p:cxnSp>
        <p:nvCxnSpPr>
          <p:cNvPr id="69" name="Straight Connector 68">
            <a:extLst>
              <a:ext uri="{FF2B5EF4-FFF2-40B4-BE49-F238E27FC236}">
                <a16:creationId xmlns:a16="http://schemas.microsoft.com/office/drawing/2014/main" id="{A5EB9B1F-2D10-1224-DFA0-E6E8719596B7}"/>
              </a:ext>
            </a:extLst>
          </p:cNvPr>
          <p:cNvCxnSpPr>
            <a:cxnSpLocks/>
          </p:cNvCxnSpPr>
          <p:nvPr/>
        </p:nvCxnSpPr>
        <p:spPr>
          <a:xfrm flipV="1">
            <a:off x="0" y="933199"/>
            <a:ext cx="6858000" cy="37713"/>
          </a:xfrm>
          <a:prstGeom prst="line">
            <a:avLst/>
          </a:prstGeom>
          <a:ln>
            <a:solidFill>
              <a:srgbClr val="E46C0A"/>
            </a:solidFill>
          </a:ln>
        </p:spPr>
        <p:style>
          <a:lnRef idx="1">
            <a:schemeClr val="accent1"/>
          </a:lnRef>
          <a:fillRef idx="0">
            <a:schemeClr val="accent1"/>
          </a:fillRef>
          <a:effectRef idx="0">
            <a:schemeClr val="accent1"/>
          </a:effectRef>
          <a:fontRef idx="minor">
            <a:schemeClr val="tx1"/>
          </a:fontRef>
        </p:style>
      </p:cxnSp>
      <p:graphicFrame>
        <p:nvGraphicFramePr>
          <p:cNvPr id="8" name="Table 0">
            <a:extLst>
              <a:ext uri="{FF2B5EF4-FFF2-40B4-BE49-F238E27FC236}">
                <a16:creationId xmlns:a16="http://schemas.microsoft.com/office/drawing/2014/main" id="{480753C0-93E7-9386-5076-F1D6B38B3330}"/>
              </a:ext>
            </a:extLst>
          </p:cNvPr>
          <p:cNvGraphicFramePr>
            <a:graphicFrameLocks noGrp="1"/>
          </p:cNvGraphicFramePr>
          <p:nvPr/>
        </p:nvGraphicFramePr>
        <p:xfrm>
          <a:off x="95422" y="1549074"/>
          <a:ext cx="6642737" cy="4510598"/>
        </p:xfrm>
        <a:graphic>
          <a:graphicData uri="http://schemas.openxmlformats.org/drawingml/2006/table">
            <a:tbl>
              <a:tblPr>
                <a:tableStyleId>{E8B1032C-EA38-4F05-BA0D-38AFFFC7BED3}</a:tableStyleId>
              </a:tblPr>
              <a:tblGrid>
                <a:gridCol w="1593625">
                  <a:extLst>
                    <a:ext uri="{9D8B030D-6E8A-4147-A177-3AD203B41FA5}">
                      <a16:colId xmlns:a16="http://schemas.microsoft.com/office/drawing/2014/main" val="20000"/>
                    </a:ext>
                  </a:extLst>
                </a:gridCol>
                <a:gridCol w="631139">
                  <a:extLst>
                    <a:ext uri="{9D8B030D-6E8A-4147-A177-3AD203B41FA5}">
                      <a16:colId xmlns:a16="http://schemas.microsoft.com/office/drawing/2014/main" val="20001"/>
                    </a:ext>
                  </a:extLst>
                </a:gridCol>
                <a:gridCol w="631139">
                  <a:extLst>
                    <a:ext uri="{9D8B030D-6E8A-4147-A177-3AD203B41FA5}">
                      <a16:colId xmlns:a16="http://schemas.microsoft.com/office/drawing/2014/main" val="20002"/>
                    </a:ext>
                  </a:extLst>
                </a:gridCol>
                <a:gridCol w="631139">
                  <a:extLst>
                    <a:ext uri="{9D8B030D-6E8A-4147-A177-3AD203B41FA5}">
                      <a16:colId xmlns:a16="http://schemas.microsoft.com/office/drawing/2014/main" val="20003"/>
                    </a:ext>
                  </a:extLst>
                </a:gridCol>
                <a:gridCol w="631139">
                  <a:extLst>
                    <a:ext uri="{9D8B030D-6E8A-4147-A177-3AD203B41FA5}">
                      <a16:colId xmlns:a16="http://schemas.microsoft.com/office/drawing/2014/main" val="20004"/>
                    </a:ext>
                  </a:extLst>
                </a:gridCol>
                <a:gridCol w="631139">
                  <a:extLst>
                    <a:ext uri="{9D8B030D-6E8A-4147-A177-3AD203B41FA5}">
                      <a16:colId xmlns:a16="http://schemas.microsoft.com/office/drawing/2014/main" val="20005"/>
                    </a:ext>
                  </a:extLst>
                </a:gridCol>
                <a:gridCol w="631139">
                  <a:extLst>
                    <a:ext uri="{9D8B030D-6E8A-4147-A177-3AD203B41FA5}">
                      <a16:colId xmlns:a16="http://schemas.microsoft.com/office/drawing/2014/main" val="20006"/>
                    </a:ext>
                  </a:extLst>
                </a:gridCol>
                <a:gridCol w="631139">
                  <a:extLst>
                    <a:ext uri="{9D8B030D-6E8A-4147-A177-3AD203B41FA5}">
                      <a16:colId xmlns:a16="http://schemas.microsoft.com/office/drawing/2014/main" val="20007"/>
                    </a:ext>
                  </a:extLst>
                </a:gridCol>
                <a:gridCol w="631139">
                  <a:extLst>
                    <a:ext uri="{9D8B030D-6E8A-4147-A177-3AD203B41FA5}">
                      <a16:colId xmlns:a16="http://schemas.microsoft.com/office/drawing/2014/main" val="20008"/>
                    </a:ext>
                  </a:extLst>
                </a:gridCol>
              </a:tblGrid>
              <a:tr h="192272">
                <a:tc>
                  <a:txBody>
                    <a:bodyPr/>
                    <a:lstStyle/>
                    <a:p>
                      <a:pPr marL="0" indent="0" algn="l">
                        <a:buNone/>
                      </a:pPr>
                      <a:r>
                        <a:rPr lang="en-US" sz="900" b="1" dirty="0">
                          <a:solidFill>
                            <a:srgbClr val="FFFFFF"/>
                          </a:solidFill>
                        </a:rPr>
                        <a:t>Particulars (₹ Crore)</a:t>
                      </a:r>
                      <a:endParaRPr lang="en-US" sz="900" dirty="0"/>
                    </a:p>
                  </a:txBody>
                  <a:tcPr marL="50800" marR="50800" marT="25400" marB="25400" anchor="ctr">
                    <a:solidFill>
                      <a:schemeClr val="accent6">
                        <a:lumMod val="75000"/>
                      </a:schemeClr>
                    </a:solidFill>
                  </a:tcPr>
                </a:tc>
                <a:tc>
                  <a:txBody>
                    <a:bodyPr/>
                    <a:lstStyle/>
                    <a:p>
                      <a:pPr marL="0" indent="0" algn="ctr">
                        <a:buNone/>
                      </a:pPr>
                      <a:r>
                        <a:rPr lang="en-US" sz="900" b="1" dirty="0">
                          <a:solidFill>
                            <a:srgbClr val="FFFFFF"/>
                          </a:solidFill>
                        </a:rPr>
                        <a:t>FY18</a:t>
                      </a:r>
                      <a:endParaRPr lang="en-US" sz="900" dirty="0"/>
                    </a:p>
                  </a:txBody>
                  <a:tcPr marL="50800" marR="50800" marT="25400" marB="25400" anchor="ctr">
                    <a:solidFill>
                      <a:schemeClr val="accent6">
                        <a:lumMod val="75000"/>
                      </a:schemeClr>
                    </a:solidFill>
                  </a:tcPr>
                </a:tc>
                <a:tc>
                  <a:txBody>
                    <a:bodyPr/>
                    <a:lstStyle/>
                    <a:p>
                      <a:pPr marL="0" indent="0" algn="ctr">
                        <a:buNone/>
                      </a:pPr>
                      <a:r>
                        <a:rPr lang="en-US" sz="900" b="1" dirty="0">
                          <a:solidFill>
                            <a:srgbClr val="FFFFFF"/>
                          </a:solidFill>
                        </a:rPr>
                        <a:t>FY19</a:t>
                      </a:r>
                      <a:endParaRPr lang="en-US" sz="900" dirty="0"/>
                    </a:p>
                  </a:txBody>
                  <a:tcPr marL="50800" marR="50800" marT="25400" marB="25400" anchor="ctr">
                    <a:solidFill>
                      <a:schemeClr val="accent6">
                        <a:lumMod val="75000"/>
                      </a:schemeClr>
                    </a:solidFill>
                  </a:tcPr>
                </a:tc>
                <a:tc>
                  <a:txBody>
                    <a:bodyPr/>
                    <a:lstStyle/>
                    <a:p>
                      <a:pPr marL="0" indent="0" algn="ctr">
                        <a:buNone/>
                      </a:pPr>
                      <a:r>
                        <a:rPr lang="en-US" sz="900" b="1" dirty="0">
                          <a:solidFill>
                            <a:srgbClr val="FFFFFF"/>
                          </a:solidFill>
                        </a:rPr>
                        <a:t>FY20</a:t>
                      </a:r>
                      <a:endParaRPr lang="en-US" sz="900" dirty="0"/>
                    </a:p>
                  </a:txBody>
                  <a:tcPr marL="50800" marR="50800" marT="25400" marB="25400" anchor="ctr">
                    <a:solidFill>
                      <a:schemeClr val="accent6">
                        <a:lumMod val="75000"/>
                      </a:schemeClr>
                    </a:solidFill>
                  </a:tcPr>
                </a:tc>
                <a:tc>
                  <a:txBody>
                    <a:bodyPr/>
                    <a:lstStyle/>
                    <a:p>
                      <a:pPr marL="0" indent="0" algn="ctr">
                        <a:buNone/>
                      </a:pPr>
                      <a:r>
                        <a:rPr lang="en-US" sz="900" b="1" dirty="0">
                          <a:solidFill>
                            <a:srgbClr val="FFFFFF"/>
                          </a:solidFill>
                        </a:rPr>
                        <a:t>FY21</a:t>
                      </a:r>
                      <a:endParaRPr lang="en-US" sz="900" dirty="0"/>
                    </a:p>
                  </a:txBody>
                  <a:tcPr marL="50800" marR="50800" marT="25400" marB="25400" anchor="ctr">
                    <a:solidFill>
                      <a:schemeClr val="accent6">
                        <a:lumMod val="75000"/>
                      </a:schemeClr>
                    </a:solidFill>
                  </a:tcPr>
                </a:tc>
                <a:tc>
                  <a:txBody>
                    <a:bodyPr/>
                    <a:lstStyle/>
                    <a:p>
                      <a:pPr marL="0" indent="0" algn="ctr">
                        <a:buNone/>
                      </a:pPr>
                      <a:r>
                        <a:rPr lang="en-US" sz="900" b="1" dirty="0">
                          <a:solidFill>
                            <a:srgbClr val="FFFFFF"/>
                          </a:solidFill>
                        </a:rPr>
                        <a:t>FY22</a:t>
                      </a:r>
                      <a:endParaRPr lang="en-US" sz="900" dirty="0"/>
                    </a:p>
                  </a:txBody>
                  <a:tcPr marL="50800" marR="50800" marT="25400" marB="25400" anchor="ctr">
                    <a:solidFill>
                      <a:schemeClr val="accent6">
                        <a:lumMod val="75000"/>
                      </a:schemeClr>
                    </a:solidFill>
                  </a:tcPr>
                </a:tc>
                <a:tc>
                  <a:txBody>
                    <a:bodyPr/>
                    <a:lstStyle/>
                    <a:p>
                      <a:pPr marL="0" indent="0" algn="ctr">
                        <a:buNone/>
                      </a:pPr>
                      <a:r>
                        <a:rPr lang="en-US" sz="900" b="1" dirty="0">
                          <a:solidFill>
                            <a:srgbClr val="FFFFFF"/>
                          </a:solidFill>
                        </a:rPr>
                        <a:t>FY23</a:t>
                      </a:r>
                      <a:endParaRPr lang="en-US" sz="900" dirty="0"/>
                    </a:p>
                  </a:txBody>
                  <a:tcPr marL="50800" marR="50800" marT="25400" marB="25400" anchor="ctr">
                    <a:solidFill>
                      <a:schemeClr val="accent6">
                        <a:lumMod val="75000"/>
                      </a:schemeClr>
                    </a:solidFill>
                  </a:tcPr>
                </a:tc>
                <a:tc>
                  <a:txBody>
                    <a:bodyPr/>
                    <a:lstStyle/>
                    <a:p>
                      <a:pPr marL="0" indent="0" algn="ctr">
                        <a:buNone/>
                      </a:pPr>
                      <a:r>
                        <a:rPr lang="en-US" sz="900" b="1" dirty="0">
                          <a:solidFill>
                            <a:srgbClr val="FFFFFF"/>
                          </a:solidFill>
                        </a:rPr>
                        <a:t>FY24</a:t>
                      </a:r>
                      <a:endParaRPr lang="en-US" sz="900" dirty="0"/>
                    </a:p>
                  </a:txBody>
                  <a:tcPr marL="50800" marR="50800" marT="25400" marB="25400" anchor="ctr">
                    <a:solidFill>
                      <a:schemeClr val="accent6">
                        <a:lumMod val="75000"/>
                      </a:schemeClr>
                    </a:solidFill>
                  </a:tcPr>
                </a:tc>
                <a:tc>
                  <a:txBody>
                    <a:bodyPr/>
                    <a:lstStyle/>
                    <a:p>
                      <a:pPr marL="0" indent="0" algn="ctr">
                        <a:buNone/>
                      </a:pPr>
                      <a:r>
                        <a:rPr lang="en-US" sz="900" b="1" dirty="0">
                          <a:solidFill>
                            <a:srgbClr val="FFFFFF"/>
                          </a:solidFill>
                        </a:rPr>
                        <a:t>FY25</a:t>
                      </a:r>
                      <a:endParaRPr lang="en-US" sz="900" dirty="0"/>
                    </a:p>
                  </a:txBody>
                  <a:tcPr marL="50800" marR="50800" marT="25400" marB="25400" anchor="ctr">
                    <a:solidFill>
                      <a:schemeClr val="accent6">
                        <a:lumMod val="75000"/>
                      </a:schemeClr>
                    </a:solidFill>
                  </a:tcPr>
                </a:tc>
                <a:extLst>
                  <a:ext uri="{0D108BD9-81ED-4DB2-BD59-A6C34878D82A}">
                    <a16:rowId xmlns:a16="http://schemas.microsoft.com/office/drawing/2014/main" val="10000"/>
                  </a:ext>
                </a:extLst>
              </a:tr>
              <a:tr h="192272">
                <a:tc>
                  <a:txBody>
                    <a:bodyPr/>
                    <a:lstStyle/>
                    <a:p>
                      <a:pPr marL="0" indent="0" algn="l">
                        <a:buNone/>
                      </a:pPr>
                      <a:endParaRPr lang="en-US" sz="900" dirty="0"/>
                    </a:p>
                  </a:txBody>
                  <a:tcPr marL="50800" marR="50800" marT="25400" marB="25400" anchor="ctr">
                    <a:solidFill>
                      <a:schemeClr val="bg1"/>
                    </a:solidFill>
                  </a:tcPr>
                </a:tc>
                <a:tc>
                  <a:txBody>
                    <a:bodyPr/>
                    <a:lstStyle/>
                    <a:p>
                      <a:pPr marL="0" indent="0" algn="ctr">
                        <a:buNone/>
                      </a:pPr>
                      <a:endParaRPr lang="en-US" sz="900" dirty="0"/>
                    </a:p>
                  </a:txBody>
                  <a:tcPr marL="50800" marR="50800" marT="25400" marB="25400" anchor="ctr">
                    <a:solidFill>
                      <a:schemeClr val="bg1"/>
                    </a:solidFill>
                  </a:tcPr>
                </a:tc>
                <a:tc>
                  <a:txBody>
                    <a:bodyPr/>
                    <a:lstStyle/>
                    <a:p>
                      <a:pPr marL="0" indent="0" algn="ctr">
                        <a:buNone/>
                      </a:pPr>
                      <a:endParaRPr lang="en-US" sz="900" dirty="0"/>
                    </a:p>
                  </a:txBody>
                  <a:tcPr marL="50800" marR="50800" marT="25400" marB="25400" anchor="ctr">
                    <a:solidFill>
                      <a:schemeClr val="bg1"/>
                    </a:solidFill>
                  </a:tcPr>
                </a:tc>
                <a:tc>
                  <a:txBody>
                    <a:bodyPr/>
                    <a:lstStyle/>
                    <a:p>
                      <a:pPr marL="0" indent="0" algn="ctr">
                        <a:buNone/>
                      </a:pPr>
                      <a:endParaRPr lang="en-US" sz="900" dirty="0"/>
                    </a:p>
                  </a:txBody>
                  <a:tcPr marL="50800" marR="50800" marT="25400" marB="25400" anchor="ctr">
                    <a:solidFill>
                      <a:schemeClr val="bg1"/>
                    </a:solidFill>
                  </a:tcPr>
                </a:tc>
                <a:tc>
                  <a:txBody>
                    <a:bodyPr/>
                    <a:lstStyle/>
                    <a:p>
                      <a:pPr marL="0" indent="0" algn="ctr">
                        <a:buNone/>
                      </a:pPr>
                      <a:endParaRPr lang="en-US" sz="900" dirty="0"/>
                    </a:p>
                  </a:txBody>
                  <a:tcPr marL="50800" marR="50800" marT="25400" marB="25400" anchor="ctr">
                    <a:solidFill>
                      <a:schemeClr val="bg1"/>
                    </a:solidFill>
                  </a:tcPr>
                </a:tc>
                <a:tc>
                  <a:txBody>
                    <a:bodyPr/>
                    <a:lstStyle/>
                    <a:p>
                      <a:pPr marL="0" indent="0" algn="ctr">
                        <a:buNone/>
                      </a:pPr>
                      <a:endParaRPr lang="en-US" sz="900" dirty="0"/>
                    </a:p>
                  </a:txBody>
                  <a:tcPr marL="50800" marR="50800" marT="25400" marB="25400" anchor="ctr">
                    <a:solidFill>
                      <a:schemeClr val="bg1"/>
                    </a:solidFill>
                  </a:tcPr>
                </a:tc>
                <a:tc>
                  <a:txBody>
                    <a:bodyPr/>
                    <a:lstStyle/>
                    <a:p>
                      <a:pPr marL="0" indent="0" algn="ctr">
                        <a:buNone/>
                      </a:pPr>
                      <a:endParaRPr lang="en-US" sz="900" dirty="0"/>
                    </a:p>
                  </a:txBody>
                  <a:tcPr marL="50800" marR="50800" marT="25400" marB="25400" anchor="ctr">
                    <a:solidFill>
                      <a:schemeClr val="bg1"/>
                    </a:solidFill>
                  </a:tcPr>
                </a:tc>
                <a:tc>
                  <a:txBody>
                    <a:bodyPr/>
                    <a:lstStyle/>
                    <a:p>
                      <a:pPr marL="0" indent="0" algn="ctr">
                        <a:buNone/>
                      </a:pPr>
                      <a:endParaRPr lang="en-US" sz="900" dirty="0"/>
                    </a:p>
                  </a:txBody>
                  <a:tcPr marL="50800" marR="50800" marT="25400" marB="25400" anchor="ctr">
                    <a:solidFill>
                      <a:schemeClr val="bg1"/>
                    </a:solidFill>
                  </a:tcPr>
                </a:tc>
                <a:tc>
                  <a:txBody>
                    <a:bodyPr/>
                    <a:lstStyle/>
                    <a:p>
                      <a:pPr marL="0" indent="0" algn="ctr">
                        <a:buNone/>
                      </a:pPr>
                      <a:endParaRPr lang="en-US" sz="900" dirty="0"/>
                    </a:p>
                  </a:txBody>
                  <a:tcPr marL="50800" marR="50800" marT="25400" marB="25400" anchor="ctr">
                    <a:solidFill>
                      <a:schemeClr val="bg1"/>
                    </a:solidFill>
                  </a:tcPr>
                </a:tc>
                <a:extLst>
                  <a:ext uri="{0D108BD9-81ED-4DB2-BD59-A6C34878D82A}">
                    <a16:rowId xmlns:a16="http://schemas.microsoft.com/office/drawing/2014/main" val="1330499032"/>
                  </a:ext>
                </a:extLst>
              </a:tr>
              <a:tr h="192272">
                <a:tc>
                  <a:txBody>
                    <a:bodyPr/>
                    <a:lstStyle/>
                    <a:p>
                      <a:pPr marL="0" indent="0" algn="l">
                        <a:buNone/>
                      </a:pPr>
                      <a:r>
                        <a:rPr lang="en-US" sz="900" b="1" dirty="0">
                          <a:solidFill>
                            <a:srgbClr val="0B2545"/>
                          </a:solidFill>
                        </a:rPr>
                        <a:t>Operating Activities</a:t>
                      </a:r>
                      <a:endParaRPr lang="en-US" sz="900" dirty="0"/>
                    </a:p>
                  </a:txBody>
                  <a:tcPr marL="50800" marR="50800" marT="25400" marB="25400" anchor="ctr">
                    <a:solidFill>
                      <a:srgbClr val="E46C0A"/>
                    </a:solidFill>
                  </a:tcPr>
                </a:tc>
                <a:tc>
                  <a:txBody>
                    <a:bodyPr/>
                    <a:lstStyle/>
                    <a:p>
                      <a:pPr marL="0" indent="0" algn="r">
                        <a:buNone/>
                      </a:pPr>
                      <a:endParaRPr lang="en-US" sz="900" dirty="0"/>
                    </a:p>
                  </a:txBody>
                  <a:tcPr marL="50800" marR="50800" marT="25400" marB="25400" anchor="ctr">
                    <a:solidFill>
                      <a:srgbClr val="E46C0A"/>
                    </a:solidFill>
                  </a:tcPr>
                </a:tc>
                <a:tc>
                  <a:txBody>
                    <a:bodyPr/>
                    <a:lstStyle/>
                    <a:p>
                      <a:pPr marL="0" indent="0" algn="r">
                        <a:buNone/>
                      </a:pPr>
                      <a:endParaRPr lang="en-US" sz="900" dirty="0"/>
                    </a:p>
                  </a:txBody>
                  <a:tcPr marL="50800" marR="50800" marT="25400" marB="25400" anchor="ctr">
                    <a:solidFill>
                      <a:srgbClr val="E46C0A"/>
                    </a:solidFill>
                  </a:tcPr>
                </a:tc>
                <a:tc>
                  <a:txBody>
                    <a:bodyPr/>
                    <a:lstStyle/>
                    <a:p>
                      <a:pPr marL="0" indent="0" algn="r">
                        <a:buNone/>
                      </a:pPr>
                      <a:endParaRPr lang="en-US" sz="900" dirty="0"/>
                    </a:p>
                  </a:txBody>
                  <a:tcPr marL="50800" marR="50800" marT="25400" marB="25400" anchor="ctr">
                    <a:solidFill>
                      <a:srgbClr val="E46C0A"/>
                    </a:solidFill>
                  </a:tcPr>
                </a:tc>
                <a:tc>
                  <a:txBody>
                    <a:bodyPr/>
                    <a:lstStyle/>
                    <a:p>
                      <a:pPr marL="0" indent="0" algn="r">
                        <a:buNone/>
                      </a:pPr>
                      <a:endParaRPr lang="en-US" sz="900" dirty="0"/>
                    </a:p>
                  </a:txBody>
                  <a:tcPr marL="50800" marR="50800" marT="25400" marB="25400" anchor="ctr">
                    <a:solidFill>
                      <a:srgbClr val="E46C0A"/>
                    </a:solidFill>
                  </a:tcPr>
                </a:tc>
                <a:tc>
                  <a:txBody>
                    <a:bodyPr/>
                    <a:lstStyle/>
                    <a:p>
                      <a:pPr marL="0" indent="0" algn="r">
                        <a:buNone/>
                      </a:pPr>
                      <a:endParaRPr lang="en-US" sz="900" dirty="0"/>
                    </a:p>
                  </a:txBody>
                  <a:tcPr marL="50800" marR="50800" marT="25400" marB="25400" anchor="ctr">
                    <a:solidFill>
                      <a:srgbClr val="E46C0A"/>
                    </a:solidFill>
                  </a:tcPr>
                </a:tc>
                <a:tc>
                  <a:txBody>
                    <a:bodyPr/>
                    <a:lstStyle/>
                    <a:p>
                      <a:pPr marL="0" indent="0" algn="r">
                        <a:buNone/>
                      </a:pPr>
                      <a:endParaRPr lang="en-US" sz="900" dirty="0"/>
                    </a:p>
                  </a:txBody>
                  <a:tcPr marL="50800" marR="50800" marT="25400" marB="25400" anchor="ctr">
                    <a:solidFill>
                      <a:srgbClr val="E46C0A"/>
                    </a:solidFill>
                  </a:tcPr>
                </a:tc>
                <a:tc>
                  <a:txBody>
                    <a:bodyPr/>
                    <a:lstStyle/>
                    <a:p>
                      <a:pPr marL="0" indent="0" algn="r">
                        <a:buNone/>
                      </a:pPr>
                      <a:endParaRPr lang="en-US" sz="900" dirty="0"/>
                    </a:p>
                  </a:txBody>
                  <a:tcPr marL="50800" marR="50800" marT="25400" marB="25400" anchor="ctr">
                    <a:solidFill>
                      <a:srgbClr val="E46C0A"/>
                    </a:solidFill>
                  </a:tcPr>
                </a:tc>
                <a:tc>
                  <a:txBody>
                    <a:bodyPr/>
                    <a:lstStyle/>
                    <a:p>
                      <a:pPr marL="0" indent="0" algn="r">
                        <a:buNone/>
                      </a:pPr>
                      <a:endParaRPr lang="en-US" sz="900" dirty="0"/>
                    </a:p>
                  </a:txBody>
                  <a:tcPr marL="50800" marR="50800" marT="25400" marB="25400" anchor="ctr">
                    <a:solidFill>
                      <a:srgbClr val="E46C0A"/>
                    </a:solidFill>
                  </a:tcPr>
                </a:tc>
                <a:extLst>
                  <a:ext uri="{0D108BD9-81ED-4DB2-BD59-A6C34878D82A}">
                    <a16:rowId xmlns:a16="http://schemas.microsoft.com/office/drawing/2014/main" val="10001"/>
                  </a:ext>
                </a:extLst>
              </a:tr>
              <a:tr h="192272">
                <a:tc>
                  <a:txBody>
                    <a:bodyPr/>
                    <a:lstStyle/>
                    <a:p>
                      <a:pPr marL="0" indent="0" algn="l">
                        <a:buNone/>
                      </a:pPr>
                      <a:r>
                        <a:rPr lang="en-US" sz="900" dirty="0">
                          <a:solidFill>
                            <a:srgbClr val="1A1A1A"/>
                          </a:solidFill>
                        </a:rPr>
                        <a:t>Profit before tax</a:t>
                      </a:r>
                      <a:endParaRPr lang="en-US" sz="900" dirty="0"/>
                    </a:p>
                  </a:txBody>
                  <a:tcPr marL="50800" marR="50800" marT="25400" marB="25400" anchor="ctr"/>
                </a:tc>
                <a:tc>
                  <a:txBody>
                    <a:bodyPr/>
                    <a:lstStyle/>
                    <a:p>
                      <a:pPr marL="0" indent="0" algn="r">
                        <a:buNone/>
                      </a:pPr>
                      <a:r>
                        <a:rPr lang="en-US" sz="900" dirty="0">
                          <a:solidFill>
                            <a:srgbClr val="1A1A1A"/>
                          </a:solidFill>
                        </a:rPr>
                        <a:t>3,479.0</a:t>
                      </a:r>
                      <a:endParaRPr lang="en-US" sz="900" dirty="0"/>
                    </a:p>
                  </a:txBody>
                  <a:tcPr marL="50800" marR="50800" marT="25400" marB="25400" anchor="ctr"/>
                </a:tc>
                <a:tc>
                  <a:txBody>
                    <a:bodyPr/>
                    <a:lstStyle/>
                    <a:p>
                      <a:pPr marL="0" indent="0" algn="r">
                        <a:buNone/>
                      </a:pPr>
                      <a:r>
                        <a:rPr lang="en-US" sz="900" dirty="0">
                          <a:solidFill>
                            <a:srgbClr val="1A1A1A"/>
                          </a:solidFill>
                        </a:rPr>
                        <a:t>3,810.2</a:t>
                      </a:r>
                      <a:endParaRPr lang="en-US" sz="900" dirty="0"/>
                    </a:p>
                  </a:txBody>
                  <a:tcPr marL="50800" marR="50800" marT="25400" marB="25400" anchor="ctr"/>
                </a:tc>
                <a:tc>
                  <a:txBody>
                    <a:bodyPr/>
                    <a:lstStyle/>
                    <a:p>
                      <a:pPr marL="0" indent="0" algn="r">
                        <a:buNone/>
                      </a:pPr>
                      <a:r>
                        <a:rPr lang="en-US" sz="900" dirty="0">
                          <a:solidFill>
                            <a:srgbClr val="1A1A1A"/>
                          </a:solidFill>
                        </a:rPr>
                        <a:t>5,009.6</a:t>
                      </a:r>
                      <a:endParaRPr lang="en-US" sz="900" dirty="0"/>
                    </a:p>
                  </a:txBody>
                  <a:tcPr marL="50800" marR="50800" marT="25400" marB="25400" anchor="ctr"/>
                </a:tc>
                <a:tc>
                  <a:txBody>
                    <a:bodyPr/>
                    <a:lstStyle/>
                    <a:p>
                      <a:pPr marL="0" indent="0" algn="r">
                        <a:buNone/>
                      </a:pPr>
                      <a:r>
                        <a:rPr lang="en-US" sz="900" dirty="0">
                          <a:solidFill>
                            <a:srgbClr val="1A1A1A"/>
                          </a:solidFill>
                        </a:rPr>
                        <a:t>2,799.4</a:t>
                      </a:r>
                      <a:endParaRPr lang="en-US" sz="900" dirty="0"/>
                    </a:p>
                  </a:txBody>
                  <a:tcPr marL="50800" marR="50800" marT="25400" marB="25400" anchor="ctr"/>
                </a:tc>
                <a:tc>
                  <a:txBody>
                    <a:bodyPr/>
                    <a:lstStyle/>
                    <a:p>
                      <a:pPr marL="0" indent="0" algn="r">
                        <a:buNone/>
                      </a:pPr>
                      <a:r>
                        <a:rPr lang="en-US" sz="900" dirty="0">
                          <a:solidFill>
                            <a:srgbClr val="1A1A1A"/>
                          </a:solidFill>
                        </a:rPr>
                        <a:t>4,481.3</a:t>
                      </a:r>
                      <a:endParaRPr lang="en-US" sz="900" dirty="0"/>
                    </a:p>
                  </a:txBody>
                  <a:tcPr marL="50800" marR="50800" marT="25400" marB="25400" anchor="ctr"/>
                </a:tc>
                <a:tc>
                  <a:txBody>
                    <a:bodyPr/>
                    <a:lstStyle/>
                    <a:p>
                      <a:pPr marL="0" indent="0" algn="r">
                        <a:buNone/>
                      </a:pPr>
                      <a:r>
                        <a:rPr lang="en-US" sz="900" dirty="0">
                          <a:solidFill>
                            <a:srgbClr val="1A1A1A"/>
                          </a:solidFill>
                        </a:rPr>
                        <a:t>9,408.4</a:t>
                      </a:r>
                      <a:endParaRPr lang="en-US" sz="900" dirty="0"/>
                    </a:p>
                  </a:txBody>
                  <a:tcPr marL="50800" marR="50800" marT="25400" marB="25400" anchor="ctr"/>
                </a:tc>
                <a:tc>
                  <a:txBody>
                    <a:bodyPr/>
                    <a:lstStyle/>
                    <a:p>
                      <a:pPr marL="0" indent="0" algn="r">
                        <a:buNone/>
                      </a:pPr>
                      <a:r>
                        <a:rPr lang="en-US" sz="900" dirty="0">
                          <a:solidFill>
                            <a:srgbClr val="1A1A1A"/>
                          </a:solidFill>
                        </a:rPr>
                        <a:t>11,087.9</a:t>
                      </a:r>
                      <a:endParaRPr lang="en-US" sz="900" dirty="0"/>
                    </a:p>
                  </a:txBody>
                  <a:tcPr marL="50800" marR="50800" marT="25400" marB="25400" anchor="ctr"/>
                </a:tc>
                <a:tc>
                  <a:txBody>
                    <a:bodyPr/>
                    <a:lstStyle/>
                    <a:p>
                      <a:pPr marL="0" indent="0" algn="r">
                        <a:buNone/>
                      </a:pPr>
                      <a:r>
                        <a:rPr lang="en-US" sz="900" dirty="0">
                          <a:solidFill>
                            <a:srgbClr val="1A1A1A"/>
                          </a:solidFill>
                        </a:rPr>
                        <a:t>13,752.1</a:t>
                      </a:r>
                      <a:endParaRPr lang="en-US" sz="900" dirty="0"/>
                    </a:p>
                  </a:txBody>
                  <a:tcPr marL="50800" marR="50800" marT="25400" marB="25400" anchor="ctr"/>
                </a:tc>
                <a:extLst>
                  <a:ext uri="{0D108BD9-81ED-4DB2-BD59-A6C34878D82A}">
                    <a16:rowId xmlns:a16="http://schemas.microsoft.com/office/drawing/2014/main" val="10002"/>
                  </a:ext>
                </a:extLst>
              </a:tr>
              <a:tr h="192272">
                <a:tc>
                  <a:txBody>
                    <a:bodyPr/>
                    <a:lstStyle/>
                    <a:p>
                      <a:pPr marL="0" indent="0" algn="l">
                        <a:buNone/>
                      </a:pPr>
                      <a:r>
                        <a:rPr lang="en-US" sz="900" dirty="0">
                          <a:solidFill>
                            <a:srgbClr val="1A1A1A"/>
                          </a:solidFill>
                        </a:rPr>
                        <a:t>Non-cash adjustments (net)</a:t>
                      </a:r>
                      <a:endParaRPr lang="en-US" sz="900" dirty="0"/>
                    </a:p>
                  </a:txBody>
                  <a:tcPr marL="50800" marR="50800" marT="25400" marB="25400" anchor="ctr"/>
                </a:tc>
                <a:tc>
                  <a:txBody>
                    <a:bodyPr/>
                    <a:lstStyle/>
                    <a:p>
                      <a:pPr marL="0" indent="0" algn="r">
                        <a:buNone/>
                      </a:pPr>
                      <a:r>
                        <a:rPr lang="en-US" sz="900" dirty="0">
                          <a:solidFill>
                            <a:srgbClr val="1A1A1A"/>
                          </a:solidFill>
                        </a:rPr>
                        <a:t>1,382.2</a:t>
                      </a:r>
                      <a:endParaRPr lang="en-US" sz="900" dirty="0"/>
                    </a:p>
                  </a:txBody>
                  <a:tcPr marL="50800" marR="50800" marT="25400" marB="25400" anchor="ctr"/>
                </a:tc>
                <a:tc>
                  <a:txBody>
                    <a:bodyPr/>
                    <a:lstStyle/>
                    <a:p>
                      <a:pPr marL="0" indent="0" algn="r">
                        <a:buNone/>
                      </a:pPr>
                      <a:r>
                        <a:rPr lang="en-US" sz="900" dirty="0">
                          <a:solidFill>
                            <a:srgbClr val="1A1A1A"/>
                          </a:solidFill>
                        </a:rPr>
                        <a:t>1,968.7</a:t>
                      </a:r>
                      <a:endParaRPr lang="en-US" sz="900" dirty="0"/>
                    </a:p>
                  </a:txBody>
                  <a:tcPr marL="50800" marR="50800" marT="25400" marB="25400" anchor="ctr"/>
                </a:tc>
                <a:tc>
                  <a:txBody>
                    <a:bodyPr/>
                    <a:lstStyle/>
                    <a:p>
                      <a:pPr marL="0" indent="0" algn="r">
                        <a:buNone/>
                      </a:pPr>
                      <a:r>
                        <a:rPr lang="en-US" sz="900" dirty="0">
                          <a:solidFill>
                            <a:srgbClr val="1A1A1A"/>
                          </a:solidFill>
                        </a:rPr>
                        <a:t>1,992.5</a:t>
                      </a:r>
                      <a:endParaRPr lang="en-US" sz="900" dirty="0"/>
                    </a:p>
                  </a:txBody>
                  <a:tcPr marL="50800" marR="50800" marT="25400" marB="25400" anchor="ctr"/>
                </a:tc>
                <a:tc>
                  <a:txBody>
                    <a:bodyPr/>
                    <a:lstStyle/>
                    <a:p>
                      <a:pPr marL="0" indent="0" algn="r">
                        <a:buNone/>
                      </a:pPr>
                      <a:r>
                        <a:rPr lang="en-US" sz="900" dirty="0">
                          <a:solidFill>
                            <a:srgbClr val="1A1A1A"/>
                          </a:solidFill>
                        </a:rPr>
                        <a:t>1,809.9</a:t>
                      </a:r>
                      <a:endParaRPr lang="en-US" sz="900" dirty="0"/>
                    </a:p>
                  </a:txBody>
                  <a:tcPr marL="50800" marR="50800" marT="25400" marB="25400" anchor="ctr"/>
                </a:tc>
                <a:tc>
                  <a:txBody>
                    <a:bodyPr/>
                    <a:lstStyle/>
                    <a:p>
                      <a:pPr marL="0" indent="0" algn="r">
                        <a:buNone/>
                      </a:pPr>
                      <a:r>
                        <a:rPr lang="en-US" sz="900" dirty="0">
                          <a:solidFill>
                            <a:srgbClr val="1A1A1A"/>
                          </a:solidFill>
                        </a:rPr>
                        <a:t>1,975.0</a:t>
                      </a:r>
                      <a:endParaRPr lang="en-US" sz="900" dirty="0"/>
                    </a:p>
                  </a:txBody>
                  <a:tcPr marL="50800" marR="50800" marT="25400" marB="25400" anchor="ctr"/>
                </a:tc>
                <a:tc>
                  <a:txBody>
                    <a:bodyPr/>
                    <a:lstStyle/>
                    <a:p>
                      <a:pPr marL="0" indent="0" algn="r">
                        <a:buNone/>
                      </a:pPr>
                      <a:r>
                        <a:rPr lang="en-US" sz="900" dirty="0">
                          <a:solidFill>
                            <a:srgbClr val="1A1A1A"/>
                          </a:solidFill>
                        </a:rPr>
                        <a:t>2,722.6</a:t>
                      </a:r>
                      <a:endParaRPr lang="en-US" sz="900" dirty="0"/>
                    </a:p>
                  </a:txBody>
                  <a:tcPr marL="50800" marR="50800" marT="25400" marB="25400" anchor="ctr"/>
                </a:tc>
                <a:tc>
                  <a:txBody>
                    <a:bodyPr/>
                    <a:lstStyle/>
                    <a:p>
                      <a:pPr marL="0" indent="0" algn="r">
                        <a:buNone/>
                      </a:pPr>
                      <a:r>
                        <a:rPr lang="en-US" sz="900" dirty="0">
                          <a:solidFill>
                            <a:srgbClr val="1A1A1A"/>
                          </a:solidFill>
                        </a:rPr>
                        <a:t>1,554.4</a:t>
                      </a:r>
                      <a:endParaRPr lang="en-US" sz="900" dirty="0"/>
                    </a:p>
                  </a:txBody>
                  <a:tcPr marL="50800" marR="50800" marT="25400" marB="25400" anchor="ctr"/>
                </a:tc>
                <a:tc>
                  <a:txBody>
                    <a:bodyPr/>
                    <a:lstStyle/>
                    <a:p>
                      <a:pPr marL="0" indent="0" algn="r">
                        <a:buNone/>
                      </a:pPr>
                      <a:r>
                        <a:rPr lang="en-US" sz="900" dirty="0">
                          <a:solidFill>
                            <a:srgbClr val="1A1A1A"/>
                          </a:solidFill>
                        </a:rPr>
                        <a:t>1,120.4</a:t>
                      </a:r>
                      <a:endParaRPr lang="en-US" sz="900" dirty="0"/>
                    </a:p>
                  </a:txBody>
                  <a:tcPr marL="50800" marR="50800" marT="25400" marB="25400" anchor="ctr"/>
                </a:tc>
                <a:extLst>
                  <a:ext uri="{0D108BD9-81ED-4DB2-BD59-A6C34878D82A}">
                    <a16:rowId xmlns:a16="http://schemas.microsoft.com/office/drawing/2014/main" val="10003"/>
                  </a:ext>
                </a:extLst>
              </a:tr>
              <a:tr h="192272">
                <a:tc>
                  <a:txBody>
                    <a:bodyPr/>
                    <a:lstStyle/>
                    <a:p>
                      <a:pPr marL="0" indent="0" algn="l">
                        <a:buNone/>
                      </a:pPr>
                      <a:r>
                        <a:rPr lang="en-US" sz="900" dirty="0">
                          <a:solidFill>
                            <a:srgbClr val="1A1A1A"/>
                          </a:solidFill>
                        </a:rPr>
                        <a:t>Working capital changes, net</a:t>
                      </a:r>
                      <a:endParaRPr lang="en-US" sz="900" dirty="0"/>
                    </a:p>
                  </a:txBody>
                  <a:tcPr marL="50800" marR="50800" marT="25400" marB="25400" anchor="ctr"/>
                </a:tc>
                <a:tc>
                  <a:txBody>
                    <a:bodyPr/>
                    <a:lstStyle/>
                    <a:p>
                      <a:pPr marL="0" indent="0" algn="r">
                        <a:buNone/>
                      </a:pPr>
                      <a:r>
                        <a:rPr lang="en-US" sz="900" dirty="0">
                          <a:solidFill>
                            <a:srgbClr val="1A1A1A"/>
                          </a:solidFill>
                        </a:rPr>
                        <a:t>(212.3)</a:t>
                      </a:r>
                      <a:endParaRPr lang="en-US" sz="900" dirty="0"/>
                    </a:p>
                  </a:txBody>
                  <a:tcPr marL="50800" marR="50800" marT="25400" marB="25400" anchor="ctr"/>
                </a:tc>
                <a:tc>
                  <a:txBody>
                    <a:bodyPr/>
                    <a:lstStyle/>
                    <a:p>
                      <a:pPr marL="0" indent="0" algn="r">
                        <a:buNone/>
                      </a:pPr>
                      <a:r>
                        <a:rPr lang="en-US" sz="900" dirty="0">
                          <a:solidFill>
                            <a:srgbClr val="1A1A1A"/>
                          </a:solidFill>
                        </a:rPr>
                        <a:t>(2,696.0)</a:t>
                      </a:r>
                      <a:endParaRPr lang="en-US" sz="900" dirty="0"/>
                    </a:p>
                  </a:txBody>
                  <a:tcPr marL="50800" marR="50800" marT="25400" marB="25400" anchor="ctr"/>
                </a:tc>
                <a:tc>
                  <a:txBody>
                    <a:bodyPr/>
                    <a:lstStyle/>
                    <a:p>
                      <a:pPr marL="0" indent="0" algn="r">
                        <a:buNone/>
                      </a:pPr>
                      <a:r>
                        <a:rPr lang="en-US" sz="900" dirty="0">
                          <a:solidFill>
                            <a:srgbClr val="1A1A1A"/>
                          </a:solidFill>
                        </a:rPr>
                        <a:t>898.6</a:t>
                      </a:r>
                      <a:endParaRPr lang="en-US" sz="900" dirty="0"/>
                    </a:p>
                  </a:txBody>
                  <a:tcPr marL="50800" marR="50800" marT="25400" marB="25400" anchor="ctr"/>
                </a:tc>
                <a:tc>
                  <a:txBody>
                    <a:bodyPr/>
                    <a:lstStyle/>
                    <a:p>
                      <a:pPr marL="0" indent="0" algn="r">
                        <a:buNone/>
                      </a:pPr>
                      <a:r>
                        <a:rPr lang="en-US" sz="900" dirty="0">
                          <a:solidFill>
                            <a:srgbClr val="1A1A1A"/>
                          </a:solidFill>
                        </a:rPr>
                        <a:t>2,564.1</a:t>
                      </a:r>
                      <a:endParaRPr lang="en-US" sz="900" dirty="0"/>
                    </a:p>
                  </a:txBody>
                  <a:tcPr marL="50800" marR="50800" marT="25400" marB="25400" anchor="ctr"/>
                </a:tc>
                <a:tc>
                  <a:txBody>
                    <a:bodyPr/>
                    <a:lstStyle/>
                    <a:p>
                      <a:pPr marL="0" indent="0" algn="r">
                        <a:buNone/>
                      </a:pPr>
                      <a:r>
                        <a:rPr lang="en-US" sz="900" dirty="0">
                          <a:solidFill>
                            <a:srgbClr val="1A1A1A"/>
                          </a:solidFill>
                        </a:rPr>
                        <a:t>1,559.1</a:t>
                      </a:r>
                      <a:endParaRPr lang="en-US" sz="900" dirty="0"/>
                    </a:p>
                  </a:txBody>
                  <a:tcPr marL="50800" marR="50800" marT="25400" marB="25400" anchor="ctr"/>
                </a:tc>
                <a:tc>
                  <a:txBody>
                    <a:bodyPr/>
                    <a:lstStyle/>
                    <a:p>
                      <a:pPr marL="0" indent="0" algn="r">
                        <a:buNone/>
                      </a:pPr>
                      <a:r>
                        <a:rPr lang="en-US" sz="900" dirty="0">
                          <a:solidFill>
                            <a:srgbClr val="1A1A1A"/>
                          </a:solidFill>
                        </a:rPr>
                        <a:t>(5,661.8)</a:t>
                      </a:r>
                      <a:endParaRPr lang="en-US" sz="900" dirty="0"/>
                    </a:p>
                  </a:txBody>
                  <a:tcPr marL="50800" marR="50800" marT="25400" marB="25400" anchor="ctr"/>
                </a:tc>
                <a:tc>
                  <a:txBody>
                    <a:bodyPr/>
                    <a:lstStyle/>
                    <a:p>
                      <a:pPr marL="0" indent="0" algn="r">
                        <a:buNone/>
                      </a:pPr>
                      <a:r>
                        <a:rPr lang="en-US" sz="900" dirty="0">
                          <a:solidFill>
                            <a:srgbClr val="1A1A1A"/>
                          </a:solidFill>
                        </a:rPr>
                        <a:t>1,062.1</a:t>
                      </a:r>
                      <a:endParaRPr lang="en-US" sz="900" dirty="0"/>
                    </a:p>
                  </a:txBody>
                  <a:tcPr marL="50800" marR="50800" marT="25400" marB="25400" anchor="ctr"/>
                </a:tc>
                <a:tc>
                  <a:txBody>
                    <a:bodyPr/>
                    <a:lstStyle/>
                    <a:p>
                      <a:pPr marL="0" indent="0" algn="r">
                        <a:buNone/>
                      </a:pPr>
                      <a:r>
                        <a:rPr lang="en-US" sz="900" dirty="0">
                          <a:solidFill>
                            <a:srgbClr val="1A1A1A"/>
                          </a:solidFill>
                        </a:rPr>
                        <a:t>(323.6)</a:t>
                      </a:r>
                      <a:endParaRPr lang="en-US" sz="900" dirty="0"/>
                    </a:p>
                  </a:txBody>
                  <a:tcPr marL="50800" marR="50800" marT="25400" marB="25400" anchor="ctr"/>
                </a:tc>
                <a:extLst>
                  <a:ext uri="{0D108BD9-81ED-4DB2-BD59-A6C34878D82A}">
                    <a16:rowId xmlns:a16="http://schemas.microsoft.com/office/drawing/2014/main" val="10004"/>
                  </a:ext>
                </a:extLst>
              </a:tr>
              <a:tr h="192272">
                <a:tc>
                  <a:txBody>
                    <a:bodyPr/>
                    <a:lstStyle/>
                    <a:p>
                      <a:pPr marL="0" indent="0" algn="l">
                        <a:buNone/>
                      </a:pPr>
                      <a:r>
                        <a:rPr lang="en-US" sz="900" dirty="0">
                          <a:solidFill>
                            <a:srgbClr val="1A1A1A"/>
                          </a:solidFill>
                        </a:rPr>
                        <a:t>Direct taxes paid</a:t>
                      </a:r>
                      <a:endParaRPr lang="en-US" sz="900" dirty="0"/>
                    </a:p>
                  </a:txBody>
                  <a:tcPr marL="50800" marR="50800" marT="25400" marB="25400" anchor="ctr"/>
                </a:tc>
                <a:tc>
                  <a:txBody>
                    <a:bodyPr/>
                    <a:lstStyle/>
                    <a:p>
                      <a:pPr marL="0" indent="0" algn="r">
                        <a:buNone/>
                      </a:pPr>
                      <a:r>
                        <a:rPr lang="en-US" sz="900" dirty="0">
                          <a:solidFill>
                            <a:srgbClr val="1A1A1A"/>
                          </a:solidFill>
                        </a:rPr>
                        <a:t>(741.7)</a:t>
                      </a:r>
                      <a:endParaRPr lang="en-US" sz="900" dirty="0"/>
                    </a:p>
                  </a:txBody>
                  <a:tcPr marL="50800" marR="50800" marT="25400" marB="25400" anchor="ctr"/>
                </a:tc>
                <a:tc>
                  <a:txBody>
                    <a:bodyPr/>
                    <a:lstStyle/>
                    <a:p>
                      <a:pPr marL="0" indent="0" algn="r">
                        <a:buNone/>
                      </a:pPr>
                      <a:r>
                        <a:rPr lang="en-US" sz="900" dirty="0">
                          <a:solidFill>
                            <a:srgbClr val="1A1A1A"/>
                          </a:solidFill>
                        </a:rPr>
                        <a:t>(886.4)</a:t>
                      </a:r>
                      <a:endParaRPr lang="en-US" sz="900" dirty="0"/>
                    </a:p>
                  </a:txBody>
                  <a:tcPr marL="50800" marR="50800" marT="25400" marB="25400" anchor="ctr"/>
                </a:tc>
                <a:tc>
                  <a:txBody>
                    <a:bodyPr/>
                    <a:lstStyle/>
                    <a:p>
                      <a:pPr marL="0" indent="0" algn="r">
                        <a:buNone/>
                      </a:pPr>
                      <a:r>
                        <a:rPr lang="en-US" sz="900" dirty="0">
                          <a:solidFill>
                            <a:srgbClr val="1A1A1A"/>
                          </a:solidFill>
                        </a:rPr>
                        <a:t>(1,345.9)</a:t>
                      </a:r>
                      <a:endParaRPr lang="en-US" sz="900" dirty="0"/>
                    </a:p>
                  </a:txBody>
                  <a:tcPr marL="50800" marR="50800" marT="25400" marB="25400" anchor="ctr"/>
                </a:tc>
                <a:tc>
                  <a:txBody>
                    <a:bodyPr/>
                    <a:lstStyle/>
                    <a:p>
                      <a:pPr marL="0" indent="0" algn="r">
                        <a:buNone/>
                      </a:pPr>
                      <a:r>
                        <a:rPr lang="en-US" sz="900" dirty="0">
                          <a:solidFill>
                            <a:srgbClr val="1A1A1A"/>
                          </a:solidFill>
                        </a:rPr>
                        <a:t>(1,002.9)</a:t>
                      </a:r>
                      <a:endParaRPr lang="en-US" sz="900" dirty="0"/>
                    </a:p>
                  </a:txBody>
                  <a:tcPr marL="50800" marR="50800" marT="25400" marB="25400" anchor="ctr"/>
                </a:tc>
                <a:tc>
                  <a:txBody>
                    <a:bodyPr/>
                    <a:lstStyle/>
                    <a:p>
                      <a:pPr marL="0" indent="0" algn="r">
                        <a:buNone/>
                      </a:pPr>
                      <a:r>
                        <a:rPr lang="en-US" sz="900" dirty="0">
                          <a:solidFill>
                            <a:srgbClr val="1A1A1A"/>
                          </a:solidFill>
                        </a:rPr>
                        <a:t>969.2</a:t>
                      </a:r>
                      <a:endParaRPr lang="en-US" sz="900" dirty="0"/>
                    </a:p>
                  </a:txBody>
                  <a:tcPr marL="50800" marR="50800" marT="25400" marB="25400" anchor="ctr"/>
                </a:tc>
                <a:tc>
                  <a:txBody>
                    <a:bodyPr/>
                    <a:lstStyle/>
                    <a:p>
                      <a:pPr marL="0" indent="0" algn="r">
                        <a:buNone/>
                      </a:pPr>
                      <a:r>
                        <a:rPr lang="en-US" sz="900" dirty="0">
                          <a:solidFill>
                            <a:srgbClr val="1A1A1A"/>
                          </a:solidFill>
                        </a:rPr>
                        <a:t>(1,509.8)</a:t>
                      </a:r>
                      <a:endParaRPr lang="en-US" sz="900" dirty="0"/>
                    </a:p>
                  </a:txBody>
                  <a:tcPr marL="50800" marR="50800" marT="25400" marB="25400" anchor="ctr"/>
                </a:tc>
                <a:tc>
                  <a:txBody>
                    <a:bodyPr/>
                    <a:lstStyle/>
                    <a:p>
                      <a:pPr marL="0" indent="0" algn="r">
                        <a:buNone/>
                      </a:pPr>
                      <a:r>
                        <a:rPr lang="en-US" sz="900" dirty="0">
                          <a:solidFill>
                            <a:srgbClr val="1A1A1A"/>
                          </a:solidFill>
                        </a:rPr>
                        <a:t>(1,569.4)</a:t>
                      </a:r>
                      <a:endParaRPr lang="en-US" sz="900" dirty="0"/>
                    </a:p>
                  </a:txBody>
                  <a:tcPr marL="50800" marR="50800" marT="25400" marB="25400" anchor="ctr"/>
                </a:tc>
                <a:tc>
                  <a:txBody>
                    <a:bodyPr/>
                    <a:lstStyle/>
                    <a:p>
                      <a:pPr marL="0" indent="0" algn="r">
                        <a:buNone/>
                      </a:pPr>
                      <a:r>
                        <a:rPr lang="en-US" sz="900" dirty="0">
                          <a:solidFill>
                            <a:srgbClr val="1A1A1A"/>
                          </a:solidFill>
                        </a:rPr>
                        <a:t>(476.8)</a:t>
                      </a:r>
                      <a:endParaRPr lang="en-US" sz="900" dirty="0"/>
                    </a:p>
                  </a:txBody>
                  <a:tcPr marL="50800" marR="50800" marT="25400" marB="25400" anchor="ctr"/>
                </a:tc>
                <a:extLst>
                  <a:ext uri="{0D108BD9-81ED-4DB2-BD59-A6C34878D82A}">
                    <a16:rowId xmlns:a16="http://schemas.microsoft.com/office/drawing/2014/main" val="10005"/>
                  </a:ext>
                </a:extLst>
              </a:tr>
              <a:tr h="192272">
                <a:tc>
                  <a:txBody>
                    <a:bodyPr/>
                    <a:lstStyle/>
                    <a:p>
                      <a:pPr marL="0" indent="0" algn="l">
                        <a:buNone/>
                      </a:pPr>
                      <a:r>
                        <a:rPr lang="en-US" sz="900" b="1" dirty="0">
                          <a:solidFill>
                            <a:srgbClr val="1A1A1A"/>
                          </a:solidFill>
                        </a:rPr>
                        <a:t>Cash From Operating Activities</a:t>
                      </a:r>
                      <a:endParaRPr lang="en-US" sz="900" dirty="0"/>
                    </a:p>
                  </a:txBody>
                  <a:tcPr marL="50800" marR="50800" marT="25400" marB="25400" anchor="ctr">
                    <a:solidFill>
                      <a:srgbClr val="F5AF80"/>
                    </a:solidFill>
                  </a:tcPr>
                </a:tc>
                <a:tc>
                  <a:txBody>
                    <a:bodyPr/>
                    <a:lstStyle/>
                    <a:p>
                      <a:pPr marL="0" indent="0" algn="r">
                        <a:buNone/>
                      </a:pPr>
                      <a:r>
                        <a:rPr lang="en-US" sz="900" b="1" dirty="0">
                          <a:solidFill>
                            <a:srgbClr val="1A1A1A"/>
                          </a:solidFill>
                        </a:rPr>
                        <a:t>3,907.1</a:t>
                      </a:r>
                      <a:endParaRPr lang="en-US" sz="900" dirty="0"/>
                    </a:p>
                  </a:txBody>
                  <a:tcPr marL="50800" marR="50800" marT="25400" marB="25400" anchor="ctr">
                    <a:solidFill>
                      <a:srgbClr val="F5AF80"/>
                    </a:solidFill>
                  </a:tcPr>
                </a:tc>
                <a:tc>
                  <a:txBody>
                    <a:bodyPr/>
                    <a:lstStyle/>
                    <a:p>
                      <a:pPr marL="0" indent="0" algn="r">
                        <a:buNone/>
                      </a:pPr>
                      <a:r>
                        <a:rPr lang="en-US" sz="900" b="1" dirty="0">
                          <a:solidFill>
                            <a:srgbClr val="1A1A1A"/>
                          </a:solidFill>
                        </a:rPr>
                        <a:t>2,196.5</a:t>
                      </a:r>
                      <a:endParaRPr lang="en-US" sz="900" dirty="0"/>
                    </a:p>
                  </a:txBody>
                  <a:tcPr marL="50800" marR="50800" marT="25400" marB="25400" anchor="ctr">
                    <a:solidFill>
                      <a:srgbClr val="F5AF80"/>
                    </a:solidFill>
                  </a:tcPr>
                </a:tc>
                <a:tc>
                  <a:txBody>
                    <a:bodyPr/>
                    <a:lstStyle/>
                    <a:p>
                      <a:pPr marL="0" indent="0" algn="r">
                        <a:buNone/>
                      </a:pPr>
                      <a:r>
                        <a:rPr lang="en-US" sz="900" b="1" dirty="0">
                          <a:solidFill>
                            <a:srgbClr val="1A1A1A"/>
                          </a:solidFill>
                        </a:rPr>
                        <a:t>6,554.8</a:t>
                      </a:r>
                      <a:endParaRPr lang="en-US" sz="900" dirty="0"/>
                    </a:p>
                  </a:txBody>
                  <a:tcPr marL="50800" marR="50800" marT="25400" marB="25400" anchor="ctr">
                    <a:solidFill>
                      <a:srgbClr val="F5AF80"/>
                    </a:solidFill>
                  </a:tcPr>
                </a:tc>
                <a:tc>
                  <a:txBody>
                    <a:bodyPr/>
                    <a:lstStyle/>
                    <a:p>
                      <a:pPr marL="0" indent="0" algn="r">
                        <a:buNone/>
                      </a:pPr>
                      <a:r>
                        <a:rPr lang="en-US" sz="900" b="1" dirty="0">
                          <a:solidFill>
                            <a:srgbClr val="1A1A1A"/>
                          </a:solidFill>
                        </a:rPr>
                        <a:t>6,170.4</a:t>
                      </a:r>
                      <a:endParaRPr lang="en-US" sz="900" dirty="0"/>
                    </a:p>
                  </a:txBody>
                  <a:tcPr marL="50800" marR="50800" marT="25400" marB="25400" anchor="ctr">
                    <a:solidFill>
                      <a:srgbClr val="F5AF80"/>
                    </a:solidFill>
                  </a:tcPr>
                </a:tc>
                <a:tc>
                  <a:txBody>
                    <a:bodyPr/>
                    <a:lstStyle/>
                    <a:p>
                      <a:pPr marL="0" indent="0" algn="r">
                        <a:buNone/>
                      </a:pPr>
                      <a:r>
                        <a:rPr lang="en-US" sz="900" b="1" dirty="0">
                          <a:solidFill>
                            <a:srgbClr val="1A1A1A"/>
                          </a:solidFill>
                        </a:rPr>
                        <a:t>8,984.5</a:t>
                      </a:r>
                      <a:endParaRPr lang="en-US" sz="900" dirty="0"/>
                    </a:p>
                  </a:txBody>
                  <a:tcPr marL="50800" marR="50800" marT="25400" marB="25400" anchor="ctr">
                    <a:solidFill>
                      <a:srgbClr val="F5AF80"/>
                    </a:solidFill>
                  </a:tcPr>
                </a:tc>
                <a:tc>
                  <a:txBody>
                    <a:bodyPr/>
                    <a:lstStyle/>
                    <a:p>
                      <a:pPr marL="0" indent="0" algn="r">
                        <a:buNone/>
                      </a:pPr>
                      <a:r>
                        <a:rPr lang="en-US" sz="900" b="1" dirty="0">
                          <a:solidFill>
                            <a:srgbClr val="1A1A1A"/>
                          </a:solidFill>
                        </a:rPr>
                        <a:t>4,959.3</a:t>
                      </a:r>
                      <a:endParaRPr lang="en-US" sz="900" dirty="0"/>
                    </a:p>
                  </a:txBody>
                  <a:tcPr marL="50800" marR="50800" marT="25400" marB="25400" anchor="ctr">
                    <a:solidFill>
                      <a:srgbClr val="F5AF80"/>
                    </a:solidFill>
                  </a:tcPr>
                </a:tc>
                <a:tc>
                  <a:txBody>
                    <a:bodyPr/>
                    <a:lstStyle/>
                    <a:p>
                      <a:pPr marL="0" indent="0" algn="r">
                        <a:buNone/>
                      </a:pPr>
                      <a:r>
                        <a:rPr lang="en-US" sz="900" b="1" dirty="0">
                          <a:solidFill>
                            <a:srgbClr val="1A1A1A"/>
                          </a:solidFill>
                        </a:rPr>
                        <a:t>12,135.0</a:t>
                      </a:r>
                      <a:endParaRPr lang="en-US" sz="900" dirty="0"/>
                    </a:p>
                  </a:txBody>
                  <a:tcPr marL="50800" marR="50800" marT="25400" marB="25400" anchor="ctr">
                    <a:solidFill>
                      <a:srgbClr val="F5AF80"/>
                    </a:solidFill>
                  </a:tcPr>
                </a:tc>
                <a:tc>
                  <a:txBody>
                    <a:bodyPr/>
                    <a:lstStyle/>
                    <a:p>
                      <a:pPr marL="0" indent="0" algn="r">
                        <a:buNone/>
                      </a:pPr>
                      <a:r>
                        <a:rPr lang="en-US" sz="900" b="1" dirty="0">
                          <a:solidFill>
                            <a:srgbClr val="1A1A1A"/>
                          </a:solidFill>
                        </a:rPr>
                        <a:t>14,072.1</a:t>
                      </a:r>
                      <a:endParaRPr lang="en-US" sz="900" dirty="0"/>
                    </a:p>
                  </a:txBody>
                  <a:tcPr marL="50800" marR="50800" marT="25400" marB="25400" anchor="ctr">
                    <a:solidFill>
                      <a:srgbClr val="F5AF80"/>
                    </a:solidFill>
                  </a:tcPr>
                </a:tc>
                <a:extLst>
                  <a:ext uri="{0D108BD9-81ED-4DB2-BD59-A6C34878D82A}">
                    <a16:rowId xmlns:a16="http://schemas.microsoft.com/office/drawing/2014/main" val="10006"/>
                  </a:ext>
                </a:extLst>
              </a:tr>
              <a:tr h="192272">
                <a:tc>
                  <a:txBody>
                    <a:bodyPr/>
                    <a:lstStyle/>
                    <a:p>
                      <a:pPr marL="0" indent="0" algn="l">
                        <a:buNone/>
                      </a:pPr>
                      <a:endParaRPr lang="en-US" sz="900" dirty="0"/>
                    </a:p>
                  </a:txBody>
                  <a:tcPr marL="50800" marR="50800" marT="25400" marB="25400" anchor="ctr">
                    <a:solidFill>
                      <a:schemeClr val="bg1"/>
                    </a:solidFill>
                  </a:tcPr>
                </a:tc>
                <a:tc>
                  <a:txBody>
                    <a:bodyPr/>
                    <a:lstStyle/>
                    <a:p>
                      <a:pPr marL="0" indent="0" algn="r">
                        <a:buNone/>
                      </a:pPr>
                      <a:endParaRPr lang="en-US" sz="900" dirty="0"/>
                    </a:p>
                  </a:txBody>
                  <a:tcPr marL="50800" marR="50800" marT="25400" marB="25400" anchor="ctr">
                    <a:solidFill>
                      <a:schemeClr val="bg1"/>
                    </a:solidFill>
                  </a:tcPr>
                </a:tc>
                <a:tc>
                  <a:txBody>
                    <a:bodyPr/>
                    <a:lstStyle/>
                    <a:p>
                      <a:pPr marL="0" indent="0" algn="r">
                        <a:buNone/>
                      </a:pPr>
                      <a:endParaRPr lang="en-US" sz="900" dirty="0"/>
                    </a:p>
                  </a:txBody>
                  <a:tcPr marL="50800" marR="50800" marT="25400" marB="25400" anchor="ctr">
                    <a:solidFill>
                      <a:schemeClr val="bg1"/>
                    </a:solidFill>
                  </a:tcPr>
                </a:tc>
                <a:tc>
                  <a:txBody>
                    <a:bodyPr/>
                    <a:lstStyle/>
                    <a:p>
                      <a:pPr marL="0" indent="0" algn="r">
                        <a:buNone/>
                      </a:pPr>
                      <a:endParaRPr lang="en-US" sz="900" dirty="0"/>
                    </a:p>
                  </a:txBody>
                  <a:tcPr marL="50800" marR="50800" marT="25400" marB="25400" anchor="ctr">
                    <a:solidFill>
                      <a:schemeClr val="bg1"/>
                    </a:solidFill>
                  </a:tcPr>
                </a:tc>
                <a:tc>
                  <a:txBody>
                    <a:bodyPr/>
                    <a:lstStyle/>
                    <a:p>
                      <a:pPr marL="0" indent="0" algn="r">
                        <a:buNone/>
                      </a:pPr>
                      <a:endParaRPr lang="en-US" sz="900" dirty="0"/>
                    </a:p>
                  </a:txBody>
                  <a:tcPr marL="50800" marR="50800" marT="25400" marB="25400" anchor="ctr">
                    <a:solidFill>
                      <a:schemeClr val="bg1"/>
                    </a:solidFill>
                  </a:tcPr>
                </a:tc>
                <a:tc>
                  <a:txBody>
                    <a:bodyPr/>
                    <a:lstStyle/>
                    <a:p>
                      <a:pPr marL="0" indent="0" algn="r">
                        <a:buNone/>
                      </a:pPr>
                      <a:endParaRPr lang="en-US" sz="900" dirty="0"/>
                    </a:p>
                  </a:txBody>
                  <a:tcPr marL="50800" marR="50800" marT="25400" marB="25400" anchor="ctr">
                    <a:solidFill>
                      <a:schemeClr val="bg1"/>
                    </a:solidFill>
                  </a:tcPr>
                </a:tc>
                <a:tc>
                  <a:txBody>
                    <a:bodyPr/>
                    <a:lstStyle/>
                    <a:p>
                      <a:pPr marL="0" indent="0" algn="r">
                        <a:buNone/>
                      </a:pPr>
                      <a:endParaRPr lang="en-US" sz="900" dirty="0"/>
                    </a:p>
                  </a:txBody>
                  <a:tcPr marL="50800" marR="50800" marT="25400" marB="25400" anchor="ctr">
                    <a:solidFill>
                      <a:schemeClr val="bg1"/>
                    </a:solidFill>
                  </a:tcPr>
                </a:tc>
                <a:tc>
                  <a:txBody>
                    <a:bodyPr/>
                    <a:lstStyle/>
                    <a:p>
                      <a:pPr marL="0" indent="0" algn="r">
                        <a:buNone/>
                      </a:pPr>
                      <a:endParaRPr lang="en-US" sz="900" dirty="0"/>
                    </a:p>
                  </a:txBody>
                  <a:tcPr marL="50800" marR="50800" marT="25400" marB="25400" anchor="ctr">
                    <a:solidFill>
                      <a:schemeClr val="bg1"/>
                    </a:solidFill>
                  </a:tcPr>
                </a:tc>
                <a:tc>
                  <a:txBody>
                    <a:bodyPr/>
                    <a:lstStyle/>
                    <a:p>
                      <a:pPr marL="0" indent="0" algn="r">
                        <a:buNone/>
                      </a:pPr>
                      <a:endParaRPr lang="en-US" sz="900" dirty="0"/>
                    </a:p>
                  </a:txBody>
                  <a:tcPr marL="50800" marR="50800" marT="25400" marB="25400" anchor="ctr">
                    <a:solidFill>
                      <a:schemeClr val="bg1"/>
                    </a:solidFill>
                  </a:tcPr>
                </a:tc>
                <a:extLst>
                  <a:ext uri="{0D108BD9-81ED-4DB2-BD59-A6C34878D82A}">
                    <a16:rowId xmlns:a16="http://schemas.microsoft.com/office/drawing/2014/main" val="652236641"/>
                  </a:ext>
                </a:extLst>
              </a:tr>
              <a:tr h="192272">
                <a:tc>
                  <a:txBody>
                    <a:bodyPr/>
                    <a:lstStyle/>
                    <a:p>
                      <a:pPr marL="0" indent="0" algn="l">
                        <a:buNone/>
                      </a:pPr>
                      <a:r>
                        <a:rPr lang="en-US" sz="900" b="1" dirty="0">
                          <a:solidFill>
                            <a:srgbClr val="0B2545"/>
                          </a:solidFill>
                        </a:rPr>
                        <a:t>Investing Activities</a:t>
                      </a:r>
                      <a:endParaRPr lang="en-US" sz="900" dirty="0"/>
                    </a:p>
                  </a:txBody>
                  <a:tcPr marL="50800" marR="50800" marT="25400" marB="25400" anchor="ctr">
                    <a:solidFill>
                      <a:srgbClr val="E36B0C"/>
                    </a:solidFill>
                  </a:tcPr>
                </a:tc>
                <a:tc>
                  <a:txBody>
                    <a:bodyPr/>
                    <a:lstStyle/>
                    <a:p>
                      <a:pPr marL="0" indent="0" algn="r">
                        <a:buNone/>
                      </a:pPr>
                      <a:endParaRPr lang="en-US" sz="900" dirty="0"/>
                    </a:p>
                  </a:txBody>
                  <a:tcPr marL="50800" marR="50800" marT="25400" marB="25400" anchor="ctr">
                    <a:solidFill>
                      <a:srgbClr val="E36B0C"/>
                    </a:solidFill>
                  </a:tcPr>
                </a:tc>
                <a:tc>
                  <a:txBody>
                    <a:bodyPr/>
                    <a:lstStyle/>
                    <a:p>
                      <a:pPr marL="0" indent="0" algn="r">
                        <a:buNone/>
                      </a:pPr>
                      <a:endParaRPr lang="en-US" sz="900" dirty="0"/>
                    </a:p>
                  </a:txBody>
                  <a:tcPr marL="50800" marR="50800" marT="25400" marB="25400" anchor="ctr">
                    <a:solidFill>
                      <a:srgbClr val="E36B0C"/>
                    </a:solidFill>
                  </a:tcPr>
                </a:tc>
                <a:tc>
                  <a:txBody>
                    <a:bodyPr/>
                    <a:lstStyle/>
                    <a:p>
                      <a:pPr marL="0" indent="0" algn="r">
                        <a:buNone/>
                      </a:pPr>
                      <a:endParaRPr lang="en-US" sz="900" dirty="0"/>
                    </a:p>
                  </a:txBody>
                  <a:tcPr marL="50800" marR="50800" marT="25400" marB="25400" anchor="ctr">
                    <a:solidFill>
                      <a:srgbClr val="E36B0C"/>
                    </a:solidFill>
                  </a:tcPr>
                </a:tc>
                <a:tc>
                  <a:txBody>
                    <a:bodyPr/>
                    <a:lstStyle/>
                    <a:p>
                      <a:pPr marL="0" indent="0" algn="r">
                        <a:buNone/>
                      </a:pPr>
                      <a:endParaRPr lang="en-US" sz="900" dirty="0"/>
                    </a:p>
                  </a:txBody>
                  <a:tcPr marL="50800" marR="50800" marT="25400" marB="25400" anchor="ctr">
                    <a:solidFill>
                      <a:srgbClr val="E36B0C"/>
                    </a:solidFill>
                  </a:tcPr>
                </a:tc>
                <a:tc>
                  <a:txBody>
                    <a:bodyPr/>
                    <a:lstStyle/>
                    <a:p>
                      <a:pPr marL="0" indent="0" algn="r">
                        <a:buNone/>
                      </a:pPr>
                      <a:endParaRPr lang="en-US" sz="900" dirty="0"/>
                    </a:p>
                  </a:txBody>
                  <a:tcPr marL="50800" marR="50800" marT="25400" marB="25400" anchor="ctr">
                    <a:solidFill>
                      <a:srgbClr val="E36B0C"/>
                    </a:solidFill>
                  </a:tcPr>
                </a:tc>
                <a:tc>
                  <a:txBody>
                    <a:bodyPr/>
                    <a:lstStyle/>
                    <a:p>
                      <a:pPr marL="0" indent="0" algn="r">
                        <a:buNone/>
                      </a:pPr>
                      <a:endParaRPr lang="en-US" sz="900" dirty="0"/>
                    </a:p>
                  </a:txBody>
                  <a:tcPr marL="50800" marR="50800" marT="25400" marB="25400" anchor="ctr">
                    <a:solidFill>
                      <a:srgbClr val="E36B0C"/>
                    </a:solidFill>
                  </a:tcPr>
                </a:tc>
                <a:tc>
                  <a:txBody>
                    <a:bodyPr/>
                    <a:lstStyle/>
                    <a:p>
                      <a:pPr marL="0" indent="0" algn="r">
                        <a:buNone/>
                      </a:pPr>
                      <a:endParaRPr lang="en-US" sz="900" dirty="0"/>
                    </a:p>
                  </a:txBody>
                  <a:tcPr marL="50800" marR="50800" marT="25400" marB="25400" anchor="ctr">
                    <a:solidFill>
                      <a:srgbClr val="E36B0C"/>
                    </a:solidFill>
                  </a:tcPr>
                </a:tc>
                <a:tc>
                  <a:txBody>
                    <a:bodyPr/>
                    <a:lstStyle/>
                    <a:p>
                      <a:pPr marL="0" indent="0" algn="r">
                        <a:buNone/>
                      </a:pPr>
                      <a:endParaRPr lang="en-US" sz="900" dirty="0"/>
                    </a:p>
                  </a:txBody>
                  <a:tcPr marL="50800" marR="50800" marT="25400" marB="25400" anchor="ctr">
                    <a:solidFill>
                      <a:srgbClr val="E36B0C"/>
                    </a:solidFill>
                  </a:tcPr>
                </a:tc>
                <a:extLst>
                  <a:ext uri="{0D108BD9-81ED-4DB2-BD59-A6C34878D82A}">
                    <a16:rowId xmlns:a16="http://schemas.microsoft.com/office/drawing/2014/main" val="10007"/>
                  </a:ext>
                </a:extLst>
              </a:tr>
              <a:tr h="192272">
                <a:tc>
                  <a:txBody>
                    <a:bodyPr/>
                    <a:lstStyle/>
                    <a:p>
                      <a:pPr marL="0" indent="0" algn="l">
                        <a:buNone/>
                      </a:pPr>
                      <a:r>
                        <a:rPr lang="en-US" sz="900" dirty="0">
                          <a:solidFill>
                            <a:srgbClr val="1A1A1A"/>
                          </a:solidFill>
                        </a:rPr>
                        <a:t>Capital expenditure, net</a:t>
                      </a:r>
                      <a:endParaRPr lang="en-US" sz="900" dirty="0"/>
                    </a:p>
                  </a:txBody>
                  <a:tcPr marL="50800" marR="50800" marT="25400" marB="25400" anchor="ctr"/>
                </a:tc>
                <a:tc>
                  <a:txBody>
                    <a:bodyPr/>
                    <a:lstStyle/>
                    <a:p>
                      <a:pPr marL="0" indent="0" algn="r">
                        <a:buNone/>
                      </a:pPr>
                      <a:r>
                        <a:rPr lang="en-US" sz="900" dirty="0">
                          <a:solidFill>
                            <a:srgbClr val="1A1A1A"/>
                          </a:solidFill>
                        </a:rPr>
                        <a:t>(1,894.3)</a:t>
                      </a:r>
                      <a:endParaRPr lang="en-US" sz="900" dirty="0"/>
                    </a:p>
                  </a:txBody>
                  <a:tcPr marL="50800" marR="50800" marT="25400" marB="25400" anchor="ctr"/>
                </a:tc>
                <a:tc>
                  <a:txBody>
                    <a:bodyPr/>
                    <a:lstStyle/>
                    <a:p>
                      <a:pPr marL="0" indent="0" algn="r">
                        <a:buNone/>
                      </a:pPr>
                      <a:r>
                        <a:rPr lang="en-US" sz="900" dirty="0">
                          <a:solidFill>
                            <a:srgbClr val="1A1A1A"/>
                          </a:solidFill>
                        </a:rPr>
                        <a:t>(3,162.4)</a:t>
                      </a:r>
                      <a:endParaRPr lang="en-US" sz="900" dirty="0"/>
                    </a:p>
                  </a:txBody>
                  <a:tcPr marL="50800" marR="50800" marT="25400" marB="25400" anchor="ctr"/>
                </a:tc>
                <a:tc>
                  <a:txBody>
                    <a:bodyPr/>
                    <a:lstStyle/>
                    <a:p>
                      <a:pPr marL="0" indent="0" algn="r">
                        <a:buNone/>
                      </a:pPr>
                      <a:r>
                        <a:rPr lang="en-US" sz="900" dirty="0">
                          <a:solidFill>
                            <a:srgbClr val="1A1A1A"/>
                          </a:solidFill>
                        </a:rPr>
                        <a:t>(1,450.0)</a:t>
                      </a:r>
                      <a:endParaRPr lang="en-US" sz="900" dirty="0"/>
                    </a:p>
                  </a:txBody>
                  <a:tcPr marL="50800" marR="50800" marT="25400" marB="25400" anchor="ctr"/>
                </a:tc>
                <a:tc>
                  <a:txBody>
                    <a:bodyPr/>
                    <a:lstStyle/>
                    <a:p>
                      <a:pPr marL="0" indent="0" algn="r">
                        <a:buNone/>
                      </a:pPr>
                      <a:r>
                        <a:rPr lang="en-US" sz="900" dirty="0">
                          <a:solidFill>
                            <a:srgbClr val="1A1A1A"/>
                          </a:solidFill>
                        </a:rPr>
                        <a:t>(1,073.0)</a:t>
                      </a:r>
                      <a:endParaRPr lang="en-US" sz="900" dirty="0"/>
                    </a:p>
                  </a:txBody>
                  <a:tcPr marL="50800" marR="50800" marT="25400" marB="25400" anchor="ctr"/>
                </a:tc>
                <a:tc>
                  <a:txBody>
                    <a:bodyPr/>
                    <a:lstStyle/>
                    <a:p>
                      <a:pPr marL="0" indent="0" algn="r">
                        <a:buNone/>
                      </a:pPr>
                      <a:r>
                        <a:rPr lang="en-US" sz="900" dirty="0">
                          <a:solidFill>
                            <a:srgbClr val="1A1A1A"/>
                          </a:solidFill>
                        </a:rPr>
                        <a:t>(1,434.4)</a:t>
                      </a:r>
                      <a:endParaRPr lang="en-US" sz="900" dirty="0"/>
                    </a:p>
                  </a:txBody>
                  <a:tcPr marL="50800" marR="50800" marT="25400" marB="25400" anchor="ctr"/>
                </a:tc>
                <a:tc>
                  <a:txBody>
                    <a:bodyPr/>
                    <a:lstStyle/>
                    <a:p>
                      <a:pPr marL="0" indent="0" algn="r">
                        <a:buNone/>
                      </a:pPr>
                      <a:r>
                        <a:rPr lang="en-US" sz="900" dirty="0">
                          <a:solidFill>
                            <a:srgbClr val="1A1A1A"/>
                          </a:solidFill>
                        </a:rPr>
                        <a:t>(2,064.6)</a:t>
                      </a:r>
                      <a:endParaRPr lang="en-US" sz="900" dirty="0"/>
                    </a:p>
                  </a:txBody>
                  <a:tcPr marL="50800" marR="50800" marT="25400" marB="25400" anchor="ctr"/>
                </a:tc>
                <a:tc>
                  <a:txBody>
                    <a:bodyPr/>
                    <a:lstStyle/>
                    <a:p>
                      <a:pPr marL="0" indent="0" algn="r">
                        <a:buNone/>
                      </a:pPr>
                      <a:r>
                        <a:rPr lang="en-US" sz="900" dirty="0">
                          <a:solidFill>
                            <a:srgbClr val="1A1A1A"/>
                          </a:solidFill>
                        </a:rPr>
                        <a:t>(2,171.0)</a:t>
                      </a:r>
                      <a:endParaRPr lang="en-US" sz="900" dirty="0"/>
                    </a:p>
                  </a:txBody>
                  <a:tcPr marL="50800" marR="50800" marT="25400" marB="25400" anchor="ctr"/>
                </a:tc>
                <a:tc>
                  <a:txBody>
                    <a:bodyPr/>
                    <a:lstStyle/>
                    <a:p>
                      <a:pPr marL="0" indent="0" algn="r">
                        <a:buNone/>
                      </a:pPr>
                      <a:r>
                        <a:rPr lang="en-US" sz="900" dirty="0">
                          <a:solidFill>
                            <a:srgbClr val="1A1A1A"/>
                          </a:solidFill>
                        </a:rPr>
                        <a:t>(2,067.6)</a:t>
                      </a:r>
                      <a:endParaRPr lang="en-US" sz="900" dirty="0"/>
                    </a:p>
                  </a:txBody>
                  <a:tcPr marL="50800" marR="50800" marT="25400" marB="25400" anchor="ctr"/>
                </a:tc>
                <a:extLst>
                  <a:ext uri="{0D108BD9-81ED-4DB2-BD59-A6C34878D82A}">
                    <a16:rowId xmlns:a16="http://schemas.microsoft.com/office/drawing/2014/main" val="10008"/>
                  </a:ext>
                </a:extLst>
              </a:tr>
              <a:tr h="332579">
                <a:tc>
                  <a:txBody>
                    <a:bodyPr/>
                    <a:lstStyle/>
                    <a:p>
                      <a:pPr marL="0" indent="0" algn="l">
                        <a:buNone/>
                      </a:pPr>
                      <a:r>
                        <a:rPr lang="en-US" sz="900" dirty="0">
                          <a:solidFill>
                            <a:srgbClr val="1A1A1A"/>
                          </a:solidFill>
                        </a:rPr>
                        <a:t>Net purchase/(sale) of investments</a:t>
                      </a:r>
                      <a:endParaRPr lang="en-US" sz="900" dirty="0"/>
                    </a:p>
                  </a:txBody>
                  <a:tcPr marL="50800" marR="50800" marT="25400" marB="25400" anchor="ctr"/>
                </a:tc>
                <a:tc>
                  <a:txBody>
                    <a:bodyPr/>
                    <a:lstStyle/>
                    <a:p>
                      <a:pPr marL="0" indent="0" algn="r">
                        <a:buNone/>
                      </a:pPr>
                      <a:r>
                        <a:rPr lang="en-US" sz="900" dirty="0">
                          <a:solidFill>
                            <a:srgbClr val="1A1A1A"/>
                          </a:solidFill>
                        </a:rPr>
                        <a:t>(676.8)</a:t>
                      </a:r>
                      <a:endParaRPr lang="en-US" sz="900" dirty="0"/>
                    </a:p>
                  </a:txBody>
                  <a:tcPr marL="50800" marR="50800" marT="25400" marB="25400" anchor="ctr"/>
                </a:tc>
                <a:tc>
                  <a:txBody>
                    <a:bodyPr/>
                    <a:lstStyle/>
                    <a:p>
                      <a:pPr marL="0" indent="0" algn="r">
                        <a:buNone/>
                      </a:pPr>
                      <a:r>
                        <a:rPr lang="en-US" sz="900" dirty="0">
                          <a:solidFill>
                            <a:srgbClr val="1A1A1A"/>
                          </a:solidFill>
                        </a:rPr>
                        <a:t>1,752.4</a:t>
                      </a:r>
                      <a:endParaRPr lang="en-US" sz="900" dirty="0"/>
                    </a:p>
                  </a:txBody>
                  <a:tcPr marL="50800" marR="50800" marT="25400" marB="25400" anchor="ctr"/>
                </a:tc>
                <a:tc>
                  <a:txBody>
                    <a:bodyPr/>
                    <a:lstStyle/>
                    <a:p>
                      <a:pPr marL="0" indent="0" algn="r">
                        <a:buNone/>
                      </a:pPr>
                      <a:r>
                        <a:rPr lang="en-US" sz="900" dirty="0">
                          <a:solidFill>
                            <a:srgbClr val="1A1A1A"/>
                          </a:solidFill>
                        </a:rPr>
                        <a:t>(1,701.9)</a:t>
                      </a:r>
                      <a:endParaRPr lang="en-US" sz="900" dirty="0"/>
                    </a:p>
                  </a:txBody>
                  <a:tcPr marL="50800" marR="50800" marT="25400" marB="25400" anchor="ctr"/>
                </a:tc>
                <a:tc>
                  <a:txBody>
                    <a:bodyPr/>
                    <a:lstStyle/>
                    <a:p>
                      <a:pPr marL="0" indent="0" algn="r">
                        <a:buNone/>
                      </a:pPr>
                      <a:r>
                        <a:rPr lang="en-US" sz="900" dirty="0">
                          <a:solidFill>
                            <a:srgbClr val="1A1A1A"/>
                          </a:solidFill>
                        </a:rPr>
                        <a:t>1,373.3</a:t>
                      </a:r>
                      <a:endParaRPr lang="en-US" sz="900" dirty="0"/>
                    </a:p>
                  </a:txBody>
                  <a:tcPr marL="50800" marR="50800" marT="25400" marB="25400" anchor="ctr"/>
                </a:tc>
                <a:tc>
                  <a:txBody>
                    <a:bodyPr/>
                    <a:lstStyle/>
                    <a:p>
                      <a:pPr marL="0" indent="0" algn="r">
                        <a:buNone/>
                      </a:pPr>
                      <a:r>
                        <a:rPr lang="en-US" sz="900" dirty="0">
                          <a:solidFill>
                            <a:srgbClr val="1A1A1A"/>
                          </a:solidFill>
                        </a:rPr>
                        <a:t>(3,791.1)</a:t>
                      </a:r>
                      <a:endParaRPr lang="en-US" sz="900" dirty="0"/>
                    </a:p>
                  </a:txBody>
                  <a:tcPr marL="50800" marR="50800" marT="25400" marB="25400" anchor="ctr"/>
                </a:tc>
                <a:tc>
                  <a:txBody>
                    <a:bodyPr/>
                    <a:lstStyle/>
                    <a:p>
                      <a:pPr marL="0" indent="0" algn="r">
                        <a:buNone/>
                      </a:pPr>
                      <a:r>
                        <a:rPr lang="en-US" sz="900" dirty="0">
                          <a:solidFill>
                            <a:srgbClr val="1A1A1A"/>
                          </a:solidFill>
                        </a:rPr>
                        <a:t>(1,643.6)</a:t>
                      </a:r>
                      <a:endParaRPr lang="en-US" sz="900" dirty="0"/>
                    </a:p>
                  </a:txBody>
                  <a:tcPr marL="50800" marR="50800" marT="25400" marB="25400" anchor="ctr"/>
                </a:tc>
                <a:tc>
                  <a:txBody>
                    <a:bodyPr/>
                    <a:lstStyle/>
                    <a:p>
                      <a:pPr marL="0" indent="0" algn="r">
                        <a:buNone/>
                      </a:pPr>
                      <a:r>
                        <a:rPr lang="en-US" sz="900" dirty="0">
                          <a:solidFill>
                            <a:srgbClr val="1A1A1A"/>
                          </a:solidFill>
                        </a:rPr>
                        <a:t>932.5</a:t>
                      </a:r>
                      <a:endParaRPr lang="en-US" sz="900" dirty="0"/>
                    </a:p>
                  </a:txBody>
                  <a:tcPr marL="50800" marR="50800" marT="25400" marB="25400" anchor="ctr"/>
                </a:tc>
                <a:tc>
                  <a:txBody>
                    <a:bodyPr/>
                    <a:lstStyle/>
                    <a:p>
                      <a:pPr marL="0" indent="0" algn="r">
                        <a:buNone/>
                      </a:pPr>
                      <a:r>
                        <a:rPr lang="en-US" sz="900" dirty="0">
                          <a:solidFill>
                            <a:srgbClr val="1A1A1A"/>
                          </a:solidFill>
                        </a:rPr>
                        <a:t>(3,864.2)</a:t>
                      </a:r>
                      <a:endParaRPr lang="en-US" sz="900" dirty="0"/>
                    </a:p>
                  </a:txBody>
                  <a:tcPr marL="50800" marR="50800" marT="25400" marB="25400" anchor="ctr"/>
                </a:tc>
                <a:extLst>
                  <a:ext uri="{0D108BD9-81ED-4DB2-BD59-A6C34878D82A}">
                    <a16:rowId xmlns:a16="http://schemas.microsoft.com/office/drawing/2014/main" val="10009"/>
                  </a:ext>
                </a:extLst>
              </a:tr>
              <a:tr h="192272">
                <a:tc>
                  <a:txBody>
                    <a:bodyPr/>
                    <a:lstStyle/>
                    <a:p>
                      <a:pPr marL="0" indent="0" algn="l">
                        <a:buNone/>
                      </a:pPr>
                      <a:r>
                        <a:rPr lang="en-US" sz="900" dirty="0">
                          <a:solidFill>
                            <a:srgbClr val="1A1A1A"/>
                          </a:solidFill>
                        </a:rPr>
                        <a:t>Other investing items, net</a:t>
                      </a:r>
                      <a:endParaRPr lang="en-US" sz="900" dirty="0"/>
                    </a:p>
                  </a:txBody>
                  <a:tcPr marL="50800" marR="50800" marT="25400" marB="25400" anchor="ctr"/>
                </a:tc>
                <a:tc>
                  <a:txBody>
                    <a:bodyPr/>
                    <a:lstStyle/>
                    <a:p>
                      <a:pPr marL="0" indent="0" algn="r">
                        <a:buNone/>
                      </a:pPr>
                      <a:r>
                        <a:rPr lang="en-US" sz="900" dirty="0">
                          <a:solidFill>
                            <a:srgbClr val="1A1A1A"/>
                          </a:solidFill>
                        </a:rPr>
                        <a:t>(799.7)</a:t>
                      </a:r>
                      <a:endParaRPr lang="en-US" sz="900" dirty="0"/>
                    </a:p>
                  </a:txBody>
                  <a:tcPr marL="50800" marR="50800" marT="25400" marB="25400" anchor="ctr"/>
                </a:tc>
                <a:tc>
                  <a:txBody>
                    <a:bodyPr/>
                    <a:lstStyle/>
                    <a:p>
                      <a:pPr marL="0" indent="0" algn="r">
                        <a:buNone/>
                      </a:pPr>
                      <a:r>
                        <a:rPr lang="en-US" sz="900" dirty="0">
                          <a:solidFill>
                            <a:srgbClr val="1A1A1A"/>
                          </a:solidFill>
                        </a:rPr>
                        <a:t>728.7</a:t>
                      </a:r>
                      <a:endParaRPr lang="en-US" sz="900" dirty="0"/>
                    </a:p>
                  </a:txBody>
                  <a:tcPr marL="50800" marR="50800" marT="25400" marB="25400" anchor="ctr"/>
                </a:tc>
                <a:tc>
                  <a:txBody>
                    <a:bodyPr/>
                    <a:lstStyle/>
                    <a:p>
                      <a:pPr marL="0" indent="0" algn="r">
                        <a:buNone/>
                      </a:pPr>
                      <a:r>
                        <a:rPr lang="en-US" sz="900" dirty="0">
                          <a:solidFill>
                            <a:srgbClr val="1A1A1A"/>
                          </a:solidFill>
                        </a:rPr>
                        <a:t>563.1</a:t>
                      </a:r>
                      <a:endParaRPr lang="en-US" sz="900" dirty="0"/>
                    </a:p>
                  </a:txBody>
                  <a:tcPr marL="50800" marR="50800" marT="25400" marB="25400" anchor="ctr"/>
                </a:tc>
                <a:tc>
                  <a:txBody>
                    <a:bodyPr/>
                    <a:lstStyle/>
                    <a:p>
                      <a:pPr marL="0" indent="0" algn="r">
                        <a:buNone/>
                      </a:pPr>
                      <a:r>
                        <a:rPr lang="en-US" sz="900" dirty="0">
                          <a:solidFill>
                            <a:srgbClr val="1A1A1A"/>
                          </a:solidFill>
                        </a:rPr>
                        <a:t>236.0</a:t>
                      </a:r>
                      <a:endParaRPr lang="en-US" sz="900" dirty="0"/>
                    </a:p>
                  </a:txBody>
                  <a:tcPr marL="50800" marR="50800" marT="25400" marB="25400" anchor="ctr"/>
                </a:tc>
                <a:tc>
                  <a:txBody>
                    <a:bodyPr/>
                    <a:lstStyle/>
                    <a:p>
                      <a:pPr marL="0" indent="0" algn="r">
                        <a:buNone/>
                      </a:pPr>
                      <a:r>
                        <a:rPr lang="en-US" sz="900" dirty="0">
                          <a:solidFill>
                            <a:srgbClr val="1A1A1A"/>
                          </a:solidFill>
                        </a:rPr>
                        <a:t>(499.2)</a:t>
                      </a:r>
                      <a:endParaRPr lang="en-US" sz="900" dirty="0"/>
                    </a:p>
                  </a:txBody>
                  <a:tcPr marL="50800" marR="50800" marT="25400" marB="25400" anchor="ctr"/>
                </a:tc>
                <a:tc>
                  <a:txBody>
                    <a:bodyPr/>
                    <a:lstStyle/>
                    <a:p>
                      <a:pPr marL="0" indent="0" algn="r">
                        <a:buNone/>
                      </a:pPr>
                      <a:r>
                        <a:rPr lang="en-US" sz="900" dirty="0">
                          <a:solidFill>
                            <a:srgbClr val="1A1A1A"/>
                          </a:solidFill>
                        </a:rPr>
                        <a:t>(4,235.5)</a:t>
                      </a:r>
                      <a:endParaRPr lang="en-US" sz="900" dirty="0"/>
                    </a:p>
                  </a:txBody>
                  <a:tcPr marL="50800" marR="50800" marT="25400" marB="25400" anchor="ctr"/>
                </a:tc>
                <a:tc>
                  <a:txBody>
                    <a:bodyPr/>
                    <a:lstStyle/>
                    <a:p>
                      <a:pPr marL="0" indent="0" algn="r">
                        <a:buNone/>
                      </a:pPr>
                      <a:r>
                        <a:rPr lang="en-US" sz="900" dirty="0">
                          <a:solidFill>
                            <a:srgbClr val="1A1A1A"/>
                          </a:solidFill>
                        </a:rPr>
                        <a:t>548.3</a:t>
                      </a:r>
                      <a:endParaRPr lang="en-US" sz="900" dirty="0"/>
                    </a:p>
                  </a:txBody>
                  <a:tcPr marL="50800" marR="50800" marT="25400" marB="25400" anchor="ctr"/>
                </a:tc>
                <a:tc>
                  <a:txBody>
                    <a:bodyPr/>
                    <a:lstStyle/>
                    <a:p>
                      <a:pPr marL="0" indent="0" algn="r">
                        <a:buNone/>
                      </a:pPr>
                      <a:r>
                        <a:rPr lang="en-US" sz="900" dirty="0">
                          <a:solidFill>
                            <a:srgbClr val="1A1A1A"/>
                          </a:solidFill>
                        </a:rPr>
                        <a:t>625.6</a:t>
                      </a:r>
                      <a:endParaRPr lang="en-US" sz="900" dirty="0"/>
                    </a:p>
                  </a:txBody>
                  <a:tcPr marL="50800" marR="50800" marT="25400" marB="25400" anchor="ctr"/>
                </a:tc>
                <a:extLst>
                  <a:ext uri="{0D108BD9-81ED-4DB2-BD59-A6C34878D82A}">
                    <a16:rowId xmlns:a16="http://schemas.microsoft.com/office/drawing/2014/main" val="10010"/>
                  </a:ext>
                </a:extLst>
              </a:tr>
              <a:tr h="192272">
                <a:tc>
                  <a:txBody>
                    <a:bodyPr/>
                    <a:lstStyle/>
                    <a:p>
                      <a:pPr marL="0" indent="0" algn="l">
                        <a:buNone/>
                      </a:pPr>
                      <a:r>
                        <a:rPr lang="en-US" sz="900" b="1" dirty="0">
                          <a:solidFill>
                            <a:srgbClr val="1A1A1A"/>
                          </a:solidFill>
                        </a:rPr>
                        <a:t>Cash From Investing Activities</a:t>
                      </a:r>
                      <a:endParaRPr lang="en-US" sz="900" dirty="0"/>
                    </a:p>
                  </a:txBody>
                  <a:tcPr marL="50800" marR="50800" marT="25400" marB="25400" anchor="ctr">
                    <a:solidFill>
                      <a:srgbClr val="F5AF80"/>
                    </a:solidFill>
                  </a:tcPr>
                </a:tc>
                <a:tc>
                  <a:txBody>
                    <a:bodyPr/>
                    <a:lstStyle/>
                    <a:p>
                      <a:pPr marL="0" indent="0" algn="r">
                        <a:buNone/>
                      </a:pPr>
                      <a:r>
                        <a:rPr lang="en-US" sz="900" b="1" dirty="0">
                          <a:solidFill>
                            <a:srgbClr val="1A1A1A"/>
                          </a:solidFill>
                        </a:rPr>
                        <a:t>(3,370.8)</a:t>
                      </a:r>
                      <a:endParaRPr lang="en-US" sz="900" dirty="0"/>
                    </a:p>
                  </a:txBody>
                  <a:tcPr marL="50800" marR="50800" marT="25400" marB="25400" anchor="ctr">
                    <a:solidFill>
                      <a:srgbClr val="F5AF80"/>
                    </a:solidFill>
                  </a:tcPr>
                </a:tc>
                <a:tc>
                  <a:txBody>
                    <a:bodyPr/>
                    <a:lstStyle/>
                    <a:p>
                      <a:pPr marL="0" indent="0" algn="r">
                        <a:buNone/>
                      </a:pPr>
                      <a:r>
                        <a:rPr lang="en-US" sz="900" b="1" dirty="0">
                          <a:solidFill>
                            <a:srgbClr val="1A1A1A"/>
                          </a:solidFill>
                        </a:rPr>
                        <a:t>(681.3)</a:t>
                      </a:r>
                      <a:endParaRPr lang="en-US" sz="900" dirty="0"/>
                    </a:p>
                  </a:txBody>
                  <a:tcPr marL="50800" marR="50800" marT="25400" marB="25400" anchor="ctr">
                    <a:solidFill>
                      <a:srgbClr val="F5AF80"/>
                    </a:solidFill>
                  </a:tcPr>
                </a:tc>
                <a:tc>
                  <a:txBody>
                    <a:bodyPr/>
                    <a:lstStyle/>
                    <a:p>
                      <a:pPr marL="0" indent="0" algn="r">
                        <a:buNone/>
                      </a:pPr>
                      <a:r>
                        <a:rPr lang="en-US" sz="900" b="1" dirty="0">
                          <a:solidFill>
                            <a:srgbClr val="1A1A1A"/>
                          </a:solidFill>
                        </a:rPr>
                        <a:t>(2,588.8)</a:t>
                      </a:r>
                      <a:endParaRPr lang="en-US" sz="900" dirty="0"/>
                    </a:p>
                  </a:txBody>
                  <a:tcPr marL="50800" marR="50800" marT="25400" marB="25400" anchor="ctr">
                    <a:solidFill>
                      <a:srgbClr val="F5AF80"/>
                    </a:solidFill>
                  </a:tcPr>
                </a:tc>
                <a:tc>
                  <a:txBody>
                    <a:bodyPr/>
                    <a:lstStyle/>
                    <a:p>
                      <a:pPr marL="0" indent="0" algn="r">
                        <a:buNone/>
                      </a:pPr>
                      <a:r>
                        <a:rPr lang="en-US" sz="900" b="1" dirty="0">
                          <a:solidFill>
                            <a:srgbClr val="1A1A1A"/>
                          </a:solidFill>
                        </a:rPr>
                        <a:t>536.2</a:t>
                      </a:r>
                      <a:endParaRPr lang="en-US" sz="900" dirty="0"/>
                    </a:p>
                  </a:txBody>
                  <a:tcPr marL="50800" marR="50800" marT="25400" marB="25400" anchor="ctr">
                    <a:solidFill>
                      <a:srgbClr val="F5AF80"/>
                    </a:solidFill>
                  </a:tcPr>
                </a:tc>
                <a:tc>
                  <a:txBody>
                    <a:bodyPr/>
                    <a:lstStyle/>
                    <a:p>
                      <a:pPr marL="0" indent="0" algn="r">
                        <a:buNone/>
                      </a:pPr>
                      <a:r>
                        <a:rPr lang="en-US" sz="900" b="1" dirty="0">
                          <a:solidFill>
                            <a:srgbClr val="1A1A1A"/>
                          </a:solidFill>
                        </a:rPr>
                        <a:t>(5,724.7)</a:t>
                      </a:r>
                      <a:endParaRPr lang="en-US" sz="900" dirty="0"/>
                    </a:p>
                  </a:txBody>
                  <a:tcPr marL="50800" marR="50800" marT="25400" marB="25400" anchor="ctr">
                    <a:solidFill>
                      <a:srgbClr val="F5AF80"/>
                    </a:solidFill>
                  </a:tcPr>
                </a:tc>
                <a:tc>
                  <a:txBody>
                    <a:bodyPr/>
                    <a:lstStyle/>
                    <a:p>
                      <a:pPr marL="0" indent="0" algn="r">
                        <a:buNone/>
                      </a:pPr>
                      <a:r>
                        <a:rPr lang="en-US" sz="900" b="1" dirty="0">
                          <a:solidFill>
                            <a:srgbClr val="1A1A1A"/>
                          </a:solidFill>
                        </a:rPr>
                        <a:t>(7,943.7)</a:t>
                      </a:r>
                      <a:endParaRPr lang="en-US" sz="900" dirty="0"/>
                    </a:p>
                  </a:txBody>
                  <a:tcPr marL="50800" marR="50800" marT="25400" marB="25400" anchor="ctr">
                    <a:solidFill>
                      <a:srgbClr val="F5AF80"/>
                    </a:solidFill>
                  </a:tcPr>
                </a:tc>
                <a:tc>
                  <a:txBody>
                    <a:bodyPr/>
                    <a:lstStyle/>
                    <a:p>
                      <a:pPr marL="0" indent="0" algn="r">
                        <a:buNone/>
                      </a:pPr>
                      <a:r>
                        <a:rPr lang="en-US" sz="900" b="1" dirty="0">
                          <a:solidFill>
                            <a:srgbClr val="1A1A1A"/>
                          </a:solidFill>
                        </a:rPr>
                        <a:t>(690.2)</a:t>
                      </a:r>
                      <a:endParaRPr lang="en-US" sz="900" dirty="0"/>
                    </a:p>
                  </a:txBody>
                  <a:tcPr marL="50800" marR="50800" marT="25400" marB="25400" anchor="ctr">
                    <a:solidFill>
                      <a:srgbClr val="F5AF80"/>
                    </a:solidFill>
                  </a:tcPr>
                </a:tc>
                <a:tc>
                  <a:txBody>
                    <a:bodyPr/>
                    <a:lstStyle/>
                    <a:p>
                      <a:pPr marL="0" indent="0" algn="r">
                        <a:buNone/>
                      </a:pPr>
                      <a:r>
                        <a:rPr lang="en-US" sz="900" b="1" dirty="0">
                          <a:solidFill>
                            <a:srgbClr val="1A1A1A"/>
                          </a:solidFill>
                        </a:rPr>
                        <a:t>(5,306.2)</a:t>
                      </a:r>
                      <a:endParaRPr lang="en-US" sz="900" dirty="0"/>
                    </a:p>
                  </a:txBody>
                  <a:tcPr marL="50800" marR="50800" marT="25400" marB="25400" anchor="ctr">
                    <a:solidFill>
                      <a:srgbClr val="F5AF80"/>
                    </a:solidFill>
                  </a:tcPr>
                </a:tc>
                <a:extLst>
                  <a:ext uri="{0D108BD9-81ED-4DB2-BD59-A6C34878D82A}">
                    <a16:rowId xmlns:a16="http://schemas.microsoft.com/office/drawing/2014/main" val="10011"/>
                  </a:ext>
                </a:extLst>
              </a:tr>
              <a:tr h="192272">
                <a:tc>
                  <a:txBody>
                    <a:bodyPr/>
                    <a:lstStyle/>
                    <a:p>
                      <a:pPr marL="0" indent="0" algn="l">
                        <a:buNone/>
                      </a:pPr>
                      <a:endParaRPr lang="en-US" sz="900" dirty="0"/>
                    </a:p>
                  </a:txBody>
                  <a:tcPr marL="50800" marR="50800" marT="25400" marB="25400" anchor="ctr">
                    <a:solidFill>
                      <a:schemeClr val="bg1"/>
                    </a:solidFill>
                  </a:tcPr>
                </a:tc>
                <a:tc>
                  <a:txBody>
                    <a:bodyPr/>
                    <a:lstStyle/>
                    <a:p>
                      <a:pPr marL="0" indent="0" algn="r">
                        <a:buNone/>
                      </a:pPr>
                      <a:endParaRPr lang="en-US" sz="900" dirty="0"/>
                    </a:p>
                  </a:txBody>
                  <a:tcPr marL="50800" marR="50800" marT="25400" marB="25400" anchor="ctr">
                    <a:solidFill>
                      <a:schemeClr val="bg1"/>
                    </a:solidFill>
                  </a:tcPr>
                </a:tc>
                <a:tc>
                  <a:txBody>
                    <a:bodyPr/>
                    <a:lstStyle/>
                    <a:p>
                      <a:pPr marL="0" indent="0" algn="r">
                        <a:buNone/>
                      </a:pPr>
                      <a:endParaRPr lang="en-US" sz="900" dirty="0"/>
                    </a:p>
                  </a:txBody>
                  <a:tcPr marL="50800" marR="50800" marT="25400" marB="25400" anchor="ctr">
                    <a:solidFill>
                      <a:schemeClr val="bg1"/>
                    </a:solidFill>
                  </a:tcPr>
                </a:tc>
                <a:tc>
                  <a:txBody>
                    <a:bodyPr/>
                    <a:lstStyle/>
                    <a:p>
                      <a:pPr marL="0" indent="0" algn="r">
                        <a:buNone/>
                      </a:pPr>
                      <a:endParaRPr lang="en-US" sz="900" dirty="0"/>
                    </a:p>
                  </a:txBody>
                  <a:tcPr marL="50800" marR="50800" marT="25400" marB="25400" anchor="ctr">
                    <a:solidFill>
                      <a:schemeClr val="bg1"/>
                    </a:solidFill>
                  </a:tcPr>
                </a:tc>
                <a:tc>
                  <a:txBody>
                    <a:bodyPr/>
                    <a:lstStyle/>
                    <a:p>
                      <a:pPr marL="0" indent="0" algn="r">
                        <a:buNone/>
                      </a:pPr>
                      <a:endParaRPr lang="en-US" sz="900" dirty="0"/>
                    </a:p>
                  </a:txBody>
                  <a:tcPr marL="50800" marR="50800" marT="25400" marB="25400" anchor="ctr">
                    <a:solidFill>
                      <a:schemeClr val="bg1"/>
                    </a:solidFill>
                  </a:tcPr>
                </a:tc>
                <a:tc>
                  <a:txBody>
                    <a:bodyPr/>
                    <a:lstStyle/>
                    <a:p>
                      <a:pPr marL="0" indent="0" algn="r">
                        <a:buNone/>
                      </a:pPr>
                      <a:endParaRPr lang="en-US" sz="900" dirty="0"/>
                    </a:p>
                  </a:txBody>
                  <a:tcPr marL="50800" marR="50800" marT="25400" marB="25400" anchor="ctr">
                    <a:solidFill>
                      <a:schemeClr val="bg1"/>
                    </a:solidFill>
                  </a:tcPr>
                </a:tc>
                <a:tc>
                  <a:txBody>
                    <a:bodyPr/>
                    <a:lstStyle/>
                    <a:p>
                      <a:pPr marL="0" indent="0" algn="r">
                        <a:buNone/>
                      </a:pPr>
                      <a:endParaRPr lang="en-US" sz="900" dirty="0"/>
                    </a:p>
                  </a:txBody>
                  <a:tcPr marL="50800" marR="50800" marT="25400" marB="25400" anchor="ctr">
                    <a:solidFill>
                      <a:schemeClr val="bg1"/>
                    </a:solidFill>
                  </a:tcPr>
                </a:tc>
                <a:tc>
                  <a:txBody>
                    <a:bodyPr/>
                    <a:lstStyle/>
                    <a:p>
                      <a:pPr marL="0" indent="0" algn="r">
                        <a:buNone/>
                      </a:pPr>
                      <a:endParaRPr lang="en-US" sz="900" dirty="0"/>
                    </a:p>
                  </a:txBody>
                  <a:tcPr marL="50800" marR="50800" marT="25400" marB="25400" anchor="ctr">
                    <a:solidFill>
                      <a:schemeClr val="bg1"/>
                    </a:solidFill>
                  </a:tcPr>
                </a:tc>
                <a:tc>
                  <a:txBody>
                    <a:bodyPr/>
                    <a:lstStyle/>
                    <a:p>
                      <a:pPr marL="0" indent="0" algn="r">
                        <a:buNone/>
                      </a:pPr>
                      <a:endParaRPr lang="en-US" sz="900" dirty="0"/>
                    </a:p>
                  </a:txBody>
                  <a:tcPr marL="50800" marR="50800" marT="25400" marB="25400" anchor="ctr">
                    <a:solidFill>
                      <a:schemeClr val="bg1"/>
                    </a:solidFill>
                  </a:tcPr>
                </a:tc>
                <a:extLst>
                  <a:ext uri="{0D108BD9-81ED-4DB2-BD59-A6C34878D82A}">
                    <a16:rowId xmlns:a16="http://schemas.microsoft.com/office/drawing/2014/main" val="1300076127"/>
                  </a:ext>
                </a:extLst>
              </a:tr>
              <a:tr h="192272">
                <a:tc>
                  <a:txBody>
                    <a:bodyPr/>
                    <a:lstStyle/>
                    <a:p>
                      <a:pPr marL="0" indent="0" algn="l">
                        <a:buNone/>
                      </a:pPr>
                      <a:r>
                        <a:rPr lang="en-US" sz="900" b="1" dirty="0">
                          <a:solidFill>
                            <a:srgbClr val="0B2545"/>
                          </a:solidFill>
                        </a:rPr>
                        <a:t>Financing Activities</a:t>
                      </a:r>
                      <a:endParaRPr lang="en-US" sz="900" dirty="0"/>
                    </a:p>
                  </a:txBody>
                  <a:tcPr marL="50800" marR="50800" marT="25400" marB="25400" anchor="ctr">
                    <a:solidFill>
                      <a:srgbClr val="E36B0C"/>
                    </a:solidFill>
                  </a:tcPr>
                </a:tc>
                <a:tc>
                  <a:txBody>
                    <a:bodyPr/>
                    <a:lstStyle/>
                    <a:p>
                      <a:pPr marL="0" indent="0" algn="r">
                        <a:buNone/>
                      </a:pPr>
                      <a:endParaRPr lang="en-US" sz="900" dirty="0"/>
                    </a:p>
                  </a:txBody>
                  <a:tcPr marL="50800" marR="50800" marT="25400" marB="25400" anchor="ctr">
                    <a:solidFill>
                      <a:srgbClr val="E36B0C"/>
                    </a:solidFill>
                  </a:tcPr>
                </a:tc>
                <a:tc>
                  <a:txBody>
                    <a:bodyPr/>
                    <a:lstStyle/>
                    <a:p>
                      <a:pPr marL="0" indent="0" algn="r">
                        <a:buNone/>
                      </a:pPr>
                      <a:endParaRPr lang="en-US" sz="900" dirty="0"/>
                    </a:p>
                  </a:txBody>
                  <a:tcPr marL="50800" marR="50800" marT="25400" marB="25400" anchor="ctr">
                    <a:solidFill>
                      <a:srgbClr val="E36B0C"/>
                    </a:solidFill>
                  </a:tcPr>
                </a:tc>
                <a:tc>
                  <a:txBody>
                    <a:bodyPr/>
                    <a:lstStyle/>
                    <a:p>
                      <a:pPr marL="0" indent="0" algn="r">
                        <a:buNone/>
                      </a:pPr>
                      <a:endParaRPr lang="en-US" sz="900" dirty="0"/>
                    </a:p>
                  </a:txBody>
                  <a:tcPr marL="50800" marR="50800" marT="25400" marB="25400" anchor="ctr">
                    <a:solidFill>
                      <a:srgbClr val="E36B0C"/>
                    </a:solidFill>
                  </a:tcPr>
                </a:tc>
                <a:tc>
                  <a:txBody>
                    <a:bodyPr/>
                    <a:lstStyle/>
                    <a:p>
                      <a:pPr marL="0" indent="0" algn="r">
                        <a:buNone/>
                      </a:pPr>
                      <a:endParaRPr lang="en-US" sz="900" dirty="0"/>
                    </a:p>
                  </a:txBody>
                  <a:tcPr marL="50800" marR="50800" marT="25400" marB="25400" anchor="ctr">
                    <a:solidFill>
                      <a:srgbClr val="E36B0C"/>
                    </a:solidFill>
                  </a:tcPr>
                </a:tc>
                <a:tc>
                  <a:txBody>
                    <a:bodyPr/>
                    <a:lstStyle/>
                    <a:p>
                      <a:pPr marL="0" indent="0" algn="r">
                        <a:buNone/>
                      </a:pPr>
                      <a:endParaRPr lang="en-US" sz="900" dirty="0"/>
                    </a:p>
                  </a:txBody>
                  <a:tcPr marL="50800" marR="50800" marT="25400" marB="25400" anchor="ctr">
                    <a:solidFill>
                      <a:srgbClr val="E36B0C"/>
                    </a:solidFill>
                  </a:tcPr>
                </a:tc>
                <a:tc>
                  <a:txBody>
                    <a:bodyPr/>
                    <a:lstStyle/>
                    <a:p>
                      <a:pPr marL="0" indent="0" algn="r">
                        <a:buNone/>
                      </a:pPr>
                      <a:endParaRPr lang="en-US" sz="900" dirty="0"/>
                    </a:p>
                  </a:txBody>
                  <a:tcPr marL="50800" marR="50800" marT="25400" marB="25400" anchor="ctr">
                    <a:solidFill>
                      <a:srgbClr val="E36B0C"/>
                    </a:solidFill>
                  </a:tcPr>
                </a:tc>
                <a:tc>
                  <a:txBody>
                    <a:bodyPr/>
                    <a:lstStyle/>
                    <a:p>
                      <a:pPr marL="0" indent="0" algn="r">
                        <a:buNone/>
                      </a:pPr>
                      <a:endParaRPr lang="en-US" sz="900" dirty="0"/>
                    </a:p>
                  </a:txBody>
                  <a:tcPr marL="50800" marR="50800" marT="25400" marB="25400" anchor="ctr">
                    <a:solidFill>
                      <a:srgbClr val="E36B0C"/>
                    </a:solidFill>
                  </a:tcPr>
                </a:tc>
                <a:tc>
                  <a:txBody>
                    <a:bodyPr/>
                    <a:lstStyle/>
                    <a:p>
                      <a:pPr marL="0" indent="0" algn="r">
                        <a:buNone/>
                      </a:pPr>
                      <a:endParaRPr lang="en-US" sz="900" dirty="0"/>
                    </a:p>
                  </a:txBody>
                  <a:tcPr marL="50800" marR="50800" marT="25400" marB="25400" anchor="ctr">
                    <a:solidFill>
                      <a:srgbClr val="E36B0C"/>
                    </a:solidFill>
                  </a:tcPr>
                </a:tc>
                <a:extLst>
                  <a:ext uri="{0D108BD9-81ED-4DB2-BD59-A6C34878D82A}">
                    <a16:rowId xmlns:a16="http://schemas.microsoft.com/office/drawing/2014/main" val="10012"/>
                  </a:ext>
                </a:extLst>
              </a:tr>
              <a:tr h="332579">
                <a:tc>
                  <a:txBody>
                    <a:bodyPr/>
                    <a:lstStyle/>
                    <a:p>
                      <a:pPr marL="0" indent="0" algn="l">
                        <a:buNone/>
                      </a:pPr>
                      <a:r>
                        <a:rPr lang="en-US" sz="900" dirty="0">
                          <a:solidFill>
                            <a:srgbClr val="1A1A1A"/>
                          </a:solidFill>
                        </a:rPr>
                        <a:t>Net borrowings (proceeds/repay.)</a:t>
                      </a:r>
                      <a:endParaRPr lang="en-US" sz="900" dirty="0"/>
                    </a:p>
                  </a:txBody>
                  <a:tcPr marL="50800" marR="50800" marT="25400" marB="25400" anchor="ctr"/>
                </a:tc>
                <a:tc>
                  <a:txBody>
                    <a:bodyPr/>
                    <a:lstStyle/>
                    <a:p>
                      <a:pPr marL="0" indent="0" algn="r">
                        <a:buNone/>
                      </a:pPr>
                      <a:r>
                        <a:rPr lang="en-US" sz="900" dirty="0">
                          <a:solidFill>
                            <a:srgbClr val="1A1A1A"/>
                          </a:solidFill>
                        </a:rPr>
                        <a:t>587.6</a:t>
                      </a:r>
                      <a:endParaRPr lang="en-US" sz="900" dirty="0"/>
                    </a:p>
                  </a:txBody>
                  <a:tcPr marL="50800" marR="50800" marT="25400" marB="25400" anchor="ctr"/>
                </a:tc>
                <a:tc>
                  <a:txBody>
                    <a:bodyPr/>
                    <a:lstStyle/>
                    <a:p>
                      <a:pPr marL="0" indent="0" algn="r">
                        <a:buNone/>
                      </a:pPr>
                      <a:r>
                        <a:rPr lang="en-US" sz="900" dirty="0">
                          <a:solidFill>
                            <a:srgbClr val="1A1A1A"/>
                          </a:solidFill>
                        </a:rPr>
                        <a:t>(237.2)</a:t>
                      </a:r>
                      <a:endParaRPr lang="en-US" sz="900" dirty="0"/>
                    </a:p>
                  </a:txBody>
                  <a:tcPr marL="50800" marR="50800" marT="25400" marB="25400" anchor="ctr"/>
                </a:tc>
                <a:tc>
                  <a:txBody>
                    <a:bodyPr/>
                    <a:lstStyle/>
                    <a:p>
                      <a:pPr marL="0" indent="0" algn="r">
                        <a:buNone/>
                      </a:pPr>
                      <a:r>
                        <a:rPr lang="en-US" sz="900" dirty="0">
                          <a:solidFill>
                            <a:srgbClr val="1A1A1A"/>
                          </a:solidFill>
                        </a:rPr>
                        <a:t>(3,123.0)</a:t>
                      </a:r>
                      <a:endParaRPr lang="en-US" sz="900" dirty="0"/>
                    </a:p>
                  </a:txBody>
                  <a:tcPr marL="50800" marR="50800" marT="25400" marB="25400" anchor="ctr"/>
                </a:tc>
                <a:tc>
                  <a:txBody>
                    <a:bodyPr/>
                    <a:lstStyle/>
                    <a:p>
                      <a:pPr marL="0" indent="0" algn="r">
                        <a:buNone/>
                      </a:pPr>
                      <a:r>
                        <a:rPr lang="en-US" sz="900" dirty="0">
                          <a:solidFill>
                            <a:srgbClr val="1A1A1A"/>
                          </a:solidFill>
                        </a:rPr>
                        <a:t>(4,489.6)</a:t>
                      </a:r>
                      <a:endParaRPr lang="en-US" sz="900" dirty="0"/>
                    </a:p>
                  </a:txBody>
                  <a:tcPr marL="50800" marR="50800" marT="25400" marB="25400" anchor="ctr"/>
                </a:tc>
                <a:tc>
                  <a:txBody>
                    <a:bodyPr/>
                    <a:lstStyle/>
                    <a:p>
                      <a:pPr marL="0" indent="0" algn="r">
                        <a:buNone/>
                      </a:pPr>
                      <a:r>
                        <a:rPr lang="en-US" sz="900" dirty="0">
                          <a:solidFill>
                            <a:srgbClr val="1A1A1A"/>
                          </a:solidFill>
                        </a:rPr>
                        <a:t>(2,765.4)</a:t>
                      </a:r>
                      <a:endParaRPr lang="en-US" sz="900" dirty="0"/>
                    </a:p>
                  </a:txBody>
                  <a:tcPr marL="50800" marR="50800" marT="25400" marB="25400" anchor="ctr"/>
                </a:tc>
                <a:tc>
                  <a:txBody>
                    <a:bodyPr/>
                    <a:lstStyle/>
                    <a:p>
                      <a:pPr marL="0" indent="0" algn="r">
                        <a:buNone/>
                      </a:pPr>
                      <a:r>
                        <a:rPr lang="en-US" sz="900" dirty="0">
                          <a:solidFill>
                            <a:srgbClr val="1A1A1A"/>
                          </a:solidFill>
                        </a:rPr>
                        <a:t>5,028.3</a:t>
                      </a:r>
                      <a:endParaRPr lang="en-US" sz="900" dirty="0"/>
                    </a:p>
                  </a:txBody>
                  <a:tcPr marL="50800" marR="50800" marT="25400" marB="25400" anchor="ctr"/>
                </a:tc>
                <a:tc>
                  <a:txBody>
                    <a:bodyPr/>
                    <a:lstStyle/>
                    <a:p>
                      <a:pPr marL="0" indent="0" algn="r">
                        <a:buNone/>
                      </a:pPr>
                      <a:r>
                        <a:rPr lang="en-US" sz="900" dirty="0">
                          <a:solidFill>
                            <a:srgbClr val="1A1A1A"/>
                          </a:solidFill>
                        </a:rPr>
                        <a:t>(3,513.0)</a:t>
                      </a:r>
                      <a:endParaRPr lang="en-US" sz="900" dirty="0"/>
                    </a:p>
                  </a:txBody>
                  <a:tcPr marL="50800" marR="50800" marT="25400" marB="25400" anchor="ctr"/>
                </a:tc>
                <a:tc>
                  <a:txBody>
                    <a:bodyPr/>
                    <a:lstStyle/>
                    <a:p>
                      <a:pPr marL="0" indent="0" algn="r">
                        <a:buNone/>
                      </a:pPr>
                      <a:r>
                        <a:rPr lang="en-US" sz="900" dirty="0">
                          <a:solidFill>
                            <a:srgbClr val="1A1A1A"/>
                          </a:solidFill>
                        </a:rPr>
                        <a:t>(1,164.9)</a:t>
                      </a:r>
                      <a:endParaRPr lang="en-US" sz="900" dirty="0"/>
                    </a:p>
                  </a:txBody>
                  <a:tcPr marL="50800" marR="50800" marT="25400" marB="25400" anchor="ctr"/>
                </a:tc>
                <a:extLst>
                  <a:ext uri="{0D108BD9-81ED-4DB2-BD59-A6C34878D82A}">
                    <a16:rowId xmlns:a16="http://schemas.microsoft.com/office/drawing/2014/main" val="10013"/>
                  </a:ext>
                </a:extLst>
              </a:tr>
              <a:tr h="192272">
                <a:tc>
                  <a:txBody>
                    <a:bodyPr/>
                    <a:lstStyle/>
                    <a:p>
                      <a:pPr marL="0" indent="0" algn="l">
                        <a:buNone/>
                      </a:pPr>
                      <a:r>
                        <a:rPr lang="en-US" sz="900" dirty="0">
                          <a:solidFill>
                            <a:srgbClr val="1A1A1A"/>
                          </a:solidFill>
                        </a:rPr>
                        <a:t>Finance costs paid</a:t>
                      </a:r>
                      <a:endParaRPr lang="en-US" sz="900" dirty="0"/>
                    </a:p>
                  </a:txBody>
                  <a:tcPr marL="50800" marR="50800" marT="25400" marB="25400" anchor="ctr"/>
                </a:tc>
                <a:tc>
                  <a:txBody>
                    <a:bodyPr/>
                    <a:lstStyle/>
                    <a:p>
                      <a:pPr marL="0" indent="0" algn="r">
                        <a:buNone/>
                      </a:pPr>
                      <a:r>
                        <a:rPr lang="en-US" sz="900" dirty="0">
                          <a:solidFill>
                            <a:srgbClr val="1A1A1A"/>
                          </a:solidFill>
                        </a:rPr>
                        <a:t>(476.5)</a:t>
                      </a:r>
                      <a:endParaRPr lang="en-US" sz="900" dirty="0"/>
                    </a:p>
                  </a:txBody>
                  <a:tcPr marL="50800" marR="50800" marT="25400" marB="25400" anchor="ctr"/>
                </a:tc>
                <a:tc>
                  <a:txBody>
                    <a:bodyPr/>
                    <a:lstStyle/>
                    <a:p>
                      <a:pPr marL="0" indent="0" algn="r">
                        <a:buNone/>
                      </a:pPr>
                      <a:r>
                        <a:rPr lang="en-US" sz="900" dirty="0">
                          <a:solidFill>
                            <a:srgbClr val="1A1A1A"/>
                          </a:solidFill>
                        </a:rPr>
                        <a:t>(460.7)</a:t>
                      </a:r>
                      <a:endParaRPr lang="en-US" sz="900" dirty="0"/>
                    </a:p>
                  </a:txBody>
                  <a:tcPr marL="50800" marR="50800" marT="25400" marB="25400" anchor="ctr"/>
                </a:tc>
                <a:tc>
                  <a:txBody>
                    <a:bodyPr/>
                    <a:lstStyle/>
                    <a:p>
                      <a:pPr marL="0" indent="0" algn="r">
                        <a:buNone/>
                      </a:pPr>
                      <a:r>
                        <a:rPr lang="en-US" sz="900" dirty="0">
                          <a:solidFill>
                            <a:srgbClr val="1A1A1A"/>
                          </a:solidFill>
                        </a:rPr>
                        <a:t>(271.9)</a:t>
                      </a:r>
                      <a:endParaRPr lang="en-US" sz="900" dirty="0"/>
                    </a:p>
                  </a:txBody>
                  <a:tcPr marL="50800" marR="50800" marT="25400" marB="25400" anchor="ctr"/>
                </a:tc>
                <a:tc>
                  <a:txBody>
                    <a:bodyPr/>
                    <a:lstStyle/>
                    <a:p>
                      <a:pPr marL="0" indent="0" algn="r">
                        <a:buNone/>
                      </a:pPr>
                      <a:r>
                        <a:rPr lang="en-US" sz="900" dirty="0">
                          <a:solidFill>
                            <a:srgbClr val="1A1A1A"/>
                          </a:solidFill>
                        </a:rPr>
                        <a:t>(144.3)</a:t>
                      </a:r>
                      <a:endParaRPr lang="en-US" sz="900" dirty="0"/>
                    </a:p>
                  </a:txBody>
                  <a:tcPr marL="50800" marR="50800" marT="25400" marB="25400" anchor="ctr"/>
                </a:tc>
                <a:tc>
                  <a:txBody>
                    <a:bodyPr/>
                    <a:lstStyle/>
                    <a:p>
                      <a:pPr marL="0" indent="0" algn="r">
                        <a:buNone/>
                      </a:pPr>
                      <a:r>
                        <a:rPr lang="en-US" sz="900" dirty="0">
                          <a:solidFill>
                            <a:srgbClr val="1A1A1A"/>
                          </a:solidFill>
                        </a:rPr>
                        <a:t>(73.2)</a:t>
                      </a:r>
                      <a:endParaRPr lang="en-US" sz="900" dirty="0"/>
                    </a:p>
                  </a:txBody>
                  <a:tcPr marL="50800" marR="50800" marT="25400" marB="25400" anchor="ctr"/>
                </a:tc>
                <a:tc>
                  <a:txBody>
                    <a:bodyPr/>
                    <a:lstStyle/>
                    <a:p>
                      <a:pPr marL="0" indent="0" algn="r">
                        <a:buNone/>
                      </a:pPr>
                      <a:r>
                        <a:rPr lang="en-US" sz="900" dirty="0">
                          <a:solidFill>
                            <a:srgbClr val="1A1A1A"/>
                          </a:solidFill>
                        </a:rPr>
                        <a:t>(132.5)</a:t>
                      </a:r>
                      <a:endParaRPr lang="en-US" sz="900" dirty="0"/>
                    </a:p>
                  </a:txBody>
                  <a:tcPr marL="50800" marR="50800" marT="25400" marB="25400" anchor="ctr"/>
                </a:tc>
                <a:tc>
                  <a:txBody>
                    <a:bodyPr/>
                    <a:lstStyle/>
                    <a:p>
                      <a:pPr marL="0" indent="0" algn="r">
                        <a:buNone/>
                      </a:pPr>
                      <a:r>
                        <a:rPr lang="en-US" sz="900" dirty="0">
                          <a:solidFill>
                            <a:srgbClr val="1A1A1A"/>
                          </a:solidFill>
                        </a:rPr>
                        <a:t>(219.0)</a:t>
                      </a:r>
                      <a:endParaRPr lang="en-US" sz="900" dirty="0"/>
                    </a:p>
                  </a:txBody>
                  <a:tcPr marL="50800" marR="50800" marT="25400" marB="25400" anchor="ctr"/>
                </a:tc>
                <a:tc>
                  <a:txBody>
                    <a:bodyPr/>
                    <a:lstStyle/>
                    <a:p>
                      <a:pPr marL="0" indent="0" algn="r">
                        <a:buNone/>
                      </a:pPr>
                      <a:r>
                        <a:rPr lang="en-US" sz="900" dirty="0">
                          <a:solidFill>
                            <a:srgbClr val="1A1A1A"/>
                          </a:solidFill>
                        </a:rPr>
                        <a:t>(223.8)</a:t>
                      </a:r>
                      <a:endParaRPr lang="en-US" sz="900" dirty="0"/>
                    </a:p>
                  </a:txBody>
                  <a:tcPr marL="50800" marR="50800" marT="25400" marB="25400" anchor="ctr"/>
                </a:tc>
                <a:extLst>
                  <a:ext uri="{0D108BD9-81ED-4DB2-BD59-A6C34878D82A}">
                    <a16:rowId xmlns:a16="http://schemas.microsoft.com/office/drawing/2014/main" val="10014"/>
                  </a:ext>
                </a:extLst>
              </a:tr>
              <a:tr h="192272">
                <a:tc>
                  <a:txBody>
                    <a:bodyPr/>
                    <a:lstStyle/>
                    <a:p>
                      <a:pPr marL="0" indent="0" algn="l">
                        <a:buNone/>
                      </a:pPr>
                      <a:r>
                        <a:rPr lang="en-US" sz="900" dirty="0">
                          <a:solidFill>
                            <a:srgbClr val="1A1A1A"/>
                          </a:solidFill>
                        </a:rPr>
                        <a:t>Dividends paid</a:t>
                      </a:r>
                      <a:endParaRPr lang="en-US" sz="900" dirty="0"/>
                    </a:p>
                  </a:txBody>
                  <a:tcPr marL="50800" marR="50800" marT="25400" marB="25400" anchor="ctr"/>
                </a:tc>
                <a:tc>
                  <a:txBody>
                    <a:bodyPr/>
                    <a:lstStyle/>
                    <a:p>
                      <a:pPr marL="0" indent="0" algn="r">
                        <a:buNone/>
                      </a:pPr>
                      <a:r>
                        <a:rPr lang="en-US" sz="900" dirty="0">
                          <a:solidFill>
                            <a:srgbClr val="1A1A1A"/>
                          </a:solidFill>
                        </a:rPr>
                        <a:t>(975.8)</a:t>
                      </a:r>
                      <a:endParaRPr lang="en-US" sz="900" dirty="0"/>
                    </a:p>
                  </a:txBody>
                  <a:tcPr marL="50800" marR="50800" marT="25400" marB="25400" anchor="ctr"/>
                </a:tc>
                <a:tc>
                  <a:txBody>
                    <a:bodyPr/>
                    <a:lstStyle/>
                    <a:p>
                      <a:pPr marL="0" indent="0" algn="r">
                        <a:buNone/>
                      </a:pPr>
                      <a:r>
                        <a:rPr lang="en-US" sz="900" dirty="0">
                          <a:solidFill>
                            <a:srgbClr val="1A1A1A"/>
                          </a:solidFill>
                        </a:rPr>
                        <a:t>(1,424.2)</a:t>
                      </a:r>
                      <a:endParaRPr lang="en-US" sz="900" dirty="0"/>
                    </a:p>
                  </a:txBody>
                  <a:tcPr marL="50800" marR="50800" marT="25400" marB="25400" anchor="ctr"/>
                </a:tc>
                <a:tc>
                  <a:txBody>
                    <a:bodyPr/>
                    <a:lstStyle/>
                    <a:p>
                      <a:pPr marL="0" indent="0" algn="r">
                        <a:buNone/>
                      </a:pPr>
                      <a:r>
                        <a:rPr lang="en-US" sz="900" dirty="0">
                          <a:solidFill>
                            <a:srgbClr val="1A1A1A"/>
                          </a:solidFill>
                        </a:rPr>
                        <a:t>(1,682.8)</a:t>
                      </a:r>
                      <a:endParaRPr lang="en-US" sz="900" dirty="0"/>
                    </a:p>
                  </a:txBody>
                  <a:tcPr marL="50800" marR="50800" marT="25400" marB="25400" anchor="ctr"/>
                </a:tc>
                <a:tc>
                  <a:txBody>
                    <a:bodyPr/>
                    <a:lstStyle/>
                    <a:p>
                      <a:pPr marL="0" indent="0" algn="r">
                        <a:buNone/>
                      </a:pPr>
                      <a:r>
                        <a:rPr lang="en-US" sz="900" dirty="0">
                          <a:solidFill>
                            <a:srgbClr val="1A1A1A"/>
                          </a:solidFill>
                        </a:rPr>
                        <a:t>(1,586.2)</a:t>
                      </a:r>
                      <a:endParaRPr lang="en-US" sz="900" dirty="0"/>
                    </a:p>
                  </a:txBody>
                  <a:tcPr marL="50800" marR="50800" marT="25400" marB="25400" anchor="ctr"/>
                </a:tc>
                <a:tc>
                  <a:txBody>
                    <a:bodyPr/>
                    <a:lstStyle/>
                    <a:p>
                      <a:pPr marL="0" indent="0" algn="r">
                        <a:buNone/>
                      </a:pPr>
                      <a:r>
                        <a:rPr lang="en-US" sz="900" dirty="0">
                          <a:solidFill>
                            <a:srgbClr val="1A1A1A"/>
                          </a:solidFill>
                        </a:rPr>
                        <a:t>(2,169.2)</a:t>
                      </a:r>
                      <a:endParaRPr lang="en-US" sz="900" dirty="0"/>
                    </a:p>
                  </a:txBody>
                  <a:tcPr marL="50800" marR="50800" marT="25400" marB="25400" anchor="ctr"/>
                </a:tc>
                <a:tc>
                  <a:txBody>
                    <a:bodyPr/>
                    <a:lstStyle/>
                    <a:p>
                      <a:pPr marL="0" indent="0" algn="r">
                        <a:buNone/>
                      </a:pPr>
                      <a:r>
                        <a:rPr lang="en-US" sz="900" dirty="0">
                          <a:solidFill>
                            <a:srgbClr val="1A1A1A"/>
                          </a:solidFill>
                        </a:rPr>
                        <a:t>(2,519.7)</a:t>
                      </a:r>
                      <a:endParaRPr lang="en-US" sz="900" dirty="0"/>
                    </a:p>
                  </a:txBody>
                  <a:tcPr marL="50800" marR="50800" marT="25400" marB="25400" anchor="ctr"/>
                </a:tc>
                <a:tc>
                  <a:txBody>
                    <a:bodyPr/>
                    <a:lstStyle/>
                    <a:p>
                      <a:pPr marL="0" indent="0" algn="r">
                        <a:buNone/>
                      </a:pPr>
                      <a:r>
                        <a:rPr lang="en-US" sz="900" dirty="0">
                          <a:solidFill>
                            <a:srgbClr val="1A1A1A"/>
                          </a:solidFill>
                        </a:rPr>
                        <a:t>(2,900.7)</a:t>
                      </a:r>
                      <a:endParaRPr lang="en-US" sz="900" dirty="0"/>
                    </a:p>
                  </a:txBody>
                  <a:tcPr marL="50800" marR="50800" marT="25400" marB="25400" anchor="ctr"/>
                </a:tc>
                <a:tc>
                  <a:txBody>
                    <a:bodyPr/>
                    <a:lstStyle/>
                    <a:p>
                      <a:pPr marL="0" indent="0" algn="r">
                        <a:buNone/>
                      </a:pPr>
                      <a:r>
                        <a:rPr lang="en-US" sz="900" dirty="0">
                          <a:solidFill>
                            <a:srgbClr val="1A1A1A"/>
                          </a:solidFill>
                        </a:rPr>
                        <a:t>(3,617.3)</a:t>
                      </a:r>
                      <a:endParaRPr lang="en-US" sz="900" dirty="0"/>
                    </a:p>
                  </a:txBody>
                  <a:tcPr marL="50800" marR="50800" marT="25400" marB="25400" anchor="ctr"/>
                </a:tc>
                <a:extLst>
                  <a:ext uri="{0D108BD9-81ED-4DB2-BD59-A6C34878D82A}">
                    <a16:rowId xmlns:a16="http://schemas.microsoft.com/office/drawing/2014/main" val="10015"/>
                  </a:ext>
                </a:extLst>
              </a:tr>
              <a:tr h="192272">
                <a:tc>
                  <a:txBody>
                    <a:bodyPr/>
                    <a:lstStyle/>
                    <a:p>
                      <a:pPr marL="0" indent="0" algn="l">
                        <a:buNone/>
                      </a:pPr>
                      <a:r>
                        <a:rPr lang="en-US" sz="900" dirty="0">
                          <a:solidFill>
                            <a:srgbClr val="1A1A1A"/>
                          </a:solidFill>
                        </a:rPr>
                        <a:t>Other financing items, net</a:t>
                      </a:r>
                      <a:endParaRPr lang="en-US" sz="900" dirty="0"/>
                    </a:p>
                  </a:txBody>
                  <a:tcPr marL="50800" marR="50800" marT="25400" marB="25400" anchor="ctr"/>
                </a:tc>
                <a:tc>
                  <a:txBody>
                    <a:bodyPr/>
                    <a:lstStyle/>
                    <a:p>
                      <a:pPr marL="0" indent="0" algn="r">
                        <a:buNone/>
                      </a:pPr>
                      <a:r>
                        <a:rPr lang="en-US" sz="900" dirty="0">
                          <a:solidFill>
                            <a:srgbClr val="1A1A1A"/>
                          </a:solidFill>
                        </a:rPr>
                        <a:t>(674.5)</a:t>
                      </a:r>
                      <a:endParaRPr lang="en-US" sz="900" dirty="0"/>
                    </a:p>
                  </a:txBody>
                  <a:tcPr marL="50800" marR="50800" marT="25400" marB="25400" anchor="ctr"/>
                </a:tc>
                <a:tc>
                  <a:txBody>
                    <a:bodyPr/>
                    <a:lstStyle/>
                    <a:p>
                      <a:pPr marL="0" indent="0" algn="r">
                        <a:buNone/>
                      </a:pPr>
                      <a:r>
                        <a:rPr lang="en-US" sz="900" dirty="0">
                          <a:solidFill>
                            <a:srgbClr val="1A1A1A"/>
                          </a:solidFill>
                        </a:rPr>
                        <a:t>(608.4)</a:t>
                      </a:r>
                      <a:endParaRPr lang="en-US" sz="900" dirty="0"/>
                    </a:p>
                  </a:txBody>
                  <a:tcPr marL="50800" marR="50800" marT="25400" marB="25400" anchor="ctr"/>
                </a:tc>
                <a:tc>
                  <a:txBody>
                    <a:bodyPr/>
                    <a:lstStyle/>
                    <a:p>
                      <a:pPr marL="0" indent="0" algn="r">
                        <a:buNone/>
                      </a:pPr>
                      <a:r>
                        <a:rPr lang="en-US" sz="900" dirty="0">
                          <a:solidFill>
                            <a:srgbClr val="1A1A1A"/>
                          </a:solidFill>
                        </a:rPr>
                        <a:t>(637.5)</a:t>
                      </a:r>
                      <a:endParaRPr lang="en-US" sz="900" dirty="0"/>
                    </a:p>
                  </a:txBody>
                  <a:tcPr marL="50800" marR="50800" marT="25400" marB="25400" anchor="ctr"/>
                </a:tc>
                <a:tc>
                  <a:txBody>
                    <a:bodyPr/>
                    <a:lstStyle/>
                    <a:p>
                      <a:pPr marL="0" indent="0" algn="r">
                        <a:buNone/>
                      </a:pPr>
                      <a:r>
                        <a:rPr lang="en-US" sz="900" dirty="0">
                          <a:solidFill>
                            <a:srgbClr val="1A1A1A"/>
                          </a:solidFill>
                        </a:rPr>
                        <a:t>239.6</a:t>
                      </a:r>
                      <a:endParaRPr lang="en-US" sz="900" dirty="0"/>
                    </a:p>
                  </a:txBody>
                  <a:tcPr marL="50800" marR="50800" marT="25400" marB="25400" anchor="ctr"/>
                </a:tc>
                <a:tc>
                  <a:txBody>
                    <a:bodyPr/>
                    <a:lstStyle/>
                    <a:p>
                      <a:pPr marL="0" indent="0" algn="r">
                        <a:buNone/>
                      </a:pPr>
                      <a:r>
                        <a:rPr lang="en-US" sz="900" dirty="0">
                          <a:solidFill>
                            <a:srgbClr val="1A1A1A"/>
                          </a:solidFill>
                        </a:rPr>
                        <a:t>(185.7)</a:t>
                      </a:r>
                      <a:endParaRPr lang="en-US" sz="900" dirty="0"/>
                    </a:p>
                  </a:txBody>
                  <a:tcPr marL="50800" marR="50800" marT="25400" marB="25400" anchor="ctr"/>
                </a:tc>
                <a:tc>
                  <a:txBody>
                    <a:bodyPr/>
                    <a:lstStyle/>
                    <a:p>
                      <a:pPr marL="0" indent="0" algn="r">
                        <a:buNone/>
                      </a:pPr>
                      <a:r>
                        <a:rPr lang="en-US" sz="900" dirty="0">
                          <a:solidFill>
                            <a:srgbClr val="1A1A1A"/>
                          </a:solidFill>
                        </a:rPr>
                        <a:t>-</a:t>
                      </a:r>
                      <a:endParaRPr lang="en-US" sz="900" dirty="0"/>
                    </a:p>
                  </a:txBody>
                  <a:tcPr marL="50800" marR="50800" marT="25400" marB="25400" anchor="ctr"/>
                </a:tc>
                <a:tc>
                  <a:txBody>
                    <a:bodyPr/>
                    <a:lstStyle/>
                    <a:p>
                      <a:pPr marL="0" indent="0" algn="r">
                        <a:buNone/>
                      </a:pPr>
                      <a:r>
                        <a:rPr lang="en-US" sz="900" dirty="0">
                          <a:solidFill>
                            <a:srgbClr val="1A1A1A"/>
                          </a:solidFill>
                        </a:rPr>
                        <a:t>(77.4)</a:t>
                      </a:r>
                      <a:endParaRPr lang="en-US" sz="900" dirty="0"/>
                    </a:p>
                  </a:txBody>
                  <a:tcPr marL="50800" marR="50800" marT="25400" marB="25400" anchor="ctr"/>
                </a:tc>
                <a:tc>
                  <a:txBody>
                    <a:bodyPr/>
                    <a:lstStyle/>
                    <a:p>
                      <a:pPr marL="0" indent="0" algn="r">
                        <a:buNone/>
                      </a:pPr>
                      <a:r>
                        <a:rPr lang="en-US" sz="900" dirty="0">
                          <a:solidFill>
                            <a:srgbClr val="1A1A1A"/>
                          </a:solidFill>
                        </a:rPr>
                        <a:t>(2,899.9)</a:t>
                      </a:r>
                      <a:endParaRPr lang="en-US" sz="900" dirty="0"/>
                    </a:p>
                  </a:txBody>
                  <a:tcPr marL="50800" marR="50800" marT="25400" marB="25400" anchor="ctr"/>
                </a:tc>
                <a:extLst>
                  <a:ext uri="{0D108BD9-81ED-4DB2-BD59-A6C34878D82A}">
                    <a16:rowId xmlns:a16="http://schemas.microsoft.com/office/drawing/2014/main" val="10016"/>
                  </a:ext>
                </a:extLst>
              </a:tr>
              <a:tr h="192272">
                <a:tc>
                  <a:txBody>
                    <a:bodyPr/>
                    <a:lstStyle/>
                    <a:p>
                      <a:pPr marL="0" indent="0" algn="l">
                        <a:buNone/>
                      </a:pPr>
                      <a:r>
                        <a:rPr lang="en-US" sz="900" b="1" dirty="0">
                          <a:solidFill>
                            <a:srgbClr val="1A1A1A"/>
                          </a:solidFill>
                        </a:rPr>
                        <a:t>Cash From Financing Activities</a:t>
                      </a:r>
                      <a:endParaRPr lang="en-US" sz="900" dirty="0"/>
                    </a:p>
                  </a:txBody>
                  <a:tcPr marL="50800" marR="50800" marT="25400" marB="25400" anchor="ctr">
                    <a:solidFill>
                      <a:srgbClr val="F5AF80"/>
                    </a:solidFill>
                  </a:tcPr>
                </a:tc>
                <a:tc>
                  <a:txBody>
                    <a:bodyPr/>
                    <a:lstStyle/>
                    <a:p>
                      <a:pPr marL="0" indent="0" algn="r">
                        <a:buNone/>
                      </a:pPr>
                      <a:r>
                        <a:rPr lang="en-US" sz="900" b="1" dirty="0">
                          <a:solidFill>
                            <a:srgbClr val="1A1A1A"/>
                          </a:solidFill>
                        </a:rPr>
                        <a:t>(1,539.3)</a:t>
                      </a:r>
                      <a:endParaRPr lang="en-US" sz="900" dirty="0"/>
                    </a:p>
                  </a:txBody>
                  <a:tcPr marL="50800" marR="50800" marT="25400" marB="25400" anchor="ctr">
                    <a:solidFill>
                      <a:srgbClr val="F5AF80"/>
                    </a:solidFill>
                  </a:tcPr>
                </a:tc>
                <a:tc>
                  <a:txBody>
                    <a:bodyPr/>
                    <a:lstStyle/>
                    <a:p>
                      <a:pPr marL="0" indent="0" algn="r">
                        <a:buNone/>
                      </a:pPr>
                      <a:r>
                        <a:rPr lang="en-US" sz="900" b="1" dirty="0">
                          <a:solidFill>
                            <a:srgbClr val="1A1A1A"/>
                          </a:solidFill>
                        </a:rPr>
                        <a:t>(2,730.5)</a:t>
                      </a:r>
                      <a:endParaRPr lang="en-US" sz="900" dirty="0"/>
                    </a:p>
                  </a:txBody>
                  <a:tcPr marL="50800" marR="50800" marT="25400" marB="25400" anchor="ctr">
                    <a:solidFill>
                      <a:srgbClr val="F5AF80"/>
                    </a:solidFill>
                  </a:tcPr>
                </a:tc>
                <a:tc>
                  <a:txBody>
                    <a:bodyPr/>
                    <a:lstStyle/>
                    <a:p>
                      <a:pPr marL="0" indent="0" algn="r">
                        <a:buNone/>
                      </a:pPr>
                      <a:r>
                        <a:rPr lang="en-US" sz="900" b="1" dirty="0">
                          <a:solidFill>
                            <a:srgbClr val="1A1A1A"/>
                          </a:solidFill>
                        </a:rPr>
                        <a:t>(5,715.1)</a:t>
                      </a:r>
                      <a:endParaRPr lang="en-US" sz="900" dirty="0"/>
                    </a:p>
                  </a:txBody>
                  <a:tcPr marL="50800" marR="50800" marT="25400" marB="25400" anchor="ctr">
                    <a:solidFill>
                      <a:srgbClr val="F5AF80"/>
                    </a:solidFill>
                  </a:tcPr>
                </a:tc>
                <a:tc>
                  <a:txBody>
                    <a:bodyPr/>
                    <a:lstStyle/>
                    <a:p>
                      <a:pPr marL="0" indent="0" algn="r">
                        <a:buNone/>
                      </a:pPr>
                      <a:r>
                        <a:rPr lang="en-US" sz="900" b="1" dirty="0">
                          <a:solidFill>
                            <a:srgbClr val="1A1A1A"/>
                          </a:solidFill>
                        </a:rPr>
                        <a:t>(5,980.5)</a:t>
                      </a:r>
                      <a:endParaRPr lang="en-US" sz="900" dirty="0"/>
                    </a:p>
                  </a:txBody>
                  <a:tcPr marL="50800" marR="50800" marT="25400" marB="25400" anchor="ctr">
                    <a:solidFill>
                      <a:srgbClr val="F5AF80"/>
                    </a:solidFill>
                  </a:tcPr>
                </a:tc>
                <a:tc>
                  <a:txBody>
                    <a:bodyPr/>
                    <a:lstStyle/>
                    <a:p>
                      <a:pPr marL="0" indent="0" algn="r">
                        <a:buNone/>
                      </a:pPr>
                      <a:r>
                        <a:rPr lang="en-US" sz="900" b="1" dirty="0">
                          <a:solidFill>
                            <a:srgbClr val="1A1A1A"/>
                          </a:solidFill>
                        </a:rPr>
                        <a:t>(5,193.5)</a:t>
                      </a:r>
                      <a:endParaRPr lang="en-US" sz="900" dirty="0"/>
                    </a:p>
                  </a:txBody>
                  <a:tcPr marL="50800" marR="50800" marT="25400" marB="25400" anchor="ctr">
                    <a:solidFill>
                      <a:srgbClr val="F5AF80"/>
                    </a:solidFill>
                  </a:tcPr>
                </a:tc>
                <a:tc>
                  <a:txBody>
                    <a:bodyPr/>
                    <a:lstStyle/>
                    <a:p>
                      <a:pPr marL="0" indent="0" algn="r">
                        <a:buNone/>
                      </a:pPr>
                      <a:r>
                        <a:rPr lang="en-US" sz="900" b="1" dirty="0">
                          <a:solidFill>
                            <a:srgbClr val="1A1A1A"/>
                          </a:solidFill>
                        </a:rPr>
                        <a:t>2,376.1</a:t>
                      </a:r>
                      <a:endParaRPr lang="en-US" sz="900" dirty="0"/>
                    </a:p>
                  </a:txBody>
                  <a:tcPr marL="50800" marR="50800" marT="25400" marB="25400" anchor="ctr">
                    <a:solidFill>
                      <a:srgbClr val="F5AF80"/>
                    </a:solidFill>
                  </a:tcPr>
                </a:tc>
                <a:tc>
                  <a:txBody>
                    <a:bodyPr/>
                    <a:lstStyle/>
                    <a:p>
                      <a:pPr marL="0" indent="0" algn="r">
                        <a:buNone/>
                      </a:pPr>
                      <a:r>
                        <a:rPr lang="en-US" sz="900" b="1" dirty="0">
                          <a:solidFill>
                            <a:srgbClr val="1A1A1A"/>
                          </a:solidFill>
                        </a:rPr>
                        <a:t>(6,710.2)</a:t>
                      </a:r>
                      <a:endParaRPr lang="en-US" sz="900" dirty="0"/>
                    </a:p>
                  </a:txBody>
                  <a:tcPr marL="50800" marR="50800" marT="25400" marB="25400" anchor="ctr">
                    <a:solidFill>
                      <a:srgbClr val="F5AF80"/>
                    </a:solidFill>
                  </a:tcPr>
                </a:tc>
                <a:tc>
                  <a:txBody>
                    <a:bodyPr/>
                    <a:lstStyle/>
                    <a:p>
                      <a:pPr marL="0" indent="0" algn="r">
                        <a:buNone/>
                      </a:pPr>
                      <a:r>
                        <a:rPr lang="en-US" sz="900" b="1" dirty="0">
                          <a:solidFill>
                            <a:srgbClr val="1A1A1A"/>
                          </a:solidFill>
                        </a:rPr>
                        <a:t>(7,905.8)</a:t>
                      </a:r>
                      <a:endParaRPr lang="en-US" sz="900" dirty="0"/>
                    </a:p>
                  </a:txBody>
                  <a:tcPr marL="50800" marR="50800" marT="25400" marB="25400" anchor="ctr">
                    <a:solidFill>
                      <a:srgbClr val="F5AF80"/>
                    </a:solidFill>
                  </a:tcPr>
                </a:tc>
                <a:extLst>
                  <a:ext uri="{0D108BD9-81ED-4DB2-BD59-A6C34878D82A}">
                    <a16:rowId xmlns:a16="http://schemas.microsoft.com/office/drawing/2014/main" val="10017"/>
                  </a:ext>
                </a:extLst>
              </a:tr>
              <a:tr h="192272">
                <a:tc>
                  <a:txBody>
                    <a:bodyPr/>
                    <a:lstStyle/>
                    <a:p>
                      <a:pPr marL="0" indent="0" algn="l">
                        <a:buNone/>
                      </a:pPr>
                      <a:r>
                        <a:rPr lang="en-US" sz="900" b="1" dirty="0">
                          <a:solidFill>
                            <a:srgbClr val="1A1A1A"/>
                          </a:solidFill>
                        </a:rPr>
                        <a:t>Net Cash Flow</a:t>
                      </a:r>
                      <a:endParaRPr lang="en-US" sz="900" dirty="0"/>
                    </a:p>
                  </a:txBody>
                  <a:tcPr marL="50800" marR="50800" marT="25400" marB="25400" anchor="ctr">
                    <a:solidFill>
                      <a:srgbClr val="E36B0C"/>
                    </a:solidFill>
                  </a:tcPr>
                </a:tc>
                <a:tc>
                  <a:txBody>
                    <a:bodyPr/>
                    <a:lstStyle/>
                    <a:p>
                      <a:pPr marL="0" indent="0" algn="r">
                        <a:buNone/>
                      </a:pPr>
                      <a:r>
                        <a:rPr lang="en-US" sz="900" b="1" dirty="0">
                          <a:solidFill>
                            <a:srgbClr val="1A1A1A"/>
                          </a:solidFill>
                        </a:rPr>
                        <a:t>(1,002.9)</a:t>
                      </a:r>
                      <a:endParaRPr lang="en-US" sz="900" dirty="0"/>
                    </a:p>
                  </a:txBody>
                  <a:tcPr marL="50800" marR="50800" marT="25400" marB="25400" anchor="ctr">
                    <a:solidFill>
                      <a:srgbClr val="E36B0C"/>
                    </a:solidFill>
                  </a:tcPr>
                </a:tc>
                <a:tc>
                  <a:txBody>
                    <a:bodyPr/>
                    <a:lstStyle/>
                    <a:p>
                      <a:pPr marL="0" indent="0" algn="r">
                        <a:buNone/>
                      </a:pPr>
                      <a:r>
                        <a:rPr lang="en-US" sz="900" b="1" dirty="0">
                          <a:solidFill>
                            <a:srgbClr val="1A1A1A"/>
                          </a:solidFill>
                        </a:rPr>
                        <a:t>(1,215.3)</a:t>
                      </a:r>
                      <a:endParaRPr lang="en-US" sz="900" dirty="0"/>
                    </a:p>
                  </a:txBody>
                  <a:tcPr marL="50800" marR="50800" marT="25400" marB="25400" anchor="ctr">
                    <a:solidFill>
                      <a:srgbClr val="E36B0C"/>
                    </a:solidFill>
                  </a:tcPr>
                </a:tc>
                <a:tc>
                  <a:txBody>
                    <a:bodyPr/>
                    <a:lstStyle/>
                    <a:p>
                      <a:pPr marL="0" indent="0" algn="r">
                        <a:buNone/>
                      </a:pPr>
                      <a:r>
                        <a:rPr lang="en-US" sz="900" b="1" dirty="0">
                          <a:solidFill>
                            <a:srgbClr val="1A1A1A"/>
                          </a:solidFill>
                        </a:rPr>
                        <a:t>(1,749.2)</a:t>
                      </a:r>
                      <a:endParaRPr lang="en-US" sz="900" dirty="0"/>
                    </a:p>
                  </a:txBody>
                  <a:tcPr marL="50800" marR="50800" marT="25400" marB="25400" anchor="ctr">
                    <a:solidFill>
                      <a:srgbClr val="E36B0C"/>
                    </a:solidFill>
                  </a:tcPr>
                </a:tc>
                <a:tc>
                  <a:txBody>
                    <a:bodyPr/>
                    <a:lstStyle/>
                    <a:p>
                      <a:pPr marL="0" indent="0" algn="r">
                        <a:buNone/>
                      </a:pPr>
                      <a:r>
                        <a:rPr lang="en-US" sz="900" b="1" dirty="0">
                          <a:solidFill>
                            <a:srgbClr val="1A1A1A"/>
                          </a:solidFill>
                        </a:rPr>
                        <a:t>726.1</a:t>
                      </a:r>
                      <a:endParaRPr lang="en-US" sz="900" dirty="0"/>
                    </a:p>
                  </a:txBody>
                  <a:tcPr marL="50800" marR="50800" marT="25400" marB="25400" anchor="ctr">
                    <a:solidFill>
                      <a:srgbClr val="E36B0C"/>
                    </a:solidFill>
                  </a:tcPr>
                </a:tc>
                <a:tc>
                  <a:txBody>
                    <a:bodyPr/>
                    <a:lstStyle/>
                    <a:p>
                      <a:pPr marL="0" indent="0" algn="r">
                        <a:buNone/>
                      </a:pPr>
                      <a:r>
                        <a:rPr lang="en-US" sz="900" b="1" dirty="0">
                          <a:solidFill>
                            <a:srgbClr val="1A1A1A"/>
                          </a:solidFill>
                        </a:rPr>
                        <a:t>(1,933.7)</a:t>
                      </a:r>
                      <a:endParaRPr lang="en-US" sz="900" dirty="0"/>
                    </a:p>
                  </a:txBody>
                  <a:tcPr marL="50800" marR="50800" marT="25400" marB="25400" anchor="ctr">
                    <a:solidFill>
                      <a:srgbClr val="E36B0C"/>
                    </a:solidFill>
                  </a:tcPr>
                </a:tc>
                <a:tc>
                  <a:txBody>
                    <a:bodyPr/>
                    <a:lstStyle/>
                    <a:p>
                      <a:pPr marL="0" indent="0" algn="r">
                        <a:buNone/>
                      </a:pPr>
                      <a:r>
                        <a:rPr lang="en-US" sz="900" b="1" dirty="0">
                          <a:solidFill>
                            <a:srgbClr val="1A1A1A"/>
                          </a:solidFill>
                        </a:rPr>
                        <a:t>(608.3)</a:t>
                      </a:r>
                      <a:endParaRPr lang="en-US" sz="900" dirty="0"/>
                    </a:p>
                  </a:txBody>
                  <a:tcPr marL="50800" marR="50800" marT="25400" marB="25400" anchor="ctr">
                    <a:solidFill>
                      <a:srgbClr val="E36B0C"/>
                    </a:solidFill>
                  </a:tcPr>
                </a:tc>
                <a:tc>
                  <a:txBody>
                    <a:bodyPr/>
                    <a:lstStyle/>
                    <a:p>
                      <a:pPr marL="0" indent="0" algn="r">
                        <a:buNone/>
                      </a:pPr>
                      <a:r>
                        <a:rPr lang="en-US" sz="900" b="1" dirty="0">
                          <a:solidFill>
                            <a:srgbClr val="1A1A1A"/>
                          </a:solidFill>
                        </a:rPr>
                        <a:t>4,734.6</a:t>
                      </a:r>
                      <a:endParaRPr lang="en-US" sz="900" dirty="0"/>
                    </a:p>
                  </a:txBody>
                  <a:tcPr marL="50800" marR="50800" marT="25400" marB="25400" anchor="ctr">
                    <a:solidFill>
                      <a:srgbClr val="E36B0C"/>
                    </a:solidFill>
                  </a:tcPr>
                </a:tc>
                <a:tc>
                  <a:txBody>
                    <a:bodyPr/>
                    <a:lstStyle/>
                    <a:p>
                      <a:pPr marL="0" indent="0" algn="r">
                        <a:buNone/>
                      </a:pPr>
                      <a:r>
                        <a:rPr lang="en-US" sz="900" b="1" dirty="0">
                          <a:solidFill>
                            <a:srgbClr val="1A1A1A"/>
                          </a:solidFill>
                        </a:rPr>
                        <a:t>860.1</a:t>
                      </a:r>
                      <a:endParaRPr lang="en-US" sz="900" dirty="0"/>
                    </a:p>
                  </a:txBody>
                  <a:tcPr marL="50800" marR="50800" marT="25400" marB="25400" anchor="ctr">
                    <a:solidFill>
                      <a:srgbClr val="E36B0C"/>
                    </a:solidFill>
                  </a:tcPr>
                </a:tc>
                <a:extLst>
                  <a:ext uri="{0D108BD9-81ED-4DB2-BD59-A6C34878D82A}">
                    <a16:rowId xmlns:a16="http://schemas.microsoft.com/office/drawing/2014/main" val="10018"/>
                  </a:ext>
                </a:extLst>
              </a:tr>
            </a:tbl>
          </a:graphicData>
        </a:graphic>
      </p:graphicFrame>
      <p:sp>
        <p:nvSpPr>
          <p:cNvPr id="14" name="object 17">
            <a:extLst>
              <a:ext uri="{FF2B5EF4-FFF2-40B4-BE49-F238E27FC236}">
                <a16:creationId xmlns:a16="http://schemas.microsoft.com/office/drawing/2014/main" id="{39186F09-5CF4-E5D5-070F-5A938B153CCF}"/>
              </a:ext>
            </a:extLst>
          </p:cNvPr>
          <p:cNvSpPr/>
          <p:nvPr/>
        </p:nvSpPr>
        <p:spPr>
          <a:xfrm>
            <a:off x="95423" y="6248400"/>
            <a:ext cx="6642734" cy="306070"/>
          </a:xfrm>
          <a:custGeom>
            <a:avLst/>
            <a:gdLst/>
            <a:ahLst/>
            <a:cxnLst/>
            <a:rect l="l" t="t" r="r" b="b"/>
            <a:pathLst>
              <a:path w="6642734" h="306070">
                <a:moveTo>
                  <a:pt x="6642734" y="0"/>
                </a:moveTo>
                <a:lnTo>
                  <a:pt x="0" y="0"/>
                </a:lnTo>
                <a:lnTo>
                  <a:pt x="0" y="305917"/>
                </a:lnTo>
                <a:lnTo>
                  <a:pt x="6642734" y="305917"/>
                </a:lnTo>
                <a:lnTo>
                  <a:pt x="6642734" y="0"/>
                </a:lnTo>
                <a:close/>
              </a:path>
            </a:pathLst>
          </a:custGeom>
          <a:solidFill>
            <a:srgbClr val="E46C0A"/>
          </a:solidFill>
        </p:spPr>
        <p:txBody>
          <a:bodyPr wrap="square" lIns="0" tIns="0" rIns="0" bIns="0" rtlCol="0"/>
          <a:lstStyle/>
          <a:p>
            <a:endParaRPr/>
          </a:p>
        </p:txBody>
      </p:sp>
      <p:sp>
        <p:nvSpPr>
          <p:cNvPr id="15" name="object 18">
            <a:extLst>
              <a:ext uri="{FF2B5EF4-FFF2-40B4-BE49-F238E27FC236}">
                <a16:creationId xmlns:a16="http://schemas.microsoft.com/office/drawing/2014/main" id="{FB9E65E2-586D-D0DE-D706-CF1E91296E21}"/>
              </a:ext>
            </a:extLst>
          </p:cNvPr>
          <p:cNvSpPr txBox="1"/>
          <p:nvPr/>
        </p:nvSpPr>
        <p:spPr>
          <a:xfrm>
            <a:off x="141832" y="6714526"/>
            <a:ext cx="6596326" cy="1674817"/>
          </a:xfrm>
          <a:prstGeom prst="rect">
            <a:avLst/>
          </a:prstGeom>
        </p:spPr>
        <p:txBody>
          <a:bodyPr vert="horz" wrap="square" lIns="0" tIns="12700" rIns="0" bIns="0" rtlCol="0">
            <a:spAutoFit/>
          </a:bodyPr>
          <a:lstStyle/>
          <a:p>
            <a:pPr marL="0" indent="0" algn="just">
              <a:buNone/>
            </a:pPr>
            <a:r>
              <a:rPr lang="en-IN" sz="1200" dirty="0">
                <a:latin typeface="+mj-lt"/>
              </a:rPr>
              <a:t>Sun Pharma's consolidated cash flow from operating activities has grown from ₹3,907 crore in FY18 to ₹14,072 crore in FY25, a more than 3.6x increase, driven primarily by strong growth in profit before tax (from ₹3,479 crore to ₹13,752 crore over the same period). Working capital movements have been volatile year to year, notably a large outflow in FY23 (₹5,662 crore) tied to elevated receivables and inventory build-up from acquisitions, and a smaller outflow in FY19 (₹2,696 crore) while FY21 and FY22 saw working capital release cash instead. Direct taxes paid have generally scaled with rising profits, aside from an unusual net refund in FY22. Despite this year-to-year noise, the underlying earnings growth has consistently outpaced these swings, with operating cash flow nearly tripling between FY23 and FY25 alone, pointing to steadily improving cash conversion.</a:t>
            </a:r>
            <a:endParaRPr lang="en-US" sz="1200" dirty="0">
              <a:latin typeface="+mj-lt"/>
            </a:endParaRPr>
          </a:p>
        </p:txBody>
      </p:sp>
      <p:sp>
        <p:nvSpPr>
          <p:cNvPr id="11" name="object 6">
            <a:extLst>
              <a:ext uri="{FF2B5EF4-FFF2-40B4-BE49-F238E27FC236}">
                <a16:creationId xmlns:a16="http://schemas.microsoft.com/office/drawing/2014/main" id="{0D0D3A01-8482-DC3F-25CD-6D2F77990F7B}"/>
              </a:ext>
            </a:extLst>
          </p:cNvPr>
          <p:cNvSpPr/>
          <p:nvPr/>
        </p:nvSpPr>
        <p:spPr>
          <a:xfrm>
            <a:off x="95423" y="1066737"/>
            <a:ext cx="6642734" cy="339090"/>
          </a:xfrm>
          <a:custGeom>
            <a:avLst/>
            <a:gdLst/>
            <a:ahLst/>
            <a:cxnLst/>
            <a:rect l="l" t="t" r="r" b="b"/>
            <a:pathLst>
              <a:path w="6642734" h="339090">
                <a:moveTo>
                  <a:pt x="6642734" y="0"/>
                </a:moveTo>
                <a:lnTo>
                  <a:pt x="0" y="0"/>
                </a:lnTo>
                <a:lnTo>
                  <a:pt x="0" y="338556"/>
                </a:lnTo>
                <a:lnTo>
                  <a:pt x="6642734" y="338556"/>
                </a:lnTo>
                <a:lnTo>
                  <a:pt x="6642734" y="0"/>
                </a:lnTo>
                <a:close/>
              </a:path>
            </a:pathLst>
          </a:custGeom>
          <a:solidFill>
            <a:srgbClr val="E46C0A"/>
          </a:solidFill>
        </p:spPr>
        <p:txBody>
          <a:bodyPr wrap="square" lIns="0" tIns="0" rIns="0" bIns="0" rtlCol="0"/>
          <a:lstStyle/>
          <a:p>
            <a:pPr algn="ctr"/>
            <a:r>
              <a:rPr lang="en-US" b="1" dirty="0">
                <a:solidFill>
                  <a:schemeClr val="bg1"/>
                </a:solidFill>
                <a:latin typeface="Calibri" pitchFamily="34" charset="0"/>
                <a:ea typeface="Calibri" pitchFamily="34" charset="-122"/>
                <a:cs typeface="Calibri" pitchFamily="34" charset="-120"/>
              </a:rPr>
              <a:t>CASH FLOW STATEMENT ANALYSIS</a:t>
            </a:r>
            <a:endParaRPr lang="en-US" dirty="0">
              <a:solidFill>
                <a:schemeClr val="bg1"/>
              </a:solidFill>
            </a:endParaRPr>
          </a:p>
          <a:p>
            <a:pPr marL="0" indent="0" algn="ctr">
              <a:buNone/>
            </a:pPr>
            <a:endParaRPr lang="en-US" dirty="0">
              <a:solidFill>
                <a:schemeClr val="bg1"/>
              </a:solidFill>
            </a:endParaRPr>
          </a:p>
        </p:txBody>
      </p:sp>
      <p:sp>
        <p:nvSpPr>
          <p:cNvPr id="7" name="TextBox 6">
            <a:extLst>
              <a:ext uri="{FF2B5EF4-FFF2-40B4-BE49-F238E27FC236}">
                <a16:creationId xmlns:a16="http://schemas.microsoft.com/office/drawing/2014/main" id="{056114C5-A604-38DF-A2AC-E5A9FADCD4B3}"/>
              </a:ext>
            </a:extLst>
          </p:cNvPr>
          <p:cNvSpPr txBox="1"/>
          <p:nvPr/>
        </p:nvSpPr>
        <p:spPr>
          <a:xfrm>
            <a:off x="1747315" y="6219728"/>
            <a:ext cx="3617088" cy="936154"/>
          </a:xfrm>
          <a:prstGeom prst="rect">
            <a:avLst/>
          </a:prstGeom>
          <a:noFill/>
        </p:spPr>
        <p:txBody>
          <a:bodyPr wrap="square">
            <a:spAutoFit/>
          </a:bodyPr>
          <a:lstStyle/>
          <a:p>
            <a:pPr marL="86360" algn="ctr">
              <a:lnSpc>
                <a:spcPct val="100000"/>
              </a:lnSpc>
              <a:spcBef>
                <a:spcPts val="100"/>
              </a:spcBef>
            </a:pPr>
            <a:r>
              <a:rPr lang="en-GB" b="1" dirty="0">
                <a:solidFill>
                  <a:schemeClr val="bg1"/>
                </a:solidFill>
                <a:latin typeface="Calibri"/>
                <a:cs typeface="Calibri"/>
              </a:rPr>
              <a:t>CASH</a:t>
            </a:r>
            <a:r>
              <a:rPr lang="en-GB" b="1" spc="-35" dirty="0">
                <a:solidFill>
                  <a:schemeClr val="bg1"/>
                </a:solidFill>
                <a:latin typeface="Calibri"/>
                <a:cs typeface="Calibri"/>
              </a:rPr>
              <a:t> </a:t>
            </a:r>
            <a:r>
              <a:rPr lang="en-GB" b="1" dirty="0">
                <a:solidFill>
                  <a:schemeClr val="bg1"/>
                </a:solidFill>
                <a:latin typeface="Calibri"/>
                <a:cs typeface="Calibri"/>
              </a:rPr>
              <a:t>FLOW</a:t>
            </a:r>
            <a:r>
              <a:rPr lang="en-GB" b="1" spc="-35" dirty="0">
                <a:solidFill>
                  <a:schemeClr val="bg1"/>
                </a:solidFill>
                <a:latin typeface="Calibri"/>
                <a:cs typeface="Calibri"/>
              </a:rPr>
              <a:t> </a:t>
            </a:r>
            <a:r>
              <a:rPr lang="en-GB" b="1" dirty="0">
                <a:solidFill>
                  <a:schemeClr val="bg1"/>
                </a:solidFill>
                <a:latin typeface="Calibri"/>
                <a:cs typeface="Calibri"/>
              </a:rPr>
              <a:t>FROM</a:t>
            </a:r>
            <a:r>
              <a:rPr lang="en-GB" b="1" spc="-30" dirty="0">
                <a:solidFill>
                  <a:schemeClr val="bg1"/>
                </a:solidFill>
                <a:latin typeface="Calibri"/>
                <a:cs typeface="Calibri"/>
              </a:rPr>
              <a:t> </a:t>
            </a:r>
            <a:r>
              <a:rPr lang="en-GB" b="1" spc="-10" dirty="0">
                <a:solidFill>
                  <a:schemeClr val="bg1"/>
                </a:solidFill>
                <a:latin typeface="Calibri"/>
                <a:cs typeface="Calibri"/>
              </a:rPr>
              <a:t>OPERATING</a:t>
            </a:r>
            <a:r>
              <a:rPr lang="en-GB" b="1" spc="-35" dirty="0">
                <a:solidFill>
                  <a:schemeClr val="bg1"/>
                </a:solidFill>
                <a:latin typeface="Calibri"/>
                <a:cs typeface="Calibri"/>
              </a:rPr>
              <a:t> </a:t>
            </a:r>
            <a:r>
              <a:rPr lang="en-GB" b="1" spc="-10" dirty="0">
                <a:solidFill>
                  <a:schemeClr val="bg1"/>
                </a:solidFill>
                <a:latin typeface="Calibri"/>
                <a:cs typeface="Calibri"/>
              </a:rPr>
              <a:t>ACTIVITY</a:t>
            </a:r>
          </a:p>
          <a:p>
            <a:pPr marL="86360" algn="ctr">
              <a:lnSpc>
                <a:spcPct val="100000"/>
              </a:lnSpc>
              <a:spcBef>
                <a:spcPts val="100"/>
              </a:spcBef>
            </a:pPr>
            <a:endParaRPr lang="en-GB" dirty="0">
              <a:latin typeface="+mj-lt"/>
              <a:cs typeface="Calibri"/>
            </a:endParaRPr>
          </a:p>
        </p:txBody>
      </p:sp>
    </p:spTree>
    <p:extLst>
      <p:ext uri="{BB962C8B-B14F-4D97-AF65-F5344CB8AC3E}">
        <p14:creationId xmlns:p14="http://schemas.microsoft.com/office/powerpoint/2010/main" val="20091704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43C61-4E0F-C57D-2FC0-1B0DA2DD6C5E}"/>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A348E431-4ABD-B9C0-F81C-32AFBF820010}"/>
              </a:ext>
            </a:extLst>
          </p:cNvPr>
          <p:cNvGrpSpPr/>
          <p:nvPr/>
        </p:nvGrpSpPr>
        <p:grpSpPr>
          <a:xfrm>
            <a:off x="0" y="0"/>
            <a:ext cx="6858000" cy="1625597"/>
            <a:chOff x="0" y="0"/>
            <a:chExt cx="6858000" cy="1625597"/>
          </a:xfrm>
        </p:grpSpPr>
        <p:sp>
          <p:nvSpPr>
            <p:cNvPr id="3" name="object 3">
              <a:extLst>
                <a:ext uri="{FF2B5EF4-FFF2-40B4-BE49-F238E27FC236}">
                  <a16:creationId xmlns:a16="http://schemas.microsoft.com/office/drawing/2014/main" id="{9294612B-49FE-0BF7-C70A-6A5C82AFEC8B}"/>
                </a:ext>
              </a:extLst>
            </p:cNvPr>
            <p:cNvSpPr/>
            <p:nvPr/>
          </p:nvSpPr>
          <p:spPr>
            <a:xfrm>
              <a:off x="0" y="0"/>
              <a:ext cx="6858000" cy="949325"/>
            </a:xfrm>
            <a:custGeom>
              <a:avLst/>
              <a:gdLst/>
              <a:ahLst/>
              <a:cxnLst/>
              <a:rect l="l" t="t" r="r" b="b"/>
              <a:pathLst>
                <a:path w="6858000" h="949325">
                  <a:moveTo>
                    <a:pt x="0" y="949198"/>
                  </a:moveTo>
                  <a:lnTo>
                    <a:pt x="6858000" y="949198"/>
                  </a:lnTo>
                  <a:lnTo>
                    <a:pt x="6858000" y="0"/>
                  </a:lnTo>
                  <a:lnTo>
                    <a:pt x="0" y="0"/>
                  </a:lnTo>
                  <a:lnTo>
                    <a:pt x="0" y="949198"/>
                  </a:lnTo>
                  <a:close/>
                </a:path>
              </a:pathLst>
            </a:custGeom>
            <a:solidFill>
              <a:schemeClr val="accent6">
                <a:lumMod val="75000"/>
              </a:schemeClr>
            </a:solidFill>
          </p:spPr>
          <p:txBody>
            <a:bodyPr wrap="square" lIns="0" tIns="0" rIns="0" bIns="0" rtlCol="0"/>
            <a:lstStyle/>
            <a:p>
              <a:endParaRPr/>
            </a:p>
          </p:txBody>
        </p:sp>
        <p:sp>
          <p:nvSpPr>
            <p:cNvPr id="4" name="object 4">
              <a:extLst>
                <a:ext uri="{FF2B5EF4-FFF2-40B4-BE49-F238E27FC236}">
                  <a16:creationId xmlns:a16="http://schemas.microsoft.com/office/drawing/2014/main" id="{BDE18FC6-5E9A-5B1C-6008-CF022C59239C}"/>
                </a:ext>
              </a:extLst>
            </p:cNvPr>
            <p:cNvSpPr/>
            <p:nvPr/>
          </p:nvSpPr>
          <p:spPr>
            <a:xfrm>
              <a:off x="0" y="316227"/>
              <a:ext cx="4147185" cy="1309370"/>
            </a:xfrm>
            <a:custGeom>
              <a:avLst/>
              <a:gdLst/>
              <a:ahLst/>
              <a:cxnLst/>
              <a:rect l="l" t="t" r="r" b="b"/>
              <a:pathLst>
                <a:path w="4147185" h="1309370">
                  <a:moveTo>
                    <a:pt x="3492246" y="0"/>
                  </a:moveTo>
                  <a:lnTo>
                    <a:pt x="0" y="0"/>
                  </a:lnTo>
                  <a:lnTo>
                    <a:pt x="0" y="1309243"/>
                  </a:lnTo>
                  <a:lnTo>
                    <a:pt x="3492246" y="1309243"/>
                  </a:lnTo>
                  <a:lnTo>
                    <a:pt x="4146804" y="654685"/>
                  </a:lnTo>
                  <a:lnTo>
                    <a:pt x="3492246" y="0"/>
                  </a:lnTo>
                  <a:close/>
                </a:path>
              </a:pathLst>
            </a:custGeom>
            <a:solidFill>
              <a:srgbClr val="FFFFFF"/>
            </a:solidFill>
          </p:spPr>
          <p:txBody>
            <a:bodyPr wrap="square" lIns="0" tIns="0" rIns="0" bIns="0" rtlCol="0"/>
            <a:lstStyle/>
            <a:p>
              <a:endParaRPr dirty="0"/>
            </a:p>
          </p:txBody>
        </p:sp>
      </p:grpSp>
      <p:sp>
        <p:nvSpPr>
          <p:cNvPr id="5" name="object 5">
            <a:extLst>
              <a:ext uri="{FF2B5EF4-FFF2-40B4-BE49-F238E27FC236}">
                <a16:creationId xmlns:a16="http://schemas.microsoft.com/office/drawing/2014/main" id="{FDCCB87A-D3A7-0128-BDF5-D5B13E9BDB6E}"/>
              </a:ext>
            </a:extLst>
          </p:cNvPr>
          <p:cNvSpPr txBox="1"/>
          <p:nvPr/>
        </p:nvSpPr>
        <p:spPr>
          <a:xfrm>
            <a:off x="147015" y="4952"/>
            <a:ext cx="2081530" cy="247015"/>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FFFFFF"/>
                </a:solidFill>
                <a:latin typeface="Calibri"/>
                <a:cs typeface="Calibri"/>
              </a:rPr>
              <a:t>EQUITY</a:t>
            </a:r>
            <a:r>
              <a:rPr sz="1450" b="1" spc="-65" dirty="0">
                <a:solidFill>
                  <a:srgbClr val="FFFFFF"/>
                </a:solidFill>
                <a:latin typeface="Calibri"/>
                <a:cs typeface="Calibri"/>
              </a:rPr>
              <a:t> </a:t>
            </a:r>
            <a:r>
              <a:rPr sz="1450" b="1" dirty="0">
                <a:solidFill>
                  <a:srgbClr val="FFFFFF"/>
                </a:solidFill>
                <a:latin typeface="Calibri"/>
                <a:cs typeface="Calibri"/>
              </a:rPr>
              <a:t>RESEARCH</a:t>
            </a:r>
            <a:r>
              <a:rPr sz="1450" b="1" spc="-60" dirty="0">
                <a:solidFill>
                  <a:srgbClr val="FFFFFF"/>
                </a:solidFill>
                <a:latin typeface="Calibri"/>
                <a:cs typeface="Calibri"/>
              </a:rPr>
              <a:t> </a:t>
            </a:r>
            <a:r>
              <a:rPr sz="1450" b="1" spc="-10" dirty="0">
                <a:solidFill>
                  <a:srgbClr val="FFFFFF"/>
                </a:solidFill>
                <a:latin typeface="Calibri"/>
                <a:cs typeface="Calibri"/>
              </a:rPr>
              <a:t>REPORT</a:t>
            </a:r>
            <a:endParaRPr sz="1450">
              <a:latin typeface="Calibri"/>
              <a:cs typeface="Calibri"/>
            </a:endParaRPr>
          </a:p>
        </p:txBody>
      </p:sp>
      <p:sp>
        <p:nvSpPr>
          <p:cNvPr id="40" name="object 40">
            <a:extLst>
              <a:ext uri="{FF2B5EF4-FFF2-40B4-BE49-F238E27FC236}">
                <a16:creationId xmlns:a16="http://schemas.microsoft.com/office/drawing/2014/main" id="{3545D9E9-0083-7BBE-6292-C137D282E857}"/>
              </a:ext>
            </a:extLst>
          </p:cNvPr>
          <p:cNvSpPr txBox="1">
            <a:spLocks noGrp="1"/>
          </p:cNvSpPr>
          <p:nvPr>
            <p:ph type="title"/>
          </p:nvPr>
        </p:nvSpPr>
        <p:spPr>
          <a:xfrm>
            <a:off x="141831" y="295140"/>
            <a:ext cx="4269104" cy="289182"/>
          </a:xfrm>
          <a:prstGeom prst="rect">
            <a:avLst/>
          </a:prstGeom>
        </p:spPr>
        <p:txBody>
          <a:bodyPr vert="horz" wrap="square" lIns="0" tIns="12065" rIns="0" bIns="0" rtlCol="0">
            <a:spAutoFit/>
          </a:bodyPr>
          <a:lstStyle/>
          <a:p>
            <a:pPr marL="12700">
              <a:lnSpc>
                <a:spcPct val="100000"/>
              </a:lnSpc>
              <a:spcBef>
                <a:spcPts val="95"/>
              </a:spcBef>
            </a:pPr>
            <a:r>
              <a:rPr lang="en-GB" sz="1800" dirty="0"/>
              <a:t>Sun Pharmaceutical Industries Ltd.</a:t>
            </a:r>
            <a:endParaRPr sz="1800" dirty="0"/>
          </a:p>
        </p:txBody>
      </p:sp>
      <p:sp>
        <p:nvSpPr>
          <p:cNvPr id="41" name="object 41">
            <a:extLst>
              <a:ext uri="{FF2B5EF4-FFF2-40B4-BE49-F238E27FC236}">
                <a16:creationId xmlns:a16="http://schemas.microsoft.com/office/drawing/2014/main" id="{91C6A28D-3CA7-959E-6287-0E007B60C829}"/>
              </a:ext>
            </a:extLst>
          </p:cNvPr>
          <p:cNvSpPr txBox="1"/>
          <p:nvPr/>
        </p:nvSpPr>
        <p:spPr>
          <a:xfrm>
            <a:off x="141831" y="526972"/>
            <a:ext cx="3210968"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D2841"/>
                </a:solidFill>
                <a:latin typeface="Calibri"/>
                <a:cs typeface="Calibri"/>
              </a:rPr>
              <a:t>NSE</a:t>
            </a:r>
            <a:r>
              <a:rPr sz="1200" b="1" spc="-20" dirty="0">
                <a:solidFill>
                  <a:srgbClr val="0D2841"/>
                </a:solidFill>
                <a:latin typeface="Calibri"/>
                <a:cs typeface="Calibri"/>
              </a:rPr>
              <a:t> </a:t>
            </a:r>
            <a:r>
              <a:rPr sz="1200" b="1" dirty="0">
                <a:solidFill>
                  <a:srgbClr val="0D2841"/>
                </a:solidFill>
                <a:latin typeface="Calibri"/>
                <a:cs typeface="Calibri"/>
              </a:rPr>
              <a:t>:</a:t>
            </a:r>
            <a:r>
              <a:rPr lang="en-US" sz="1200" b="1" spc="-15" dirty="0">
                <a:solidFill>
                  <a:srgbClr val="0D2841"/>
                </a:solidFill>
                <a:latin typeface="Calibri"/>
                <a:cs typeface="Calibri"/>
              </a:rPr>
              <a:t> </a:t>
            </a:r>
            <a:r>
              <a:rPr lang="en-GB" sz="1200" b="1" dirty="0">
                <a:latin typeface="+mj-lt"/>
              </a:rPr>
              <a:t>SUNPHARMA</a:t>
            </a:r>
            <a:r>
              <a:rPr sz="1200" b="1" spc="10" dirty="0">
                <a:solidFill>
                  <a:srgbClr val="0D2841"/>
                </a:solidFill>
                <a:latin typeface="Calibri"/>
                <a:cs typeface="Calibri"/>
              </a:rPr>
              <a:t> </a:t>
            </a:r>
            <a:r>
              <a:rPr sz="1200" b="1" dirty="0">
                <a:solidFill>
                  <a:srgbClr val="0D2841"/>
                </a:solidFill>
                <a:latin typeface="Calibri"/>
                <a:cs typeface="Calibri"/>
              </a:rPr>
              <a:t>|</a:t>
            </a:r>
            <a:r>
              <a:rPr sz="1200" b="1" spc="-15" dirty="0">
                <a:solidFill>
                  <a:srgbClr val="0D2841"/>
                </a:solidFill>
                <a:latin typeface="Calibri"/>
                <a:cs typeface="Calibri"/>
              </a:rPr>
              <a:t> </a:t>
            </a:r>
            <a:r>
              <a:rPr sz="1200" b="1" dirty="0">
                <a:solidFill>
                  <a:srgbClr val="0D2841"/>
                </a:solidFill>
                <a:latin typeface="Calibri"/>
                <a:cs typeface="Calibri"/>
              </a:rPr>
              <a:t>BSE Code:</a:t>
            </a:r>
            <a:r>
              <a:rPr sz="1200" b="1" spc="-5" dirty="0">
                <a:solidFill>
                  <a:srgbClr val="0D2841"/>
                </a:solidFill>
                <a:latin typeface="Calibri"/>
                <a:cs typeface="Calibri"/>
              </a:rPr>
              <a:t> </a:t>
            </a:r>
            <a:r>
              <a:rPr lang="en-GB" sz="1200" b="1" dirty="0">
                <a:latin typeface="+mj-lt"/>
              </a:rPr>
              <a:t>524715</a:t>
            </a:r>
          </a:p>
        </p:txBody>
      </p:sp>
      <p:sp>
        <p:nvSpPr>
          <p:cNvPr id="57" name="object 41">
            <a:extLst>
              <a:ext uri="{FF2B5EF4-FFF2-40B4-BE49-F238E27FC236}">
                <a16:creationId xmlns:a16="http://schemas.microsoft.com/office/drawing/2014/main" id="{EA39290F-3492-B87A-7C0E-5477CA1A3555}"/>
              </a:ext>
            </a:extLst>
          </p:cNvPr>
          <p:cNvSpPr txBox="1"/>
          <p:nvPr/>
        </p:nvSpPr>
        <p:spPr>
          <a:xfrm>
            <a:off x="141831" y="686543"/>
            <a:ext cx="3210968" cy="197490"/>
          </a:xfrm>
          <a:prstGeom prst="rect">
            <a:avLst/>
          </a:prstGeom>
        </p:spPr>
        <p:txBody>
          <a:bodyPr vert="horz" wrap="square" lIns="0" tIns="12700" rIns="0" bIns="0" rtlCol="0">
            <a:spAutoFit/>
          </a:bodyPr>
          <a:lstStyle/>
          <a:p>
            <a:pPr marL="12700">
              <a:lnSpc>
                <a:spcPct val="100000"/>
              </a:lnSpc>
              <a:spcBef>
                <a:spcPts val="100"/>
              </a:spcBef>
            </a:pPr>
            <a:r>
              <a:rPr lang="en-GB" sz="1200" b="1" dirty="0">
                <a:latin typeface="Calibri "/>
              </a:rPr>
              <a:t>Pharmaceuticals &amp; Drugs</a:t>
            </a:r>
          </a:p>
        </p:txBody>
      </p:sp>
      <p:pic>
        <p:nvPicPr>
          <p:cNvPr id="59" name="Picture 58">
            <a:extLst>
              <a:ext uri="{FF2B5EF4-FFF2-40B4-BE49-F238E27FC236}">
                <a16:creationId xmlns:a16="http://schemas.microsoft.com/office/drawing/2014/main" id="{48FC50D0-E7F0-E6F0-ABD0-2D4807ACF4D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04126" y="17284"/>
            <a:ext cx="1295705" cy="879830"/>
          </a:xfrm>
          <a:prstGeom prst="rect">
            <a:avLst/>
          </a:prstGeom>
        </p:spPr>
      </p:pic>
      <p:cxnSp>
        <p:nvCxnSpPr>
          <p:cNvPr id="61" name="Straight Connector 60">
            <a:extLst>
              <a:ext uri="{FF2B5EF4-FFF2-40B4-BE49-F238E27FC236}">
                <a16:creationId xmlns:a16="http://schemas.microsoft.com/office/drawing/2014/main" id="{747850A1-4D7B-B7BD-FC8A-A7F9EF8B5874}"/>
              </a:ext>
            </a:extLst>
          </p:cNvPr>
          <p:cNvCxnSpPr>
            <a:cxnSpLocks/>
          </p:cNvCxnSpPr>
          <p:nvPr/>
        </p:nvCxnSpPr>
        <p:spPr>
          <a:xfrm>
            <a:off x="0" y="8859394"/>
            <a:ext cx="6858000" cy="0"/>
          </a:xfrm>
          <a:prstGeom prst="line">
            <a:avLst/>
          </a:prstGeom>
          <a:ln w="41275">
            <a:solidFill>
              <a:srgbClr val="E46C0A"/>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AB6F0F00-2A83-59C6-3E8B-EA6362CC8C95}"/>
              </a:ext>
            </a:extLst>
          </p:cNvPr>
          <p:cNvSpPr txBox="1"/>
          <p:nvPr/>
        </p:nvSpPr>
        <p:spPr>
          <a:xfrm>
            <a:off x="6553200" y="8810228"/>
            <a:ext cx="667055" cy="369332"/>
          </a:xfrm>
          <a:prstGeom prst="rect">
            <a:avLst/>
          </a:prstGeom>
          <a:noFill/>
        </p:spPr>
        <p:txBody>
          <a:bodyPr wrap="square" rtlCol="0">
            <a:spAutoFit/>
          </a:bodyPr>
          <a:lstStyle/>
          <a:p>
            <a:r>
              <a:rPr lang="en-US" b="1" dirty="0">
                <a:solidFill>
                  <a:srgbClr val="E46C0A"/>
                </a:solidFill>
              </a:rPr>
              <a:t>1</a:t>
            </a:r>
            <a:endParaRPr lang="en-GB" b="1" dirty="0">
              <a:solidFill>
                <a:srgbClr val="E46C0A"/>
              </a:solidFill>
            </a:endParaRPr>
          </a:p>
        </p:txBody>
      </p:sp>
      <p:cxnSp>
        <p:nvCxnSpPr>
          <p:cNvPr id="69" name="Straight Connector 68">
            <a:extLst>
              <a:ext uri="{FF2B5EF4-FFF2-40B4-BE49-F238E27FC236}">
                <a16:creationId xmlns:a16="http://schemas.microsoft.com/office/drawing/2014/main" id="{C08BED8D-8019-661A-9EE8-9C58647106FD}"/>
              </a:ext>
            </a:extLst>
          </p:cNvPr>
          <p:cNvCxnSpPr>
            <a:cxnSpLocks/>
          </p:cNvCxnSpPr>
          <p:nvPr/>
        </p:nvCxnSpPr>
        <p:spPr>
          <a:xfrm flipV="1">
            <a:off x="0" y="914400"/>
            <a:ext cx="6858000" cy="37713"/>
          </a:xfrm>
          <a:prstGeom prst="line">
            <a:avLst/>
          </a:prstGeom>
          <a:ln>
            <a:solidFill>
              <a:srgbClr val="E46C0A"/>
            </a:solidFill>
          </a:ln>
        </p:spPr>
        <p:style>
          <a:lnRef idx="1">
            <a:schemeClr val="accent1"/>
          </a:lnRef>
          <a:fillRef idx="0">
            <a:schemeClr val="accent1"/>
          </a:fillRef>
          <a:effectRef idx="0">
            <a:schemeClr val="accent1"/>
          </a:effectRef>
          <a:fontRef idx="minor">
            <a:schemeClr val="tx1"/>
          </a:fontRef>
        </p:style>
      </p:cxnSp>
      <p:sp>
        <p:nvSpPr>
          <p:cNvPr id="6" name="object 17">
            <a:extLst>
              <a:ext uri="{FF2B5EF4-FFF2-40B4-BE49-F238E27FC236}">
                <a16:creationId xmlns:a16="http://schemas.microsoft.com/office/drawing/2014/main" id="{F981C933-39BB-4AC3-C0D3-811FC4B2DD33}"/>
              </a:ext>
            </a:extLst>
          </p:cNvPr>
          <p:cNvSpPr/>
          <p:nvPr/>
        </p:nvSpPr>
        <p:spPr>
          <a:xfrm>
            <a:off x="95423" y="1234271"/>
            <a:ext cx="6642734" cy="306070"/>
          </a:xfrm>
          <a:custGeom>
            <a:avLst/>
            <a:gdLst/>
            <a:ahLst/>
            <a:cxnLst/>
            <a:rect l="l" t="t" r="r" b="b"/>
            <a:pathLst>
              <a:path w="6642734" h="306070">
                <a:moveTo>
                  <a:pt x="6642734" y="0"/>
                </a:moveTo>
                <a:lnTo>
                  <a:pt x="0" y="0"/>
                </a:lnTo>
                <a:lnTo>
                  <a:pt x="0" y="305917"/>
                </a:lnTo>
                <a:lnTo>
                  <a:pt x="6642734" y="305917"/>
                </a:lnTo>
                <a:lnTo>
                  <a:pt x="6642734" y="0"/>
                </a:lnTo>
                <a:close/>
              </a:path>
            </a:pathLst>
          </a:custGeom>
          <a:solidFill>
            <a:srgbClr val="E46C0A"/>
          </a:solidFill>
        </p:spPr>
        <p:txBody>
          <a:bodyPr wrap="square" lIns="0" tIns="0" rIns="0" bIns="0" rtlCol="0"/>
          <a:lstStyle/>
          <a:p>
            <a:endParaRPr/>
          </a:p>
        </p:txBody>
      </p:sp>
      <p:sp>
        <p:nvSpPr>
          <p:cNvPr id="7" name="object 18">
            <a:extLst>
              <a:ext uri="{FF2B5EF4-FFF2-40B4-BE49-F238E27FC236}">
                <a16:creationId xmlns:a16="http://schemas.microsoft.com/office/drawing/2014/main" id="{4A4CD945-5AA0-ABEB-B0B5-053870C7C516}"/>
              </a:ext>
            </a:extLst>
          </p:cNvPr>
          <p:cNvSpPr txBox="1"/>
          <p:nvPr/>
        </p:nvSpPr>
        <p:spPr>
          <a:xfrm>
            <a:off x="227248" y="1370446"/>
            <a:ext cx="6292215" cy="2087751"/>
          </a:xfrm>
          <a:prstGeom prst="rect">
            <a:avLst/>
          </a:prstGeom>
        </p:spPr>
        <p:txBody>
          <a:bodyPr vert="horz" wrap="square" lIns="0" tIns="12700" rIns="0" bIns="0" rtlCol="0">
            <a:spAutoFit/>
          </a:bodyPr>
          <a:lstStyle/>
          <a:p>
            <a:pPr marL="86360" algn="ctr">
              <a:lnSpc>
                <a:spcPct val="100000"/>
              </a:lnSpc>
              <a:spcBef>
                <a:spcPts val="100"/>
              </a:spcBef>
            </a:pPr>
            <a:endParaRPr lang="en-US" sz="1400" b="1" spc="-10" dirty="0">
              <a:latin typeface="+mj-lt"/>
              <a:cs typeface="Calibri"/>
            </a:endParaRPr>
          </a:p>
          <a:p>
            <a:pPr marL="86360" algn="just">
              <a:lnSpc>
                <a:spcPct val="100000"/>
              </a:lnSpc>
              <a:spcBef>
                <a:spcPts val="100"/>
              </a:spcBef>
            </a:pPr>
            <a:r>
              <a:rPr lang="en-IN" sz="1200" dirty="0">
                <a:latin typeface="+mj-lt"/>
              </a:rPr>
              <a:t>Sun Pharma recorded a net cash outflow of ₹5,306 crore from investing activities in FY25, mainly driven by capital expenditure of ₹2,068 crore towards manufacturing capacity and R&amp;D infrastructure, alongside net investment purchases (largely mutual funds and other financial instruments) of ₹3,864 crore. Capex has stayed in the ₹1,000–3,200 crore range through the period, with FY19 seeing the highest spend at ₹3,162 crore, reflecting continued but disciplined reinvestment even as the business scaled. Investing outflows have also included acquisitions of subsidiaries in select years, most notably FY23 (₹4,686 crore) and FY25, supporting Sun Pharma's push into specialty and global branded generics. A few years, like FY21 and FY24, saw comparatively modest net outflows as investment sales and maturing deposits partly offset fresh deployments, underscoring an investing strategy that balances growth spending with liquidity management.</a:t>
            </a:r>
            <a:endParaRPr lang="en-US" sz="1200" dirty="0">
              <a:latin typeface="+mj-lt"/>
            </a:endParaRPr>
          </a:p>
        </p:txBody>
      </p:sp>
      <p:sp>
        <p:nvSpPr>
          <p:cNvPr id="10" name="object 17">
            <a:extLst>
              <a:ext uri="{FF2B5EF4-FFF2-40B4-BE49-F238E27FC236}">
                <a16:creationId xmlns:a16="http://schemas.microsoft.com/office/drawing/2014/main" id="{53774010-BC98-02B9-143A-E5C8571A07EA}"/>
              </a:ext>
            </a:extLst>
          </p:cNvPr>
          <p:cNvSpPr/>
          <p:nvPr/>
        </p:nvSpPr>
        <p:spPr>
          <a:xfrm>
            <a:off x="95423" y="3714298"/>
            <a:ext cx="6642734" cy="306070"/>
          </a:xfrm>
          <a:custGeom>
            <a:avLst/>
            <a:gdLst/>
            <a:ahLst/>
            <a:cxnLst/>
            <a:rect l="l" t="t" r="r" b="b"/>
            <a:pathLst>
              <a:path w="6642734" h="306070">
                <a:moveTo>
                  <a:pt x="6642734" y="0"/>
                </a:moveTo>
                <a:lnTo>
                  <a:pt x="0" y="0"/>
                </a:lnTo>
                <a:lnTo>
                  <a:pt x="0" y="305917"/>
                </a:lnTo>
                <a:lnTo>
                  <a:pt x="6642734" y="305917"/>
                </a:lnTo>
                <a:lnTo>
                  <a:pt x="6642734" y="0"/>
                </a:lnTo>
                <a:close/>
              </a:path>
            </a:pathLst>
          </a:custGeom>
          <a:solidFill>
            <a:srgbClr val="E46C0A"/>
          </a:solidFill>
        </p:spPr>
        <p:txBody>
          <a:bodyPr wrap="square" lIns="0" tIns="0" rIns="0" bIns="0" rtlCol="0"/>
          <a:lstStyle/>
          <a:p>
            <a:endParaRPr/>
          </a:p>
        </p:txBody>
      </p:sp>
      <p:sp>
        <p:nvSpPr>
          <p:cNvPr id="12" name="object 18">
            <a:extLst>
              <a:ext uri="{FF2B5EF4-FFF2-40B4-BE49-F238E27FC236}">
                <a16:creationId xmlns:a16="http://schemas.microsoft.com/office/drawing/2014/main" id="{17CDC67A-4D94-759C-9F54-2289A8D6C23F}"/>
              </a:ext>
            </a:extLst>
          </p:cNvPr>
          <p:cNvSpPr txBox="1"/>
          <p:nvPr/>
        </p:nvSpPr>
        <p:spPr>
          <a:xfrm>
            <a:off x="227248" y="3853409"/>
            <a:ext cx="6292215" cy="1903085"/>
          </a:xfrm>
          <a:prstGeom prst="rect">
            <a:avLst/>
          </a:prstGeom>
        </p:spPr>
        <p:txBody>
          <a:bodyPr vert="horz" wrap="square" lIns="0" tIns="12700" rIns="0" bIns="0" rtlCol="0">
            <a:spAutoFit/>
          </a:bodyPr>
          <a:lstStyle/>
          <a:p>
            <a:pPr marL="86360" algn="l">
              <a:lnSpc>
                <a:spcPct val="100000"/>
              </a:lnSpc>
              <a:spcBef>
                <a:spcPts val="100"/>
              </a:spcBef>
            </a:pPr>
            <a:endParaRPr lang="en-US" sz="1400" b="1" spc="-10" dirty="0">
              <a:latin typeface="+mj-lt"/>
              <a:cs typeface="Calibri"/>
            </a:endParaRPr>
          </a:p>
          <a:p>
            <a:pPr marL="86360" algn="just">
              <a:lnSpc>
                <a:spcPct val="100000"/>
              </a:lnSpc>
              <a:spcBef>
                <a:spcPts val="100"/>
              </a:spcBef>
            </a:pPr>
            <a:r>
              <a:rPr lang="en-IN" sz="1200" dirty="0">
                <a:latin typeface="+mj-lt"/>
              </a:rPr>
              <a:t>Financing activities used ₹7,906 crore of cash in FY25, primarily on account of ₹3,617 crore in dividend payments and ₹2,900 crore towards buy-back of shares held by non-controlling interests in subsidiaries. Sun Pharma has been a consistent net </a:t>
            </a:r>
            <a:r>
              <a:rPr lang="en-IN" sz="1200" dirty="0" err="1">
                <a:latin typeface="+mj-lt"/>
              </a:rPr>
              <a:t>repayer</a:t>
            </a:r>
            <a:r>
              <a:rPr lang="en-IN" sz="1200" dirty="0">
                <a:latin typeface="+mj-lt"/>
              </a:rPr>
              <a:t> of borrowings across most of the period, with FY21 and FY22 seeing the largest deleveraging at over ₹2,700–4,500 crore each, reflecting a deliberate strategy to pare down debt as profitability strengthened. FY23 was a notable exception, with net borrowings turning positive (₹5,028 crore) even as overall financing cash flow stayed positive that year. Dividend payouts have risen steadily and substantially, from ₹976 crore in FY18 to ₹3,617 crore in FY25, underscoring the company's growing commitment to shareholder returns as free cash flow generation has strengthened well ahead of financing needs.</a:t>
            </a:r>
            <a:endParaRPr lang="en-US" sz="1200" dirty="0">
              <a:latin typeface="+mj-lt"/>
            </a:endParaRPr>
          </a:p>
        </p:txBody>
      </p:sp>
      <p:graphicFrame>
        <p:nvGraphicFramePr>
          <p:cNvPr id="13" name="Chart 0">
            <a:extLst>
              <a:ext uri="{FF2B5EF4-FFF2-40B4-BE49-F238E27FC236}">
                <a16:creationId xmlns:a16="http://schemas.microsoft.com/office/drawing/2014/main" id="{1F68F5B5-861F-8A18-DABA-E2E22B3CAAB5}"/>
              </a:ext>
            </a:extLst>
          </p:cNvPr>
          <p:cNvGraphicFramePr/>
          <p:nvPr/>
        </p:nvGraphicFramePr>
        <p:xfrm>
          <a:off x="95423" y="5943601"/>
          <a:ext cx="3257375" cy="296495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 1">
            <a:extLst>
              <a:ext uri="{FF2B5EF4-FFF2-40B4-BE49-F238E27FC236}">
                <a16:creationId xmlns:a16="http://schemas.microsoft.com/office/drawing/2014/main" id="{F3696A48-5604-98F9-A23D-E92951D0FE89}"/>
              </a:ext>
            </a:extLst>
          </p:cNvPr>
          <p:cNvGraphicFramePr/>
          <p:nvPr/>
        </p:nvGraphicFramePr>
        <p:xfrm>
          <a:off x="3429000" y="5943602"/>
          <a:ext cx="3333577" cy="2927242"/>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8">
            <a:extLst>
              <a:ext uri="{FF2B5EF4-FFF2-40B4-BE49-F238E27FC236}">
                <a16:creationId xmlns:a16="http://schemas.microsoft.com/office/drawing/2014/main" id="{A624CCCE-28C7-D3B3-1701-163464FC53A9}"/>
              </a:ext>
            </a:extLst>
          </p:cNvPr>
          <p:cNvSpPr txBox="1"/>
          <p:nvPr/>
        </p:nvSpPr>
        <p:spPr>
          <a:xfrm>
            <a:off x="1447800" y="1200260"/>
            <a:ext cx="4448090" cy="369332"/>
          </a:xfrm>
          <a:prstGeom prst="rect">
            <a:avLst/>
          </a:prstGeom>
          <a:noFill/>
        </p:spPr>
        <p:txBody>
          <a:bodyPr wrap="square">
            <a:spAutoFit/>
          </a:bodyPr>
          <a:lstStyle/>
          <a:p>
            <a:pPr marL="86360" algn="ctr">
              <a:lnSpc>
                <a:spcPct val="100000"/>
              </a:lnSpc>
              <a:spcBef>
                <a:spcPts val="100"/>
              </a:spcBef>
            </a:pPr>
            <a:r>
              <a:rPr lang="en-GB" b="1" dirty="0">
                <a:solidFill>
                  <a:schemeClr val="bg1"/>
                </a:solidFill>
                <a:latin typeface="+mj-lt"/>
                <a:cs typeface="Calibri"/>
              </a:rPr>
              <a:t>CASH</a:t>
            </a:r>
            <a:r>
              <a:rPr lang="en-GB" b="1" spc="-35" dirty="0">
                <a:solidFill>
                  <a:schemeClr val="bg1"/>
                </a:solidFill>
                <a:latin typeface="+mj-lt"/>
                <a:cs typeface="Calibri"/>
              </a:rPr>
              <a:t> </a:t>
            </a:r>
            <a:r>
              <a:rPr lang="en-GB" b="1" dirty="0">
                <a:solidFill>
                  <a:schemeClr val="bg1"/>
                </a:solidFill>
                <a:latin typeface="+mj-lt"/>
                <a:cs typeface="Calibri"/>
              </a:rPr>
              <a:t>FLOW</a:t>
            </a:r>
            <a:r>
              <a:rPr lang="en-GB" b="1" spc="-35" dirty="0">
                <a:solidFill>
                  <a:schemeClr val="bg1"/>
                </a:solidFill>
                <a:latin typeface="+mj-lt"/>
                <a:cs typeface="Calibri"/>
              </a:rPr>
              <a:t> </a:t>
            </a:r>
            <a:r>
              <a:rPr lang="en-GB" b="1" dirty="0">
                <a:solidFill>
                  <a:schemeClr val="bg1"/>
                </a:solidFill>
                <a:latin typeface="+mj-lt"/>
                <a:cs typeface="Calibri"/>
              </a:rPr>
              <a:t>FROM</a:t>
            </a:r>
            <a:r>
              <a:rPr lang="en-GB" b="1" spc="-30" dirty="0">
                <a:solidFill>
                  <a:schemeClr val="bg1"/>
                </a:solidFill>
                <a:latin typeface="+mj-lt"/>
                <a:cs typeface="Calibri"/>
              </a:rPr>
              <a:t> </a:t>
            </a:r>
            <a:r>
              <a:rPr lang="en-GB" b="1" spc="-10" dirty="0">
                <a:solidFill>
                  <a:schemeClr val="bg1"/>
                </a:solidFill>
                <a:latin typeface="+mj-lt"/>
                <a:cs typeface="Calibri"/>
              </a:rPr>
              <a:t>INVESTING</a:t>
            </a:r>
            <a:r>
              <a:rPr lang="en-GB" b="1" spc="-35" dirty="0">
                <a:solidFill>
                  <a:schemeClr val="bg1"/>
                </a:solidFill>
                <a:latin typeface="+mj-lt"/>
                <a:cs typeface="Calibri"/>
              </a:rPr>
              <a:t> </a:t>
            </a:r>
            <a:r>
              <a:rPr lang="en-GB" b="1" spc="-10" dirty="0">
                <a:solidFill>
                  <a:schemeClr val="bg1"/>
                </a:solidFill>
                <a:latin typeface="+mj-lt"/>
                <a:cs typeface="Calibri"/>
              </a:rPr>
              <a:t>ACTIVITY</a:t>
            </a:r>
          </a:p>
        </p:txBody>
      </p:sp>
      <p:sp>
        <p:nvSpPr>
          <p:cNvPr id="14" name="TextBox 13">
            <a:extLst>
              <a:ext uri="{FF2B5EF4-FFF2-40B4-BE49-F238E27FC236}">
                <a16:creationId xmlns:a16="http://schemas.microsoft.com/office/drawing/2014/main" id="{1EFED422-303A-F0B7-7C79-A397AEF93B56}"/>
              </a:ext>
            </a:extLst>
          </p:cNvPr>
          <p:cNvSpPr txBox="1"/>
          <p:nvPr/>
        </p:nvSpPr>
        <p:spPr>
          <a:xfrm>
            <a:off x="1219266" y="3689986"/>
            <a:ext cx="4484860" cy="369332"/>
          </a:xfrm>
          <a:prstGeom prst="rect">
            <a:avLst/>
          </a:prstGeom>
          <a:noFill/>
        </p:spPr>
        <p:txBody>
          <a:bodyPr wrap="square">
            <a:spAutoFit/>
          </a:bodyPr>
          <a:lstStyle/>
          <a:p>
            <a:pPr marL="86360" algn="ctr">
              <a:lnSpc>
                <a:spcPct val="100000"/>
              </a:lnSpc>
              <a:spcBef>
                <a:spcPts val="100"/>
              </a:spcBef>
            </a:pPr>
            <a:r>
              <a:rPr lang="en-GB" b="1" dirty="0">
                <a:solidFill>
                  <a:schemeClr val="bg1"/>
                </a:solidFill>
                <a:latin typeface="+mj-lt"/>
                <a:cs typeface="Calibri"/>
              </a:rPr>
              <a:t>CASH</a:t>
            </a:r>
            <a:r>
              <a:rPr lang="en-GB" b="1" spc="-35" dirty="0">
                <a:solidFill>
                  <a:schemeClr val="bg1"/>
                </a:solidFill>
                <a:latin typeface="+mj-lt"/>
                <a:cs typeface="Calibri"/>
              </a:rPr>
              <a:t> </a:t>
            </a:r>
            <a:r>
              <a:rPr lang="en-GB" b="1" dirty="0">
                <a:solidFill>
                  <a:schemeClr val="bg1"/>
                </a:solidFill>
                <a:latin typeface="+mj-lt"/>
                <a:cs typeface="Calibri"/>
              </a:rPr>
              <a:t>FLOW</a:t>
            </a:r>
            <a:r>
              <a:rPr lang="en-GB" b="1" spc="-35" dirty="0">
                <a:solidFill>
                  <a:schemeClr val="bg1"/>
                </a:solidFill>
                <a:latin typeface="+mj-lt"/>
                <a:cs typeface="Calibri"/>
              </a:rPr>
              <a:t> </a:t>
            </a:r>
            <a:r>
              <a:rPr lang="en-GB" b="1" dirty="0">
                <a:solidFill>
                  <a:schemeClr val="bg1"/>
                </a:solidFill>
                <a:latin typeface="+mj-lt"/>
                <a:cs typeface="Calibri"/>
              </a:rPr>
              <a:t>FROM</a:t>
            </a:r>
            <a:r>
              <a:rPr lang="en-GB" b="1" spc="-30" dirty="0">
                <a:solidFill>
                  <a:schemeClr val="bg1"/>
                </a:solidFill>
                <a:latin typeface="+mj-lt"/>
                <a:cs typeface="Calibri"/>
              </a:rPr>
              <a:t> </a:t>
            </a:r>
            <a:r>
              <a:rPr lang="en-GB" b="1" spc="-10" dirty="0">
                <a:solidFill>
                  <a:schemeClr val="bg1"/>
                </a:solidFill>
                <a:latin typeface="+mj-lt"/>
                <a:cs typeface="Calibri"/>
              </a:rPr>
              <a:t>INVESTING</a:t>
            </a:r>
            <a:r>
              <a:rPr lang="en-GB" b="1" spc="-35" dirty="0">
                <a:solidFill>
                  <a:schemeClr val="bg1"/>
                </a:solidFill>
                <a:latin typeface="+mj-lt"/>
                <a:cs typeface="Calibri"/>
              </a:rPr>
              <a:t> </a:t>
            </a:r>
            <a:r>
              <a:rPr lang="en-GB" b="1" spc="-10" dirty="0">
                <a:solidFill>
                  <a:schemeClr val="bg1"/>
                </a:solidFill>
                <a:latin typeface="+mj-lt"/>
                <a:cs typeface="Calibri"/>
              </a:rPr>
              <a:t>ACTIVITY</a:t>
            </a:r>
          </a:p>
        </p:txBody>
      </p:sp>
    </p:spTree>
    <p:extLst>
      <p:ext uri="{BB962C8B-B14F-4D97-AF65-F5344CB8AC3E}">
        <p14:creationId xmlns:p14="http://schemas.microsoft.com/office/powerpoint/2010/main" val="453642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3502E-1F2B-21FD-A3EE-073C212182EC}"/>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B33ACCA2-3AB9-7B0C-A5A6-9E2DF2122BC5}"/>
              </a:ext>
            </a:extLst>
          </p:cNvPr>
          <p:cNvGrpSpPr/>
          <p:nvPr/>
        </p:nvGrpSpPr>
        <p:grpSpPr>
          <a:xfrm>
            <a:off x="0" y="0"/>
            <a:ext cx="6858000" cy="1625597"/>
            <a:chOff x="0" y="0"/>
            <a:chExt cx="6858000" cy="1625597"/>
          </a:xfrm>
        </p:grpSpPr>
        <p:sp>
          <p:nvSpPr>
            <p:cNvPr id="3" name="object 3">
              <a:extLst>
                <a:ext uri="{FF2B5EF4-FFF2-40B4-BE49-F238E27FC236}">
                  <a16:creationId xmlns:a16="http://schemas.microsoft.com/office/drawing/2014/main" id="{2C1F5D02-AC8F-58D4-CB59-7DFF3180D161}"/>
                </a:ext>
              </a:extLst>
            </p:cNvPr>
            <p:cNvSpPr/>
            <p:nvPr/>
          </p:nvSpPr>
          <p:spPr>
            <a:xfrm>
              <a:off x="0" y="0"/>
              <a:ext cx="6858000" cy="949325"/>
            </a:xfrm>
            <a:custGeom>
              <a:avLst/>
              <a:gdLst/>
              <a:ahLst/>
              <a:cxnLst/>
              <a:rect l="l" t="t" r="r" b="b"/>
              <a:pathLst>
                <a:path w="6858000" h="949325">
                  <a:moveTo>
                    <a:pt x="0" y="949198"/>
                  </a:moveTo>
                  <a:lnTo>
                    <a:pt x="6858000" y="949198"/>
                  </a:lnTo>
                  <a:lnTo>
                    <a:pt x="6858000" y="0"/>
                  </a:lnTo>
                  <a:lnTo>
                    <a:pt x="0" y="0"/>
                  </a:lnTo>
                  <a:lnTo>
                    <a:pt x="0" y="949198"/>
                  </a:lnTo>
                  <a:close/>
                </a:path>
              </a:pathLst>
            </a:custGeom>
            <a:solidFill>
              <a:schemeClr val="accent6">
                <a:lumMod val="75000"/>
              </a:schemeClr>
            </a:solidFill>
          </p:spPr>
          <p:txBody>
            <a:bodyPr wrap="square" lIns="0" tIns="0" rIns="0" bIns="0" rtlCol="0"/>
            <a:lstStyle/>
            <a:p>
              <a:endParaRPr/>
            </a:p>
          </p:txBody>
        </p:sp>
        <p:sp>
          <p:nvSpPr>
            <p:cNvPr id="4" name="object 4">
              <a:extLst>
                <a:ext uri="{FF2B5EF4-FFF2-40B4-BE49-F238E27FC236}">
                  <a16:creationId xmlns:a16="http://schemas.microsoft.com/office/drawing/2014/main" id="{204F7597-AB1D-7356-F258-59E039AA85FE}"/>
                </a:ext>
              </a:extLst>
            </p:cNvPr>
            <p:cNvSpPr/>
            <p:nvPr/>
          </p:nvSpPr>
          <p:spPr>
            <a:xfrm>
              <a:off x="0" y="316227"/>
              <a:ext cx="4147185" cy="1309370"/>
            </a:xfrm>
            <a:custGeom>
              <a:avLst/>
              <a:gdLst/>
              <a:ahLst/>
              <a:cxnLst/>
              <a:rect l="l" t="t" r="r" b="b"/>
              <a:pathLst>
                <a:path w="4147185" h="1309370">
                  <a:moveTo>
                    <a:pt x="3492246" y="0"/>
                  </a:moveTo>
                  <a:lnTo>
                    <a:pt x="0" y="0"/>
                  </a:lnTo>
                  <a:lnTo>
                    <a:pt x="0" y="1309243"/>
                  </a:lnTo>
                  <a:lnTo>
                    <a:pt x="3492246" y="1309243"/>
                  </a:lnTo>
                  <a:lnTo>
                    <a:pt x="4146804" y="654685"/>
                  </a:lnTo>
                  <a:lnTo>
                    <a:pt x="3492246" y="0"/>
                  </a:lnTo>
                  <a:close/>
                </a:path>
              </a:pathLst>
            </a:custGeom>
            <a:solidFill>
              <a:srgbClr val="FFFFFF"/>
            </a:solidFill>
          </p:spPr>
          <p:txBody>
            <a:bodyPr wrap="square" lIns="0" tIns="0" rIns="0" bIns="0" rtlCol="0"/>
            <a:lstStyle/>
            <a:p>
              <a:endParaRPr dirty="0"/>
            </a:p>
          </p:txBody>
        </p:sp>
      </p:grpSp>
      <p:sp>
        <p:nvSpPr>
          <p:cNvPr id="5" name="object 5">
            <a:extLst>
              <a:ext uri="{FF2B5EF4-FFF2-40B4-BE49-F238E27FC236}">
                <a16:creationId xmlns:a16="http://schemas.microsoft.com/office/drawing/2014/main" id="{6FB299C7-8D65-BFBE-EAC7-FB3DA73727C8}"/>
              </a:ext>
            </a:extLst>
          </p:cNvPr>
          <p:cNvSpPr txBox="1"/>
          <p:nvPr/>
        </p:nvSpPr>
        <p:spPr>
          <a:xfrm>
            <a:off x="147015" y="4952"/>
            <a:ext cx="2081530" cy="247015"/>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FFFFFF"/>
                </a:solidFill>
                <a:latin typeface="Calibri"/>
                <a:cs typeface="Calibri"/>
              </a:rPr>
              <a:t>EQUITY</a:t>
            </a:r>
            <a:r>
              <a:rPr sz="1450" b="1" spc="-65" dirty="0">
                <a:solidFill>
                  <a:srgbClr val="FFFFFF"/>
                </a:solidFill>
                <a:latin typeface="Calibri"/>
                <a:cs typeface="Calibri"/>
              </a:rPr>
              <a:t> </a:t>
            </a:r>
            <a:r>
              <a:rPr sz="1450" b="1" dirty="0">
                <a:solidFill>
                  <a:srgbClr val="FFFFFF"/>
                </a:solidFill>
                <a:latin typeface="Calibri"/>
                <a:cs typeface="Calibri"/>
              </a:rPr>
              <a:t>RESEARCH</a:t>
            </a:r>
            <a:r>
              <a:rPr sz="1450" b="1" spc="-60" dirty="0">
                <a:solidFill>
                  <a:srgbClr val="FFFFFF"/>
                </a:solidFill>
                <a:latin typeface="Calibri"/>
                <a:cs typeface="Calibri"/>
              </a:rPr>
              <a:t> </a:t>
            </a:r>
            <a:r>
              <a:rPr sz="1450" b="1" spc="-10" dirty="0">
                <a:solidFill>
                  <a:srgbClr val="FFFFFF"/>
                </a:solidFill>
                <a:latin typeface="Calibri"/>
                <a:cs typeface="Calibri"/>
              </a:rPr>
              <a:t>REPORT</a:t>
            </a:r>
            <a:endParaRPr sz="1450">
              <a:latin typeface="Calibri"/>
              <a:cs typeface="Calibri"/>
            </a:endParaRPr>
          </a:p>
        </p:txBody>
      </p:sp>
      <p:sp>
        <p:nvSpPr>
          <p:cNvPr id="40" name="object 40">
            <a:extLst>
              <a:ext uri="{FF2B5EF4-FFF2-40B4-BE49-F238E27FC236}">
                <a16:creationId xmlns:a16="http://schemas.microsoft.com/office/drawing/2014/main" id="{D552325B-94AA-8766-A9A7-A44285E7BD82}"/>
              </a:ext>
            </a:extLst>
          </p:cNvPr>
          <p:cNvSpPr txBox="1">
            <a:spLocks noGrp="1"/>
          </p:cNvSpPr>
          <p:nvPr>
            <p:ph type="title"/>
          </p:nvPr>
        </p:nvSpPr>
        <p:spPr>
          <a:xfrm>
            <a:off x="141831" y="295140"/>
            <a:ext cx="4269104" cy="289182"/>
          </a:xfrm>
          <a:prstGeom prst="rect">
            <a:avLst/>
          </a:prstGeom>
        </p:spPr>
        <p:txBody>
          <a:bodyPr vert="horz" wrap="square" lIns="0" tIns="12065" rIns="0" bIns="0" rtlCol="0">
            <a:spAutoFit/>
          </a:bodyPr>
          <a:lstStyle/>
          <a:p>
            <a:pPr marL="12700">
              <a:lnSpc>
                <a:spcPct val="100000"/>
              </a:lnSpc>
              <a:spcBef>
                <a:spcPts val="95"/>
              </a:spcBef>
            </a:pPr>
            <a:r>
              <a:rPr lang="en-GB" sz="1800" dirty="0"/>
              <a:t>Sun Pharmaceutical Industries Ltd.</a:t>
            </a:r>
            <a:endParaRPr sz="1800" dirty="0"/>
          </a:p>
        </p:txBody>
      </p:sp>
      <p:sp>
        <p:nvSpPr>
          <p:cNvPr id="41" name="object 41">
            <a:extLst>
              <a:ext uri="{FF2B5EF4-FFF2-40B4-BE49-F238E27FC236}">
                <a16:creationId xmlns:a16="http://schemas.microsoft.com/office/drawing/2014/main" id="{EC70262C-6A52-6128-499E-759278346104}"/>
              </a:ext>
            </a:extLst>
          </p:cNvPr>
          <p:cNvSpPr txBox="1"/>
          <p:nvPr/>
        </p:nvSpPr>
        <p:spPr>
          <a:xfrm>
            <a:off x="141831" y="526972"/>
            <a:ext cx="3210968"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D2841"/>
                </a:solidFill>
                <a:latin typeface="Calibri"/>
                <a:cs typeface="Calibri"/>
              </a:rPr>
              <a:t>NSE</a:t>
            </a:r>
            <a:r>
              <a:rPr sz="1200" b="1" spc="-20" dirty="0">
                <a:solidFill>
                  <a:srgbClr val="0D2841"/>
                </a:solidFill>
                <a:latin typeface="Calibri"/>
                <a:cs typeface="Calibri"/>
              </a:rPr>
              <a:t> </a:t>
            </a:r>
            <a:r>
              <a:rPr sz="1200" b="1" dirty="0">
                <a:solidFill>
                  <a:srgbClr val="0D2841"/>
                </a:solidFill>
                <a:latin typeface="Calibri"/>
                <a:cs typeface="Calibri"/>
              </a:rPr>
              <a:t>:</a:t>
            </a:r>
            <a:r>
              <a:rPr lang="en-US" sz="1200" b="1" spc="-15" dirty="0">
                <a:solidFill>
                  <a:srgbClr val="0D2841"/>
                </a:solidFill>
                <a:latin typeface="Calibri"/>
                <a:cs typeface="Calibri"/>
              </a:rPr>
              <a:t> </a:t>
            </a:r>
            <a:r>
              <a:rPr lang="en-GB" sz="1200" b="1" dirty="0">
                <a:latin typeface="+mj-lt"/>
              </a:rPr>
              <a:t>SUNPHARMA</a:t>
            </a:r>
            <a:r>
              <a:rPr sz="1200" b="1" spc="10" dirty="0">
                <a:solidFill>
                  <a:srgbClr val="0D2841"/>
                </a:solidFill>
                <a:latin typeface="Calibri"/>
                <a:cs typeface="Calibri"/>
              </a:rPr>
              <a:t> </a:t>
            </a:r>
            <a:r>
              <a:rPr sz="1200" b="1" dirty="0">
                <a:solidFill>
                  <a:srgbClr val="0D2841"/>
                </a:solidFill>
                <a:latin typeface="Calibri"/>
                <a:cs typeface="Calibri"/>
              </a:rPr>
              <a:t>|</a:t>
            </a:r>
            <a:r>
              <a:rPr sz="1200" b="1" spc="-15" dirty="0">
                <a:solidFill>
                  <a:srgbClr val="0D2841"/>
                </a:solidFill>
                <a:latin typeface="Calibri"/>
                <a:cs typeface="Calibri"/>
              </a:rPr>
              <a:t> </a:t>
            </a:r>
            <a:r>
              <a:rPr sz="1200" b="1" dirty="0">
                <a:solidFill>
                  <a:srgbClr val="0D2841"/>
                </a:solidFill>
                <a:latin typeface="Calibri"/>
                <a:cs typeface="Calibri"/>
              </a:rPr>
              <a:t>BSE Code:</a:t>
            </a:r>
            <a:r>
              <a:rPr sz="1200" b="1" spc="-5" dirty="0">
                <a:solidFill>
                  <a:srgbClr val="0D2841"/>
                </a:solidFill>
                <a:latin typeface="Calibri"/>
                <a:cs typeface="Calibri"/>
              </a:rPr>
              <a:t> </a:t>
            </a:r>
            <a:r>
              <a:rPr lang="en-GB" sz="1200" b="1" dirty="0">
                <a:latin typeface="+mj-lt"/>
              </a:rPr>
              <a:t>524715</a:t>
            </a:r>
          </a:p>
        </p:txBody>
      </p:sp>
      <p:sp>
        <p:nvSpPr>
          <p:cNvPr id="57" name="object 41">
            <a:extLst>
              <a:ext uri="{FF2B5EF4-FFF2-40B4-BE49-F238E27FC236}">
                <a16:creationId xmlns:a16="http://schemas.microsoft.com/office/drawing/2014/main" id="{3B8AF629-BDE1-6941-82FD-C8E8036EED2A}"/>
              </a:ext>
            </a:extLst>
          </p:cNvPr>
          <p:cNvSpPr txBox="1"/>
          <p:nvPr/>
        </p:nvSpPr>
        <p:spPr>
          <a:xfrm>
            <a:off x="141831" y="686543"/>
            <a:ext cx="3210968" cy="197490"/>
          </a:xfrm>
          <a:prstGeom prst="rect">
            <a:avLst/>
          </a:prstGeom>
        </p:spPr>
        <p:txBody>
          <a:bodyPr vert="horz" wrap="square" lIns="0" tIns="12700" rIns="0" bIns="0" rtlCol="0">
            <a:spAutoFit/>
          </a:bodyPr>
          <a:lstStyle/>
          <a:p>
            <a:pPr marL="12700">
              <a:lnSpc>
                <a:spcPct val="100000"/>
              </a:lnSpc>
              <a:spcBef>
                <a:spcPts val="100"/>
              </a:spcBef>
            </a:pPr>
            <a:r>
              <a:rPr lang="en-GB" sz="1200" b="1" dirty="0">
                <a:latin typeface="Calibri "/>
              </a:rPr>
              <a:t>Pharmaceuticals &amp; Drugs</a:t>
            </a:r>
          </a:p>
        </p:txBody>
      </p:sp>
      <p:pic>
        <p:nvPicPr>
          <p:cNvPr id="59" name="Picture 58">
            <a:extLst>
              <a:ext uri="{FF2B5EF4-FFF2-40B4-BE49-F238E27FC236}">
                <a16:creationId xmlns:a16="http://schemas.microsoft.com/office/drawing/2014/main" id="{679A9627-C909-E1DE-4886-CF36ED0281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04126" y="17284"/>
            <a:ext cx="1295705" cy="879830"/>
          </a:xfrm>
          <a:prstGeom prst="rect">
            <a:avLst/>
          </a:prstGeom>
        </p:spPr>
      </p:pic>
      <p:cxnSp>
        <p:nvCxnSpPr>
          <p:cNvPr id="61" name="Straight Connector 60">
            <a:extLst>
              <a:ext uri="{FF2B5EF4-FFF2-40B4-BE49-F238E27FC236}">
                <a16:creationId xmlns:a16="http://schemas.microsoft.com/office/drawing/2014/main" id="{589F9290-C40A-5306-AC38-561AAACF11F6}"/>
              </a:ext>
            </a:extLst>
          </p:cNvPr>
          <p:cNvCxnSpPr>
            <a:cxnSpLocks/>
          </p:cNvCxnSpPr>
          <p:nvPr/>
        </p:nvCxnSpPr>
        <p:spPr>
          <a:xfrm>
            <a:off x="0" y="8859394"/>
            <a:ext cx="6858000" cy="0"/>
          </a:xfrm>
          <a:prstGeom prst="line">
            <a:avLst/>
          </a:prstGeom>
          <a:ln w="41275">
            <a:solidFill>
              <a:srgbClr val="E46C0A"/>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917BB0C5-ED44-517A-B593-6CC57CF72C58}"/>
              </a:ext>
            </a:extLst>
          </p:cNvPr>
          <p:cNvSpPr txBox="1"/>
          <p:nvPr/>
        </p:nvSpPr>
        <p:spPr>
          <a:xfrm>
            <a:off x="6553200" y="8810228"/>
            <a:ext cx="667055" cy="369332"/>
          </a:xfrm>
          <a:prstGeom prst="rect">
            <a:avLst/>
          </a:prstGeom>
          <a:noFill/>
        </p:spPr>
        <p:txBody>
          <a:bodyPr wrap="square" rtlCol="0">
            <a:spAutoFit/>
          </a:bodyPr>
          <a:lstStyle/>
          <a:p>
            <a:r>
              <a:rPr lang="en-US" b="1" dirty="0">
                <a:solidFill>
                  <a:srgbClr val="E46C0A"/>
                </a:solidFill>
              </a:rPr>
              <a:t>1</a:t>
            </a:r>
            <a:endParaRPr lang="en-GB" b="1" dirty="0">
              <a:solidFill>
                <a:srgbClr val="E46C0A"/>
              </a:solidFill>
            </a:endParaRPr>
          </a:p>
        </p:txBody>
      </p:sp>
      <p:cxnSp>
        <p:nvCxnSpPr>
          <p:cNvPr id="69" name="Straight Connector 68">
            <a:extLst>
              <a:ext uri="{FF2B5EF4-FFF2-40B4-BE49-F238E27FC236}">
                <a16:creationId xmlns:a16="http://schemas.microsoft.com/office/drawing/2014/main" id="{B754FADE-96F5-878D-D654-46CFEFED45A7}"/>
              </a:ext>
            </a:extLst>
          </p:cNvPr>
          <p:cNvCxnSpPr>
            <a:cxnSpLocks/>
          </p:cNvCxnSpPr>
          <p:nvPr/>
        </p:nvCxnSpPr>
        <p:spPr>
          <a:xfrm flipV="1">
            <a:off x="0" y="914400"/>
            <a:ext cx="6858000" cy="37713"/>
          </a:xfrm>
          <a:prstGeom prst="line">
            <a:avLst/>
          </a:prstGeom>
          <a:ln>
            <a:solidFill>
              <a:srgbClr val="E46C0A"/>
            </a:solidFill>
          </a:ln>
        </p:spPr>
        <p:style>
          <a:lnRef idx="1">
            <a:schemeClr val="accent1"/>
          </a:lnRef>
          <a:fillRef idx="0">
            <a:schemeClr val="accent1"/>
          </a:fillRef>
          <a:effectRef idx="0">
            <a:schemeClr val="accent1"/>
          </a:effectRef>
          <a:fontRef idx="minor">
            <a:schemeClr val="tx1"/>
          </a:fontRef>
        </p:style>
      </p:cxnSp>
      <p:sp>
        <p:nvSpPr>
          <p:cNvPr id="8" name="object 6">
            <a:extLst>
              <a:ext uri="{FF2B5EF4-FFF2-40B4-BE49-F238E27FC236}">
                <a16:creationId xmlns:a16="http://schemas.microsoft.com/office/drawing/2014/main" id="{F3191AC4-8A07-8B82-02B6-8EC0004D48CC}"/>
              </a:ext>
            </a:extLst>
          </p:cNvPr>
          <p:cNvSpPr/>
          <p:nvPr/>
        </p:nvSpPr>
        <p:spPr>
          <a:xfrm>
            <a:off x="88496" y="1066982"/>
            <a:ext cx="6642734" cy="339090"/>
          </a:xfrm>
          <a:custGeom>
            <a:avLst/>
            <a:gdLst/>
            <a:ahLst/>
            <a:cxnLst/>
            <a:rect l="l" t="t" r="r" b="b"/>
            <a:pathLst>
              <a:path w="6642734" h="339090">
                <a:moveTo>
                  <a:pt x="6642734" y="0"/>
                </a:moveTo>
                <a:lnTo>
                  <a:pt x="0" y="0"/>
                </a:lnTo>
                <a:lnTo>
                  <a:pt x="0" y="338556"/>
                </a:lnTo>
                <a:lnTo>
                  <a:pt x="6642734" y="338556"/>
                </a:lnTo>
                <a:lnTo>
                  <a:pt x="6642734" y="0"/>
                </a:lnTo>
                <a:close/>
              </a:path>
            </a:pathLst>
          </a:custGeom>
          <a:solidFill>
            <a:srgbClr val="E46C0A"/>
          </a:solidFill>
        </p:spPr>
        <p:txBody>
          <a:bodyPr wrap="square" lIns="0" tIns="0" rIns="0" bIns="0" rtlCol="0"/>
          <a:lstStyle/>
          <a:p>
            <a:pPr marL="0" indent="0" algn="ctr">
              <a:buNone/>
            </a:pPr>
            <a:endParaRPr lang="en-US" dirty="0">
              <a:solidFill>
                <a:schemeClr val="bg1"/>
              </a:solidFill>
              <a:latin typeface="+mj-lt"/>
            </a:endParaRPr>
          </a:p>
        </p:txBody>
      </p:sp>
      <p:graphicFrame>
        <p:nvGraphicFramePr>
          <p:cNvPr id="9" name="Table 0">
            <a:extLst>
              <a:ext uri="{FF2B5EF4-FFF2-40B4-BE49-F238E27FC236}">
                <a16:creationId xmlns:a16="http://schemas.microsoft.com/office/drawing/2014/main" id="{A5065759-67BD-0F6A-5303-D51165BA7FDF}"/>
              </a:ext>
            </a:extLst>
          </p:cNvPr>
          <p:cNvGraphicFramePr>
            <a:graphicFrameLocks noGrp="1"/>
          </p:cNvGraphicFramePr>
          <p:nvPr/>
        </p:nvGraphicFramePr>
        <p:xfrm>
          <a:off x="88496" y="1600200"/>
          <a:ext cx="6642730" cy="3225776"/>
        </p:xfrm>
        <a:graphic>
          <a:graphicData uri="http://schemas.openxmlformats.org/drawingml/2006/table">
            <a:tbl>
              <a:tblPr/>
              <a:tblGrid>
                <a:gridCol w="1909194">
                  <a:extLst>
                    <a:ext uri="{9D8B030D-6E8A-4147-A177-3AD203B41FA5}">
                      <a16:colId xmlns:a16="http://schemas.microsoft.com/office/drawing/2014/main" val="20000"/>
                    </a:ext>
                  </a:extLst>
                </a:gridCol>
                <a:gridCol w="591692">
                  <a:extLst>
                    <a:ext uri="{9D8B030D-6E8A-4147-A177-3AD203B41FA5}">
                      <a16:colId xmlns:a16="http://schemas.microsoft.com/office/drawing/2014/main" val="20001"/>
                    </a:ext>
                  </a:extLst>
                </a:gridCol>
                <a:gridCol w="591692">
                  <a:extLst>
                    <a:ext uri="{9D8B030D-6E8A-4147-A177-3AD203B41FA5}">
                      <a16:colId xmlns:a16="http://schemas.microsoft.com/office/drawing/2014/main" val="20002"/>
                    </a:ext>
                  </a:extLst>
                </a:gridCol>
                <a:gridCol w="591692">
                  <a:extLst>
                    <a:ext uri="{9D8B030D-6E8A-4147-A177-3AD203B41FA5}">
                      <a16:colId xmlns:a16="http://schemas.microsoft.com/office/drawing/2014/main" val="20003"/>
                    </a:ext>
                  </a:extLst>
                </a:gridCol>
                <a:gridCol w="591692">
                  <a:extLst>
                    <a:ext uri="{9D8B030D-6E8A-4147-A177-3AD203B41FA5}">
                      <a16:colId xmlns:a16="http://schemas.microsoft.com/office/drawing/2014/main" val="20004"/>
                    </a:ext>
                  </a:extLst>
                </a:gridCol>
                <a:gridCol w="591692">
                  <a:extLst>
                    <a:ext uri="{9D8B030D-6E8A-4147-A177-3AD203B41FA5}">
                      <a16:colId xmlns:a16="http://schemas.microsoft.com/office/drawing/2014/main" val="20005"/>
                    </a:ext>
                  </a:extLst>
                </a:gridCol>
                <a:gridCol w="591692">
                  <a:extLst>
                    <a:ext uri="{9D8B030D-6E8A-4147-A177-3AD203B41FA5}">
                      <a16:colId xmlns:a16="http://schemas.microsoft.com/office/drawing/2014/main" val="20006"/>
                    </a:ext>
                  </a:extLst>
                </a:gridCol>
                <a:gridCol w="591692">
                  <a:extLst>
                    <a:ext uri="{9D8B030D-6E8A-4147-A177-3AD203B41FA5}">
                      <a16:colId xmlns:a16="http://schemas.microsoft.com/office/drawing/2014/main" val="20007"/>
                    </a:ext>
                  </a:extLst>
                </a:gridCol>
                <a:gridCol w="591692">
                  <a:extLst>
                    <a:ext uri="{9D8B030D-6E8A-4147-A177-3AD203B41FA5}">
                      <a16:colId xmlns:a16="http://schemas.microsoft.com/office/drawing/2014/main" val="20008"/>
                    </a:ext>
                  </a:extLst>
                </a:gridCol>
              </a:tblGrid>
              <a:tr h="355597">
                <a:tc>
                  <a:txBody>
                    <a:bodyPr/>
                    <a:lstStyle/>
                    <a:p>
                      <a:pPr marL="0" indent="0" algn="l">
                        <a:buNone/>
                      </a:pPr>
                      <a:r>
                        <a:rPr lang="en-US" sz="1000" b="1" dirty="0">
                          <a:solidFill>
                            <a:srgbClr val="FFFFFF"/>
                          </a:solidFill>
                        </a:rPr>
                        <a:t>Ratio Analysis – SUN PHARMA (Consolidated)</a:t>
                      </a:r>
                      <a:endParaRPr lang="en-US" sz="100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75000"/>
                      </a:schemeClr>
                    </a:solidFill>
                  </a:tcPr>
                </a:tc>
                <a:tc>
                  <a:txBody>
                    <a:bodyPr/>
                    <a:lstStyle/>
                    <a:p>
                      <a:pPr marL="0" indent="0" algn="ctr">
                        <a:buNone/>
                      </a:pPr>
                      <a:r>
                        <a:rPr lang="en-US" sz="1000" b="1" dirty="0">
                          <a:solidFill>
                            <a:srgbClr val="FFFFFF"/>
                          </a:solidFill>
                        </a:rPr>
                        <a:t>FY18</a:t>
                      </a:r>
                      <a:endParaRPr lang="en-US" sz="100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75000"/>
                      </a:schemeClr>
                    </a:solidFill>
                  </a:tcPr>
                </a:tc>
                <a:tc>
                  <a:txBody>
                    <a:bodyPr/>
                    <a:lstStyle/>
                    <a:p>
                      <a:pPr marL="0" indent="0" algn="ctr">
                        <a:buNone/>
                      </a:pPr>
                      <a:r>
                        <a:rPr lang="en-US" sz="1000" b="1" dirty="0">
                          <a:solidFill>
                            <a:srgbClr val="FFFFFF"/>
                          </a:solidFill>
                        </a:rPr>
                        <a:t>FY19</a:t>
                      </a:r>
                      <a:endParaRPr lang="en-US" sz="100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75000"/>
                      </a:schemeClr>
                    </a:solidFill>
                  </a:tcPr>
                </a:tc>
                <a:tc>
                  <a:txBody>
                    <a:bodyPr/>
                    <a:lstStyle/>
                    <a:p>
                      <a:pPr marL="0" indent="0" algn="ctr">
                        <a:buNone/>
                      </a:pPr>
                      <a:r>
                        <a:rPr lang="en-US" sz="1000" b="1" dirty="0">
                          <a:solidFill>
                            <a:srgbClr val="FFFFFF"/>
                          </a:solidFill>
                        </a:rPr>
                        <a:t>FY20</a:t>
                      </a:r>
                      <a:endParaRPr lang="en-US" sz="100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75000"/>
                      </a:schemeClr>
                    </a:solidFill>
                  </a:tcPr>
                </a:tc>
                <a:tc>
                  <a:txBody>
                    <a:bodyPr/>
                    <a:lstStyle/>
                    <a:p>
                      <a:pPr marL="0" indent="0" algn="ctr">
                        <a:buNone/>
                      </a:pPr>
                      <a:r>
                        <a:rPr lang="en-US" sz="1000" b="1" dirty="0">
                          <a:solidFill>
                            <a:srgbClr val="FFFFFF"/>
                          </a:solidFill>
                        </a:rPr>
                        <a:t>FY21</a:t>
                      </a:r>
                      <a:endParaRPr lang="en-US" sz="100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75000"/>
                      </a:schemeClr>
                    </a:solidFill>
                  </a:tcPr>
                </a:tc>
                <a:tc>
                  <a:txBody>
                    <a:bodyPr/>
                    <a:lstStyle/>
                    <a:p>
                      <a:pPr marL="0" indent="0" algn="ctr">
                        <a:buNone/>
                      </a:pPr>
                      <a:r>
                        <a:rPr lang="en-US" sz="1000" b="1" dirty="0">
                          <a:solidFill>
                            <a:srgbClr val="FFFFFF"/>
                          </a:solidFill>
                        </a:rPr>
                        <a:t>FY22</a:t>
                      </a:r>
                      <a:endParaRPr lang="en-US" sz="100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75000"/>
                      </a:schemeClr>
                    </a:solidFill>
                  </a:tcPr>
                </a:tc>
                <a:tc>
                  <a:txBody>
                    <a:bodyPr/>
                    <a:lstStyle/>
                    <a:p>
                      <a:pPr marL="0" indent="0" algn="ctr">
                        <a:buNone/>
                      </a:pPr>
                      <a:r>
                        <a:rPr lang="en-US" sz="1000" b="1" dirty="0">
                          <a:solidFill>
                            <a:srgbClr val="FFFFFF"/>
                          </a:solidFill>
                        </a:rPr>
                        <a:t>FY23</a:t>
                      </a:r>
                      <a:endParaRPr lang="en-US" sz="100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75000"/>
                      </a:schemeClr>
                    </a:solidFill>
                  </a:tcPr>
                </a:tc>
                <a:tc>
                  <a:txBody>
                    <a:bodyPr/>
                    <a:lstStyle/>
                    <a:p>
                      <a:pPr marL="0" indent="0" algn="ctr">
                        <a:buNone/>
                      </a:pPr>
                      <a:r>
                        <a:rPr lang="en-US" sz="1000" b="1" dirty="0">
                          <a:solidFill>
                            <a:srgbClr val="FFFFFF"/>
                          </a:solidFill>
                        </a:rPr>
                        <a:t>FY24</a:t>
                      </a:r>
                      <a:endParaRPr lang="en-US" sz="100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75000"/>
                      </a:schemeClr>
                    </a:solidFill>
                  </a:tcPr>
                </a:tc>
                <a:tc>
                  <a:txBody>
                    <a:bodyPr/>
                    <a:lstStyle/>
                    <a:p>
                      <a:pPr marL="0" indent="0" algn="ctr">
                        <a:buNone/>
                      </a:pPr>
                      <a:r>
                        <a:rPr lang="en-US" sz="1000" b="1" dirty="0">
                          <a:solidFill>
                            <a:srgbClr val="FFFFFF"/>
                          </a:solidFill>
                        </a:rPr>
                        <a:t>FY25</a:t>
                      </a:r>
                      <a:endParaRPr lang="en-US" sz="100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10000"/>
                  </a:ext>
                </a:extLst>
              </a:tr>
              <a:tr h="355597">
                <a:tc>
                  <a:txBody>
                    <a:bodyPr/>
                    <a:lstStyle/>
                    <a:p>
                      <a:pPr marL="0" indent="0" algn="l">
                        <a:buNone/>
                      </a:pPr>
                      <a:r>
                        <a:rPr lang="en-US" sz="1050" b="1" dirty="0">
                          <a:solidFill>
                            <a:srgbClr val="0B2545"/>
                          </a:solidFill>
                        </a:rPr>
                        <a:t>Current Ratio (x)</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1.59</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1.79</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2.02</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1.89</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2.04</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2.00</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2.56</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2.89</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5597">
                <a:tc>
                  <a:txBody>
                    <a:bodyPr/>
                    <a:lstStyle/>
                    <a:p>
                      <a:pPr marL="0" indent="0" algn="l">
                        <a:buNone/>
                      </a:pPr>
                      <a:r>
                        <a:rPr lang="en-US" sz="1050" b="1" dirty="0">
                          <a:solidFill>
                            <a:srgbClr val="0B2545"/>
                          </a:solidFill>
                        </a:rPr>
                        <a:t>Quick Ratio (x)</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1.25</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1.34</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1.51</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1.33</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1.51</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1.47</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1.98</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2.33</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2"/>
                  </a:ext>
                </a:extLst>
              </a:tr>
              <a:tr h="355597">
                <a:tc>
                  <a:txBody>
                    <a:bodyPr/>
                    <a:lstStyle/>
                    <a:p>
                      <a:pPr marL="0" indent="0" algn="l">
                        <a:buNone/>
                      </a:pPr>
                      <a:r>
                        <a:rPr lang="en-US" sz="1050" b="1" dirty="0">
                          <a:solidFill>
                            <a:srgbClr val="0B2545"/>
                          </a:solidFill>
                        </a:rPr>
                        <a:t>Debt-to-Equity (x)</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0.23</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0.22</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0.15</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0.07</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0.02</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0.10</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0.04</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0.03</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5597">
                <a:tc>
                  <a:txBody>
                    <a:bodyPr/>
                    <a:lstStyle/>
                    <a:p>
                      <a:pPr marL="0" indent="0" algn="l">
                        <a:buNone/>
                      </a:pPr>
                      <a:r>
                        <a:rPr lang="en-US" sz="1050" b="1" dirty="0">
                          <a:solidFill>
                            <a:srgbClr val="0B2545"/>
                          </a:solidFill>
                        </a:rPr>
                        <a:t>Interest Coverage Ratio (x)</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7.72</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7.86</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17.55</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20.80</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36.19</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55.70</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47.49</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60.44</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4"/>
                  </a:ext>
                </a:extLst>
              </a:tr>
              <a:tr h="355597">
                <a:tc>
                  <a:txBody>
                    <a:bodyPr/>
                    <a:lstStyle/>
                    <a:p>
                      <a:pPr marL="0" indent="0" algn="l">
                        <a:buNone/>
                      </a:pPr>
                      <a:r>
                        <a:rPr lang="en-US" sz="1050" b="1" dirty="0">
                          <a:solidFill>
                            <a:srgbClr val="0B2545"/>
                          </a:solidFill>
                        </a:rPr>
                        <a:t>Debtor Days</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108</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112</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105</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99</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100</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95</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85</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91</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5597">
                <a:tc>
                  <a:txBody>
                    <a:bodyPr/>
                    <a:lstStyle/>
                    <a:p>
                      <a:pPr marL="0" indent="0" algn="l">
                        <a:buNone/>
                      </a:pPr>
                      <a:r>
                        <a:rPr lang="en-US" sz="1050" b="1" dirty="0">
                          <a:solidFill>
                            <a:srgbClr val="0B2545"/>
                          </a:solidFill>
                        </a:rPr>
                        <a:t>Payable Days</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242</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182</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167</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156</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156</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183</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199</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213</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6"/>
                  </a:ext>
                </a:extLst>
              </a:tr>
              <a:tr h="355597">
                <a:tc>
                  <a:txBody>
                    <a:bodyPr/>
                    <a:lstStyle/>
                    <a:p>
                      <a:pPr marL="0" indent="0" algn="l">
                        <a:buNone/>
                      </a:pPr>
                      <a:r>
                        <a:rPr lang="en-US" sz="1050" b="1" dirty="0">
                          <a:solidFill>
                            <a:srgbClr val="0B2545"/>
                          </a:solidFill>
                        </a:rPr>
                        <a:t>Inventory Days</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349</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347</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322</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352</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314</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338</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347</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rPr>
                        <a:t>353</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55597">
                <a:tc>
                  <a:txBody>
                    <a:bodyPr/>
                    <a:lstStyle/>
                    <a:p>
                      <a:pPr marL="0" indent="0" algn="l">
                        <a:buNone/>
                      </a:pPr>
                      <a:r>
                        <a:rPr lang="en-US" sz="1050" b="1" dirty="0">
                          <a:solidFill>
                            <a:srgbClr val="0B2545"/>
                          </a:solidFill>
                        </a:rPr>
                        <a:t>Cash Conversion Cycle (Days)</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215</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276</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259</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295</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258</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250</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233</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050" dirty="0">
                          <a:solidFill>
                            <a:srgbClr val="1A1A1A"/>
                          </a:solidFill>
                        </a:rPr>
                        <a:t>230</a:t>
                      </a:r>
                      <a:endParaRPr lang="en-US" sz="1050" dirty="0"/>
                    </a:p>
                  </a:txBody>
                  <a:tcPr marL="50800" marR="508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8"/>
                  </a:ext>
                </a:extLst>
              </a:tr>
            </a:tbl>
          </a:graphicData>
        </a:graphic>
      </p:graphicFrame>
      <p:sp>
        <p:nvSpPr>
          <p:cNvPr id="11" name="object 18">
            <a:extLst>
              <a:ext uri="{FF2B5EF4-FFF2-40B4-BE49-F238E27FC236}">
                <a16:creationId xmlns:a16="http://schemas.microsoft.com/office/drawing/2014/main" id="{8AD56412-F463-FC75-AF61-B827BC859A9A}"/>
              </a:ext>
            </a:extLst>
          </p:cNvPr>
          <p:cNvSpPr txBox="1"/>
          <p:nvPr/>
        </p:nvSpPr>
        <p:spPr>
          <a:xfrm>
            <a:off x="164362" y="5327950"/>
            <a:ext cx="3033395" cy="1490152"/>
          </a:xfrm>
          <a:prstGeom prst="rect">
            <a:avLst/>
          </a:prstGeom>
        </p:spPr>
        <p:txBody>
          <a:bodyPr vert="horz" wrap="square" lIns="0" tIns="12700" rIns="0" bIns="0" rtlCol="0">
            <a:spAutoFit/>
          </a:bodyPr>
          <a:lstStyle/>
          <a:p>
            <a:pPr marL="0" indent="0" algn="just">
              <a:buNone/>
            </a:pPr>
            <a:r>
              <a:rPr lang="en-US" sz="1200" dirty="0">
                <a:solidFill>
                  <a:srgbClr val="1A1A1A"/>
                </a:solidFill>
                <a:latin typeface="+mj-lt"/>
                <a:ea typeface="Calibri" pitchFamily="34" charset="-122"/>
                <a:cs typeface="Calibri" pitchFamily="34" charset="-120"/>
              </a:rPr>
              <a:t>Sun Pharma's current ratio has improved steadily from 1.59x in FY18 to 2.89x in FY25, reflecting a consistent build-up of current assets; particularly investments and cash relative to current liabilities. The ratio has remained comfortably above 1.5x throughout, indicating strong short-term liquidity and a low reliance on external working capital funding.</a:t>
            </a:r>
            <a:endParaRPr lang="en-US" sz="1200" dirty="0">
              <a:latin typeface="+mj-lt"/>
            </a:endParaRPr>
          </a:p>
        </p:txBody>
      </p:sp>
      <p:graphicFrame>
        <p:nvGraphicFramePr>
          <p:cNvPr id="14" name="Chart 0">
            <a:extLst>
              <a:ext uri="{FF2B5EF4-FFF2-40B4-BE49-F238E27FC236}">
                <a16:creationId xmlns:a16="http://schemas.microsoft.com/office/drawing/2014/main" id="{589D07FE-141F-16B7-3CF0-751B4D00EABB}"/>
              </a:ext>
            </a:extLst>
          </p:cNvPr>
          <p:cNvGraphicFramePr/>
          <p:nvPr/>
        </p:nvGraphicFramePr>
        <p:xfrm>
          <a:off x="3352799" y="5105399"/>
          <a:ext cx="3307080" cy="1447791"/>
        </p:xfrm>
        <a:graphic>
          <a:graphicData uri="http://schemas.openxmlformats.org/drawingml/2006/chart">
            <c:chart xmlns:c="http://schemas.openxmlformats.org/drawingml/2006/chart" xmlns:r="http://schemas.openxmlformats.org/officeDocument/2006/relationships" r:id="rId3"/>
          </a:graphicData>
        </a:graphic>
      </p:graphicFrame>
      <p:sp>
        <p:nvSpPr>
          <p:cNvPr id="15" name="object 10">
            <a:extLst>
              <a:ext uri="{FF2B5EF4-FFF2-40B4-BE49-F238E27FC236}">
                <a16:creationId xmlns:a16="http://schemas.microsoft.com/office/drawing/2014/main" id="{8A41DA35-75B0-409B-635B-4EA093A0844C}"/>
              </a:ext>
            </a:extLst>
          </p:cNvPr>
          <p:cNvSpPr txBox="1"/>
          <p:nvPr/>
        </p:nvSpPr>
        <p:spPr>
          <a:xfrm>
            <a:off x="160158" y="7233740"/>
            <a:ext cx="3033395" cy="1305486"/>
          </a:xfrm>
          <a:prstGeom prst="rect">
            <a:avLst/>
          </a:prstGeom>
        </p:spPr>
        <p:txBody>
          <a:bodyPr vert="horz" wrap="square" lIns="0" tIns="12700" rIns="0" bIns="0" rtlCol="0">
            <a:spAutoFit/>
          </a:bodyPr>
          <a:lstStyle/>
          <a:p>
            <a:pPr marL="0" indent="0" algn="just">
              <a:buNone/>
            </a:pPr>
            <a:r>
              <a:rPr lang="en-US" sz="1200" dirty="0">
                <a:solidFill>
                  <a:srgbClr val="1A1A1A"/>
                </a:solidFill>
                <a:latin typeface="+mj-lt"/>
                <a:ea typeface="Calibri" pitchFamily="34" charset="-122"/>
                <a:cs typeface="Calibri" pitchFamily="34" charset="-120"/>
              </a:rPr>
              <a:t>The quick ratio, which excludes inventory, has more than doubled from 1.25x in FY18 to 2.33x in FY25. Even excluding stock-in-trade, Sun Pharma has held enough liquid current assets to cover short-term liabilities well above 1x since FY19, pointing to a strong and improving liquidity cushion.</a:t>
            </a:r>
            <a:endParaRPr lang="en-US" sz="1200" dirty="0">
              <a:latin typeface="+mj-lt"/>
            </a:endParaRPr>
          </a:p>
        </p:txBody>
      </p:sp>
      <p:graphicFrame>
        <p:nvGraphicFramePr>
          <p:cNvPr id="17" name="Chart 0">
            <a:extLst>
              <a:ext uri="{FF2B5EF4-FFF2-40B4-BE49-F238E27FC236}">
                <a16:creationId xmlns:a16="http://schemas.microsoft.com/office/drawing/2014/main" id="{0774150A-384D-BF40-0829-AC8C6DE54826}"/>
              </a:ext>
            </a:extLst>
          </p:cNvPr>
          <p:cNvGraphicFramePr/>
          <p:nvPr/>
        </p:nvGraphicFramePr>
        <p:xfrm>
          <a:off x="3352799" y="6930850"/>
          <a:ext cx="3307080" cy="1608376"/>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Box 6">
            <a:extLst>
              <a:ext uri="{FF2B5EF4-FFF2-40B4-BE49-F238E27FC236}">
                <a16:creationId xmlns:a16="http://schemas.microsoft.com/office/drawing/2014/main" id="{C90D9E83-DB3F-F5C2-78F9-080B09FABA83}"/>
              </a:ext>
            </a:extLst>
          </p:cNvPr>
          <p:cNvSpPr txBox="1"/>
          <p:nvPr/>
        </p:nvSpPr>
        <p:spPr>
          <a:xfrm>
            <a:off x="1716354" y="1065850"/>
            <a:ext cx="3611300" cy="369332"/>
          </a:xfrm>
          <a:prstGeom prst="rect">
            <a:avLst/>
          </a:prstGeom>
          <a:noFill/>
        </p:spPr>
        <p:txBody>
          <a:bodyPr wrap="square">
            <a:spAutoFit/>
          </a:bodyPr>
          <a:lstStyle/>
          <a:p>
            <a:pPr marL="0" indent="0" algn="ctr">
              <a:buNone/>
            </a:pPr>
            <a:r>
              <a:rPr lang="en-US" b="1" dirty="0">
                <a:solidFill>
                  <a:schemeClr val="bg1"/>
                </a:solidFill>
                <a:latin typeface="+mj-lt"/>
                <a:ea typeface="Calibri" pitchFamily="34" charset="-122"/>
                <a:cs typeface="Calibri" pitchFamily="34" charset="-120"/>
              </a:rPr>
              <a:t>RATIO ANALYSIS</a:t>
            </a:r>
            <a:endParaRPr lang="en-US" dirty="0">
              <a:solidFill>
                <a:schemeClr val="bg1"/>
              </a:solidFill>
              <a:latin typeface="+mj-lt"/>
            </a:endParaRPr>
          </a:p>
        </p:txBody>
      </p:sp>
      <p:sp>
        <p:nvSpPr>
          <p:cNvPr id="12" name="TextBox 11">
            <a:extLst>
              <a:ext uri="{FF2B5EF4-FFF2-40B4-BE49-F238E27FC236}">
                <a16:creationId xmlns:a16="http://schemas.microsoft.com/office/drawing/2014/main" id="{D3CFE700-7E6D-8A0E-34EA-F304B36BA12C}"/>
              </a:ext>
            </a:extLst>
          </p:cNvPr>
          <p:cNvSpPr txBox="1"/>
          <p:nvPr/>
        </p:nvSpPr>
        <p:spPr>
          <a:xfrm>
            <a:off x="63418" y="5046823"/>
            <a:ext cx="3611300" cy="338554"/>
          </a:xfrm>
          <a:prstGeom prst="rect">
            <a:avLst/>
          </a:prstGeom>
          <a:noFill/>
        </p:spPr>
        <p:txBody>
          <a:bodyPr wrap="square">
            <a:spAutoFit/>
          </a:bodyPr>
          <a:lstStyle/>
          <a:p>
            <a:pPr marL="12700" algn="just">
              <a:lnSpc>
                <a:spcPct val="100000"/>
              </a:lnSpc>
              <a:spcBef>
                <a:spcPts val="100"/>
              </a:spcBef>
            </a:pPr>
            <a:r>
              <a:rPr lang="en-GB" sz="1600" b="1" dirty="0">
                <a:solidFill>
                  <a:schemeClr val="accent6">
                    <a:lumMod val="75000"/>
                  </a:schemeClr>
                </a:solidFill>
                <a:latin typeface="+mj-lt"/>
                <a:cs typeface="Calibri"/>
              </a:rPr>
              <a:t>CURRENT</a:t>
            </a:r>
            <a:r>
              <a:rPr lang="en-GB" sz="1600" b="1" spc="-25" dirty="0">
                <a:solidFill>
                  <a:schemeClr val="accent6">
                    <a:lumMod val="75000"/>
                  </a:schemeClr>
                </a:solidFill>
                <a:latin typeface="+mj-lt"/>
                <a:cs typeface="Calibri"/>
              </a:rPr>
              <a:t> </a:t>
            </a:r>
            <a:r>
              <a:rPr lang="en-GB" sz="1600" b="1" spc="-20" dirty="0">
                <a:solidFill>
                  <a:schemeClr val="accent6">
                    <a:lumMod val="75000"/>
                  </a:schemeClr>
                </a:solidFill>
                <a:latin typeface="+mj-lt"/>
                <a:cs typeface="Calibri"/>
              </a:rPr>
              <a:t>RATIO</a:t>
            </a:r>
            <a:endParaRPr lang="en-GB" sz="1600" dirty="0">
              <a:solidFill>
                <a:schemeClr val="accent6">
                  <a:lumMod val="75000"/>
                </a:schemeClr>
              </a:solidFill>
              <a:latin typeface="+mj-lt"/>
              <a:cs typeface="Calibri"/>
            </a:endParaRPr>
          </a:p>
        </p:txBody>
      </p:sp>
      <p:sp>
        <p:nvSpPr>
          <p:cNvPr id="16" name="TextBox 15">
            <a:extLst>
              <a:ext uri="{FF2B5EF4-FFF2-40B4-BE49-F238E27FC236}">
                <a16:creationId xmlns:a16="http://schemas.microsoft.com/office/drawing/2014/main" id="{89E5397B-E739-42EB-2F3F-1709BD25B8DB}"/>
              </a:ext>
            </a:extLst>
          </p:cNvPr>
          <p:cNvSpPr txBox="1"/>
          <p:nvPr/>
        </p:nvSpPr>
        <p:spPr>
          <a:xfrm>
            <a:off x="45091" y="6930850"/>
            <a:ext cx="3611300" cy="338554"/>
          </a:xfrm>
          <a:prstGeom prst="rect">
            <a:avLst/>
          </a:prstGeom>
          <a:noFill/>
        </p:spPr>
        <p:txBody>
          <a:bodyPr wrap="square">
            <a:spAutoFit/>
          </a:bodyPr>
          <a:lstStyle/>
          <a:p>
            <a:pPr marL="12700" algn="just">
              <a:lnSpc>
                <a:spcPct val="100000"/>
              </a:lnSpc>
              <a:spcBef>
                <a:spcPts val="100"/>
              </a:spcBef>
            </a:pPr>
            <a:r>
              <a:rPr lang="en-GB" sz="1600" b="1" dirty="0">
                <a:solidFill>
                  <a:schemeClr val="accent6">
                    <a:lumMod val="75000"/>
                  </a:schemeClr>
                </a:solidFill>
                <a:latin typeface="+mj-lt"/>
                <a:cs typeface="Calibri"/>
              </a:rPr>
              <a:t>QUICK</a:t>
            </a:r>
            <a:r>
              <a:rPr lang="en-GB" sz="1600" b="1" spc="-15" dirty="0">
                <a:solidFill>
                  <a:schemeClr val="accent6">
                    <a:lumMod val="75000"/>
                  </a:schemeClr>
                </a:solidFill>
                <a:latin typeface="+mj-lt"/>
                <a:cs typeface="Calibri"/>
              </a:rPr>
              <a:t> </a:t>
            </a:r>
            <a:r>
              <a:rPr lang="en-GB" sz="1600" b="1" spc="-10" dirty="0">
                <a:solidFill>
                  <a:schemeClr val="accent6">
                    <a:lumMod val="75000"/>
                  </a:schemeClr>
                </a:solidFill>
                <a:latin typeface="+mj-lt"/>
                <a:cs typeface="Calibri"/>
              </a:rPr>
              <a:t>RATIO</a:t>
            </a:r>
            <a:endParaRPr lang="en-GB" sz="1600" dirty="0">
              <a:solidFill>
                <a:schemeClr val="accent6">
                  <a:lumMod val="75000"/>
                </a:schemeClr>
              </a:solidFill>
              <a:latin typeface="+mj-lt"/>
              <a:cs typeface="Calibri"/>
            </a:endParaRPr>
          </a:p>
        </p:txBody>
      </p:sp>
    </p:spTree>
    <p:extLst>
      <p:ext uri="{BB962C8B-B14F-4D97-AF65-F5344CB8AC3E}">
        <p14:creationId xmlns:p14="http://schemas.microsoft.com/office/powerpoint/2010/main" val="25304587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996C5-FAEB-A109-9857-EA052BABD500}"/>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0C725699-61D5-094D-5465-BB4E83554FF3}"/>
              </a:ext>
            </a:extLst>
          </p:cNvPr>
          <p:cNvGrpSpPr/>
          <p:nvPr/>
        </p:nvGrpSpPr>
        <p:grpSpPr>
          <a:xfrm>
            <a:off x="0" y="0"/>
            <a:ext cx="6858000" cy="1625597"/>
            <a:chOff x="0" y="0"/>
            <a:chExt cx="6858000" cy="1625597"/>
          </a:xfrm>
        </p:grpSpPr>
        <p:sp>
          <p:nvSpPr>
            <p:cNvPr id="3" name="object 3">
              <a:extLst>
                <a:ext uri="{FF2B5EF4-FFF2-40B4-BE49-F238E27FC236}">
                  <a16:creationId xmlns:a16="http://schemas.microsoft.com/office/drawing/2014/main" id="{171864A3-D983-A718-BF38-10EC3584A64E}"/>
                </a:ext>
              </a:extLst>
            </p:cNvPr>
            <p:cNvSpPr/>
            <p:nvPr/>
          </p:nvSpPr>
          <p:spPr>
            <a:xfrm>
              <a:off x="0" y="0"/>
              <a:ext cx="6858000" cy="949325"/>
            </a:xfrm>
            <a:custGeom>
              <a:avLst/>
              <a:gdLst/>
              <a:ahLst/>
              <a:cxnLst/>
              <a:rect l="l" t="t" r="r" b="b"/>
              <a:pathLst>
                <a:path w="6858000" h="949325">
                  <a:moveTo>
                    <a:pt x="0" y="949198"/>
                  </a:moveTo>
                  <a:lnTo>
                    <a:pt x="6858000" y="949198"/>
                  </a:lnTo>
                  <a:lnTo>
                    <a:pt x="6858000" y="0"/>
                  </a:lnTo>
                  <a:lnTo>
                    <a:pt x="0" y="0"/>
                  </a:lnTo>
                  <a:lnTo>
                    <a:pt x="0" y="949198"/>
                  </a:lnTo>
                  <a:close/>
                </a:path>
              </a:pathLst>
            </a:custGeom>
            <a:solidFill>
              <a:schemeClr val="accent6">
                <a:lumMod val="75000"/>
              </a:schemeClr>
            </a:solidFill>
          </p:spPr>
          <p:txBody>
            <a:bodyPr wrap="square" lIns="0" tIns="0" rIns="0" bIns="0" rtlCol="0"/>
            <a:lstStyle/>
            <a:p>
              <a:endParaRPr/>
            </a:p>
          </p:txBody>
        </p:sp>
        <p:sp>
          <p:nvSpPr>
            <p:cNvPr id="4" name="object 4">
              <a:extLst>
                <a:ext uri="{FF2B5EF4-FFF2-40B4-BE49-F238E27FC236}">
                  <a16:creationId xmlns:a16="http://schemas.microsoft.com/office/drawing/2014/main" id="{02D2626A-CE79-3964-AF7F-771833E0DA19}"/>
                </a:ext>
              </a:extLst>
            </p:cNvPr>
            <p:cNvSpPr/>
            <p:nvPr/>
          </p:nvSpPr>
          <p:spPr>
            <a:xfrm>
              <a:off x="0" y="316227"/>
              <a:ext cx="4147185" cy="1309370"/>
            </a:xfrm>
            <a:custGeom>
              <a:avLst/>
              <a:gdLst/>
              <a:ahLst/>
              <a:cxnLst/>
              <a:rect l="l" t="t" r="r" b="b"/>
              <a:pathLst>
                <a:path w="4147185" h="1309370">
                  <a:moveTo>
                    <a:pt x="3492246" y="0"/>
                  </a:moveTo>
                  <a:lnTo>
                    <a:pt x="0" y="0"/>
                  </a:lnTo>
                  <a:lnTo>
                    <a:pt x="0" y="1309243"/>
                  </a:lnTo>
                  <a:lnTo>
                    <a:pt x="3492246" y="1309243"/>
                  </a:lnTo>
                  <a:lnTo>
                    <a:pt x="4146804" y="654685"/>
                  </a:lnTo>
                  <a:lnTo>
                    <a:pt x="3492246" y="0"/>
                  </a:lnTo>
                  <a:close/>
                </a:path>
              </a:pathLst>
            </a:custGeom>
            <a:solidFill>
              <a:srgbClr val="FFFFFF"/>
            </a:solidFill>
          </p:spPr>
          <p:txBody>
            <a:bodyPr wrap="square" lIns="0" tIns="0" rIns="0" bIns="0" rtlCol="0"/>
            <a:lstStyle/>
            <a:p>
              <a:endParaRPr dirty="0"/>
            </a:p>
          </p:txBody>
        </p:sp>
      </p:grpSp>
      <p:sp>
        <p:nvSpPr>
          <p:cNvPr id="5" name="object 5">
            <a:extLst>
              <a:ext uri="{FF2B5EF4-FFF2-40B4-BE49-F238E27FC236}">
                <a16:creationId xmlns:a16="http://schemas.microsoft.com/office/drawing/2014/main" id="{37722027-D167-C366-1465-F81E09085057}"/>
              </a:ext>
            </a:extLst>
          </p:cNvPr>
          <p:cNvSpPr txBox="1"/>
          <p:nvPr/>
        </p:nvSpPr>
        <p:spPr>
          <a:xfrm>
            <a:off x="147015" y="4952"/>
            <a:ext cx="2081530" cy="247015"/>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FFFFFF"/>
                </a:solidFill>
                <a:latin typeface="Calibri"/>
                <a:cs typeface="Calibri"/>
              </a:rPr>
              <a:t>EQUITY</a:t>
            </a:r>
            <a:r>
              <a:rPr sz="1450" b="1" spc="-65" dirty="0">
                <a:solidFill>
                  <a:srgbClr val="FFFFFF"/>
                </a:solidFill>
                <a:latin typeface="Calibri"/>
                <a:cs typeface="Calibri"/>
              </a:rPr>
              <a:t> </a:t>
            </a:r>
            <a:r>
              <a:rPr sz="1450" b="1" dirty="0">
                <a:solidFill>
                  <a:srgbClr val="FFFFFF"/>
                </a:solidFill>
                <a:latin typeface="Calibri"/>
                <a:cs typeface="Calibri"/>
              </a:rPr>
              <a:t>RESEARCH</a:t>
            </a:r>
            <a:r>
              <a:rPr sz="1450" b="1" spc="-60" dirty="0">
                <a:solidFill>
                  <a:srgbClr val="FFFFFF"/>
                </a:solidFill>
                <a:latin typeface="Calibri"/>
                <a:cs typeface="Calibri"/>
              </a:rPr>
              <a:t> </a:t>
            </a:r>
            <a:r>
              <a:rPr sz="1450" b="1" spc="-10" dirty="0">
                <a:solidFill>
                  <a:srgbClr val="FFFFFF"/>
                </a:solidFill>
                <a:latin typeface="Calibri"/>
                <a:cs typeface="Calibri"/>
              </a:rPr>
              <a:t>REPORT</a:t>
            </a:r>
            <a:endParaRPr sz="1450">
              <a:latin typeface="Calibri"/>
              <a:cs typeface="Calibri"/>
            </a:endParaRPr>
          </a:p>
        </p:txBody>
      </p:sp>
      <p:sp>
        <p:nvSpPr>
          <p:cNvPr id="40" name="object 40">
            <a:extLst>
              <a:ext uri="{FF2B5EF4-FFF2-40B4-BE49-F238E27FC236}">
                <a16:creationId xmlns:a16="http://schemas.microsoft.com/office/drawing/2014/main" id="{526E6E9A-98FF-D119-3ADB-3A43E6657F2A}"/>
              </a:ext>
            </a:extLst>
          </p:cNvPr>
          <p:cNvSpPr txBox="1">
            <a:spLocks noGrp="1"/>
          </p:cNvSpPr>
          <p:nvPr>
            <p:ph type="title"/>
          </p:nvPr>
        </p:nvSpPr>
        <p:spPr>
          <a:xfrm>
            <a:off x="141831" y="295140"/>
            <a:ext cx="4269104" cy="289182"/>
          </a:xfrm>
          <a:prstGeom prst="rect">
            <a:avLst/>
          </a:prstGeom>
        </p:spPr>
        <p:txBody>
          <a:bodyPr vert="horz" wrap="square" lIns="0" tIns="12065" rIns="0" bIns="0" rtlCol="0">
            <a:spAutoFit/>
          </a:bodyPr>
          <a:lstStyle/>
          <a:p>
            <a:pPr marL="12700">
              <a:lnSpc>
                <a:spcPct val="100000"/>
              </a:lnSpc>
              <a:spcBef>
                <a:spcPts val="95"/>
              </a:spcBef>
            </a:pPr>
            <a:r>
              <a:rPr lang="en-GB" sz="1800" dirty="0"/>
              <a:t>Sun Pharmaceutical Industries Ltd.</a:t>
            </a:r>
            <a:endParaRPr sz="1800" dirty="0"/>
          </a:p>
        </p:txBody>
      </p:sp>
      <p:sp>
        <p:nvSpPr>
          <p:cNvPr id="41" name="object 41">
            <a:extLst>
              <a:ext uri="{FF2B5EF4-FFF2-40B4-BE49-F238E27FC236}">
                <a16:creationId xmlns:a16="http://schemas.microsoft.com/office/drawing/2014/main" id="{AAAD5014-C9CD-1A6F-5F49-8E989BEB8F9F}"/>
              </a:ext>
            </a:extLst>
          </p:cNvPr>
          <p:cNvSpPr txBox="1"/>
          <p:nvPr/>
        </p:nvSpPr>
        <p:spPr>
          <a:xfrm>
            <a:off x="141831" y="526972"/>
            <a:ext cx="3210968"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D2841"/>
                </a:solidFill>
                <a:latin typeface="Calibri"/>
                <a:cs typeface="Calibri"/>
              </a:rPr>
              <a:t>NSE</a:t>
            </a:r>
            <a:r>
              <a:rPr sz="1200" b="1" spc="-20" dirty="0">
                <a:solidFill>
                  <a:srgbClr val="0D2841"/>
                </a:solidFill>
                <a:latin typeface="Calibri"/>
                <a:cs typeface="Calibri"/>
              </a:rPr>
              <a:t> </a:t>
            </a:r>
            <a:r>
              <a:rPr sz="1200" b="1" dirty="0">
                <a:solidFill>
                  <a:srgbClr val="0D2841"/>
                </a:solidFill>
                <a:latin typeface="Calibri"/>
                <a:cs typeface="Calibri"/>
              </a:rPr>
              <a:t>:</a:t>
            </a:r>
            <a:r>
              <a:rPr lang="en-US" sz="1200" b="1" spc="-15" dirty="0">
                <a:solidFill>
                  <a:srgbClr val="0D2841"/>
                </a:solidFill>
                <a:latin typeface="Calibri"/>
                <a:cs typeface="Calibri"/>
              </a:rPr>
              <a:t> </a:t>
            </a:r>
            <a:r>
              <a:rPr lang="en-GB" sz="1200" b="1" dirty="0">
                <a:latin typeface="+mj-lt"/>
              </a:rPr>
              <a:t>SUNPHARMA</a:t>
            </a:r>
            <a:r>
              <a:rPr sz="1200" b="1" spc="10" dirty="0">
                <a:solidFill>
                  <a:srgbClr val="0D2841"/>
                </a:solidFill>
                <a:latin typeface="Calibri"/>
                <a:cs typeface="Calibri"/>
              </a:rPr>
              <a:t> </a:t>
            </a:r>
            <a:r>
              <a:rPr sz="1200" b="1" dirty="0">
                <a:solidFill>
                  <a:srgbClr val="0D2841"/>
                </a:solidFill>
                <a:latin typeface="Calibri"/>
                <a:cs typeface="Calibri"/>
              </a:rPr>
              <a:t>|</a:t>
            </a:r>
            <a:r>
              <a:rPr sz="1200" b="1" spc="-15" dirty="0">
                <a:solidFill>
                  <a:srgbClr val="0D2841"/>
                </a:solidFill>
                <a:latin typeface="Calibri"/>
                <a:cs typeface="Calibri"/>
              </a:rPr>
              <a:t> </a:t>
            </a:r>
            <a:r>
              <a:rPr sz="1200" b="1" dirty="0">
                <a:solidFill>
                  <a:srgbClr val="0D2841"/>
                </a:solidFill>
                <a:latin typeface="Calibri"/>
                <a:cs typeface="Calibri"/>
              </a:rPr>
              <a:t>BSE Code:</a:t>
            </a:r>
            <a:r>
              <a:rPr sz="1200" b="1" spc="-5" dirty="0">
                <a:solidFill>
                  <a:srgbClr val="0D2841"/>
                </a:solidFill>
                <a:latin typeface="Calibri"/>
                <a:cs typeface="Calibri"/>
              </a:rPr>
              <a:t> </a:t>
            </a:r>
            <a:r>
              <a:rPr lang="en-GB" sz="1200" b="1" dirty="0">
                <a:latin typeface="+mj-lt"/>
              </a:rPr>
              <a:t>524715</a:t>
            </a:r>
          </a:p>
        </p:txBody>
      </p:sp>
      <p:sp>
        <p:nvSpPr>
          <p:cNvPr id="57" name="object 41">
            <a:extLst>
              <a:ext uri="{FF2B5EF4-FFF2-40B4-BE49-F238E27FC236}">
                <a16:creationId xmlns:a16="http://schemas.microsoft.com/office/drawing/2014/main" id="{4F05496B-36EA-3A72-DC8A-B6845BEC59D0}"/>
              </a:ext>
            </a:extLst>
          </p:cNvPr>
          <p:cNvSpPr txBox="1"/>
          <p:nvPr/>
        </p:nvSpPr>
        <p:spPr>
          <a:xfrm>
            <a:off x="141831" y="686543"/>
            <a:ext cx="3210968" cy="197490"/>
          </a:xfrm>
          <a:prstGeom prst="rect">
            <a:avLst/>
          </a:prstGeom>
        </p:spPr>
        <p:txBody>
          <a:bodyPr vert="horz" wrap="square" lIns="0" tIns="12700" rIns="0" bIns="0" rtlCol="0">
            <a:spAutoFit/>
          </a:bodyPr>
          <a:lstStyle/>
          <a:p>
            <a:pPr marL="12700">
              <a:lnSpc>
                <a:spcPct val="100000"/>
              </a:lnSpc>
              <a:spcBef>
                <a:spcPts val="100"/>
              </a:spcBef>
            </a:pPr>
            <a:r>
              <a:rPr lang="en-GB" sz="1200" b="1" dirty="0">
                <a:latin typeface="Calibri "/>
              </a:rPr>
              <a:t>Pharmaceuticals &amp; Drugs</a:t>
            </a:r>
          </a:p>
        </p:txBody>
      </p:sp>
      <p:pic>
        <p:nvPicPr>
          <p:cNvPr id="59" name="Picture 58">
            <a:extLst>
              <a:ext uri="{FF2B5EF4-FFF2-40B4-BE49-F238E27FC236}">
                <a16:creationId xmlns:a16="http://schemas.microsoft.com/office/drawing/2014/main" id="{86220B51-0A47-F1BB-0CE5-3A89B9E8627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04126" y="17284"/>
            <a:ext cx="1295705" cy="879830"/>
          </a:xfrm>
          <a:prstGeom prst="rect">
            <a:avLst/>
          </a:prstGeom>
        </p:spPr>
      </p:pic>
      <p:cxnSp>
        <p:nvCxnSpPr>
          <p:cNvPr id="61" name="Straight Connector 60">
            <a:extLst>
              <a:ext uri="{FF2B5EF4-FFF2-40B4-BE49-F238E27FC236}">
                <a16:creationId xmlns:a16="http://schemas.microsoft.com/office/drawing/2014/main" id="{16C9F2A6-BD5F-B3CE-D91A-B0171A2D0D7D}"/>
              </a:ext>
            </a:extLst>
          </p:cNvPr>
          <p:cNvCxnSpPr>
            <a:cxnSpLocks/>
          </p:cNvCxnSpPr>
          <p:nvPr/>
        </p:nvCxnSpPr>
        <p:spPr>
          <a:xfrm>
            <a:off x="0" y="8859394"/>
            <a:ext cx="6858000" cy="0"/>
          </a:xfrm>
          <a:prstGeom prst="line">
            <a:avLst/>
          </a:prstGeom>
          <a:ln w="41275">
            <a:solidFill>
              <a:srgbClr val="E46C0A"/>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EF0BF25F-B100-38AF-F2F4-5CD8D35C8079}"/>
              </a:ext>
            </a:extLst>
          </p:cNvPr>
          <p:cNvSpPr txBox="1"/>
          <p:nvPr/>
        </p:nvSpPr>
        <p:spPr>
          <a:xfrm>
            <a:off x="6553200" y="8810228"/>
            <a:ext cx="667055" cy="369332"/>
          </a:xfrm>
          <a:prstGeom prst="rect">
            <a:avLst/>
          </a:prstGeom>
          <a:noFill/>
        </p:spPr>
        <p:txBody>
          <a:bodyPr wrap="square" rtlCol="0">
            <a:spAutoFit/>
          </a:bodyPr>
          <a:lstStyle/>
          <a:p>
            <a:r>
              <a:rPr lang="en-US" b="1" dirty="0">
                <a:solidFill>
                  <a:srgbClr val="E46C0A"/>
                </a:solidFill>
              </a:rPr>
              <a:t>1</a:t>
            </a:r>
            <a:endParaRPr lang="en-GB" b="1" dirty="0">
              <a:solidFill>
                <a:srgbClr val="E46C0A"/>
              </a:solidFill>
            </a:endParaRPr>
          </a:p>
        </p:txBody>
      </p:sp>
      <p:cxnSp>
        <p:nvCxnSpPr>
          <p:cNvPr id="69" name="Straight Connector 68">
            <a:extLst>
              <a:ext uri="{FF2B5EF4-FFF2-40B4-BE49-F238E27FC236}">
                <a16:creationId xmlns:a16="http://schemas.microsoft.com/office/drawing/2014/main" id="{1A711B40-B01A-960E-AF82-F6980F5D595E}"/>
              </a:ext>
            </a:extLst>
          </p:cNvPr>
          <p:cNvCxnSpPr>
            <a:cxnSpLocks/>
          </p:cNvCxnSpPr>
          <p:nvPr/>
        </p:nvCxnSpPr>
        <p:spPr>
          <a:xfrm flipV="1">
            <a:off x="0" y="914400"/>
            <a:ext cx="6858000" cy="37713"/>
          </a:xfrm>
          <a:prstGeom prst="line">
            <a:avLst/>
          </a:prstGeom>
          <a:ln>
            <a:solidFill>
              <a:srgbClr val="E46C0A"/>
            </a:solidFill>
          </a:ln>
        </p:spPr>
        <p:style>
          <a:lnRef idx="1">
            <a:schemeClr val="accent1"/>
          </a:lnRef>
          <a:fillRef idx="0">
            <a:schemeClr val="accent1"/>
          </a:fillRef>
          <a:effectRef idx="0">
            <a:schemeClr val="accent1"/>
          </a:effectRef>
          <a:fontRef idx="minor">
            <a:schemeClr val="tx1"/>
          </a:fontRef>
        </p:style>
      </p:cxnSp>
      <p:sp>
        <p:nvSpPr>
          <p:cNvPr id="6" name="object 18">
            <a:extLst>
              <a:ext uri="{FF2B5EF4-FFF2-40B4-BE49-F238E27FC236}">
                <a16:creationId xmlns:a16="http://schemas.microsoft.com/office/drawing/2014/main" id="{26894613-5C2C-C880-04CB-E49AEBD06EBE}"/>
              </a:ext>
            </a:extLst>
          </p:cNvPr>
          <p:cNvSpPr txBox="1"/>
          <p:nvPr/>
        </p:nvSpPr>
        <p:spPr>
          <a:xfrm>
            <a:off x="141831" y="1750159"/>
            <a:ext cx="3033395" cy="1305486"/>
          </a:xfrm>
          <a:prstGeom prst="rect">
            <a:avLst/>
          </a:prstGeom>
        </p:spPr>
        <p:txBody>
          <a:bodyPr vert="horz" wrap="square" lIns="0" tIns="12700" rIns="0" bIns="0" rtlCol="0">
            <a:spAutoFit/>
          </a:bodyPr>
          <a:lstStyle/>
          <a:p>
            <a:pPr marL="0" indent="0" algn="just">
              <a:buNone/>
            </a:pPr>
            <a:r>
              <a:rPr lang="en-US" sz="1200" dirty="0">
                <a:solidFill>
                  <a:srgbClr val="1A1A1A"/>
                </a:solidFill>
                <a:latin typeface="+mj-lt"/>
                <a:ea typeface="Calibri" pitchFamily="34" charset="-122"/>
                <a:cs typeface="Calibri" pitchFamily="34" charset="-120"/>
              </a:rPr>
              <a:t>Sun Pharma has sharply deleveraged over the period, with debt-to-equity falling from 0.23x in FY18 to just 0.03x in FY25. Total borrowings have shrunk in absolute terms even as equity has nearly doubled on the back of retained profits, leaving the balance sheet almost debt-free by FY22 onward.</a:t>
            </a:r>
            <a:endParaRPr lang="en-US" sz="1200" dirty="0">
              <a:latin typeface="+mj-lt"/>
            </a:endParaRPr>
          </a:p>
        </p:txBody>
      </p:sp>
      <p:graphicFrame>
        <p:nvGraphicFramePr>
          <p:cNvPr id="7" name="Chart 1">
            <a:extLst>
              <a:ext uri="{FF2B5EF4-FFF2-40B4-BE49-F238E27FC236}">
                <a16:creationId xmlns:a16="http://schemas.microsoft.com/office/drawing/2014/main" id="{61FA01C7-76E9-6949-8756-3ACCB541BDF3}"/>
              </a:ext>
            </a:extLst>
          </p:cNvPr>
          <p:cNvGraphicFramePr/>
          <p:nvPr/>
        </p:nvGraphicFramePr>
        <p:xfrm>
          <a:off x="3429000" y="1386360"/>
          <a:ext cx="3307080" cy="1547723"/>
        </p:xfrm>
        <a:graphic>
          <a:graphicData uri="http://schemas.openxmlformats.org/drawingml/2006/chart">
            <c:chart xmlns:c="http://schemas.openxmlformats.org/drawingml/2006/chart" xmlns:r="http://schemas.openxmlformats.org/officeDocument/2006/relationships" r:id="rId4"/>
          </a:graphicData>
        </a:graphic>
      </p:graphicFrame>
      <p:sp>
        <p:nvSpPr>
          <p:cNvPr id="9" name="object 18">
            <a:extLst>
              <a:ext uri="{FF2B5EF4-FFF2-40B4-BE49-F238E27FC236}">
                <a16:creationId xmlns:a16="http://schemas.microsoft.com/office/drawing/2014/main" id="{6065043A-B70F-CF1B-C2BF-007FF5D52918}"/>
              </a:ext>
            </a:extLst>
          </p:cNvPr>
          <p:cNvSpPr txBox="1"/>
          <p:nvPr/>
        </p:nvSpPr>
        <p:spPr>
          <a:xfrm>
            <a:off x="141831" y="3631445"/>
            <a:ext cx="3033395" cy="2044149"/>
          </a:xfrm>
          <a:prstGeom prst="rect">
            <a:avLst/>
          </a:prstGeom>
        </p:spPr>
        <p:txBody>
          <a:bodyPr vert="horz" wrap="square" lIns="0" tIns="12700" rIns="0" bIns="0" rtlCol="0">
            <a:spAutoFit/>
          </a:bodyPr>
          <a:lstStyle/>
          <a:p>
            <a:pPr marL="0" indent="0" algn="just">
              <a:buNone/>
            </a:pPr>
            <a:r>
              <a:rPr lang="en-IN" sz="1200" dirty="0">
                <a:latin typeface="+mj-lt"/>
              </a:rPr>
              <a:t>Sun Pharma's Interest Coverage Ratio has improved dramatically, rising from 7.72x in FY18 to 60.44x in FY25, nearly an eightfold increase  as falling finance costs and rapidly expanding EBIT worked together. The ratio stayed modest through FY18-FY19 before climbing sharply from FY20 onward, crossing 55x by FY23 and holding comfortably above 45x every year since. This consistently high, rising coverage reflects very low financial risk and ample headroom to service debt or absorb earnings volatility.</a:t>
            </a:r>
            <a:endParaRPr lang="en-US" sz="1200" dirty="0">
              <a:latin typeface="+mj-lt"/>
            </a:endParaRPr>
          </a:p>
        </p:txBody>
      </p:sp>
      <p:graphicFrame>
        <p:nvGraphicFramePr>
          <p:cNvPr id="10" name="Chart 2">
            <a:extLst>
              <a:ext uri="{FF2B5EF4-FFF2-40B4-BE49-F238E27FC236}">
                <a16:creationId xmlns:a16="http://schemas.microsoft.com/office/drawing/2014/main" id="{9DDB6F4B-204F-0018-B7A5-034094A50E6F}"/>
              </a:ext>
            </a:extLst>
          </p:cNvPr>
          <p:cNvGraphicFramePr/>
          <p:nvPr/>
        </p:nvGraphicFramePr>
        <p:xfrm>
          <a:off x="3429000" y="3494791"/>
          <a:ext cx="3307080" cy="2086815"/>
        </p:xfrm>
        <a:graphic>
          <a:graphicData uri="http://schemas.openxmlformats.org/drawingml/2006/chart">
            <c:chart xmlns:c="http://schemas.openxmlformats.org/drawingml/2006/chart" xmlns:r="http://schemas.openxmlformats.org/officeDocument/2006/relationships" r:id="rId5"/>
          </a:graphicData>
        </a:graphic>
      </p:graphicFrame>
      <p:sp>
        <p:nvSpPr>
          <p:cNvPr id="11" name="object 18">
            <a:extLst>
              <a:ext uri="{FF2B5EF4-FFF2-40B4-BE49-F238E27FC236}">
                <a16:creationId xmlns:a16="http://schemas.microsoft.com/office/drawing/2014/main" id="{9233D8D6-1B0B-5751-7A97-4E45F14928E1}"/>
              </a:ext>
            </a:extLst>
          </p:cNvPr>
          <p:cNvSpPr txBox="1"/>
          <p:nvPr/>
        </p:nvSpPr>
        <p:spPr>
          <a:xfrm>
            <a:off x="169803" y="6226428"/>
            <a:ext cx="3033395" cy="2413481"/>
          </a:xfrm>
          <a:prstGeom prst="rect">
            <a:avLst/>
          </a:prstGeom>
        </p:spPr>
        <p:txBody>
          <a:bodyPr vert="horz" wrap="square" lIns="0" tIns="12700" rIns="0" bIns="0" rtlCol="0">
            <a:spAutoFit/>
          </a:bodyPr>
          <a:lstStyle/>
          <a:p>
            <a:pPr marL="0" indent="0" algn="just">
              <a:buNone/>
            </a:pPr>
            <a:r>
              <a:rPr lang="en-IN" sz="1200" dirty="0">
                <a:latin typeface="+mj-lt"/>
              </a:rPr>
              <a:t>Unlike consumer-facing businesses, Sun Pharma's Cash Conversion Cycle is structurally high and positive, ranging between 215 and 295 days, driven mainly by long inventory holding periods (314-353 days) typical of pharma manufacturing and regulatory cycles. The CCC peaked at 295 days in FY21 before easing to 230 days by FY25, helped by extending payable days from 156 to 213 even as inventory days stayed elevated. This gradual improvement reflects better working capital discipline, though the cycle remains inherently long given the industry's manufacturing timelines.</a:t>
            </a:r>
            <a:endParaRPr lang="en-US" sz="1200" dirty="0">
              <a:latin typeface="+mj-lt"/>
            </a:endParaRPr>
          </a:p>
        </p:txBody>
      </p:sp>
      <p:graphicFrame>
        <p:nvGraphicFramePr>
          <p:cNvPr id="12" name="Chart 3">
            <a:extLst>
              <a:ext uri="{FF2B5EF4-FFF2-40B4-BE49-F238E27FC236}">
                <a16:creationId xmlns:a16="http://schemas.microsoft.com/office/drawing/2014/main" id="{49894F12-3249-3615-353C-43B7A46F5D91}"/>
              </a:ext>
            </a:extLst>
          </p:cNvPr>
          <p:cNvGraphicFramePr/>
          <p:nvPr/>
        </p:nvGraphicFramePr>
        <p:xfrm>
          <a:off x="3429000" y="6248407"/>
          <a:ext cx="3307080" cy="2369525"/>
        </p:xfrm>
        <a:graphic>
          <a:graphicData uri="http://schemas.openxmlformats.org/drawingml/2006/chart">
            <c:chart xmlns:c="http://schemas.openxmlformats.org/drawingml/2006/chart" xmlns:r="http://schemas.openxmlformats.org/officeDocument/2006/relationships" r:id="rId6"/>
          </a:graphicData>
        </a:graphic>
      </p:graphicFrame>
      <p:sp>
        <p:nvSpPr>
          <p:cNvPr id="13" name="TextBox 12">
            <a:extLst>
              <a:ext uri="{FF2B5EF4-FFF2-40B4-BE49-F238E27FC236}">
                <a16:creationId xmlns:a16="http://schemas.microsoft.com/office/drawing/2014/main" id="{5D2D75B4-D17A-8621-EB64-DFC6406D122F}"/>
              </a:ext>
            </a:extLst>
          </p:cNvPr>
          <p:cNvSpPr txBox="1"/>
          <p:nvPr/>
        </p:nvSpPr>
        <p:spPr>
          <a:xfrm>
            <a:off x="43010" y="1446849"/>
            <a:ext cx="3611300" cy="338554"/>
          </a:xfrm>
          <a:prstGeom prst="rect">
            <a:avLst/>
          </a:prstGeom>
          <a:noFill/>
        </p:spPr>
        <p:txBody>
          <a:bodyPr wrap="square">
            <a:spAutoFit/>
          </a:bodyPr>
          <a:lstStyle/>
          <a:p>
            <a:pPr algn="just"/>
            <a:r>
              <a:rPr lang="en-US" sz="1600" b="1" dirty="0">
                <a:solidFill>
                  <a:schemeClr val="accent6">
                    <a:lumMod val="75000"/>
                  </a:schemeClr>
                </a:solidFill>
                <a:latin typeface="+mj-lt"/>
                <a:cs typeface="Calibri"/>
              </a:rPr>
              <a:t>DEBT TO EQUITY RATIO</a:t>
            </a:r>
            <a:endParaRPr lang="en-US" sz="1600" dirty="0">
              <a:solidFill>
                <a:schemeClr val="accent6">
                  <a:lumMod val="75000"/>
                </a:schemeClr>
              </a:solidFill>
              <a:latin typeface="+mj-lt"/>
              <a:cs typeface="Calibri"/>
            </a:endParaRPr>
          </a:p>
        </p:txBody>
      </p:sp>
      <p:sp>
        <p:nvSpPr>
          <p:cNvPr id="15" name="TextBox 14">
            <a:extLst>
              <a:ext uri="{FF2B5EF4-FFF2-40B4-BE49-F238E27FC236}">
                <a16:creationId xmlns:a16="http://schemas.microsoft.com/office/drawing/2014/main" id="{2B2BF5D1-55C7-4887-8728-C3A9F61A0714}"/>
              </a:ext>
            </a:extLst>
          </p:cNvPr>
          <p:cNvSpPr txBox="1"/>
          <p:nvPr/>
        </p:nvSpPr>
        <p:spPr>
          <a:xfrm>
            <a:off x="34724" y="3339146"/>
            <a:ext cx="3611300" cy="338554"/>
          </a:xfrm>
          <a:prstGeom prst="rect">
            <a:avLst/>
          </a:prstGeom>
          <a:noFill/>
        </p:spPr>
        <p:txBody>
          <a:bodyPr wrap="square">
            <a:spAutoFit/>
          </a:bodyPr>
          <a:lstStyle/>
          <a:p>
            <a:pPr marL="12700" algn="just">
              <a:lnSpc>
                <a:spcPct val="100000"/>
              </a:lnSpc>
              <a:spcBef>
                <a:spcPts val="100"/>
              </a:spcBef>
            </a:pPr>
            <a:r>
              <a:rPr lang="en-US" sz="1600" b="1" dirty="0">
                <a:solidFill>
                  <a:schemeClr val="accent6">
                    <a:lumMod val="75000"/>
                  </a:schemeClr>
                </a:solidFill>
                <a:latin typeface="+mj-lt"/>
                <a:cs typeface="Calibri"/>
              </a:rPr>
              <a:t>INTEREST COVERAGE RATIO</a:t>
            </a:r>
            <a:endParaRPr lang="en-US" sz="1600" dirty="0">
              <a:solidFill>
                <a:schemeClr val="accent6">
                  <a:lumMod val="75000"/>
                </a:schemeClr>
              </a:solidFill>
              <a:latin typeface="+mj-lt"/>
              <a:cs typeface="Calibri"/>
            </a:endParaRPr>
          </a:p>
        </p:txBody>
      </p:sp>
      <p:sp>
        <p:nvSpPr>
          <p:cNvPr id="17" name="TextBox 16">
            <a:extLst>
              <a:ext uri="{FF2B5EF4-FFF2-40B4-BE49-F238E27FC236}">
                <a16:creationId xmlns:a16="http://schemas.microsoft.com/office/drawing/2014/main" id="{0F7846AC-C936-0BB1-E73D-290857F18DB5}"/>
              </a:ext>
            </a:extLst>
          </p:cNvPr>
          <p:cNvSpPr txBox="1"/>
          <p:nvPr/>
        </p:nvSpPr>
        <p:spPr>
          <a:xfrm>
            <a:off x="34724" y="5971254"/>
            <a:ext cx="3611300" cy="338554"/>
          </a:xfrm>
          <a:prstGeom prst="rect">
            <a:avLst/>
          </a:prstGeom>
          <a:noFill/>
        </p:spPr>
        <p:txBody>
          <a:bodyPr wrap="square">
            <a:spAutoFit/>
          </a:bodyPr>
          <a:lstStyle/>
          <a:p>
            <a:pPr marL="12700" algn="just">
              <a:lnSpc>
                <a:spcPct val="100000"/>
              </a:lnSpc>
              <a:spcBef>
                <a:spcPts val="100"/>
              </a:spcBef>
            </a:pPr>
            <a:r>
              <a:rPr lang="en-US" sz="1600" b="1" dirty="0">
                <a:solidFill>
                  <a:schemeClr val="accent6">
                    <a:lumMod val="75000"/>
                  </a:schemeClr>
                </a:solidFill>
                <a:latin typeface="+mj-lt"/>
                <a:cs typeface="Calibri"/>
              </a:rPr>
              <a:t>CASH CONVERSION CYCLE</a:t>
            </a:r>
            <a:endParaRPr lang="en-US" sz="1600" dirty="0">
              <a:solidFill>
                <a:schemeClr val="accent6">
                  <a:lumMod val="75000"/>
                </a:schemeClr>
              </a:solidFill>
              <a:latin typeface="+mj-lt"/>
              <a:cs typeface="Calibri"/>
            </a:endParaRPr>
          </a:p>
        </p:txBody>
      </p:sp>
    </p:spTree>
    <p:extLst>
      <p:ext uri="{BB962C8B-B14F-4D97-AF65-F5344CB8AC3E}">
        <p14:creationId xmlns:p14="http://schemas.microsoft.com/office/powerpoint/2010/main" val="1794185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2">
            <a:extLst>
              <a:ext uri="{FF2B5EF4-FFF2-40B4-BE49-F238E27FC236}">
                <a16:creationId xmlns:a16="http://schemas.microsoft.com/office/drawing/2014/main" id="{EF91E0CE-7850-73AE-2FE3-ECA3DAF612E9}"/>
              </a:ext>
            </a:extLst>
          </p:cNvPr>
          <p:cNvGrpSpPr/>
          <p:nvPr/>
        </p:nvGrpSpPr>
        <p:grpSpPr>
          <a:xfrm>
            <a:off x="0" y="0"/>
            <a:ext cx="6858000" cy="1625597"/>
            <a:chOff x="0" y="0"/>
            <a:chExt cx="6858000" cy="1625597"/>
          </a:xfrm>
        </p:grpSpPr>
        <p:sp>
          <p:nvSpPr>
            <p:cNvPr id="5" name="object 3">
              <a:extLst>
                <a:ext uri="{FF2B5EF4-FFF2-40B4-BE49-F238E27FC236}">
                  <a16:creationId xmlns:a16="http://schemas.microsoft.com/office/drawing/2014/main" id="{63272711-C2CE-DFBD-C446-B98058CD2C32}"/>
                </a:ext>
              </a:extLst>
            </p:cNvPr>
            <p:cNvSpPr/>
            <p:nvPr/>
          </p:nvSpPr>
          <p:spPr>
            <a:xfrm>
              <a:off x="0" y="0"/>
              <a:ext cx="6858000" cy="949325"/>
            </a:xfrm>
            <a:custGeom>
              <a:avLst/>
              <a:gdLst/>
              <a:ahLst/>
              <a:cxnLst/>
              <a:rect l="l" t="t" r="r" b="b"/>
              <a:pathLst>
                <a:path w="6858000" h="949325">
                  <a:moveTo>
                    <a:pt x="0" y="949198"/>
                  </a:moveTo>
                  <a:lnTo>
                    <a:pt x="6858000" y="949198"/>
                  </a:lnTo>
                  <a:lnTo>
                    <a:pt x="6858000" y="0"/>
                  </a:lnTo>
                  <a:lnTo>
                    <a:pt x="0" y="0"/>
                  </a:lnTo>
                  <a:lnTo>
                    <a:pt x="0" y="949198"/>
                  </a:lnTo>
                  <a:close/>
                </a:path>
              </a:pathLst>
            </a:custGeom>
            <a:solidFill>
              <a:schemeClr val="accent6">
                <a:lumMod val="75000"/>
              </a:schemeClr>
            </a:solidFill>
          </p:spPr>
          <p:txBody>
            <a:bodyPr wrap="square" lIns="0" tIns="0" rIns="0" bIns="0" rtlCol="0"/>
            <a:lstStyle/>
            <a:p>
              <a:endParaRPr/>
            </a:p>
          </p:txBody>
        </p:sp>
        <p:sp>
          <p:nvSpPr>
            <p:cNvPr id="6" name="object 4">
              <a:extLst>
                <a:ext uri="{FF2B5EF4-FFF2-40B4-BE49-F238E27FC236}">
                  <a16:creationId xmlns:a16="http://schemas.microsoft.com/office/drawing/2014/main" id="{99AEB823-D652-223C-8C7B-C0EBC3E64D9A}"/>
                </a:ext>
              </a:extLst>
            </p:cNvPr>
            <p:cNvSpPr/>
            <p:nvPr/>
          </p:nvSpPr>
          <p:spPr>
            <a:xfrm>
              <a:off x="0" y="316227"/>
              <a:ext cx="4147185" cy="1309370"/>
            </a:xfrm>
            <a:custGeom>
              <a:avLst/>
              <a:gdLst/>
              <a:ahLst/>
              <a:cxnLst/>
              <a:rect l="l" t="t" r="r" b="b"/>
              <a:pathLst>
                <a:path w="4147185" h="1309370">
                  <a:moveTo>
                    <a:pt x="3492246" y="0"/>
                  </a:moveTo>
                  <a:lnTo>
                    <a:pt x="0" y="0"/>
                  </a:lnTo>
                  <a:lnTo>
                    <a:pt x="0" y="1309243"/>
                  </a:lnTo>
                  <a:lnTo>
                    <a:pt x="3492246" y="1309243"/>
                  </a:lnTo>
                  <a:lnTo>
                    <a:pt x="4146804" y="654685"/>
                  </a:lnTo>
                  <a:lnTo>
                    <a:pt x="3492246" y="0"/>
                  </a:lnTo>
                  <a:close/>
                </a:path>
              </a:pathLst>
            </a:custGeom>
            <a:solidFill>
              <a:srgbClr val="FFFFFF"/>
            </a:solidFill>
          </p:spPr>
          <p:txBody>
            <a:bodyPr wrap="square" lIns="0" tIns="0" rIns="0" bIns="0" rtlCol="0"/>
            <a:lstStyle/>
            <a:p>
              <a:endParaRPr dirty="0"/>
            </a:p>
          </p:txBody>
        </p:sp>
      </p:grpSp>
      <p:sp>
        <p:nvSpPr>
          <p:cNvPr id="7" name="object 5">
            <a:extLst>
              <a:ext uri="{FF2B5EF4-FFF2-40B4-BE49-F238E27FC236}">
                <a16:creationId xmlns:a16="http://schemas.microsoft.com/office/drawing/2014/main" id="{348CDBB1-16E9-C0CC-5346-823BD93AE641}"/>
              </a:ext>
            </a:extLst>
          </p:cNvPr>
          <p:cNvSpPr txBox="1"/>
          <p:nvPr/>
        </p:nvSpPr>
        <p:spPr>
          <a:xfrm>
            <a:off x="147015" y="4952"/>
            <a:ext cx="2081530" cy="247015"/>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FFFFFF"/>
                </a:solidFill>
                <a:latin typeface="Calibri"/>
                <a:cs typeface="Calibri"/>
              </a:rPr>
              <a:t>EQUITY</a:t>
            </a:r>
            <a:r>
              <a:rPr sz="1450" b="1" spc="-65" dirty="0">
                <a:solidFill>
                  <a:srgbClr val="FFFFFF"/>
                </a:solidFill>
                <a:latin typeface="Calibri"/>
                <a:cs typeface="Calibri"/>
              </a:rPr>
              <a:t> </a:t>
            </a:r>
            <a:r>
              <a:rPr sz="1450" b="1" dirty="0">
                <a:solidFill>
                  <a:srgbClr val="FFFFFF"/>
                </a:solidFill>
                <a:latin typeface="Calibri"/>
                <a:cs typeface="Calibri"/>
              </a:rPr>
              <a:t>RESEARCH</a:t>
            </a:r>
            <a:r>
              <a:rPr sz="1450" b="1" spc="-60" dirty="0">
                <a:solidFill>
                  <a:srgbClr val="FFFFFF"/>
                </a:solidFill>
                <a:latin typeface="Calibri"/>
                <a:cs typeface="Calibri"/>
              </a:rPr>
              <a:t> </a:t>
            </a:r>
            <a:r>
              <a:rPr sz="1450" b="1" spc="-10" dirty="0">
                <a:solidFill>
                  <a:srgbClr val="FFFFFF"/>
                </a:solidFill>
                <a:latin typeface="Calibri"/>
                <a:cs typeface="Calibri"/>
              </a:rPr>
              <a:t>REPORT</a:t>
            </a:r>
            <a:endParaRPr sz="1450">
              <a:latin typeface="Calibri"/>
              <a:cs typeface="Calibri"/>
            </a:endParaRPr>
          </a:p>
        </p:txBody>
      </p:sp>
      <p:sp>
        <p:nvSpPr>
          <p:cNvPr id="8" name="object 40">
            <a:extLst>
              <a:ext uri="{FF2B5EF4-FFF2-40B4-BE49-F238E27FC236}">
                <a16:creationId xmlns:a16="http://schemas.microsoft.com/office/drawing/2014/main" id="{66325B52-4550-EA80-D81D-9C7766BFB31D}"/>
              </a:ext>
            </a:extLst>
          </p:cNvPr>
          <p:cNvSpPr txBox="1">
            <a:spLocks noGrp="1"/>
          </p:cNvSpPr>
          <p:nvPr>
            <p:ph type="title"/>
          </p:nvPr>
        </p:nvSpPr>
        <p:spPr>
          <a:xfrm>
            <a:off x="141831" y="295140"/>
            <a:ext cx="4269104" cy="289182"/>
          </a:xfrm>
          <a:prstGeom prst="rect">
            <a:avLst/>
          </a:prstGeom>
        </p:spPr>
        <p:txBody>
          <a:bodyPr vert="horz" wrap="square" lIns="0" tIns="12065" rIns="0" bIns="0" rtlCol="0">
            <a:spAutoFit/>
          </a:bodyPr>
          <a:lstStyle/>
          <a:p>
            <a:pPr marL="12700">
              <a:lnSpc>
                <a:spcPct val="100000"/>
              </a:lnSpc>
              <a:spcBef>
                <a:spcPts val="95"/>
              </a:spcBef>
            </a:pPr>
            <a:r>
              <a:rPr lang="en-GB" sz="1800" dirty="0"/>
              <a:t>Sun Pharmaceutical Industries Ltd.</a:t>
            </a:r>
            <a:endParaRPr sz="1800" dirty="0"/>
          </a:p>
        </p:txBody>
      </p:sp>
      <p:sp>
        <p:nvSpPr>
          <p:cNvPr id="9" name="object 41">
            <a:extLst>
              <a:ext uri="{FF2B5EF4-FFF2-40B4-BE49-F238E27FC236}">
                <a16:creationId xmlns:a16="http://schemas.microsoft.com/office/drawing/2014/main" id="{C878CB0D-1DDE-8F74-AACB-E2EC6BFAE51B}"/>
              </a:ext>
            </a:extLst>
          </p:cNvPr>
          <p:cNvSpPr txBox="1"/>
          <p:nvPr/>
        </p:nvSpPr>
        <p:spPr>
          <a:xfrm>
            <a:off x="141831" y="526972"/>
            <a:ext cx="3210968"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D2841"/>
                </a:solidFill>
                <a:latin typeface="Calibri"/>
                <a:cs typeface="Calibri"/>
              </a:rPr>
              <a:t>NSE</a:t>
            </a:r>
            <a:r>
              <a:rPr sz="1200" b="1" spc="-20" dirty="0">
                <a:solidFill>
                  <a:srgbClr val="0D2841"/>
                </a:solidFill>
                <a:latin typeface="Calibri"/>
                <a:cs typeface="Calibri"/>
              </a:rPr>
              <a:t> </a:t>
            </a:r>
            <a:r>
              <a:rPr sz="1200" b="1" dirty="0">
                <a:solidFill>
                  <a:srgbClr val="0D2841"/>
                </a:solidFill>
                <a:latin typeface="Calibri"/>
                <a:cs typeface="Calibri"/>
              </a:rPr>
              <a:t>:</a:t>
            </a:r>
            <a:r>
              <a:rPr lang="en-US" sz="1200" b="1" spc="-15" dirty="0">
                <a:solidFill>
                  <a:srgbClr val="0D2841"/>
                </a:solidFill>
                <a:latin typeface="Calibri"/>
                <a:cs typeface="Calibri"/>
              </a:rPr>
              <a:t> </a:t>
            </a:r>
            <a:r>
              <a:rPr lang="en-GB" sz="1200" b="1" dirty="0">
                <a:latin typeface="+mj-lt"/>
              </a:rPr>
              <a:t>SUNPHARMA</a:t>
            </a:r>
            <a:r>
              <a:rPr sz="1200" b="1" spc="10" dirty="0">
                <a:solidFill>
                  <a:srgbClr val="0D2841"/>
                </a:solidFill>
                <a:latin typeface="Calibri"/>
                <a:cs typeface="Calibri"/>
              </a:rPr>
              <a:t> </a:t>
            </a:r>
            <a:r>
              <a:rPr sz="1200" b="1" dirty="0">
                <a:solidFill>
                  <a:srgbClr val="0D2841"/>
                </a:solidFill>
                <a:latin typeface="Calibri"/>
                <a:cs typeface="Calibri"/>
              </a:rPr>
              <a:t>|</a:t>
            </a:r>
            <a:r>
              <a:rPr sz="1200" b="1" spc="-15" dirty="0">
                <a:solidFill>
                  <a:srgbClr val="0D2841"/>
                </a:solidFill>
                <a:latin typeface="Calibri"/>
                <a:cs typeface="Calibri"/>
              </a:rPr>
              <a:t> </a:t>
            </a:r>
            <a:r>
              <a:rPr sz="1200" b="1" dirty="0">
                <a:solidFill>
                  <a:srgbClr val="0D2841"/>
                </a:solidFill>
                <a:latin typeface="Calibri"/>
                <a:cs typeface="Calibri"/>
              </a:rPr>
              <a:t>BSE Code:</a:t>
            </a:r>
            <a:r>
              <a:rPr sz="1200" b="1" spc="-5" dirty="0">
                <a:solidFill>
                  <a:srgbClr val="0D2841"/>
                </a:solidFill>
                <a:latin typeface="Calibri"/>
                <a:cs typeface="Calibri"/>
              </a:rPr>
              <a:t> </a:t>
            </a:r>
            <a:r>
              <a:rPr lang="en-GB" sz="1200" b="1" dirty="0">
                <a:latin typeface="+mj-lt"/>
              </a:rPr>
              <a:t>524715</a:t>
            </a:r>
          </a:p>
        </p:txBody>
      </p:sp>
      <p:sp>
        <p:nvSpPr>
          <p:cNvPr id="10" name="object 41">
            <a:extLst>
              <a:ext uri="{FF2B5EF4-FFF2-40B4-BE49-F238E27FC236}">
                <a16:creationId xmlns:a16="http://schemas.microsoft.com/office/drawing/2014/main" id="{E0BD1DD5-D6D4-AD3D-0A4E-BA4869562B45}"/>
              </a:ext>
            </a:extLst>
          </p:cNvPr>
          <p:cNvSpPr txBox="1"/>
          <p:nvPr/>
        </p:nvSpPr>
        <p:spPr>
          <a:xfrm>
            <a:off x="141831" y="686543"/>
            <a:ext cx="3210968" cy="197490"/>
          </a:xfrm>
          <a:prstGeom prst="rect">
            <a:avLst/>
          </a:prstGeom>
        </p:spPr>
        <p:txBody>
          <a:bodyPr vert="horz" wrap="square" lIns="0" tIns="12700" rIns="0" bIns="0" rtlCol="0">
            <a:spAutoFit/>
          </a:bodyPr>
          <a:lstStyle/>
          <a:p>
            <a:pPr marL="12700">
              <a:lnSpc>
                <a:spcPct val="100000"/>
              </a:lnSpc>
              <a:spcBef>
                <a:spcPts val="100"/>
              </a:spcBef>
            </a:pPr>
            <a:r>
              <a:rPr lang="en-GB" sz="1200" b="1" dirty="0">
                <a:latin typeface="Calibri "/>
              </a:rPr>
              <a:t>Pharmaceuticals &amp; Drugs</a:t>
            </a:r>
          </a:p>
        </p:txBody>
      </p:sp>
      <p:pic>
        <p:nvPicPr>
          <p:cNvPr id="11" name="Picture 10">
            <a:extLst>
              <a:ext uri="{FF2B5EF4-FFF2-40B4-BE49-F238E27FC236}">
                <a16:creationId xmlns:a16="http://schemas.microsoft.com/office/drawing/2014/main" id="{1FA277FB-BB94-7D08-8669-327359DBAC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04126" y="17284"/>
            <a:ext cx="1295705" cy="879830"/>
          </a:xfrm>
          <a:prstGeom prst="rect">
            <a:avLst/>
          </a:prstGeom>
        </p:spPr>
      </p:pic>
      <p:cxnSp>
        <p:nvCxnSpPr>
          <p:cNvPr id="12" name="Straight Connector 11">
            <a:extLst>
              <a:ext uri="{FF2B5EF4-FFF2-40B4-BE49-F238E27FC236}">
                <a16:creationId xmlns:a16="http://schemas.microsoft.com/office/drawing/2014/main" id="{CAB50950-B396-1889-B7E5-241C6499D505}"/>
              </a:ext>
            </a:extLst>
          </p:cNvPr>
          <p:cNvCxnSpPr>
            <a:cxnSpLocks/>
          </p:cNvCxnSpPr>
          <p:nvPr/>
        </p:nvCxnSpPr>
        <p:spPr>
          <a:xfrm>
            <a:off x="0" y="8859394"/>
            <a:ext cx="6858000" cy="0"/>
          </a:xfrm>
          <a:prstGeom prst="line">
            <a:avLst/>
          </a:prstGeom>
          <a:ln w="41275">
            <a:solidFill>
              <a:srgbClr val="E46C0A"/>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83D4C12-10A4-EB90-4F53-C854ECD51119}"/>
              </a:ext>
            </a:extLst>
          </p:cNvPr>
          <p:cNvSpPr txBox="1"/>
          <p:nvPr/>
        </p:nvSpPr>
        <p:spPr>
          <a:xfrm>
            <a:off x="6553200" y="8810228"/>
            <a:ext cx="667055" cy="369332"/>
          </a:xfrm>
          <a:prstGeom prst="rect">
            <a:avLst/>
          </a:prstGeom>
          <a:noFill/>
        </p:spPr>
        <p:txBody>
          <a:bodyPr wrap="square" rtlCol="0">
            <a:spAutoFit/>
          </a:bodyPr>
          <a:lstStyle/>
          <a:p>
            <a:r>
              <a:rPr lang="en-US" b="1" dirty="0">
                <a:solidFill>
                  <a:srgbClr val="E46C0A"/>
                </a:solidFill>
              </a:rPr>
              <a:t>1</a:t>
            </a:r>
            <a:endParaRPr lang="en-GB" b="1" dirty="0">
              <a:solidFill>
                <a:srgbClr val="E46C0A"/>
              </a:solidFill>
            </a:endParaRPr>
          </a:p>
        </p:txBody>
      </p:sp>
      <p:cxnSp>
        <p:nvCxnSpPr>
          <p:cNvPr id="14" name="Straight Connector 13">
            <a:extLst>
              <a:ext uri="{FF2B5EF4-FFF2-40B4-BE49-F238E27FC236}">
                <a16:creationId xmlns:a16="http://schemas.microsoft.com/office/drawing/2014/main" id="{03CB82F3-006E-5359-C10E-61770E72B690}"/>
              </a:ext>
            </a:extLst>
          </p:cNvPr>
          <p:cNvCxnSpPr>
            <a:cxnSpLocks/>
          </p:cNvCxnSpPr>
          <p:nvPr/>
        </p:nvCxnSpPr>
        <p:spPr>
          <a:xfrm flipV="1">
            <a:off x="0" y="933199"/>
            <a:ext cx="6858000" cy="37713"/>
          </a:xfrm>
          <a:prstGeom prst="line">
            <a:avLst/>
          </a:prstGeom>
          <a:ln>
            <a:solidFill>
              <a:srgbClr val="E46C0A"/>
            </a:solidFill>
          </a:ln>
        </p:spPr>
        <p:style>
          <a:lnRef idx="1">
            <a:schemeClr val="accent1"/>
          </a:lnRef>
          <a:fillRef idx="0">
            <a:schemeClr val="accent1"/>
          </a:fillRef>
          <a:effectRef idx="0">
            <a:schemeClr val="accent1"/>
          </a:effectRef>
          <a:fontRef idx="minor">
            <a:schemeClr val="tx1"/>
          </a:fontRef>
        </p:style>
      </p:cxnSp>
      <p:sp>
        <p:nvSpPr>
          <p:cNvPr id="15" name="object 6">
            <a:extLst>
              <a:ext uri="{FF2B5EF4-FFF2-40B4-BE49-F238E27FC236}">
                <a16:creationId xmlns:a16="http://schemas.microsoft.com/office/drawing/2014/main" id="{7FDAF877-BBED-458F-23ED-E27634FEFFA3}"/>
              </a:ext>
            </a:extLst>
          </p:cNvPr>
          <p:cNvSpPr/>
          <p:nvPr/>
        </p:nvSpPr>
        <p:spPr>
          <a:xfrm>
            <a:off x="88496" y="1069131"/>
            <a:ext cx="6642734" cy="339090"/>
          </a:xfrm>
          <a:custGeom>
            <a:avLst/>
            <a:gdLst/>
            <a:ahLst/>
            <a:cxnLst/>
            <a:rect l="l" t="t" r="r" b="b"/>
            <a:pathLst>
              <a:path w="6642734" h="339090">
                <a:moveTo>
                  <a:pt x="6642734" y="0"/>
                </a:moveTo>
                <a:lnTo>
                  <a:pt x="0" y="0"/>
                </a:lnTo>
                <a:lnTo>
                  <a:pt x="0" y="338556"/>
                </a:lnTo>
                <a:lnTo>
                  <a:pt x="6642734" y="338556"/>
                </a:lnTo>
                <a:lnTo>
                  <a:pt x="6642734" y="0"/>
                </a:lnTo>
                <a:close/>
              </a:path>
            </a:pathLst>
          </a:custGeom>
          <a:solidFill>
            <a:srgbClr val="E46C0A"/>
          </a:solidFill>
        </p:spPr>
        <p:txBody>
          <a:bodyPr wrap="square" lIns="0" tIns="0" rIns="0" bIns="0" rtlCol="0"/>
          <a:lstStyle/>
          <a:p>
            <a:pPr algn="ctr"/>
            <a:endParaRPr dirty="0"/>
          </a:p>
        </p:txBody>
      </p:sp>
      <p:sp>
        <p:nvSpPr>
          <p:cNvPr id="47" name="object 65">
            <a:extLst>
              <a:ext uri="{FF2B5EF4-FFF2-40B4-BE49-F238E27FC236}">
                <a16:creationId xmlns:a16="http://schemas.microsoft.com/office/drawing/2014/main" id="{87400185-BDB4-44FF-5843-A353870C1B80}"/>
              </a:ext>
            </a:extLst>
          </p:cNvPr>
          <p:cNvSpPr txBox="1"/>
          <p:nvPr/>
        </p:nvSpPr>
        <p:spPr>
          <a:xfrm>
            <a:off x="3022918" y="1524974"/>
            <a:ext cx="847090" cy="258404"/>
          </a:xfrm>
          <a:prstGeom prst="rect">
            <a:avLst/>
          </a:prstGeom>
        </p:spPr>
        <p:txBody>
          <a:bodyPr vert="horz" wrap="square" lIns="0" tIns="12065" rIns="0" bIns="0" rtlCol="0">
            <a:spAutoFit/>
          </a:bodyPr>
          <a:lstStyle/>
          <a:p>
            <a:pPr marL="12700">
              <a:lnSpc>
                <a:spcPct val="100000"/>
              </a:lnSpc>
              <a:spcBef>
                <a:spcPts val="95"/>
              </a:spcBef>
            </a:pPr>
            <a:r>
              <a:rPr sz="1600" b="1" dirty="0">
                <a:solidFill>
                  <a:srgbClr val="E46C0A"/>
                </a:solidFill>
                <a:latin typeface="Calibri"/>
                <a:cs typeface="Calibri"/>
              </a:rPr>
              <a:t>Net</a:t>
            </a:r>
            <a:r>
              <a:rPr sz="1600" b="1" spc="-30" dirty="0">
                <a:solidFill>
                  <a:srgbClr val="E46C0A"/>
                </a:solidFill>
                <a:latin typeface="Calibri"/>
                <a:cs typeface="Calibri"/>
              </a:rPr>
              <a:t> </a:t>
            </a:r>
            <a:r>
              <a:rPr sz="1600" b="1" spc="-10" dirty="0">
                <a:solidFill>
                  <a:srgbClr val="E46C0A"/>
                </a:solidFill>
                <a:latin typeface="Calibri"/>
                <a:cs typeface="Calibri"/>
              </a:rPr>
              <a:t>Profit</a:t>
            </a:r>
            <a:endParaRPr sz="1600" dirty="0">
              <a:solidFill>
                <a:srgbClr val="E46C0A"/>
              </a:solidFill>
              <a:latin typeface="Calibri"/>
              <a:cs typeface="Calibri"/>
            </a:endParaRPr>
          </a:p>
        </p:txBody>
      </p:sp>
      <p:sp>
        <p:nvSpPr>
          <p:cNvPr id="49" name="object 74">
            <a:extLst>
              <a:ext uri="{FF2B5EF4-FFF2-40B4-BE49-F238E27FC236}">
                <a16:creationId xmlns:a16="http://schemas.microsoft.com/office/drawing/2014/main" id="{B5EDE76A-A170-BCE5-FC76-78C28BE4B178}"/>
              </a:ext>
            </a:extLst>
          </p:cNvPr>
          <p:cNvSpPr txBox="1"/>
          <p:nvPr/>
        </p:nvSpPr>
        <p:spPr>
          <a:xfrm>
            <a:off x="4882514" y="1524974"/>
            <a:ext cx="1814830" cy="258404"/>
          </a:xfrm>
          <a:prstGeom prst="rect">
            <a:avLst/>
          </a:prstGeom>
        </p:spPr>
        <p:txBody>
          <a:bodyPr vert="horz" wrap="square" lIns="0" tIns="12065" rIns="0" bIns="0" rtlCol="0">
            <a:spAutoFit/>
          </a:bodyPr>
          <a:lstStyle/>
          <a:p>
            <a:pPr marL="12700">
              <a:lnSpc>
                <a:spcPct val="100000"/>
              </a:lnSpc>
              <a:spcBef>
                <a:spcPts val="95"/>
              </a:spcBef>
            </a:pPr>
            <a:r>
              <a:rPr sz="1600" b="1" spc="-20" dirty="0">
                <a:solidFill>
                  <a:srgbClr val="E46C0A"/>
                </a:solidFill>
                <a:latin typeface="Calibri"/>
                <a:cs typeface="Calibri"/>
              </a:rPr>
              <a:t>Average</a:t>
            </a:r>
            <a:r>
              <a:rPr sz="1600" b="1" spc="-35" dirty="0">
                <a:solidFill>
                  <a:srgbClr val="E46C0A"/>
                </a:solidFill>
                <a:latin typeface="Calibri"/>
                <a:cs typeface="Calibri"/>
              </a:rPr>
              <a:t> </a:t>
            </a:r>
            <a:r>
              <a:rPr sz="1600" b="1" spc="-25" dirty="0">
                <a:solidFill>
                  <a:srgbClr val="E46C0A"/>
                </a:solidFill>
                <a:latin typeface="Calibri"/>
                <a:cs typeface="Calibri"/>
              </a:rPr>
              <a:t>Total</a:t>
            </a:r>
            <a:r>
              <a:rPr sz="1600" b="1" spc="-35" dirty="0">
                <a:solidFill>
                  <a:srgbClr val="E46C0A"/>
                </a:solidFill>
                <a:latin typeface="Calibri"/>
                <a:cs typeface="Calibri"/>
              </a:rPr>
              <a:t> </a:t>
            </a:r>
            <a:r>
              <a:rPr sz="1600" b="1" spc="-10" dirty="0">
                <a:solidFill>
                  <a:srgbClr val="E46C0A"/>
                </a:solidFill>
                <a:latin typeface="Calibri"/>
                <a:cs typeface="Calibri"/>
              </a:rPr>
              <a:t>Assets</a:t>
            </a:r>
            <a:endParaRPr sz="1600" dirty="0">
              <a:solidFill>
                <a:srgbClr val="E46C0A"/>
              </a:solidFill>
              <a:latin typeface="Calibri"/>
              <a:cs typeface="Calibri"/>
            </a:endParaRPr>
          </a:p>
        </p:txBody>
      </p:sp>
      <p:grpSp>
        <p:nvGrpSpPr>
          <p:cNvPr id="51" name="Group 50">
            <a:extLst>
              <a:ext uri="{FF2B5EF4-FFF2-40B4-BE49-F238E27FC236}">
                <a16:creationId xmlns:a16="http://schemas.microsoft.com/office/drawing/2014/main" id="{80AC2A1F-21B9-347D-7110-D793A7BFBCDD}"/>
              </a:ext>
            </a:extLst>
          </p:cNvPr>
          <p:cNvGrpSpPr/>
          <p:nvPr/>
        </p:nvGrpSpPr>
        <p:grpSpPr>
          <a:xfrm>
            <a:off x="0" y="1505772"/>
            <a:ext cx="6855461" cy="3918956"/>
            <a:chOff x="0" y="1506641"/>
            <a:chExt cx="6855461" cy="3918956"/>
          </a:xfrm>
        </p:grpSpPr>
        <p:graphicFrame>
          <p:nvGraphicFramePr>
            <p:cNvPr id="32" name="Chart 31">
              <a:extLst>
                <a:ext uri="{FF2B5EF4-FFF2-40B4-BE49-F238E27FC236}">
                  <a16:creationId xmlns:a16="http://schemas.microsoft.com/office/drawing/2014/main" id="{66F9CFC7-3D4A-D187-16B2-EADD0A6C38C5}"/>
                </a:ext>
              </a:extLst>
            </p:cNvPr>
            <p:cNvGraphicFramePr>
              <a:graphicFrameLocks/>
            </p:cNvGraphicFramePr>
            <p:nvPr/>
          </p:nvGraphicFramePr>
          <p:xfrm>
            <a:off x="0" y="1676400"/>
            <a:ext cx="2397835" cy="181521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3" name="Chart 32">
              <a:extLst>
                <a:ext uri="{FF2B5EF4-FFF2-40B4-BE49-F238E27FC236}">
                  <a16:creationId xmlns:a16="http://schemas.microsoft.com/office/drawing/2014/main" id="{21E057A6-66F4-8233-1178-EA871A0E38D3}"/>
                </a:ext>
              </a:extLst>
            </p:cNvPr>
            <p:cNvGraphicFramePr>
              <a:graphicFrameLocks/>
            </p:cNvGraphicFramePr>
            <p:nvPr/>
          </p:nvGraphicFramePr>
          <p:xfrm>
            <a:off x="2257562" y="1676559"/>
            <a:ext cx="2397835" cy="181521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4" name="Chart 33">
              <a:extLst>
                <a:ext uri="{FF2B5EF4-FFF2-40B4-BE49-F238E27FC236}">
                  <a16:creationId xmlns:a16="http://schemas.microsoft.com/office/drawing/2014/main" id="{30E9D1FE-B8CE-811B-CDC0-A04F1966FBEE}"/>
                </a:ext>
              </a:extLst>
            </p:cNvPr>
            <p:cNvGraphicFramePr>
              <a:graphicFrameLocks/>
            </p:cNvGraphicFramePr>
            <p:nvPr/>
          </p:nvGraphicFramePr>
          <p:xfrm>
            <a:off x="4510350" y="1690140"/>
            <a:ext cx="2345111" cy="181521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5" name="Chart 34">
              <a:extLst>
                <a:ext uri="{FF2B5EF4-FFF2-40B4-BE49-F238E27FC236}">
                  <a16:creationId xmlns:a16="http://schemas.microsoft.com/office/drawing/2014/main" id="{A7A31182-2338-EC81-FC51-71676CDB3A88}"/>
                </a:ext>
              </a:extLst>
            </p:cNvPr>
            <p:cNvGraphicFramePr>
              <a:graphicFrameLocks/>
            </p:cNvGraphicFramePr>
            <p:nvPr/>
          </p:nvGraphicFramePr>
          <p:xfrm>
            <a:off x="2469" y="3826657"/>
            <a:ext cx="2283531" cy="159894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6" name="Chart 35">
              <a:extLst>
                <a:ext uri="{FF2B5EF4-FFF2-40B4-BE49-F238E27FC236}">
                  <a16:creationId xmlns:a16="http://schemas.microsoft.com/office/drawing/2014/main" id="{43E62660-435D-A732-7312-85F75412E915}"/>
                </a:ext>
              </a:extLst>
            </p:cNvPr>
            <p:cNvGraphicFramePr>
              <a:graphicFrameLocks/>
            </p:cNvGraphicFramePr>
            <p:nvPr/>
          </p:nvGraphicFramePr>
          <p:xfrm>
            <a:off x="2300513" y="3826498"/>
            <a:ext cx="2327655" cy="1598940"/>
          </p:xfrm>
          <a:graphic>
            <a:graphicData uri="http://schemas.openxmlformats.org/drawingml/2006/chart">
              <c:chart xmlns:c="http://schemas.openxmlformats.org/drawingml/2006/chart" xmlns:r="http://schemas.openxmlformats.org/officeDocument/2006/relationships" r:id="rId7"/>
            </a:graphicData>
          </a:graphic>
        </p:graphicFrame>
        <p:sp>
          <p:nvSpPr>
            <p:cNvPr id="37" name="object 42">
              <a:extLst>
                <a:ext uri="{FF2B5EF4-FFF2-40B4-BE49-F238E27FC236}">
                  <a16:creationId xmlns:a16="http://schemas.microsoft.com/office/drawing/2014/main" id="{ECD19A06-4849-C117-7596-8A5FBB153F47}"/>
                </a:ext>
              </a:extLst>
            </p:cNvPr>
            <p:cNvSpPr txBox="1"/>
            <p:nvPr/>
          </p:nvSpPr>
          <p:spPr>
            <a:xfrm>
              <a:off x="773394" y="3505200"/>
              <a:ext cx="741680" cy="258404"/>
            </a:xfrm>
            <a:prstGeom prst="rect">
              <a:avLst/>
            </a:prstGeom>
          </p:spPr>
          <p:txBody>
            <a:bodyPr vert="horz" wrap="square" lIns="0" tIns="12065" rIns="0" bIns="0" rtlCol="0">
              <a:spAutoFit/>
            </a:bodyPr>
            <a:lstStyle/>
            <a:p>
              <a:pPr marL="12700">
                <a:lnSpc>
                  <a:spcPct val="100000"/>
                </a:lnSpc>
                <a:spcBef>
                  <a:spcPts val="95"/>
                </a:spcBef>
              </a:pPr>
              <a:r>
                <a:rPr sz="1600" b="1" spc="-10" dirty="0">
                  <a:solidFill>
                    <a:srgbClr val="E46C0A"/>
                  </a:solidFill>
                  <a:latin typeface="Calibri"/>
                  <a:cs typeface="Calibri"/>
                </a:rPr>
                <a:t>ROE(%)</a:t>
              </a:r>
              <a:endParaRPr sz="1600" dirty="0">
                <a:solidFill>
                  <a:srgbClr val="E46C0A"/>
                </a:solidFill>
                <a:latin typeface="Calibri"/>
                <a:cs typeface="Calibri"/>
              </a:endParaRPr>
            </a:p>
          </p:txBody>
        </p:sp>
        <p:sp>
          <p:nvSpPr>
            <p:cNvPr id="38" name="object 48">
              <a:extLst>
                <a:ext uri="{FF2B5EF4-FFF2-40B4-BE49-F238E27FC236}">
                  <a16:creationId xmlns:a16="http://schemas.microsoft.com/office/drawing/2014/main" id="{A1875906-C8CE-B731-DC96-6A5B426DF00F}"/>
                </a:ext>
              </a:extLst>
            </p:cNvPr>
            <p:cNvSpPr txBox="1"/>
            <p:nvPr/>
          </p:nvSpPr>
          <p:spPr>
            <a:xfrm>
              <a:off x="3101085" y="3510153"/>
              <a:ext cx="669290" cy="258404"/>
            </a:xfrm>
            <a:prstGeom prst="rect">
              <a:avLst/>
            </a:prstGeom>
          </p:spPr>
          <p:txBody>
            <a:bodyPr vert="horz" wrap="square" lIns="0" tIns="12065" rIns="0" bIns="0" rtlCol="0">
              <a:spAutoFit/>
            </a:bodyPr>
            <a:lstStyle/>
            <a:p>
              <a:pPr marL="12700">
                <a:lnSpc>
                  <a:spcPct val="100000"/>
                </a:lnSpc>
                <a:spcBef>
                  <a:spcPts val="95"/>
                </a:spcBef>
              </a:pPr>
              <a:r>
                <a:rPr sz="1600" b="1" spc="-10" dirty="0">
                  <a:solidFill>
                    <a:srgbClr val="E46C0A"/>
                  </a:solidFill>
                  <a:latin typeface="Calibri"/>
                  <a:cs typeface="Calibri"/>
                </a:rPr>
                <a:t>ROA(%)</a:t>
              </a:r>
              <a:endParaRPr sz="1600" dirty="0">
                <a:solidFill>
                  <a:srgbClr val="E46C0A"/>
                </a:solidFill>
                <a:latin typeface="Calibri"/>
                <a:cs typeface="Calibri"/>
              </a:endParaRPr>
            </a:p>
          </p:txBody>
        </p:sp>
        <p:sp>
          <p:nvSpPr>
            <p:cNvPr id="39" name="object 49">
              <a:extLst>
                <a:ext uri="{FF2B5EF4-FFF2-40B4-BE49-F238E27FC236}">
                  <a16:creationId xmlns:a16="http://schemas.microsoft.com/office/drawing/2014/main" id="{18CB030B-3A3B-D5BE-D511-2B283B50154B}"/>
                </a:ext>
              </a:extLst>
            </p:cNvPr>
            <p:cNvSpPr/>
            <p:nvPr/>
          </p:nvSpPr>
          <p:spPr>
            <a:xfrm>
              <a:off x="30270" y="3523869"/>
              <a:ext cx="2172335" cy="0"/>
            </a:xfrm>
            <a:custGeom>
              <a:avLst/>
              <a:gdLst/>
              <a:ahLst/>
              <a:cxnLst/>
              <a:rect l="l" t="t" r="r" b="b"/>
              <a:pathLst>
                <a:path w="2172335">
                  <a:moveTo>
                    <a:pt x="0" y="0"/>
                  </a:moveTo>
                  <a:lnTo>
                    <a:pt x="2172036" y="0"/>
                  </a:lnTo>
                </a:path>
              </a:pathLst>
            </a:custGeom>
            <a:ln/>
          </p:spPr>
          <p:style>
            <a:lnRef idx="1">
              <a:schemeClr val="accent6"/>
            </a:lnRef>
            <a:fillRef idx="0">
              <a:schemeClr val="accent6"/>
            </a:fillRef>
            <a:effectRef idx="0">
              <a:schemeClr val="accent6"/>
            </a:effectRef>
            <a:fontRef idx="minor">
              <a:schemeClr val="tx1"/>
            </a:fontRef>
          </p:style>
          <p:txBody>
            <a:bodyPr wrap="square" lIns="0" tIns="0" rIns="0" bIns="0" rtlCol="0"/>
            <a:lstStyle/>
            <a:p>
              <a:endParaRPr/>
            </a:p>
          </p:txBody>
        </p:sp>
        <p:sp>
          <p:nvSpPr>
            <p:cNvPr id="40" name="object 50">
              <a:extLst>
                <a:ext uri="{FF2B5EF4-FFF2-40B4-BE49-F238E27FC236}">
                  <a16:creationId xmlns:a16="http://schemas.microsoft.com/office/drawing/2014/main" id="{1163B123-D403-1CFE-62FD-1E41E6C69D6D}"/>
                </a:ext>
              </a:extLst>
            </p:cNvPr>
            <p:cNvSpPr/>
            <p:nvPr/>
          </p:nvSpPr>
          <p:spPr>
            <a:xfrm>
              <a:off x="2367026" y="3523869"/>
              <a:ext cx="2118360" cy="0"/>
            </a:xfrm>
            <a:custGeom>
              <a:avLst/>
              <a:gdLst/>
              <a:ahLst/>
              <a:cxnLst/>
              <a:rect l="l" t="t" r="r" b="b"/>
              <a:pathLst>
                <a:path w="2118360">
                  <a:moveTo>
                    <a:pt x="0" y="0"/>
                  </a:moveTo>
                  <a:lnTo>
                    <a:pt x="2117979" y="0"/>
                  </a:lnTo>
                </a:path>
              </a:pathLst>
            </a:custGeom>
            <a:ln/>
          </p:spPr>
          <p:style>
            <a:lnRef idx="1">
              <a:schemeClr val="accent6"/>
            </a:lnRef>
            <a:fillRef idx="0">
              <a:schemeClr val="accent6"/>
            </a:fillRef>
            <a:effectRef idx="0">
              <a:schemeClr val="accent6"/>
            </a:effectRef>
            <a:fontRef idx="minor">
              <a:schemeClr val="tx1"/>
            </a:fontRef>
          </p:style>
          <p:txBody>
            <a:bodyPr wrap="square" lIns="0" tIns="0" rIns="0" bIns="0" rtlCol="0"/>
            <a:lstStyle/>
            <a:p>
              <a:endParaRPr/>
            </a:p>
          </p:txBody>
        </p:sp>
        <p:sp>
          <p:nvSpPr>
            <p:cNvPr id="41" name="object 52">
              <a:extLst>
                <a:ext uri="{FF2B5EF4-FFF2-40B4-BE49-F238E27FC236}">
                  <a16:creationId xmlns:a16="http://schemas.microsoft.com/office/drawing/2014/main" id="{344C3292-D803-3DA4-DB28-5EBCAB4E2556}"/>
                </a:ext>
              </a:extLst>
            </p:cNvPr>
            <p:cNvSpPr txBox="1"/>
            <p:nvPr/>
          </p:nvSpPr>
          <p:spPr>
            <a:xfrm>
              <a:off x="4885055" y="3504630"/>
              <a:ext cx="1668145" cy="258404"/>
            </a:xfrm>
            <a:prstGeom prst="rect">
              <a:avLst/>
            </a:prstGeom>
          </p:spPr>
          <p:txBody>
            <a:bodyPr vert="horz" wrap="square" lIns="0" tIns="12065" rIns="0" bIns="0" rtlCol="0">
              <a:spAutoFit/>
            </a:bodyPr>
            <a:lstStyle/>
            <a:p>
              <a:pPr marL="115570">
                <a:lnSpc>
                  <a:spcPct val="100000"/>
                </a:lnSpc>
                <a:spcBef>
                  <a:spcPts val="95"/>
                </a:spcBef>
              </a:pPr>
              <a:r>
                <a:rPr sz="1600" b="1" dirty="0">
                  <a:solidFill>
                    <a:srgbClr val="E46C0A"/>
                  </a:solidFill>
                  <a:latin typeface="Calibri"/>
                  <a:cs typeface="Calibri"/>
                </a:rPr>
                <a:t>Financial</a:t>
              </a:r>
              <a:r>
                <a:rPr sz="1600" b="1" spc="-55" dirty="0">
                  <a:solidFill>
                    <a:srgbClr val="E46C0A"/>
                  </a:solidFill>
                  <a:latin typeface="Calibri"/>
                  <a:cs typeface="Calibri"/>
                </a:rPr>
                <a:t> </a:t>
              </a:r>
              <a:r>
                <a:rPr sz="1600" b="1" spc="-10" dirty="0">
                  <a:solidFill>
                    <a:srgbClr val="E46C0A"/>
                  </a:solidFill>
                  <a:latin typeface="Calibri"/>
                  <a:cs typeface="Calibri"/>
                </a:rPr>
                <a:t>Leverage</a:t>
              </a:r>
              <a:endParaRPr sz="1600" dirty="0">
                <a:solidFill>
                  <a:srgbClr val="E46C0A"/>
                </a:solidFill>
                <a:latin typeface="Calibri"/>
                <a:cs typeface="Calibri"/>
              </a:endParaRPr>
            </a:p>
          </p:txBody>
        </p:sp>
        <p:sp>
          <p:nvSpPr>
            <p:cNvPr id="42" name="object 56">
              <a:extLst>
                <a:ext uri="{FF2B5EF4-FFF2-40B4-BE49-F238E27FC236}">
                  <a16:creationId xmlns:a16="http://schemas.microsoft.com/office/drawing/2014/main" id="{7BA6190B-A49A-4529-0095-137723623753}"/>
                </a:ext>
              </a:extLst>
            </p:cNvPr>
            <p:cNvSpPr/>
            <p:nvPr/>
          </p:nvSpPr>
          <p:spPr>
            <a:xfrm>
              <a:off x="4694681" y="3523869"/>
              <a:ext cx="2118360" cy="0"/>
            </a:xfrm>
            <a:custGeom>
              <a:avLst/>
              <a:gdLst/>
              <a:ahLst/>
              <a:cxnLst/>
              <a:rect l="l" t="t" r="r" b="b"/>
              <a:pathLst>
                <a:path w="2118359">
                  <a:moveTo>
                    <a:pt x="0" y="0"/>
                  </a:moveTo>
                  <a:lnTo>
                    <a:pt x="2117852" y="0"/>
                  </a:lnTo>
                </a:path>
              </a:pathLst>
            </a:custGeom>
            <a:ln/>
          </p:spPr>
          <p:style>
            <a:lnRef idx="1">
              <a:schemeClr val="accent6"/>
            </a:lnRef>
            <a:fillRef idx="0">
              <a:schemeClr val="accent6"/>
            </a:fillRef>
            <a:effectRef idx="0">
              <a:schemeClr val="accent6"/>
            </a:effectRef>
            <a:fontRef idx="minor">
              <a:schemeClr val="tx1"/>
            </a:fontRef>
          </p:style>
          <p:txBody>
            <a:bodyPr wrap="square" lIns="0" tIns="0" rIns="0" bIns="0" rtlCol="0"/>
            <a:lstStyle/>
            <a:p>
              <a:endParaRPr/>
            </a:p>
          </p:txBody>
        </p:sp>
        <p:pic>
          <p:nvPicPr>
            <p:cNvPr id="44" name="Picture 43">
              <a:extLst>
                <a:ext uri="{FF2B5EF4-FFF2-40B4-BE49-F238E27FC236}">
                  <a16:creationId xmlns:a16="http://schemas.microsoft.com/office/drawing/2014/main" id="{548AE8C5-7544-0138-E9F5-EF58DBC7D60E}"/>
                </a:ext>
              </a:extLst>
            </p:cNvPr>
            <p:cNvPicPr>
              <a:picLocks noChangeAspect="1"/>
            </p:cNvPicPr>
            <p:nvPr/>
          </p:nvPicPr>
          <p:blipFill>
            <a:blip r:embed="rId8">
              <a:extLst>
                <a:ext uri="{BEBA8EAE-BF5A-486C-A8C5-ECC9F3942E4B}">
                  <a14:imgProps xmlns:a14="http://schemas.microsoft.com/office/drawing/2010/main">
                    <a14:imgLayer r:embed="rId9">
                      <a14:imgEffect>
                        <a14:colorTemperature colorTemp="5300"/>
                      </a14:imgEffect>
                    </a14:imgLayer>
                  </a14:imgProps>
                </a:ext>
              </a:extLst>
            </a:blip>
            <a:stretch>
              <a:fillRect/>
            </a:stretch>
          </p:blipFill>
          <p:spPr>
            <a:xfrm>
              <a:off x="4628168" y="3924867"/>
              <a:ext cx="2199560" cy="1402752"/>
            </a:xfrm>
            <a:prstGeom prst="rect">
              <a:avLst/>
            </a:prstGeom>
          </p:spPr>
        </p:pic>
        <p:sp>
          <p:nvSpPr>
            <p:cNvPr id="45" name="object 39">
              <a:extLst>
                <a:ext uri="{FF2B5EF4-FFF2-40B4-BE49-F238E27FC236}">
                  <a16:creationId xmlns:a16="http://schemas.microsoft.com/office/drawing/2014/main" id="{89C4383F-9786-63E7-F182-33D6DB82DC3B}"/>
                </a:ext>
              </a:extLst>
            </p:cNvPr>
            <p:cNvSpPr txBox="1"/>
            <p:nvPr/>
          </p:nvSpPr>
          <p:spPr>
            <a:xfrm>
              <a:off x="700621" y="1524974"/>
              <a:ext cx="833755" cy="258404"/>
            </a:xfrm>
            <a:prstGeom prst="rect">
              <a:avLst/>
            </a:prstGeom>
          </p:spPr>
          <p:txBody>
            <a:bodyPr vert="horz" wrap="square" lIns="0" tIns="12065" rIns="0" bIns="0" rtlCol="0">
              <a:spAutoFit/>
            </a:bodyPr>
            <a:lstStyle/>
            <a:p>
              <a:pPr marL="12700">
                <a:lnSpc>
                  <a:spcPct val="100000"/>
                </a:lnSpc>
                <a:spcBef>
                  <a:spcPts val="95"/>
                </a:spcBef>
              </a:pPr>
              <a:r>
                <a:rPr sz="1600" b="1" spc="-10" dirty="0">
                  <a:solidFill>
                    <a:srgbClr val="E46C0A"/>
                  </a:solidFill>
                  <a:latin typeface="Calibri"/>
                  <a:cs typeface="Calibri"/>
                </a:rPr>
                <a:t>Revenues</a:t>
              </a:r>
            </a:p>
          </p:txBody>
        </p:sp>
        <p:sp>
          <p:nvSpPr>
            <p:cNvPr id="46" name="object 51">
              <a:extLst>
                <a:ext uri="{FF2B5EF4-FFF2-40B4-BE49-F238E27FC236}">
                  <a16:creationId xmlns:a16="http://schemas.microsoft.com/office/drawing/2014/main" id="{D612C830-8580-4AA5-CDE0-0C9B6B94233F}"/>
                </a:ext>
              </a:extLst>
            </p:cNvPr>
            <p:cNvSpPr/>
            <p:nvPr/>
          </p:nvSpPr>
          <p:spPr>
            <a:xfrm>
              <a:off x="25036" y="1528613"/>
              <a:ext cx="2172335" cy="0"/>
            </a:xfrm>
            <a:custGeom>
              <a:avLst/>
              <a:gdLst/>
              <a:ahLst/>
              <a:cxnLst/>
              <a:rect l="l" t="t" r="r" b="b"/>
              <a:pathLst>
                <a:path w="2172335">
                  <a:moveTo>
                    <a:pt x="0" y="0"/>
                  </a:moveTo>
                  <a:lnTo>
                    <a:pt x="2172063" y="0"/>
                  </a:lnTo>
                </a:path>
              </a:pathLst>
            </a:custGeom>
            <a:ln/>
          </p:spPr>
          <p:style>
            <a:lnRef idx="1">
              <a:schemeClr val="accent6"/>
            </a:lnRef>
            <a:fillRef idx="0">
              <a:schemeClr val="accent6"/>
            </a:fillRef>
            <a:effectRef idx="0">
              <a:schemeClr val="accent6"/>
            </a:effectRef>
            <a:fontRef idx="minor">
              <a:schemeClr val="tx1"/>
            </a:fontRef>
          </p:style>
          <p:txBody>
            <a:bodyPr wrap="square" lIns="0" tIns="0" rIns="0" bIns="0" rtlCol="0"/>
            <a:lstStyle/>
            <a:p>
              <a:endParaRPr/>
            </a:p>
          </p:txBody>
        </p:sp>
        <p:sp>
          <p:nvSpPr>
            <p:cNvPr id="48" name="object 66">
              <a:extLst>
                <a:ext uri="{FF2B5EF4-FFF2-40B4-BE49-F238E27FC236}">
                  <a16:creationId xmlns:a16="http://schemas.microsoft.com/office/drawing/2014/main" id="{E2B51B51-E048-9ADD-B654-24A36FB132CE}"/>
                </a:ext>
              </a:extLst>
            </p:cNvPr>
            <p:cNvSpPr/>
            <p:nvPr/>
          </p:nvSpPr>
          <p:spPr>
            <a:xfrm>
              <a:off x="2385441" y="1519341"/>
              <a:ext cx="1983739" cy="1905"/>
            </a:xfrm>
            <a:custGeom>
              <a:avLst/>
              <a:gdLst/>
              <a:ahLst/>
              <a:cxnLst/>
              <a:rect l="l" t="t" r="r" b="b"/>
              <a:pathLst>
                <a:path w="1983739" h="1905">
                  <a:moveTo>
                    <a:pt x="0" y="1397"/>
                  </a:moveTo>
                  <a:lnTo>
                    <a:pt x="1983358" y="0"/>
                  </a:lnTo>
                </a:path>
              </a:pathLst>
            </a:custGeom>
            <a:ln/>
          </p:spPr>
          <p:style>
            <a:lnRef idx="1">
              <a:schemeClr val="accent6"/>
            </a:lnRef>
            <a:fillRef idx="0">
              <a:schemeClr val="accent6"/>
            </a:fillRef>
            <a:effectRef idx="0">
              <a:schemeClr val="accent6"/>
            </a:effectRef>
            <a:fontRef idx="minor">
              <a:schemeClr val="tx1"/>
            </a:fontRef>
          </p:style>
          <p:txBody>
            <a:bodyPr wrap="square" lIns="0" tIns="0" rIns="0" bIns="0" rtlCol="0"/>
            <a:lstStyle/>
            <a:p>
              <a:endParaRPr/>
            </a:p>
          </p:txBody>
        </p:sp>
        <p:sp>
          <p:nvSpPr>
            <p:cNvPr id="50" name="object 75">
              <a:extLst>
                <a:ext uri="{FF2B5EF4-FFF2-40B4-BE49-F238E27FC236}">
                  <a16:creationId xmlns:a16="http://schemas.microsoft.com/office/drawing/2014/main" id="{A9E6850B-9DD8-853E-3B4D-13D542939FC4}"/>
                </a:ext>
              </a:extLst>
            </p:cNvPr>
            <p:cNvSpPr/>
            <p:nvPr/>
          </p:nvSpPr>
          <p:spPr>
            <a:xfrm>
              <a:off x="4660519" y="1506641"/>
              <a:ext cx="2172335" cy="0"/>
            </a:xfrm>
            <a:custGeom>
              <a:avLst/>
              <a:gdLst/>
              <a:ahLst/>
              <a:cxnLst/>
              <a:rect l="l" t="t" r="r" b="b"/>
              <a:pathLst>
                <a:path w="2172334">
                  <a:moveTo>
                    <a:pt x="0" y="0"/>
                  </a:moveTo>
                  <a:lnTo>
                    <a:pt x="2172080" y="0"/>
                  </a:lnTo>
                </a:path>
              </a:pathLst>
            </a:custGeom>
            <a:ln/>
          </p:spPr>
          <p:style>
            <a:lnRef idx="1">
              <a:schemeClr val="accent6"/>
            </a:lnRef>
            <a:fillRef idx="0">
              <a:schemeClr val="accent6"/>
            </a:fillRef>
            <a:effectRef idx="0">
              <a:schemeClr val="accent6"/>
            </a:effectRef>
            <a:fontRef idx="minor">
              <a:schemeClr val="tx1"/>
            </a:fontRef>
          </p:style>
          <p:txBody>
            <a:bodyPr wrap="square" lIns="0" tIns="0" rIns="0" bIns="0" rtlCol="0"/>
            <a:lstStyle/>
            <a:p>
              <a:endParaRPr/>
            </a:p>
          </p:txBody>
        </p:sp>
      </p:grpSp>
      <p:pic>
        <p:nvPicPr>
          <p:cNvPr id="53" name="Picture 52">
            <a:extLst>
              <a:ext uri="{FF2B5EF4-FFF2-40B4-BE49-F238E27FC236}">
                <a16:creationId xmlns:a16="http://schemas.microsoft.com/office/drawing/2014/main" id="{96D18854-3E34-E204-C225-64A4C8D0AB2E}"/>
              </a:ext>
            </a:extLst>
          </p:cNvPr>
          <p:cNvPicPr>
            <a:picLocks noChangeAspect="1"/>
          </p:cNvPicPr>
          <p:nvPr/>
        </p:nvPicPr>
        <p:blipFill>
          <a:blip r:embed="rId10"/>
          <a:stretch>
            <a:fillRect/>
          </a:stretch>
        </p:blipFill>
        <p:spPr>
          <a:xfrm>
            <a:off x="88496" y="5486400"/>
            <a:ext cx="6642734" cy="3236949"/>
          </a:xfrm>
          <a:prstGeom prst="rect">
            <a:avLst/>
          </a:prstGeom>
        </p:spPr>
      </p:pic>
      <p:sp>
        <p:nvSpPr>
          <p:cNvPr id="54" name="TextBox 53">
            <a:extLst>
              <a:ext uri="{FF2B5EF4-FFF2-40B4-BE49-F238E27FC236}">
                <a16:creationId xmlns:a16="http://schemas.microsoft.com/office/drawing/2014/main" id="{B48BC848-D7DE-B137-8417-BFBB57770736}"/>
              </a:ext>
            </a:extLst>
          </p:cNvPr>
          <p:cNvSpPr txBox="1"/>
          <p:nvPr/>
        </p:nvSpPr>
        <p:spPr>
          <a:xfrm>
            <a:off x="2397835" y="1081994"/>
            <a:ext cx="2434895" cy="369332"/>
          </a:xfrm>
          <a:prstGeom prst="rect">
            <a:avLst/>
          </a:prstGeom>
          <a:noFill/>
        </p:spPr>
        <p:txBody>
          <a:bodyPr wrap="square">
            <a:spAutoFit/>
          </a:bodyPr>
          <a:lstStyle/>
          <a:p>
            <a:r>
              <a:rPr lang="en-US" b="1" dirty="0">
                <a:solidFill>
                  <a:schemeClr val="bg1"/>
                </a:solidFill>
                <a:latin typeface="+mj-lt"/>
              </a:rPr>
              <a:t>DUPONT ANALYSIS</a:t>
            </a:r>
          </a:p>
        </p:txBody>
      </p:sp>
    </p:spTree>
    <p:extLst>
      <p:ext uri="{BB962C8B-B14F-4D97-AF65-F5344CB8AC3E}">
        <p14:creationId xmlns:p14="http://schemas.microsoft.com/office/powerpoint/2010/main" val="4823709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69DC6-1FC0-EF88-0AB5-198F82B3EC63}"/>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4C471A34-E7F7-E21D-DE31-514FC05E8B45}"/>
              </a:ext>
            </a:extLst>
          </p:cNvPr>
          <p:cNvGrpSpPr/>
          <p:nvPr/>
        </p:nvGrpSpPr>
        <p:grpSpPr>
          <a:xfrm>
            <a:off x="0" y="0"/>
            <a:ext cx="6858000" cy="1625597"/>
            <a:chOff x="0" y="0"/>
            <a:chExt cx="6858000" cy="1625597"/>
          </a:xfrm>
        </p:grpSpPr>
        <p:sp>
          <p:nvSpPr>
            <p:cNvPr id="3" name="object 3">
              <a:extLst>
                <a:ext uri="{FF2B5EF4-FFF2-40B4-BE49-F238E27FC236}">
                  <a16:creationId xmlns:a16="http://schemas.microsoft.com/office/drawing/2014/main" id="{E3A10EE5-ADBD-3555-BD2E-9806559D94AC}"/>
                </a:ext>
              </a:extLst>
            </p:cNvPr>
            <p:cNvSpPr/>
            <p:nvPr/>
          </p:nvSpPr>
          <p:spPr>
            <a:xfrm>
              <a:off x="0" y="0"/>
              <a:ext cx="6858000" cy="949325"/>
            </a:xfrm>
            <a:custGeom>
              <a:avLst/>
              <a:gdLst/>
              <a:ahLst/>
              <a:cxnLst/>
              <a:rect l="l" t="t" r="r" b="b"/>
              <a:pathLst>
                <a:path w="6858000" h="949325">
                  <a:moveTo>
                    <a:pt x="0" y="949198"/>
                  </a:moveTo>
                  <a:lnTo>
                    <a:pt x="6858000" y="949198"/>
                  </a:lnTo>
                  <a:lnTo>
                    <a:pt x="6858000" y="0"/>
                  </a:lnTo>
                  <a:lnTo>
                    <a:pt x="0" y="0"/>
                  </a:lnTo>
                  <a:lnTo>
                    <a:pt x="0" y="949198"/>
                  </a:lnTo>
                  <a:close/>
                </a:path>
              </a:pathLst>
            </a:custGeom>
            <a:solidFill>
              <a:schemeClr val="accent6">
                <a:lumMod val="75000"/>
              </a:schemeClr>
            </a:solidFill>
          </p:spPr>
          <p:txBody>
            <a:bodyPr wrap="square" lIns="0" tIns="0" rIns="0" bIns="0" rtlCol="0"/>
            <a:lstStyle/>
            <a:p>
              <a:endParaRPr/>
            </a:p>
          </p:txBody>
        </p:sp>
        <p:sp>
          <p:nvSpPr>
            <p:cNvPr id="4" name="object 4">
              <a:extLst>
                <a:ext uri="{FF2B5EF4-FFF2-40B4-BE49-F238E27FC236}">
                  <a16:creationId xmlns:a16="http://schemas.microsoft.com/office/drawing/2014/main" id="{630E4B55-E478-74C8-0674-6953836FB398}"/>
                </a:ext>
              </a:extLst>
            </p:cNvPr>
            <p:cNvSpPr/>
            <p:nvPr/>
          </p:nvSpPr>
          <p:spPr>
            <a:xfrm>
              <a:off x="0" y="316227"/>
              <a:ext cx="4147185" cy="1309370"/>
            </a:xfrm>
            <a:custGeom>
              <a:avLst/>
              <a:gdLst/>
              <a:ahLst/>
              <a:cxnLst/>
              <a:rect l="l" t="t" r="r" b="b"/>
              <a:pathLst>
                <a:path w="4147185" h="1309370">
                  <a:moveTo>
                    <a:pt x="3492246" y="0"/>
                  </a:moveTo>
                  <a:lnTo>
                    <a:pt x="0" y="0"/>
                  </a:lnTo>
                  <a:lnTo>
                    <a:pt x="0" y="1309243"/>
                  </a:lnTo>
                  <a:lnTo>
                    <a:pt x="3492246" y="1309243"/>
                  </a:lnTo>
                  <a:lnTo>
                    <a:pt x="4146804" y="654685"/>
                  </a:lnTo>
                  <a:lnTo>
                    <a:pt x="3492246" y="0"/>
                  </a:lnTo>
                  <a:close/>
                </a:path>
              </a:pathLst>
            </a:custGeom>
            <a:solidFill>
              <a:srgbClr val="FFFFFF"/>
            </a:solidFill>
          </p:spPr>
          <p:txBody>
            <a:bodyPr wrap="square" lIns="0" tIns="0" rIns="0" bIns="0" rtlCol="0"/>
            <a:lstStyle/>
            <a:p>
              <a:endParaRPr dirty="0"/>
            </a:p>
          </p:txBody>
        </p:sp>
      </p:grpSp>
      <p:sp>
        <p:nvSpPr>
          <p:cNvPr id="5" name="object 5">
            <a:extLst>
              <a:ext uri="{FF2B5EF4-FFF2-40B4-BE49-F238E27FC236}">
                <a16:creationId xmlns:a16="http://schemas.microsoft.com/office/drawing/2014/main" id="{5B785649-B83D-3503-CD70-4295C1A25400}"/>
              </a:ext>
            </a:extLst>
          </p:cNvPr>
          <p:cNvSpPr txBox="1"/>
          <p:nvPr/>
        </p:nvSpPr>
        <p:spPr>
          <a:xfrm>
            <a:off x="147015" y="4952"/>
            <a:ext cx="2081530" cy="247015"/>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FFFFFF"/>
                </a:solidFill>
                <a:latin typeface="Calibri"/>
                <a:cs typeface="Calibri"/>
              </a:rPr>
              <a:t>EQUITY</a:t>
            </a:r>
            <a:r>
              <a:rPr sz="1450" b="1" spc="-65" dirty="0">
                <a:solidFill>
                  <a:srgbClr val="FFFFFF"/>
                </a:solidFill>
                <a:latin typeface="Calibri"/>
                <a:cs typeface="Calibri"/>
              </a:rPr>
              <a:t> </a:t>
            </a:r>
            <a:r>
              <a:rPr sz="1450" b="1" dirty="0">
                <a:solidFill>
                  <a:srgbClr val="FFFFFF"/>
                </a:solidFill>
                <a:latin typeface="Calibri"/>
                <a:cs typeface="Calibri"/>
              </a:rPr>
              <a:t>RESEARCH</a:t>
            </a:r>
            <a:r>
              <a:rPr sz="1450" b="1" spc="-60" dirty="0">
                <a:solidFill>
                  <a:srgbClr val="FFFFFF"/>
                </a:solidFill>
                <a:latin typeface="Calibri"/>
                <a:cs typeface="Calibri"/>
              </a:rPr>
              <a:t> </a:t>
            </a:r>
            <a:r>
              <a:rPr sz="1450" b="1" spc="-10" dirty="0">
                <a:solidFill>
                  <a:srgbClr val="FFFFFF"/>
                </a:solidFill>
                <a:latin typeface="Calibri"/>
                <a:cs typeface="Calibri"/>
              </a:rPr>
              <a:t>REPORT</a:t>
            </a:r>
            <a:endParaRPr sz="1450">
              <a:latin typeface="Calibri"/>
              <a:cs typeface="Calibri"/>
            </a:endParaRPr>
          </a:p>
        </p:txBody>
      </p:sp>
      <p:sp>
        <p:nvSpPr>
          <p:cNvPr id="40" name="object 40">
            <a:extLst>
              <a:ext uri="{FF2B5EF4-FFF2-40B4-BE49-F238E27FC236}">
                <a16:creationId xmlns:a16="http://schemas.microsoft.com/office/drawing/2014/main" id="{49381563-F52E-30BA-C5DE-F69D24FAFE0C}"/>
              </a:ext>
            </a:extLst>
          </p:cNvPr>
          <p:cNvSpPr txBox="1">
            <a:spLocks noGrp="1"/>
          </p:cNvSpPr>
          <p:nvPr>
            <p:ph type="title"/>
          </p:nvPr>
        </p:nvSpPr>
        <p:spPr>
          <a:xfrm>
            <a:off x="141831" y="295140"/>
            <a:ext cx="4269104" cy="289182"/>
          </a:xfrm>
          <a:prstGeom prst="rect">
            <a:avLst/>
          </a:prstGeom>
        </p:spPr>
        <p:txBody>
          <a:bodyPr vert="horz" wrap="square" lIns="0" tIns="12065" rIns="0" bIns="0" rtlCol="0">
            <a:spAutoFit/>
          </a:bodyPr>
          <a:lstStyle/>
          <a:p>
            <a:pPr marL="12700">
              <a:lnSpc>
                <a:spcPct val="100000"/>
              </a:lnSpc>
              <a:spcBef>
                <a:spcPts val="95"/>
              </a:spcBef>
            </a:pPr>
            <a:r>
              <a:rPr lang="en-GB" sz="1800" dirty="0"/>
              <a:t>Sun Pharmaceutical Industries Ltd.</a:t>
            </a:r>
            <a:endParaRPr sz="1800" dirty="0"/>
          </a:p>
        </p:txBody>
      </p:sp>
      <p:sp>
        <p:nvSpPr>
          <p:cNvPr id="41" name="object 41">
            <a:extLst>
              <a:ext uri="{FF2B5EF4-FFF2-40B4-BE49-F238E27FC236}">
                <a16:creationId xmlns:a16="http://schemas.microsoft.com/office/drawing/2014/main" id="{2250603E-88C1-77B4-5AFF-A132381B8D55}"/>
              </a:ext>
            </a:extLst>
          </p:cNvPr>
          <p:cNvSpPr txBox="1"/>
          <p:nvPr/>
        </p:nvSpPr>
        <p:spPr>
          <a:xfrm>
            <a:off x="141831" y="526972"/>
            <a:ext cx="3210968"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D2841"/>
                </a:solidFill>
                <a:latin typeface="Calibri"/>
                <a:cs typeface="Calibri"/>
              </a:rPr>
              <a:t>NSE</a:t>
            </a:r>
            <a:r>
              <a:rPr sz="1200" b="1" spc="-20" dirty="0">
                <a:solidFill>
                  <a:srgbClr val="0D2841"/>
                </a:solidFill>
                <a:latin typeface="Calibri"/>
                <a:cs typeface="Calibri"/>
              </a:rPr>
              <a:t> </a:t>
            </a:r>
            <a:r>
              <a:rPr sz="1200" b="1" dirty="0">
                <a:solidFill>
                  <a:srgbClr val="0D2841"/>
                </a:solidFill>
                <a:latin typeface="Calibri"/>
                <a:cs typeface="Calibri"/>
              </a:rPr>
              <a:t>:</a:t>
            </a:r>
            <a:r>
              <a:rPr lang="en-US" sz="1200" b="1" spc="-15" dirty="0">
                <a:solidFill>
                  <a:srgbClr val="0D2841"/>
                </a:solidFill>
                <a:latin typeface="Calibri"/>
                <a:cs typeface="Calibri"/>
              </a:rPr>
              <a:t> </a:t>
            </a:r>
            <a:r>
              <a:rPr lang="en-GB" sz="1200" b="1" dirty="0">
                <a:latin typeface="+mj-lt"/>
              </a:rPr>
              <a:t>SUNPHARMA</a:t>
            </a:r>
            <a:r>
              <a:rPr sz="1200" b="1" spc="10" dirty="0">
                <a:solidFill>
                  <a:srgbClr val="0D2841"/>
                </a:solidFill>
                <a:latin typeface="Calibri"/>
                <a:cs typeface="Calibri"/>
              </a:rPr>
              <a:t> </a:t>
            </a:r>
            <a:r>
              <a:rPr sz="1200" b="1" dirty="0">
                <a:solidFill>
                  <a:srgbClr val="0D2841"/>
                </a:solidFill>
                <a:latin typeface="Calibri"/>
                <a:cs typeface="Calibri"/>
              </a:rPr>
              <a:t>|</a:t>
            </a:r>
            <a:r>
              <a:rPr sz="1200" b="1" spc="-15" dirty="0">
                <a:solidFill>
                  <a:srgbClr val="0D2841"/>
                </a:solidFill>
                <a:latin typeface="Calibri"/>
                <a:cs typeface="Calibri"/>
              </a:rPr>
              <a:t> </a:t>
            </a:r>
            <a:r>
              <a:rPr sz="1200" b="1" dirty="0">
                <a:solidFill>
                  <a:srgbClr val="0D2841"/>
                </a:solidFill>
                <a:latin typeface="Calibri"/>
                <a:cs typeface="Calibri"/>
              </a:rPr>
              <a:t>BSE Code:</a:t>
            </a:r>
            <a:r>
              <a:rPr sz="1200" b="1" spc="-5" dirty="0">
                <a:solidFill>
                  <a:srgbClr val="0D2841"/>
                </a:solidFill>
                <a:latin typeface="Calibri"/>
                <a:cs typeface="Calibri"/>
              </a:rPr>
              <a:t> </a:t>
            </a:r>
            <a:r>
              <a:rPr lang="en-GB" sz="1200" b="1" dirty="0">
                <a:latin typeface="+mj-lt"/>
              </a:rPr>
              <a:t>524715</a:t>
            </a:r>
          </a:p>
        </p:txBody>
      </p:sp>
      <p:sp>
        <p:nvSpPr>
          <p:cNvPr id="57" name="object 41">
            <a:extLst>
              <a:ext uri="{FF2B5EF4-FFF2-40B4-BE49-F238E27FC236}">
                <a16:creationId xmlns:a16="http://schemas.microsoft.com/office/drawing/2014/main" id="{8FDB9DE7-3E13-CBBA-856E-AD05074A73C0}"/>
              </a:ext>
            </a:extLst>
          </p:cNvPr>
          <p:cNvSpPr txBox="1"/>
          <p:nvPr/>
        </p:nvSpPr>
        <p:spPr>
          <a:xfrm>
            <a:off x="141831" y="686543"/>
            <a:ext cx="3210968" cy="197490"/>
          </a:xfrm>
          <a:prstGeom prst="rect">
            <a:avLst/>
          </a:prstGeom>
        </p:spPr>
        <p:txBody>
          <a:bodyPr vert="horz" wrap="square" lIns="0" tIns="12700" rIns="0" bIns="0" rtlCol="0">
            <a:spAutoFit/>
          </a:bodyPr>
          <a:lstStyle/>
          <a:p>
            <a:pPr marL="12700">
              <a:lnSpc>
                <a:spcPct val="100000"/>
              </a:lnSpc>
              <a:spcBef>
                <a:spcPts val="100"/>
              </a:spcBef>
            </a:pPr>
            <a:r>
              <a:rPr lang="en-GB" sz="1200" b="1" dirty="0">
                <a:latin typeface="Calibri "/>
              </a:rPr>
              <a:t>Pharmaceuticals &amp; Drugs</a:t>
            </a:r>
          </a:p>
        </p:txBody>
      </p:sp>
      <p:pic>
        <p:nvPicPr>
          <p:cNvPr id="59" name="Picture 58">
            <a:extLst>
              <a:ext uri="{FF2B5EF4-FFF2-40B4-BE49-F238E27FC236}">
                <a16:creationId xmlns:a16="http://schemas.microsoft.com/office/drawing/2014/main" id="{419F3328-C5B4-30E8-ED6A-6C639C6094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04126" y="17284"/>
            <a:ext cx="1295705" cy="879830"/>
          </a:xfrm>
          <a:prstGeom prst="rect">
            <a:avLst/>
          </a:prstGeom>
        </p:spPr>
      </p:pic>
      <p:cxnSp>
        <p:nvCxnSpPr>
          <p:cNvPr id="61" name="Straight Connector 60">
            <a:extLst>
              <a:ext uri="{FF2B5EF4-FFF2-40B4-BE49-F238E27FC236}">
                <a16:creationId xmlns:a16="http://schemas.microsoft.com/office/drawing/2014/main" id="{15A6EAD3-C1D4-CF1D-5E47-B3593C91927E}"/>
              </a:ext>
            </a:extLst>
          </p:cNvPr>
          <p:cNvCxnSpPr>
            <a:cxnSpLocks/>
          </p:cNvCxnSpPr>
          <p:nvPr/>
        </p:nvCxnSpPr>
        <p:spPr>
          <a:xfrm>
            <a:off x="0" y="8915400"/>
            <a:ext cx="6858000" cy="0"/>
          </a:xfrm>
          <a:prstGeom prst="line">
            <a:avLst/>
          </a:prstGeom>
          <a:ln w="41275">
            <a:solidFill>
              <a:srgbClr val="E46C0A"/>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6E581AF9-D1D1-7F4A-7501-5EFEAC2F9A44}"/>
              </a:ext>
            </a:extLst>
          </p:cNvPr>
          <p:cNvSpPr txBox="1"/>
          <p:nvPr/>
        </p:nvSpPr>
        <p:spPr>
          <a:xfrm>
            <a:off x="6553200" y="8850868"/>
            <a:ext cx="667055" cy="369332"/>
          </a:xfrm>
          <a:prstGeom prst="rect">
            <a:avLst/>
          </a:prstGeom>
          <a:noFill/>
        </p:spPr>
        <p:txBody>
          <a:bodyPr wrap="square" rtlCol="0">
            <a:spAutoFit/>
          </a:bodyPr>
          <a:lstStyle/>
          <a:p>
            <a:r>
              <a:rPr lang="en-US" b="1" dirty="0">
                <a:solidFill>
                  <a:srgbClr val="E46C0A"/>
                </a:solidFill>
              </a:rPr>
              <a:t>1</a:t>
            </a:r>
            <a:endParaRPr lang="en-GB" b="1" dirty="0">
              <a:solidFill>
                <a:srgbClr val="E46C0A"/>
              </a:solidFill>
            </a:endParaRPr>
          </a:p>
        </p:txBody>
      </p:sp>
      <p:cxnSp>
        <p:nvCxnSpPr>
          <p:cNvPr id="69" name="Straight Connector 68">
            <a:extLst>
              <a:ext uri="{FF2B5EF4-FFF2-40B4-BE49-F238E27FC236}">
                <a16:creationId xmlns:a16="http://schemas.microsoft.com/office/drawing/2014/main" id="{189CF7DE-C587-4CC9-A8B9-20B50565E86B}"/>
              </a:ext>
            </a:extLst>
          </p:cNvPr>
          <p:cNvCxnSpPr>
            <a:cxnSpLocks/>
          </p:cNvCxnSpPr>
          <p:nvPr/>
        </p:nvCxnSpPr>
        <p:spPr>
          <a:xfrm flipV="1">
            <a:off x="0" y="933199"/>
            <a:ext cx="6858000" cy="37713"/>
          </a:xfrm>
          <a:prstGeom prst="line">
            <a:avLst/>
          </a:prstGeom>
          <a:ln>
            <a:solidFill>
              <a:srgbClr val="E46C0A"/>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70B60183-5433-54D8-8698-836E6B39F14D}"/>
              </a:ext>
            </a:extLst>
          </p:cNvPr>
          <p:cNvPicPr>
            <a:picLocks noChangeAspect="1"/>
          </p:cNvPicPr>
          <p:nvPr/>
        </p:nvPicPr>
        <p:blipFill>
          <a:blip r:embed="rId3"/>
          <a:stretch>
            <a:fillRect/>
          </a:stretch>
        </p:blipFill>
        <p:spPr>
          <a:xfrm>
            <a:off x="141831" y="970413"/>
            <a:ext cx="6563770" cy="4857688"/>
          </a:xfrm>
          <a:prstGeom prst="rect">
            <a:avLst/>
          </a:prstGeom>
        </p:spPr>
      </p:pic>
      <p:sp>
        <p:nvSpPr>
          <p:cNvPr id="9" name="TextBox 8">
            <a:extLst>
              <a:ext uri="{FF2B5EF4-FFF2-40B4-BE49-F238E27FC236}">
                <a16:creationId xmlns:a16="http://schemas.microsoft.com/office/drawing/2014/main" id="{6149E941-A872-A5D1-8387-AD754C42D799}"/>
              </a:ext>
            </a:extLst>
          </p:cNvPr>
          <p:cNvSpPr txBox="1"/>
          <p:nvPr/>
        </p:nvSpPr>
        <p:spPr>
          <a:xfrm>
            <a:off x="28727" y="6062344"/>
            <a:ext cx="6858000" cy="2862322"/>
          </a:xfrm>
          <a:prstGeom prst="rect">
            <a:avLst/>
          </a:prstGeom>
          <a:noFill/>
        </p:spPr>
        <p:txBody>
          <a:bodyPr wrap="square">
            <a:spAutoFit/>
          </a:bodyPr>
          <a:lstStyle/>
          <a:p>
            <a:pPr algn="just"/>
            <a:r>
              <a:rPr lang="en-US" sz="1200" dirty="0">
                <a:latin typeface="+mj-lt"/>
              </a:rPr>
              <a:t>The </a:t>
            </a:r>
            <a:r>
              <a:rPr lang="en-US" sz="1200" b="1" dirty="0">
                <a:latin typeface="+mj-lt"/>
              </a:rPr>
              <a:t>ROE</a:t>
            </a:r>
            <a:r>
              <a:rPr lang="en-US" sz="1200" dirty="0">
                <a:latin typeface="+mj-lt"/>
              </a:rPr>
              <a:t> of Sun Pharma has remained resilient over the last decade, recovering from a low of </a:t>
            </a:r>
            <a:r>
              <a:rPr lang="en-US" sz="1200" b="1" dirty="0">
                <a:latin typeface="+mj-lt"/>
              </a:rPr>
              <a:t>5.60% in FY18</a:t>
            </a:r>
            <a:r>
              <a:rPr lang="en-US" sz="1200" dirty="0">
                <a:latin typeface="+mj-lt"/>
              </a:rPr>
              <a:t> to </a:t>
            </a:r>
            <a:r>
              <a:rPr lang="en-US" sz="1200" b="1" dirty="0">
                <a:latin typeface="+mj-lt"/>
              </a:rPr>
              <a:t>14.74% in FY26</a:t>
            </a:r>
            <a:r>
              <a:rPr lang="en-US" sz="1200" dirty="0">
                <a:latin typeface="+mj-lt"/>
              </a:rPr>
              <a:t>. This improvement reflects stronger shareholder value creation, supported primarily by expanding profitability, improving asset utilization, and disciplined capital allocation following the successful scale-up of the Global Specialty business. The improvement in </a:t>
            </a:r>
            <a:r>
              <a:rPr lang="en-US" sz="1200" b="1" dirty="0">
                <a:latin typeface="+mj-lt"/>
              </a:rPr>
              <a:t>ROE</a:t>
            </a:r>
            <a:r>
              <a:rPr lang="en-US" sz="1200" dirty="0">
                <a:latin typeface="+mj-lt"/>
              </a:rPr>
              <a:t> has been driven by a steady increase in the </a:t>
            </a:r>
            <a:r>
              <a:rPr lang="en-US" sz="1200" b="1" dirty="0">
                <a:latin typeface="+mj-lt"/>
              </a:rPr>
              <a:t>Asset Turnover Ratio</a:t>
            </a:r>
            <a:r>
              <a:rPr lang="en-US" sz="1200" dirty="0">
                <a:latin typeface="+mj-lt"/>
              </a:rPr>
              <a:t>, which improved from </a:t>
            </a:r>
            <a:r>
              <a:rPr lang="en-US" sz="1200" b="1" dirty="0">
                <a:latin typeface="+mj-lt"/>
              </a:rPr>
              <a:t>0.42x in FY18</a:t>
            </a:r>
            <a:r>
              <a:rPr lang="en-US" sz="1200" dirty="0">
                <a:latin typeface="+mj-lt"/>
              </a:rPr>
              <a:t> to </a:t>
            </a:r>
            <a:r>
              <a:rPr lang="en-US" sz="1200" b="1" dirty="0">
                <a:latin typeface="+mj-lt"/>
              </a:rPr>
              <a:t>0.58x in FY26</a:t>
            </a:r>
            <a:r>
              <a:rPr lang="en-US" sz="1200" dirty="0">
                <a:latin typeface="+mj-lt"/>
              </a:rPr>
              <a:t>, indicating more efficient utilization of assets to generate revenue. At the same time, the </a:t>
            </a:r>
            <a:r>
              <a:rPr lang="en-US" sz="1200" b="1" dirty="0">
                <a:latin typeface="+mj-lt"/>
              </a:rPr>
              <a:t>Net Profit Margin</a:t>
            </a:r>
            <a:r>
              <a:rPr lang="en-US" sz="1200" dirty="0">
                <a:latin typeface="+mj-lt"/>
              </a:rPr>
              <a:t> strengthened significantly from </a:t>
            </a:r>
            <a:r>
              <a:rPr lang="en-US" sz="1200" b="1" dirty="0">
                <a:latin typeface="+mj-lt"/>
              </a:rPr>
              <a:t>7.90% in FY18</a:t>
            </a:r>
            <a:r>
              <a:rPr lang="en-US" sz="1200" dirty="0">
                <a:latin typeface="+mj-lt"/>
              </a:rPr>
              <a:t> to </a:t>
            </a:r>
            <a:r>
              <a:rPr lang="en-US" sz="1200" b="1" dirty="0">
                <a:latin typeface="+mj-lt"/>
              </a:rPr>
              <a:t>19.72% in FY26</a:t>
            </a:r>
            <a:r>
              <a:rPr lang="en-US" sz="1200" dirty="0">
                <a:latin typeface="+mj-lt"/>
              </a:rPr>
              <a:t>, reflecting higher profitability driven by an improved product mix and operational efficiency. </a:t>
            </a:r>
            <a:r>
              <a:rPr lang="en-US" sz="1200" b="1" dirty="0">
                <a:latin typeface="+mj-lt"/>
              </a:rPr>
              <a:t>Financial Leverage</a:t>
            </a:r>
            <a:r>
              <a:rPr lang="en-US" sz="1200" dirty="0">
                <a:latin typeface="+mj-lt"/>
              </a:rPr>
              <a:t> has steadily declined from </a:t>
            </a:r>
            <a:r>
              <a:rPr lang="en-US" sz="1200" b="1" dirty="0">
                <a:latin typeface="+mj-lt"/>
              </a:rPr>
              <a:t>1.99x in FY16</a:t>
            </a:r>
            <a:r>
              <a:rPr lang="en-US" sz="1200" dirty="0">
                <a:latin typeface="+mj-lt"/>
              </a:rPr>
              <a:t> to </a:t>
            </a:r>
            <a:r>
              <a:rPr lang="en-US" sz="1200" b="1" dirty="0">
                <a:latin typeface="+mj-lt"/>
              </a:rPr>
              <a:t>1.29x in FY26</a:t>
            </a:r>
            <a:r>
              <a:rPr lang="en-US" sz="1200" dirty="0">
                <a:latin typeface="+mj-lt"/>
              </a:rPr>
              <a:t>, highlighting the company's conservative capital structure and lower dependence on debt. Despite lower leverage, Sun Pharma has continued to deliver healthy equity returns, demonstrating that profitability growth rather than financial leverage has been the key driver of ROE. The </a:t>
            </a:r>
            <a:r>
              <a:rPr lang="en-US" sz="1200" b="1" dirty="0">
                <a:latin typeface="+mj-lt"/>
              </a:rPr>
              <a:t>Capital Turnover Ratio</a:t>
            </a:r>
            <a:r>
              <a:rPr lang="en-US" sz="1200" dirty="0">
                <a:latin typeface="+mj-lt"/>
              </a:rPr>
              <a:t> improved from </a:t>
            </a:r>
            <a:r>
              <a:rPr lang="en-US" sz="1200" b="1" dirty="0">
                <a:latin typeface="+mj-lt"/>
              </a:rPr>
              <a:t>0.53x in FY18</a:t>
            </a:r>
            <a:r>
              <a:rPr lang="en-US" sz="1200" dirty="0">
                <a:latin typeface="+mj-lt"/>
              </a:rPr>
              <a:t> to </a:t>
            </a:r>
            <a:r>
              <a:rPr lang="en-US" sz="1200" b="1" dirty="0">
                <a:latin typeface="+mj-lt"/>
              </a:rPr>
              <a:t>0.72x in FY26</a:t>
            </a:r>
            <a:r>
              <a:rPr lang="en-US" sz="1200" dirty="0">
                <a:latin typeface="+mj-lt"/>
              </a:rPr>
              <a:t>, while </a:t>
            </a:r>
            <a:r>
              <a:rPr lang="en-US" sz="1200" b="1" dirty="0">
                <a:latin typeface="+mj-lt"/>
              </a:rPr>
              <a:t>EBIT Margin</a:t>
            </a:r>
            <a:r>
              <a:rPr lang="en-US" sz="1200" dirty="0">
                <a:latin typeface="+mj-lt"/>
              </a:rPr>
              <a:t> expanded from </a:t>
            </a:r>
            <a:r>
              <a:rPr lang="en-US" sz="1200" b="1" dirty="0">
                <a:latin typeface="+mj-lt"/>
              </a:rPr>
              <a:t>15.09% to 28.92%</a:t>
            </a:r>
            <a:r>
              <a:rPr lang="en-US" sz="1200" dirty="0">
                <a:latin typeface="+mj-lt"/>
              </a:rPr>
              <a:t> during the same period. Consequently, </a:t>
            </a:r>
            <a:r>
              <a:rPr lang="en-US" sz="1200" b="1" dirty="0">
                <a:latin typeface="+mj-lt"/>
              </a:rPr>
              <a:t>ROCE</a:t>
            </a:r>
            <a:r>
              <a:rPr lang="en-US" sz="1200" dirty="0">
                <a:latin typeface="+mj-lt"/>
              </a:rPr>
              <a:t> increased from </a:t>
            </a:r>
            <a:r>
              <a:rPr lang="en-US" sz="1200" b="1" dirty="0">
                <a:latin typeface="+mj-lt"/>
              </a:rPr>
              <a:t>7.98% in FY18</a:t>
            </a:r>
            <a:r>
              <a:rPr lang="en-US" sz="1200" dirty="0">
                <a:latin typeface="+mj-lt"/>
              </a:rPr>
              <a:t> to </a:t>
            </a:r>
            <a:r>
              <a:rPr lang="en-US" sz="1200" b="1" dirty="0">
                <a:latin typeface="+mj-lt"/>
              </a:rPr>
              <a:t>20.70% in FY26</a:t>
            </a:r>
            <a:r>
              <a:rPr lang="en-US" sz="1200" dirty="0">
                <a:latin typeface="+mj-lt"/>
              </a:rPr>
              <a:t>, reflecting significantly better capital utilization and reinforcing management's ability to generate stronger returns on invested capital.</a:t>
            </a:r>
          </a:p>
        </p:txBody>
      </p:sp>
      <p:sp>
        <p:nvSpPr>
          <p:cNvPr id="8" name="TextBox 7">
            <a:extLst>
              <a:ext uri="{FF2B5EF4-FFF2-40B4-BE49-F238E27FC236}">
                <a16:creationId xmlns:a16="http://schemas.microsoft.com/office/drawing/2014/main" id="{FEB3DFB5-6866-8DEF-50DA-D92EE522B038}"/>
              </a:ext>
            </a:extLst>
          </p:cNvPr>
          <p:cNvSpPr txBox="1"/>
          <p:nvPr/>
        </p:nvSpPr>
        <p:spPr>
          <a:xfrm>
            <a:off x="-9646" y="5834658"/>
            <a:ext cx="3617088" cy="338554"/>
          </a:xfrm>
          <a:prstGeom prst="rect">
            <a:avLst/>
          </a:prstGeom>
          <a:noFill/>
        </p:spPr>
        <p:txBody>
          <a:bodyPr wrap="square">
            <a:spAutoFit/>
          </a:bodyPr>
          <a:lstStyle/>
          <a:p>
            <a:pPr marL="12700">
              <a:spcBef>
                <a:spcPts val="830"/>
              </a:spcBef>
            </a:pPr>
            <a:r>
              <a:rPr lang="en-IN" sz="1600" b="1" dirty="0">
                <a:solidFill>
                  <a:srgbClr val="E36B0C"/>
                </a:solidFill>
                <a:uFill>
                  <a:solidFill>
                    <a:srgbClr val="000000"/>
                  </a:solidFill>
                </a:uFill>
                <a:latin typeface="Calibri"/>
                <a:cs typeface="Calibri"/>
              </a:rPr>
              <a:t>COMMENTARY</a:t>
            </a:r>
            <a:endParaRPr lang="en-IN" sz="1600" b="1" u="sng" dirty="0">
              <a:solidFill>
                <a:srgbClr val="E36B0C"/>
              </a:solidFill>
              <a:uFill>
                <a:solidFill>
                  <a:srgbClr val="000000"/>
                </a:solidFill>
              </a:uFill>
              <a:latin typeface="Calibri"/>
              <a:cs typeface="Calibri"/>
            </a:endParaRPr>
          </a:p>
        </p:txBody>
      </p:sp>
    </p:spTree>
    <p:extLst>
      <p:ext uri="{BB962C8B-B14F-4D97-AF65-F5344CB8AC3E}">
        <p14:creationId xmlns:p14="http://schemas.microsoft.com/office/powerpoint/2010/main" val="2193084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6858000" cy="1625597"/>
            <a:chOff x="0" y="0"/>
            <a:chExt cx="6858000" cy="1625597"/>
          </a:xfrm>
        </p:grpSpPr>
        <p:sp>
          <p:nvSpPr>
            <p:cNvPr id="3" name="object 3"/>
            <p:cNvSpPr/>
            <p:nvPr/>
          </p:nvSpPr>
          <p:spPr>
            <a:xfrm>
              <a:off x="0" y="0"/>
              <a:ext cx="6858000" cy="949325"/>
            </a:xfrm>
            <a:custGeom>
              <a:avLst/>
              <a:gdLst/>
              <a:ahLst/>
              <a:cxnLst/>
              <a:rect l="l" t="t" r="r" b="b"/>
              <a:pathLst>
                <a:path w="6858000" h="949325">
                  <a:moveTo>
                    <a:pt x="0" y="949198"/>
                  </a:moveTo>
                  <a:lnTo>
                    <a:pt x="6858000" y="949198"/>
                  </a:lnTo>
                  <a:lnTo>
                    <a:pt x="6858000" y="0"/>
                  </a:lnTo>
                  <a:lnTo>
                    <a:pt x="0" y="0"/>
                  </a:lnTo>
                  <a:lnTo>
                    <a:pt x="0" y="949198"/>
                  </a:lnTo>
                  <a:close/>
                </a:path>
              </a:pathLst>
            </a:custGeom>
            <a:solidFill>
              <a:schemeClr val="accent6">
                <a:lumMod val="75000"/>
              </a:schemeClr>
            </a:solidFill>
          </p:spPr>
          <p:txBody>
            <a:bodyPr wrap="square" lIns="0" tIns="0" rIns="0" bIns="0" rtlCol="0"/>
            <a:lstStyle/>
            <a:p>
              <a:endParaRPr/>
            </a:p>
          </p:txBody>
        </p:sp>
        <p:sp>
          <p:nvSpPr>
            <p:cNvPr id="4" name="object 4"/>
            <p:cNvSpPr/>
            <p:nvPr/>
          </p:nvSpPr>
          <p:spPr>
            <a:xfrm>
              <a:off x="0" y="316227"/>
              <a:ext cx="4147185" cy="1309370"/>
            </a:xfrm>
            <a:custGeom>
              <a:avLst/>
              <a:gdLst/>
              <a:ahLst/>
              <a:cxnLst/>
              <a:rect l="l" t="t" r="r" b="b"/>
              <a:pathLst>
                <a:path w="4147185" h="1309370">
                  <a:moveTo>
                    <a:pt x="3492246" y="0"/>
                  </a:moveTo>
                  <a:lnTo>
                    <a:pt x="0" y="0"/>
                  </a:lnTo>
                  <a:lnTo>
                    <a:pt x="0" y="1309243"/>
                  </a:lnTo>
                  <a:lnTo>
                    <a:pt x="3492246" y="1309243"/>
                  </a:lnTo>
                  <a:lnTo>
                    <a:pt x="4146804" y="654685"/>
                  </a:lnTo>
                  <a:lnTo>
                    <a:pt x="3492246" y="0"/>
                  </a:lnTo>
                  <a:close/>
                </a:path>
              </a:pathLst>
            </a:custGeom>
            <a:solidFill>
              <a:srgbClr val="FFFFFF"/>
            </a:solidFill>
          </p:spPr>
          <p:txBody>
            <a:bodyPr wrap="square" lIns="0" tIns="0" rIns="0" bIns="0" rtlCol="0"/>
            <a:lstStyle/>
            <a:p>
              <a:endParaRPr dirty="0"/>
            </a:p>
          </p:txBody>
        </p:sp>
      </p:grpSp>
      <p:sp>
        <p:nvSpPr>
          <p:cNvPr id="5" name="object 5"/>
          <p:cNvSpPr txBox="1"/>
          <p:nvPr/>
        </p:nvSpPr>
        <p:spPr>
          <a:xfrm>
            <a:off x="147015" y="4952"/>
            <a:ext cx="2081530" cy="247015"/>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FFFFFF"/>
                </a:solidFill>
                <a:latin typeface="Calibri"/>
                <a:cs typeface="Calibri"/>
              </a:rPr>
              <a:t>EQUITY</a:t>
            </a:r>
            <a:r>
              <a:rPr sz="1450" b="1" spc="-65" dirty="0">
                <a:solidFill>
                  <a:srgbClr val="FFFFFF"/>
                </a:solidFill>
                <a:latin typeface="Calibri"/>
                <a:cs typeface="Calibri"/>
              </a:rPr>
              <a:t> </a:t>
            </a:r>
            <a:r>
              <a:rPr sz="1450" b="1" dirty="0">
                <a:solidFill>
                  <a:srgbClr val="FFFFFF"/>
                </a:solidFill>
                <a:latin typeface="Calibri"/>
                <a:cs typeface="Calibri"/>
              </a:rPr>
              <a:t>RESEARCH</a:t>
            </a:r>
            <a:r>
              <a:rPr sz="1450" b="1" spc="-60" dirty="0">
                <a:solidFill>
                  <a:srgbClr val="FFFFFF"/>
                </a:solidFill>
                <a:latin typeface="Calibri"/>
                <a:cs typeface="Calibri"/>
              </a:rPr>
              <a:t> </a:t>
            </a:r>
            <a:r>
              <a:rPr sz="1450" b="1" spc="-10" dirty="0">
                <a:solidFill>
                  <a:srgbClr val="FFFFFF"/>
                </a:solidFill>
                <a:latin typeface="Calibri"/>
                <a:cs typeface="Calibri"/>
              </a:rPr>
              <a:t>REPORT</a:t>
            </a:r>
            <a:endParaRPr sz="1450">
              <a:latin typeface="Calibri"/>
              <a:cs typeface="Calibri"/>
            </a:endParaRPr>
          </a:p>
        </p:txBody>
      </p:sp>
      <p:sp>
        <p:nvSpPr>
          <p:cNvPr id="40" name="object 40"/>
          <p:cNvSpPr txBox="1">
            <a:spLocks noGrp="1"/>
          </p:cNvSpPr>
          <p:nvPr>
            <p:ph type="title"/>
          </p:nvPr>
        </p:nvSpPr>
        <p:spPr>
          <a:xfrm>
            <a:off x="141831" y="295140"/>
            <a:ext cx="4269104" cy="289182"/>
          </a:xfrm>
          <a:prstGeom prst="rect">
            <a:avLst/>
          </a:prstGeom>
        </p:spPr>
        <p:txBody>
          <a:bodyPr vert="horz" wrap="square" lIns="0" tIns="12065" rIns="0" bIns="0" rtlCol="0">
            <a:spAutoFit/>
          </a:bodyPr>
          <a:lstStyle/>
          <a:p>
            <a:pPr marL="12700">
              <a:lnSpc>
                <a:spcPct val="100000"/>
              </a:lnSpc>
              <a:spcBef>
                <a:spcPts val="95"/>
              </a:spcBef>
            </a:pPr>
            <a:r>
              <a:rPr lang="en-GB" sz="1800" dirty="0"/>
              <a:t>Sun Pharmaceutical Industries Ltd.</a:t>
            </a:r>
            <a:endParaRPr sz="1800" dirty="0"/>
          </a:p>
        </p:txBody>
      </p:sp>
      <p:sp>
        <p:nvSpPr>
          <p:cNvPr id="41" name="object 41"/>
          <p:cNvSpPr txBox="1"/>
          <p:nvPr/>
        </p:nvSpPr>
        <p:spPr>
          <a:xfrm>
            <a:off x="141831" y="526972"/>
            <a:ext cx="3210968"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D2841"/>
                </a:solidFill>
                <a:latin typeface="Calibri"/>
                <a:cs typeface="Calibri"/>
              </a:rPr>
              <a:t>NSE</a:t>
            </a:r>
            <a:r>
              <a:rPr sz="1200" b="1" spc="-20" dirty="0">
                <a:solidFill>
                  <a:srgbClr val="0D2841"/>
                </a:solidFill>
                <a:latin typeface="Calibri"/>
                <a:cs typeface="Calibri"/>
              </a:rPr>
              <a:t> </a:t>
            </a:r>
            <a:r>
              <a:rPr sz="1200" b="1" dirty="0">
                <a:solidFill>
                  <a:srgbClr val="0D2841"/>
                </a:solidFill>
                <a:latin typeface="Calibri"/>
                <a:cs typeface="Calibri"/>
              </a:rPr>
              <a:t>:</a:t>
            </a:r>
            <a:r>
              <a:rPr lang="en-US" sz="1200" b="1" spc="-15" dirty="0">
                <a:solidFill>
                  <a:srgbClr val="0D2841"/>
                </a:solidFill>
                <a:latin typeface="Calibri"/>
                <a:cs typeface="Calibri"/>
              </a:rPr>
              <a:t> </a:t>
            </a:r>
            <a:r>
              <a:rPr lang="en-GB" sz="1200" b="1" dirty="0">
                <a:latin typeface="+mj-lt"/>
              </a:rPr>
              <a:t>SUNPHARMA</a:t>
            </a:r>
            <a:r>
              <a:rPr sz="1200" b="1" spc="10" dirty="0">
                <a:solidFill>
                  <a:srgbClr val="0D2841"/>
                </a:solidFill>
                <a:latin typeface="Calibri"/>
                <a:cs typeface="Calibri"/>
              </a:rPr>
              <a:t> </a:t>
            </a:r>
            <a:r>
              <a:rPr sz="1200" b="1" dirty="0">
                <a:solidFill>
                  <a:srgbClr val="0D2841"/>
                </a:solidFill>
                <a:latin typeface="Calibri"/>
                <a:cs typeface="Calibri"/>
              </a:rPr>
              <a:t>|</a:t>
            </a:r>
            <a:r>
              <a:rPr sz="1200" b="1" spc="-15" dirty="0">
                <a:solidFill>
                  <a:srgbClr val="0D2841"/>
                </a:solidFill>
                <a:latin typeface="Calibri"/>
                <a:cs typeface="Calibri"/>
              </a:rPr>
              <a:t> </a:t>
            </a:r>
            <a:r>
              <a:rPr sz="1200" b="1" dirty="0">
                <a:solidFill>
                  <a:srgbClr val="0D2841"/>
                </a:solidFill>
                <a:latin typeface="Calibri"/>
                <a:cs typeface="Calibri"/>
              </a:rPr>
              <a:t>BSE Code:</a:t>
            </a:r>
            <a:r>
              <a:rPr sz="1200" b="1" spc="-5" dirty="0">
                <a:solidFill>
                  <a:srgbClr val="0D2841"/>
                </a:solidFill>
                <a:latin typeface="Calibri"/>
                <a:cs typeface="Calibri"/>
              </a:rPr>
              <a:t> </a:t>
            </a:r>
            <a:r>
              <a:rPr lang="en-GB" sz="1200" b="1" dirty="0">
                <a:latin typeface="+mj-lt"/>
              </a:rPr>
              <a:t>524715</a:t>
            </a:r>
          </a:p>
        </p:txBody>
      </p:sp>
      <p:sp>
        <p:nvSpPr>
          <p:cNvPr id="57" name="object 41">
            <a:extLst>
              <a:ext uri="{FF2B5EF4-FFF2-40B4-BE49-F238E27FC236}">
                <a16:creationId xmlns:a16="http://schemas.microsoft.com/office/drawing/2014/main" id="{A4CE2B38-9DA1-AD14-D09F-5355F60BA0B5}"/>
              </a:ext>
            </a:extLst>
          </p:cNvPr>
          <p:cNvSpPr txBox="1"/>
          <p:nvPr/>
        </p:nvSpPr>
        <p:spPr>
          <a:xfrm>
            <a:off x="141831" y="686543"/>
            <a:ext cx="3210968" cy="197490"/>
          </a:xfrm>
          <a:prstGeom prst="rect">
            <a:avLst/>
          </a:prstGeom>
        </p:spPr>
        <p:txBody>
          <a:bodyPr vert="horz" wrap="square" lIns="0" tIns="12700" rIns="0" bIns="0" rtlCol="0">
            <a:spAutoFit/>
          </a:bodyPr>
          <a:lstStyle/>
          <a:p>
            <a:pPr marL="12700">
              <a:lnSpc>
                <a:spcPct val="100000"/>
              </a:lnSpc>
              <a:spcBef>
                <a:spcPts val="100"/>
              </a:spcBef>
            </a:pPr>
            <a:r>
              <a:rPr lang="en-GB" sz="1200" b="1" dirty="0">
                <a:latin typeface="Calibri "/>
              </a:rPr>
              <a:t>Pharmaceuticals &amp; Drugs</a:t>
            </a:r>
          </a:p>
        </p:txBody>
      </p:sp>
      <p:pic>
        <p:nvPicPr>
          <p:cNvPr id="59" name="Picture 58">
            <a:extLst>
              <a:ext uri="{FF2B5EF4-FFF2-40B4-BE49-F238E27FC236}">
                <a16:creationId xmlns:a16="http://schemas.microsoft.com/office/drawing/2014/main" id="{E16D52EA-F1BD-484B-4CA0-DBFF0113C3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04126" y="17284"/>
            <a:ext cx="1295705" cy="879830"/>
          </a:xfrm>
          <a:prstGeom prst="rect">
            <a:avLst/>
          </a:prstGeom>
        </p:spPr>
      </p:pic>
      <p:cxnSp>
        <p:nvCxnSpPr>
          <p:cNvPr id="61" name="Straight Connector 60">
            <a:extLst>
              <a:ext uri="{FF2B5EF4-FFF2-40B4-BE49-F238E27FC236}">
                <a16:creationId xmlns:a16="http://schemas.microsoft.com/office/drawing/2014/main" id="{01430D55-C150-28B4-1B74-60D53B0357A2}"/>
              </a:ext>
            </a:extLst>
          </p:cNvPr>
          <p:cNvCxnSpPr>
            <a:cxnSpLocks/>
          </p:cNvCxnSpPr>
          <p:nvPr/>
        </p:nvCxnSpPr>
        <p:spPr>
          <a:xfrm>
            <a:off x="0" y="8859394"/>
            <a:ext cx="6858000" cy="0"/>
          </a:xfrm>
          <a:prstGeom prst="line">
            <a:avLst/>
          </a:prstGeom>
          <a:ln w="41275">
            <a:solidFill>
              <a:srgbClr val="E46C0A"/>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92CF3E35-22AB-C439-F95E-88E2CDE2061E}"/>
              </a:ext>
            </a:extLst>
          </p:cNvPr>
          <p:cNvSpPr txBox="1"/>
          <p:nvPr/>
        </p:nvSpPr>
        <p:spPr>
          <a:xfrm>
            <a:off x="6553200" y="8810228"/>
            <a:ext cx="667055" cy="369332"/>
          </a:xfrm>
          <a:prstGeom prst="rect">
            <a:avLst/>
          </a:prstGeom>
          <a:noFill/>
        </p:spPr>
        <p:txBody>
          <a:bodyPr wrap="square" rtlCol="0">
            <a:spAutoFit/>
          </a:bodyPr>
          <a:lstStyle/>
          <a:p>
            <a:r>
              <a:rPr lang="en-US" b="1" dirty="0">
                <a:solidFill>
                  <a:srgbClr val="E46C0A"/>
                </a:solidFill>
              </a:rPr>
              <a:t>1</a:t>
            </a:r>
            <a:endParaRPr lang="en-GB" b="1" dirty="0">
              <a:solidFill>
                <a:srgbClr val="E46C0A"/>
              </a:solidFill>
            </a:endParaRPr>
          </a:p>
        </p:txBody>
      </p:sp>
      <p:cxnSp>
        <p:nvCxnSpPr>
          <p:cNvPr id="69" name="Straight Connector 68">
            <a:extLst>
              <a:ext uri="{FF2B5EF4-FFF2-40B4-BE49-F238E27FC236}">
                <a16:creationId xmlns:a16="http://schemas.microsoft.com/office/drawing/2014/main" id="{784077AE-4C24-9691-27AE-FC71BA7D620F}"/>
              </a:ext>
            </a:extLst>
          </p:cNvPr>
          <p:cNvCxnSpPr>
            <a:cxnSpLocks/>
          </p:cNvCxnSpPr>
          <p:nvPr/>
        </p:nvCxnSpPr>
        <p:spPr>
          <a:xfrm flipV="1">
            <a:off x="0" y="933199"/>
            <a:ext cx="6858000" cy="37713"/>
          </a:xfrm>
          <a:prstGeom prst="line">
            <a:avLst/>
          </a:prstGeom>
          <a:ln>
            <a:solidFill>
              <a:srgbClr val="E46C0A"/>
            </a:solidFill>
          </a:ln>
        </p:spPr>
        <p:style>
          <a:lnRef idx="1">
            <a:schemeClr val="accent1"/>
          </a:lnRef>
          <a:fillRef idx="0">
            <a:schemeClr val="accent1"/>
          </a:fillRef>
          <a:effectRef idx="0">
            <a:schemeClr val="accent1"/>
          </a:effectRef>
          <a:fontRef idx="minor">
            <a:schemeClr val="tx1"/>
          </a:fontRef>
        </p:style>
      </p:cxnSp>
      <p:sp>
        <p:nvSpPr>
          <p:cNvPr id="10" name="object 6">
            <a:extLst>
              <a:ext uri="{FF2B5EF4-FFF2-40B4-BE49-F238E27FC236}">
                <a16:creationId xmlns:a16="http://schemas.microsoft.com/office/drawing/2014/main" id="{F6352C21-95D4-6CEE-B080-6746099AA44D}"/>
              </a:ext>
            </a:extLst>
          </p:cNvPr>
          <p:cNvSpPr/>
          <p:nvPr/>
        </p:nvSpPr>
        <p:spPr>
          <a:xfrm>
            <a:off x="88496" y="1069131"/>
            <a:ext cx="6642734" cy="339090"/>
          </a:xfrm>
          <a:custGeom>
            <a:avLst/>
            <a:gdLst/>
            <a:ahLst/>
            <a:cxnLst/>
            <a:rect l="l" t="t" r="r" b="b"/>
            <a:pathLst>
              <a:path w="6642734" h="339090">
                <a:moveTo>
                  <a:pt x="6642734" y="0"/>
                </a:moveTo>
                <a:lnTo>
                  <a:pt x="0" y="0"/>
                </a:lnTo>
                <a:lnTo>
                  <a:pt x="0" y="338556"/>
                </a:lnTo>
                <a:lnTo>
                  <a:pt x="6642734" y="338556"/>
                </a:lnTo>
                <a:lnTo>
                  <a:pt x="6642734" y="0"/>
                </a:lnTo>
                <a:close/>
              </a:path>
            </a:pathLst>
          </a:custGeom>
          <a:solidFill>
            <a:srgbClr val="E46C0A"/>
          </a:solidFill>
        </p:spPr>
        <p:txBody>
          <a:bodyPr wrap="square" lIns="0" tIns="0" rIns="0" bIns="0" rtlCol="0"/>
          <a:lstStyle/>
          <a:p>
            <a:pPr algn="ctr"/>
            <a:endParaRPr dirty="0"/>
          </a:p>
        </p:txBody>
      </p:sp>
      <p:sp>
        <p:nvSpPr>
          <p:cNvPr id="11" name="TextBox 10">
            <a:extLst>
              <a:ext uri="{FF2B5EF4-FFF2-40B4-BE49-F238E27FC236}">
                <a16:creationId xmlns:a16="http://schemas.microsoft.com/office/drawing/2014/main" id="{5D3D8B71-0246-03C2-F74A-CF99462176F7}"/>
              </a:ext>
            </a:extLst>
          </p:cNvPr>
          <p:cNvSpPr txBox="1"/>
          <p:nvPr/>
        </p:nvSpPr>
        <p:spPr>
          <a:xfrm>
            <a:off x="680991" y="1054465"/>
            <a:ext cx="5496017" cy="369332"/>
          </a:xfrm>
          <a:prstGeom prst="rect">
            <a:avLst/>
          </a:prstGeom>
          <a:noFill/>
        </p:spPr>
        <p:txBody>
          <a:bodyPr wrap="square" rtlCol="0">
            <a:spAutoFit/>
          </a:bodyPr>
          <a:lstStyle/>
          <a:p>
            <a:pPr algn="ctr"/>
            <a:r>
              <a:rPr lang="en-US" b="1" dirty="0">
                <a:solidFill>
                  <a:schemeClr val="bg1"/>
                </a:solidFill>
                <a:latin typeface="+mj-lt"/>
              </a:rPr>
              <a:t>COFFEE CAN INVESTMENT FRAMEWORK</a:t>
            </a:r>
          </a:p>
        </p:txBody>
      </p:sp>
      <p:sp>
        <p:nvSpPr>
          <p:cNvPr id="75" name="TextBox 74">
            <a:extLst>
              <a:ext uri="{FF2B5EF4-FFF2-40B4-BE49-F238E27FC236}">
                <a16:creationId xmlns:a16="http://schemas.microsoft.com/office/drawing/2014/main" id="{D4C9C6D1-6A1B-0621-8792-50736CF60697}"/>
              </a:ext>
            </a:extLst>
          </p:cNvPr>
          <p:cNvSpPr txBox="1"/>
          <p:nvPr/>
        </p:nvSpPr>
        <p:spPr>
          <a:xfrm>
            <a:off x="88496" y="1580291"/>
            <a:ext cx="6731230" cy="1241365"/>
          </a:xfrm>
          <a:prstGeom prst="rect">
            <a:avLst/>
          </a:prstGeom>
          <a:noFill/>
        </p:spPr>
        <p:txBody>
          <a:bodyPr wrap="square">
            <a:spAutoFit/>
          </a:bodyPr>
          <a:lstStyle/>
          <a:p>
            <a:pPr>
              <a:buNone/>
            </a:pPr>
            <a:r>
              <a:rPr lang="en-US" sz="1200" dirty="0">
                <a:latin typeface="+mj-lt"/>
              </a:rPr>
              <a:t>The </a:t>
            </a:r>
            <a:r>
              <a:rPr lang="en-US" sz="1200" b="1" dirty="0">
                <a:latin typeface="+mj-lt"/>
              </a:rPr>
              <a:t>"Coffee Can Investing Strategy"</a:t>
            </a:r>
            <a:r>
              <a:rPr lang="en-US" sz="1200" dirty="0">
                <a:latin typeface="+mj-lt"/>
              </a:rPr>
              <a:t> focuses on holding fundamentally strong companies for the long term with minimal intervention. It emphasizes consistent growth, efficient capital allocation, strong profitability, and durable competitive advantages.</a:t>
            </a:r>
          </a:p>
          <a:p>
            <a:pPr>
              <a:buNone/>
            </a:pPr>
            <a:endParaRPr lang="en-US" sz="1000" dirty="0">
              <a:latin typeface="+mj-lt"/>
            </a:endParaRPr>
          </a:p>
          <a:p>
            <a:pPr>
              <a:buNone/>
            </a:pPr>
            <a:endParaRPr lang="en-US" sz="1000" dirty="0">
              <a:latin typeface="+mj-lt"/>
            </a:endParaRPr>
          </a:p>
          <a:p>
            <a:pPr marL="12700">
              <a:spcBef>
                <a:spcPts val="830"/>
              </a:spcBef>
              <a:buNone/>
            </a:pPr>
            <a:r>
              <a:rPr lang="en-US" sz="1200" dirty="0">
                <a:latin typeface="+mj-lt"/>
              </a:rPr>
              <a:t>.</a:t>
            </a:r>
          </a:p>
        </p:txBody>
      </p:sp>
      <p:sp>
        <p:nvSpPr>
          <p:cNvPr id="7" name="TextBox 6">
            <a:extLst>
              <a:ext uri="{FF2B5EF4-FFF2-40B4-BE49-F238E27FC236}">
                <a16:creationId xmlns:a16="http://schemas.microsoft.com/office/drawing/2014/main" id="{3960D9FE-4F38-4FD6-C22C-66D389A6C726}"/>
              </a:ext>
            </a:extLst>
          </p:cNvPr>
          <p:cNvSpPr txBox="1"/>
          <p:nvPr/>
        </p:nvSpPr>
        <p:spPr>
          <a:xfrm>
            <a:off x="141831" y="7273940"/>
            <a:ext cx="6677895" cy="1015663"/>
          </a:xfrm>
          <a:prstGeom prst="rect">
            <a:avLst/>
          </a:prstGeom>
          <a:noFill/>
        </p:spPr>
        <p:txBody>
          <a:bodyPr wrap="square">
            <a:spAutoFit/>
          </a:bodyPr>
          <a:lstStyle/>
          <a:p>
            <a:pPr algn="just">
              <a:buNone/>
            </a:pPr>
            <a:r>
              <a:rPr lang="en-US" sz="1200" b="1" dirty="0">
                <a:latin typeface="+mj-lt"/>
              </a:rPr>
              <a:t>Sun Pharma: Non-Coffee Can but a Quality Structural Compounder</a:t>
            </a:r>
          </a:p>
          <a:p>
            <a:pPr algn="just">
              <a:buNone/>
            </a:pPr>
            <a:r>
              <a:rPr lang="en-US" sz="1200" dirty="0">
                <a:latin typeface="+mj-lt"/>
              </a:rPr>
              <a:t>Sun Pharma </a:t>
            </a:r>
            <a:r>
              <a:rPr lang="en-US" sz="1200" b="1" dirty="0">
                <a:latin typeface="+mj-lt"/>
              </a:rPr>
              <a:t>does not qualify as a strict Coffee Can stock</a:t>
            </a:r>
            <a:r>
              <a:rPr lang="en-US" sz="1200" dirty="0">
                <a:latin typeface="+mj-lt"/>
              </a:rPr>
              <a:t> due to inconsistent </a:t>
            </a:r>
            <a:r>
              <a:rPr lang="en-US" sz="1200" b="1" dirty="0">
                <a:latin typeface="+mj-lt"/>
              </a:rPr>
              <a:t>Revenue Growth</a:t>
            </a:r>
            <a:r>
              <a:rPr lang="en-US" sz="1200" dirty="0">
                <a:latin typeface="+mj-lt"/>
              </a:rPr>
              <a:t> and </a:t>
            </a:r>
            <a:r>
              <a:rPr lang="en-US" sz="1200" b="1" dirty="0">
                <a:latin typeface="+mj-lt"/>
              </a:rPr>
              <a:t>ROCE</a:t>
            </a:r>
            <a:r>
              <a:rPr lang="en-US" sz="1200" dirty="0">
                <a:latin typeface="+mj-lt"/>
              </a:rPr>
              <a:t> during FY18–FY21. However, its successful Specialty transformation has strengthened profitability, capital efficiency, and long-term growth.</a:t>
            </a:r>
          </a:p>
          <a:p>
            <a:pPr algn="just">
              <a:buNone/>
            </a:pPr>
            <a:r>
              <a:rPr lang="en-US" sz="1200" b="1" dirty="0">
                <a:latin typeface="+mj-lt"/>
              </a:rPr>
              <a:t>Recommendation:</a:t>
            </a:r>
            <a:r>
              <a:rPr lang="en-US" sz="1200" dirty="0">
                <a:latin typeface="+mj-lt"/>
              </a:rPr>
              <a:t> </a:t>
            </a:r>
            <a:r>
              <a:rPr lang="en-US" sz="1200" b="1" dirty="0">
                <a:latin typeface="+mj-lt"/>
              </a:rPr>
              <a:t>ACCUMULATE on dips</a:t>
            </a:r>
            <a:r>
              <a:rPr lang="en-US" sz="1200" dirty="0">
                <a:latin typeface="+mj-lt"/>
              </a:rPr>
              <a:t> as a high-quality long-term structural compounder</a:t>
            </a:r>
            <a:endParaRPr lang="en-GB" dirty="0"/>
          </a:p>
        </p:txBody>
      </p:sp>
      <p:sp>
        <p:nvSpPr>
          <p:cNvPr id="9" name="TextBox 8">
            <a:extLst>
              <a:ext uri="{FF2B5EF4-FFF2-40B4-BE49-F238E27FC236}">
                <a16:creationId xmlns:a16="http://schemas.microsoft.com/office/drawing/2014/main" id="{F5248287-0357-0F22-729C-472ADF6849D4}"/>
              </a:ext>
            </a:extLst>
          </p:cNvPr>
          <p:cNvSpPr txBox="1"/>
          <p:nvPr/>
        </p:nvSpPr>
        <p:spPr>
          <a:xfrm>
            <a:off x="130403" y="3660090"/>
            <a:ext cx="6597194" cy="3231654"/>
          </a:xfrm>
          <a:prstGeom prst="rect">
            <a:avLst/>
          </a:prstGeom>
          <a:noFill/>
        </p:spPr>
        <p:txBody>
          <a:bodyPr wrap="square">
            <a:spAutoFit/>
          </a:bodyPr>
          <a:lstStyle/>
          <a:p>
            <a:pPr algn="just">
              <a:buNone/>
            </a:pPr>
            <a:r>
              <a:rPr lang="en-US" sz="1200" b="1" dirty="0">
                <a:latin typeface="+mj-lt"/>
              </a:rPr>
              <a:t>1. The company should have been in existence for at least 10 years.</a:t>
            </a:r>
          </a:p>
          <a:p>
            <a:pPr algn="just">
              <a:buNone/>
            </a:pPr>
            <a:r>
              <a:rPr lang="en-US" sz="1200" dirty="0">
                <a:latin typeface="+mj-lt"/>
              </a:rPr>
              <a:t>Sun Pharma satisfies this criterion with a continuous </a:t>
            </a:r>
            <a:r>
              <a:rPr lang="en-US" sz="1200" b="1" dirty="0">
                <a:latin typeface="+mj-lt"/>
              </a:rPr>
              <a:t>10-year financial track record (FY16–FY25).</a:t>
            </a:r>
            <a:endParaRPr lang="en-US" sz="1000" dirty="0">
              <a:latin typeface="+mj-lt"/>
            </a:endParaRPr>
          </a:p>
          <a:p>
            <a:pPr algn="just">
              <a:buNone/>
            </a:pPr>
            <a:r>
              <a:rPr lang="en-US" sz="1200" b="1" dirty="0">
                <a:latin typeface="+mj-lt"/>
              </a:rPr>
              <a:t>2. Revenue should have grown at least 10% every year over 10 years.</a:t>
            </a:r>
          </a:p>
          <a:p>
            <a:pPr algn="just">
              <a:buNone/>
            </a:pPr>
            <a:r>
              <a:rPr lang="en-US" sz="1200" dirty="0">
                <a:latin typeface="+mj-lt"/>
              </a:rPr>
              <a:t>Revenue grew from </a:t>
            </a:r>
            <a:r>
              <a:rPr lang="en-US" sz="1200" b="1" dirty="0">
                <a:latin typeface="+mj-lt"/>
              </a:rPr>
              <a:t>₹315,784 Mn (FY17)</a:t>
            </a:r>
            <a:r>
              <a:rPr lang="en-US" sz="1200" dirty="0">
                <a:latin typeface="+mj-lt"/>
              </a:rPr>
              <a:t> to </a:t>
            </a:r>
            <a:r>
              <a:rPr lang="en-US" sz="1200" b="1" dirty="0">
                <a:latin typeface="+mj-lt"/>
              </a:rPr>
              <a:t>₹582,201 Mn (FY26)</a:t>
            </a:r>
            <a:r>
              <a:rPr lang="en-US" sz="1200" dirty="0">
                <a:latin typeface="+mj-lt"/>
              </a:rPr>
              <a:t>. However, a </a:t>
            </a:r>
            <a:r>
              <a:rPr lang="en-US" sz="1200" b="1" dirty="0">
                <a:latin typeface="+mj-lt"/>
              </a:rPr>
              <a:t>16.1% decline in FY18</a:t>
            </a:r>
            <a:r>
              <a:rPr lang="en-US" sz="1200" dirty="0">
                <a:latin typeface="+mj-lt"/>
              </a:rPr>
              <a:t> resulted in a </a:t>
            </a:r>
            <a:r>
              <a:rPr lang="en-US" sz="1200" b="1" dirty="0">
                <a:latin typeface="+mj-lt"/>
              </a:rPr>
              <a:t>10-year CAGR of 6.3%</a:t>
            </a:r>
            <a:r>
              <a:rPr lang="en-US" sz="1200" dirty="0">
                <a:latin typeface="+mj-lt"/>
              </a:rPr>
              <a:t>, below the Coffee Can benchmark.</a:t>
            </a:r>
            <a:endParaRPr lang="en-US" sz="1000" dirty="0">
              <a:latin typeface="+mj-lt"/>
            </a:endParaRPr>
          </a:p>
          <a:p>
            <a:pPr algn="just">
              <a:buNone/>
            </a:pPr>
            <a:r>
              <a:rPr lang="en-US" sz="1200" b="1" dirty="0">
                <a:latin typeface="+mj-lt"/>
              </a:rPr>
              <a:t>3. ROCE should be at least 15% for 10 years.</a:t>
            </a:r>
          </a:p>
          <a:p>
            <a:pPr algn="just">
              <a:buNone/>
            </a:pPr>
            <a:r>
              <a:rPr lang="en-US" sz="1200" dirty="0">
                <a:latin typeface="+mj-lt"/>
              </a:rPr>
              <a:t>Sun Pharma delivered an </a:t>
            </a:r>
            <a:r>
              <a:rPr lang="en-US" sz="1200" b="1" dirty="0">
                <a:latin typeface="+mj-lt"/>
              </a:rPr>
              <a:t>average ROCE of 16.44%</a:t>
            </a:r>
            <a:r>
              <a:rPr lang="en-US" sz="1200" dirty="0">
                <a:latin typeface="+mj-lt"/>
              </a:rPr>
              <a:t>, crossing </a:t>
            </a:r>
            <a:r>
              <a:rPr lang="en-US" sz="1200" b="1" dirty="0">
                <a:latin typeface="+mj-lt"/>
              </a:rPr>
              <a:t>15% in 6 of 10 years</a:t>
            </a:r>
            <a:r>
              <a:rPr lang="en-US" sz="1200" dirty="0">
                <a:latin typeface="+mj-lt"/>
              </a:rPr>
              <a:t>. ROCE dipped during </a:t>
            </a:r>
            <a:r>
              <a:rPr lang="en-US" sz="1200" b="1" dirty="0">
                <a:latin typeface="+mj-lt"/>
              </a:rPr>
              <a:t>FY18–FY21</a:t>
            </a:r>
            <a:r>
              <a:rPr lang="en-US" sz="1200" dirty="0">
                <a:latin typeface="+mj-lt"/>
              </a:rPr>
              <a:t> due to Specialty investments but recovered to </a:t>
            </a:r>
            <a:r>
              <a:rPr lang="en-US" sz="1200" b="1" dirty="0">
                <a:latin typeface="+mj-lt"/>
              </a:rPr>
              <a:t>20.4% in FY25</a:t>
            </a:r>
            <a:r>
              <a:rPr lang="en-US" sz="1200" dirty="0">
                <a:latin typeface="+mj-lt"/>
              </a:rPr>
              <a:t>.</a:t>
            </a:r>
            <a:endParaRPr lang="en-US" sz="1000" dirty="0">
              <a:latin typeface="+mj-lt"/>
            </a:endParaRPr>
          </a:p>
          <a:p>
            <a:pPr algn="just">
              <a:buNone/>
            </a:pPr>
            <a:r>
              <a:rPr lang="en-US" sz="1200" b="1" dirty="0">
                <a:latin typeface="+mj-lt"/>
              </a:rPr>
              <a:t>4. Earnings should demonstrate long-term quality.</a:t>
            </a:r>
          </a:p>
          <a:p>
            <a:pPr algn="just">
              <a:buNone/>
            </a:pPr>
            <a:r>
              <a:rPr lang="en-US" sz="1200" dirty="0">
                <a:latin typeface="+mj-lt"/>
              </a:rPr>
              <a:t>Although </a:t>
            </a:r>
            <a:r>
              <a:rPr lang="en-US" sz="1200" b="1" dirty="0">
                <a:latin typeface="+mj-lt"/>
              </a:rPr>
              <a:t>FY18</a:t>
            </a:r>
            <a:r>
              <a:rPr lang="en-US" sz="1200" dirty="0">
                <a:latin typeface="+mj-lt"/>
              </a:rPr>
              <a:t> was impacted by the Specialty transition, profitability recovered steadily, with </a:t>
            </a:r>
            <a:r>
              <a:rPr lang="en-US" sz="1200" b="1" dirty="0">
                <a:latin typeface="+mj-lt"/>
              </a:rPr>
              <a:t>Adjusted Net Profit reaching ₹124,015 Mn in FY26</a:t>
            </a:r>
            <a:r>
              <a:rPr lang="en-US" sz="1200" dirty="0">
                <a:latin typeface="+mj-lt"/>
              </a:rPr>
              <a:t>.</a:t>
            </a:r>
          </a:p>
          <a:p>
            <a:pPr algn="just">
              <a:buNone/>
            </a:pPr>
            <a:r>
              <a:rPr lang="en-US" sz="1200" b="1" dirty="0">
                <a:latin typeface="+mj-lt"/>
              </a:rPr>
              <a:t>5. The company should generate strong cash flows.</a:t>
            </a:r>
          </a:p>
          <a:p>
            <a:pPr algn="just">
              <a:buNone/>
            </a:pPr>
            <a:r>
              <a:rPr lang="en-US" sz="1200" dirty="0">
                <a:latin typeface="+mj-lt"/>
              </a:rPr>
              <a:t>Sun Pharma generates </a:t>
            </a:r>
            <a:r>
              <a:rPr lang="en-US" sz="1200" b="1" dirty="0">
                <a:latin typeface="+mj-lt"/>
              </a:rPr>
              <a:t>over US$1 billion in operating cash flow annually</a:t>
            </a:r>
            <a:r>
              <a:rPr lang="en-US" sz="1200" dirty="0">
                <a:latin typeface="+mj-lt"/>
              </a:rPr>
              <a:t> and held a </a:t>
            </a:r>
            <a:r>
              <a:rPr lang="en-US" sz="1200" b="1" dirty="0">
                <a:latin typeface="+mj-lt"/>
              </a:rPr>
              <a:t>net cash position of US$3.1 billion</a:t>
            </a:r>
            <a:r>
              <a:rPr lang="en-US" sz="1200" dirty="0">
                <a:latin typeface="+mj-lt"/>
              </a:rPr>
              <a:t> as of March 2026.</a:t>
            </a:r>
          </a:p>
          <a:p>
            <a:pPr algn="just">
              <a:buNone/>
            </a:pPr>
            <a:r>
              <a:rPr lang="en-US" sz="1200" b="1" dirty="0">
                <a:latin typeface="+mj-lt"/>
              </a:rPr>
              <a:t>6. The company should have a competitive edge / MOAT.</a:t>
            </a:r>
          </a:p>
          <a:p>
            <a:pPr algn="just">
              <a:buNone/>
            </a:pPr>
            <a:r>
              <a:rPr lang="en-US" sz="1200" dirty="0">
                <a:latin typeface="+mj-lt"/>
              </a:rPr>
              <a:t>Its </a:t>
            </a:r>
            <a:r>
              <a:rPr lang="en-US" sz="1200" b="1" dirty="0">
                <a:latin typeface="+mj-lt"/>
              </a:rPr>
              <a:t>Global Specialty portfolio</a:t>
            </a:r>
            <a:r>
              <a:rPr lang="en-US" sz="1200" dirty="0">
                <a:latin typeface="+mj-lt"/>
              </a:rPr>
              <a:t>, </a:t>
            </a:r>
            <a:r>
              <a:rPr lang="en-US" sz="1200" b="1" dirty="0">
                <a:latin typeface="+mj-lt"/>
              </a:rPr>
              <a:t>No. 1 domestic leadership</a:t>
            </a:r>
            <a:r>
              <a:rPr lang="en-US" sz="1200" dirty="0">
                <a:latin typeface="+mj-lt"/>
              </a:rPr>
              <a:t>, presence in </a:t>
            </a:r>
            <a:r>
              <a:rPr lang="en-US" sz="1200" b="1" dirty="0">
                <a:latin typeface="+mj-lt"/>
              </a:rPr>
              <a:t>100+ countries</a:t>
            </a:r>
            <a:r>
              <a:rPr lang="en-US" sz="1200" dirty="0">
                <a:latin typeface="+mj-lt"/>
              </a:rPr>
              <a:t>, and </a:t>
            </a:r>
            <a:r>
              <a:rPr lang="en-US" sz="1200" b="1" dirty="0">
                <a:latin typeface="+mj-lt"/>
              </a:rPr>
              <a:t>40+ manufacturing facilities</a:t>
            </a:r>
            <a:r>
              <a:rPr lang="en-US" sz="1200" dirty="0">
                <a:latin typeface="+mj-lt"/>
              </a:rPr>
              <a:t> provide a durable competitive advantage.</a:t>
            </a:r>
          </a:p>
        </p:txBody>
      </p:sp>
      <p:sp>
        <p:nvSpPr>
          <p:cNvPr id="13" name="TextBox 12">
            <a:extLst>
              <a:ext uri="{FF2B5EF4-FFF2-40B4-BE49-F238E27FC236}">
                <a16:creationId xmlns:a16="http://schemas.microsoft.com/office/drawing/2014/main" id="{9336C67D-4EF7-B623-10F0-F92A2EFF2618}"/>
              </a:ext>
            </a:extLst>
          </p:cNvPr>
          <p:cNvSpPr txBox="1"/>
          <p:nvPr/>
        </p:nvSpPr>
        <p:spPr>
          <a:xfrm>
            <a:off x="118976" y="2265063"/>
            <a:ext cx="6789246" cy="1077218"/>
          </a:xfrm>
          <a:prstGeom prst="rect">
            <a:avLst/>
          </a:prstGeom>
          <a:noFill/>
        </p:spPr>
        <p:txBody>
          <a:bodyPr wrap="square">
            <a:spAutoFit/>
          </a:bodyPr>
          <a:lstStyle/>
          <a:p>
            <a:pPr marL="12700">
              <a:spcBef>
                <a:spcPts val="830"/>
              </a:spcBef>
              <a:buNone/>
            </a:pPr>
            <a:r>
              <a:rPr lang="en-US" sz="1600" b="1" dirty="0">
                <a:solidFill>
                  <a:srgbClr val="E36B0C"/>
                </a:solidFill>
                <a:uFill>
                  <a:solidFill>
                    <a:srgbClr val="000000"/>
                  </a:solidFill>
                </a:uFill>
                <a:latin typeface="+mj-lt"/>
                <a:cs typeface="Calibri"/>
              </a:rPr>
              <a:t>Principal Rules of Philosophy</a:t>
            </a:r>
          </a:p>
          <a:p>
            <a:pPr>
              <a:buFont typeface="+mj-lt"/>
              <a:buAutoNum type="arabicPeriod"/>
            </a:pPr>
            <a:r>
              <a:rPr lang="en-US" sz="1200" b="1" dirty="0">
                <a:latin typeface="+mj-lt"/>
              </a:rPr>
              <a:t>Long-term Perspective</a:t>
            </a:r>
            <a:r>
              <a:rPr lang="en-US" sz="1200" dirty="0">
                <a:latin typeface="+mj-lt"/>
              </a:rPr>
              <a:t> – Invest with a horizon of 10 years or more. </a:t>
            </a:r>
          </a:p>
          <a:p>
            <a:pPr>
              <a:buFont typeface="+mj-lt"/>
              <a:buAutoNum type="arabicPeriod"/>
            </a:pPr>
            <a:r>
              <a:rPr lang="en-US" sz="1200" b="1" dirty="0">
                <a:latin typeface="+mj-lt"/>
              </a:rPr>
              <a:t>Quality Businesses</a:t>
            </a:r>
            <a:r>
              <a:rPr lang="en-US" sz="1200" dirty="0">
                <a:latin typeface="+mj-lt"/>
              </a:rPr>
              <a:t> – Focus on companies with strong fundamentals and competitive advantages. </a:t>
            </a:r>
          </a:p>
          <a:p>
            <a:pPr>
              <a:buFont typeface="+mj-lt"/>
              <a:buAutoNum type="arabicPeriod"/>
            </a:pPr>
            <a:r>
              <a:rPr lang="en-US" sz="1200" b="1" dirty="0">
                <a:latin typeface="+mj-lt"/>
              </a:rPr>
              <a:t>Minimal Intervention</a:t>
            </a:r>
            <a:r>
              <a:rPr lang="en-US" sz="1200" dirty="0">
                <a:latin typeface="+mj-lt"/>
              </a:rPr>
              <a:t> – Stay invested through market cycles. </a:t>
            </a:r>
          </a:p>
          <a:p>
            <a:pPr>
              <a:buFont typeface="+mj-lt"/>
              <a:buAutoNum type="arabicPeriod"/>
            </a:pPr>
            <a:r>
              <a:rPr lang="en-US" sz="1200" b="1" dirty="0">
                <a:latin typeface="+mj-lt"/>
              </a:rPr>
              <a:t>Diversification</a:t>
            </a:r>
            <a:r>
              <a:rPr lang="en-US" sz="1200" dirty="0">
                <a:latin typeface="+mj-lt"/>
              </a:rPr>
              <a:t> – Build a portfolio of high-quality businesses. </a:t>
            </a:r>
          </a:p>
        </p:txBody>
      </p:sp>
      <p:sp>
        <p:nvSpPr>
          <p:cNvPr id="15" name="TextBox 14">
            <a:extLst>
              <a:ext uri="{FF2B5EF4-FFF2-40B4-BE49-F238E27FC236}">
                <a16:creationId xmlns:a16="http://schemas.microsoft.com/office/drawing/2014/main" id="{B895B49F-737F-3741-8C8F-6EED21461155}"/>
              </a:ext>
            </a:extLst>
          </p:cNvPr>
          <p:cNvSpPr txBox="1"/>
          <p:nvPr/>
        </p:nvSpPr>
        <p:spPr>
          <a:xfrm>
            <a:off x="115118" y="3416291"/>
            <a:ext cx="3611300" cy="338554"/>
          </a:xfrm>
          <a:prstGeom prst="rect">
            <a:avLst/>
          </a:prstGeom>
          <a:noFill/>
        </p:spPr>
        <p:txBody>
          <a:bodyPr wrap="square">
            <a:spAutoFit/>
          </a:bodyPr>
          <a:lstStyle/>
          <a:p>
            <a:pPr marL="12700">
              <a:spcBef>
                <a:spcPts val="830"/>
              </a:spcBef>
            </a:pPr>
            <a:r>
              <a:rPr lang="en-US" sz="1600" b="1" dirty="0">
                <a:solidFill>
                  <a:srgbClr val="E36B0C"/>
                </a:solidFill>
                <a:uFill>
                  <a:solidFill>
                    <a:srgbClr val="000000"/>
                  </a:solidFill>
                </a:uFill>
                <a:latin typeface="+mj-lt"/>
                <a:cs typeface="Calibri"/>
              </a:rPr>
              <a:t>Comparing Conditions with Sun Pharma</a:t>
            </a:r>
          </a:p>
        </p:txBody>
      </p:sp>
      <p:sp>
        <p:nvSpPr>
          <p:cNvPr id="19" name="TextBox 18">
            <a:extLst>
              <a:ext uri="{FF2B5EF4-FFF2-40B4-BE49-F238E27FC236}">
                <a16:creationId xmlns:a16="http://schemas.microsoft.com/office/drawing/2014/main" id="{ABB3C818-EFF7-5F93-229B-985471980C76}"/>
              </a:ext>
            </a:extLst>
          </p:cNvPr>
          <p:cNvSpPr txBox="1"/>
          <p:nvPr/>
        </p:nvSpPr>
        <p:spPr>
          <a:xfrm>
            <a:off x="130403" y="7040276"/>
            <a:ext cx="3611300" cy="338554"/>
          </a:xfrm>
          <a:prstGeom prst="rect">
            <a:avLst/>
          </a:prstGeom>
          <a:noFill/>
        </p:spPr>
        <p:txBody>
          <a:bodyPr wrap="square">
            <a:spAutoFit/>
          </a:bodyPr>
          <a:lstStyle/>
          <a:p>
            <a:pPr marL="12700">
              <a:spcBef>
                <a:spcPts val="830"/>
              </a:spcBef>
              <a:buNone/>
            </a:pPr>
            <a:r>
              <a:rPr lang="en-US" sz="1600" b="1" dirty="0">
                <a:solidFill>
                  <a:srgbClr val="E36B0C"/>
                </a:solidFill>
                <a:uFill>
                  <a:solidFill>
                    <a:srgbClr val="000000"/>
                  </a:solidFill>
                </a:uFill>
                <a:latin typeface="+mj-lt"/>
                <a:cs typeface="Calibri"/>
              </a:rPr>
              <a:t>Conclusion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object 2">
            <a:extLst>
              <a:ext uri="{FF2B5EF4-FFF2-40B4-BE49-F238E27FC236}">
                <a16:creationId xmlns:a16="http://schemas.microsoft.com/office/drawing/2014/main" id="{38211FC7-C2C3-3110-FF95-3D2113189E3F}"/>
              </a:ext>
            </a:extLst>
          </p:cNvPr>
          <p:cNvGrpSpPr/>
          <p:nvPr/>
        </p:nvGrpSpPr>
        <p:grpSpPr>
          <a:xfrm>
            <a:off x="0" y="0"/>
            <a:ext cx="6858000" cy="1625597"/>
            <a:chOff x="0" y="0"/>
            <a:chExt cx="6858000" cy="1625597"/>
          </a:xfrm>
        </p:grpSpPr>
        <p:sp>
          <p:nvSpPr>
            <p:cNvPr id="19" name="object 3">
              <a:extLst>
                <a:ext uri="{FF2B5EF4-FFF2-40B4-BE49-F238E27FC236}">
                  <a16:creationId xmlns:a16="http://schemas.microsoft.com/office/drawing/2014/main" id="{4B25EB0D-90FA-7E34-2514-18FC89137673}"/>
                </a:ext>
              </a:extLst>
            </p:cNvPr>
            <p:cNvSpPr/>
            <p:nvPr/>
          </p:nvSpPr>
          <p:spPr>
            <a:xfrm>
              <a:off x="0" y="0"/>
              <a:ext cx="6858000" cy="949325"/>
            </a:xfrm>
            <a:custGeom>
              <a:avLst/>
              <a:gdLst/>
              <a:ahLst/>
              <a:cxnLst/>
              <a:rect l="l" t="t" r="r" b="b"/>
              <a:pathLst>
                <a:path w="6858000" h="949325">
                  <a:moveTo>
                    <a:pt x="0" y="949198"/>
                  </a:moveTo>
                  <a:lnTo>
                    <a:pt x="6858000" y="949198"/>
                  </a:lnTo>
                  <a:lnTo>
                    <a:pt x="6858000" y="0"/>
                  </a:lnTo>
                  <a:lnTo>
                    <a:pt x="0" y="0"/>
                  </a:lnTo>
                  <a:lnTo>
                    <a:pt x="0" y="949198"/>
                  </a:lnTo>
                  <a:close/>
                </a:path>
              </a:pathLst>
            </a:custGeom>
            <a:solidFill>
              <a:schemeClr val="accent6">
                <a:lumMod val="75000"/>
              </a:schemeClr>
            </a:solidFill>
          </p:spPr>
          <p:txBody>
            <a:bodyPr wrap="square" lIns="0" tIns="0" rIns="0" bIns="0" rtlCol="0"/>
            <a:lstStyle/>
            <a:p>
              <a:endParaRPr/>
            </a:p>
          </p:txBody>
        </p:sp>
        <p:sp>
          <p:nvSpPr>
            <p:cNvPr id="20" name="object 4">
              <a:extLst>
                <a:ext uri="{FF2B5EF4-FFF2-40B4-BE49-F238E27FC236}">
                  <a16:creationId xmlns:a16="http://schemas.microsoft.com/office/drawing/2014/main" id="{AD961261-417C-1A74-F726-B26D1FE54DFF}"/>
                </a:ext>
              </a:extLst>
            </p:cNvPr>
            <p:cNvSpPr/>
            <p:nvPr/>
          </p:nvSpPr>
          <p:spPr>
            <a:xfrm>
              <a:off x="0" y="316227"/>
              <a:ext cx="4147185" cy="1309370"/>
            </a:xfrm>
            <a:custGeom>
              <a:avLst/>
              <a:gdLst/>
              <a:ahLst/>
              <a:cxnLst/>
              <a:rect l="l" t="t" r="r" b="b"/>
              <a:pathLst>
                <a:path w="4147185" h="1309370">
                  <a:moveTo>
                    <a:pt x="3492246" y="0"/>
                  </a:moveTo>
                  <a:lnTo>
                    <a:pt x="0" y="0"/>
                  </a:lnTo>
                  <a:lnTo>
                    <a:pt x="0" y="1309243"/>
                  </a:lnTo>
                  <a:lnTo>
                    <a:pt x="3492246" y="1309243"/>
                  </a:lnTo>
                  <a:lnTo>
                    <a:pt x="4146804" y="654685"/>
                  </a:lnTo>
                  <a:lnTo>
                    <a:pt x="3492246" y="0"/>
                  </a:lnTo>
                  <a:close/>
                </a:path>
              </a:pathLst>
            </a:custGeom>
            <a:solidFill>
              <a:srgbClr val="FFFFFF"/>
            </a:solidFill>
          </p:spPr>
          <p:txBody>
            <a:bodyPr wrap="square" lIns="0" tIns="0" rIns="0" bIns="0" rtlCol="0"/>
            <a:lstStyle/>
            <a:p>
              <a:endParaRPr dirty="0"/>
            </a:p>
          </p:txBody>
        </p:sp>
      </p:grpSp>
      <p:sp>
        <p:nvSpPr>
          <p:cNvPr id="21" name="object 5">
            <a:extLst>
              <a:ext uri="{FF2B5EF4-FFF2-40B4-BE49-F238E27FC236}">
                <a16:creationId xmlns:a16="http://schemas.microsoft.com/office/drawing/2014/main" id="{0F4260C4-6393-86C7-2125-3F621BE88AC9}"/>
              </a:ext>
            </a:extLst>
          </p:cNvPr>
          <p:cNvSpPr txBox="1"/>
          <p:nvPr/>
        </p:nvSpPr>
        <p:spPr>
          <a:xfrm>
            <a:off x="147015" y="4952"/>
            <a:ext cx="2081530" cy="247015"/>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FFFFFF"/>
                </a:solidFill>
                <a:latin typeface="Calibri"/>
                <a:cs typeface="Calibri"/>
              </a:rPr>
              <a:t>EQUITY</a:t>
            </a:r>
            <a:r>
              <a:rPr sz="1450" b="1" spc="-65" dirty="0">
                <a:solidFill>
                  <a:srgbClr val="FFFFFF"/>
                </a:solidFill>
                <a:latin typeface="Calibri"/>
                <a:cs typeface="Calibri"/>
              </a:rPr>
              <a:t> </a:t>
            </a:r>
            <a:r>
              <a:rPr sz="1450" b="1" dirty="0">
                <a:solidFill>
                  <a:srgbClr val="FFFFFF"/>
                </a:solidFill>
                <a:latin typeface="Calibri"/>
                <a:cs typeface="Calibri"/>
              </a:rPr>
              <a:t>RESEARCH</a:t>
            </a:r>
            <a:r>
              <a:rPr sz="1450" b="1" spc="-60" dirty="0">
                <a:solidFill>
                  <a:srgbClr val="FFFFFF"/>
                </a:solidFill>
                <a:latin typeface="Calibri"/>
                <a:cs typeface="Calibri"/>
              </a:rPr>
              <a:t> </a:t>
            </a:r>
            <a:r>
              <a:rPr sz="1450" b="1" spc="-10" dirty="0">
                <a:solidFill>
                  <a:srgbClr val="FFFFFF"/>
                </a:solidFill>
                <a:latin typeface="Calibri"/>
                <a:cs typeface="Calibri"/>
              </a:rPr>
              <a:t>REPORT</a:t>
            </a:r>
            <a:endParaRPr sz="1450">
              <a:latin typeface="Calibri"/>
              <a:cs typeface="Calibri"/>
            </a:endParaRPr>
          </a:p>
        </p:txBody>
      </p:sp>
      <p:sp>
        <p:nvSpPr>
          <p:cNvPr id="22" name="object 40">
            <a:extLst>
              <a:ext uri="{FF2B5EF4-FFF2-40B4-BE49-F238E27FC236}">
                <a16:creationId xmlns:a16="http://schemas.microsoft.com/office/drawing/2014/main" id="{440575DA-7E99-9CD5-3EC4-90FFB61B4CF4}"/>
              </a:ext>
            </a:extLst>
          </p:cNvPr>
          <p:cNvSpPr txBox="1">
            <a:spLocks noGrp="1"/>
          </p:cNvSpPr>
          <p:nvPr>
            <p:ph type="title"/>
          </p:nvPr>
        </p:nvSpPr>
        <p:spPr>
          <a:xfrm>
            <a:off x="141831" y="295140"/>
            <a:ext cx="4269104" cy="289182"/>
          </a:xfrm>
          <a:prstGeom prst="rect">
            <a:avLst/>
          </a:prstGeom>
        </p:spPr>
        <p:txBody>
          <a:bodyPr vert="horz" wrap="square" lIns="0" tIns="12065" rIns="0" bIns="0" rtlCol="0">
            <a:spAutoFit/>
          </a:bodyPr>
          <a:lstStyle/>
          <a:p>
            <a:pPr marL="12700">
              <a:lnSpc>
                <a:spcPct val="100000"/>
              </a:lnSpc>
              <a:spcBef>
                <a:spcPts val="95"/>
              </a:spcBef>
            </a:pPr>
            <a:r>
              <a:rPr lang="en-GB" sz="1800" dirty="0"/>
              <a:t>Sun Pharmaceutical Industries Ltd.</a:t>
            </a:r>
            <a:endParaRPr sz="1800" dirty="0"/>
          </a:p>
        </p:txBody>
      </p:sp>
      <p:sp>
        <p:nvSpPr>
          <p:cNvPr id="23" name="object 41">
            <a:extLst>
              <a:ext uri="{FF2B5EF4-FFF2-40B4-BE49-F238E27FC236}">
                <a16:creationId xmlns:a16="http://schemas.microsoft.com/office/drawing/2014/main" id="{5B94C5FB-F1D3-8381-6D7C-EFB9F98C0474}"/>
              </a:ext>
            </a:extLst>
          </p:cNvPr>
          <p:cNvSpPr txBox="1"/>
          <p:nvPr/>
        </p:nvSpPr>
        <p:spPr>
          <a:xfrm>
            <a:off x="141831" y="526972"/>
            <a:ext cx="3210968"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D2841"/>
                </a:solidFill>
                <a:latin typeface="Calibri"/>
                <a:cs typeface="Calibri"/>
              </a:rPr>
              <a:t>NSE</a:t>
            </a:r>
            <a:r>
              <a:rPr sz="1200" b="1" spc="-20" dirty="0">
                <a:solidFill>
                  <a:srgbClr val="0D2841"/>
                </a:solidFill>
                <a:latin typeface="Calibri"/>
                <a:cs typeface="Calibri"/>
              </a:rPr>
              <a:t> </a:t>
            </a:r>
            <a:r>
              <a:rPr sz="1200" b="1" dirty="0">
                <a:solidFill>
                  <a:srgbClr val="0D2841"/>
                </a:solidFill>
                <a:latin typeface="Calibri"/>
                <a:cs typeface="Calibri"/>
              </a:rPr>
              <a:t>:</a:t>
            </a:r>
            <a:r>
              <a:rPr lang="en-US" sz="1200" b="1" spc="-15" dirty="0">
                <a:solidFill>
                  <a:srgbClr val="0D2841"/>
                </a:solidFill>
                <a:latin typeface="Calibri"/>
                <a:cs typeface="Calibri"/>
              </a:rPr>
              <a:t> </a:t>
            </a:r>
            <a:r>
              <a:rPr lang="en-GB" sz="1200" b="1" dirty="0">
                <a:latin typeface="+mj-lt"/>
              </a:rPr>
              <a:t>SUNPHARMA</a:t>
            </a:r>
            <a:r>
              <a:rPr sz="1200" b="1" spc="10" dirty="0">
                <a:solidFill>
                  <a:srgbClr val="0D2841"/>
                </a:solidFill>
                <a:latin typeface="Calibri"/>
                <a:cs typeface="Calibri"/>
              </a:rPr>
              <a:t> </a:t>
            </a:r>
            <a:r>
              <a:rPr sz="1200" b="1" dirty="0">
                <a:solidFill>
                  <a:srgbClr val="0D2841"/>
                </a:solidFill>
                <a:latin typeface="Calibri"/>
                <a:cs typeface="Calibri"/>
              </a:rPr>
              <a:t>|</a:t>
            </a:r>
            <a:r>
              <a:rPr sz="1200" b="1" spc="-15" dirty="0">
                <a:solidFill>
                  <a:srgbClr val="0D2841"/>
                </a:solidFill>
                <a:latin typeface="Calibri"/>
                <a:cs typeface="Calibri"/>
              </a:rPr>
              <a:t> </a:t>
            </a:r>
            <a:r>
              <a:rPr sz="1200" b="1" dirty="0">
                <a:solidFill>
                  <a:srgbClr val="0D2841"/>
                </a:solidFill>
                <a:latin typeface="Calibri"/>
                <a:cs typeface="Calibri"/>
              </a:rPr>
              <a:t>BSE Code:</a:t>
            </a:r>
            <a:r>
              <a:rPr sz="1200" b="1" spc="-5" dirty="0">
                <a:solidFill>
                  <a:srgbClr val="0D2841"/>
                </a:solidFill>
                <a:latin typeface="Calibri"/>
                <a:cs typeface="Calibri"/>
              </a:rPr>
              <a:t> </a:t>
            </a:r>
            <a:r>
              <a:rPr lang="en-GB" sz="1200" b="1" dirty="0">
                <a:latin typeface="+mj-lt"/>
              </a:rPr>
              <a:t>524715</a:t>
            </a:r>
          </a:p>
        </p:txBody>
      </p:sp>
      <p:sp>
        <p:nvSpPr>
          <p:cNvPr id="24" name="object 41">
            <a:extLst>
              <a:ext uri="{FF2B5EF4-FFF2-40B4-BE49-F238E27FC236}">
                <a16:creationId xmlns:a16="http://schemas.microsoft.com/office/drawing/2014/main" id="{3C5B4213-CD1A-B6EC-8AC4-4D28FA8E1FF6}"/>
              </a:ext>
            </a:extLst>
          </p:cNvPr>
          <p:cNvSpPr txBox="1"/>
          <p:nvPr/>
        </p:nvSpPr>
        <p:spPr>
          <a:xfrm>
            <a:off x="141831" y="686543"/>
            <a:ext cx="3210968" cy="197490"/>
          </a:xfrm>
          <a:prstGeom prst="rect">
            <a:avLst/>
          </a:prstGeom>
        </p:spPr>
        <p:txBody>
          <a:bodyPr vert="horz" wrap="square" lIns="0" tIns="12700" rIns="0" bIns="0" rtlCol="0">
            <a:spAutoFit/>
          </a:bodyPr>
          <a:lstStyle/>
          <a:p>
            <a:pPr marL="12700">
              <a:lnSpc>
                <a:spcPct val="100000"/>
              </a:lnSpc>
              <a:spcBef>
                <a:spcPts val="100"/>
              </a:spcBef>
            </a:pPr>
            <a:r>
              <a:rPr lang="en-GB" sz="1200" b="1" dirty="0">
                <a:latin typeface="Calibri "/>
              </a:rPr>
              <a:t>Pharmaceuticals &amp; Drugs</a:t>
            </a:r>
          </a:p>
        </p:txBody>
      </p:sp>
      <p:pic>
        <p:nvPicPr>
          <p:cNvPr id="25" name="Picture 24">
            <a:extLst>
              <a:ext uri="{FF2B5EF4-FFF2-40B4-BE49-F238E27FC236}">
                <a16:creationId xmlns:a16="http://schemas.microsoft.com/office/drawing/2014/main" id="{6F7EEA45-0DF0-7CD2-FA85-D3C9AF8D790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04126" y="17284"/>
            <a:ext cx="1295705" cy="879830"/>
          </a:xfrm>
          <a:prstGeom prst="rect">
            <a:avLst/>
          </a:prstGeom>
        </p:spPr>
      </p:pic>
      <p:cxnSp>
        <p:nvCxnSpPr>
          <p:cNvPr id="26" name="Straight Connector 25">
            <a:extLst>
              <a:ext uri="{FF2B5EF4-FFF2-40B4-BE49-F238E27FC236}">
                <a16:creationId xmlns:a16="http://schemas.microsoft.com/office/drawing/2014/main" id="{0EB4B570-EC62-33B0-CBCC-4AACE724AD01}"/>
              </a:ext>
            </a:extLst>
          </p:cNvPr>
          <p:cNvCxnSpPr>
            <a:cxnSpLocks/>
          </p:cNvCxnSpPr>
          <p:nvPr/>
        </p:nvCxnSpPr>
        <p:spPr>
          <a:xfrm>
            <a:off x="0" y="8859394"/>
            <a:ext cx="6858000" cy="0"/>
          </a:xfrm>
          <a:prstGeom prst="line">
            <a:avLst/>
          </a:prstGeom>
          <a:ln w="41275">
            <a:solidFill>
              <a:srgbClr val="E46C0A"/>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88FE8727-8C9D-F259-45B9-1A127CE034FA}"/>
              </a:ext>
            </a:extLst>
          </p:cNvPr>
          <p:cNvSpPr txBox="1"/>
          <p:nvPr/>
        </p:nvSpPr>
        <p:spPr>
          <a:xfrm>
            <a:off x="6553200" y="8810228"/>
            <a:ext cx="667055" cy="369332"/>
          </a:xfrm>
          <a:prstGeom prst="rect">
            <a:avLst/>
          </a:prstGeom>
          <a:noFill/>
        </p:spPr>
        <p:txBody>
          <a:bodyPr wrap="square" rtlCol="0">
            <a:spAutoFit/>
          </a:bodyPr>
          <a:lstStyle/>
          <a:p>
            <a:r>
              <a:rPr lang="en-US" b="1" dirty="0">
                <a:solidFill>
                  <a:srgbClr val="E46C0A"/>
                </a:solidFill>
              </a:rPr>
              <a:t>1</a:t>
            </a:r>
            <a:endParaRPr lang="en-GB" b="1" dirty="0">
              <a:solidFill>
                <a:srgbClr val="E46C0A"/>
              </a:solidFill>
            </a:endParaRPr>
          </a:p>
        </p:txBody>
      </p:sp>
      <p:cxnSp>
        <p:nvCxnSpPr>
          <p:cNvPr id="28" name="Straight Connector 27">
            <a:extLst>
              <a:ext uri="{FF2B5EF4-FFF2-40B4-BE49-F238E27FC236}">
                <a16:creationId xmlns:a16="http://schemas.microsoft.com/office/drawing/2014/main" id="{9132401A-CE00-C9AD-7630-1FCE302531DF}"/>
              </a:ext>
            </a:extLst>
          </p:cNvPr>
          <p:cNvCxnSpPr>
            <a:cxnSpLocks/>
          </p:cNvCxnSpPr>
          <p:nvPr/>
        </p:nvCxnSpPr>
        <p:spPr>
          <a:xfrm flipV="1">
            <a:off x="0" y="933199"/>
            <a:ext cx="6858000" cy="37713"/>
          </a:xfrm>
          <a:prstGeom prst="line">
            <a:avLst/>
          </a:prstGeom>
          <a:ln>
            <a:solidFill>
              <a:srgbClr val="E46C0A"/>
            </a:solidFill>
          </a:ln>
        </p:spPr>
        <p:style>
          <a:lnRef idx="1">
            <a:schemeClr val="accent1"/>
          </a:lnRef>
          <a:fillRef idx="0">
            <a:schemeClr val="accent1"/>
          </a:fillRef>
          <a:effectRef idx="0">
            <a:schemeClr val="accent1"/>
          </a:effectRef>
          <a:fontRef idx="minor">
            <a:schemeClr val="tx1"/>
          </a:fontRef>
        </p:style>
      </p:cxnSp>
      <p:sp>
        <p:nvSpPr>
          <p:cNvPr id="30" name="object 6">
            <a:extLst>
              <a:ext uri="{FF2B5EF4-FFF2-40B4-BE49-F238E27FC236}">
                <a16:creationId xmlns:a16="http://schemas.microsoft.com/office/drawing/2014/main" id="{527F9FBF-591A-41E6-BD17-62E11A447CB0}"/>
              </a:ext>
            </a:extLst>
          </p:cNvPr>
          <p:cNvSpPr/>
          <p:nvPr/>
        </p:nvSpPr>
        <p:spPr>
          <a:xfrm>
            <a:off x="88496" y="1069131"/>
            <a:ext cx="6642734" cy="339090"/>
          </a:xfrm>
          <a:custGeom>
            <a:avLst/>
            <a:gdLst/>
            <a:ahLst/>
            <a:cxnLst/>
            <a:rect l="l" t="t" r="r" b="b"/>
            <a:pathLst>
              <a:path w="6642734" h="339090">
                <a:moveTo>
                  <a:pt x="6642734" y="0"/>
                </a:moveTo>
                <a:lnTo>
                  <a:pt x="0" y="0"/>
                </a:lnTo>
                <a:lnTo>
                  <a:pt x="0" y="338556"/>
                </a:lnTo>
                <a:lnTo>
                  <a:pt x="6642734" y="338556"/>
                </a:lnTo>
                <a:lnTo>
                  <a:pt x="6642734" y="0"/>
                </a:lnTo>
                <a:close/>
              </a:path>
            </a:pathLst>
          </a:custGeom>
          <a:solidFill>
            <a:srgbClr val="E46C0A"/>
          </a:solidFill>
        </p:spPr>
        <p:txBody>
          <a:bodyPr wrap="square" lIns="0" tIns="0" rIns="0" bIns="0" rtlCol="0"/>
          <a:lstStyle/>
          <a:p>
            <a:pPr algn="ctr"/>
            <a:endParaRPr dirty="0"/>
          </a:p>
        </p:txBody>
      </p:sp>
      <p:sp>
        <p:nvSpPr>
          <p:cNvPr id="31" name="TextBox 30">
            <a:extLst>
              <a:ext uri="{FF2B5EF4-FFF2-40B4-BE49-F238E27FC236}">
                <a16:creationId xmlns:a16="http://schemas.microsoft.com/office/drawing/2014/main" id="{C13F946C-FA17-1B25-3819-221BCFB19D29}"/>
              </a:ext>
            </a:extLst>
          </p:cNvPr>
          <p:cNvSpPr txBox="1"/>
          <p:nvPr/>
        </p:nvSpPr>
        <p:spPr>
          <a:xfrm>
            <a:off x="1981200" y="1078468"/>
            <a:ext cx="3156353" cy="369332"/>
          </a:xfrm>
          <a:prstGeom prst="rect">
            <a:avLst/>
          </a:prstGeom>
          <a:noFill/>
        </p:spPr>
        <p:txBody>
          <a:bodyPr wrap="square" rtlCol="0">
            <a:spAutoFit/>
          </a:bodyPr>
          <a:lstStyle/>
          <a:p>
            <a:pPr>
              <a:buNone/>
            </a:pPr>
            <a:r>
              <a:rPr lang="en-IN" b="1" dirty="0">
                <a:solidFill>
                  <a:schemeClr val="bg1"/>
                </a:solidFill>
                <a:latin typeface="+mj-lt"/>
              </a:rPr>
              <a:t>WARREN BUFFETT'S $1 TEST</a:t>
            </a:r>
          </a:p>
        </p:txBody>
      </p:sp>
      <p:sp>
        <p:nvSpPr>
          <p:cNvPr id="38" name="TextBox 37">
            <a:extLst>
              <a:ext uri="{FF2B5EF4-FFF2-40B4-BE49-F238E27FC236}">
                <a16:creationId xmlns:a16="http://schemas.microsoft.com/office/drawing/2014/main" id="{7732FA53-2672-C4BA-3582-80EA307C6C56}"/>
              </a:ext>
            </a:extLst>
          </p:cNvPr>
          <p:cNvSpPr txBox="1"/>
          <p:nvPr/>
        </p:nvSpPr>
        <p:spPr>
          <a:xfrm>
            <a:off x="95785" y="1555395"/>
            <a:ext cx="6589399" cy="2062103"/>
          </a:xfrm>
          <a:prstGeom prst="rect">
            <a:avLst/>
          </a:prstGeom>
          <a:noFill/>
        </p:spPr>
        <p:txBody>
          <a:bodyPr wrap="square">
            <a:spAutoFit/>
          </a:bodyPr>
          <a:lstStyle/>
          <a:p>
            <a:pPr algn="just">
              <a:buNone/>
            </a:pPr>
            <a:r>
              <a:rPr lang="en-IN" sz="1200" dirty="0">
                <a:latin typeface="+mj-lt"/>
              </a:rPr>
              <a:t>The </a:t>
            </a:r>
            <a:r>
              <a:rPr lang="en-IN" sz="1200" b="1" dirty="0">
                <a:latin typeface="+mj-lt"/>
              </a:rPr>
              <a:t>"One Dollar Test"</a:t>
            </a:r>
            <a:r>
              <a:rPr lang="en-IN" sz="1200" dirty="0">
                <a:latin typeface="+mj-lt"/>
              </a:rPr>
              <a:t> is a concept attributed to Warren Buffett that evaluates whether management creates shareholder value through retained earnings. The principle states that for every ₹1 retained instead of being distributed as dividends, the company's market value should increase by at least ₹1. A ratio above 1 indicates efficient capital allocation and value creation.</a:t>
            </a:r>
          </a:p>
          <a:p>
            <a:pPr algn="just">
              <a:buNone/>
            </a:pPr>
            <a:r>
              <a:rPr lang="en-IN" sz="1200" b="1" dirty="0">
                <a:latin typeface="+mj-lt"/>
              </a:rPr>
              <a:t>Implications of the $1 Test</a:t>
            </a:r>
          </a:p>
          <a:p>
            <a:pPr algn="just">
              <a:buFont typeface="Arial" panose="020B0604020202020204" pitchFamily="34" charset="0"/>
              <a:buChar char="•"/>
            </a:pPr>
            <a:r>
              <a:rPr lang="en-IN" sz="1200" dirty="0">
                <a:latin typeface="+mj-lt"/>
              </a:rPr>
              <a:t>Buffett used this test to assess whether management reinvests retained earnings effectively to create long-term shareholder wealth. </a:t>
            </a:r>
          </a:p>
          <a:p>
            <a:pPr algn="just">
              <a:buFont typeface="Arial" panose="020B0604020202020204" pitchFamily="34" charset="0"/>
              <a:buChar char="•"/>
            </a:pPr>
            <a:r>
              <a:rPr lang="en-IN" sz="1200" dirty="0">
                <a:latin typeface="+mj-lt"/>
              </a:rPr>
              <a:t>A ratio greater than 1 suggests retained earnings have generated value beyond their cost, while a ratio below 1 indicates poor capital allocation. </a:t>
            </a:r>
          </a:p>
          <a:p>
            <a:pPr algn="just">
              <a:buNone/>
            </a:pPr>
            <a:br>
              <a:rPr lang="en-IN" sz="1000" dirty="0"/>
            </a:br>
            <a:endParaRPr lang="en-IN" sz="10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D23916E-3752-FFD8-24B3-DB05859957DD}"/>
                  </a:ext>
                </a:extLst>
              </p:cNvPr>
              <p:cNvSpPr txBox="1"/>
              <p:nvPr/>
            </p:nvSpPr>
            <p:spPr>
              <a:xfrm>
                <a:off x="115788" y="4687303"/>
                <a:ext cx="3471672" cy="2124492"/>
              </a:xfrm>
              <a:prstGeom prst="rect">
                <a:avLst/>
              </a:prstGeom>
              <a:noFill/>
            </p:spPr>
            <p:txBody>
              <a:bodyPr wrap="square">
                <a:spAutoFit/>
              </a:bodyPr>
              <a:lstStyle/>
              <a:p>
                <a:pPr marL="12700">
                  <a:spcBef>
                    <a:spcPts val="830"/>
                  </a:spcBef>
                  <a:buNone/>
                </a:pPr>
                <a:endParaRPr lang="en-IN" sz="1200" b="1" u="sng" dirty="0">
                  <a:uFill>
                    <a:solidFill>
                      <a:srgbClr val="000000"/>
                    </a:solidFill>
                  </a:uFill>
                  <a:latin typeface="+mj-lt"/>
                  <a:cs typeface="Calibri"/>
                </a:endParaRPr>
              </a:p>
              <a:p>
                <a:pPr>
                  <a:buNone/>
                </a:pPr>
                <a:r>
                  <a:rPr lang="en-IN" sz="1200" dirty="0">
                    <a:latin typeface="+mj-lt"/>
                  </a:rPr>
                  <a:t>➤ Cumulative Retained Earnings = ₹413,112 Mn</a:t>
                </a:r>
              </a:p>
              <a:p>
                <a:pPr>
                  <a:buNone/>
                </a:pPr>
                <a:r>
                  <a:rPr lang="en-IN" sz="1200" dirty="0">
                    <a:latin typeface="+mj-lt"/>
                  </a:rPr>
                  <a:t>➤ Increase in Market Capitalisation = ₹2,566,000 Mn</a:t>
                </a:r>
              </a:p>
              <a:p>
                <a:pPr>
                  <a:buNone/>
                </a:pPr>
                <a:br>
                  <a:rPr lang="en-IN" sz="1200" dirty="0">
                    <a:latin typeface="+mj-lt"/>
                  </a:rPr>
                </a:br>
                <a:endParaRPr lang="en-IN" sz="1200" dirty="0">
                  <a:latin typeface="+mj-lt"/>
                </a:endParaRPr>
              </a:p>
              <a:p>
                <a:pPr>
                  <a:buNone/>
                </a:pPr>
                <a:r>
                  <a:rPr lang="en-IN" sz="1200" dirty="0">
                    <a:latin typeface="+mj-lt"/>
                  </a:rPr>
                  <a:t>$1 Test Value</a:t>
                </a:r>
              </a:p>
              <a:p>
                <a:pPr>
                  <a:buNone/>
                </a:pPr>
                <a:r>
                  <a:rPr lang="en-IN" sz="1200" dirty="0">
                    <a:latin typeface="+mj-lt"/>
                  </a:rPr>
                  <a:t>Test Statistic = Change in Market Capitalisation ÷ Retained Earnings</a:t>
                </a:r>
              </a:p>
              <a:p>
                <a:pPr>
                  <a:buNone/>
                </a:pPr>
                <a14:m>
                  <m:oMathPara xmlns:m="http://schemas.openxmlformats.org/officeDocument/2006/math">
                    <m:oMathParaPr>
                      <m:jc m:val="centerGroup"/>
                    </m:oMathParaPr>
                    <m:oMath xmlns:m="http://schemas.openxmlformats.org/officeDocument/2006/math">
                      <m:f>
                        <m:fPr>
                          <m:ctrlPr>
                            <a:rPr lang="ar-AE" sz="1200" i="1">
                              <a:latin typeface="Cambria Math" panose="02040503050406030204" pitchFamily="18" charset="0"/>
                            </a:rPr>
                          </m:ctrlPr>
                        </m:fPr>
                        <m:num>
                          <m:r>
                            <a:rPr lang="ar-AE" sz="1200">
                              <a:latin typeface="Cambria Math" panose="02040503050406030204" pitchFamily="18" charset="0"/>
                            </a:rPr>
                            <m:t>2</m:t>
                          </m:r>
                          <m:r>
                            <a:rPr lang="ar-AE" sz="1200">
                              <a:latin typeface="Cambria Math" panose="02040503050406030204" pitchFamily="18" charset="0"/>
                            </a:rPr>
                            <m:t>,</m:t>
                          </m:r>
                          <m:r>
                            <a:rPr lang="ar-AE" sz="1200">
                              <a:latin typeface="Cambria Math" panose="02040503050406030204" pitchFamily="18" charset="0"/>
                            </a:rPr>
                            <m:t>566</m:t>
                          </m:r>
                          <m:r>
                            <a:rPr lang="ar-AE" sz="1200">
                              <a:latin typeface="Cambria Math" panose="02040503050406030204" pitchFamily="18" charset="0"/>
                            </a:rPr>
                            <m:t>,</m:t>
                          </m:r>
                          <m:r>
                            <a:rPr lang="ar-AE" sz="1200">
                              <a:latin typeface="Cambria Math" panose="02040503050406030204" pitchFamily="18" charset="0"/>
                            </a:rPr>
                            <m:t>000</m:t>
                          </m:r>
                        </m:num>
                        <m:den>
                          <m:r>
                            <a:rPr lang="en-US" sz="1200" b="0" i="0" smtClean="0">
                              <a:latin typeface="Cambria Math" panose="02040503050406030204" pitchFamily="18" charset="0"/>
                            </a:rPr>
                            <m:t>41</m:t>
                          </m:r>
                          <m:r>
                            <a:rPr lang="ar-AE" sz="1200">
                              <a:latin typeface="Cambria Math" panose="02040503050406030204" pitchFamily="18" charset="0"/>
                            </a:rPr>
                            <m:t>3</m:t>
                          </m:r>
                          <m:r>
                            <a:rPr lang="ar-AE" sz="1200">
                              <a:latin typeface="Cambria Math" panose="02040503050406030204" pitchFamily="18" charset="0"/>
                            </a:rPr>
                            <m:t>,</m:t>
                          </m:r>
                          <m:r>
                            <a:rPr lang="ar-AE" sz="1200">
                              <a:latin typeface="Cambria Math" panose="02040503050406030204" pitchFamily="18" charset="0"/>
                            </a:rPr>
                            <m:t>112</m:t>
                          </m:r>
                        </m:den>
                      </m:f>
                      <m:r>
                        <a:rPr lang="ar-AE" sz="1200">
                          <a:latin typeface="Cambria Math" panose="02040503050406030204" pitchFamily="18" charset="0"/>
                        </a:rPr>
                        <m:t>≈</m:t>
                      </m:r>
                      <m:r>
                        <a:rPr lang="ar-AE" sz="1200">
                          <a:latin typeface="Cambria Math" panose="02040503050406030204" pitchFamily="18" charset="0"/>
                        </a:rPr>
                        <m:t>6</m:t>
                      </m:r>
                      <m:r>
                        <a:rPr lang="ar-AE" sz="1200">
                          <a:latin typeface="Cambria Math" panose="02040503050406030204" pitchFamily="18" charset="0"/>
                        </a:rPr>
                        <m:t>.</m:t>
                      </m:r>
                      <m:r>
                        <a:rPr lang="en-US" sz="1200" b="0" i="0" smtClean="0">
                          <a:latin typeface="Cambria Math" panose="02040503050406030204" pitchFamily="18" charset="0"/>
                        </a:rPr>
                        <m:t>21</m:t>
                      </m:r>
                    </m:oMath>
                  </m:oMathPara>
                </a14:m>
                <a:endParaRPr lang="ar-AE" sz="1200" dirty="0">
                  <a:latin typeface="+mj-lt"/>
                </a:endParaRPr>
              </a:p>
            </p:txBody>
          </p:sp>
        </mc:Choice>
        <mc:Fallback xmlns="">
          <p:sp>
            <p:nvSpPr>
              <p:cNvPr id="3" name="TextBox 2">
                <a:extLst>
                  <a:ext uri="{FF2B5EF4-FFF2-40B4-BE49-F238E27FC236}">
                    <a16:creationId xmlns:a16="http://schemas.microsoft.com/office/drawing/2014/main" id="{4D23916E-3752-FFD8-24B3-DB05859957DD}"/>
                  </a:ext>
                </a:extLst>
              </p:cNvPr>
              <p:cNvSpPr txBox="1">
                <a:spLocks noRot="1" noChangeAspect="1" noMove="1" noResize="1" noEditPoints="1" noAdjustHandles="1" noChangeArrowheads="1" noChangeShapeType="1" noTextEdit="1"/>
              </p:cNvSpPr>
              <p:nvPr/>
            </p:nvSpPr>
            <p:spPr>
              <a:xfrm>
                <a:off x="115788" y="4687303"/>
                <a:ext cx="3471672" cy="2124492"/>
              </a:xfrm>
              <a:prstGeom prst="rect">
                <a:avLst/>
              </a:prstGeom>
              <a:blipFill>
                <a:blip r:embed="rId3"/>
                <a:stretch>
                  <a:fillRect l="-176"/>
                </a:stretch>
              </a:blipFill>
            </p:spPr>
            <p:txBody>
              <a:bodyPr/>
              <a:lstStyle/>
              <a:p>
                <a:r>
                  <a:rPr lang="en-GB">
                    <a:noFill/>
                  </a:rPr>
                  <a:t> </a:t>
                </a:r>
              </a:p>
            </p:txBody>
          </p:sp>
        </mc:Fallback>
      </mc:AlternateContent>
      <p:sp>
        <p:nvSpPr>
          <p:cNvPr id="5" name="TextBox 4">
            <a:extLst>
              <a:ext uri="{FF2B5EF4-FFF2-40B4-BE49-F238E27FC236}">
                <a16:creationId xmlns:a16="http://schemas.microsoft.com/office/drawing/2014/main" id="{3469680B-8FB3-6ACE-A0F3-472324149395}"/>
              </a:ext>
            </a:extLst>
          </p:cNvPr>
          <p:cNvSpPr txBox="1"/>
          <p:nvPr/>
        </p:nvSpPr>
        <p:spPr>
          <a:xfrm>
            <a:off x="95785" y="7018123"/>
            <a:ext cx="6642733" cy="1631216"/>
          </a:xfrm>
          <a:prstGeom prst="rect">
            <a:avLst/>
          </a:prstGeom>
          <a:noFill/>
        </p:spPr>
        <p:txBody>
          <a:bodyPr wrap="square">
            <a:spAutoFit/>
          </a:bodyPr>
          <a:lstStyle/>
          <a:p>
            <a:pPr marL="12700" algn="just">
              <a:spcBef>
                <a:spcPts val="830"/>
              </a:spcBef>
            </a:pPr>
            <a:r>
              <a:rPr lang="en-US" sz="1600" b="1" dirty="0">
                <a:solidFill>
                  <a:srgbClr val="E36B0C"/>
                </a:solidFill>
                <a:uFill>
                  <a:solidFill>
                    <a:srgbClr val="000000"/>
                  </a:solidFill>
                </a:uFill>
                <a:latin typeface="Calibri"/>
                <a:cs typeface="Calibri"/>
              </a:rPr>
              <a:t>Conclusion</a:t>
            </a:r>
          </a:p>
          <a:p>
            <a:pPr marL="171450" indent="-171450" algn="just">
              <a:buFont typeface="Arial" panose="020B0604020202020204" pitchFamily="34" charset="0"/>
              <a:buChar char="•"/>
            </a:pPr>
            <a:r>
              <a:rPr lang="en-US" sz="1200" b="1" dirty="0">
                <a:latin typeface="+mj-lt"/>
              </a:rPr>
              <a:t>Sun Pharmaceutical Industries Ltd. successfully passes Warren Buffett's $1 Test.</a:t>
            </a:r>
          </a:p>
          <a:p>
            <a:pPr marL="171450" indent="-171450" algn="just">
              <a:buFont typeface="Arial" panose="020B0604020202020204" pitchFamily="34" charset="0"/>
              <a:buChar char="•"/>
            </a:pPr>
            <a:r>
              <a:rPr lang="en-US" sz="1200" dirty="0">
                <a:latin typeface="+mj-lt"/>
              </a:rPr>
              <a:t>Sun Pharma generated ₹6.21 of market value for every ₹1 of retained earnings, far exceeding Buffett's benchmark of ₹1. The high ratio reflects disciplined capital allocation through investments in the Global Specialty business, R&amp;D, and strategic acquisitions, resulting in significant long-term shareholder value creation. Despite temporary challenges during FY18–FY21, management successfully transformed the business into an innovation-led pharmaceutical company.</a:t>
            </a:r>
          </a:p>
          <a:p>
            <a:pPr marL="171450" indent="-171450" algn="just">
              <a:buFont typeface="Arial" panose="020B0604020202020204" pitchFamily="34" charset="0"/>
              <a:buChar char="•"/>
            </a:pPr>
            <a:r>
              <a:rPr lang="en-US" sz="1200" dirty="0">
                <a:latin typeface="+mj-lt"/>
              </a:rPr>
              <a:t>Recommendation: MAINTAIN POSITIVE OUTLOOK for long-term investors.</a:t>
            </a:r>
          </a:p>
        </p:txBody>
      </p:sp>
      <p:pic>
        <p:nvPicPr>
          <p:cNvPr id="7" name="Picture 6">
            <a:extLst>
              <a:ext uri="{FF2B5EF4-FFF2-40B4-BE49-F238E27FC236}">
                <a16:creationId xmlns:a16="http://schemas.microsoft.com/office/drawing/2014/main" id="{97D87FC3-A8D7-74C5-D6BB-BCE4D9C1E520}"/>
              </a:ext>
            </a:extLst>
          </p:cNvPr>
          <p:cNvPicPr>
            <a:picLocks noChangeAspect="1"/>
          </p:cNvPicPr>
          <p:nvPr/>
        </p:nvPicPr>
        <p:blipFill>
          <a:blip r:embed="rId4"/>
          <a:stretch>
            <a:fillRect/>
          </a:stretch>
        </p:blipFill>
        <p:spPr>
          <a:xfrm>
            <a:off x="133568" y="3297685"/>
            <a:ext cx="6642734" cy="1012039"/>
          </a:xfrm>
          <a:prstGeom prst="rect">
            <a:avLst/>
          </a:prstGeom>
        </p:spPr>
      </p:pic>
      <p:graphicFrame>
        <p:nvGraphicFramePr>
          <p:cNvPr id="8" name="Chart 7">
            <a:extLst>
              <a:ext uri="{FF2B5EF4-FFF2-40B4-BE49-F238E27FC236}">
                <a16:creationId xmlns:a16="http://schemas.microsoft.com/office/drawing/2014/main" id="{43F35883-C1CF-961A-81D5-05F73C9B7473}"/>
              </a:ext>
            </a:extLst>
          </p:cNvPr>
          <p:cNvGraphicFramePr>
            <a:graphicFrameLocks/>
          </p:cNvGraphicFramePr>
          <p:nvPr/>
        </p:nvGraphicFramePr>
        <p:xfrm>
          <a:off x="3352799" y="4480974"/>
          <a:ext cx="3408313" cy="2542140"/>
        </p:xfrm>
        <a:graphic>
          <a:graphicData uri="http://schemas.openxmlformats.org/drawingml/2006/chart">
            <c:chart xmlns:c="http://schemas.openxmlformats.org/drawingml/2006/chart" xmlns:r="http://schemas.openxmlformats.org/officeDocument/2006/relationships" r:id="rId5"/>
          </a:graphicData>
        </a:graphic>
      </p:graphicFrame>
      <p:sp>
        <p:nvSpPr>
          <p:cNvPr id="4" name="TextBox 3">
            <a:extLst>
              <a:ext uri="{FF2B5EF4-FFF2-40B4-BE49-F238E27FC236}">
                <a16:creationId xmlns:a16="http://schemas.microsoft.com/office/drawing/2014/main" id="{BB7743D6-6524-8970-4DAD-56E73C182D58}"/>
              </a:ext>
            </a:extLst>
          </p:cNvPr>
          <p:cNvSpPr txBox="1"/>
          <p:nvPr/>
        </p:nvSpPr>
        <p:spPr>
          <a:xfrm>
            <a:off x="99391" y="4607572"/>
            <a:ext cx="3611300" cy="338554"/>
          </a:xfrm>
          <a:prstGeom prst="rect">
            <a:avLst/>
          </a:prstGeom>
          <a:noFill/>
        </p:spPr>
        <p:txBody>
          <a:bodyPr wrap="square">
            <a:spAutoFit/>
          </a:bodyPr>
          <a:lstStyle/>
          <a:p>
            <a:pPr marL="12700">
              <a:spcBef>
                <a:spcPts val="830"/>
              </a:spcBef>
              <a:buNone/>
            </a:pPr>
            <a:r>
              <a:rPr lang="en-IN" sz="1600" b="1" dirty="0">
                <a:solidFill>
                  <a:srgbClr val="E36B0C"/>
                </a:solidFill>
                <a:uFill>
                  <a:solidFill>
                    <a:srgbClr val="000000"/>
                  </a:solidFill>
                </a:uFill>
                <a:latin typeface="+mj-lt"/>
                <a:cs typeface="Calibri"/>
              </a:rPr>
              <a:t>Key Figures</a:t>
            </a:r>
          </a:p>
        </p:txBody>
      </p:sp>
    </p:spTree>
    <p:extLst>
      <p:ext uri="{BB962C8B-B14F-4D97-AF65-F5344CB8AC3E}">
        <p14:creationId xmlns:p14="http://schemas.microsoft.com/office/powerpoint/2010/main" val="42869132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object 2">
            <a:extLst>
              <a:ext uri="{FF2B5EF4-FFF2-40B4-BE49-F238E27FC236}">
                <a16:creationId xmlns:a16="http://schemas.microsoft.com/office/drawing/2014/main" id="{AB639789-3A36-B7BC-6403-B890782F4957}"/>
              </a:ext>
            </a:extLst>
          </p:cNvPr>
          <p:cNvGrpSpPr/>
          <p:nvPr/>
        </p:nvGrpSpPr>
        <p:grpSpPr>
          <a:xfrm>
            <a:off x="0" y="0"/>
            <a:ext cx="6858000" cy="1625597"/>
            <a:chOff x="0" y="0"/>
            <a:chExt cx="6858000" cy="1625597"/>
          </a:xfrm>
        </p:grpSpPr>
        <p:sp>
          <p:nvSpPr>
            <p:cNvPr id="19" name="object 3">
              <a:extLst>
                <a:ext uri="{FF2B5EF4-FFF2-40B4-BE49-F238E27FC236}">
                  <a16:creationId xmlns:a16="http://schemas.microsoft.com/office/drawing/2014/main" id="{49608EBA-494B-74B9-8FC9-CC4A4E81CCE6}"/>
                </a:ext>
              </a:extLst>
            </p:cNvPr>
            <p:cNvSpPr/>
            <p:nvPr/>
          </p:nvSpPr>
          <p:spPr>
            <a:xfrm>
              <a:off x="0" y="0"/>
              <a:ext cx="6858000" cy="949325"/>
            </a:xfrm>
            <a:custGeom>
              <a:avLst/>
              <a:gdLst/>
              <a:ahLst/>
              <a:cxnLst/>
              <a:rect l="l" t="t" r="r" b="b"/>
              <a:pathLst>
                <a:path w="6858000" h="949325">
                  <a:moveTo>
                    <a:pt x="0" y="949198"/>
                  </a:moveTo>
                  <a:lnTo>
                    <a:pt x="6858000" y="949198"/>
                  </a:lnTo>
                  <a:lnTo>
                    <a:pt x="6858000" y="0"/>
                  </a:lnTo>
                  <a:lnTo>
                    <a:pt x="0" y="0"/>
                  </a:lnTo>
                  <a:lnTo>
                    <a:pt x="0" y="949198"/>
                  </a:lnTo>
                  <a:close/>
                </a:path>
              </a:pathLst>
            </a:custGeom>
            <a:solidFill>
              <a:schemeClr val="accent6">
                <a:lumMod val="75000"/>
              </a:schemeClr>
            </a:solidFill>
          </p:spPr>
          <p:txBody>
            <a:bodyPr wrap="square" lIns="0" tIns="0" rIns="0" bIns="0" rtlCol="0"/>
            <a:lstStyle/>
            <a:p>
              <a:endParaRPr/>
            </a:p>
          </p:txBody>
        </p:sp>
        <p:sp>
          <p:nvSpPr>
            <p:cNvPr id="20" name="object 4">
              <a:extLst>
                <a:ext uri="{FF2B5EF4-FFF2-40B4-BE49-F238E27FC236}">
                  <a16:creationId xmlns:a16="http://schemas.microsoft.com/office/drawing/2014/main" id="{4BDE7EC6-C24A-7A26-AA87-F38E32EC3F12}"/>
                </a:ext>
              </a:extLst>
            </p:cNvPr>
            <p:cNvSpPr/>
            <p:nvPr/>
          </p:nvSpPr>
          <p:spPr>
            <a:xfrm>
              <a:off x="0" y="316227"/>
              <a:ext cx="4147185" cy="1309370"/>
            </a:xfrm>
            <a:custGeom>
              <a:avLst/>
              <a:gdLst/>
              <a:ahLst/>
              <a:cxnLst/>
              <a:rect l="l" t="t" r="r" b="b"/>
              <a:pathLst>
                <a:path w="4147185" h="1309370">
                  <a:moveTo>
                    <a:pt x="3492246" y="0"/>
                  </a:moveTo>
                  <a:lnTo>
                    <a:pt x="0" y="0"/>
                  </a:lnTo>
                  <a:lnTo>
                    <a:pt x="0" y="1309243"/>
                  </a:lnTo>
                  <a:lnTo>
                    <a:pt x="3492246" y="1309243"/>
                  </a:lnTo>
                  <a:lnTo>
                    <a:pt x="4146804" y="654685"/>
                  </a:lnTo>
                  <a:lnTo>
                    <a:pt x="3492246" y="0"/>
                  </a:lnTo>
                  <a:close/>
                </a:path>
              </a:pathLst>
            </a:custGeom>
            <a:solidFill>
              <a:srgbClr val="FFFFFF"/>
            </a:solidFill>
          </p:spPr>
          <p:txBody>
            <a:bodyPr wrap="square" lIns="0" tIns="0" rIns="0" bIns="0" rtlCol="0"/>
            <a:lstStyle/>
            <a:p>
              <a:endParaRPr dirty="0"/>
            </a:p>
          </p:txBody>
        </p:sp>
      </p:grpSp>
      <p:sp>
        <p:nvSpPr>
          <p:cNvPr id="21" name="object 5">
            <a:extLst>
              <a:ext uri="{FF2B5EF4-FFF2-40B4-BE49-F238E27FC236}">
                <a16:creationId xmlns:a16="http://schemas.microsoft.com/office/drawing/2014/main" id="{7D60C8A7-0A19-A24D-E22D-A5DF109A89B7}"/>
              </a:ext>
            </a:extLst>
          </p:cNvPr>
          <p:cNvSpPr txBox="1"/>
          <p:nvPr/>
        </p:nvSpPr>
        <p:spPr>
          <a:xfrm>
            <a:off x="147015" y="4952"/>
            <a:ext cx="2081530" cy="247015"/>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FFFFFF"/>
                </a:solidFill>
                <a:latin typeface="Calibri"/>
                <a:cs typeface="Calibri"/>
              </a:rPr>
              <a:t>EQUITY</a:t>
            </a:r>
            <a:r>
              <a:rPr sz="1450" b="1" spc="-65" dirty="0">
                <a:solidFill>
                  <a:srgbClr val="FFFFFF"/>
                </a:solidFill>
                <a:latin typeface="Calibri"/>
                <a:cs typeface="Calibri"/>
              </a:rPr>
              <a:t> </a:t>
            </a:r>
            <a:r>
              <a:rPr sz="1450" b="1" dirty="0">
                <a:solidFill>
                  <a:srgbClr val="FFFFFF"/>
                </a:solidFill>
                <a:latin typeface="Calibri"/>
                <a:cs typeface="Calibri"/>
              </a:rPr>
              <a:t>RESEARCH</a:t>
            </a:r>
            <a:r>
              <a:rPr sz="1450" b="1" spc="-60" dirty="0">
                <a:solidFill>
                  <a:srgbClr val="FFFFFF"/>
                </a:solidFill>
                <a:latin typeface="Calibri"/>
                <a:cs typeface="Calibri"/>
              </a:rPr>
              <a:t> </a:t>
            </a:r>
            <a:r>
              <a:rPr sz="1450" b="1" spc="-10" dirty="0">
                <a:solidFill>
                  <a:srgbClr val="FFFFFF"/>
                </a:solidFill>
                <a:latin typeface="Calibri"/>
                <a:cs typeface="Calibri"/>
              </a:rPr>
              <a:t>REPORT</a:t>
            </a:r>
            <a:endParaRPr sz="1450">
              <a:latin typeface="Calibri"/>
              <a:cs typeface="Calibri"/>
            </a:endParaRPr>
          </a:p>
        </p:txBody>
      </p:sp>
      <p:sp>
        <p:nvSpPr>
          <p:cNvPr id="22" name="object 40">
            <a:extLst>
              <a:ext uri="{FF2B5EF4-FFF2-40B4-BE49-F238E27FC236}">
                <a16:creationId xmlns:a16="http://schemas.microsoft.com/office/drawing/2014/main" id="{DF924A5D-BC1B-0354-BA3F-2833D91FAB8E}"/>
              </a:ext>
            </a:extLst>
          </p:cNvPr>
          <p:cNvSpPr txBox="1">
            <a:spLocks noGrp="1"/>
          </p:cNvSpPr>
          <p:nvPr>
            <p:ph type="title"/>
          </p:nvPr>
        </p:nvSpPr>
        <p:spPr>
          <a:xfrm>
            <a:off x="141831" y="295140"/>
            <a:ext cx="4269104" cy="289182"/>
          </a:xfrm>
          <a:prstGeom prst="rect">
            <a:avLst/>
          </a:prstGeom>
        </p:spPr>
        <p:txBody>
          <a:bodyPr vert="horz" wrap="square" lIns="0" tIns="12065" rIns="0" bIns="0" rtlCol="0">
            <a:spAutoFit/>
          </a:bodyPr>
          <a:lstStyle/>
          <a:p>
            <a:pPr marL="12700">
              <a:lnSpc>
                <a:spcPct val="100000"/>
              </a:lnSpc>
              <a:spcBef>
                <a:spcPts val="95"/>
              </a:spcBef>
            </a:pPr>
            <a:r>
              <a:rPr lang="en-GB" sz="1800" dirty="0"/>
              <a:t>Sun Pharmaceutical Industries Ltd.</a:t>
            </a:r>
            <a:endParaRPr sz="1800" dirty="0"/>
          </a:p>
        </p:txBody>
      </p:sp>
      <p:sp>
        <p:nvSpPr>
          <p:cNvPr id="23" name="object 41">
            <a:extLst>
              <a:ext uri="{FF2B5EF4-FFF2-40B4-BE49-F238E27FC236}">
                <a16:creationId xmlns:a16="http://schemas.microsoft.com/office/drawing/2014/main" id="{997904C0-B648-F48E-F206-8C94BD5E5F5A}"/>
              </a:ext>
            </a:extLst>
          </p:cNvPr>
          <p:cNvSpPr txBox="1"/>
          <p:nvPr/>
        </p:nvSpPr>
        <p:spPr>
          <a:xfrm>
            <a:off x="141831" y="526972"/>
            <a:ext cx="3210968"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D2841"/>
                </a:solidFill>
                <a:latin typeface="Calibri"/>
                <a:cs typeface="Calibri"/>
              </a:rPr>
              <a:t>NSE</a:t>
            </a:r>
            <a:r>
              <a:rPr sz="1200" b="1" spc="-20" dirty="0">
                <a:solidFill>
                  <a:srgbClr val="0D2841"/>
                </a:solidFill>
                <a:latin typeface="Calibri"/>
                <a:cs typeface="Calibri"/>
              </a:rPr>
              <a:t> </a:t>
            </a:r>
            <a:r>
              <a:rPr sz="1200" b="1" dirty="0">
                <a:solidFill>
                  <a:srgbClr val="0D2841"/>
                </a:solidFill>
                <a:latin typeface="Calibri"/>
                <a:cs typeface="Calibri"/>
              </a:rPr>
              <a:t>:</a:t>
            </a:r>
            <a:r>
              <a:rPr lang="en-US" sz="1200" b="1" spc="-15" dirty="0">
                <a:solidFill>
                  <a:srgbClr val="0D2841"/>
                </a:solidFill>
                <a:latin typeface="Calibri"/>
                <a:cs typeface="Calibri"/>
              </a:rPr>
              <a:t> </a:t>
            </a:r>
            <a:r>
              <a:rPr lang="en-GB" sz="1200" b="1" dirty="0">
                <a:latin typeface="+mj-lt"/>
              </a:rPr>
              <a:t>SUNPHARMA</a:t>
            </a:r>
            <a:r>
              <a:rPr sz="1200" b="1" spc="10" dirty="0">
                <a:solidFill>
                  <a:srgbClr val="0D2841"/>
                </a:solidFill>
                <a:latin typeface="Calibri"/>
                <a:cs typeface="Calibri"/>
              </a:rPr>
              <a:t> </a:t>
            </a:r>
            <a:r>
              <a:rPr sz="1200" b="1" dirty="0">
                <a:solidFill>
                  <a:srgbClr val="0D2841"/>
                </a:solidFill>
                <a:latin typeface="Calibri"/>
                <a:cs typeface="Calibri"/>
              </a:rPr>
              <a:t>|</a:t>
            </a:r>
            <a:r>
              <a:rPr sz="1200" b="1" spc="-15" dirty="0">
                <a:solidFill>
                  <a:srgbClr val="0D2841"/>
                </a:solidFill>
                <a:latin typeface="Calibri"/>
                <a:cs typeface="Calibri"/>
              </a:rPr>
              <a:t> </a:t>
            </a:r>
            <a:r>
              <a:rPr sz="1200" b="1" dirty="0">
                <a:solidFill>
                  <a:srgbClr val="0D2841"/>
                </a:solidFill>
                <a:latin typeface="Calibri"/>
                <a:cs typeface="Calibri"/>
              </a:rPr>
              <a:t>BSE Code:</a:t>
            </a:r>
            <a:r>
              <a:rPr sz="1200" b="1" spc="-5" dirty="0">
                <a:solidFill>
                  <a:srgbClr val="0D2841"/>
                </a:solidFill>
                <a:latin typeface="Calibri"/>
                <a:cs typeface="Calibri"/>
              </a:rPr>
              <a:t> </a:t>
            </a:r>
            <a:r>
              <a:rPr lang="en-GB" sz="1200" b="1" dirty="0">
                <a:latin typeface="+mj-lt"/>
              </a:rPr>
              <a:t>524715</a:t>
            </a:r>
          </a:p>
        </p:txBody>
      </p:sp>
      <p:sp>
        <p:nvSpPr>
          <p:cNvPr id="24" name="object 41">
            <a:extLst>
              <a:ext uri="{FF2B5EF4-FFF2-40B4-BE49-F238E27FC236}">
                <a16:creationId xmlns:a16="http://schemas.microsoft.com/office/drawing/2014/main" id="{C82015C4-67F6-746F-378E-B14FD83CE06C}"/>
              </a:ext>
            </a:extLst>
          </p:cNvPr>
          <p:cNvSpPr txBox="1"/>
          <p:nvPr/>
        </p:nvSpPr>
        <p:spPr>
          <a:xfrm>
            <a:off x="141831" y="686543"/>
            <a:ext cx="3210968" cy="197490"/>
          </a:xfrm>
          <a:prstGeom prst="rect">
            <a:avLst/>
          </a:prstGeom>
        </p:spPr>
        <p:txBody>
          <a:bodyPr vert="horz" wrap="square" lIns="0" tIns="12700" rIns="0" bIns="0" rtlCol="0">
            <a:spAutoFit/>
          </a:bodyPr>
          <a:lstStyle/>
          <a:p>
            <a:pPr marL="12700">
              <a:lnSpc>
                <a:spcPct val="100000"/>
              </a:lnSpc>
              <a:spcBef>
                <a:spcPts val="100"/>
              </a:spcBef>
            </a:pPr>
            <a:r>
              <a:rPr lang="en-GB" sz="1200" b="1" dirty="0">
                <a:latin typeface="Calibri "/>
              </a:rPr>
              <a:t>Pharmaceuticals &amp; Drugs</a:t>
            </a:r>
          </a:p>
        </p:txBody>
      </p:sp>
      <p:pic>
        <p:nvPicPr>
          <p:cNvPr id="25" name="Picture 24">
            <a:extLst>
              <a:ext uri="{FF2B5EF4-FFF2-40B4-BE49-F238E27FC236}">
                <a16:creationId xmlns:a16="http://schemas.microsoft.com/office/drawing/2014/main" id="{CEE329C5-AAB7-9DB1-656F-F701E54623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04126" y="17284"/>
            <a:ext cx="1295705" cy="879830"/>
          </a:xfrm>
          <a:prstGeom prst="rect">
            <a:avLst/>
          </a:prstGeom>
        </p:spPr>
      </p:pic>
      <p:cxnSp>
        <p:nvCxnSpPr>
          <p:cNvPr id="26" name="Straight Connector 25">
            <a:extLst>
              <a:ext uri="{FF2B5EF4-FFF2-40B4-BE49-F238E27FC236}">
                <a16:creationId xmlns:a16="http://schemas.microsoft.com/office/drawing/2014/main" id="{159F5B67-6F41-3440-6676-E14DA5750435}"/>
              </a:ext>
            </a:extLst>
          </p:cNvPr>
          <p:cNvCxnSpPr>
            <a:cxnSpLocks/>
          </p:cNvCxnSpPr>
          <p:nvPr/>
        </p:nvCxnSpPr>
        <p:spPr>
          <a:xfrm>
            <a:off x="0" y="8859394"/>
            <a:ext cx="6858000" cy="0"/>
          </a:xfrm>
          <a:prstGeom prst="line">
            <a:avLst/>
          </a:prstGeom>
          <a:ln w="41275">
            <a:solidFill>
              <a:srgbClr val="E46C0A"/>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9195671-D744-4852-6D21-0D891E0A236A}"/>
              </a:ext>
            </a:extLst>
          </p:cNvPr>
          <p:cNvSpPr txBox="1"/>
          <p:nvPr/>
        </p:nvSpPr>
        <p:spPr>
          <a:xfrm>
            <a:off x="6553200" y="8810228"/>
            <a:ext cx="667055" cy="369332"/>
          </a:xfrm>
          <a:prstGeom prst="rect">
            <a:avLst/>
          </a:prstGeom>
          <a:noFill/>
        </p:spPr>
        <p:txBody>
          <a:bodyPr wrap="square" rtlCol="0">
            <a:spAutoFit/>
          </a:bodyPr>
          <a:lstStyle/>
          <a:p>
            <a:r>
              <a:rPr lang="en-US" b="1" dirty="0">
                <a:solidFill>
                  <a:srgbClr val="E46C0A"/>
                </a:solidFill>
              </a:rPr>
              <a:t>1</a:t>
            </a:r>
            <a:endParaRPr lang="en-GB" b="1" dirty="0">
              <a:solidFill>
                <a:srgbClr val="E46C0A"/>
              </a:solidFill>
            </a:endParaRPr>
          </a:p>
        </p:txBody>
      </p:sp>
      <p:cxnSp>
        <p:nvCxnSpPr>
          <p:cNvPr id="28" name="Straight Connector 27">
            <a:extLst>
              <a:ext uri="{FF2B5EF4-FFF2-40B4-BE49-F238E27FC236}">
                <a16:creationId xmlns:a16="http://schemas.microsoft.com/office/drawing/2014/main" id="{6D1DDE50-03F3-B81E-F5F9-74CE866966C0}"/>
              </a:ext>
            </a:extLst>
          </p:cNvPr>
          <p:cNvCxnSpPr>
            <a:cxnSpLocks/>
          </p:cNvCxnSpPr>
          <p:nvPr/>
        </p:nvCxnSpPr>
        <p:spPr>
          <a:xfrm flipV="1">
            <a:off x="0" y="933199"/>
            <a:ext cx="6858000" cy="37713"/>
          </a:xfrm>
          <a:prstGeom prst="line">
            <a:avLst/>
          </a:prstGeom>
          <a:ln>
            <a:solidFill>
              <a:srgbClr val="E46C0A"/>
            </a:solidFill>
          </a:ln>
        </p:spPr>
        <p:style>
          <a:lnRef idx="1">
            <a:schemeClr val="accent1"/>
          </a:lnRef>
          <a:fillRef idx="0">
            <a:schemeClr val="accent1"/>
          </a:fillRef>
          <a:effectRef idx="0">
            <a:schemeClr val="accent1"/>
          </a:effectRef>
          <a:fontRef idx="minor">
            <a:schemeClr val="tx1"/>
          </a:fontRef>
        </p:style>
      </p:cxnSp>
      <p:sp>
        <p:nvSpPr>
          <p:cNvPr id="30" name="object 6">
            <a:extLst>
              <a:ext uri="{FF2B5EF4-FFF2-40B4-BE49-F238E27FC236}">
                <a16:creationId xmlns:a16="http://schemas.microsoft.com/office/drawing/2014/main" id="{02EA3354-E16D-64DE-56BB-AFD1648E7CDB}"/>
              </a:ext>
            </a:extLst>
          </p:cNvPr>
          <p:cNvSpPr/>
          <p:nvPr/>
        </p:nvSpPr>
        <p:spPr>
          <a:xfrm>
            <a:off x="88496" y="1069131"/>
            <a:ext cx="6642734" cy="339090"/>
          </a:xfrm>
          <a:custGeom>
            <a:avLst/>
            <a:gdLst/>
            <a:ahLst/>
            <a:cxnLst/>
            <a:rect l="l" t="t" r="r" b="b"/>
            <a:pathLst>
              <a:path w="6642734" h="339090">
                <a:moveTo>
                  <a:pt x="6642734" y="0"/>
                </a:moveTo>
                <a:lnTo>
                  <a:pt x="0" y="0"/>
                </a:lnTo>
                <a:lnTo>
                  <a:pt x="0" y="338556"/>
                </a:lnTo>
                <a:lnTo>
                  <a:pt x="6642734" y="338556"/>
                </a:lnTo>
                <a:lnTo>
                  <a:pt x="6642734" y="0"/>
                </a:lnTo>
                <a:close/>
              </a:path>
            </a:pathLst>
          </a:custGeom>
          <a:solidFill>
            <a:srgbClr val="E46C0A"/>
          </a:solidFill>
        </p:spPr>
        <p:txBody>
          <a:bodyPr wrap="square" lIns="0" tIns="0" rIns="0" bIns="0" rtlCol="0"/>
          <a:lstStyle/>
          <a:p>
            <a:pPr algn="ctr"/>
            <a:endParaRPr dirty="0"/>
          </a:p>
        </p:txBody>
      </p:sp>
      <p:sp>
        <p:nvSpPr>
          <p:cNvPr id="31" name="TextBox 30">
            <a:extLst>
              <a:ext uri="{FF2B5EF4-FFF2-40B4-BE49-F238E27FC236}">
                <a16:creationId xmlns:a16="http://schemas.microsoft.com/office/drawing/2014/main" id="{367DA196-9023-7155-D73D-5DDA4C3702C4}"/>
              </a:ext>
            </a:extLst>
          </p:cNvPr>
          <p:cNvSpPr txBox="1"/>
          <p:nvPr/>
        </p:nvSpPr>
        <p:spPr>
          <a:xfrm>
            <a:off x="88496" y="5424686"/>
            <a:ext cx="6642734" cy="2215991"/>
          </a:xfrm>
          <a:prstGeom prst="rect">
            <a:avLst/>
          </a:prstGeom>
          <a:noFill/>
        </p:spPr>
        <p:txBody>
          <a:bodyPr wrap="square" rtlCol="0">
            <a:spAutoFit/>
          </a:bodyPr>
          <a:lstStyle/>
          <a:p>
            <a:pPr marL="12700" algn="just">
              <a:spcBef>
                <a:spcPts val="830"/>
              </a:spcBef>
            </a:pPr>
            <a:r>
              <a:rPr lang="en-US" sz="1600" b="1" dirty="0">
                <a:solidFill>
                  <a:srgbClr val="E36B0C"/>
                </a:solidFill>
                <a:uFill>
                  <a:solidFill>
                    <a:srgbClr val="000000"/>
                  </a:solidFill>
                </a:uFill>
                <a:latin typeface="+mj-lt"/>
                <a:cs typeface="Calibri"/>
              </a:rPr>
              <a:t>Key</a:t>
            </a:r>
            <a:r>
              <a:rPr lang="en-US" sz="1600" b="1" dirty="0">
                <a:solidFill>
                  <a:srgbClr val="E36B0C"/>
                </a:solidFill>
                <a:latin typeface="+mj-lt"/>
              </a:rPr>
              <a:t> </a:t>
            </a:r>
            <a:r>
              <a:rPr lang="en-US" sz="1600" b="1" dirty="0">
                <a:solidFill>
                  <a:srgbClr val="E36B0C"/>
                </a:solidFill>
                <a:uFill>
                  <a:solidFill>
                    <a:srgbClr val="000000"/>
                  </a:solidFill>
                </a:uFill>
                <a:latin typeface="+mj-lt"/>
                <a:cs typeface="Calibri"/>
              </a:rPr>
              <a:t>Takeaways</a:t>
            </a:r>
            <a:endParaRPr lang="en-US" sz="1600" b="1" dirty="0">
              <a:solidFill>
                <a:srgbClr val="E36B0C"/>
              </a:solidFill>
              <a:latin typeface="+mj-lt"/>
            </a:endParaRPr>
          </a:p>
          <a:p>
            <a:pPr algn="just"/>
            <a:r>
              <a:rPr lang="en-US" sz="1200" b="1" dirty="0">
                <a:latin typeface="+mj-lt"/>
              </a:rPr>
              <a:t>Sun Pharma delivered strong long-term outperformance driven by its successful Global Specialty strategy and resilient domestic business.</a:t>
            </a:r>
            <a:r>
              <a:rPr lang="en-US" sz="1200" dirty="0">
                <a:latin typeface="+mj-lt"/>
              </a:rPr>
              <a:t> While the pharmaceutical sector faced pricing pressure and supply chain challenges, Sun Pharma consistently outperformed through specialty-led growth, volume-driven market leadership, and a strong balance sheet.</a:t>
            </a:r>
          </a:p>
          <a:p>
            <a:pPr algn="just"/>
            <a:r>
              <a:rPr lang="en-US" sz="1200" b="1" dirty="0">
                <a:latin typeface="+mj-lt"/>
              </a:rPr>
              <a:t>FY22-23</a:t>
            </a:r>
            <a:r>
              <a:rPr lang="en-US" sz="1200" dirty="0">
                <a:latin typeface="+mj-lt"/>
              </a:rPr>
              <a:t> highlighted the company's resilience, remaining positive despite weakness in the broader pharmaceutical sector. </a:t>
            </a:r>
            <a:r>
              <a:rPr lang="en-US" sz="1200" b="1" dirty="0">
                <a:latin typeface="+mj-lt"/>
              </a:rPr>
              <a:t>FY23-24</a:t>
            </a:r>
            <a:r>
              <a:rPr lang="en-US" sz="1200" dirty="0">
                <a:latin typeface="+mj-lt"/>
              </a:rPr>
              <a:t> was the standout year with a </a:t>
            </a:r>
            <a:r>
              <a:rPr lang="en-US" sz="1200" b="1" dirty="0">
                <a:latin typeface="+mj-lt"/>
              </a:rPr>
              <a:t>64.08% return</a:t>
            </a:r>
            <a:r>
              <a:rPr lang="en-US" sz="1200" dirty="0">
                <a:latin typeface="+mj-lt"/>
              </a:rPr>
              <a:t>, supported by strong specialty sales and 16.5% growth in adjusted net profit. In </a:t>
            </a:r>
            <a:r>
              <a:rPr lang="en-US" sz="1200" b="1" dirty="0">
                <a:latin typeface="+mj-lt"/>
              </a:rPr>
              <a:t>FY25-26</a:t>
            </a:r>
            <a:r>
              <a:rPr lang="en-US" sz="1200" dirty="0">
                <a:latin typeface="+mj-lt"/>
              </a:rPr>
              <a:t>, although the stock declined </a:t>
            </a:r>
            <a:r>
              <a:rPr lang="en-US" sz="1200" b="1" dirty="0">
                <a:latin typeface="+mj-lt"/>
              </a:rPr>
              <a:t>4.10%</a:t>
            </a:r>
            <a:r>
              <a:rPr lang="en-US" sz="1200" dirty="0">
                <a:latin typeface="+mj-lt"/>
              </a:rPr>
              <a:t>, it significantly outperformed the broader market, reinforcing its defensive characteristics.</a:t>
            </a:r>
          </a:p>
          <a:p>
            <a:pPr algn="just"/>
            <a:endParaRPr lang="en-US" sz="1600" dirty="0">
              <a:latin typeface="+mj-lt"/>
            </a:endParaRPr>
          </a:p>
          <a:p>
            <a:pPr algn="just"/>
            <a:endParaRPr lang="en-US" sz="1000" b="1" dirty="0">
              <a:latin typeface="+mj-lt"/>
            </a:endParaRPr>
          </a:p>
        </p:txBody>
      </p:sp>
      <p:graphicFrame>
        <p:nvGraphicFramePr>
          <p:cNvPr id="32" name="Chart 31">
            <a:extLst>
              <a:ext uri="{FF2B5EF4-FFF2-40B4-BE49-F238E27FC236}">
                <a16:creationId xmlns:a16="http://schemas.microsoft.com/office/drawing/2014/main" id="{589B8275-DEA1-5127-33CE-6C714AFCDA9A}"/>
              </a:ext>
            </a:extLst>
          </p:cNvPr>
          <p:cNvGraphicFramePr>
            <a:graphicFrameLocks/>
          </p:cNvGraphicFramePr>
          <p:nvPr/>
        </p:nvGraphicFramePr>
        <p:xfrm>
          <a:off x="50395" y="1535816"/>
          <a:ext cx="6734169" cy="3892808"/>
        </p:xfrm>
        <a:graphic>
          <a:graphicData uri="http://schemas.openxmlformats.org/drawingml/2006/chart">
            <c:chart xmlns:c="http://schemas.openxmlformats.org/drawingml/2006/chart" xmlns:r="http://schemas.openxmlformats.org/officeDocument/2006/relationships" r:id="rId3"/>
          </a:graphicData>
        </a:graphic>
      </p:graphicFrame>
      <p:sp>
        <p:nvSpPr>
          <p:cNvPr id="34" name="TextBox 33">
            <a:extLst>
              <a:ext uri="{FF2B5EF4-FFF2-40B4-BE49-F238E27FC236}">
                <a16:creationId xmlns:a16="http://schemas.microsoft.com/office/drawing/2014/main" id="{14324A8F-5C3F-3C20-590C-1A24CDCC4D83}"/>
              </a:ext>
            </a:extLst>
          </p:cNvPr>
          <p:cNvSpPr txBox="1"/>
          <p:nvPr/>
        </p:nvSpPr>
        <p:spPr>
          <a:xfrm>
            <a:off x="2213305" y="1063633"/>
            <a:ext cx="2739695" cy="369332"/>
          </a:xfrm>
          <a:prstGeom prst="rect">
            <a:avLst/>
          </a:prstGeom>
          <a:noFill/>
        </p:spPr>
        <p:txBody>
          <a:bodyPr wrap="square">
            <a:spAutoFit/>
          </a:bodyPr>
          <a:lstStyle/>
          <a:p>
            <a:r>
              <a:rPr lang="en-US" b="1" dirty="0">
                <a:solidFill>
                  <a:schemeClr val="bg1"/>
                </a:solidFill>
                <a:latin typeface="+mj-lt"/>
              </a:rPr>
              <a:t>MARKET INDEX ANALYSIS</a:t>
            </a:r>
          </a:p>
        </p:txBody>
      </p:sp>
      <p:sp>
        <p:nvSpPr>
          <p:cNvPr id="3" name="TextBox 2">
            <a:extLst>
              <a:ext uri="{FF2B5EF4-FFF2-40B4-BE49-F238E27FC236}">
                <a16:creationId xmlns:a16="http://schemas.microsoft.com/office/drawing/2014/main" id="{911CEF51-873B-EE5C-80FD-D7FFD9546681}"/>
              </a:ext>
            </a:extLst>
          </p:cNvPr>
          <p:cNvSpPr txBox="1"/>
          <p:nvPr/>
        </p:nvSpPr>
        <p:spPr>
          <a:xfrm>
            <a:off x="78850" y="7276799"/>
            <a:ext cx="6857999" cy="1446550"/>
          </a:xfrm>
          <a:prstGeom prst="rect">
            <a:avLst/>
          </a:prstGeom>
          <a:noFill/>
        </p:spPr>
        <p:txBody>
          <a:bodyPr wrap="square">
            <a:spAutoFit/>
          </a:bodyPr>
          <a:lstStyle/>
          <a:p>
            <a:pPr algn="just"/>
            <a:r>
              <a:rPr lang="en-US" sz="1600" b="1" dirty="0">
                <a:solidFill>
                  <a:srgbClr val="E36B0C"/>
                </a:solidFill>
                <a:uFill>
                  <a:solidFill>
                    <a:srgbClr val="000000"/>
                  </a:solidFill>
                </a:uFill>
                <a:latin typeface="+mj-lt"/>
                <a:cs typeface="Calibri"/>
              </a:rPr>
              <a:t>Sun Pharma Alpha</a:t>
            </a:r>
          </a:p>
          <a:p>
            <a:pPr algn="just"/>
            <a:r>
              <a:rPr lang="en-US" sz="1200" dirty="0">
                <a:latin typeface="+mj-lt"/>
              </a:rPr>
              <a:t>The company's long-term outperformance has been driven by the successful transition from traditional generics to a </a:t>
            </a:r>
            <a:r>
              <a:rPr lang="en-US" sz="1200" b="1" dirty="0">
                <a:latin typeface="+mj-lt"/>
              </a:rPr>
              <a:t>Global Specialty</a:t>
            </a:r>
            <a:r>
              <a:rPr lang="en-US" sz="1200" dirty="0">
                <a:latin typeface="+mj-lt"/>
              </a:rPr>
              <a:t> business, reducing dependence on pricing-sensitive products and strengthening its competitive position. </a:t>
            </a:r>
            <a:r>
              <a:rPr lang="en-US" sz="1200" b="1" dirty="0">
                <a:latin typeface="+mj-lt"/>
              </a:rPr>
              <a:t>Volume-led growth</a:t>
            </a:r>
            <a:r>
              <a:rPr lang="en-US" sz="1200" dirty="0">
                <a:latin typeface="+mj-lt"/>
              </a:rPr>
              <a:t> in the domestic business, supported by prescription leadership and new product launches, has created a resilient revenue base. A </a:t>
            </a:r>
            <a:r>
              <a:rPr lang="en-US" sz="1200" b="1" dirty="0">
                <a:latin typeface="+mj-lt"/>
              </a:rPr>
              <a:t>de-leveraged balance sheet</a:t>
            </a:r>
            <a:r>
              <a:rPr lang="en-US" sz="1200" dirty="0">
                <a:latin typeface="+mj-lt"/>
              </a:rPr>
              <a:t> with a </a:t>
            </a:r>
            <a:r>
              <a:rPr lang="en-US" sz="1200" b="1" dirty="0">
                <a:latin typeface="+mj-lt"/>
              </a:rPr>
              <a:t>net cash position of approximately US$2.9 billion</a:t>
            </a:r>
            <a:r>
              <a:rPr lang="en-US" sz="1200" dirty="0">
                <a:latin typeface="+mj-lt"/>
              </a:rPr>
              <a:t> has provided downside protection during volatile market conditions while supporting future growth initiatives.</a:t>
            </a:r>
          </a:p>
        </p:txBody>
      </p:sp>
    </p:spTree>
    <p:extLst>
      <p:ext uri="{BB962C8B-B14F-4D97-AF65-F5344CB8AC3E}">
        <p14:creationId xmlns:p14="http://schemas.microsoft.com/office/powerpoint/2010/main" val="30839116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CADBB-CD75-3823-8A40-455BE02668F8}"/>
            </a:ext>
          </a:extLst>
        </p:cNvPr>
        <p:cNvGrpSpPr/>
        <p:nvPr/>
      </p:nvGrpSpPr>
      <p:grpSpPr>
        <a:xfrm>
          <a:off x="0" y="0"/>
          <a:ext cx="0" cy="0"/>
          <a:chOff x="0" y="0"/>
          <a:chExt cx="0" cy="0"/>
        </a:xfrm>
      </p:grpSpPr>
      <p:grpSp>
        <p:nvGrpSpPr>
          <p:cNvPr id="18" name="object 2">
            <a:extLst>
              <a:ext uri="{FF2B5EF4-FFF2-40B4-BE49-F238E27FC236}">
                <a16:creationId xmlns:a16="http://schemas.microsoft.com/office/drawing/2014/main" id="{87C88D52-4E77-1BD3-CEB6-A4DF0D83B598}"/>
              </a:ext>
            </a:extLst>
          </p:cNvPr>
          <p:cNvGrpSpPr/>
          <p:nvPr/>
        </p:nvGrpSpPr>
        <p:grpSpPr>
          <a:xfrm>
            <a:off x="0" y="0"/>
            <a:ext cx="6858000" cy="1625597"/>
            <a:chOff x="0" y="0"/>
            <a:chExt cx="6858000" cy="1625597"/>
          </a:xfrm>
        </p:grpSpPr>
        <p:sp>
          <p:nvSpPr>
            <p:cNvPr id="19" name="object 3">
              <a:extLst>
                <a:ext uri="{FF2B5EF4-FFF2-40B4-BE49-F238E27FC236}">
                  <a16:creationId xmlns:a16="http://schemas.microsoft.com/office/drawing/2014/main" id="{AE8ADAB0-6888-AF71-A852-4DF9F90BA523}"/>
                </a:ext>
              </a:extLst>
            </p:cNvPr>
            <p:cNvSpPr/>
            <p:nvPr/>
          </p:nvSpPr>
          <p:spPr>
            <a:xfrm>
              <a:off x="0" y="0"/>
              <a:ext cx="6858000" cy="949325"/>
            </a:xfrm>
            <a:custGeom>
              <a:avLst/>
              <a:gdLst/>
              <a:ahLst/>
              <a:cxnLst/>
              <a:rect l="l" t="t" r="r" b="b"/>
              <a:pathLst>
                <a:path w="6858000" h="949325">
                  <a:moveTo>
                    <a:pt x="0" y="949198"/>
                  </a:moveTo>
                  <a:lnTo>
                    <a:pt x="6858000" y="949198"/>
                  </a:lnTo>
                  <a:lnTo>
                    <a:pt x="6858000" y="0"/>
                  </a:lnTo>
                  <a:lnTo>
                    <a:pt x="0" y="0"/>
                  </a:lnTo>
                  <a:lnTo>
                    <a:pt x="0" y="949198"/>
                  </a:lnTo>
                  <a:close/>
                </a:path>
              </a:pathLst>
            </a:custGeom>
            <a:solidFill>
              <a:schemeClr val="accent6">
                <a:lumMod val="75000"/>
              </a:schemeClr>
            </a:solidFill>
          </p:spPr>
          <p:txBody>
            <a:bodyPr wrap="square" lIns="0" tIns="0" rIns="0" bIns="0" rtlCol="0"/>
            <a:lstStyle/>
            <a:p>
              <a:endParaRPr/>
            </a:p>
          </p:txBody>
        </p:sp>
        <p:sp>
          <p:nvSpPr>
            <p:cNvPr id="20" name="object 4">
              <a:extLst>
                <a:ext uri="{FF2B5EF4-FFF2-40B4-BE49-F238E27FC236}">
                  <a16:creationId xmlns:a16="http://schemas.microsoft.com/office/drawing/2014/main" id="{41C6BBFF-B623-685B-851C-09E4BBF394E7}"/>
                </a:ext>
              </a:extLst>
            </p:cNvPr>
            <p:cNvSpPr/>
            <p:nvPr/>
          </p:nvSpPr>
          <p:spPr>
            <a:xfrm>
              <a:off x="0" y="316227"/>
              <a:ext cx="4147185" cy="1309370"/>
            </a:xfrm>
            <a:custGeom>
              <a:avLst/>
              <a:gdLst/>
              <a:ahLst/>
              <a:cxnLst/>
              <a:rect l="l" t="t" r="r" b="b"/>
              <a:pathLst>
                <a:path w="4147185" h="1309370">
                  <a:moveTo>
                    <a:pt x="3492246" y="0"/>
                  </a:moveTo>
                  <a:lnTo>
                    <a:pt x="0" y="0"/>
                  </a:lnTo>
                  <a:lnTo>
                    <a:pt x="0" y="1309243"/>
                  </a:lnTo>
                  <a:lnTo>
                    <a:pt x="3492246" y="1309243"/>
                  </a:lnTo>
                  <a:lnTo>
                    <a:pt x="4146804" y="654685"/>
                  </a:lnTo>
                  <a:lnTo>
                    <a:pt x="3492246" y="0"/>
                  </a:lnTo>
                  <a:close/>
                </a:path>
              </a:pathLst>
            </a:custGeom>
            <a:solidFill>
              <a:srgbClr val="FFFFFF"/>
            </a:solidFill>
          </p:spPr>
          <p:txBody>
            <a:bodyPr wrap="square" lIns="0" tIns="0" rIns="0" bIns="0" rtlCol="0"/>
            <a:lstStyle/>
            <a:p>
              <a:endParaRPr dirty="0"/>
            </a:p>
          </p:txBody>
        </p:sp>
      </p:grpSp>
      <p:sp>
        <p:nvSpPr>
          <p:cNvPr id="21" name="object 5">
            <a:extLst>
              <a:ext uri="{FF2B5EF4-FFF2-40B4-BE49-F238E27FC236}">
                <a16:creationId xmlns:a16="http://schemas.microsoft.com/office/drawing/2014/main" id="{6110064D-8669-2C1B-9B4E-36A3FD91A214}"/>
              </a:ext>
            </a:extLst>
          </p:cNvPr>
          <p:cNvSpPr txBox="1"/>
          <p:nvPr/>
        </p:nvSpPr>
        <p:spPr>
          <a:xfrm>
            <a:off x="147015" y="4952"/>
            <a:ext cx="2081530" cy="247015"/>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FFFFFF"/>
                </a:solidFill>
                <a:latin typeface="Calibri"/>
                <a:cs typeface="Calibri"/>
              </a:rPr>
              <a:t>EQUITY</a:t>
            </a:r>
            <a:r>
              <a:rPr sz="1450" b="1" spc="-65" dirty="0">
                <a:solidFill>
                  <a:srgbClr val="FFFFFF"/>
                </a:solidFill>
                <a:latin typeface="Calibri"/>
                <a:cs typeface="Calibri"/>
              </a:rPr>
              <a:t> </a:t>
            </a:r>
            <a:r>
              <a:rPr sz="1450" b="1" dirty="0">
                <a:solidFill>
                  <a:srgbClr val="FFFFFF"/>
                </a:solidFill>
                <a:latin typeface="Calibri"/>
                <a:cs typeface="Calibri"/>
              </a:rPr>
              <a:t>RESEARCH</a:t>
            </a:r>
            <a:r>
              <a:rPr sz="1450" b="1" spc="-60" dirty="0">
                <a:solidFill>
                  <a:srgbClr val="FFFFFF"/>
                </a:solidFill>
                <a:latin typeface="Calibri"/>
                <a:cs typeface="Calibri"/>
              </a:rPr>
              <a:t> </a:t>
            </a:r>
            <a:r>
              <a:rPr sz="1450" b="1" spc="-10" dirty="0">
                <a:solidFill>
                  <a:srgbClr val="FFFFFF"/>
                </a:solidFill>
                <a:latin typeface="Calibri"/>
                <a:cs typeface="Calibri"/>
              </a:rPr>
              <a:t>REPORT</a:t>
            </a:r>
            <a:endParaRPr sz="1450">
              <a:latin typeface="Calibri"/>
              <a:cs typeface="Calibri"/>
            </a:endParaRPr>
          </a:p>
        </p:txBody>
      </p:sp>
      <p:sp>
        <p:nvSpPr>
          <p:cNvPr id="22" name="object 40">
            <a:extLst>
              <a:ext uri="{FF2B5EF4-FFF2-40B4-BE49-F238E27FC236}">
                <a16:creationId xmlns:a16="http://schemas.microsoft.com/office/drawing/2014/main" id="{C2A00E81-F67D-C26D-1AA0-938AA0AD56A2}"/>
              </a:ext>
            </a:extLst>
          </p:cNvPr>
          <p:cNvSpPr txBox="1">
            <a:spLocks noGrp="1"/>
          </p:cNvSpPr>
          <p:nvPr>
            <p:ph type="title"/>
          </p:nvPr>
        </p:nvSpPr>
        <p:spPr>
          <a:xfrm>
            <a:off x="141831" y="295140"/>
            <a:ext cx="4269104" cy="289182"/>
          </a:xfrm>
          <a:prstGeom prst="rect">
            <a:avLst/>
          </a:prstGeom>
        </p:spPr>
        <p:txBody>
          <a:bodyPr vert="horz" wrap="square" lIns="0" tIns="12065" rIns="0" bIns="0" rtlCol="0">
            <a:spAutoFit/>
          </a:bodyPr>
          <a:lstStyle/>
          <a:p>
            <a:pPr marL="12700">
              <a:lnSpc>
                <a:spcPct val="100000"/>
              </a:lnSpc>
              <a:spcBef>
                <a:spcPts val="95"/>
              </a:spcBef>
            </a:pPr>
            <a:r>
              <a:rPr lang="en-GB" sz="1800" dirty="0"/>
              <a:t>Sun Pharmaceutical Industries Ltd.</a:t>
            </a:r>
            <a:endParaRPr sz="1800" dirty="0"/>
          </a:p>
        </p:txBody>
      </p:sp>
      <p:sp>
        <p:nvSpPr>
          <p:cNvPr id="23" name="object 41">
            <a:extLst>
              <a:ext uri="{FF2B5EF4-FFF2-40B4-BE49-F238E27FC236}">
                <a16:creationId xmlns:a16="http://schemas.microsoft.com/office/drawing/2014/main" id="{E3EBD991-BCE8-111A-B1D4-72F960D2AE40}"/>
              </a:ext>
            </a:extLst>
          </p:cNvPr>
          <p:cNvSpPr txBox="1"/>
          <p:nvPr/>
        </p:nvSpPr>
        <p:spPr>
          <a:xfrm>
            <a:off x="141831" y="526972"/>
            <a:ext cx="3210968"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D2841"/>
                </a:solidFill>
                <a:latin typeface="Calibri"/>
                <a:cs typeface="Calibri"/>
              </a:rPr>
              <a:t>NSE</a:t>
            </a:r>
            <a:r>
              <a:rPr sz="1200" b="1" spc="-20" dirty="0">
                <a:solidFill>
                  <a:srgbClr val="0D2841"/>
                </a:solidFill>
                <a:latin typeface="Calibri"/>
                <a:cs typeface="Calibri"/>
              </a:rPr>
              <a:t> </a:t>
            </a:r>
            <a:r>
              <a:rPr sz="1200" b="1" dirty="0">
                <a:solidFill>
                  <a:srgbClr val="0D2841"/>
                </a:solidFill>
                <a:latin typeface="Calibri"/>
                <a:cs typeface="Calibri"/>
              </a:rPr>
              <a:t>:</a:t>
            </a:r>
            <a:r>
              <a:rPr lang="en-US" sz="1200" b="1" spc="-15" dirty="0">
                <a:solidFill>
                  <a:srgbClr val="0D2841"/>
                </a:solidFill>
                <a:latin typeface="Calibri"/>
                <a:cs typeface="Calibri"/>
              </a:rPr>
              <a:t> </a:t>
            </a:r>
            <a:r>
              <a:rPr lang="en-GB" sz="1200" b="1" dirty="0">
                <a:latin typeface="+mj-lt"/>
              </a:rPr>
              <a:t>SUNPHARMA</a:t>
            </a:r>
            <a:r>
              <a:rPr sz="1200" b="1" spc="10" dirty="0">
                <a:solidFill>
                  <a:srgbClr val="0D2841"/>
                </a:solidFill>
                <a:latin typeface="Calibri"/>
                <a:cs typeface="Calibri"/>
              </a:rPr>
              <a:t> </a:t>
            </a:r>
            <a:r>
              <a:rPr sz="1200" b="1" dirty="0">
                <a:solidFill>
                  <a:srgbClr val="0D2841"/>
                </a:solidFill>
                <a:latin typeface="Calibri"/>
                <a:cs typeface="Calibri"/>
              </a:rPr>
              <a:t>|</a:t>
            </a:r>
            <a:r>
              <a:rPr sz="1200" b="1" spc="-15" dirty="0">
                <a:solidFill>
                  <a:srgbClr val="0D2841"/>
                </a:solidFill>
                <a:latin typeface="Calibri"/>
                <a:cs typeface="Calibri"/>
              </a:rPr>
              <a:t> </a:t>
            </a:r>
            <a:r>
              <a:rPr sz="1200" b="1" dirty="0">
                <a:solidFill>
                  <a:srgbClr val="0D2841"/>
                </a:solidFill>
                <a:latin typeface="Calibri"/>
                <a:cs typeface="Calibri"/>
              </a:rPr>
              <a:t>BSE Code:</a:t>
            </a:r>
            <a:r>
              <a:rPr sz="1200" b="1" spc="-5" dirty="0">
                <a:solidFill>
                  <a:srgbClr val="0D2841"/>
                </a:solidFill>
                <a:latin typeface="Calibri"/>
                <a:cs typeface="Calibri"/>
              </a:rPr>
              <a:t> </a:t>
            </a:r>
            <a:r>
              <a:rPr lang="en-GB" sz="1200" b="1" dirty="0">
                <a:latin typeface="+mj-lt"/>
              </a:rPr>
              <a:t>524715</a:t>
            </a:r>
          </a:p>
        </p:txBody>
      </p:sp>
      <p:sp>
        <p:nvSpPr>
          <p:cNvPr id="24" name="object 41">
            <a:extLst>
              <a:ext uri="{FF2B5EF4-FFF2-40B4-BE49-F238E27FC236}">
                <a16:creationId xmlns:a16="http://schemas.microsoft.com/office/drawing/2014/main" id="{5205C0A3-A8C9-249B-03EA-E88E4080D09F}"/>
              </a:ext>
            </a:extLst>
          </p:cNvPr>
          <p:cNvSpPr txBox="1"/>
          <p:nvPr/>
        </p:nvSpPr>
        <p:spPr>
          <a:xfrm>
            <a:off x="141831" y="686543"/>
            <a:ext cx="3210968" cy="197490"/>
          </a:xfrm>
          <a:prstGeom prst="rect">
            <a:avLst/>
          </a:prstGeom>
        </p:spPr>
        <p:txBody>
          <a:bodyPr vert="horz" wrap="square" lIns="0" tIns="12700" rIns="0" bIns="0" rtlCol="0">
            <a:spAutoFit/>
          </a:bodyPr>
          <a:lstStyle/>
          <a:p>
            <a:pPr marL="12700">
              <a:lnSpc>
                <a:spcPct val="100000"/>
              </a:lnSpc>
              <a:spcBef>
                <a:spcPts val="100"/>
              </a:spcBef>
            </a:pPr>
            <a:r>
              <a:rPr lang="en-GB" sz="1200" b="1" dirty="0">
                <a:latin typeface="Calibri "/>
              </a:rPr>
              <a:t>Pharmaceuticals &amp; Drugs</a:t>
            </a:r>
          </a:p>
        </p:txBody>
      </p:sp>
      <p:pic>
        <p:nvPicPr>
          <p:cNvPr id="25" name="Picture 24">
            <a:extLst>
              <a:ext uri="{FF2B5EF4-FFF2-40B4-BE49-F238E27FC236}">
                <a16:creationId xmlns:a16="http://schemas.microsoft.com/office/drawing/2014/main" id="{F4841ACD-4316-A316-1756-38004B865F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04126" y="17284"/>
            <a:ext cx="1295705" cy="879830"/>
          </a:xfrm>
          <a:prstGeom prst="rect">
            <a:avLst/>
          </a:prstGeom>
        </p:spPr>
      </p:pic>
      <p:cxnSp>
        <p:nvCxnSpPr>
          <p:cNvPr id="26" name="Straight Connector 25">
            <a:extLst>
              <a:ext uri="{FF2B5EF4-FFF2-40B4-BE49-F238E27FC236}">
                <a16:creationId xmlns:a16="http://schemas.microsoft.com/office/drawing/2014/main" id="{2EC1B64E-A382-53EA-DDF6-7A66825B643B}"/>
              </a:ext>
            </a:extLst>
          </p:cNvPr>
          <p:cNvCxnSpPr>
            <a:cxnSpLocks/>
          </p:cNvCxnSpPr>
          <p:nvPr/>
        </p:nvCxnSpPr>
        <p:spPr>
          <a:xfrm>
            <a:off x="0" y="8859394"/>
            <a:ext cx="6858000" cy="0"/>
          </a:xfrm>
          <a:prstGeom prst="line">
            <a:avLst/>
          </a:prstGeom>
          <a:ln w="41275">
            <a:solidFill>
              <a:srgbClr val="E46C0A"/>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D5B7093-0995-73CA-2FDB-D7619B8220AD}"/>
              </a:ext>
            </a:extLst>
          </p:cNvPr>
          <p:cNvSpPr txBox="1"/>
          <p:nvPr/>
        </p:nvSpPr>
        <p:spPr>
          <a:xfrm>
            <a:off x="6553200" y="8810228"/>
            <a:ext cx="667055" cy="369332"/>
          </a:xfrm>
          <a:prstGeom prst="rect">
            <a:avLst/>
          </a:prstGeom>
          <a:noFill/>
        </p:spPr>
        <p:txBody>
          <a:bodyPr wrap="square" rtlCol="0">
            <a:spAutoFit/>
          </a:bodyPr>
          <a:lstStyle/>
          <a:p>
            <a:r>
              <a:rPr lang="en-US" b="1" dirty="0">
                <a:solidFill>
                  <a:srgbClr val="E46C0A"/>
                </a:solidFill>
              </a:rPr>
              <a:t>1</a:t>
            </a:r>
            <a:endParaRPr lang="en-GB" b="1" dirty="0">
              <a:solidFill>
                <a:srgbClr val="E46C0A"/>
              </a:solidFill>
            </a:endParaRPr>
          </a:p>
        </p:txBody>
      </p:sp>
      <p:cxnSp>
        <p:nvCxnSpPr>
          <p:cNvPr id="28" name="Straight Connector 27">
            <a:extLst>
              <a:ext uri="{FF2B5EF4-FFF2-40B4-BE49-F238E27FC236}">
                <a16:creationId xmlns:a16="http://schemas.microsoft.com/office/drawing/2014/main" id="{833B8024-FF4D-B151-151B-F411E4758A52}"/>
              </a:ext>
            </a:extLst>
          </p:cNvPr>
          <p:cNvCxnSpPr>
            <a:cxnSpLocks/>
          </p:cNvCxnSpPr>
          <p:nvPr/>
        </p:nvCxnSpPr>
        <p:spPr>
          <a:xfrm flipV="1">
            <a:off x="0" y="933199"/>
            <a:ext cx="6858000" cy="37713"/>
          </a:xfrm>
          <a:prstGeom prst="line">
            <a:avLst/>
          </a:prstGeom>
          <a:ln>
            <a:solidFill>
              <a:srgbClr val="E46C0A"/>
            </a:solidFill>
          </a:ln>
        </p:spPr>
        <p:style>
          <a:lnRef idx="1">
            <a:schemeClr val="accent1"/>
          </a:lnRef>
          <a:fillRef idx="0">
            <a:schemeClr val="accent1"/>
          </a:fillRef>
          <a:effectRef idx="0">
            <a:schemeClr val="accent1"/>
          </a:effectRef>
          <a:fontRef idx="minor">
            <a:schemeClr val="tx1"/>
          </a:fontRef>
        </p:style>
      </p:cxnSp>
      <p:sp>
        <p:nvSpPr>
          <p:cNvPr id="30" name="object 6">
            <a:extLst>
              <a:ext uri="{FF2B5EF4-FFF2-40B4-BE49-F238E27FC236}">
                <a16:creationId xmlns:a16="http://schemas.microsoft.com/office/drawing/2014/main" id="{FBA321B6-B2FE-E855-B04F-49AEC0DAB1D4}"/>
              </a:ext>
            </a:extLst>
          </p:cNvPr>
          <p:cNvSpPr/>
          <p:nvPr/>
        </p:nvSpPr>
        <p:spPr>
          <a:xfrm>
            <a:off x="88496" y="1069131"/>
            <a:ext cx="6642734" cy="339090"/>
          </a:xfrm>
          <a:custGeom>
            <a:avLst/>
            <a:gdLst/>
            <a:ahLst/>
            <a:cxnLst/>
            <a:rect l="l" t="t" r="r" b="b"/>
            <a:pathLst>
              <a:path w="6642734" h="339090">
                <a:moveTo>
                  <a:pt x="6642734" y="0"/>
                </a:moveTo>
                <a:lnTo>
                  <a:pt x="0" y="0"/>
                </a:lnTo>
                <a:lnTo>
                  <a:pt x="0" y="338556"/>
                </a:lnTo>
                <a:lnTo>
                  <a:pt x="6642734" y="338556"/>
                </a:lnTo>
                <a:lnTo>
                  <a:pt x="6642734" y="0"/>
                </a:lnTo>
                <a:close/>
              </a:path>
            </a:pathLst>
          </a:custGeom>
          <a:solidFill>
            <a:srgbClr val="E46C0A"/>
          </a:solidFill>
        </p:spPr>
        <p:txBody>
          <a:bodyPr wrap="square" lIns="0" tIns="0" rIns="0" bIns="0" rtlCol="0"/>
          <a:lstStyle/>
          <a:p>
            <a:pPr algn="ctr"/>
            <a:endParaRPr dirty="0"/>
          </a:p>
        </p:txBody>
      </p:sp>
      <p:sp>
        <p:nvSpPr>
          <p:cNvPr id="34" name="TextBox 33">
            <a:extLst>
              <a:ext uri="{FF2B5EF4-FFF2-40B4-BE49-F238E27FC236}">
                <a16:creationId xmlns:a16="http://schemas.microsoft.com/office/drawing/2014/main" id="{293212E2-B06B-3A95-B734-EAAF0309FF93}"/>
              </a:ext>
            </a:extLst>
          </p:cNvPr>
          <p:cNvSpPr txBox="1"/>
          <p:nvPr/>
        </p:nvSpPr>
        <p:spPr>
          <a:xfrm>
            <a:off x="1187780" y="1051546"/>
            <a:ext cx="4648199" cy="369332"/>
          </a:xfrm>
          <a:prstGeom prst="rect">
            <a:avLst/>
          </a:prstGeom>
          <a:noFill/>
        </p:spPr>
        <p:txBody>
          <a:bodyPr wrap="square">
            <a:spAutoFit/>
          </a:bodyPr>
          <a:lstStyle/>
          <a:p>
            <a:r>
              <a:rPr lang="en-IN" b="1" dirty="0">
                <a:solidFill>
                  <a:schemeClr val="bg1"/>
                </a:solidFill>
                <a:latin typeface="+mj-lt"/>
              </a:rPr>
              <a:t>DISCOUNTED CASHFLOW VALUATION - WAC</a:t>
            </a:r>
            <a:r>
              <a:rPr lang="az-Cyrl-AZ" b="1" dirty="0">
                <a:solidFill>
                  <a:schemeClr val="bg1"/>
                </a:solidFill>
                <a:latin typeface="+mj-lt"/>
              </a:rPr>
              <a:t>С</a:t>
            </a:r>
            <a:endParaRPr lang="en-US" b="1" dirty="0">
              <a:solidFill>
                <a:schemeClr val="bg1"/>
              </a:solidFill>
              <a:latin typeface="+mj-lt"/>
            </a:endParaRPr>
          </a:p>
        </p:txBody>
      </p:sp>
      <p:pic>
        <p:nvPicPr>
          <p:cNvPr id="7" name="Picture 6">
            <a:extLst>
              <a:ext uri="{FF2B5EF4-FFF2-40B4-BE49-F238E27FC236}">
                <a16:creationId xmlns:a16="http://schemas.microsoft.com/office/drawing/2014/main" id="{963380ED-AC1D-2C6C-B19D-38F60AAE87EB}"/>
              </a:ext>
            </a:extLst>
          </p:cNvPr>
          <p:cNvPicPr>
            <a:picLocks noChangeAspect="1"/>
          </p:cNvPicPr>
          <p:nvPr/>
        </p:nvPicPr>
        <p:blipFill>
          <a:blip r:embed="rId3"/>
          <a:stretch>
            <a:fillRect/>
          </a:stretch>
        </p:blipFill>
        <p:spPr>
          <a:xfrm>
            <a:off x="88496" y="1514087"/>
            <a:ext cx="6642734" cy="1611218"/>
          </a:xfrm>
          <a:prstGeom prst="rect">
            <a:avLst/>
          </a:prstGeom>
        </p:spPr>
      </p:pic>
      <p:pic>
        <p:nvPicPr>
          <p:cNvPr id="9" name="Picture 8">
            <a:extLst>
              <a:ext uri="{FF2B5EF4-FFF2-40B4-BE49-F238E27FC236}">
                <a16:creationId xmlns:a16="http://schemas.microsoft.com/office/drawing/2014/main" id="{7360FC81-B786-EAD5-4041-3A653E10683B}"/>
              </a:ext>
            </a:extLst>
          </p:cNvPr>
          <p:cNvPicPr>
            <a:picLocks noChangeAspect="1"/>
          </p:cNvPicPr>
          <p:nvPr/>
        </p:nvPicPr>
        <p:blipFill>
          <a:blip r:embed="rId4"/>
          <a:stretch>
            <a:fillRect/>
          </a:stretch>
        </p:blipFill>
        <p:spPr>
          <a:xfrm>
            <a:off x="156659" y="3505200"/>
            <a:ext cx="6551125" cy="1282587"/>
          </a:xfrm>
          <a:prstGeom prst="rect">
            <a:avLst/>
          </a:prstGeom>
        </p:spPr>
      </p:pic>
      <p:pic>
        <p:nvPicPr>
          <p:cNvPr id="11" name="Picture 10">
            <a:extLst>
              <a:ext uri="{FF2B5EF4-FFF2-40B4-BE49-F238E27FC236}">
                <a16:creationId xmlns:a16="http://schemas.microsoft.com/office/drawing/2014/main" id="{F421C5F6-6291-9F78-B57F-E7190EA628EB}"/>
              </a:ext>
            </a:extLst>
          </p:cNvPr>
          <p:cNvPicPr>
            <a:picLocks noChangeAspect="1"/>
          </p:cNvPicPr>
          <p:nvPr/>
        </p:nvPicPr>
        <p:blipFill>
          <a:blip r:embed="rId5"/>
          <a:stretch>
            <a:fillRect/>
          </a:stretch>
        </p:blipFill>
        <p:spPr>
          <a:xfrm>
            <a:off x="156659" y="5277842"/>
            <a:ext cx="6551125" cy="2418358"/>
          </a:xfrm>
          <a:prstGeom prst="rect">
            <a:avLst/>
          </a:prstGeom>
        </p:spPr>
      </p:pic>
    </p:spTree>
    <p:extLst>
      <p:ext uri="{BB962C8B-B14F-4D97-AF65-F5344CB8AC3E}">
        <p14:creationId xmlns:p14="http://schemas.microsoft.com/office/powerpoint/2010/main" val="28086445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object 2">
            <a:extLst>
              <a:ext uri="{FF2B5EF4-FFF2-40B4-BE49-F238E27FC236}">
                <a16:creationId xmlns:a16="http://schemas.microsoft.com/office/drawing/2014/main" id="{226E4901-7222-B50F-26B2-2AE2D16CBD98}"/>
              </a:ext>
            </a:extLst>
          </p:cNvPr>
          <p:cNvGrpSpPr/>
          <p:nvPr/>
        </p:nvGrpSpPr>
        <p:grpSpPr>
          <a:xfrm>
            <a:off x="0" y="0"/>
            <a:ext cx="6858000" cy="1625597"/>
            <a:chOff x="0" y="0"/>
            <a:chExt cx="6858000" cy="1625597"/>
          </a:xfrm>
        </p:grpSpPr>
        <p:sp>
          <p:nvSpPr>
            <p:cNvPr id="10" name="object 3">
              <a:extLst>
                <a:ext uri="{FF2B5EF4-FFF2-40B4-BE49-F238E27FC236}">
                  <a16:creationId xmlns:a16="http://schemas.microsoft.com/office/drawing/2014/main" id="{407AF1BE-01E6-3520-F7AC-34FCD02318DD}"/>
                </a:ext>
              </a:extLst>
            </p:cNvPr>
            <p:cNvSpPr/>
            <p:nvPr/>
          </p:nvSpPr>
          <p:spPr>
            <a:xfrm>
              <a:off x="0" y="0"/>
              <a:ext cx="6858000" cy="949325"/>
            </a:xfrm>
            <a:custGeom>
              <a:avLst/>
              <a:gdLst/>
              <a:ahLst/>
              <a:cxnLst/>
              <a:rect l="l" t="t" r="r" b="b"/>
              <a:pathLst>
                <a:path w="6858000" h="949325">
                  <a:moveTo>
                    <a:pt x="0" y="949198"/>
                  </a:moveTo>
                  <a:lnTo>
                    <a:pt x="6858000" y="949198"/>
                  </a:lnTo>
                  <a:lnTo>
                    <a:pt x="6858000" y="0"/>
                  </a:lnTo>
                  <a:lnTo>
                    <a:pt x="0" y="0"/>
                  </a:lnTo>
                  <a:lnTo>
                    <a:pt x="0" y="949198"/>
                  </a:lnTo>
                  <a:close/>
                </a:path>
              </a:pathLst>
            </a:custGeom>
            <a:solidFill>
              <a:schemeClr val="accent6">
                <a:lumMod val="75000"/>
              </a:schemeClr>
            </a:solidFill>
          </p:spPr>
          <p:txBody>
            <a:bodyPr wrap="square" lIns="0" tIns="0" rIns="0" bIns="0" rtlCol="0"/>
            <a:lstStyle/>
            <a:p>
              <a:endParaRPr/>
            </a:p>
          </p:txBody>
        </p:sp>
        <p:sp>
          <p:nvSpPr>
            <p:cNvPr id="11" name="object 4">
              <a:extLst>
                <a:ext uri="{FF2B5EF4-FFF2-40B4-BE49-F238E27FC236}">
                  <a16:creationId xmlns:a16="http://schemas.microsoft.com/office/drawing/2014/main" id="{31AF992B-724F-8E04-25D2-ACAA39ABC01D}"/>
                </a:ext>
              </a:extLst>
            </p:cNvPr>
            <p:cNvSpPr/>
            <p:nvPr/>
          </p:nvSpPr>
          <p:spPr>
            <a:xfrm>
              <a:off x="0" y="316227"/>
              <a:ext cx="4147185" cy="1309370"/>
            </a:xfrm>
            <a:custGeom>
              <a:avLst/>
              <a:gdLst/>
              <a:ahLst/>
              <a:cxnLst/>
              <a:rect l="l" t="t" r="r" b="b"/>
              <a:pathLst>
                <a:path w="4147185" h="1309370">
                  <a:moveTo>
                    <a:pt x="3492246" y="0"/>
                  </a:moveTo>
                  <a:lnTo>
                    <a:pt x="0" y="0"/>
                  </a:lnTo>
                  <a:lnTo>
                    <a:pt x="0" y="1309243"/>
                  </a:lnTo>
                  <a:lnTo>
                    <a:pt x="3492246" y="1309243"/>
                  </a:lnTo>
                  <a:lnTo>
                    <a:pt x="4146804" y="654685"/>
                  </a:lnTo>
                  <a:lnTo>
                    <a:pt x="3492246" y="0"/>
                  </a:lnTo>
                  <a:close/>
                </a:path>
              </a:pathLst>
            </a:custGeom>
            <a:solidFill>
              <a:srgbClr val="FFFFFF"/>
            </a:solidFill>
          </p:spPr>
          <p:txBody>
            <a:bodyPr wrap="square" lIns="0" tIns="0" rIns="0" bIns="0" rtlCol="0"/>
            <a:lstStyle/>
            <a:p>
              <a:endParaRPr dirty="0"/>
            </a:p>
          </p:txBody>
        </p:sp>
      </p:grpSp>
      <p:sp>
        <p:nvSpPr>
          <p:cNvPr id="12" name="object 5">
            <a:extLst>
              <a:ext uri="{FF2B5EF4-FFF2-40B4-BE49-F238E27FC236}">
                <a16:creationId xmlns:a16="http://schemas.microsoft.com/office/drawing/2014/main" id="{B2CE87BF-D364-C925-4DA7-CC71A2FF43BF}"/>
              </a:ext>
            </a:extLst>
          </p:cNvPr>
          <p:cNvSpPr txBox="1"/>
          <p:nvPr/>
        </p:nvSpPr>
        <p:spPr>
          <a:xfrm>
            <a:off x="147015" y="4952"/>
            <a:ext cx="2081530" cy="247015"/>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FFFFFF"/>
                </a:solidFill>
                <a:latin typeface="Calibri"/>
                <a:cs typeface="Calibri"/>
              </a:rPr>
              <a:t>EQUITY</a:t>
            </a:r>
            <a:r>
              <a:rPr sz="1450" b="1" spc="-65" dirty="0">
                <a:solidFill>
                  <a:srgbClr val="FFFFFF"/>
                </a:solidFill>
                <a:latin typeface="Calibri"/>
                <a:cs typeface="Calibri"/>
              </a:rPr>
              <a:t> </a:t>
            </a:r>
            <a:r>
              <a:rPr sz="1450" b="1" dirty="0">
                <a:solidFill>
                  <a:srgbClr val="FFFFFF"/>
                </a:solidFill>
                <a:latin typeface="Calibri"/>
                <a:cs typeface="Calibri"/>
              </a:rPr>
              <a:t>RESEARCH</a:t>
            </a:r>
            <a:r>
              <a:rPr sz="1450" b="1" spc="-60" dirty="0">
                <a:solidFill>
                  <a:srgbClr val="FFFFFF"/>
                </a:solidFill>
                <a:latin typeface="Calibri"/>
                <a:cs typeface="Calibri"/>
              </a:rPr>
              <a:t> </a:t>
            </a:r>
            <a:r>
              <a:rPr sz="1450" b="1" spc="-10" dirty="0">
                <a:solidFill>
                  <a:srgbClr val="FFFFFF"/>
                </a:solidFill>
                <a:latin typeface="Calibri"/>
                <a:cs typeface="Calibri"/>
              </a:rPr>
              <a:t>REPORT</a:t>
            </a:r>
            <a:endParaRPr sz="1450">
              <a:latin typeface="Calibri"/>
              <a:cs typeface="Calibri"/>
            </a:endParaRPr>
          </a:p>
        </p:txBody>
      </p:sp>
      <p:sp>
        <p:nvSpPr>
          <p:cNvPr id="13" name="object 40">
            <a:extLst>
              <a:ext uri="{FF2B5EF4-FFF2-40B4-BE49-F238E27FC236}">
                <a16:creationId xmlns:a16="http://schemas.microsoft.com/office/drawing/2014/main" id="{70F19DCF-DEDA-D14B-51D8-F17892C3F037}"/>
              </a:ext>
            </a:extLst>
          </p:cNvPr>
          <p:cNvSpPr txBox="1">
            <a:spLocks noGrp="1"/>
          </p:cNvSpPr>
          <p:nvPr>
            <p:ph type="title"/>
          </p:nvPr>
        </p:nvSpPr>
        <p:spPr>
          <a:xfrm>
            <a:off x="141831" y="295140"/>
            <a:ext cx="4269104" cy="289182"/>
          </a:xfrm>
          <a:prstGeom prst="rect">
            <a:avLst/>
          </a:prstGeom>
        </p:spPr>
        <p:txBody>
          <a:bodyPr vert="horz" wrap="square" lIns="0" tIns="12065" rIns="0" bIns="0" rtlCol="0">
            <a:spAutoFit/>
          </a:bodyPr>
          <a:lstStyle/>
          <a:p>
            <a:pPr marL="12700">
              <a:lnSpc>
                <a:spcPct val="100000"/>
              </a:lnSpc>
              <a:spcBef>
                <a:spcPts val="95"/>
              </a:spcBef>
            </a:pPr>
            <a:r>
              <a:rPr lang="en-GB" sz="1800" dirty="0"/>
              <a:t>Sun Pharmaceutical Industries Ltd.</a:t>
            </a:r>
            <a:endParaRPr sz="1800" dirty="0"/>
          </a:p>
        </p:txBody>
      </p:sp>
      <p:sp>
        <p:nvSpPr>
          <p:cNvPr id="14" name="object 41">
            <a:extLst>
              <a:ext uri="{FF2B5EF4-FFF2-40B4-BE49-F238E27FC236}">
                <a16:creationId xmlns:a16="http://schemas.microsoft.com/office/drawing/2014/main" id="{A16238AD-F2DB-9CCC-0172-C7BBCF6D34B3}"/>
              </a:ext>
            </a:extLst>
          </p:cNvPr>
          <p:cNvSpPr txBox="1"/>
          <p:nvPr/>
        </p:nvSpPr>
        <p:spPr>
          <a:xfrm>
            <a:off x="141831" y="526972"/>
            <a:ext cx="3210968"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D2841"/>
                </a:solidFill>
                <a:latin typeface="Calibri"/>
                <a:cs typeface="Calibri"/>
              </a:rPr>
              <a:t>NSE</a:t>
            </a:r>
            <a:r>
              <a:rPr sz="1200" b="1" spc="-20" dirty="0">
                <a:solidFill>
                  <a:srgbClr val="0D2841"/>
                </a:solidFill>
                <a:latin typeface="Calibri"/>
                <a:cs typeface="Calibri"/>
              </a:rPr>
              <a:t> </a:t>
            </a:r>
            <a:r>
              <a:rPr sz="1200" b="1" dirty="0">
                <a:solidFill>
                  <a:srgbClr val="0D2841"/>
                </a:solidFill>
                <a:latin typeface="Calibri"/>
                <a:cs typeface="Calibri"/>
              </a:rPr>
              <a:t>:</a:t>
            </a:r>
            <a:r>
              <a:rPr lang="en-US" sz="1200" b="1" spc="-15" dirty="0">
                <a:solidFill>
                  <a:srgbClr val="0D2841"/>
                </a:solidFill>
                <a:latin typeface="Calibri"/>
                <a:cs typeface="Calibri"/>
              </a:rPr>
              <a:t> </a:t>
            </a:r>
            <a:r>
              <a:rPr lang="en-GB" sz="1200" b="1" dirty="0">
                <a:latin typeface="+mj-lt"/>
              </a:rPr>
              <a:t>SUNPHARMA</a:t>
            </a:r>
            <a:r>
              <a:rPr sz="1200" b="1" spc="10" dirty="0">
                <a:solidFill>
                  <a:srgbClr val="0D2841"/>
                </a:solidFill>
                <a:latin typeface="Calibri"/>
                <a:cs typeface="Calibri"/>
              </a:rPr>
              <a:t> </a:t>
            </a:r>
            <a:r>
              <a:rPr sz="1200" b="1" dirty="0">
                <a:solidFill>
                  <a:srgbClr val="0D2841"/>
                </a:solidFill>
                <a:latin typeface="Calibri"/>
                <a:cs typeface="Calibri"/>
              </a:rPr>
              <a:t>|</a:t>
            </a:r>
            <a:r>
              <a:rPr sz="1200" b="1" spc="-15" dirty="0">
                <a:solidFill>
                  <a:srgbClr val="0D2841"/>
                </a:solidFill>
                <a:latin typeface="Calibri"/>
                <a:cs typeface="Calibri"/>
              </a:rPr>
              <a:t> </a:t>
            </a:r>
            <a:r>
              <a:rPr sz="1200" b="1" dirty="0">
                <a:solidFill>
                  <a:srgbClr val="0D2841"/>
                </a:solidFill>
                <a:latin typeface="Calibri"/>
                <a:cs typeface="Calibri"/>
              </a:rPr>
              <a:t>BSE Code:</a:t>
            </a:r>
            <a:r>
              <a:rPr sz="1200" b="1" spc="-5" dirty="0">
                <a:solidFill>
                  <a:srgbClr val="0D2841"/>
                </a:solidFill>
                <a:latin typeface="Calibri"/>
                <a:cs typeface="Calibri"/>
              </a:rPr>
              <a:t> </a:t>
            </a:r>
            <a:r>
              <a:rPr lang="en-GB" sz="1200" b="1" dirty="0">
                <a:latin typeface="+mj-lt"/>
              </a:rPr>
              <a:t>524715</a:t>
            </a:r>
          </a:p>
        </p:txBody>
      </p:sp>
      <p:sp>
        <p:nvSpPr>
          <p:cNvPr id="15" name="object 41">
            <a:extLst>
              <a:ext uri="{FF2B5EF4-FFF2-40B4-BE49-F238E27FC236}">
                <a16:creationId xmlns:a16="http://schemas.microsoft.com/office/drawing/2014/main" id="{5967FC09-9276-C2FD-3B44-54CB61233EB3}"/>
              </a:ext>
            </a:extLst>
          </p:cNvPr>
          <p:cNvSpPr txBox="1"/>
          <p:nvPr/>
        </p:nvSpPr>
        <p:spPr>
          <a:xfrm>
            <a:off x="141831" y="686543"/>
            <a:ext cx="3210968" cy="197490"/>
          </a:xfrm>
          <a:prstGeom prst="rect">
            <a:avLst/>
          </a:prstGeom>
        </p:spPr>
        <p:txBody>
          <a:bodyPr vert="horz" wrap="square" lIns="0" tIns="12700" rIns="0" bIns="0" rtlCol="0">
            <a:spAutoFit/>
          </a:bodyPr>
          <a:lstStyle/>
          <a:p>
            <a:pPr marL="12700">
              <a:lnSpc>
                <a:spcPct val="100000"/>
              </a:lnSpc>
              <a:spcBef>
                <a:spcPts val="100"/>
              </a:spcBef>
            </a:pPr>
            <a:r>
              <a:rPr lang="en-GB" sz="1200" b="1" dirty="0">
                <a:latin typeface="Calibri "/>
              </a:rPr>
              <a:t>Pharmaceuticals &amp; Drugs</a:t>
            </a:r>
          </a:p>
        </p:txBody>
      </p:sp>
      <p:pic>
        <p:nvPicPr>
          <p:cNvPr id="16" name="Picture 15">
            <a:extLst>
              <a:ext uri="{FF2B5EF4-FFF2-40B4-BE49-F238E27FC236}">
                <a16:creationId xmlns:a16="http://schemas.microsoft.com/office/drawing/2014/main" id="{38B38E33-B322-D9F1-26FB-C50BB60422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04126" y="17284"/>
            <a:ext cx="1295705" cy="879830"/>
          </a:xfrm>
          <a:prstGeom prst="rect">
            <a:avLst/>
          </a:prstGeom>
        </p:spPr>
      </p:pic>
      <p:cxnSp>
        <p:nvCxnSpPr>
          <p:cNvPr id="17" name="Straight Connector 16">
            <a:extLst>
              <a:ext uri="{FF2B5EF4-FFF2-40B4-BE49-F238E27FC236}">
                <a16:creationId xmlns:a16="http://schemas.microsoft.com/office/drawing/2014/main" id="{1B7E833D-63CE-B55C-60E6-BB76ABA7B20E}"/>
              </a:ext>
            </a:extLst>
          </p:cNvPr>
          <p:cNvCxnSpPr>
            <a:cxnSpLocks/>
          </p:cNvCxnSpPr>
          <p:nvPr/>
        </p:nvCxnSpPr>
        <p:spPr>
          <a:xfrm>
            <a:off x="0" y="8859394"/>
            <a:ext cx="6858000" cy="0"/>
          </a:xfrm>
          <a:prstGeom prst="line">
            <a:avLst/>
          </a:prstGeom>
          <a:ln w="41275">
            <a:solidFill>
              <a:srgbClr val="E46C0A"/>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0401B7F4-948E-CFEE-8A64-734B8722F76A}"/>
              </a:ext>
            </a:extLst>
          </p:cNvPr>
          <p:cNvSpPr txBox="1"/>
          <p:nvPr/>
        </p:nvSpPr>
        <p:spPr>
          <a:xfrm>
            <a:off x="6553200" y="8810228"/>
            <a:ext cx="667055" cy="369332"/>
          </a:xfrm>
          <a:prstGeom prst="rect">
            <a:avLst/>
          </a:prstGeom>
          <a:noFill/>
        </p:spPr>
        <p:txBody>
          <a:bodyPr wrap="square" rtlCol="0">
            <a:spAutoFit/>
          </a:bodyPr>
          <a:lstStyle/>
          <a:p>
            <a:r>
              <a:rPr lang="en-US" b="1" dirty="0">
                <a:solidFill>
                  <a:srgbClr val="E46C0A"/>
                </a:solidFill>
              </a:rPr>
              <a:t>1</a:t>
            </a:r>
            <a:endParaRPr lang="en-GB" b="1" dirty="0">
              <a:solidFill>
                <a:srgbClr val="E46C0A"/>
              </a:solidFill>
            </a:endParaRPr>
          </a:p>
        </p:txBody>
      </p:sp>
      <p:cxnSp>
        <p:nvCxnSpPr>
          <p:cNvPr id="19" name="Straight Connector 18">
            <a:extLst>
              <a:ext uri="{FF2B5EF4-FFF2-40B4-BE49-F238E27FC236}">
                <a16:creationId xmlns:a16="http://schemas.microsoft.com/office/drawing/2014/main" id="{E48C8AD6-69C5-CD23-F79D-F5B61B2F8BE6}"/>
              </a:ext>
            </a:extLst>
          </p:cNvPr>
          <p:cNvCxnSpPr>
            <a:cxnSpLocks/>
          </p:cNvCxnSpPr>
          <p:nvPr/>
        </p:nvCxnSpPr>
        <p:spPr>
          <a:xfrm flipV="1">
            <a:off x="0" y="933199"/>
            <a:ext cx="6858000" cy="37713"/>
          </a:xfrm>
          <a:prstGeom prst="line">
            <a:avLst/>
          </a:prstGeom>
          <a:ln>
            <a:solidFill>
              <a:srgbClr val="E46C0A"/>
            </a:solidFill>
          </a:ln>
        </p:spPr>
        <p:style>
          <a:lnRef idx="1">
            <a:schemeClr val="accent1"/>
          </a:lnRef>
          <a:fillRef idx="0">
            <a:schemeClr val="accent1"/>
          </a:fillRef>
          <a:effectRef idx="0">
            <a:schemeClr val="accent1"/>
          </a:effectRef>
          <a:fontRef idx="minor">
            <a:schemeClr val="tx1"/>
          </a:fontRef>
        </p:style>
      </p:cxnSp>
      <p:sp>
        <p:nvSpPr>
          <p:cNvPr id="20" name="object 2">
            <a:extLst>
              <a:ext uri="{FF2B5EF4-FFF2-40B4-BE49-F238E27FC236}">
                <a16:creationId xmlns:a16="http://schemas.microsoft.com/office/drawing/2014/main" id="{9E468DD7-7A98-450F-0026-763B367DBBA9}"/>
              </a:ext>
            </a:extLst>
          </p:cNvPr>
          <p:cNvSpPr/>
          <p:nvPr/>
        </p:nvSpPr>
        <p:spPr>
          <a:xfrm>
            <a:off x="218031" y="1051546"/>
            <a:ext cx="6487569" cy="429865"/>
          </a:xfrm>
          <a:custGeom>
            <a:avLst/>
            <a:gdLst/>
            <a:ahLst/>
            <a:cxnLst/>
            <a:rect l="l" t="t" r="r" b="b"/>
            <a:pathLst>
              <a:path w="7296784" h="401319">
                <a:moveTo>
                  <a:pt x="7296359" y="400830"/>
                </a:moveTo>
                <a:lnTo>
                  <a:pt x="0" y="400830"/>
                </a:lnTo>
                <a:lnTo>
                  <a:pt x="0" y="0"/>
                </a:lnTo>
                <a:lnTo>
                  <a:pt x="7296359" y="0"/>
                </a:lnTo>
                <a:lnTo>
                  <a:pt x="7296359" y="400830"/>
                </a:lnTo>
                <a:close/>
              </a:path>
            </a:pathLst>
          </a:custGeom>
          <a:solidFill>
            <a:srgbClr val="E46C0A"/>
          </a:solidFill>
        </p:spPr>
        <p:txBody>
          <a:bodyPr wrap="square" lIns="0" tIns="0" rIns="0" bIns="0" rtlCol="0"/>
          <a:lstStyle/>
          <a:p>
            <a:endParaRPr/>
          </a:p>
        </p:txBody>
      </p:sp>
      <p:pic>
        <p:nvPicPr>
          <p:cNvPr id="33" name="Picture 32">
            <a:extLst>
              <a:ext uri="{FF2B5EF4-FFF2-40B4-BE49-F238E27FC236}">
                <a16:creationId xmlns:a16="http://schemas.microsoft.com/office/drawing/2014/main" id="{890238D2-172D-52D1-E4EC-7C97C56936F3}"/>
              </a:ext>
            </a:extLst>
          </p:cNvPr>
          <p:cNvPicPr>
            <a:picLocks noChangeAspect="1"/>
          </p:cNvPicPr>
          <p:nvPr/>
        </p:nvPicPr>
        <p:blipFill>
          <a:blip r:embed="rId3"/>
          <a:srcRect t="2241"/>
          <a:stretch>
            <a:fillRect/>
          </a:stretch>
        </p:blipFill>
        <p:spPr>
          <a:xfrm>
            <a:off x="141831" y="6077512"/>
            <a:ext cx="6639969" cy="1999688"/>
          </a:xfrm>
          <a:prstGeom prst="rect">
            <a:avLst/>
          </a:prstGeom>
        </p:spPr>
      </p:pic>
      <p:pic>
        <p:nvPicPr>
          <p:cNvPr id="35" name="Picture 34">
            <a:extLst>
              <a:ext uri="{FF2B5EF4-FFF2-40B4-BE49-F238E27FC236}">
                <a16:creationId xmlns:a16="http://schemas.microsoft.com/office/drawing/2014/main" id="{2FAC1B10-4E81-DAE7-B2F5-FCC93450A79C}"/>
              </a:ext>
            </a:extLst>
          </p:cNvPr>
          <p:cNvPicPr>
            <a:picLocks noChangeAspect="1"/>
          </p:cNvPicPr>
          <p:nvPr/>
        </p:nvPicPr>
        <p:blipFill>
          <a:blip r:embed="rId4"/>
          <a:srcRect t="1153" b="1"/>
          <a:stretch>
            <a:fillRect/>
          </a:stretch>
        </p:blipFill>
        <p:spPr>
          <a:xfrm>
            <a:off x="141831" y="2023412"/>
            <a:ext cx="6639969" cy="1615634"/>
          </a:xfrm>
          <a:prstGeom prst="rect">
            <a:avLst/>
          </a:prstGeom>
        </p:spPr>
      </p:pic>
      <p:pic>
        <p:nvPicPr>
          <p:cNvPr id="37" name="Picture 36">
            <a:extLst>
              <a:ext uri="{FF2B5EF4-FFF2-40B4-BE49-F238E27FC236}">
                <a16:creationId xmlns:a16="http://schemas.microsoft.com/office/drawing/2014/main" id="{4803B2C5-CA20-45C4-09E1-54164DB8098B}"/>
              </a:ext>
            </a:extLst>
          </p:cNvPr>
          <p:cNvPicPr>
            <a:picLocks noChangeAspect="1"/>
          </p:cNvPicPr>
          <p:nvPr/>
        </p:nvPicPr>
        <p:blipFill>
          <a:blip r:embed="rId5"/>
          <a:stretch>
            <a:fillRect/>
          </a:stretch>
        </p:blipFill>
        <p:spPr>
          <a:xfrm>
            <a:off x="117906" y="1762186"/>
            <a:ext cx="6687820" cy="229437"/>
          </a:xfrm>
          <a:prstGeom prst="rect">
            <a:avLst/>
          </a:prstGeom>
        </p:spPr>
      </p:pic>
      <p:pic>
        <p:nvPicPr>
          <p:cNvPr id="39" name="Picture 38">
            <a:extLst>
              <a:ext uri="{FF2B5EF4-FFF2-40B4-BE49-F238E27FC236}">
                <a16:creationId xmlns:a16="http://schemas.microsoft.com/office/drawing/2014/main" id="{6D5A3058-31E9-4E87-43B5-89FBD24C82D1}"/>
              </a:ext>
            </a:extLst>
          </p:cNvPr>
          <p:cNvPicPr>
            <a:picLocks noChangeAspect="1"/>
          </p:cNvPicPr>
          <p:nvPr/>
        </p:nvPicPr>
        <p:blipFill>
          <a:blip r:embed="rId6"/>
          <a:srcRect b="-588"/>
          <a:stretch>
            <a:fillRect/>
          </a:stretch>
        </p:blipFill>
        <p:spPr>
          <a:xfrm>
            <a:off x="141831" y="3782324"/>
            <a:ext cx="6639969" cy="2097904"/>
          </a:xfrm>
          <a:prstGeom prst="rect">
            <a:avLst/>
          </a:prstGeom>
        </p:spPr>
      </p:pic>
    </p:spTree>
    <p:extLst>
      <p:ext uri="{BB962C8B-B14F-4D97-AF65-F5344CB8AC3E}">
        <p14:creationId xmlns:p14="http://schemas.microsoft.com/office/powerpoint/2010/main" val="22457994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2">
            <a:extLst>
              <a:ext uri="{FF2B5EF4-FFF2-40B4-BE49-F238E27FC236}">
                <a16:creationId xmlns:a16="http://schemas.microsoft.com/office/drawing/2014/main" id="{D7E7FC8F-2D11-C6E2-AC9A-04C40866BE88}"/>
              </a:ext>
            </a:extLst>
          </p:cNvPr>
          <p:cNvGrpSpPr/>
          <p:nvPr/>
        </p:nvGrpSpPr>
        <p:grpSpPr>
          <a:xfrm>
            <a:off x="0" y="0"/>
            <a:ext cx="6858000" cy="1625597"/>
            <a:chOff x="0" y="0"/>
            <a:chExt cx="6858000" cy="1625597"/>
          </a:xfrm>
        </p:grpSpPr>
        <p:sp>
          <p:nvSpPr>
            <p:cNvPr id="5" name="object 3">
              <a:extLst>
                <a:ext uri="{FF2B5EF4-FFF2-40B4-BE49-F238E27FC236}">
                  <a16:creationId xmlns:a16="http://schemas.microsoft.com/office/drawing/2014/main" id="{A868FAA9-7811-243F-0D30-4C96DAEE2F4D}"/>
                </a:ext>
              </a:extLst>
            </p:cNvPr>
            <p:cNvSpPr/>
            <p:nvPr/>
          </p:nvSpPr>
          <p:spPr>
            <a:xfrm>
              <a:off x="0" y="0"/>
              <a:ext cx="6858000" cy="949325"/>
            </a:xfrm>
            <a:custGeom>
              <a:avLst/>
              <a:gdLst/>
              <a:ahLst/>
              <a:cxnLst/>
              <a:rect l="l" t="t" r="r" b="b"/>
              <a:pathLst>
                <a:path w="6858000" h="949325">
                  <a:moveTo>
                    <a:pt x="0" y="949198"/>
                  </a:moveTo>
                  <a:lnTo>
                    <a:pt x="6858000" y="949198"/>
                  </a:lnTo>
                  <a:lnTo>
                    <a:pt x="6858000" y="0"/>
                  </a:lnTo>
                  <a:lnTo>
                    <a:pt x="0" y="0"/>
                  </a:lnTo>
                  <a:lnTo>
                    <a:pt x="0" y="949198"/>
                  </a:lnTo>
                  <a:close/>
                </a:path>
              </a:pathLst>
            </a:custGeom>
            <a:solidFill>
              <a:schemeClr val="accent6">
                <a:lumMod val="75000"/>
              </a:schemeClr>
            </a:solidFill>
          </p:spPr>
          <p:txBody>
            <a:bodyPr wrap="square" lIns="0" tIns="0" rIns="0" bIns="0" rtlCol="0"/>
            <a:lstStyle/>
            <a:p>
              <a:endParaRPr/>
            </a:p>
          </p:txBody>
        </p:sp>
        <p:sp>
          <p:nvSpPr>
            <p:cNvPr id="6" name="object 4">
              <a:extLst>
                <a:ext uri="{FF2B5EF4-FFF2-40B4-BE49-F238E27FC236}">
                  <a16:creationId xmlns:a16="http://schemas.microsoft.com/office/drawing/2014/main" id="{A3E7A2F5-9F0F-4A65-B320-E88FF3BCDABB}"/>
                </a:ext>
              </a:extLst>
            </p:cNvPr>
            <p:cNvSpPr/>
            <p:nvPr/>
          </p:nvSpPr>
          <p:spPr>
            <a:xfrm>
              <a:off x="0" y="316227"/>
              <a:ext cx="4147185" cy="1309370"/>
            </a:xfrm>
            <a:custGeom>
              <a:avLst/>
              <a:gdLst/>
              <a:ahLst/>
              <a:cxnLst/>
              <a:rect l="l" t="t" r="r" b="b"/>
              <a:pathLst>
                <a:path w="4147185" h="1309370">
                  <a:moveTo>
                    <a:pt x="3492246" y="0"/>
                  </a:moveTo>
                  <a:lnTo>
                    <a:pt x="0" y="0"/>
                  </a:lnTo>
                  <a:lnTo>
                    <a:pt x="0" y="1309243"/>
                  </a:lnTo>
                  <a:lnTo>
                    <a:pt x="3492246" y="1309243"/>
                  </a:lnTo>
                  <a:lnTo>
                    <a:pt x="4146804" y="654685"/>
                  </a:lnTo>
                  <a:lnTo>
                    <a:pt x="3492246" y="0"/>
                  </a:lnTo>
                  <a:close/>
                </a:path>
              </a:pathLst>
            </a:custGeom>
            <a:solidFill>
              <a:srgbClr val="FFFFFF"/>
            </a:solidFill>
          </p:spPr>
          <p:txBody>
            <a:bodyPr wrap="square" lIns="0" tIns="0" rIns="0" bIns="0" rtlCol="0"/>
            <a:lstStyle/>
            <a:p>
              <a:endParaRPr dirty="0"/>
            </a:p>
          </p:txBody>
        </p:sp>
      </p:grpSp>
      <p:sp>
        <p:nvSpPr>
          <p:cNvPr id="7" name="object 5">
            <a:extLst>
              <a:ext uri="{FF2B5EF4-FFF2-40B4-BE49-F238E27FC236}">
                <a16:creationId xmlns:a16="http://schemas.microsoft.com/office/drawing/2014/main" id="{41C6860D-A49A-26C6-0C5D-130E44888717}"/>
              </a:ext>
            </a:extLst>
          </p:cNvPr>
          <p:cNvSpPr txBox="1"/>
          <p:nvPr/>
        </p:nvSpPr>
        <p:spPr>
          <a:xfrm>
            <a:off x="147015" y="4952"/>
            <a:ext cx="2081530" cy="247015"/>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FFFFFF"/>
                </a:solidFill>
                <a:latin typeface="Calibri"/>
                <a:cs typeface="Calibri"/>
              </a:rPr>
              <a:t>EQUITY</a:t>
            </a:r>
            <a:r>
              <a:rPr sz="1450" b="1" spc="-65" dirty="0">
                <a:solidFill>
                  <a:srgbClr val="FFFFFF"/>
                </a:solidFill>
                <a:latin typeface="Calibri"/>
                <a:cs typeface="Calibri"/>
              </a:rPr>
              <a:t> </a:t>
            </a:r>
            <a:r>
              <a:rPr sz="1450" b="1" dirty="0">
                <a:solidFill>
                  <a:srgbClr val="FFFFFF"/>
                </a:solidFill>
                <a:latin typeface="Calibri"/>
                <a:cs typeface="Calibri"/>
              </a:rPr>
              <a:t>RESEARCH</a:t>
            </a:r>
            <a:r>
              <a:rPr sz="1450" b="1" spc="-60" dirty="0">
                <a:solidFill>
                  <a:srgbClr val="FFFFFF"/>
                </a:solidFill>
                <a:latin typeface="Calibri"/>
                <a:cs typeface="Calibri"/>
              </a:rPr>
              <a:t> </a:t>
            </a:r>
            <a:r>
              <a:rPr sz="1450" b="1" spc="-10" dirty="0">
                <a:solidFill>
                  <a:srgbClr val="FFFFFF"/>
                </a:solidFill>
                <a:latin typeface="Calibri"/>
                <a:cs typeface="Calibri"/>
              </a:rPr>
              <a:t>REPORT</a:t>
            </a:r>
            <a:endParaRPr sz="1450">
              <a:latin typeface="Calibri"/>
              <a:cs typeface="Calibri"/>
            </a:endParaRPr>
          </a:p>
        </p:txBody>
      </p:sp>
      <p:sp>
        <p:nvSpPr>
          <p:cNvPr id="8" name="object 40">
            <a:extLst>
              <a:ext uri="{FF2B5EF4-FFF2-40B4-BE49-F238E27FC236}">
                <a16:creationId xmlns:a16="http://schemas.microsoft.com/office/drawing/2014/main" id="{9553796B-0272-765C-0E93-F97FEE23C325}"/>
              </a:ext>
            </a:extLst>
          </p:cNvPr>
          <p:cNvSpPr txBox="1">
            <a:spLocks noGrp="1"/>
          </p:cNvSpPr>
          <p:nvPr>
            <p:ph type="title"/>
          </p:nvPr>
        </p:nvSpPr>
        <p:spPr>
          <a:xfrm>
            <a:off x="141831" y="295140"/>
            <a:ext cx="4269104" cy="289182"/>
          </a:xfrm>
          <a:prstGeom prst="rect">
            <a:avLst/>
          </a:prstGeom>
        </p:spPr>
        <p:txBody>
          <a:bodyPr vert="horz" wrap="square" lIns="0" tIns="12065" rIns="0" bIns="0" rtlCol="0">
            <a:spAutoFit/>
          </a:bodyPr>
          <a:lstStyle/>
          <a:p>
            <a:pPr marL="12700">
              <a:lnSpc>
                <a:spcPct val="100000"/>
              </a:lnSpc>
              <a:spcBef>
                <a:spcPts val="95"/>
              </a:spcBef>
            </a:pPr>
            <a:r>
              <a:rPr lang="en-GB" sz="1800" dirty="0"/>
              <a:t>Sun Pharmaceutical Industries Ltd.</a:t>
            </a:r>
            <a:endParaRPr sz="1800" dirty="0"/>
          </a:p>
        </p:txBody>
      </p:sp>
      <p:sp>
        <p:nvSpPr>
          <p:cNvPr id="9" name="object 41">
            <a:extLst>
              <a:ext uri="{FF2B5EF4-FFF2-40B4-BE49-F238E27FC236}">
                <a16:creationId xmlns:a16="http://schemas.microsoft.com/office/drawing/2014/main" id="{C85FC63D-4EF7-6460-07A3-9FF158ED707B}"/>
              </a:ext>
            </a:extLst>
          </p:cNvPr>
          <p:cNvSpPr txBox="1"/>
          <p:nvPr/>
        </p:nvSpPr>
        <p:spPr>
          <a:xfrm>
            <a:off x="141831" y="526972"/>
            <a:ext cx="3210968"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D2841"/>
                </a:solidFill>
                <a:latin typeface="Calibri"/>
                <a:cs typeface="Calibri"/>
              </a:rPr>
              <a:t>NSE</a:t>
            </a:r>
            <a:r>
              <a:rPr sz="1200" b="1" spc="-20" dirty="0">
                <a:solidFill>
                  <a:srgbClr val="0D2841"/>
                </a:solidFill>
                <a:latin typeface="Calibri"/>
                <a:cs typeface="Calibri"/>
              </a:rPr>
              <a:t> </a:t>
            </a:r>
            <a:r>
              <a:rPr sz="1200" b="1" dirty="0">
                <a:solidFill>
                  <a:srgbClr val="0D2841"/>
                </a:solidFill>
                <a:latin typeface="Calibri"/>
                <a:cs typeface="Calibri"/>
              </a:rPr>
              <a:t>:</a:t>
            </a:r>
            <a:r>
              <a:rPr lang="en-US" sz="1200" b="1" spc="-15" dirty="0">
                <a:solidFill>
                  <a:srgbClr val="0D2841"/>
                </a:solidFill>
                <a:latin typeface="Calibri"/>
                <a:cs typeface="Calibri"/>
              </a:rPr>
              <a:t> </a:t>
            </a:r>
            <a:r>
              <a:rPr lang="en-GB" sz="1200" b="1" dirty="0">
                <a:latin typeface="+mj-lt"/>
              </a:rPr>
              <a:t>SUNPHARMA</a:t>
            </a:r>
            <a:r>
              <a:rPr sz="1200" b="1" spc="10" dirty="0">
                <a:solidFill>
                  <a:srgbClr val="0D2841"/>
                </a:solidFill>
                <a:latin typeface="Calibri"/>
                <a:cs typeface="Calibri"/>
              </a:rPr>
              <a:t> </a:t>
            </a:r>
            <a:r>
              <a:rPr sz="1200" b="1" dirty="0">
                <a:solidFill>
                  <a:srgbClr val="0D2841"/>
                </a:solidFill>
                <a:latin typeface="Calibri"/>
                <a:cs typeface="Calibri"/>
              </a:rPr>
              <a:t>|</a:t>
            </a:r>
            <a:r>
              <a:rPr sz="1200" b="1" spc="-15" dirty="0">
                <a:solidFill>
                  <a:srgbClr val="0D2841"/>
                </a:solidFill>
                <a:latin typeface="Calibri"/>
                <a:cs typeface="Calibri"/>
              </a:rPr>
              <a:t> </a:t>
            </a:r>
            <a:r>
              <a:rPr sz="1200" b="1" dirty="0">
                <a:solidFill>
                  <a:srgbClr val="0D2841"/>
                </a:solidFill>
                <a:latin typeface="Calibri"/>
                <a:cs typeface="Calibri"/>
              </a:rPr>
              <a:t>BSE Code:</a:t>
            </a:r>
            <a:r>
              <a:rPr sz="1200" b="1" spc="-5" dirty="0">
                <a:solidFill>
                  <a:srgbClr val="0D2841"/>
                </a:solidFill>
                <a:latin typeface="Calibri"/>
                <a:cs typeface="Calibri"/>
              </a:rPr>
              <a:t> </a:t>
            </a:r>
            <a:r>
              <a:rPr lang="en-GB" sz="1200" b="1" dirty="0">
                <a:latin typeface="+mj-lt"/>
              </a:rPr>
              <a:t>524715</a:t>
            </a:r>
          </a:p>
        </p:txBody>
      </p:sp>
      <p:sp>
        <p:nvSpPr>
          <p:cNvPr id="10" name="object 41">
            <a:extLst>
              <a:ext uri="{FF2B5EF4-FFF2-40B4-BE49-F238E27FC236}">
                <a16:creationId xmlns:a16="http://schemas.microsoft.com/office/drawing/2014/main" id="{304399B1-A2E7-513A-8E1A-A8A6820355CC}"/>
              </a:ext>
            </a:extLst>
          </p:cNvPr>
          <p:cNvSpPr txBox="1"/>
          <p:nvPr/>
        </p:nvSpPr>
        <p:spPr>
          <a:xfrm>
            <a:off x="141831" y="686543"/>
            <a:ext cx="3210968" cy="197490"/>
          </a:xfrm>
          <a:prstGeom prst="rect">
            <a:avLst/>
          </a:prstGeom>
        </p:spPr>
        <p:txBody>
          <a:bodyPr vert="horz" wrap="square" lIns="0" tIns="12700" rIns="0" bIns="0" rtlCol="0">
            <a:spAutoFit/>
          </a:bodyPr>
          <a:lstStyle/>
          <a:p>
            <a:pPr marL="12700">
              <a:lnSpc>
                <a:spcPct val="100000"/>
              </a:lnSpc>
              <a:spcBef>
                <a:spcPts val="100"/>
              </a:spcBef>
            </a:pPr>
            <a:r>
              <a:rPr lang="en-GB" sz="1200" b="1" dirty="0">
                <a:latin typeface="Calibri "/>
              </a:rPr>
              <a:t>Pharmaceuticals &amp; Drugs</a:t>
            </a:r>
          </a:p>
        </p:txBody>
      </p:sp>
      <p:pic>
        <p:nvPicPr>
          <p:cNvPr id="11" name="Picture 10">
            <a:extLst>
              <a:ext uri="{FF2B5EF4-FFF2-40B4-BE49-F238E27FC236}">
                <a16:creationId xmlns:a16="http://schemas.microsoft.com/office/drawing/2014/main" id="{85E84235-A71D-64C4-5F0F-A9B6E7FDCE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04126" y="17284"/>
            <a:ext cx="1295705" cy="879830"/>
          </a:xfrm>
          <a:prstGeom prst="rect">
            <a:avLst/>
          </a:prstGeom>
        </p:spPr>
      </p:pic>
      <p:cxnSp>
        <p:nvCxnSpPr>
          <p:cNvPr id="12" name="Straight Connector 11">
            <a:extLst>
              <a:ext uri="{FF2B5EF4-FFF2-40B4-BE49-F238E27FC236}">
                <a16:creationId xmlns:a16="http://schemas.microsoft.com/office/drawing/2014/main" id="{32780487-81DB-0387-9280-C6EF347FCA36}"/>
              </a:ext>
            </a:extLst>
          </p:cNvPr>
          <p:cNvCxnSpPr>
            <a:cxnSpLocks/>
          </p:cNvCxnSpPr>
          <p:nvPr/>
        </p:nvCxnSpPr>
        <p:spPr>
          <a:xfrm>
            <a:off x="0" y="8859394"/>
            <a:ext cx="6858000" cy="0"/>
          </a:xfrm>
          <a:prstGeom prst="line">
            <a:avLst/>
          </a:prstGeom>
          <a:ln w="41275">
            <a:solidFill>
              <a:srgbClr val="E46C0A"/>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101BA06-D6FC-211D-B3D6-AF4243D858CD}"/>
              </a:ext>
            </a:extLst>
          </p:cNvPr>
          <p:cNvSpPr txBox="1"/>
          <p:nvPr/>
        </p:nvSpPr>
        <p:spPr>
          <a:xfrm>
            <a:off x="6553200" y="8810228"/>
            <a:ext cx="667055" cy="369332"/>
          </a:xfrm>
          <a:prstGeom prst="rect">
            <a:avLst/>
          </a:prstGeom>
          <a:noFill/>
        </p:spPr>
        <p:txBody>
          <a:bodyPr wrap="square" rtlCol="0">
            <a:spAutoFit/>
          </a:bodyPr>
          <a:lstStyle/>
          <a:p>
            <a:r>
              <a:rPr lang="en-US" b="1" dirty="0">
                <a:solidFill>
                  <a:srgbClr val="E46C0A"/>
                </a:solidFill>
              </a:rPr>
              <a:t>1</a:t>
            </a:r>
            <a:endParaRPr lang="en-GB" b="1" dirty="0">
              <a:solidFill>
                <a:srgbClr val="E46C0A"/>
              </a:solidFill>
            </a:endParaRPr>
          </a:p>
        </p:txBody>
      </p:sp>
      <p:cxnSp>
        <p:nvCxnSpPr>
          <p:cNvPr id="14" name="Straight Connector 13">
            <a:extLst>
              <a:ext uri="{FF2B5EF4-FFF2-40B4-BE49-F238E27FC236}">
                <a16:creationId xmlns:a16="http://schemas.microsoft.com/office/drawing/2014/main" id="{5F74B711-C695-CC35-DEEF-AA207FB0938A}"/>
              </a:ext>
            </a:extLst>
          </p:cNvPr>
          <p:cNvCxnSpPr>
            <a:cxnSpLocks/>
          </p:cNvCxnSpPr>
          <p:nvPr/>
        </p:nvCxnSpPr>
        <p:spPr>
          <a:xfrm flipV="1">
            <a:off x="0" y="933199"/>
            <a:ext cx="6858000" cy="37713"/>
          </a:xfrm>
          <a:prstGeom prst="line">
            <a:avLst/>
          </a:prstGeom>
          <a:ln>
            <a:solidFill>
              <a:srgbClr val="E46C0A"/>
            </a:solidFill>
          </a:ln>
        </p:spPr>
        <p:style>
          <a:lnRef idx="1">
            <a:schemeClr val="accent1"/>
          </a:lnRef>
          <a:fillRef idx="0">
            <a:schemeClr val="accent1"/>
          </a:fillRef>
          <a:effectRef idx="0">
            <a:schemeClr val="accent1"/>
          </a:effectRef>
          <a:fontRef idx="minor">
            <a:schemeClr val="tx1"/>
          </a:fontRef>
        </p:style>
      </p:cxnSp>
      <p:sp>
        <p:nvSpPr>
          <p:cNvPr id="15" name="object 2">
            <a:extLst>
              <a:ext uri="{FF2B5EF4-FFF2-40B4-BE49-F238E27FC236}">
                <a16:creationId xmlns:a16="http://schemas.microsoft.com/office/drawing/2014/main" id="{EE5ECE4B-8E94-DCF2-A982-73B318F67E5B}"/>
              </a:ext>
            </a:extLst>
          </p:cNvPr>
          <p:cNvSpPr/>
          <p:nvPr/>
        </p:nvSpPr>
        <p:spPr>
          <a:xfrm>
            <a:off x="141831" y="1051546"/>
            <a:ext cx="6487569" cy="429865"/>
          </a:xfrm>
          <a:custGeom>
            <a:avLst/>
            <a:gdLst/>
            <a:ahLst/>
            <a:cxnLst/>
            <a:rect l="l" t="t" r="r" b="b"/>
            <a:pathLst>
              <a:path w="7296784" h="401319">
                <a:moveTo>
                  <a:pt x="7296359" y="400830"/>
                </a:moveTo>
                <a:lnTo>
                  <a:pt x="0" y="400830"/>
                </a:lnTo>
                <a:lnTo>
                  <a:pt x="0" y="0"/>
                </a:lnTo>
                <a:lnTo>
                  <a:pt x="7296359" y="0"/>
                </a:lnTo>
                <a:lnTo>
                  <a:pt x="7296359" y="400830"/>
                </a:lnTo>
                <a:close/>
              </a:path>
            </a:pathLst>
          </a:custGeom>
          <a:solidFill>
            <a:srgbClr val="E46C0A"/>
          </a:solidFill>
        </p:spPr>
        <p:txBody>
          <a:bodyPr wrap="square" lIns="0" tIns="0" rIns="0" bIns="0" rtlCol="0"/>
          <a:lstStyle/>
          <a:p>
            <a:endParaRPr/>
          </a:p>
        </p:txBody>
      </p:sp>
      <p:pic>
        <p:nvPicPr>
          <p:cNvPr id="24" name="Picture 23">
            <a:extLst>
              <a:ext uri="{FF2B5EF4-FFF2-40B4-BE49-F238E27FC236}">
                <a16:creationId xmlns:a16="http://schemas.microsoft.com/office/drawing/2014/main" id="{0D3BB8F5-8BB4-3E92-2D6D-484B1450BAEF}"/>
              </a:ext>
            </a:extLst>
          </p:cNvPr>
          <p:cNvPicPr>
            <a:picLocks noChangeAspect="1"/>
          </p:cNvPicPr>
          <p:nvPr/>
        </p:nvPicPr>
        <p:blipFill>
          <a:blip r:embed="rId3"/>
          <a:stretch>
            <a:fillRect/>
          </a:stretch>
        </p:blipFill>
        <p:spPr>
          <a:xfrm>
            <a:off x="141831" y="1752601"/>
            <a:ext cx="6563769" cy="1777492"/>
          </a:xfrm>
          <a:prstGeom prst="rect">
            <a:avLst/>
          </a:prstGeom>
        </p:spPr>
      </p:pic>
      <p:pic>
        <p:nvPicPr>
          <p:cNvPr id="26" name="Picture 25">
            <a:extLst>
              <a:ext uri="{FF2B5EF4-FFF2-40B4-BE49-F238E27FC236}">
                <a16:creationId xmlns:a16="http://schemas.microsoft.com/office/drawing/2014/main" id="{044AF0BD-ED1E-C100-F548-C540E733C2B7}"/>
              </a:ext>
            </a:extLst>
          </p:cNvPr>
          <p:cNvPicPr>
            <a:picLocks noChangeAspect="1"/>
          </p:cNvPicPr>
          <p:nvPr/>
        </p:nvPicPr>
        <p:blipFill>
          <a:blip r:embed="rId4"/>
          <a:stretch>
            <a:fillRect/>
          </a:stretch>
        </p:blipFill>
        <p:spPr>
          <a:xfrm>
            <a:off x="152400" y="3776543"/>
            <a:ext cx="6563769" cy="2159094"/>
          </a:xfrm>
          <a:prstGeom prst="rect">
            <a:avLst/>
          </a:prstGeom>
        </p:spPr>
      </p:pic>
      <p:pic>
        <p:nvPicPr>
          <p:cNvPr id="28" name="Picture 27">
            <a:extLst>
              <a:ext uri="{FF2B5EF4-FFF2-40B4-BE49-F238E27FC236}">
                <a16:creationId xmlns:a16="http://schemas.microsoft.com/office/drawing/2014/main" id="{FB65A62E-D420-B802-C126-2B0EA8346DC0}"/>
              </a:ext>
            </a:extLst>
          </p:cNvPr>
          <p:cNvPicPr>
            <a:picLocks noChangeAspect="1"/>
          </p:cNvPicPr>
          <p:nvPr/>
        </p:nvPicPr>
        <p:blipFill>
          <a:blip r:embed="rId5"/>
          <a:stretch>
            <a:fillRect/>
          </a:stretch>
        </p:blipFill>
        <p:spPr>
          <a:xfrm>
            <a:off x="141831" y="6214944"/>
            <a:ext cx="6574338" cy="1603176"/>
          </a:xfrm>
          <a:prstGeom prst="rect">
            <a:avLst/>
          </a:prstGeom>
        </p:spPr>
      </p:pic>
    </p:spTree>
    <p:extLst>
      <p:ext uri="{BB962C8B-B14F-4D97-AF65-F5344CB8AC3E}">
        <p14:creationId xmlns:p14="http://schemas.microsoft.com/office/powerpoint/2010/main" val="40710959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efa4170-0d19-0005-0004-bc88714345d2}" enabled="1" method="Standard" siteId="{fc748222-60a9-4e23-bb8e-6c1b97dc6d8f}" contentBits="0" removed="0"/>
</clbl:labelList>
</file>

<file path=docProps/app.xml><?xml version="1.0" encoding="utf-8"?>
<Properties xmlns="http://schemas.openxmlformats.org/officeDocument/2006/extended-properties" xmlns:vt="http://schemas.openxmlformats.org/officeDocument/2006/docPropsVTypes">
  <Template/>
  <TotalTime>3445</TotalTime>
  <Words>6080</Words>
  <Application>Microsoft Office PowerPoint</Application>
  <PresentationFormat>On-screen Show (4:3)</PresentationFormat>
  <Paragraphs>571</Paragraphs>
  <Slides>25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Aptos</vt:lpstr>
      <vt:lpstr>Arial</vt:lpstr>
      <vt:lpstr>Calibri</vt:lpstr>
      <vt:lpstr>Calibri </vt:lpstr>
      <vt:lpstr>Cambria Math</vt:lpstr>
      <vt:lpstr>Trebuchet MS</vt:lpstr>
      <vt:lpstr>Office Theme</vt:lpstr>
      <vt:lpstr>Sun Pharmaceutical Industries Ltd.</vt:lpstr>
      <vt:lpstr>Sun Pharmaceutical Industries Ltd.</vt:lpstr>
      <vt:lpstr>Sun Pharmaceutical Industries Ltd.</vt:lpstr>
      <vt:lpstr>Sun Pharmaceutical Industries Ltd.</vt:lpstr>
      <vt:lpstr>Sun Pharmaceutical Industries Ltd.</vt:lpstr>
      <vt:lpstr>Sun Pharmaceutical Industries Ltd.</vt:lpstr>
      <vt:lpstr>Sun Pharmaceutical Industries Ltd.</vt:lpstr>
      <vt:lpstr>Sun Pharmaceutical Industries Ltd.</vt:lpstr>
      <vt:lpstr>Sun Pharmaceutical Industries Ltd.</vt:lpstr>
      <vt:lpstr>Sun Pharmaceutical Industries Ltd.</vt:lpstr>
      <vt:lpstr>Sun Pharmaceutical Industries Ltd.</vt:lpstr>
      <vt:lpstr>Sun Pharmaceutical Industries Ltd.</vt:lpstr>
      <vt:lpstr>Sun Pharmaceutical Industries Ltd.</vt:lpstr>
      <vt:lpstr>Sun Pharmaceutical Industries Ltd.</vt:lpstr>
      <vt:lpstr>Sun Pharmaceutical Industries Ltd.</vt:lpstr>
      <vt:lpstr>Sun Pharmaceutical Industries Ltd.</vt:lpstr>
      <vt:lpstr>Sun Pharmaceutical Industries Ltd.</vt:lpstr>
      <vt:lpstr>Sun Pharmaceutical Industries Ltd.</vt:lpstr>
      <vt:lpstr>Sun Pharmaceutical Industries Ltd.</vt:lpstr>
      <vt:lpstr>Sun Pharmaceutical Industries Ltd.</vt:lpstr>
      <vt:lpstr>Sun Pharmaceutical Industries Ltd.</vt:lpstr>
      <vt:lpstr>Sun Pharmaceutical Industries Ltd.</vt:lpstr>
      <vt:lpstr>Sun Pharmaceutical Industries Ltd.</vt:lpstr>
      <vt:lpstr>Sun Pharmaceutical Industries Ltd.</vt:lpstr>
      <vt:lpstr>Sun Pharmaceutical Industries Ltd.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ayush garg</cp:lastModifiedBy>
  <cp:revision>21</cp:revision>
  <dcterms:created xsi:type="dcterms:W3CDTF">2026-03-31T09:49:59Z</dcterms:created>
  <dcterms:modified xsi:type="dcterms:W3CDTF">2026-08-04T09:54:20Z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2024-11-06T00:00:00Z</vt:filetime>
  </property>
  <property fmtid="{D5CDD505-2E9C-101B-9397-08002B2CF9AE}" pid="3" name="Creator">
    <vt:lpwstr>Microsoft® PowerPoint® 2019</vt:lpwstr>
  </property>
  <property fmtid="{D5CDD505-2E9C-101B-9397-08002B2CF9AE}" pid="4" name="LastSaved">
    <vt:filetime>2026-03-31T00:00:00Z</vt:filetime>
  </property>
  <property fmtid="{D5CDD505-2E9C-101B-9397-08002B2CF9AE}" pid="5" name="Producer">
    <vt:lpwstr>Microsoft® PowerPoint® 2019</vt:lpwstr>
  </property>
</Properties>
</file>