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7348" y="85343"/>
            <a:ext cx="502920" cy="5044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523"/>
            <a:ext cx="12191999" cy="68549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1870" y="2417445"/>
            <a:ext cx="6128258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91995" y="3672585"/>
            <a:ext cx="8208009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7347" y="85343"/>
            <a:ext cx="502920" cy="5044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7348" y="85343"/>
            <a:ext cx="502920" cy="5044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523"/>
            <a:ext cx="12191999" cy="685495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6763"/>
            <a:ext cx="12192000" cy="6841490"/>
          </a:xfrm>
          <a:custGeom>
            <a:avLst/>
            <a:gdLst/>
            <a:ahLst/>
            <a:cxnLst/>
            <a:rect l="l" t="t" r="r" b="b"/>
            <a:pathLst>
              <a:path w="12192000" h="6841490">
                <a:moveTo>
                  <a:pt x="12192000" y="0"/>
                </a:moveTo>
                <a:lnTo>
                  <a:pt x="0" y="0"/>
                </a:lnTo>
                <a:lnTo>
                  <a:pt x="0" y="6841236"/>
                </a:lnTo>
                <a:lnTo>
                  <a:pt x="12192000" y="68412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57"/>
            <a:ext cx="10894187" cy="6126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93942" y="2890139"/>
            <a:ext cx="5467350" cy="144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1.jp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jp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Relationship Id="rId23" Type="http://schemas.openxmlformats.org/officeDocument/2006/relationships/image" Target="../media/image72.png"/><Relationship Id="rId24" Type="http://schemas.openxmlformats.org/officeDocument/2006/relationships/image" Target="../media/image73.png"/><Relationship Id="rId25" Type="http://schemas.openxmlformats.org/officeDocument/2006/relationships/image" Target="../media/image7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83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Relationship Id="rId13" Type="http://schemas.openxmlformats.org/officeDocument/2006/relationships/image" Target="../media/image126.png"/><Relationship Id="rId14" Type="http://schemas.openxmlformats.org/officeDocument/2006/relationships/image" Target="../media/image127.png"/><Relationship Id="rId15" Type="http://schemas.openxmlformats.org/officeDocument/2006/relationships/image" Target="../media/image107.png"/><Relationship Id="rId16" Type="http://schemas.openxmlformats.org/officeDocument/2006/relationships/image" Target="../media/image128.png"/><Relationship Id="rId17" Type="http://schemas.openxmlformats.org/officeDocument/2006/relationships/image" Target="../media/image129.png"/><Relationship Id="rId18" Type="http://schemas.openxmlformats.org/officeDocument/2006/relationships/image" Target="../media/image130.png"/><Relationship Id="rId19" Type="http://schemas.openxmlformats.org/officeDocument/2006/relationships/image" Target="../media/image131.png"/><Relationship Id="rId20" Type="http://schemas.openxmlformats.org/officeDocument/2006/relationships/image" Target="../media/image132.png"/><Relationship Id="rId21" Type="http://schemas.openxmlformats.org/officeDocument/2006/relationships/image" Target="../media/image133.png"/><Relationship Id="rId22" Type="http://schemas.openxmlformats.org/officeDocument/2006/relationships/image" Target="../media/image14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jp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40.xml"/><Relationship Id="rId11" Type="http://schemas.openxmlformats.org/officeDocument/2006/relationships/slide" Target="slide43.xml"/><Relationship Id="rId12" Type="http://schemas.openxmlformats.org/officeDocument/2006/relationships/slide" Target="slide4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artoo.com/Accion-Case-Study.pdf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55.png"/><Relationship Id="rId4" Type="http://schemas.openxmlformats.org/officeDocument/2006/relationships/image" Target="../media/image15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jpg"/><Relationship Id="rId6" Type="http://schemas.openxmlformats.org/officeDocument/2006/relationships/hyperlink" Target="https://www.researchgate.net/publication/51034889_The_Subak_in_Diaspora_Balinese_Farmers_and_the_Subak_in_South_Sulawesi" TargetMode="Externa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www.ripublication.com/gjmbs_spl/gjmbsv3n5_12.pdf" TargetMode="External"/><Relationship Id="rId4" Type="http://schemas.openxmlformats.org/officeDocument/2006/relationships/hyperlink" Target="https://artoo.com/Accion-Case-Study.pdf" TargetMode="External"/><Relationship Id="rId5" Type="http://schemas.openxmlformats.org/officeDocument/2006/relationships/hyperlink" Target="https://content.centerforfinancialinclusion.org/wp-content/uploads/sites/2/2018/08/IIF-CFI_FI-Fintech_Partnerships_Final.pdf" TargetMode="External"/><Relationship Id="rId6" Type="http://schemas.openxmlformats.org/officeDocument/2006/relationships/hyperlink" Target="https://bali.com/bali/travel-guide/culture/subak-bali-water-irrigation-system/" TargetMode="External"/><Relationship Id="rId7" Type="http://schemas.openxmlformats.org/officeDocument/2006/relationships/hyperlink" Target="https://www.bps.go.id/" TargetMode="External"/><Relationship Id="rId8" Type="http://schemas.openxmlformats.org/officeDocument/2006/relationships/hyperlink" Target="https://jurnalsetjen.kemendagri.go.id/index.php/bjgs/article/view/121/33" TargetMode="External"/><Relationship Id="rId9" Type="http://schemas.openxmlformats.org/officeDocument/2006/relationships/hyperlink" Target="https://www.waterworld.com/drinking-water/distribution/article/14287229/what-is-the-purpose-of-water-towers" TargetMode="External"/><Relationship Id="rId10" Type="http://schemas.openxmlformats.org/officeDocument/2006/relationships/hyperlink" Target="https://devportalawards.org/nominees/2022/developer-portal-briapi" TargetMode="External"/><Relationship Id="rId11" Type="http://schemas.openxmlformats.org/officeDocument/2006/relationships/hyperlink" Target="https://finca.org/our-work/microfinance#%3A~%3Atext%3DMicrofinance%20refers%20to%20the%20financial%2Csometimes%20called%20microloans%20or%20microcredit" TargetMode="External"/><Relationship Id="rId12" Type="http://schemas.openxmlformats.org/officeDocument/2006/relationships/hyperlink" Target="https://preferredbynature.org/projects/empowering-indonesian-rice-farmers-sustainable-practices-better-livelihoods" TargetMode="External"/><Relationship Id="rId13" Type="http://schemas.openxmlformats.org/officeDocument/2006/relationships/hyperlink" Target="https://amartha.com/en/business/embedded-lending-en/" TargetMode="External"/><Relationship Id="rId14" Type="http://schemas.openxmlformats.org/officeDocument/2006/relationships/hyperlink" Target="https://www.researchgate.net/publication/329915393_KOMIDA_Implementing_Digital_Microfinance_in_Indonesia" TargetMode="External"/><Relationship Id="rId15" Type="http://schemas.openxmlformats.org/officeDocument/2006/relationships/hyperlink" Target="https://pages.stern.nyu.edu/~adamodar/New_Home_Page/datafile/ctryprem.html" TargetMode="External"/><Relationship Id="rId16" Type="http://schemas.openxmlformats.org/officeDocument/2006/relationships/hyperlink" Target="https://pages.stern.nyu.edu/~adamodar/" TargetMode="External"/><Relationship Id="rId17" Type="http://schemas.openxmlformats.org/officeDocument/2006/relationships/hyperlink" Target="https://www.huawei.com/minisite/gci/en/country-profile-id.html" TargetMode="External"/><Relationship Id="rId18" Type="http://schemas.openxmlformats.org/officeDocument/2006/relationships/hyperlink" Target="https://www.adb.org/publications/improving-indonesia-domestic-connectivity" TargetMode="External"/><Relationship Id="rId19" Type="http://schemas.openxmlformats.org/officeDocument/2006/relationships/hyperlink" Target="https://blogs.worldbank.org/eastasiapacific/how-bridge-gap-indonesias-inequality-internet-access" TargetMode="External"/><Relationship Id="rId20" Type="http://schemas.openxmlformats.org/officeDocument/2006/relationships/hyperlink" Target="https://www.adb.org/documents/indonesia-vocational-education-strengthening-project-0" TargetMode="External"/><Relationship Id="rId21" Type="http://schemas.openxmlformats.org/officeDocument/2006/relationships/hyperlink" Target="https://www.adb.org/results/microfinance-indonesia-bringing-banks-community" TargetMode="External"/><Relationship Id="rId22" Type="http://schemas.openxmlformats.org/officeDocument/2006/relationships/hyperlink" Target="https://www.thejakartapost.com/amp/news/2020/11/11/indonesian-internet-users-hit-196-million-still-concentrated-in-java-apjii-survey.html" TargetMode="External"/><Relationship Id="rId23" Type="http://schemas.openxmlformats.org/officeDocument/2006/relationships/hyperlink" Target="https://www.hbs.edu/faculty/Pages/item.aspx?num=44533" TargetMode="External"/><Relationship Id="rId24" Type="http://schemas.openxmlformats.org/officeDocument/2006/relationships/hyperlink" Target="https://www.researchgate.net/publication/328295616_Indonesian_Microfinance_Institutions_MFI_Move_to_Technology-TBOP%27s_Prodigy_Experience" TargetMode="External"/><Relationship Id="rId25" Type="http://schemas.openxmlformats.org/officeDocument/2006/relationships/hyperlink" Target="https://pages.stern.nyu.edu/~adamodar/New_Home_Page/datafile/Betas.html" TargetMode="External"/><Relationship Id="rId26" Type="http://schemas.openxmlformats.org/officeDocument/2006/relationships/hyperlink" Target="https://www.povertyactionlab.org/sites/default/files/review-paper/ifii-whitepaper.pdf" TargetMode="External"/><Relationship Id="rId27" Type="http://schemas.openxmlformats.org/officeDocument/2006/relationships/hyperlink" Target="https://www.statista.com/statistics/1251567/indonesia-female-employees-by-sector/#%3A~%3Atext%3DAs%20of%20August%202022%2C%20around%2Cand%20female%20workers%20in%20Indonesia" TargetMode="External"/><Relationship Id="rId28" Type="http://schemas.openxmlformats.org/officeDocument/2006/relationships/hyperlink" Target="https://assets.kpmg.com/content/dam/kpmg/pdf/2016/07/id-ksa-financial-inclusion-indonesia.pdf" TargetMode="External"/><Relationship Id="rId29" Type="http://schemas.openxmlformats.org/officeDocument/2006/relationships/hyperlink" Target="https://www.elibrary.imf.org/view/journals/002/2021/047/article-A006-en.xml?ArticleTabs=fulltext" TargetMode="External"/><Relationship Id="rId30" Type="http://schemas.openxmlformats.org/officeDocument/2006/relationships/hyperlink" Target="https://pair.australiaindonesiacentre.org/research/connectivity/overview-south-sulawesis-economy/" TargetMode="External"/><Relationship Id="rId31" Type="http://schemas.openxmlformats.org/officeDocument/2006/relationships/hyperlink" Target="https://knoema.com/atlas/Indonesia/South-Sulawesi/GDP" TargetMode="External"/><Relationship Id="rId32" Type="http://schemas.openxmlformats.org/officeDocument/2006/relationships/hyperlink" Target="https://knoema.com/atlas/Indonesia/West-Kalimantan/topics/Economics/National-Accounts/Real-GDP-growth-rate" TargetMode="External"/><Relationship Id="rId33" Type="http://schemas.openxmlformats.org/officeDocument/2006/relationships/hyperlink" Target="https://knoema.com/atlas/Indonesia/South-Sulawesi" TargetMode="External"/><Relationship Id="rId34" Type="http://schemas.openxmlformats.org/officeDocument/2006/relationships/hyperlink" Target="https://www.worlddata.info/asia/indonesia/inflation-rates.php#%3A~%3Atext%3DThe%20inflation%20rate%20for%20consumer%2Cincrease%20was%2081.98%20million%20percent" TargetMode="Externa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binarapps.com/what-is-branchless-banking-what-are-the-benefits/" TargetMode="External"/><Relationship Id="rId4" Type="http://schemas.openxmlformats.org/officeDocument/2006/relationships/hyperlink" Target="https://cn.knoema.com/atlas/%e5%8d%b0%e5%ba%a6%e5%b0%bc%e8%a5%bf%e4%ba%9a/East-Nusa-Tenggara/topics/Demographics/Population/Male-population" TargetMode="External"/><Relationship Id="rId5" Type="http://schemas.openxmlformats.org/officeDocument/2006/relationships/hyperlink" Target="https://www.adb.org/sites/default/files/publication/28666/trade-growth-horizons.pdf" TargetMode="External"/><Relationship Id="rId6" Type="http://schemas.openxmlformats.org/officeDocument/2006/relationships/hyperlink" Target="https://www.aijcrnet.com/journals/Vol_4_No_12_December_2014/5.pdf" TargetMode="External"/><Relationship Id="rId7" Type="http://schemas.openxmlformats.org/officeDocument/2006/relationships/hyperlink" Target="https://www.redalyc.org/journal/947/94768442002/html/" TargetMode="External"/><Relationship Id="rId8" Type="http://schemas.openxmlformats.org/officeDocument/2006/relationships/hyperlink" Target="https://www.mdpi.com/2073-445X/7/4/148" TargetMode="External"/><Relationship Id="rId9" Type="http://schemas.openxmlformats.org/officeDocument/2006/relationships/hyperlink" Target="https://www.nowbali.co.id/balis-subak-system-irrigation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11378183" y="0"/>
              <a:ext cx="814069" cy="855344"/>
            </a:xfrm>
            <a:custGeom>
              <a:avLst/>
              <a:gdLst/>
              <a:ahLst/>
              <a:cxnLst/>
              <a:rect l="l" t="t" r="r" b="b"/>
              <a:pathLst>
                <a:path w="814070" h="855344">
                  <a:moveTo>
                    <a:pt x="813816" y="0"/>
                  </a:moveTo>
                  <a:lnTo>
                    <a:pt x="0" y="0"/>
                  </a:lnTo>
                  <a:lnTo>
                    <a:pt x="0" y="854963"/>
                  </a:lnTo>
                  <a:lnTo>
                    <a:pt x="813816" y="854963"/>
                  </a:lnTo>
                  <a:lnTo>
                    <a:pt x="813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A field of corn growing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57680" y="2233116"/>
            <a:ext cx="5711825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60">
                <a:solidFill>
                  <a:srgbClr val="FFFFFF"/>
                </a:solidFill>
                <a:latin typeface="Arial"/>
                <a:cs typeface="Arial"/>
              </a:rPr>
              <a:t>MICROFINANCE</a:t>
            </a:r>
            <a:endParaRPr sz="6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7680" y="1601800"/>
            <a:ext cx="267589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360" b="1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endParaRPr sz="5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7680" y="2278142"/>
            <a:ext cx="8133715" cy="3193415"/>
          </a:xfrm>
          <a:prstGeom prst="rect">
            <a:avLst/>
          </a:prstGeom>
        </p:spPr>
        <p:txBody>
          <a:bodyPr wrap="square" lIns="0" tIns="434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20"/>
              </a:spcBef>
            </a:pPr>
            <a:r>
              <a:rPr dirty="0" sz="5400" spc="-605" b="1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dirty="0" sz="54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400" spc="-160" b="1">
                <a:solidFill>
                  <a:srgbClr val="FFFFFF"/>
                </a:solidFill>
                <a:latin typeface="Arial"/>
                <a:cs typeface="Arial"/>
              </a:rPr>
              <a:t>COMPETITION</a:t>
            </a:r>
            <a:r>
              <a:rPr dirty="0" sz="5400" spc="-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cap="small" sz="7500" spc="-112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7500" spc="-1125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cap="small" sz="7500" spc="-112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7500" spc="-112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7500">
              <a:latin typeface="Arial"/>
              <a:cs typeface="Arial"/>
            </a:endParaRPr>
          </a:p>
          <a:p>
            <a:pPr marL="104139">
              <a:lnSpc>
                <a:spcPct val="100000"/>
              </a:lnSpc>
              <a:spcBef>
                <a:spcPts val="1065"/>
              </a:spcBef>
            </a:pPr>
            <a:r>
              <a:rPr dirty="0" sz="2400" spc="-35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dirty="0" sz="24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PPNK</a:t>
            </a:r>
            <a:endParaRPr sz="2400">
              <a:latin typeface="Calibri"/>
              <a:cs typeface="Calibri"/>
            </a:endParaRPr>
          </a:p>
          <a:p>
            <a:pPr marL="104139" marR="6750050">
              <a:lnSpc>
                <a:spcPct val="100000"/>
              </a:lnSpc>
              <a:spcBef>
                <a:spcPts val="3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Krish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Gupta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Nikhil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Jain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Prakhar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Singh</a:t>
            </a:r>
            <a:endParaRPr sz="18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Pratiksha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Satapathy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03375" y="559308"/>
            <a:ext cx="3378835" cy="978535"/>
            <a:chOff x="1103375" y="559308"/>
            <a:chExt cx="3378835" cy="9785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236" y="573024"/>
              <a:ext cx="2212848" cy="9509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3375" y="559308"/>
              <a:ext cx="973836" cy="978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71"/>
            <a:ext cx="12192000" cy="6855459"/>
          </a:xfrm>
          <a:custGeom>
            <a:avLst/>
            <a:gdLst/>
            <a:ahLst/>
            <a:cxnLst/>
            <a:rect l="l" t="t" r="r" b="b"/>
            <a:pathLst>
              <a:path w="12192000" h="6855459">
                <a:moveTo>
                  <a:pt x="12192000" y="0"/>
                </a:moveTo>
                <a:lnTo>
                  <a:pt x="0" y="0"/>
                </a:lnTo>
                <a:lnTo>
                  <a:pt x="0" y="6854952"/>
                </a:lnTo>
                <a:lnTo>
                  <a:pt x="12192000" y="68549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50670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FFFFFF"/>
                </a:solidFill>
              </a:rPr>
              <a:t>Overview</a:t>
            </a:r>
            <a:endParaRPr sz="6000"/>
          </a:p>
        </p:txBody>
      </p:sp>
      <p:sp>
        <p:nvSpPr>
          <p:cNvPr id="4" name="object 4"/>
          <p:cNvSpPr/>
          <p:nvPr/>
        </p:nvSpPr>
        <p:spPr>
          <a:xfrm>
            <a:off x="2851404" y="3448811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204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38780" marR="5080" indent="-2926715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glimpse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offerings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UFH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paired</a:t>
            </a:r>
            <a:r>
              <a:rPr dirty="0" sz="2400" spc="-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 i="1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proposed</a:t>
            </a:r>
            <a:r>
              <a:rPr dirty="0" sz="2400" spc="-9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28030" y="5628551"/>
            <a:ext cx="735965" cy="735965"/>
            <a:chOff x="3728030" y="5628551"/>
            <a:chExt cx="735965" cy="735965"/>
          </a:xfrm>
        </p:grpSpPr>
        <p:sp>
          <p:nvSpPr>
            <p:cNvPr id="3" name="object 3"/>
            <p:cNvSpPr/>
            <p:nvPr/>
          </p:nvSpPr>
          <p:spPr>
            <a:xfrm>
              <a:off x="4095876" y="5628551"/>
              <a:ext cx="302895" cy="227965"/>
            </a:xfrm>
            <a:custGeom>
              <a:avLst/>
              <a:gdLst/>
              <a:ahLst/>
              <a:cxnLst/>
              <a:rect l="l" t="t" r="r" b="b"/>
              <a:pathLst>
                <a:path w="302895" h="227964">
                  <a:moveTo>
                    <a:pt x="0" y="0"/>
                  </a:moveTo>
                  <a:lnTo>
                    <a:pt x="0" y="121399"/>
                  </a:lnTo>
                  <a:lnTo>
                    <a:pt x="47794" y="126071"/>
                  </a:lnTo>
                  <a:lnTo>
                    <a:pt x="93163" y="139675"/>
                  </a:lnTo>
                  <a:lnTo>
                    <a:pt x="134928" y="161589"/>
                  </a:lnTo>
                  <a:lnTo>
                    <a:pt x="171915" y="191192"/>
                  </a:lnTo>
                  <a:lnTo>
                    <a:pt x="202946" y="227863"/>
                  </a:lnTo>
                  <a:lnTo>
                    <a:pt x="302768" y="158902"/>
                  </a:lnTo>
                  <a:lnTo>
                    <a:pt x="270747" y="118769"/>
                  </a:lnTo>
                  <a:lnTo>
                    <a:pt x="233902" y="83884"/>
                  </a:lnTo>
                  <a:lnTo>
                    <a:pt x="192880" y="54586"/>
                  </a:lnTo>
                  <a:lnTo>
                    <a:pt x="148330" y="31210"/>
                  </a:lnTo>
                  <a:lnTo>
                    <a:pt x="100900" y="14096"/>
                  </a:lnTo>
                  <a:lnTo>
                    <a:pt x="51241" y="3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8822" y="5787453"/>
              <a:ext cx="162305" cy="1792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28030" y="5628551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4" h="735964">
                  <a:moveTo>
                    <a:pt x="367846" y="0"/>
                  </a:moveTo>
                  <a:lnTo>
                    <a:pt x="323523" y="2679"/>
                  </a:lnTo>
                  <a:lnTo>
                    <a:pt x="278063" y="11086"/>
                  </a:lnTo>
                  <a:lnTo>
                    <a:pt x="234964" y="24750"/>
                  </a:lnTo>
                  <a:lnTo>
                    <a:pt x="194527" y="43286"/>
                  </a:lnTo>
                  <a:lnTo>
                    <a:pt x="157053" y="66312"/>
                  </a:lnTo>
                  <a:lnTo>
                    <a:pt x="122842" y="93443"/>
                  </a:lnTo>
                  <a:lnTo>
                    <a:pt x="92195" y="124296"/>
                  </a:lnTo>
                  <a:lnTo>
                    <a:pt x="65413" y="158487"/>
                  </a:lnTo>
                  <a:lnTo>
                    <a:pt x="42796" y="195631"/>
                  </a:lnTo>
                  <a:lnTo>
                    <a:pt x="24646" y="235346"/>
                  </a:lnTo>
                  <a:lnTo>
                    <a:pt x="11263" y="277246"/>
                  </a:lnTo>
                  <a:lnTo>
                    <a:pt x="2947" y="320950"/>
                  </a:lnTo>
                  <a:lnTo>
                    <a:pt x="0" y="366072"/>
                  </a:lnTo>
                  <a:lnTo>
                    <a:pt x="2721" y="412229"/>
                  </a:lnTo>
                  <a:lnTo>
                    <a:pt x="11132" y="457695"/>
                  </a:lnTo>
                  <a:lnTo>
                    <a:pt x="24796" y="500799"/>
                  </a:lnTo>
                  <a:lnTo>
                    <a:pt x="43330" y="541241"/>
                  </a:lnTo>
                  <a:lnTo>
                    <a:pt x="66351" y="578720"/>
                  </a:lnTo>
                  <a:lnTo>
                    <a:pt x="93477" y="612935"/>
                  </a:lnTo>
                  <a:lnTo>
                    <a:pt x="124324" y="643587"/>
                  </a:lnTo>
                  <a:lnTo>
                    <a:pt x="158511" y="670373"/>
                  </a:lnTo>
                  <a:lnTo>
                    <a:pt x="195652" y="692994"/>
                  </a:lnTo>
                  <a:lnTo>
                    <a:pt x="235367" y="711149"/>
                  </a:lnTo>
                  <a:lnTo>
                    <a:pt x="277272" y="724537"/>
                  </a:lnTo>
                  <a:lnTo>
                    <a:pt x="320983" y="732858"/>
                  </a:lnTo>
                  <a:lnTo>
                    <a:pt x="366119" y="735810"/>
                  </a:lnTo>
                  <a:lnTo>
                    <a:pt x="412296" y="733094"/>
                  </a:lnTo>
                  <a:lnTo>
                    <a:pt x="457756" y="724687"/>
                  </a:lnTo>
                  <a:lnTo>
                    <a:pt x="500855" y="711024"/>
                  </a:lnTo>
                  <a:lnTo>
                    <a:pt x="541292" y="692487"/>
                  </a:lnTo>
                  <a:lnTo>
                    <a:pt x="578767" y="669461"/>
                  </a:lnTo>
                  <a:lnTo>
                    <a:pt x="612978" y="642330"/>
                  </a:lnTo>
                  <a:lnTo>
                    <a:pt x="643624" y="611477"/>
                  </a:lnTo>
                  <a:lnTo>
                    <a:pt x="670406" y="577287"/>
                  </a:lnTo>
                  <a:lnTo>
                    <a:pt x="693023" y="540143"/>
                  </a:lnTo>
                  <a:lnTo>
                    <a:pt x="711173" y="500428"/>
                  </a:lnTo>
                  <a:lnTo>
                    <a:pt x="724557" y="458527"/>
                  </a:lnTo>
                  <a:lnTo>
                    <a:pt x="732872" y="414824"/>
                  </a:lnTo>
                  <a:lnTo>
                    <a:pt x="735820" y="369702"/>
                  </a:lnTo>
                  <a:lnTo>
                    <a:pt x="733098" y="323545"/>
                  </a:lnTo>
                  <a:lnTo>
                    <a:pt x="612575" y="338175"/>
                  </a:lnTo>
                  <a:lnTo>
                    <a:pt x="613389" y="345578"/>
                  </a:lnTo>
                  <a:lnTo>
                    <a:pt x="613940" y="352999"/>
                  </a:lnTo>
                  <a:lnTo>
                    <a:pt x="609345" y="417557"/>
                  </a:lnTo>
                  <a:lnTo>
                    <a:pt x="594982" y="463826"/>
                  </a:lnTo>
                  <a:lnTo>
                    <a:pt x="572254" y="505696"/>
                  </a:lnTo>
                  <a:lnTo>
                    <a:pt x="542154" y="542177"/>
                  </a:lnTo>
                  <a:lnTo>
                    <a:pt x="505671" y="572276"/>
                  </a:lnTo>
                  <a:lnTo>
                    <a:pt x="463799" y="595003"/>
                  </a:lnTo>
                  <a:lnTo>
                    <a:pt x="417526" y="609367"/>
                  </a:lnTo>
                  <a:lnTo>
                    <a:pt x="367846" y="614375"/>
                  </a:lnTo>
                  <a:lnTo>
                    <a:pt x="318208" y="609367"/>
                  </a:lnTo>
                  <a:lnTo>
                    <a:pt x="271967" y="595003"/>
                  </a:lnTo>
                  <a:lnTo>
                    <a:pt x="230117" y="572276"/>
                  </a:lnTo>
                  <a:lnTo>
                    <a:pt x="193650" y="542177"/>
                  </a:lnTo>
                  <a:lnTo>
                    <a:pt x="163558" y="505696"/>
                  </a:lnTo>
                  <a:lnTo>
                    <a:pt x="140836" y="463826"/>
                  </a:lnTo>
                  <a:lnTo>
                    <a:pt x="126474" y="417557"/>
                  </a:lnTo>
                  <a:lnTo>
                    <a:pt x="121466" y="367880"/>
                  </a:lnTo>
                  <a:lnTo>
                    <a:pt x="126474" y="318205"/>
                  </a:lnTo>
                  <a:lnTo>
                    <a:pt x="140836" y="271937"/>
                  </a:lnTo>
                  <a:lnTo>
                    <a:pt x="163558" y="230069"/>
                  </a:lnTo>
                  <a:lnTo>
                    <a:pt x="193650" y="193590"/>
                  </a:lnTo>
                  <a:lnTo>
                    <a:pt x="230117" y="163493"/>
                  </a:lnTo>
                  <a:lnTo>
                    <a:pt x="271967" y="140768"/>
                  </a:lnTo>
                  <a:lnTo>
                    <a:pt x="318208" y="126406"/>
                  </a:lnTo>
                  <a:lnTo>
                    <a:pt x="367846" y="121399"/>
                  </a:lnTo>
                  <a:lnTo>
                    <a:pt x="36784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A green circle with a white circle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3632" y="342805"/>
            <a:ext cx="3144135" cy="38342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13123" y="5819647"/>
            <a:ext cx="38100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15%-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 b="1">
                <a:latin typeface="Calibri"/>
                <a:cs typeface="Calibri"/>
              </a:rPr>
              <a:t>22.5%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3923" y="4219702"/>
            <a:ext cx="932815" cy="1765935"/>
            <a:chOff x="153923" y="4219702"/>
            <a:chExt cx="932815" cy="1765935"/>
          </a:xfrm>
        </p:grpSpPr>
        <p:sp>
          <p:nvSpPr>
            <p:cNvPr id="9" name="object 9"/>
            <p:cNvSpPr/>
            <p:nvPr/>
          </p:nvSpPr>
          <p:spPr>
            <a:xfrm>
              <a:off x="818387" y="4226052"/>
              <a:ext cx="262255" cy="1753235"/>
            </a:xfrm>
            <a:custGeom>
              <a:avLst/>
              <a:gdLst/>
              <a:ahLst/>
              <a:cxnLst/>
              <a:rect l="l" t="t" r="r" b="b"/>
              <a:pathLst>
                <a:path w="262255" h="1753235">
                  <a:moveTo>
                    <a:pt x="0" y="897636"/>
                  </a:moveTo>
                  <a:lnTo>
                    <a:pt x="152615" y="897636"/>
                  </a:lnTo>
                </a:path>
                <a:path w="262255" h="1753235">
                  <a:moveTo>
                    <a:pt x="146303" y="0"/>
                  </a:moveTo>
                  <a:lnTo>
                    <a:pt x="154495" y="1752638"/>
                  </a:lnTo>
                </a:path>
                <a:path w="262255" h="1753235">
                  <a:moveTo>
                    <a:pt x="140208" y="0"/>
                  </a:moveTo>
                  <a:lnTo>
                    <a:pt x="261747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923" y="4431792"/>
              <a:ext cx="670560" cy="1384300"/>
            </a:xfrm>
            <a:custGeom>
              <a:avLst/>
              <a:gdLst/>
              <a:ahLst/>
              <a:cxnLst/>
              <a:rect l="l" t="t" r="r" b="b"/>
              <a:pathLst>
                <a:path w="670560" h="1384300">
                  <a:moveTo>
                    <a:pt x="558800" y="0"/>
                  </a:moveTo>
                  <a:lnTo>
                    <a:pt x="111760" y="0"/>
                  </a:lnTo>
                  <a:lnTo>
                    <a:pt x="68258" y="8782"/>
                  </a:lnTo>
                  <a:lnTo>
                    <a:pt x="32734" y="32734"/>
                  </a:lnTo>
                  <a:lnTo>
                    <a:pt x="8782" y="68258"/>
                  </a:lnTo>
                  <a:lnTo>
                    <a:pt x="0" y="111759"/>
                  </a:lnTo>
                  <a:lnTo>
                    <a:pt x="0" y="1272031"/>
                  </a:lnTo>
                  <a:lnTo>
                    <a:pt x="8782" y="1315533"/>
                  </a:lnTo>
                  <a:lnTo>
                    <a:pt x="32734" y="1351057"/>
                  </a:lnTo>
                  <a:lnTo>
                    <a:pt x="68258" y="1375009"/>
                  </a:lnTo>
                  <a:lnTo>
                    <a:pt x="111760" y="1383791"/>
                  </a:lnTo>
                  <a:lnTo>
                    <a:pt x="558800" y="1383791"/>
                  </a:lnTo>
                  <a:lnTo>
                    <a:pt x="602301" y="1375009"/>
                  </a:lnTo>
                  <a:lnTo>
                    <a:pt x="637825" y="1351057"/>
                  </a:lnTo>
                  <a:lnTo>
                    <a:pt x="661777" y="1315533"/>
                  </a:lnTo>
                  <a:lnTo>
                    <a:pt x="670560" y="1272031"/>
                  </a:lnTo>
                  <a:lnTo>
                    <a:pt x="670560" y="111759"/>
                  </a:lnTo>
                  <a:lnTo>
                    <a:pt x="661777" y="68258"/>
                  </a:lnTo>
                  <a:lnTo>
                    <a:pt x="637825" y="32734"/>
                  </a:lnTo>
                  <a:lnTo>
                    <a:pt x="602301" y="8782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71144" y="4726340"/>
            <a:ext cx="472440" cy="7975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 marL="1270">
              <a:lnSpc>
                <a:spcPts val="1614"/>
              </a:lnSpc>
            </a:pP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Offerings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788" y="3933444"/>
            <a:ext cx="1360170" cy="72580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Individual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Loans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788" y="4783835"/>
            <a:ext cx="1360170" cy="72580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2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Small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Enterprise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7788" y="5608320"/>
            <a:ext cx="1360170" cy="72580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200">
              <a:latin typeface="Times New Roman"/>
              <a:cs typeface="Times New Roman"/>
            </a:endParaRPr>
          </a:p>
          <a:p>
            <a:pPr marL="11557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Established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Client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Bird's</a:t>
            </a:r>
            <a:r>
              <a:rPr dirty="0" spc="-45"/>
              <a:t> </a:t>
            </a:r>
            <a:r>
              <a:rPr dirty="0"/>
              <a:t>Eye</a:t>
            </a:r>
            <a:r>
              <a:rPr dirty="0" spc="-30"/>
              <a:t> </a:t>
            </a:r>
            <a:r>
              <a:rPr dirty="0"/>
              <a:t>View:</a:t>
            </a:r>
            <a:r>
              <a:rPr dirty="0" spc="-45"/>
              <a:t> </a:t>
            </a:r>
            <a:r>
              <a:rPr dirty="0"/>
              <a:t>United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Hope</a:t>
            </a:r>
            <a:r>
              <a:rPr dirty="0" spc="-60"/>
              <a:t> </a:t>
            </a:r>
            <a:r>
              <a:rPr dirty="0" spc="-10"/>
              <a:t>Microfinance</a:t>
            </a:r>
          </a:p>
          <a:p>
            <a:pPr marL="123825">
              <a:lnSpc>
                <a:spcPct val="100000"/>
              </a:lnSpc>
              <a:spcBef>
                <a:spcPts val="15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An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insight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into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United</a:t>
            </a:r>
            <a:r>
              <a:rPr dirty="0" sz="17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Hope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Microfinance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0248" y="824420"/>
            <a:ext cx="4253865" cy="3836670"/>
            <a:chOff x="210248" y="824420"/>
            <a:chExt cx="4253865" cy="383667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248" y="824420"/>
              <a:ext cx="3392551" cy="253149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543556" y="3934968"/>
              <a:ext cx="1106805" cy="725805"/>
            </a:xfrm>
            <a:custGeom>
              <a:avLst/>
              <a:gdLst/>
              <a:ahLst/>
              <a:cxnLst/>
              <a:rect l="l" t="t" r="r" b="b"/>
              <a:pathLst>
                <a:path w="1106804" h="725804">
                  <a:moveTo>
                    <a:pt x="1106423" y="0"/>
                  </a:moveTo>
                  <a:lnTo>
                    <a:pt x="0" y="0"/>
                  </a:lnTo>
                  <a:lnTo>
                    <a:pt x="0" y="725423"/>
                  </a:lnTo>
                  <a:lnTo>
                    <a:pt x="1106423" y="725423"/>
                  </a:lnTo>
                  <a:lnTo>
                    <a:pt x="1106423" y="0"/>
                  </a:lnTo>
                  <a:close/>
                </a:path>
              </a:pathLst>
            </a:custGeom>
            <a:solidFill>
              <a:srgbClr val="63906F">
                <a:alpha val="6823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095876" y="3924934"/>
              <a:ext cx="363855" cy="329565"/>
            </a:xfrm>
            <a:custGeom>
              <a:avLst/>
              <a:gdLst/>
              <a:ahLst/>
              <a:cxnLst/>
              <a:rect l="l" t="t" r="r" b="b"/>
              <a:pathLst>
                <a:path w="363854" h="329564">
                  <a:moveTo>
                    <a:pt x="0" y="0"/>
                  </a:moveTo>
                  <a:lnTo>
                    <a:pt x="0" y="121412"/>
                  </a:lnTo>
                  <a:lnTo>
                    <a:pt x="50681" y="126643"/>
                  </a:lnTo>
                  <a:lnTo>
                    <a:pt x="97995" y="141678"/>
                  </a:lnTo>
                  <a:lnTo>
                    <a:pt x="140782" y="165529"/>
                  </a:lnTo>
                  <a:lnTo>
                    <a:pt x="177881" y="197206"/>
                  </a:lnTo>
                  <a:lnTo>
                    <a:pt x="208133" y="235721"/>
                  </a:lnTo>
                  <a:lnTo>
                    <a:pt x="230379" y="280085"/>
                  </a:lnTo>
                  <a:lnTo>
                    <a:pt x="243459" y="329310"/>
                  </a:lnTo>
                  <a:lnTo>
                    <a:pt x="363474" y="310388"/>
                  </a:lnTo>
                  <a:lnTo>
                    <a:pt x="352704" y="262854"/>
                  </a:lnTo>
                  <a:lnTo>
                    <a:pt x="336139" y="218044"/>
                  </a:lnTo>
                  <a:lnTo>
                    <a:pt x="314227" y="176336"/>
                  </a:lnTo>
                  <a:lnTo>
                    <a:pt x="287414" y="138112"/>
                  </a:lnTo>
                  <a:lnTo>
                    <a:pt x="256147" y="103751"/>
                  </a:lnTo>
                  <a:lnTo>
                    <a:pt x="220871" y="73633"/>
                  </a:lnTo>
                  <a:lnTo>
                    <a:pt x="182033" y="48139"/>
                  </a:lnTo>
                  <a:lnTo>
                    <a:pt x="140081" y="27648"/>
                  </a:lnTo>
                  <a:lnTo>
                    <a:pt x="95460" y="12541"/>
                  </a:lnTo>
                  <a:lnTo>
                    <a:pt x="48618" y="3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728149" y="3924934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4" h="735964">
                  <a:moveTo>
                    <a:pt x="367727" y="0"/>
                  </a:moveTo>
                  <a:lnTo>
                    <a:pt x="324525" y="2571"/>
                  </a:lnTo>
                  <a:lnTo>
                    <a:pt x="265070" y="14615"/>
                  </a:lnTo>
                  <a:lnTo>
                    <a:pt x="222493" y="29827"/>
                  </a:lnTo>
                  <a:lnTo>
                    <a:pt x="182753" y="49814"/>
                  </a:lnTo>
                  <a:lnTo>
                    <a:pt x="146135" y="74181"/>
                  </a:lnTo>
                  <a:lnTo>
                    <a:pt x="112927" y="102533"/>
                  </a:lnTo>
                  <a:lnTo>
                    <a:pt x="83415" y="134475"/>
                  </a:lnTo>
                  <a:lnTo>
                    <a:pt x="57885" y="169613"/>
                  </a:lnTo>
                  <a:lnTo>
                    <a:pt x="36625" y="207552"/>
                  </a:lnTo>
                  <a:lnTo>
                    <a:pt x="19919" y="247898"/>
                  </a:lnTo>
                  <a:lnTo>
                    <a:pt x="8055" y="290255"/>
                  </a:lnTo>
                  <a:lnTo>
                    <a:pt x="1320" y="334229"/>
                  </a:lnTo>
                  <a:lnTo>
                    <a:pt x="0" y="379426"/>
                  </a:lnTo>
                  <a:lnTo>
                    <a:pt x="4380" y="425450"/>
                  </a:lnTo>
                  <a:lnTo>
                    <a:pt x="14448" y="470576"/>
                  </a:lnTo>
                  <a:lnTo>
                    <a:pt x="29678" y="513153"/>
                  </a:lnTo>
                  <a:lnTo>
                    <a:pt x="49676" y="552893"/>
                  </a:lnTo>
                  <a:lnTo>
                    <a:pt x="74049" y="589511"/>
                  </a:lnTo>
                  <a:lnTo>
                    <a:pt x="102404" y="622719"/>
                  </a:lnTo>
                  <a:lnTo>
                    <a:pt x="134347" y="652231"/>
                  </a:lnTo>
                  <a:lnTo>
                    <a:pt x="169485" y="677760"/>
                  </a:lnTo>
                  <a:lnTo>
                    <a:pt x="207425" y="699021"/>
                  </a:lnTo>
                  <a:lnTo>
                    <a:pt x="247774" y="715727"/>
                  </a:lnTo>
                  <a:lnTo>
                    <a:pt x="290137" y="727590"/>
                  </a:lnTo>
                  <a:lnTo>
                    <a:pt x="334123" y="734326"/>
                  </a:lnTo>
                  <a:lnTo>
                    <a:pt x="379336" y="735646"/>
                  </a:lnTo>
                  <a:lnTo>
                    <a:pt x="425385" y="731265"/>
                  </a:lnTo>
                  <a:lnTo>
                    <a:pt x="470512" y="721222"/>
                  </a:lnTo>
                  <a:lnTo>
                    <a:pt x="513089" y="706010"/>
                  </a:lnTo>
                  <a:lnTo>
                    <a:pt x="552829" y="686023"/>
                  </a:lnTo>
                  <a:lnTo>
                    <a:pt x="589446" y="661656"/>
                  </a:lnTo>
                  <a:lnTo>
                    <a:pt x="622654" y="633304"/>
                  </a:lnTo>
                  <a:lnTo>
                    <a:pt x="652166" y="601362"/>
                  </a:lnTo>
                  <a:lnTo>
                    <a:pt x="677696" y="566224"/>
                  </a:lnTo>
                  <a:lnTo>
                    <a:pt x="698957" y="528285"/>
                  </a:lnTo>
                  <a:lnTo>
                    <a:pt x="715663" y="487939"/>
                  </a:lnTo>
                  <a:lnTo>
                    <a:pt x="727526" y="445582"/>
                  </a:lnTo>
                  <a:lnTo>
                    <a:pt x="734262" y="401608"/>
                  </a:lnTo>
                  <a:lnTo>
                    <a:pt x="735582" y="356411"/>
                  </a:lnTo>
                  <a:lnTo>
                    <a:pt x="731201" y="310388"/>
                  </a:lnTo>
                  <a:lnTo>
                    <a:pt x="611186" y="329310"/>
                  </a:lnTo>
                  <a:lnTo>
                    <a:pt x="612520" y="338933"/>
                  </a:lnTo>
                  <a:lnTo>
                    <a:pt x="613472" y="348567"/>
                  </a:lnTo>
                  <a:lnTo>
                    <a:pt x="614044" y="358225"/>
                  </a:lnTo>
                  <a:lnTo>
                    <a:pt x="614234" y="367919"/>
                  </a:lnTo>
                  <a:lnTo>
                    <a:pt x="609226" y="417599"/>
                  </a:lnTo>
                  <a:lnTo>
                    <a:pt x="594863" y="463871"/>
                  </a:lnTo>
                  <a:lnTo>
                    <a:pt x="572135" y="505744"/>
                  </a:lnTo>
                  <a:lnTo>
                    <a:pt x="542035" y="542226"/>
                  </a:lnTo>
                  <a:lnTo>
                    <a:pt x="505553" y="572326"/>
                  </a:lnTo>
                  <a:lnTo>
                    <a:pt x="463680" y="595054"/>
                  </a:lnTo>
                  <a:lnTo>
                    <a:pt x="417408" y="609417"/>
                  </a:lnTo>
                  <a:lnTo>
                    <a:pt x="367727" y="614426"/>
                  </a:lnTo>
                  <a:lnTo>
                    <a:pt x="318089" y="609417"/>
                  </a:lnTo>
                  <a:lnTo>
                    <a:pt x="271848" y="595054"/>
                  </a:lnTo>
                  <a:lnTo>
                    <a:pt x="229998" y="572326"/>
                  </a:lnTo>
                  <a:lnTo>
                    <a:pt x="193531" y="542226"/>
                  </a:lnTo>
                  <a:lnTo>
                    <a:pt x="163440" y="505744"/>
                  </a:lnTo>
                  <a:lnTo>
                    <a:pt x="140717" y="463871"/>
                  </a:lnTo>
                  <a:lnTo>
                    <a:pt x="126355" y="417599"/>
                  </a:lnTo>
                  <a:lnTo>
                    <a:pt x="121347" y="367919"/>
                  </a:lnTo>
                  <a:lnTo>
                    <a:pt x="126355" y="318238"/>
                  </a:lnTo>
                  <a:lnTo>
                    <a:pt x="140717" y="271966"/>
                  </a:lnTo>
                  <a:lnTo>
                    <a:pt x="163440" y="230093"/>
                  </a:lnTo>
                  <a:lnTo>
                    <a:pt x="193531" y="193611"/>
                  </a:lnTo>
                  <a:lnTo>
                    <a:pt x="229998" y="163511"/>
                  </a:lnTo>
                  <a:lnTo>
                    <a:pt x="271848" y="140783"/>
                  </a:lnTo>
                  <a:lnTo>
                    <a:pt x="318089" y="126420"/>
                  </a:lnTo>
                  <a:lnTo>
                    <a:pt x="367727" y="121412"/>
                  </a:lnTo>
                  <a:lnTo>
                    <a:pt x="3677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3728149" y="4772152"/>
            <a:ext cx="735965" cy="735965"/>
            <a:chOff x="3728149" y="4772152"/>
            <a:chExt cx="735965" cy="735965"/>
          </a:xfrm>
        </p:grpSpPr>
        <p:sp>
          <p:nvSpPr>
            <p:cNvPr id="23" name="object 23"/>
            <p:cNvSpPr/>
            <p:nvPr/>
          </p:nvSpPr>
          <p:spPr>
            <a:xfrm>
              <a:off x="4095876" y="4772152"/>
              <a:ext cx="363855" cy="329565"/>
            </a:xfrm>
            <a:custGeom>
              <a:avLst/>
              <a:gdLst/>
              <a:ahLst/>
              <a:cxnLst/>
              <a:rect l="l" t="t" r="r" b="b"/>
              <a:pathLst>
                <a:path w="363854" h="329564">
                  <a:moveTo>
                    <a:pt x="0" y="0"/>
                  </a:moveTo>
                  <a:lnTo>
                    <a:pt x="0" y="121412"/>
                  </a:lnTo>
                  <a:lnTo>
                    <a:pt x="50681" y="126650"/>
                  </a:lnTo>
                  <a:lnTo>
                    <a:pt x="97995" y="141703"/>
                  </a:lnTo>
                  <a:lnTo>
                    <a:pt x="140782" y="165579"/>
                  </a:lnTo>
                  <a:lnTo>
                    <a:pt x="177881" y="197283"/>
                  </a:lnTo>
                  <a:lnTo>
                    <a:pt x="208133" y="235823"/>
                  </a:lnTo>
                  <a:lnTo>
                    <a:pt x="230379" y="280205"/>
                  </a:lnTo>
                  <a:lnTo>
                    <a:pt x="243459" y="329438"/>
                  </a:lnTo>
                  <a:lnTo>
                    <a:pt x="363474" y="310388"/>
                  </a:lnTo>
                  <a:lnTo>
                    <a:pt x="352704" y="262883"/>
                  </a:lnTo>
                  <a:lnTo>
                    <a:pt x="336139" y="218090"/>
                  </a:lnTo>
                  <a:lnTo>
                    <a:pt x="314227" y="176391"/>
                  </a:lnTo>
                  <a:lnTo>
                    <a:pt x="287414" y="138168"/>
                  </a:lnTo>
                  <a:lnTo>
                    <a:pt x="256147" y="103802"/>
                  </a:lnTo>
                  <a:lnTo>
                    <a:pt x="220871" y="73676"/>
                  </a:lnTo>
                  <a:lnTo>
                    <a:pt x="182033" y="48171"/>
                  </a:lnTo>
                  <a:lnTo>
                    <a:pt x="140081" y="27669"/>
                  </a:lnTo>
                  <a:lnTo>
                    <a:pt x="95460" y="12551"/>
                  </a:lnTo>
                  <a:lnTo>
                    <a:pt x="48618" y="3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28149" y="4772152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4" h="735964">
                  <a:moveTo>
                    <a:pt x="367727" y="0"/>
                  </a:moveTo>
                  <a:lnTo>
                    <a:pt x="324525" y="2571"/>
                  </a:lnTo>
                  <a:lnTo>
                    <a:pt x="265070" y="14615"/>
                  </a:lnTo>
                  <a:lnTo>
                    <a:pt x="222493" y="29827"/>
                  </a:lnTo>
                  <a:lnTo>
                    <a:pt x="182753" y="49814"/>
                  </a:lnTo>
                  <a:lnTo>
                    <a:pt x="146135" y="74181"/>
                  </a:lnTo>
                  <a:lnTo>
                    <a:pt x="112927" y="102533"/>
                  </a:lnTo>
                  <a:lnTo>
                    <a:pt x="83415" y="134475"/>
                  </a:lnTo>
                  <a:lnTo>
                    <a:pt x="57885" y="169613"/>
                  </a:lnTo>
                  <a:lnTo>
                    <a:pt x="36625" y="207552"/>
                  </a:lnTo>
                  <a:lnTo>
                    <a:pt x="19919" y="247898"/>
                  </a:lnTo>
                  <a:lnTo>
                    <a:pt x="8055" y="290255"/>
                  </a:lnTo>
                  <a:lnTo>
                    <a:pt x="1320" y="334229"/>
                  </a:lnTo>
                  <a:lnTo>
                    <a:pt x="0" y="379426"/>
                  </a:lnTo>
                  <a:lnTo>
                    <a:pt x="4380" y="425450"/>
                  </a:lnTo>
                  <a:lnTo>
                    <a:pt x="14448" y="470578"/>
                  </a:lnTo>
                  <a:lnTo>
                    <a:pt x="29678" y="513161"/>
                  </a:lnTo>
                  <a:lnTo>
                    <a:pt x="49676" y="552909"/>
                  </a:lnTo>
                  <a:lnTo>
                    <a:pt x="74049" y="589536"/>
                  </a:lnTo>
                  <a:lnTo>
                    <a:pt x="102404" y="622753"/>
                  </a:lnTo>
                  <a:lnTo>
                    <a:pt x="134347" y="652274"/>
                  </a:lnTo>
                  <a:lnTo>
                    <a:pt x="169485" y="677811"/>
                  </a:lnTo>
                  <a:lnTo>
                    <a:pt x="207425" y="699077"/>
                  </a:lnTo>
                  <a:lnTo>
                    <a:pt x="247774" y="715783"/>
                  </a:lnTo>
                  <a:lnTo>
                    <a:pt x="290137" y="727642"/>
                  </a:lnTo>
                  <a:lnTo>
                    <a:pt x="334123" y="734368"/>
                  </a:lnTo>
                  <a:lnTo>
                    <a:pt x="379336" y="735671"/>
                  </a:lnTo>
                  <a:lnTo>
                    <a:pt x="425385" y="731266"/>
                  </a:lnTo>
                  <a:lnTo>
                    <a:pt x="470512" y="721222"/>
                  </a:lnTo>
                  <a:lnTo>
                    <a:pt x="513089" y="706010"/>
                  </a:lnTo>
                  <a:lnTo>
                    <a:pt x="552829" y="686023"/>
                  </a:lnTo>
                  <a:lnTo>
                    <a:pt x="589446" y="661656"/>
                  </a:lnTo>
                  <a:lnTo>
                    <a:pt x="622654" y="633304"/>
                  </a:lnTo>
                  <a:lnTo>
                    <a:pt x="652166" y="601362"/>
                  </a:lnTo>
                  <a:lnTo>
                    <a:pt x="677696" y="566224"/>
                  </a:lnTo>
                  <a:lnTo>
                    <a:pt x="698957" y="528285"/>
                  </a:lnTo>
                  <a:lnTo>
                    <a:pt x="715663" y="487939"/>
                  </a:lnTo>
                  <a:lnTo>
                    <a:pt x="727526" y="445582"/>
                  </a:lnTo>
                  <a:lnTo>
                    <a:pt x="734262" y="401608"/>
                  </a:lnTo>
                  <a:lnTo>
                    <a:pt x="735582" y="356411"/>
                  </a:lnTo>
                  <a:lnTo>
                    <a:pt x="731201" y="310388"/>
                  </a:lnTo>
                  <a:lnTo>
                    <a:pt x="611186" y="329438"/>
                  </a:lnTo>
                  <a:lnTo>
                    <a:pt x="612520" y="338986"/>
                  </a:lnTo>
                  <a:lnTo>
                    <a:pt x="613472" y="348583"/>
                  </a:lnTo>
                  <a:lnTo>
                    <a:pt x="614044" y="358227"/>
                  </a:lnTo>
                  <a:lnTo>
                    <a:pt x="614234" y="367919"/>
                  </a:lnTo>
                  <a:lnTo>
                    <a:pt x="609226" y="417599"/>
                  </a:lnTo>
                  <a:lnTo>
                    <a:pt x="594863" y="463871"/>
                  </a:lnTo>
                  <a:lnTo>
                    <a:pt x="572135" y="505744"/>
                  </a:lnTo>
                  <a:lnTo>
                    <a:pt x="542035" y="542226"/>
                  </a:lnTo>
                  <a:lnTo>
                    <a:pt x="505553" y="572326"/>
                  </a:lnTo>
                  <a:lnTo>
                    <a:pt x="463680" y="595054"/>
                  </a:lnTo>
                  <a:lnTo>
                    <a:pt x="417408" y="609417"/>
                  </a:lnTo>
                  <a:lnTo>
                    <a:pt x="367727" y="614426"/>
                  </a:lnTo>
                  <a:lnTo>
                    <a:pt x="318089" y="609417"/>
                  </a:lnTo>
                  <a:lnTo>
                    <a:pt x="271848" y="595054"/>
                  </a:lnTo>
                  <a:lnTo>
                    <a:pt x="229998" y="572326"/>
                  </a:lnTo>
                  <a:lnTo>
                    <a:pt x="193531" y="542226"/>
                  </a:lnTo>
                  <a:lnTo>
                    <a:pt x="163440" y="505744"/>
                  </a:lnTo>
                  <a:lnTo>
                    <a:pt x="140717" y="463871"/>
                  </a:lnTo>
                  <a:lnTo>
                    <a:pt x="126355" y="417599"/>
                  </a:lnTo>
                  <a:lnTo>
                    <a:pt x="121347" y="367919"/>
                  </a:lnTo>
                  <a:lnTo>
                    <a:pt x="126355" y="318238"/>
                  </a:lnTo>
                  <a:lnTo>
                    <a:pt x="140717" y="271966"/>
                  </a:lnTo>
                  <a:lnTo>
                    <a:pt x="163440" y="230093"/>
                  </a:lnTo>
                  <a:lnTo>
                    <a:pt x="193531" y="193611"/>
                  </a:lnTo>
                  <a:lnTo>
                    <a:pt x="229998" y="163511"/>
                  </a:lnTo>
                  <a:lnTo>
                    <a:pt x="271848" y="140783"/>
                  </a:lnTo>
                  <a:lnTo>
                    <a:pt x="318089" y="126420"/>
                  </a:lnTo>
                  <a:lnTo>
                    <a:pt x="367727" y="121412"/>
                  </a:lnTo>
                  <a:lnTo>
                    <a:pt x="3677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905758" y="4209415"/>
            <a:ext cx="3810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22.5%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05758" y="5047615"/>
            <a:ext cx="3810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22.5%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72511" y="4372736"/>
            <a:ext cx="10668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Calibri"/>
                <a:cs typeface="Calibri"/>
              </a:rPr>
              <a:t>Rp</a:t>
            </a:r>
            <a:r>
              <a:rPr dirty="0" sz="1300" spc="5" b="1">
                <a:latin typeface="Calibri"/>
                <a:cs typeface="Calibri"/>
              </a:rPr>
              <a:t> </a:t>
            </a:r>
            <a:r>
              <a:rPr dirty="0" sz="1300" spc="-20" b="1">
                <a:latin typeface="Calibri"/>
                <a:cs typeface="Calibri"/>
              </a:rPr>
              <a:t>3500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41520" y="3934967"/>
            <a:ext cx="1298575" cy="725805"/>
          </a:xfrm>
          <a:prstGeom prst="rect">
            <a:avLst/>
          </a:prstGeom>
          <a:solidFill>
            <a:srgbClr val="87AA8F">
              <a:alpha val="54901"/>
            </a:srgbClr>
          </a:solidFill>
        </p:spPr>
        <p:txBody>
          <a:bodyPr wrap="square" lIns="0" tIns="109855" rIns="0" bIns="0" rtlCol="0" vert="horz">
            <a:spAutoFit/>
          </a:bodyPr>
          <a:lstStyle/>
          <a:p>
            <a:pPr algn="just" marL="89535" marR="226695">
              <a:lnSpc>
                <a:spcPct val="100000"/>
              </a:lnSpc>
              <a:spcBef>
                <a:spcPts val="865"/>
              </a:spcBef>
            </a:pPr>
            <a:r>
              <a:rPr dirty="0" sz="1100">
                <a:latin typeface="Calibri"/>
                <a:cs typeface="Calibri"/>
              </a:rPr>
              <a:t>Small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business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or </a:t>
            </a:r>
            <a:r>
              <a:rPr dirty="0" sz="1100">
                <a:latin typeface="Calibri"/>
                <a:cs typeface="Calibri"/>
              </a:rPr>
              <a:t>family,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time </a:t>
            </a:r>
            <a:r>
              <a:rPr dirty="0" sz="1100" spc="-10">
                <a:latin typeface="Calibri"/>
                <a:cs typeface="Calibri"/>
              </a:rPr>
              <a:t>client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38471" y="4773167"/>
            <a:ext cx="1300480" cy="723900"/>
          </a:xfrm>
          <a:prstGeom prst="rect">
            <a:avLst/>
          </a:prstGeom>
          <a:solidFill>
            <a:srgbClr val="87AA8F">
              <a:alpha val="54901"/>
            </a:srgbClr>
          </a:solidFill>
        </p:spPr>
        <p:txBody>
          <a:bodyPr wrap="square" lIns="0" tIns="109855" rIns="0" bIns="0" rtlCol="0" vert="horz">
            <a:spAutoFit/>
          </a:bodyPr>
          <a:lstStyle/>
          <a:p>
            <a:pPr marL="83820" marR="153670">
              <a:lnSpc>
                <a:spcPct val="100000"/>
              </a:lnSpc>
              <a:spcBef>
                <a:spcPts val="865"/>
              </a:spcBef>
            </a:pPr>
            <a:r>
              <a:rPr dirty="0" sz="1100">
                <a:latin typeface="Calibri"/>
                <a:cs typeface="Calibri"/>
              </a:rPr>
              <a:t>Established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small </a:t>
            </a:r>
            <a:r>
              <a:rPr dirty="0" sz="1100">
                <a:latin typeface="Calibri"/>
                <a:cs typeface="Calibri"/>
              </a:rPr>
              <a:t>business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10">
                <a:latin typeface="Calibri"/>
                <a:cs typeface="Calibri"/>
              </a:rPr>
              <a:t>family, </a:t>
            </a:r>
            <a:r>
              <a:rPr dirty="0" sz="1100">
                <a:latin typeface="Calibri"/>
                <a:cs typeface="Calibri"/>
              </a:rPr>
              <a:t>existing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38471" y="5608320"/>
            <a:ext cx="1300480" cy="725805"/>
          </a:xfrm>
          <a:prstGeom prst="rect">
            <a:avLst/>
          </a:prstGeom>
          <a:solidFill>
            <a:srgbClr val="87AA8F">
              <a:alpha val="54901"/>
            </a:srgbClr>
          </a:solidFill>
        </p:spPr>
        <p:txBody>
          <a:bodyPr wrap="square" lIns="0" tIns="107314" rIns="0" bIns="0" rtlCol="0" vert="horz">
            <a:spAutoFit/>
          </a:bodyPr>
          <a:lstStyle/>
          <a:p>
            <a:pPr marL="109220" marR="398145">
              <a:lnSpc>
                <a:spcPct val="100000"/>
              </a:lnSpc>
              <a:spcBef>
                <a:spcPts val="844"/>
              </a:spcBef>
            </a:pPr>
            <a:r>
              <a:rPr dirty="0" sz="1100">
                <a:latin typeface="Calibri"/>
                <a:cs typeface="Calibri"/>
              </a:rPr>
              <a:t>Loyal,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reliable client,</a:t>
            </a:r>
            <a:endParaRPr sz="1100">
              <a:latin typeface="Calibri"/>
              <a:cs typeface="Calibri"/>
            </a:endParaRPr>
          </a:p>
          <a:p>
            <a:pPr marL="10922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terms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negotiable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70788" y="5123688"/>
            <a:ext cx="121920" cy="855344"/>
          </a:xfrm>
          <a:custGeom>
            <a:avLst/>
            <a:gdLst/>
            <a:ahLst/>
            <a:cxnLst/>
            <a:rect l="l" t="t" r="r" b="b"/>
            <a:pathLst>
              <a:path w="121919" h="855345">
                <a:moveTo>
                  <a:pt x="0" y="0"/>
                </a:moveTo>
                <a:lnTo>
                  <a:pt x="121539" y="0"/>
                </a:lnTo>
              </a:path>
              <a:path w="121919" h="855345">
                <a:moveTo>
                  <a:pt x="0" y="854964"/>
                </a:moveTo>
                <a:lnTo>
                  <a:pt x="121539" y="854964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2" name="object 32"/>
          <p:cNvGrpSpPr/>
          <p:nvPr/>
        </p:nvGrpSpPr>
        <p:grpSpPr>
          <a:xfrm>
            <a:off x="168020" y="846200"/>
            <a:ext cx="6298565" cy="5410200"/>
            <a:chOff x="168020" y="846200"/>
            <a:chExt cx="6298565" cy="5410200"/>
          </a:xfrm>
        </p:grpSpPr>
        <p:sp>
          <p:nvSpPr>
            <p:cNvPr id="33" name="object 33"/>
            <p:cNvSpPr/>
            <p:nvPr/>
          </p:nvSpPr>
          <p:spPr>
            <a:xfrm>
              <a:off x="3698748" y="1018031"/>
              <a:ext cx="216535" cy="454659"/>
            </a:xfrm>
            <a:custGeom>
              <a:avLst/>
              <a:gdLst/>
              <a:ahLst/>
              <a:cxnLst/>
              <a:rect l="l" t="t" r="r" b="b"/>
              <a:pathLst>
                <a:path w="216535" h="454659">
                  <a:moveTo>
                    <a:pt x="124968" y="231648"/>
                  </a:moveTo>
                  <a:lnTo>
                    <a:pt x="62484" y="36576"/>
                  </a:lnTo>
                  <a:lnTo>
                    <a:pt x="0" y="36576"/>
                  </a:lnTo>
                  <a:lnTo>
                    <a:pt x="62484" y="231648"/>
                  </a:lnTo>
                  <a:lnTo>
                    <a:pt x="0" y="426720"/>
                  </a:lnTo>
                  <a:lnTo>
                    <a:pt x="62484" y="426720"/>
                  </a:lnTo>
                  <a:lnTo>
                    <a:pt x="124968" y="231648"/>
                  </a:lnTo>
                  <a:close/>
                </a:path>
                <a:path w="216535" h="454659">
                  <a:moveTo>
                    <a:pt x="216408" y="227076"/>
                  </a:moveTo>
                  <a:lnTo>
                    <a:pt x="153924" y="0"/>
                  </a:lnTo>
                  <a:lnTo>
                    <a:pt x="91440" y="0"/>
                  </a:lnTo>
                  <a:lnTo>
                    <a:pt x="153924" y="227076"/>
                  </a:lnTo>
                  <a:lnTo>
                    <a:pt x="91440" y="454152"/>
                  </a:lnTo>
                  <a:lnTo>
                    <a:pt x="153924" y="454152"/>
                  </a:lnTo>
                  <a:lnTo>
                    <a:pt x="216408" y="227076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77545" y="855725"/>
              <a:ext cx="3432175" cy="2525395"/>
            </a:xfrm>
            <a:custGeom>
              <a:avLst/>
              <a:gdLst/>
              <a:ahLst/>
              <a:cxnLst/>
              <a:rect l="l" t="t" r="r" b="b"/>
              <a:pathLst>
                <a:path w="3432175" h="2525395">
                  <a:moveTo>
                    <a:pt x="0" y="2525268"/>
                  </a:moveTo>
                  <a:lnTo>
                    <a:pt x="3432048" y="2525268"/>
                  </a:lnTo>
                  <a:lnTo>
                    <a:pt x="3432048" y="0"/>
                  </a:lnTo>
                  <a:lnTo>
                    <a:pt x="0" y="0"/>
                  </a:lnTo>
                  <a:lnTo>
                    <a:pt x="0" y="2525268"/>
                  </a:lnTo>
                  <a:close/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92651" y="1889759"/>
              <a:ext cx="222885" cy="1329055"/>
            </a:xfrm>
            <a:custGeom>
              <a:avLst/>
              <a:gdLst/>
              <a:ahLst/>
              <a:cxnLst/>
              <a:rect l="l" t="t" r="r" b="b"/>
              <a:pathLst>
                <a:path w="222885" h="1329055">
                  <a:moveTo>
                    <a:pt x="124968" y="1107186"/>
                  </a:moveTo>
                  <a:lnTo>
                    <a:pt x="62484" y="912876"/>
                  </a:lnTo>
                  <a:lnTo>
                    <a:pt x="0" y="912876"/>
                  </a:lnTo>
                  <a:lnTo>
                    <a:pt x="62484" y="1107186"/>
                  </a:lnTo>
                  <a:lnTo>
                    <a:pt x="0" y="1301496"/>
                  </a:lnTo>
                  <a:lnTo>
                    <a:pt x="62484" y="1301496"/>
                  </a:lnTo>
                  <a:lnTo>
                    <a:pt x="124968" y="1107186"/>
                  </a:lnTo>
                  <a:close/>
                </a:path>
                <a:path w="222885" h="1329055">
                  <a:moveTo>
                    <a:pt x="131064" y="230886"/>
                  </a:moveTo>
                  <a:lnTo>
                    <a:pt x="68580" y="36576"/>
                  </a:lnTo>
                  <a:lnTo>
                    <a:pt x="6096" y="36576"/>
                  </a:lnTo>
                  <a:lnTo>
                    <a:pt x="68580" y="230886"/>
                  </a:lnTo>
                  <a:lnTo>
                    <a:pt x="6096" y="425196"/>
                  </a:lnTo>
                  <a:lnTo>
                    <a:pt x="68580" y="425196"/>
                  </a:lnTo>
                  <a:lnTo>
                    <a:pt x="131064" y="230886"/>
                  </a:lnTo>
                  <a:close/>
                </a:path>
                <a:path w="222885" h="1329055">
                  <a:moveTo>
                    <a:pt x="216408" y="1101852"/>
                  </a:moveTo>
                  <a:lnTo>
                    <a:pt x="153924" y="874776"/>
                  </a:lnTo>
                  <a:lnTo>
                    <a:pt x="91440" y="874776"/>
                  </a:lnTo>
                  <a:lnTo>
                    <a:pt x="153924" y="1101852"/>
                  </a:lnTo>
                  <a:lnTo>
                    <a:pt x="91440" y="1328928"/>
                  </a:lnTo>
                  <a:lnTo>
                    <a:pt x="153924" y="1328928"/>
                  </a:lnTo>
                  <a:lnTo>
                    <a:pt x="216408" y="1101852"/>
                  </a:lnTo>
                  <a:close/>
                </a:path>
                <a:path w="222885" h="1329055">
                  <a:moveTo>
                    <a:pt x="222504" y="226314"/>
                  </a:moveTo>
                  <a:lnTo>
                    <a:pt x="160020" y="0"/>
                  </a:lnTo>
                  <a:lnTo>
                    <a:pt x="97536" y="0"/>
                  </a:lnTo>
                  <a:lnTo>
                    <a:pt x="160020" y="226314"/>
                  </a:lnTo>
                  <a:lnTo>
                    <a:pt x="97536" y="452628"/>
                  </a:lnTo>
                  <a:lnTo>
                    <a:pt x="160020" y="452628"/>
                  </a:lnTo>
                  <a:lnTo>
                    <a:pt x="222504" y="226314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987795" y="4049268"/>
              <a:ext cx="478790" cy="2207260"/>
            </a:xfrm>
            <a:custGeom>
              <a:avLst/>
              <a:gdLst/>
              <a:ahLst/>
              <a:cxnLst/>
              <a:rect l="l" t="t" r="r" b="b"/>
              <a:pathLst>
                <a:path w="478789" h="2207260">
                  <a:moveTo>
                    <a:pt x="478536" y="0"/>
                  </a:moveTo>
                  <a:lnTo>
                    <a:pt x="0" y="0"/>
                  </a:lnTo>
                  <a:lnTo>
                    <a:pt x="0" y="2206751"/>
                  </a:lnTo>
                  <a:lnTo>
                    <a:pt x="478536" y="2206751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120510" y="4126256"/>
            <a:ext cx="228600" cy="20561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Causes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6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falling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profits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66204" y="4096511"/>
            <a:ext cx="1365885" cy="508000"/>
          </a:xfrm>
          <a:custGeom>
            <a:avLst/>
            <a:gdLst/>
            <a:ahLst/>
            <a:cxnLst/>
            <a:rect l="l" t="t" r="r" b="b"/>
            <a:pathLst>
              <a:path w="1365884" h="508000">
                <a:moveTo>
                  <a:pt x="1365503" y="0"/>
                </a:moveTo>
                <a:lnTo>
                  <a:pt x="0" y="0"/>
                </a:lnTo>
                <a:lnTo>
                  <a:pt x="0" y="507492"/>
                </a:lnTo>
                <a:lnTo>
                  <a:pt x="1365503" y="507492"/>
                </a:lnTo>
                <a:lnTo>
                  <a:pt x="1365503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563868" y="4096511"/>
            <a:ext cx="402590" cy="508000"/>
          </a:xfrm>
          <a:prstGeom prst="rect">
            <a:avLst/>
          </a:prstGeom>
          <a:solidFill>
            <a:srgbClr val="385622">
              <a:alpha val="73724"/>
            </a:srgbClr>
          </a:solidFill>
        </p:spPr>
        <p:txBody>
          <a:bodyPr wrap="square" lIns="0" tIns="12763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5"/>
              </a:spcBef>
            </a:pPr>
            <a:r>
              <a:rPr dirty="0" sz="15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819388" y="4090415"/>
            <a:ext cx="1365885" cy="508000"/>
          </a:xfrm>
          <a:custGeom>
            <a:avLst/>
            <a:gdLst/>
            <a:ahLst/>
            <a:cxnLst/>
            <a:rect l="l" t="t" r="r" b="b"/>
            <a:pathLst>
              <a:path w="1365884" h="508000">
                <a:moveTo>
                  <a:pt x="1365503" y="0"/>
                </a:moveTo>
                <a:lnTo>
                  <a:pt x="0" y="0"/>
                </a:lnTo>
                <a:lnTo>
                  <a:pt x="0" y="507492"/>
                </a:lnTo>
                <a:lnTo>
                  <a:pt x="1365503" y="507492"/>
                </a:lnTo>
                <a:lnTo>
                  <a:pt x="1365503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417052" y="4090415"/>
            <a:ext cx="402590" cy="508000"/>
          </a:xfrm>
          <a:prstGeom prst="rect">
            <a:avLst/>
          </a:prstGeom>
          <a:solidFill>
            <a:srgbClr val="385622">
              <a:alpha val="73724"/>
            </a:srgbClr>
          </a:solidFill>
        </p:spPr>
        <p:txBody>
          <a:bodyPr wrap="square" lIns="0" tIns="12827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10"/>
              </a:spcBef>
            </a:pPr>
            <a:r>
              <a:rPr dirty="0" sz="15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267188" y="4075176"/>
            <a:ext cx="402590" cy="508000"/>
          </a:xfrm>
          <a:prstGeom prst="rect">
            <a:avLst/>
          </a:prstGeom>
          <a:solidFill>
            <a:srgbClr val="385622">
              <a:alpha val="73724"/>
            </a:srgbClr>
          </a:solidFill>
        </p:spPr>
        <p:txBody>
          <a:bodyPr wrap="square" lIns="0" tIns="1270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0"/>
              </a:spcBef>
            </a:pPr>
            <a:r>
              <a:rPr dirty="0" sz="15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188964" y="3345179"/>
            <a:ext cx="4281805" cy="705485"/>
          </a:xfrm>
          <a:custGeom>
            <a:avLst/>
            <a:gdLst/>
            <a:ahLst/>
            <a:cxnLst/>
            <a:rect l="l" t="t" r="r" b="b"/>
            <a:pathLst>
              <a:path w="4281805" h="705485">
                <a:moveTo>
                  <a:pt x="31750" y="628777"/>
                </a:moveTo>
                <a:lnTo>
                  <a:pt x="0" y="628777"/>
                </a:lnTo>
                <a:lnTo>
                  <a:pt x="38100" y="704977"/>
                </a:lnTo>
                <a:lnTo>
                  <a:pt x="69850" y="641477"/>
                </a:lnTo>
                <a:lnTo>
                  <a:pt x="31750" y="641477"/>
                </a:lnTo>
                <a:lnTo>
                  <a:pt x="31750" y="628777"/>
                </a:lnTo>
                <a:close/>
              </a:path>
              <a:path w="4281805" h="705485">
                <a:moveTo>
                  <a:pt x="4268978" y="346075"/>
                </a:moveTo>
                <a:lnTo>
                  <a:pt x="31750" y="346075"/>
                </a:lnTo>
                <a:lnTo>
                  <a:pt x="31750" y="641477"/>
                </a:lnTo>
                <a:lnTo>
                  <a:pt x="44450" y="641477"/>
                </a:lnTo>
                <a:lnTo>
                  <a:pt x="44450" y="358775"/>
                </a:lnTo>
                <a:lnTo>
                  <a:pt x="38100" y="358775"/>
                </a:lnTo>
                <a:lnTo>
                  <a:pt x="44450" y="352425"/>
                </a:lnTo>
                <a:lnTo>
                  <a:pt x="4268978" y="352425"/>
                </a:lnTo>
                <a:lnTo>
                  <a:pt x="4268978" y="346075"/>
                </a:lnTo>
                <a:close/>
              </a:path>
              <a:path w="4281805" h="705485">
                <a:moveTo>
                  <a:pt x="76200" y="628777"/>
                </a:moveTo>
                <a:lnTo>
                  <a:pt x="44450" y="628777"/>
                </a:lnTo>
                <a:lnTo>
                  <a:pt x="44450" y="641477"/>
                </a:lnTo>
                <a:lnTo>
                  <a:pt x="69850" y="641477"/>
                </a:lnTo>
                <a:lnTo>
                  <a:pt x="76200" y="628777"/>
                </a:lnTo>
                <a:close/>
              </a:path>
              <a:path w="4281805" h="705485">
                <a:moveTo>
                  <a:pt x="44450" y="352425"/>
                </a:moveTo>
                <a:lnTo>
                  <a:pt x="38100" y="358775"/>
                </a:lnTo>
                <a:lnTo>
                  <a:pt x="44450" y="358775"/>
                </a:lnTo>
                <a:lnTo>
                  <a:pt x="44450" y="352425"/>
                </a:lnTo>
                <a:close/>
              </a:path>
              <a:path w="4281805" h="705485">
                <a:moveTo>
                  <a:pt x="4281678" y="346075"/>
                </a:moveTo>
                <a:lnTo>
                  <a:pt x="4275328" y="346075"/>
                </a:lnTo>
                <a:lnTo>
                  <a:pt x="4268978" y="352425"/>
                </a:lnTo>
                <a:lnTo>
                  <a:pt x="44450" y="352425"/>
                </a:lnTo>
                <a:lnTo>
                  <a:pt x="44450" y="358775"/>
                </a:lnTo>
                <a:lnTo>
                  <a:pt x="4281678" y="358775"/>
                </a:lnTo>
                <a:lnTo>
                  <a:pt x="4281678" y="346075"/>
                </a:lnTo>
                <a:close/>
              </a:path>
              <a:path w="4281805" h="705485">
                <a:moveTo>
                  <a:pt x="4281678" y="0"/>
                </a:moveTo>
                <a:lnTo>
                  <a:pt x="4268978" y="0"/>
                </a:lnTo>
                <a:lnTo>
                  <a:pt x="4268978" y="352425"/>
                </a:lnTo>
                <a:lnTo>
                  <a:pt x="4275328" y="346075"/>
                </a:lnTo>
                <a:lnTo>
                  <a:pt x="4281678" y="346075"/>
                </a:lnTo>
                <a:lnTo>
                  <a:pt x="4281678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049261" y="4156709"/>
            <a:ext cx="1028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Communication Issues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669523" y="4075176"/>
            <a:ext cx="1365885" cy="50800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6731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530"/>
              </a:spcBef>
            </a:pPr>
            <a:r>
              <a:rPr dirty="0" sz="1200" spc="-10" b="1">
                <a:latin typeface="Calibri"/>
                <a:cs typeface="Calibri"/>
              </a:rPr>
              <a:t>Aftermath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of</a:t>
            </a:r>
            <a:endParaRPr sz="12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Pandemic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20733" y="4222242"/>
            <a:ext cx="932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Legacy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63868" y="4693920"/>
            <a:ext cx="1767839" cy="152717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>
              <a:latin typeface="Times New Roman"/>
              <a:cs typeface="Times New Roman"/>
            </a:endParaRPr>
          </a:p>
          <a:p>
            <a:pPr marL="123825" marR="240665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Difficulty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coordinating </a:t>
            </a:r>
            <a:r>
              <a:rPr dirty="0" sz="1100">
                <a:latin typeface="Calibri"/>
                <a:cs typeface="Calibri"/>
              </a:rPr>
              <a:t>operations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Sumatran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Javan branches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17052" y="4693920"/>
            <a:ext cx="1767839" cy="152717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>
              <a:latin typeface="Times New Roman"/>
              <a:cs typeface="Times New Roman"/>
            </a:endParaRPr>
          </a:p>
          <a:p>
            <a:pPr marL="130810" marR="198755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loans, </a:t>
            </a:r>
            <a:r>
              <a:rPr dirty="0" sz="1100">
                <a:latin typeface="Calibri"/>
                <a:cs typeface="Calibri"/>
              </a:rPr>
              <a:t>cash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collection,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credit </a:t>
            </a:r>
            <a:r>
              <a:rPr dirty="0" sz="1100">
                <a:latin typeface="Calibri"/>
                <a:cs typeface="Calibri"/>
              </a:rPr>
              <a:t>scoring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etc.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10 </a:t>
            </a:r>
            <a:r>
              <a:rPr dirty="0" sz="1100">
                <a:latin typeface="Calibri"/>
                <a:cs typeface="Calibri"/>
              </a:rPr>
              <a:t>day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time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267188" y="4701540"/>
            <a:ext cx="1767839" cy="152590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100">
              <a:latin typeface="Times New Roman"/>
              <a:cs typeface="Times New Roman"/>
            </a:endParaRPr>
          </a:p>
          <a:p>
            <a:pPr marL="114300" marR="121285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pandemic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affected</a:t>
            </a:r>
            <a:r>
              <a:rPr dirty="0" sz="1100" spc="-25">
                <a:latin typeface="Calibri"/>
                <a:cs typeface="Calibri"/>
              </a:rPr>
              <a:t> the </a:t>
            </a:r>
            <a:r>
              <a:rPr dirty="0" sz="1100">
                <a:latin typeface="Calibri"/>
                <a:cs typeface="Calibri"/>
              </a:rPr>
              <a:t>economically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vulnerable disproportionately,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target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demographic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MFIs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499616" y="4027932"/>
            <a:ext cx="9867900" cy="2155190"/>
            <a:chOff x="1499616" y="4027932"/>
            <a:chExt cx="9867900" cy="2155190"/>
          </a:xfrm>
        </p:grpSpPr>
        <p:pic>
          <p:nvPicPr>
            <p:cNvPr id="51" name="object 51" descr="Chat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6036" y="4868037"/>
              <a:ext cx="633983" cy="425958"/>
            </a:xfrm>
            <a:prstGeom prst="rect">
              <a:avLst/>
            </a:prstGeom>
          </p:spPr>
        </p:pic>
        <p:pic>
          <p:nvPicPr>
            <p:cNvPr id="52" name="object 52" descr="Documentation 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4647" y="4816840"/>
              <a:ext cx="609600" cy="549687"/>
            </a:xfrm>
            <a:prstGeom prst="rect">
              <a:avLst/>
            </a:prstGeom>
          </p:spPr>
        </p:pic>
        <p:pic>
          <p:nvPicPr>
            <p:cNvPr id="53" name="object 53" descr="Devaluation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69168" y="4791456"/>
              <a:ext cx="498348" cy="496824"/>
            </a:xfrm>
            <a:prstGeom prst="rect">
              <a:avLst/>
            </a:prstGeom>
          </p:spPr>
        </p:pic>
        <p:pic>
          <p:nvPicPr>
            <p:cNvPr id="54" name="object 54" descr="User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4292" y="4027932"/>
              <a:ext cx="420623" cy="419100"/>
            </a:xfrm>
            <a:prstGeom prst="rect">
              <a:avLst/>
            </a:prstGeom>
          </p:spPr>
        </p:pic>
        <p:pic>
          <p:nvPicPr>
            <p:cNvPr id="55" name="object 55" descr="Store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2168" y="4802124"/>
              <a:ext cx="465058" cy="480059"/>
            </a:xfrm>
            <a:prstGeom prst="rect">
              <a:avLst/>
            </a:prstGeom>
          </p:spPr>
        </p:pic>
        <p:pic>
          <p:nvPicPr>
            <p:cNvPr id="56" name="object 56" descr="Handshake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9616" y="5649468"/>
              <a:ext cx="534923" cy="53340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6906894" y="1655826"/>
            <a:ext cx="12604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Maximize</a:t>
            </a:r>
            <a:r>
              <a:rPr dirty="0" sz="10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dirty="0" sz="10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27063" y="2576322"/>
            <a:ext cx="59626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Goal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Fulfilment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53273" y="2599690"/>
            <a:ext cx="71437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12700" marR="5080" indent="3810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Equal Opportunity Employer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212389" y="1093088"/>
            <a:ext cx="2751455" cy="1657350"/>
            <a:chOff x="9212389" y="1093088"/>
            <a:chExt cx="2751455" cy="1657350"/>
          </a:xfrm>
        </p:grpSpPr>
        <p:sp>
          <p:nvSpPr>
            <p:cNvPr id="61" name="object 61"/>
            <p:cNvSpPr/>
            <p:nvPr/>
          </p:nvSpPr>
          <p:spPr>
            <a:xfrm>
              <a:off x="9381744" y="1101851"/>
              <a:ext cx="2413000" cy="893444"/>
            </a:xfrm>
            <a:custGeom>
              <a:avLst/>
              <a:gdLst/>
              <a:ahLst/>
              <a:cxnLst/>
              <a:rect l="l" t="t" r="r" b="b"/>
              <a:pathLst>
                <a:path w="2413000" h="893444">
                  <a:moveTo>
                    <a:pt x="219456" y="0"/>
                  </a:moveTo>
                  <a:lnTo>
                    <a:pt x="0" y="0"/>
                  </a:lnTo>
                  <a:lnTo>
                    <a:pt x="0" y="867156"/>
                  </a:lnTo>
                  <a:lnTo>
                    <a:pt x="219456" y="867156"/>
                  </a:lnTo>
                  <a:lnTo>
                    <a:pt x="219456" y="0"/>
                  </a:lnTo>
                  <a:close/>
                </a:path>
                <a:path w="2413000" h="893444">
                  <a:moveTo>
                    <a:pt x="1316736" y="344424"/>
                  </a:moveTo>
                  <a:lnTo>
                    <a:pt x="1097280" y="344424"/>
                  </a:lnTo>
                  <a:lnTo>
                    <a:pt x="1097280" y="867156"/>
                  </a:lnTo>
                  <a:lnTo>
                    <a:pt x="1316736" y="867156"/>
                  </a:lnTo>
                  <a:lnTo>
                    <a:pt x="1316736" y="344424"/>
                  </a:lnTo>
                  <a:close/>
                </a:path>
                <a:path w="2413000" h="893444">
                  <a:moveTo>
                    <a:pt x="1865376" y="530352"/>
                  </a:moveTo>
                  <a:lnTo>
                    <a:pt x="1645920" y="530352"/>
                  </a:lnTo>
                  <a:lnTo>
                    <a:pt x="1645920" y="867156"/>
                  </a:lnTo>
                  <a:lnTo>
                    <a:pt x="1865376" y="867156"/>
                  </a:lnTo>
                  <a:lnTo>
                    <a:pt x="1865376" y="530352"/>
                  </a:lnTo>
                  <a:close/>
                </a:path>
                <a:path w="2413000" h="893444">
                  <a:moveTo>
                    <a:pt x="2412492" y="867156"/>
                  </a:moveTo>
                  <a:lnTo>
                    <a:pt x="2194560" y="867156"/>
                  </a:lnTo>
                  <a:lnTo>
                    <a:pt x="2194560" y="893064"/>
                  </a:lnTo>
                  <a:lnTo>
                    <a:pt x="2412492" y="893064"/>
                  </a:lnTo>
                  <a:lnTo>
                    <a:pt x="2412492" y="867156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9217152" y="1969008"/>
              <a:ext cx="2741930" cy="0"/>
            </a:xfrm>
            <a:custGeom>
              <a:avLst/>
              <a:gdLst/>
              <a:ahLst/>
              <a:cxnLst/>
              <a:rect l="l" t="t" r="r" b="b"/>
              <a:pathLst>
                <a:path w="2741929" h="0">
                  <a:moveTo>
                    <a:pt x="0" y="0"/>
                  </a:moveTo>
                  <a:lnTo>
                    <a:pt x="274167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9490710" y="1102613"/>
              <a:ext cx="2194560" cy="1638300"/>
            </a:xfrm>
            <a:custGeom>
              <a:avLst/>
              <a:gdLst/>
              <a:ahLst/>
              <a:cxnLst/>
              <a:rect l="l" t="t" r="r" b="b"/>
              <a:pathLst>
                <a:path w="2194559" h="1638300">
                  <a:moveTo>
                    <a:pt x="0" y="0"/>
                  </a:moveTo>
                  <a:lnTo>
                    <a:pt x="548640" y="1638300"/>
                  </a:lnTo>
                  <a:lnTo>
                    <a:pt x="1097280" y="342900"/>
                  </a:lnTo>
                  <a:lnTo>
                    <a:pt x="1645920" y="528827"/>
                  </a:lnTo>
                  <a:lnTo>
                    <a:pt x="2194560" y="893063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8890507" y="850519"/>
            <a:ext cx="234950" cy="215328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250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5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150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5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5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150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200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352915" y="2022475"/>
            <a:ext cx="2787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FY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19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930383" y="1969007"/>
            <a:ext cx="245110" cy="772795"/>
          </a:xfrm>
          <a:prstGeom prst="rect">
            <a:avLst/>
          </a:prstGeom>
          <a:solidFill>
            <a:srgbClr val="87AA8F"/>
          </a:solidFill>
        </p:spPr>
        <p:txBody>
          <a:bodyPr wrap="square" lIns="0" tIns="660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dirty="0" sz="900" b="1">
                <a:latin typeface="Calibri"/>
                <a:cs typeface="Calibri"/>
              </a:rPr>
              <a:t>FY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450194" y="2022475"/>
            <a:ext cx="2787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FY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998834" y="2022475"/>
            <a:ext cx="2787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FY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547475" y="2022475"/>
            <a:ext cx="2787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FY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23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543555" y="2042160"/>
            <a:ext cx="6085840" cy="4295140"/>
            <a:chOff x="2543555" y="2042160"/>
            <a:chExt cx="6085840" cy="4295140"/>
          </a:xfrm>
        </p:grpSpPr>
        <p:pic>
          <p:nvPicPr>
            <p:cNvPr id="71" name="object 71" descr="Target 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85203" y="2052828"/>
              <a:ext cx="495300" cy="495300"/>
            </a:xfrm>
            <a:prstGeom prst="rect">
              <a:avLst/>
            </a:prstGeom>
          </p:spPr>
        </p:pic>
        <p:pic>
          <p:nvPicPr>
            <p:cNvPr id="72" name="object 72" descr="Equality 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82711" y="2042160"/>
              <a:ext cx="646176" cy="644651"/>
            </a:xfrm>
            <a:prstGeom prst="rect">
              <a:avLst/>
            </a:prstGeom>
          </p:spPr>
        </p:pic>
        <p:pic>
          <p:nvPicPr>
            <p:cNvPr id="73" name="object 73" descr="Rupiah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33699" y="4041648"/>
              <a:ext cx="313944" cy="31546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543556" y="4776216"/>
              <a:ext cx="1100455" cy="1560830"/>
            </a:xfrm>
            <a:custGeom>
              <a:avLst/>
              <a:gdLst/>
              <a:ahLst/>
              <a:cxnLst/>
              <a:rect l="l" t="t" r="r" b="b"/>
              <a:pathLst>
                <a:path w="1100454" h="1560829">
                  <a:moveTo>
                    <a:pt x="1097280" y="836688"/>
                  </a:moveTo>
                  <a:lnTo>
                    <a:pt x="4572" y="836688"/>
                  </a:lnTo>
                  <a:lnTo>
                    <a:pt x="4572" y="1560576"/>
                  </a:lnTo>
                  <a:lnTo>
                    <a:pt x="1097280" y="1560576"/>
                  </a:lnTo>
                  <a:lnTo>
                    <a:pt x="1097280" y="836688"/>
                  </a:lnTo>
                  <a:close/>
                </a:path>
                <a:path w="1100454" h="1560829">
                  <a:moveTo>
                    <a:pt x="1100328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1100328" y="723900"/>
                  </a:lnTo>
                  <a:lnTo>
                    <a:pt x="1100328" y="0"/>
                  </a:lnTo>
                  <a:close/>
                </a:path>
              </a:pathLst>
            </a:custGeom>
            <a:solidFill>
              <a:srgbClr val="63906F">
                <a:alpha val="68234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6455664" y="757427"/>
            <a:ext cx="2150745" cy="299085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420370">
              <a:lnSpc>
                <a:spcPct val="100000"/>
              </a:lnSpc>
              <a:spcBef>
                <a:spcPts val="114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389364" y="3031235"/>
            <a:ext cx="2150745" cy="375285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420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Reducing</a:t>
            </a:r>
            <a:r>
              <a:rPr dirty="0" sz="16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Profitability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72511" y="3561588"/>
            <a:ext cx="1066800" cy="335280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56540">
              <a:lnSpc>
                <a:spcPts val="1235"/>
              </a:lnSpc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endParaRPr sz="1300">
              <a:latin typeface="Calibri"/>
              <a:cs typeface="Calibri"/>
            </a:endParaRPr>
          </a:p>
          <a:p>
            <a:pPr marL="271780">
              <a:lnSpc>
                <a:spcPts val="1405"/>
              </a:lnSpc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(in</a:t>
            </a:r>
            <a:r>
              <a:rPr dirty="0" sz="13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000)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816096" y="3553967"/>
            <a:ext cx="579120" cy="329565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430"/>
              </a:spcBef>
            </a:pP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668011" y="3553967"/>
            <a:ext cx="1027430" cy="326390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420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dirty="0" sz="13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005071" y="851916"/>
            <a:ext cx="2205355" cy="78359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35255" rIns="0" bIns="0" rtlCol="0" vert="horz">
            <a:spAutoFit/>
          </a:bodyPr>
          <a:lstStyle/>
          <a:p>
            <a:pPr marL="90805" marR="96520">
              <a:lnSpc>
                <a:spcPct val="100000"/>
              </a:lnSpc>
              <a:spcBef>
                <a:spcPts val="1065"/>
              </a:spcBef>
            </a:pPr>
            <a:r>
              <a:rPr dirty="0" sz="1100" spc="-10">
                <a:latin typeface="Calibri"/>
                <a:cs typeface="Calibri"/>
              </a:rPr>
              <a:t>Indonesian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microfinance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institution </a:t>
            </a:r>
            <a:r>
              <a:rPr dirty="0" sz="1100">
                <a:latin typeface="Calibri"/>
                <a:cs typeface="Calibri"/>
              </a:rPr>
              <a:t>established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2003 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Javan region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543555" y="4776215"/>
            <a:ext cx="1100455" cy="723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3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dirty="0" sz="1300" b="1">
                <a:latin typeface="Calibri"/>
                <a:cs typeface="Calibri"/>
              </a:rPr>
              <a:t>Rp</a:t>
            </a:r>
            <a:r>
              <a:rPr dirty="0" sz="1300" spc="5" b="1">
                <a:latin typeface="Calibri"/>
                <a:cs typeface="Calibri"/>
              </a:rPr>
              <a:t> </a:t>
            </a:r>
            <a:r>
              <a:rPr dirty="0" sz="1300" spc="-20" b="1">
                <a:latin typeface="Calibri"/>
                <a:cs typeface="Calibri"/>
              </a:rPr>
              <a:t>7000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48127" y="5612891"/>
            <a:ext cx="1092835" cy="723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</a:pPr>
            <a:r>
              <a:rPr dirty="0" sz="1300" b="1">
                <a:latin typeface="Calibri"/>
                <a:cs typeface="Calibri"/>
              </a:rPr>
              <a:t>Rp</a:t>
            </a:r>
            <a:r>
              <a:rPr dirty="0" sz="1300" spc="15" b="1">
                <a:latin typeface="Calibri"/>
                <a:cs typeface="Calibri"/>
              </a:rPr>
              <a:t> </a:t>
            </a:r>
            <a:r>
              <a:rPr dirty="0" sz="1300" spc="-10" b="1">
                <a:latin typeface="Calibri"/>
                <a:cs typeface="Calibri"/>
              </a:rPr>
              <a:t>7000-15000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84859" y="1208532"/>
            <a:ext cx="6939280" cy="4829810"/>
            <a:chOff x="784859" y="1208532"/>
            <a:chExt cx="6939280" cy="4829810"/>
          </a:xfrm>
        </p:grpSpPr>
        <p:pic>
          <p:nvPicPr>
            <p:cNvPr id="84" name="object 84" descr="Rupiah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46831" y="4892040"/>
              <a:ext cx="313944" cy="315468"/>
            </a:xfrm>
            <a:prstGeom prst="rect">
              <a:avLst/>
            </a:prstGeom>
          </p:spPr>
        </p:pic>
        <p:pic>
          <p:nvPicPr>
            <p:cNvPr id="85" name="object 85" descr="Rupiah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91611" y="4899660"/>
              <a:ext cx="313943" cy="315468"/>
            </a:xfrm>
            <a:prstGeom prst="rect">
              <a:avLst/>
            </a:prstGeom>
          </p:spPr>
        </p:pic>
        <p:pic>
          <p:nvPicPr>
            <p:cNvPr id="86" name="object 86" descr="Rupiah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7395" y="5722620"/>
              <a:ext cx="313944" cy="315468"/>
            </a:xfrm>
            <a:prstGeom prst="rect">
              <a:avLst/>
            </a:prstGeom>
          </p:spPr>
        </p:pic>
        <p:pic>
          <p:nvPicPr>
            <p:cNvPr id="87" name="object 87" descr="Rupiah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77895" y="5722620"/>
              <a:ext cx="315468" cy="315468"/>
            </a:xfrm>
            <a:prstGeom prst="rect">
              <a:avLst/>
            </a:prstGeom>
          </p:spPr>
        </p:pic>
        <p:pic>
          <p:nvPicPr>
            <p:cNvPr id="88" name="object 88" descr="Rupiah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0776" y="5722620"/>
              <a:ext cx="313944" cy="315468"/>
            </a:xfrm>
            <a:prstGeom prst="rect">
              <a:avLst/>
            </a:prstGeom>
          </p:spPr>
        </p:pic>
        <p:pic>
          <p:nvPicPr>
            <p:cNvPr id="89" name="object 89" descr="Location pin 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93291" y="2921508"/>
              <a:ext cx="170687" cy="170687"/>
            </a:xfrm>
            <a:prstGeom prst="rect">
              <a:avLst/>
            </a:prstGeom>
          </p:spPr>
        </p:pic>
        <p:pic>
          <p:nvPicPr>
            <p:cNvPr id="90" name="object 90" descr="Location pin 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4859" y="2691384"/>
              <a:ext cx="170687" cy="172212"/>
            </a:xfrm>
            <a:prstGeom prst="rect">
              <a:avLst/>
            </a:prstGeom>
          </p:spPr>
        </p:pic>
        <p:pic>
          <p:nvPicPr>
            <p:cNvPr id="91" name="object 91" descr="Increase 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39583" y="1208532"/>
              <a:ext cx="384048" cy="384048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4005071" y="1725167"/>
            <a:ext cx="2205355" cy="78359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26364" rIns="0" bIns="0" rtlCol="0" vert="horz">
            <a:spAutoFit/>
          </a:bodyPr>
          <a:lstStyle/>
          <a:p>
            <a:pPr algn="just" marL="95885" marR="203835">
              <a:lnSpc>
                <a:spcPct val="100000"/>
              </a:lnSpc>
              <a:spcBef>
                <a:spcPts val="994"/>
              </a:spcBef>
            </a:pPr>
            <a:r>
              <a:rPr dirty="0" sz="1100">
                <a:latin typeface="Calibri"/>
                <a:cs typeface="Calibri"/>
              </a:rPr>
              <a:t>Originally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established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private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8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shareholders</a:t>
            </a:r>
            <a:r>
              <a:rPr dirty="0" sz="1100" spc="-25">
                <a:latin typeface="Calibri"/>
                <a:cs typeface="Calibri"/>
              </a:rPr>
              <a:t> but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expanded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since</a:t>
            </a:r>
            <a:r>
              <a:rPr dirty="0" sz="1100" spc="-20">
                <a:latin typeface="Calibri"/>
                <a:cs typeface="Calibri"/>
              </a:rPr>
              <a:t> then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998976" y="2601467"/>
            <a:ext cx="2205355" cy="78232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26364" rIns="0" bIns="0" rtlCol="0" vert="horz">
            <a:spAutoFit/>
          </a:bodyPr>
          <a:lstStyle/>
          <a:p>
            <a:pPr marL="88900" marR="141605">
              <a:lnSpc>
                <a:spcPct val="100000"/>
              </a:lnSpc>
              <a:spcBef>
                <a:spcPts val="994"/>
              </a:spcBef>
            </a:pP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committed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financial </a:t>
            </a:r>
            <a:r>
              <a:rPr dirty="0" sz="1100">
                <a:latin typeface="Calibri"/>
                <a:cs typeface="Calibri"/>
              </a:rPr>
              <a:t>services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marginalized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low-</a:t>
            </a:r>
            <a:r>
              <a:rPr dirty="0" sz="1100">
                <a:latin typeface="Calibri"/>
                <a:cs typeface="Calibri"/>
              </a:rPr>
              <a:t>income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households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45083" y="6576161"/>
            <a:ext cx="19272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</a:tabLst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OVERVIEW</a:t>
            </a:r>
            <a:r>
              <a:rPr dirty="0" sz="1400" b="1">
                <a:solidFill>
                  <a:srgbClr val="385622"/>
                </a:solidFill>
                <a:latin typeface="Calibri"/>
                <a:cs typeface="Calibri"/>
              </a:rPr>
              <a:t>	</a:t>
            </a:r>
            <a:r>
              <a:rPr dirty="0" baseline="1984" sz="2100" spc="-15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baseline="1984" sz="21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100" name="object 100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81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40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0515" y="2057400"/>
            <a:ext cx="2417064" cy="39319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18935" y="1917509"/>
            <a:ext cx="3589020" cy="808990"/>
            <a:chOff x="318935" y="1917509"/>
            <a:chExt cx="3589020" cy="808990"/>
          </a:xfrm>
        </p:grpSpPr>
        <p:sp>
          <p:nvSpPr>
            <p:cNvPr id="4" name="object 4"/>
            <p:cNvSpPr/>
            <p:nvPr/>
          </p:nvSpPr>
          <p:spPr>
            <a:xfrm>
              <a:off x="333222" y="1931797"/>
              <a:ext cx="3560445" cy="780415"/>
            </a:xfrm>
            <a:custGeom>
              <a:avLst/>
              <a:gdLst/>
              <a:ahLst/>
              <a:cxnLst/>
              <a:rect l="l" t="t" r="r" b="b"/>
              <a:pathLst>
                <a:path w="3560445" h="780414">
                  <a:moveTo>
                    <a:pt x="3233064" y="0"/>
                  </a:moveTo>
                  <a:lnTo>
                    <a:pt x="0" y="0"/>
                  </a:lnTo>
                  <a:lnTo>
                    <a:pt x="0" y="780161"/>
                  </a:lnTo>
                  <a:lnTo>
                    <a:pt x="3233064" y="780161"/>
                  </a:lnTo>
                  <a:lnTo>
                    <a:pt x="3233064" y="777493"/>
                  </a:lnTo>
                  <a:lnTo>
                    <a:pt x="3260369" y="775588"/>
                  </a:lnTo>
                  <a:lnTo>
                    <a:pt x="3301771" y="766826"/>
                  </a:lnTo>
                  <a:lnTo>
                    <a:pt x="3341141" y="752475"/>
                  </a:lnTo>
                  <a:lnTo>
                    <a:pt x="3378352" y="733170"/>
                  </a:lnTo>
                  <a:lnTo>
                    <a:pt x="3413023" y="709167"/>
                  </a:lnTo>
                  <a:lnTo>
                    <a:pt x="3444900" y="680719"/>
                  </a:lnTo>
                  <a:lnTo>
                    <a:pt x="3473475" y="648462"/>
                  </a:lnTo>
                  <a:lnTo>
                    <a:pt x="3498494" y="612393"/>
                  </a:lnTo>
                  <a:lnTo>
                    <a:pt x="3519703" y="573151"/>
                  </a:lnTo>
                  <a:lnTo>
                    <a:pt x="3536848" y="530987"/>
                  </a:lnTo>
                  <a:lnTo>
                    <a:pt x="3549421" y="486282"/>
                  </a:lnTo>
                  <a:lnTo>
                    <a:pt x="3557168" y="439547"/>
                  </a:lnTo>
                  <a:lnTo>
                    <a:pt x="3559835" y="390778"/>
                  </a:lnTo>
                  <a:lnTo>
                    <a:pt x="3557168" y="342138"/>
                  </a:lnTo>
                  <a:lnTo>
                    <a:pt x="3549421" y="295401"/>
                  </a:lnTo>
                  <a:lnTo>
                    <a:pt x="3536848" y="250698"/>
                  </a:lnTo>
                  <a:lnTo>
                    <a:pt x="3519703" y="208533"/>
                  </a:lnTo>
                  <a:lnTo>
                    <a:pt x="3498494" y="169290"/>
                  </a:lnTo>
                  <a:lnTo>
                    <a:pt x="3473475" y="133223"/>
                  </a:lnTo>
                  <a:lnTo>
                    <a:pt x="3444900" y="100837"/>
                  </a:lnTo>
                  <a:lnTo>
                    <a:pt x="3413023" y="72516"/>
                  </a:lnTo>
                  <a:lnTo>
                    <a:pt x="3378352" y="48513"/>
                  </a:lnTo>
                  <a:lnTo>
                    <a:pt x="3341141" y="29082"/>
                  </a:lnTo>
                  <a:lnTo>
                    <a:pt x="3301771" y="14858"/>
                  </a:lnTo>
                  <a:lnTo>
                    <a:pt x="3260369" y="6095"/>
                  </a:lnTo>
                  <a:lnTo>
                    <a:pt x="3233064" y="4190"/>
                  </a:lnTo>
                  <a:lnTo>
                    <a:pt x="3233064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33222" y="1931797"/>
              <a:ext cx="3560445" cy="780415"/>
            </a:xfrm>
            <a:custGeom>
              <a:avLst/>
              <a:gdLst/>
              <a:ahLst/>
              <a:cxnLst/>
              <a:rect l="l" t="t" r="r" b="b"/>
              <a:pathLst>
                <a:path w="3560445" h="780414">
                  <a:moveTo>
                    <a:pt x="0" y="780161"/>
                  </a:moveTo>
                  <a:lnTo>
                    <a:pt x="3233064" y="780161"/>
                  </a:lnTo>
                  <a:lnTo>
                    <a:pt x="3233064" y="777493"/>
                  </a:lnTo>
                  <a:lnTo>
                    <a:pt x="3260369" y="775588"/>
                  </a:lnTo>
                  <a:lnTo>
                    <a:pt x="3301771" y="766826"/>
                  </a:lnTo>
                  <a:lnTo>
                    <a:pt x="3341141" y="752475"/>
                  </a:lnTo>
                  <a:lnTo>
                    <a:pt x="3378352" y="733170"/>
                  </a:lnTo>
                  <a:lnTo>
                    <a:pt x="3413023" y="709167"/>
                  </a:lnTo>
                  <a:lnTo>
                    <a:pt x="3444900" y="680719"/>
                  </a:lnTo>
                  <a:lnTo>
                    <a:pt x="3473475" y="648462"/>
                  </a:lnTo>
                  <a:lnTo>
                    <a:pt x="3498494" y="612393"/>
                  </a:lnTo>
                  <a:lnTo>
                    <a:pt x="3519703" y="573151"/>
                  </a:lnTo>
                  <a:lnTo>
                    <a:pt x="3536848" y="530987"/>
                  </a:lnTo>
                  <a:lnTo>
                    <a:pt x="3549421" y="486282"/>
                  </a:lnTo>
                  <a:lnTo>
                    <a:pt x="3557168" y="439547"/>
                  </a:lnTo>
                  <a:lnTo>
                    <a:pt x="3559835" y="390778"/>
                  </a:lnTo>
                  <a:lnTo>
                    <a:pt x="3557168" y="342138"/>
                  </a:lnTo>
                  <a:lnTo>
                    <a:pt x="3549421" y="295401"/>
                  </a:lnTo>
                  <a:lnTo>
                    <a:pt x="3536848" y="250698"/>
                  </a:lnTo>
                  <a:lnTo>
                    <a:pt x="3519703" y="208533"/>
                  </a:lnTo>
                  <a:lnTo>
                    <a:pt x="3498494" y="169290"/>
                  </a:lnTo>
                  <a:lnTo>
                    <a:pt x="3473475" y="133223"/>
                  </a:lnTo>
                  <a:lnTo>
                    <a:pt x="3444900" y="100837"/>
                  </a:lnTo>
                  <a:lnTo>
                    <a:pt x="3413023" y="72516"/>
                  </a:lnTo>
                  <a:lnTo>
                    <a:pt x="3378352" y="48513"/>
                  </a:lnTo>
                  <a:lnTo>
                    <a:pt x="3341141" y="29082"/>
                  </a:lnTo>
                  <a:lnTo>
                    <a:pt x="3301771" y="14858"/>
                  </a:lnTo>
                  <a:lnTo>
                    <a:pt x="3260369" y="6095"/>
                  </a:lnTo>
                  <a:lnTo>
                    <a:pt x="3233064" y="4190"/>
                  </a:lnTo>
                  <a:lnTo>
                    <a:pt x="3233064" y="0"/>
                  </a:lnTo>
                  <a:lnTo>
                    <a:pt x="0" y="0"/>
                  </a:lnTo>
                  <a:lnTo>
                    <a:pt x="0" y="780161"/>
                  </a:lnTo>
                  <a:close/>
                </a:path>
                <a:path w="3560445" h="780414">
                  <a:moveTo>
                    <a:pt x="408203" y="717676"/>
                  </a:moveTo>
                  <a:lnTo>
                    <a:pt x="408203" y="62737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7433" y="2153031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136" y="0"/>
                  </a:moveTo>
                  <a:lnTo>
                    <a:pt x="109474" y="5969"/>
                  </a:lnTo>
                  <a:lnTo>
                    <a:pt x="73850" y="22987"/>
                  </a:lnTo>
                  <a:lnTo>
                    <a:pt x="43662" y="49276"/>
                  </a:lnTo>
                  <a:lnTo>
                    <a:pt x="20358" y="83312"/>
                  </a:lnTo>
                  <a:lnTo>
                    <a:pt x="5321" y="123571"/>
                  </a:lnTo>
                  <a:lnTo>
                    <a:pt x="0" y="168148"/>
                  </a:lnTo>
                  <a:lnTo>
                    <a:pt x="5321" y="212852"/>
                  </a:lnTo>
                  <a:lnTo>
                    <a:pt x="20358" y="253111"/>
                  </a:lnTo>
                  <a:lnTo>
                    <a:pt x="43662" y="287147"/>
                  </a:lnTo>
                  <a:lnTo>
                    <a:pt x="73850" y="313436"/>
                  </a:lnTo>
                  <a:lnTo>
                    <a:pt x="109474" y="330454"/>
                  </a:lnTo>
                  <a:lnTo>
                    <a:pt x="149136" y="336423"/>
                  </a:lnTo>
                  <a:lnTo>
                    <a:pt x="188798" y="330454"/>
                  </a:lnTo>
                  <a:lnTo>
                    <a:pt x="224434" y="313436"/>
                  </a:lnTo>
                  <a:lnTo>
                    <a:pt x="254609" y="287147"/>
                  </a:lnTo>
                  <a:lnTo>
                    <a:pt x="277926" y="253111"/>
                  </a:lnTo>
                  <a:lnTo>
                    <a:pt x="292950" y="212852"/>
                  </a:lnTo>
                  <a:lnTo>
                    <a:pt x="298272" y="168148"/>
                  </a:lnTo>
                  <a:lnTo>
                    <a:pt x="292950" y="123571"/>
                  </a:lnTo>
                  <a:lnTo>
                    <a:pt x="277926" y="83312"/>
                  </a:lnTo>
                  <a:lnTo>
                    <a:pt x="254609" y="49276"/>
                  </a:lnTo>
                  <a:lnTo>
                    <a:pt x="224434" y="22987"/>
                  </a:lnTo>
                  <a:lnTo>
                    <a:pt x="188798" y="5969"/>
                  </a:lnTo>
                  <a:lnTo>
                    <a:pt x="149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7433" y="2153031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136" y="336423"/>
                  </a:moveTo>
                  <a:lnTo>
                    <a:pt x="188798" y="330454"/>
                  </a:lnTo>
                  <a:lnTo>
                    <a:pt x="224434" y="313436"/>
                  </a:lnTo>
                  <a:lnTo>
                    <a:pt x="254609" y="287147"/>
                  </a:lnTo>
                  <a:lnTo>
                    <a:pt x="277926" y="253111"/>
                  </a:lnTo>
                  <a:lnTo>
                    <a:pt x="292950" y="212852"/>
                  </a:lnTo>
                  <a:lnTo>
                    <a:pt x="298272" y="168148"/>
                  </a:lnTo>
                  <a:lnTo>
                    <a:pt x="292950" y="123571"/>
                  </a:lnTo>
                  <a:lnTo>
                    <a:pt x="277926" y="83312"/>
                  </a:lnTo>
                  <a:lnTo>
                    <a:pt x="254609" y="49276"/>
                  </a:lnTo>
                  <a:lnTo>
                    <a:pt x="224434" y="22987"/>
                  </a:lnTo>
                  <a:lnTo>
                    <a:pt x="188798" y="5969"/>
                  </a:lnTo>
                  <a:lnTo>
                    <a:pt x="149136" y="0"/>
                  </a:lnTo>
                  <a:lnTo>
                    <a:pt x="109474" y="5969"/>
                  </a:lnTo>
                  <a:lnTo>
                    <a:pt x="73850" y="22987"/>
                  </a:lnTo>
                  <a:lnTo>
                    <a:pt x="43662" y="49276"/>
                  </a:lnTo>
                  <a:lnTo>
                    <a:pt x="20358" y="83312"/>
                  </a:lnTo>
                  <a:lnTo>
                    <a:pt x="5321" y="123571"/>
                  </a:lnTo>
                  <a:lnTo>
                    <a:pt x="0" y="168148"/>
                  </a:lnTo>
                  <a:lnTo>
                    <a:pt x="5321" y="212852"/>
                  </a:lnTo>
                  <a:lnTo>
                    <a:pt x="20358" y="253111"/>
                  </a:lnTo>
                  <a:lnTo>
                    <a:pt x="43662" y="287147"/>
                  </a:lnTo>
                  <a:lnTo>
                    <a:pt x="73850" y="313436"/>
                  </a:lnTo>
                  <a:lnTo>
                    <a:pt x="109474" y="330454"/>
                  </a:lnTo>
                  <a:lnTo>
                    <a:pt x="149136" y="336423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47852" y="2197100"/>
            <a:ext cx="205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7859" y="969263"/>
            <a:ext cx="748284" cy="13883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003" y="987552"/>
            <a:ext cx="2997835" cy="370840"/>
          </a:xfrm>
          <a:prstGeom prst="rect">
            <a:avLst/>
          </a:prstGeom>
          <a:solidFill>
            <a:srgbClr val="385622"/>
          </a:solidFill>
          <a:ln w="9525">
            <a:solidFill>
              <a:srgbClr val="000000"/>
            </a:solidFill>
          </a:ln>
        </p:spPr>
        <p:txBody>
          <a:bodyPr wrap="square" lIns="0" tIns="3111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44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CUSTOMER’S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SIDE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96400" y="967739"/>
            <a:ext cx="2834640" cy="368935"/>
          </a:xfrm>
          <a:prstGeom prst="rect">
            <a:avLst/>
          </a:prstGeom>
          <a:solidFill>
            <a:srgbClr val="385622"/>
          </a:solidFill>
          <a:ln w="9525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4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COMPANY’S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SIDE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5031" y="4066349"/>
            <a:ext cx="3579495" cy="810260"/>
            <a:chOff x="325031" y="4066349"/>
            <a:chExt cx="3579495" cy="810260"/>
          </a:xfrm>
        </p:grpSpPr>
        <p:sp>
          <p:nvSpPr>
            <p:cNvPr id="13" name="object 13"/>
            <p:cNvSpPr/>
            <p:nvPr/>
          </p:nvSpPr>
          <p:spPr>
            <a:xfrm>
              <a:off x="339318" y="4080636"/>
              <a:ext cx="3550920" cy="781685"/>
            </a:xfrm>
            <a:custGeom>
              <a:avLst/>
              <a:gdLst/>
              <a:ahLst/>
              <a:cxnLst/>
              <a:rect l="l" t="t" r="r" b="b"/>
              <a:pathLst>
                <a:path w="3550920" h="781685">
                  <a:moveTo>
                    <a:pt x="3224809" y="0"/>
                  </a:moveTo>
                  <a:lnTo>
                    <a:pt x="0" y="0"/>
                  </a:lnTo>
                  <a:lnTo>
                    <a:pt x="0" y="781685"/>
                  </a:lnTo>
                  <a:lnTo>
                    <a:pt x="3224809" y="781685"/>
                  </a:lnTo>
                  <a:lnTo>
                    <a:pt x="3224809" y="779018"/>
                  </a:lnTo>
                  <a:lnTo>
                    <a:pt x="3251987" y="777113"/>
                  </a:lnTo>
                  <a:lnTo>
                    <a:pt x="3293262" y="768350"/>
                  </a:lnTo>
                  <a:lnTo>
                    <a:pt x="3332632" y="753999"/>
                  </a:lnTo>
                  <a:lnTo>
                    <a:pt x="3369716" y="734694"/>
                  </a:lnTo>
                  <a:lnTo>
                    <a:pt x="3404260" y="710564"/>
                  </a:lnTo>
                  <a:lnTo>
                    <a:pt x="3436010" y="682117"/>
                  </a:lnTo>
                  <a:lnTo>
                    <a:pt x="3464458" y="649732"/>
                  </a:lnTo>
                  <a:lnTo>
                    <a:pt x="3489477" y="613663"/>
                  </a:lnTo>
                  <a:lnTo>
                    <a:pt x="3510686" y="574294"/>
                  </a:lnTo>
                  <a:lnTo>
                    <a:pt x="3527704" y="532002"/>
                  </a:lnTo>
                  <a:lnTo>
                    <a:pt x="3540277" y="487299"/>
                  </a:lnTo>
                  <a:lnTo>
                    <a:pt x="3548024" y="440308"/>
                  </a:lnTo>
                  <a:lnTo>
                    <a:pt x="3550691" y="391668"/>
                  </a:lnTo>
                  <a:lnTo>
                    <a:pt x="3548024" y="342900"/>
                  </a:lnTo>
                  <a:lnTo>
                    <a:pt x="3540277" y="295910"/>
                  </a:lnTo>
                  <a:lnTo>
                    <a:pt x="3527704" y="251206"/>
                  </a:lnTo>
                  <a:lnTo>
                    <a:pt x="3510686" y="208914"/>
                  </a:lnTo>
                  <a:lnTo>
                    <a:pt x="3489477" y="169544"/>
                  </a:lnTo>
                  <a:lnTo>
                    <a:pt x="3464458" y="133476"/>
                  </a:lnTo>
                  <a:lnTo>
                    <a:pt x="3436010" y="101092"/>
                  </a:lnTo>
                  <a:lnTo>
                    <a:pt x="3404260" y="72643"/>
                  </a:lnTo>
                  <a:lnTo>
                    <a:pt x="3369716" y="48513"/>
                  </a:lnTo>
                  <a:lnTo>
                    <a:pt x="3332632" y="29210"/>
                  </a:lnTo>
                  <a:lnTo>
                    <a:pt x="3293262" y="14858"/>
                  </a:lnTo>
                  <a:lnTo>
                    <a:pt x="3251987" y="6095"/>
                  </a:lnTo>
                  <a:lnTo>
                    <a:pt x="3224809" y="4190"/>
                  </a:lnTo>
                  <a:lnTo>
                    <a:pt x="3224809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9318" y="4080636"/>
              <a:ext cx="3550920" cy="781685"/>
            </a:xfrm>
            <a:custGeom>
              <a:avLst/>
              <a:gdLst/>
              <a:ahLst/>
              <a:cxnLst/>
              <a:rect l="l" t="t" r="r" b="b"/>
              <a:pathLst>
                <a:path w="3550920" h="781685">
                  <a:moveTo>
                    <a:pt x="0" y="781685"/>
                  </a:moveTo>
                  <a:lnTo>
                    <a:pt x="3224809" y="781685"/>
                  </a:lnTo>
                  <a:lnTo>
                    <a:pt x="3224809" y="779018"/>
                  </a:lnTo>
                  <a:lnTo>
                    <a:pt x="3251987" y="777113"/>
                  </a:lnTo>
                  <a:lnTo>
                    <a:pt x="3293262" y="768350"/>
                  </a:lnTo>
                  <a:lnTo>
                    <a:pt x="3332632" y="753999"/>
                  </a:lnTo>
                  <a:lnTo>
                    <a:pt x="3369716" y="734694"/>
                  </a:lnTo>
                  <a:lnTo>
                    <a:pt x="3404260" y="710564"/>
                  </a:lnTo>
                  <a:lnTo>
                    <a:pt x="3436010" y="682117"/>
                  </a:lnTo>
                  <a:lnTo>
                    <a:pt x="3464458" y="649732"/>
                  </a:lnTo>
                  <a:lnTo>
                    <a:pt x="3489477" y="613663"/>
                  </a:lnTo>
                  <a:lnTo>
                    <a:pt x="3510686" y="574294"/>
                  </a:lnTo>
                  <a:lnTo>
                    <a:pt x="3527704" y="532002"/>
                  </a:lnTo>
                  <a:lnTo>
                    <a:pt x="3540277" y="487299"/>
                  </a:lnTo>
                  <a:lnTo>
                    <a:pt x="3548024" y="440308"/>
                  </a:lnTo>
                  <a:lnTo>
                    <a:pt x="3550691" y="391668"/>
                  </a:lnTo>
                  <a:lnTo>
                    <a:pt x="3548024" y="342900"/>
                  </a:lnTo>
                  <a:lnTo>
                    <a:pt x="3540277" y="295910"/>
                  </a:lnTo>
                  <a:lnTo>
                    <a:pt x="3527704" y="251206"/>
                  </a:lnTo>
                  <a:lnTo>
                    <a:pt x="3510686" y="208914"/>
                  </a:lnTo>
                  <a:lnTo>
                    <a:pt x="3489477" y="169544"/>
                  </a:lnTo>
                  <a:lnTo>
                    <a:pt x="3464458" y="133476"/>
                  </a:lnTo>
                  <a:lnTo>
                    <a:pt x="3436010" y="101092"/>
                  </a:lnTo>
                  <a:lnTo>
                    <a:pt x="3404260" y="72643"/>
                  </a:lnTo>
                  <a:lnTo>
                    <a:pt x="3369716" y="48513"/>
                  </a:lnTo>
                  <a:lnTo>
                    <a:pt x="3332632" y="29210"/>
                  </a:lnTo>
                  <a:lnTo>
                    <a:pt x="3293262" y="14858"/>
                  </a:lnTo>
                  <a:lnTo>
                    <a:pt x="3251987" y="6095"/>
                  </a:lnTo>
                  <a:lnTo>
                    <a:pt x="3224809" y="4190"/>
                  </a:lnTo>
                  <a:lnTo>
                    <a:pt x="3224809" y="0"/>
                  </a:lnTo>
                  <a:lnTo>
                    <a:pt x="0" y="0"/>
                  </a:lnTo>
                  <a:lnTo>
                    <a:pt x="0" y="781685"/>
                  </a:lnTo>
                  <a:close/>
                </a:path>
                <a:path w="3550920" h="781685">
                  <a:moveTo>
                    <a:pt x="406679" y="719201"/>
                  </a:moveTo>
                  <a:lnTo>
                    <a:pt x="406679" y="64262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3529" y="4303394"/>
              <a:ext cx="297180" cy="336550"/>
            </a:xfrm>
            <a:custGeom>
              <a:avLst/>
              <a:gdLst/>
              <a:ahLst/>
              <a:cxnLst/>
              <a:rect l="l" t="t" r="r" b="b"/>
              <a:pathLst>
                <a:path w="297180" h="336550">
                  <a:moveTo>
                    <a:pt x="148374" y="0"/>
                  </a:moveTo>
                  <a:lnTo>
                    <a:pt x="108915" y="5968"/>
                  </a:lnTo>
                  <a:lnTo>
                    <a:pt x="73469" y="22986"/>
                  </a:lnTo>
                  <a:lnTo>
                    <a:pt x="43434" y="49275"/>
                  </a:lnTo>
                  <a:lnTo>
                    <a:pt x="20243" y="83311"/>
                  </a:lnTo>
                  <a:lnTo>
                    <a:pt x="5295" y="123570"/>
                  </a:lnTo>
                  <a:lnTo>
                    <a:pt x="0" y="168147"/>
                  </a:lnTo>
                  <a:lnTo>
                    <a:pt x="5295" y="212851"/>
                  </a:lnTo>
                  <a:lnTo>
                    <a:pt x="20243" y="253110"/>
                  </a:lnTo>
                  <a:lnTo>
                    <a:pt x="43434" y="287146"/>
                  </a:lnTo>
                  <a:lnTo>
                    <a:pt x="73469" y="313435"/>
                  </a:lnTo>
                  <a:lnTo>
                    <a:pt x="108915" y="330453"/>
                  </a:lnTo>
                  <a:lnTo>
                    <a:pt x="148374" y="336422"/>
                  </a:lnTo>
                  <a:lnTo>
                    <a:pt x="187833" y="330453"/>
                  </a:lnTo>
                  <a:lnTo>
                    <a:pt x="223278" y="313435"/>
                  </a:lnTo>
                  <a:lnTo>
                    <a:pt x="253314" y="287146"/>
                  </a:lnTo>
                  <a:lnTo>
                    <a:pt x="276504" y="253110"/>
                  </a:lnTo>
                  <a:lnTo>
                    <a:pt x="291452" y="212851"/>
                  </a:lnTo>
                  <a:lnTo>
                    <a:pt x="296748" y="168147"/>
                  </a:lnTo>
                  <a:lnTo>
                    <a:pt x="291452" y="123570"/>
                  </a:lnTo>
                  <a:lnTo>
                    <a:pt x="276504" y="83311"/>
                  </a:lnTo>
                  <a:lnTo>
                    <a:pt x="253314" y="49275"/>
                  </a:lnTo>
                  <a:lnTo>
                    <a:pt x="223278" y="22986"/>
                  </a:lnTo>
                  <a:lnTo>
                    <a:pt x="187833" y="5968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03529" y="4303394"/>
              <a:ext cx="297180" cy="336550"/>
            </a:xfrm>
            <a:custGeom>
              <a:avLst/>
              <a:gdLst/>
              <a:ahLst/>
              <a:cxnLst/>
              <a:rect l="l" t="t" r="r" b="b"/>
              <a:pathLst>
                <a:path w="297180" h="336550">
                  <a:moveTo>
                    <a:pt x="148374" y="336422"/>
                  </a:moveTo>
                  <a:lnTo>
                    <a:pt x="187833" y="330453"/>
                  </a:lnTo>
                  <a:lnTo>
                    <a:pt x="223278" y="313435"/>
                  </a:lnTo>
                  <a:lnTo>
                    <a:pt x="253314" y="287146"/>
                  </a:lnTo>
                  <a:lnTo>
                    <a:pt x="276504" y="253110"/>
                  </a:lnTo>
                  <a:lnTo>
                    <a:pt x="291452" y="212851"/>
                  </a:lnTo>
                  <a:lnTo>
                    <a:pt x="296748" y="168147"/>
                  </a:lnTo>
                  <a:lnTo>
                    <a:pt x="291452" y="123570"/>
                  </a:lnTo>
                  <a:lnTo>
                    <a:pt x="276504" y="83311"/>
                  </a:lnTo>
                  <a:lnTo>
                    <a:pt x="253314" y="49275"/>
                  </a:lnTo>
                  <a:lnTo>
                    <a:pt x="223278" y="22986"/>
                  </a:lnTo>
                  <a:lnTo>
                    <a:pt x="187833" y="5968"/>
                  </a:lnTo>
                  <a:lnTo>
                    <a:pt x="148374" y="0"/>
                  </a:lnTo>
                  <a:lnTo>
                    <a:pt x="108915" y="5968"/>
                  </a:lnTo>
                  <a:lnTo>
                    <a:pt x="73469" y="22986"/>
                  </a:lnTo>
                  <a:lnTo>
                    <a:pt x="43434" y="49275"/>
                  </a:lnTo>
                  <a:lnTo>
                    <a:pt x="20243" y="83311"/>
                  </a:lnTo>
                  <a:lnTo>
                    <a:pt x="5295" y="123570"/>
                  </a:lnTo>
                  <a:lnTo>
                    <a:pt x="0" y="168147"/>
                  </a:lnTo>
                  <a:lnTo>
                    <a:pt x="5295" y="212851"/>
                  </a:lnTo>
                  <a:lnTo>
                    <a:pt x="20243" y="253110"/>
                  </a:lnTo>
                  <a:lnTo>
                    <a:pt x="43434" y="287146"/>
                  </a:lnTo>
                  <a:lnTo>
                    <a:pt x="73469" y="313435"/>
                  </a:lnTo>
                  <a:lnTo>
                    <a:pt x="108915" y="330453"/>
                  </a:lnTo>
                  <a:lnTo>
                    <a:pt x="148374" y="336422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318935" y="2991929"/>
            <a:ext cx="3579495" cy="808990"/>
            <a:chOff x="318935" y="2991929"/>
            <a:chExt cx="3579495" cy="808990"/>
          </a:xfrm>
        </p:grpSpPr>
        <p:sp>
          <p:nvSpPr>
            <p:cNvPr id="18" name="object 18"/>
            <p:cNvSpPr/>
            <p:nvPr/>
          </p:nvSpPr>
          <p:spPr>
            <a:xfrm>
              <a:off x="333222" y="3006217"/>
              <a:ext cx="3550920" cy="780415"/>
            </a:xfrm>
            <a:custGeom>
              <a:avLst/>
              <a:gdLst/>
              <a:ahLst/>
              <a:cxnLst/>
              <a:rect l="l" t="t" r="r" b="b"/>
              <a:pathLst>
                <a:path w="3550920" h="780414">
                  <a:moveTo>
                    <a:pt x="3224809" y="0"/>
                  </a:moveTo>
                  <a:lnTo>
                    <a:pt x="0" y="0"/>
                  </a:lnTo>
                  <a:lnTo>
                    <a:pt x="0" y="780161"/>
                  </a:lnTo>
                  <a:lnTo>
                    <a:pt x="3224809" y="780161"/>
                  </a:lnTo>
                  <a:lnTo>
                    <a:pt x="3224809" y="777494"/>
                  </a:lnTo>
                  <a:lnTo>
                    <a:pt x="3251987" y="775589"/>
                  </a:lnTo>
                  <a:lnTo>
                    <a:pt x="3293262" y="766826"/>
                  </a:lnTo>
                  <a:lnTo>
                    <a:pt x="3332632" y="752475"/>
                  </a:lnTo>
                  <a:lnTo>
                    <a:pt x="3369716" y="733171"/>
                  </a:lnTo>
                  <a:lnTo>
                    <a:pt x="3404260" y="709168"/>
                  </a:lnTo>
                  <a:lnTo>
                    <a:pt x="3436010" y="680720"/>
                  </a:lnTo>
                  <a:lnTo>
                    <a:pt x="3464458" y="648462"/>
                  </a:lnTo>
                  <a:lnTo>
                    <a:pt x="3489477" y="612394"/>
                  </a:lnTo>
                  <a:lnTo>
                    <a:pt x="3510686" y="573151"/>
                  </a:lnTo>
                  <a:lnTo>
                    <a:pt x="3527704" y="530987"/>
                  </a:lnTo>
                  <a:lnTo>
                    <a:pt x="3540277" y="486283"/>
                  </a:lnTo>
                  <a:lnTo>
                    <a:pt x="3548024" y="439547"/>
                  </a:lnTo>
                  <a:lnTo>
                    <a:pt x="3550691" y="390779"/>
                  </a:lnTo>
                  <a:lnTo>
                    <a:pt x="3548024" y="342138"/>
                  </a:lnTo>
                  <a:lnTo>
                    <a:pt x="3540277" y="295402"/>
                  </a:lnTo>
                  <a:lnTo>
                    <a:pt x="3527704" y="250698"/>
                  </a:lnTo>
                  <a:lnTo>
                    <a:pt x="3510686" y="208534"/>
                  </a:lnTo>
                  <a:lnTo>
                    <a:pt x="3489477" y="169291"/>
                  </a:lnTo>
                  <a:lnTo>
                    <a:pt x="3464458" y="133223"/>
                  </a:lnTo>
                  <a:lnTo>
                    <a:pt x="3436010" y="100837"/>
                  </a:lnTo>
                  <a:lnTo>
                    <a:pt x="3404260" y="72517"/>
                  </a:lnTo>
                  <a:lnTo>
                    <a:pt x="3369716" y="48513"/>
                  </a:lnTo>
                  <a:lnTo>
                    <a:pt x="3332632" y="29083"/>
                  </a:lnTo>
                  <a:lnTo>
                    <a:pt x="3293262" y="14859"/>
                  </a:lnTo>
                  <a:lnTo>
                    <a:pt x="3251987" y="6096"/>
                  </a:lnTo>
                  <a:lnTo>
                    <a:pt x="3224809" y="4191"/>
                  </a:lnTo>
                  <a:lnTo>
                    <a:pt x="3224809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3222" y="3006217"/>
              <a:ext cx="3550920" cy="780415"/>
            </a:xfrm>
            <a:custGeom>
              <a:avLst/>
              <a:gdLst/>
              <a:ahLst/>
              <a:cxnLst/>
              <a:rect l="l" t="t" r="r" b="b"/>
              <a:pathLst>
                <a:path w="3550920" h="780414">
                  <a:moveTo>
                    <a:pt x="0" y="780161"/>
                  </a:moveTo>
                  <a:lnTo>
                    <a:pt x="3224809" y="780161"/>
                  </a:lnTo>
                  <a:lnTo>
                    <a:pt x="3224809" y="777494"/>
                  </a:lnTo>
                  <a:lnTo>
                    <a:pt x="3251987" y="775589"/>
                  </a:lnTo>
                  <a:lnTo>
                    <a:pt x="3293262" y="766826"/>
                  </a:lnTo>
                  <a:lnTo>
                    <a:pt x="3332632" y="752475"/>
                  </a:lnTo>
                  <a:lnTo>
                    <a:pt x="3369716" y="733171"/>
                  </a:lnTo>
                  <a:lnTo>
                    <a:pt x="3404260" y="709168"/>
                  </a:lnTo>
                  <a:lnTo>
                    <a:pt x="3436010" y="680720"/>
                  </a:lnTo>
                  <a:lnTo>
                    <a:pt x="3464458" y="648462"/>
                  </a:lnTo>
                  <a:lnTo>
                    <a:pt x="3489477" y="612394"/>
                  </a:lnTo>
                  <a:lnTo>
                    <a:pt x="3510686" y="573151"/>
                  </a:lnTo>
                  <a:lnTo>
                    <a:pt x="3527704" y="530987"/>
                  </a:lnTo>
                  <a:lnTo>
                    <a:pt x="3540277" y="486283"/>
                  </a:lnTo>
                  <a:lnTo>
                    <a:pt x="3548024" y="439547"/>
                  </a:lnTo>
                  <a:lnTo>
                    <a:pt x="3550691" y="390779"/>
                  </a:lnTo>
                  <a:lnTo>
                    <a:pt x="3548024" y="342138"/>
                  </a:lnTo>
                  <a:lnTo>
                    <a:pt x="3540277" y="295402"/>
                  </a:lnTo>
                  <a:lnTo>
                    <a:pt x="3527704" y="250698"/>
                  </a:lnTo>
                  <a:lnTo>
                    <a:pt x="3510686" y="208534"/>
                  </a:lnTo>
                  <a:lnTo>
                    <a:pt x="3489477" y="169291"/>
                  </a:lnTo>
                  <a:lnTo>
                    <a:pt x="3464458" y="133223"/>
                  </a:lnTo>
                  <a:lnTo>
                    <a:pt x="3436010" y="100837"/>
                  </a:lnTo>
                  <a:lnTo>
                    <a:pt x="3404260" y="72517"/>
                  </a:lnTo>
                  <a:lnTo>
                    <a:pt x="3369716" y="48513"/>
                  </a:lnTo>
                  <a:lnTo>
                    <a:pt x="3332632" y="29083"/>
                  </a:lnTo>
                  <a:lnTo>
                    <a:pt x="3293262" y="14859"/>
                  </a:lnTo>
                  <a:lnTo>
                    <a:pt x="3251987" y="6096"/>
                  </a:lnTo>
                  <a:lnTo>
                    <a:pt x="3224809" y="4191"/>
                  </a:lnTo>
                  <a:lnTo>
                    <a:pt x="3224809" y="0"/>
                  </a:lnTo>
                  <a:lnTo>
                    <a:pt x="0" y="0"/>
                  </a:lnTo>
                  <a:lnTo>
                    <a:pt x="0" y="780161"/>
                  </a:lnTo>
                  <a:close/>
                </a:path>
                <a:path w="3550920" h="780414">
                  <a:moveTo>
                    <a:pt x="406679" y="717677"/>
                  </a:moveTo>
                  <a:lnTo>
                    <a:pt x="406679" y="62737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7433" y="3228975"/>
              <a:ext cx="297180" cy="336550"/>
            </a:xfrm>
            <a:custGeom>
              <a:avLst/>
              <a:gdLst/>
              <a:ahLst/>
              <a:cxnLst/>
              <a:rect l="l" t="t" r="r" b="b"/>
              <a:pathLst>
                <a:path w="297180" h="336550">
                  <a:moveTo>
                    <a:pt x="148374" y="0"/>
                  </a:moveTo>
                  <a:lnTo>
                    <a:pt x="108915" y="5969"/>
                  </a:lnTo>
                  <a:lnTo>
                    <a:pt x="73469" y="22987"/>
                  </a:lnTo>
                  <a:lnTo>
                    <a:pt x="43433" y="49275"/>
                  </a:lnTo>
                  <a:lnTo>
                    <a:pt x="20243" y="83312"/>
                  </a:lnTo>
                  <a:lnTo>
                    <a:pt x="5295" y="123571"/>
                  </a:lnTo>
                  <a:lnTo>
                    <a:pt x="0" y="168148"/>
                  </a:lnTo>
                  <a:lnTo>
                    <a:pt x="5295" y="212851"/>
                  </a:lnTo>
                  <a:lnTo>
                    <a:pt x="20243" y="253111"/>
                  </a:lnTo>
                  <a:lnTo>
                    <a:pt x="43433" y="287147"/>
                  </a:lnTo>
                  <a:lnTo>
                    <a:pt x="73469" y="313436"/>
                  </a:lnTo>
                  <a:lnTo>
                    <a:pt x="108915" y="330453"/>
                  </a:lnTo>
                  <a:lnTo>
                    <a:pt x="148374" y="336423"/>
                  </a:lnTo>
                  <a:lnTo>
                    <a:pt x="187833" y="330453"/>
                  </a:lnTo>
                  <a:lnTo>
                    <a:pt x="223278" y="313436"/>
                  </a:lnTo>
                  <a:lnTo>
                    <a:pt x="253314" y="287147"/>
                  </a:lnTo>
                  <a:lnTo>
                    <a:pt x="276504" y="253111"/>
                  </a:lnTo>
                  <a:lnTo>
                    <a:pt x="291452" y="212851"/>
                  </a:lnTo>
                  <a:lnTo>
                    <a:pt x="296748" y="168148"/>
                  </a:lnTo>
                  <a:lnTo>
                    <a:pt x="291452" y="123571"/>
                  </a:lnTo>
                  <a:lnTo>
                    <a:pt x="276504" y="83312"/>
                  </a:lnTo>
                  <a:lnTo>
                    <a:pt x="253314" y="49275"/>
                  </a:lnTo>
                  <a:lnTo>
                    <a:pt x="223278" y="22987"/>
                  </a:lnTo>
                  <a:lnTo>
                    <a:pt x="187833" y="5969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7433" y="3228975"/>
              <a:ext cx="297180" cy="336550"/>
            </a:xfrm>
            <a:custGeom>
              <a:avLst/>
              <a:gdLst/>
              <a:ahLst/>
              <a:cxnLst/>
              <a:rect l="l" t="t" r="r" b="b"/>
              <a:pathLst>
                <a:path w="297180" h="336550">
                  <a:moveTo>
                    <a:pt x="148374" y="336423"/>
                  </a:moveTo>
                  <a:lnTo>
                    <a:pt x="187833" y="330453"/>
                  </a:lnTo>
                  <a:lnTo>
                    <a:pt x="223278" y="313436"/>
                  </a:lnTo>
                  <a:lnTo>
                    <a:pt x="253314" y="287147"/>
                  </a:lnTo>
                  <a:lnTo>
                    <a:pt x="276504" y="253111"/>
                  </a:lnTo>
                  <a:lnTo>
                    <a:pt x="291452" y="212851"/>
                  </a:lnTo>
                  <a:lnTo>
                    <a:pt x="296748" y="168148"/>
                  </a:lnTo>
                  <a:lnTo>
                    <a:pt x="291452" y="123571"/>
                  </a:lnTo>
                  <a:lnTo>
                    <a:pt x="276504" y="83312"/>
                  </a:lnTo>
                  <a:lnTo>
                    <a:pt x="253314" y="49275"/>
                  </a:lnTo>
                  <a:lnTo>
                    <a:pt x="223278" y="22987"/>
                  </a:lnTo>
                  <a:lnTo>
                    <a:pt x="187833" y="5969"/>
                  </a:lnTo>
                  <a:lnTo>
                    <a:pt x="148374" y="0"/>
                  </a:lnTo>
                  <a:lnTo>
                    <a:pt x="108915" y="5969"/>
                  </a:lnTo>
                  <a:lnTo>
                    <a:pt x="73469" y="22987"/>
                  </a:lnTo>
                  <a:lnTo>
                    <a:pt x="43433" y="49275"/>
                  </a:lnTo>
                  <a:lnTo>
                    <a:pt x="20243" y="83312"/>
                  </a:lnTo>
                  <a:lnTo>
                    <a:pt x="5295" y="123571"/>
                  </a:lnTo>
                  <a:lnTo>
                    <a:pt x="0" y="168148"/>
                  </a:lnTo>
                  <a:lnTo>
                    <a:pt x="5295" y="212851"/>
                  </a:lnTo>
                  <a:lnTo>
                    <a:pt x="20243" y="253111"/>
                  </a:lnTo>
                  <a:lnTo>
                    <a:pt x="43433" y="287147"/>
                  </a:lnTo>
                  <a:lnTo>
                    <a:pt x="73469" y="313436"/>
                  </a:lnTo>
                  <a:lnTo>
                    <a:pt x="108915" y="330453"/>
                  </a:lnTo>
                  <a:lnTo>
                    <a:pt x="148374" y="336423"/>
                  </a:lnTo>
                  <a:close/>
                </a:path>
              </a:pathLst>
            </a:custGeom>
            <a:ln w="2857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8298370" y="4041838"/>
            <a:ext cx="3585845" cy="808990"/>
            <a:chOff x="8298370" y="4041838"/>
            <a:chExt cx="3585845" cy="808990"/>
          </a:xfrm>
        </p:grpSpPr>
        <p:sp>
          <p:nvSpPr>
            <p:cNvPr id="23" name="object 23"/>
            <p:cNvSpPr/>
            <p:nvPr/>
          </p:nvSpPr>
          <p:spPr>
            <a:xfrm>
              <a:off x="8312657" y="4056126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7"/>
                  </a:lnTo>
                  <a:lnTo>
                    <a:pt x="299212" y="4572"/>
                  </a:lnTo>
                  <a:lnTo>
                    <a:pt x="257810" y="13335"/>
                  </a:lnTo>
                  <a:lnTo>
                    <a:pt x="218440" y="27686"/>
                  </a:lnTo>
                  <a:lnTo>
                    <a:pt x="181228" y="46990"/>
                  </a:lnTo>
                  <a:lnTo>
                    <a:pt x="146685" y="70993"/>
                  </a:lnTo>
                  <a:lnTo>
                    <a:pt x="114935" y="99441"/>
                  </a:lnTo>
                  <a:lnTo>
                    <a:pt x="86360" y="131699"/>
                  </a:lnTo>
                  <a:lnTo>
                    <a:pt x="61341" y="167767"/>
                  </a:lnTo>
                  <a:lnTo>
                    <a:pt x="40132" y="207010"/>
                  </a:lnTo>
                  <a:lnTo>
                    <a:pt x="22987" y="249174"/>
                  </a:lnTo>
                  <a:lnTo>
                    <a:pt x="10414" y="293878"/>
                  </a:lnTo>
                  <a:lnTo>
                    <a:pt x="2667" y="340613"/>
                  </a:lnTo>
                  <a:lnTo>
                    <a:pt x="0" y="389381"/>
                  </a:lnTo>
                  <a:lnTo>
                    <a:pt x="2667" y="438023"/>
                  </a:lnTo>
                  <a:lnTo>
                    <a:pt x="10414" y="484759"/>
                  </a:lnTo>
                  <a:lnTo>
                    <a:pt x="22987" y="529463"/>
                  </a:lnTo>
                  <a:lnTo>
                    <a:pt x="40132" y="571626"/>
                  </a:lnTo>
                  <a:lnTo>
                    <a:pt x="61341" y="610869"/>
                  </a:lnTo>
                  <a:lnTo>
                    <a:pt x="86360" y="646938"/>
                  </a:lnTo>
                  <a:lnTo>
                    <a:pt x="114935" y="679323"/>
                  </a:lnTo>
                  <a:lnTo>
                    <a:pt x="146685" y="707644"/>
                  </a:lnTo>
                  <a:lnTo>
                    <a:pt x="181228" y="731647"/>
                  </a:lnTo>
                  <a:lnTo>
                    <a:pt x="218440" y="751078"/>
                  </a:lnTo>
                  <a:lnTo>
                    <a:pt x="257810" y="765301"/>
                  </a:lnTo>
                  <a:lnTo>
                    <a:pt x="299212" y="774065"/>
                  </a:lnTo>
                  <a:lnTo>
                    <a:pt x="326390" y="775969"/>
                  </a:lnTo>
                  <a:lnTo>
                    <a:pt x="326390" y="780161"/>
                  </a:lnTo>
                  <a:lnTo>
                    <a:pt x="3556762" y="780161"/>
                  </a:lnTo>
                  <a:lnTo>
                    <a:pt x="355676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12657" y="4056126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7"/>
                  </a:lnTo>
                  <a:lnTo>
                    <a:pt x="299212" y="4572"/>
                  </a:lnTo>
                  <a:lnTo>
                    <a:pt x="257810" y="13335"/>
                  </a:lnTo>
                  <a:lnTo>
                    <a:pt x="218440" y="27686"/>
                  </a:lnTo>
                  <a:lnTo>
                    <a:pt x="181228" y="46990"/>
                  </a:lnTo>
                  <a:lnTo>
                    <a:pt x="146685" y="70993"/>
                  </a:lnTo>
                  <a:lnTo>
                    <a:pt x="114935" y="99441"/>
                  </a:lnTo>
                  <a:lnTo>
                    <a:pt x="86360" y="131699"/>
                  </a:lnTo>
                  <a:lnTo>
                    <a:pt x="61341" y="167767"/>
                  </a:lnTo>
                  <a:lnTo>
                    <a:pt x="40132" y="207010"/>
                  </a:lnTo>
                  <a:lnTo>
                    <a:pt x="22987" y="249174"/>
                  </a:lnTo>
                  <a:lnTo>
                    <a:pt x="10414" y="293878"/>
                  </a:lnTo>
                  <a:lnTo>
                    <a:pt x="2667" y="340613"/>
                  </a:lnTo>
                  <a:lnTo>
                    <a:pt x="0" y="389381"/>
                  </a:lnTo>
                  <a:lnTo>
                    <a:pt x="2667" y="438023"/>
                  </a:lnTo>
                  <a:lnTo>
                    <a:pt x="10414" y="484759"/>
                  </a:lnTo>
                  <a:lnTo>
                    <a:pt x="22987" y="529463"/>
                  </a:lnTo>
                  <a:lnTo>
                    <a:pt x="40132" y="571626"/>
                  </a:lnTo>
                  <a:lnTo>
                    <a:pt x="61341" y="610869"/>
                  </a:lnTo>
                  <a:lnTo>
                    <a:pt x="86360" y="646938"/>
                  </a:lnTo>
                  <a:lnTo>
                    <a:pt x="114935" y="679323"/>
                  </a:lnTo>
                  <a:lnTo>
                    <a:pt x="146685" y="707644"/>
                  </a:lnTo>
                  <a:lnTo>
                    <a:pt x="181228" y="731647"/>
                  </a:lnTo>
                  <a:lnTo>
                    <a:pt x="218440" y="751078"/>
                  </a:lnTo>
                  <a:lnTo>
                    <a:pt x="257810" y="765301"/>
                  </a:lnTo>
                  <a:lnTo>
                    <a:pt x="299212" y="774065"/>
                  </a:lnTo>
                  <a:lnTo>
                    <a:pt x="326390" y="775969"/>
                  </a:lnTo>
                  <a:lnTo>
                    <a:pt x="326390" y="780161"/>
                  </a:lnTo>
                  <a:lnTo>
                    <a:pt x="3556762" y="780161"/>
                  </a:lnTo>
                  <a:lnTo>
                    <a:pt x="3556762" y="0"/>
                  </a:lnTo>
                  <a:close/>
                </a:path>
                <a:path w="3557270" h="780414">
                  <a:moveTo>
                    <a:pt x="3150108" y="62484"/>
                  </a:moveTo>
                  <a:lnTo>
                    <a:pt x="3150108" y="717423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506961" y="4277106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9"/>
                  </a:lnTo>
                  <a:lnTo>
                    <a:pt x="73787" y="22987"/>
                  </a:lnTo>
                  <a:lnTo>
                    <a:pt x="43688" y="49276"/>
                  </a:lnTo>
                  <a:lnTo>
                    <a:pt x="20320" y="83312"/>
                  </a:lnTo>
                  <a:lnTo>
                    <a:pt x="5334" y="123571"/>
                  </a:lnTo>
                  <a:lnTo>
                    <a:pt x="0" y="168148"/>
                  </a:lnTo>
                  <a:lnTo>
                    <a:pt x="5334" y="212852"/>
                  </a:lnTo>
                  <a:lnTo>
                    <a:pt x="20320" y="253111"/>
                  </a:lnTo>
                  <a:lnTo>
                    <a:pt x="43688" y="287147"/>
                  </a:lnTo>
                  <a:lnTo>
                    <a:pt x="73787" y="313436"/>
                  </a:lnTo>
                  <a:lnTo>
                    <a:pt x="109474" y="330454"/>
                  </a:lnTo>
                  <a:lnTo>
                    <a:pt x="149098" y="336423"/>
                  </a:lnTo>
                  <a:lnTo>
                    <a:pt x="188849" y="330454"/>
                  </a:lnTo>
                  <a:lnTo>
                    <a:pt x="224409" y="313436"/>
                  </a:lnTo>
                  <a:lnTo>
                    <a:pt x="254635" y="287147"/>
                  </a:lnTo>
                  <a:lnTo>
                    <a:pt x="277876" y="253111"/>
                  </a:lnTo>
                  <a:lnTo>
                    <a:pt x="292989" y="212852"/>
                  </a:lnTo>
                  <a:lnTo>
                    <a:pt x="298323" y="168148"/>
                  </a:lnTo>
                  <a:lnTo>
                    <a:pt x="292989" y="123571"/>
                  </a:lnTo>
                  <a:lnTo>
                    <a:pt x="277876" y="83312"/>
                  </a:lnTo>
                  <a:lnTo>
                    <a:pt x="254635" y="49276"/>
                  </a:lnTo>
                  <a:lnTo>
                    <a:pt x="224409" y="22987"/>
                  </a:lnTo>
                  <a:lnTo>
                    <a:pt x="188849" y="5969"/>
                  </a:lnTo>
                  <a:lnTo>
                    <a:pt x="149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506961" y="4277106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9"/>
                  </a:lnTo>
                  <a:lnTo>
                    <a:pt x="73787" y="22987"/>
                  </a:lnTo>
                  <a:lnTo>
                    <a:pt x="43688" y="49276"/>
                  </a:lnTo>
                  <a:lnTo>
                    <a:pt x="20320" y="83312"/>
                  </a:lnTo>
                  <a:lnTo>
                    <a:pt x="5334" y="123571"/>
                  </a:lnTo>
                  <a:lnTo>
                    <a:pt x="0" y="168148"/>
                  </a:lnTo>
                  <a:lnTo>
                    <a:pt x="5334" y="212852"/>
                  </a:lnTo>
                  <a:lnTo>
                    <a:pt x="20320" y="253111"/>
                  </a:lnTo>
                  <a:lnTo>
                    <a:pt x="43688" y="287147"/>
                  </a:lnTo>
                  <a:lnTo>
                    <a:pt x="73787" y="313436"/>
                  </a:lnTo>
                  <a:lnTo>
                    <a:pt x="109474" y="330454"/>
                  </a:lnTo>
                  <a:lnTo>
                    <a:pt x="149098" y="336423"/>
                  </a:lnTo>
                  <a:lnTo>
                    <a:pt x="188849" y="330454"/>
                  </a:lnTo>
                  <a:lnTo>
                    <a:pt x="224409" y="313436"/>
                  </a:lnTo>
                  <a:lnTo>
                    <a:pt x="254635" y="287147"/>
                  </a:lnTo>
                  <a:lnTo>
                    <a:pt x="277876" y="253111"/>
                  </a:lnTo>
                  <a:lnTo>
                    <a:pt x="292989" y="212852"/>
                  </a:lnTo>
                  <a:lnTo>
                    <a:pt x="298323" y="168148"/>
                  </a:lnTo>
                  <a:lnTo>
                    <a:pt x="292989" y="123571"/>
                  </a:lnTo>
                  <a:lnTo>
                    <a:pt x="277876" y="83312"/>
                  </a:lnTo>
                  <a:lnTo>
                    <a:pt x="254635" y="49276"/>
                  </a:lnTo>
                  <a:lnTo>
                    <a:pt x="224409" y="22987"/>
                  </a:lnTo>
                  <a:lnTo>
                    <a:pt x="188849" y="5969"/>
                  </a:lnTo>
                  <a:lnTo>
                    <a:pt x="149098" y="0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8298370" y="2965894"/>
            <a:ext cx="3585845" cy="808990"/>
            <a:chOff x="8298370" y="2965894"/>
            <a:chExt cx="3585845" cy="808990"/>
          </a:xfrm>
        </p:grpSpPr>
        <p:sp>
          <p:nvSpPr>
            <p:cNvPr id="28" name="object 28"/>
            <p:cNvSpPr/>
            <p:nvPr/>
          </p:nvSpPr>
          <p:spPr>
            <a:xfrm>
              <a:off x="8312657" y="2980182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6"/>
                  </a:lnTo>
                  <a:lnTo>
                    <a:pt x="299212" y="4571"/>
                  </a:lnTo>
                  <a:lnTo>
                    <a:pt x="257810" y="13334"/>
                  </a:lnTo>
                  <a:lnTo>
                    <a:pt x="218440" y="27685"/>
                  </a:lnTo>
                  <a:lnTo>
                    <a:pt x="181228" y="46989"/>
                  </a:lnTo>
                  <a:lnTo>
                    <a:pt x="146685" y="70992"/>
                  </a:lnTo>
                  <a:lnTo>
                    <a:pt x="114935" y="99440"/>
                  </a:lnTo>
                  <a:lnTo>
                    <a:pt x="86360" y="131698"/>
                  </a:lnTo>
                  <a:lnTo>
                    <a:pt x="61341" y="167766"/>
                  </a:lnTo>
                  <a:lnTo>
                    <a:pt x="40132" y="207009"/>
                  </a:lnTo>
                  <a:lnTo>
                    <a:pt x="22987" y="249173"/>
                  </a:lnTo>
                  <a:lnTo>
                    <a:pt x="10414" y="293877"/>
                  </a:lnTo>
                  <a:lnTo>
                    <a:pt x="2667" y="340613"/>
                  </a:lnTo>
                  <a:lnTo>
                    <a:pt x="0" y="389381"/>
                  </a:lnTo>
                  <a:lnTo>
                    <a:pt x="2667" y="438022"/>
                  </a:lnTo>
                  <a:lnTo>
                    <a:pt x="10414" y="484758"/>
                  </a:lnTo>
                  <a:lnTo>
                    <a:pt x="22987" y="529463"/>
                  </a:lnTo>
                  <a:lnTo>
                    <a:pt x="40132" y="571626"/>
                  </a:lnTo>
                  <a:lnTo>
                    <a:pt x="61341" y="610869"/>
                  </a:lnTo>
                  <a:lnTo>
                    <a:pt x="86360" y="646937"/>
                  </a:lnTo>
                  <a:lnTo>
                    <a:pt x="114935" y="679322"/>
                  </a:lnTo>
                  <a:lnTo>
                    <a:pt x="146685" y="707643"/>
                  </a:lnTo>
                  <a:lnTo>
                    <a:pt x="181228" y="731646"/>
                  </a:lnTo>
                  <a:lnTo>
                    <a:pt x="218440" y="751077"/>
                  </a:lnTo>
                  <a:lnTo>
                    <a:pt x="257810" y="765301"/>
                  </a:lnTo>
                  <a:lnTo>
                    <a:pt x="299212" y="774064"/>
                  </a:lnTo>
                  <a:lnTo>
                    <a:pt x="326390" y="775969"/>
                  </a:lnTo>
                  <a:lnTo>
                    <a:pt x="326390" y="780160"/>
                  </a:lnTo>
                  <a:lnTo>
                    <a:pt x="3556762" y="780160"/>
                  </a:lnTo>
                  <a:lnTo>
                    <a:pt x="355676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312657" y="2980182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6"/>
                  </a:lnTo>
                  <a:lnTo>
                    <a:pt x="299212" y="4571"/>
                  </a:lnTo>
                  <a:lnTo>
                    <a:pt x="257810" y="13334"/>
                  </a:lnTo>
                  <a:lnTo>
                    <a:pt x="218440" y="27685"/>
                  </a:lnTo>
                  <a:lnTo>
                    <a:pt x="181228" y="46989"/>
                  </a:lnTo>
                  <a:lnTo>
                    <a:pt x="146685" y="70992"/>
                  </a:lnTo>
                  <a:lnTo>
                    <a:pt x="114935" y="99440"/>
                  </a:lnTo>
                  <a:lnTo>
                    <a:pt x="86360" y="131698"/>
                  </a:lnTo>
                  <a:lnTo>
                    <a:pt x="61341" y="167766"/>
                  </a:lnTo>
                  <a:lnTo>
                    <a:pt x="40132" y="207009"/>
                  </a:lnTo>
                  <a:lnTo>
                    <a:pt x="22987" y="249173"/>
                  </a:lnTo>
                  <a:lnTo>
                    <a:pt x="10414" y="293877"/>
                  </a:lnTo>
                  <a:lnTo>
                    <a:pt x="2667" y="340613"/>
                  </a:lnTo>
                  <a:lnTo>
                    <a:pt x="0" y="389381"/>
                  </a:lnTo>
                  <a:lnTo>
                    <a:pt x="2667" y="438022"/>
                  </a:lnTo>
                  <a:lnTo>
                    <a:pt x="10414" y="484758"/>
                  </a:lnTo>
                  <a:lnTo>
                    <a:pt x="22987" y="529463"/>
                  </a:lnTo>
                  <a:lnTo>
                    <a:pt x="40132" y="571626"/>
                  </a:lnTo>
                  <a:lnTo>
                    <a:pt x="61341" y="610869"/>
                  </a:lnTo>
                  <a:lnTo>
                    <a:pt x="86360" y="646937"/>
                  </a:lnTo>
                  <a:lnTo>
                    <a:pt x="114935" y="679322"/>
                  </a:lnTo>
                  <a:lnTo>
                    <a:pt x="146685" y="707643"/>
                  </a:lnTo>
                  <a:lnTo>
                    <a:pt x="181228" y="731646"/>
                  </a:lnTo>
                  <a:lnTo>
                    <a:pt x="218440" y="751077"/>
                  </a:lnTo>
                  <a:lnTo>
                    <a:pt x="257810" y="765301"/>
                  </a:lnTo>
                  <a:lnTo>
                    <a:pt x="299212" y="774064"/>
                  </a:lnTo>
                  <a:lnTo>
                    <a:pt x="326390" y="775969"/>
                  </a:lnTo>
                  <a:lnTo>
                    <a:pt x="326390" y="780160"/>
                  </a:lnTo>
                  <a:lnTo>
                    <a:pt x="3556762" y="780160"/>
                  </a:lnTo>
                  <a:lnTo>
                    <a:pt x="3556762" y="0"/>
                  </a:lnTo>
                  <a:close/>
                </a:path>
                <a:path w="3557270" h="780414">
                  <a:moveTo>
                    <a:pt x="3150108" y="62483"/>
                  </a:moveTo>
                  <a:lnTo>
                    <a:pt x="3150108" y="717422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506961" y="3202686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8"/>
                  </a:lnTo>
                  <a:lnTo>
                    <a:pt x="73787" y="22987"/>
                  </a:lnTo>
                  <a:lnTo>
                    <a:pt x="43688" y="49275"/>
                  </a:lnTo>
                  <a:lnTo>
                    <a:pt x="20320" y="83312"/>
                  </a:lnTo>
                  <a:lnTo>
                    <a:pt x="5334" y="123571"/>
                  </a:lnTo>
                  <a:lnTo>
                    <a:pt x="0" y="168275"/>
                  </a:lnTo>
                  <a:lnTo>
                    <a:pt x="5334" y="212851"/>
                  </a:lnTo>
                  <a:lnTo>
                    <a:pt x="20320" y="253111"/>
                  </a:lnTo>
                  <a:lnTo>
                    <a:pt x="43688" y="287147"/>
                  </a:lnTo>
                  <a:lnTo>
                    <a:pt x="73787" y="313436"/>
                  </a:lnTo>
                  <a:lnTo>
                    <a:pt x="109474" y="330453"/>
                  </a:lnTo>
                  <a:lnTo>
                    <a:pt x="149098" y="336423"/>
                  </a:lnTo>
                  <a:lnTo>
                    <a:pt x="188849" y="330453"/>
                  </a:lnTo>
                  <a:lnTo>
                    <a:pt x="224409" y="313436"/>
                  </a:lnTo>
                  <a:lnTo>
                    <a:pt x="254635" y="287147"/>
                  </a:lnTo>
                  <a:lnTo>
                    <a:pt x="277876" y="253111"/>
                  </a:lnTo>
                  <a:lnTo>
                    <a:pt x="292989" y="212851"/>
                  </a:lnTo>
                  <a:lnTo>
                    <a:pt x="298323" y="168275"/>
                  </a:lnTo>
                  <a:lnTo>
                    <a:pt x="292989" y="123571"/>
                  </a:lnTo>
                  <a:lnTo>
                    <a:pt x="277876" y="83312"/>
                  </a:lnTo>
                  <a:lnTo>
                    <a:pt x="254635" y="49275"/>
                  </a:lnTo>
                  <a:lnTo>
                    <a:pt x="224409" y="22987"/>
                  </a:lnTo>
                  <a:lnTo>
                    <a:pt x="188849" y="5968"/>
                  </a:lnTo>
                  <a:lnTo>
                    <a:pt x="149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506961" y="3202686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8"/>
                  </a:lnTo>
                  <a:lnTo>
                    <a:pt x="73787" y="22987"/>
                  </a:lnTo>
                  <a:lnTo>
                    <a:pt x="43688" y="49275"/>
                  </a:lnTo>
                  <a:lnTo>
                    <a:pt x="20320" y="83312"/>
                  </a:lnTo>
                  <a:lnTo>
                    <a:pt x="5334" y="123571"/>
                  </a:lnTo>
                  <a:lnTo>
                    <a:pt x="0" y="168275"/>
                  </a:lnTo>
                  <a:lnTo>
                    <a:pt x="5334" y="212851"/>
                  </a:lnTo>
                  <a:lnTo>
                    <a:pt x="20320" y="253111"/>
                  </a:lnTo>
                  <a:lnTo>
                    <a:pt x="43688" y="287147"/>
                  </a:lnTo>
                  <a:lnTo>
                    <a:pt x="73787" y="313436"/>
                  </a:lnTo>
                  <a:lnTo>
                    <a:pt x="109474" y="330453"/>
                  </a:lnTo>
                  <a:lnTo>
                    <a:pt x="149098" y="336423"/>
                  </a:lnTo>
                  <a:lnTo>
                    <a:pt x="188849" y="330453"/>
                  </a:lnTo>
                  <a:lnTo>
                    <a:pt x="224409" y="313436"/>
                  </a:lnTo>
                  <a:lnTo>
                    <a:pt x="254635" y="287147"/>
                  </a:lnTo>
                  <a:lnTo>
                    <a:pt x="277876" y="253111"/>
                  </a:lnTo>
                  <a:lnTo>
                    <a:pt x="292989" y="212851"/>
                  </a:lnTo>
                  <a:lnTo>
                    <a:pt x="298323" y="168275"/>
                  </a:lnTo>
                  <a:lnTo>
                    <a:pt x="292989" y="123571"/>
                  </a:lnTo>
                  <a:lnTo>
                    <a:pt x="277876" y="83312"/>
                  </a:lnTo>
                  <a:lnTo>
                    <a:pt x="254635" y="49275"/>
                  </a:lnTo>
                  <a:lnTo>
                    <a:pt x="224409" y="22987"/>
                  </a:lnTo>
                  <a:lnTo>
                    <a:pt x="188849" y="5968"/>
                  </a:lnTo>
                  <a:lnTo>
                    <a:pt x="149098" y="0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8298370" y="1885378"/>
            <a:ext cx="3585845" cy="808990"/>
            <a:chOff x="8298370" y="1885378"/>
            <a:chExt cx="3585845" cy="808990"/>
          </a:xfrm>
        </p:grpSpPr>
        <p:sp>
          <p:nvSpPr>
            <p:cNvPr id="33" name="object 33"/>
            <p:cNvSpPr/>
            <p:nvPr/>
          </p:nvSpPr>
          <p:spPr>
            <a:xfrm>
              <a:off x="8312657" y="1899666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7"/>
                  </a:lnTo>
                  <a:lnTo>
                    <a:pt x="299212" y="4572"/>
                  </a:lnTo>
                  <a:lnTo>
                    <a:pt x="257810" y="13335"/>
                  </a:lnTo>
                  <a:lnTo>
                    <a:pt x="218440" y="27686"/>
                  </a:lnTo>
                  <a:lnTo>
                    <a:pt x="181228" y="46989"/>
                  </a:lnTo>
                  <a:lnTo>
                    <a:pt x="146685" y="70993"/>
                  </a:lnTo>
                  <a:lnTo>
                    <a:pt x="114935" y="99441"/>
                  </a:lnTo>
                  <a:lnTo>
                    <a:pt x="86360" y="131699"/>
                  </a:lnTo>
                  <a:lnTo>
                    <a:pt x="61341" y="167767"/>
                  </a:lnTo>
                  <a:lnTo>
                    <a:pt x="40132" y="207010"/>
                  </a:lnTo>
                  <a:lnTo>
                    <a:pt x="22987" y="249174"/>
                  </a:lnTo>
                  <a:lnTo>
                    <a:pt x="10414" y="293878"/>
                  </a:lnTo>
                  <a:lnTo>
                    <a:pt x="2667" y="340613"/>
                  </a:lnTo>
                  <a:lnTo>
                    <a:pt x="0" y="389382"/>
                  </a:lnTo>
                  <a:lnTo>
                    <a:pt x="2667" y="438023"/>
                  </a:lnTo>
                  <a:lnTo>
                    <a:pt x="10414" y="484759"/>
                  </a:lnTo>
                  <a:lnTo>
                    <a:pt x="22987" y="529463"/>
                  </a:lnTo>
                  <a:lnTo>
                    <a:pt x="40132" y="571626"/>
                  </a:lnTo>
                  <a:lnTo>
                    <a:pt x="61341" y="610870"/>
                  </a:lnTo>
                  <a:lnTo>
                    <a:pt x="86360" y="646938"/>
                  </a:lnTo>
                  <a:lnTo>
                    <a:pt x="114935" y="679323"/>
                  </a:lnTo>
                  <a:lnTo>
                    <a:pt x="146685" y="707644"/>
                  </a:lnTo>
                  <a:lnTo>
                    <a:pt x="181228" y="731647"/>
                  </a:lnTo>
                  <a:lnTo>
                    <a:pt x="218440" y="751078"/>
                  </a:lnTo>
                  <a:lnTo>
                    <a:pt x="257810" y="765301"/>
                  </a:lnTo>
                  <a:lnTo>
                    <a:pt x="299212" y="774064"/>
                  </a:lnTo>
                  <a:lnTo>
                    <a:pt x="326390" y="775970"/>
                  </a:lnTo>
                  <a:lnTo>
                    <a:pt x="326390" y="780161"/>
                  </a:lnTo>
                  <a:lnTo>
                    <a:pt x="3556762" y="780161"/>
                  </a:lnTo>
                  <a:lnTo>
                    <a:pt x="355676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312657" y="1899666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7"/>
                  </a:lnTo>
                  <a:lnTo>
                    <a:pt x="299212" y="4572"/>
                  </a:lnTo>
                  <a:lnTo>
                    <a:pt x="257810" y="13335"/>
                  </a:lnTo>
                  <a:lnTo>
                    <a:pt x="218440" y="27686"/>
                  </a:lnTo>
                  <a:lnTo>
                    <a:pt x="181228" y="46989"/>
                  </a:lnTo>
                  <a:lnTo>
                    <a:pt x="146685" y="70993"/>
                  </a:lnTo>
                  <a:lnTo>
                    <a:pt x="114935" y="99441"/>
                  </a:lnTo>
                  <a:lnTo>
                    <a:pt x="86360" y="131699"/>
                  </a:lnTo>
                  <a:lnTo>
                    <a:pt x="61341" y="167767"/>
                  </a:lnTo>
                  <a:lnTo>
                    <a:pt x="40132" y="207010"/>
                  </a:lnTo>
                  <a:lnTo>
                    <a:pt x="22987" y="249174"/>
                  </a:lnTo>
                  <a:lnTo>
                    <a:pt x="10414" y="293878"/>
                  </a:lnTo>
                  <a:lnTo>
                    <a:pt x="2667" y="340613"/>
                  </a:lnTo>
                  <a:lnTo>
                    <a:pt x="0" y="389382"/>
                  </a:lnTo>
                  <a:lnTo>
                    <a:pt x="2667" y="438023"/>
                  </a:lnTo>
                  <a:lnTo>
                    <a:pt x="10414" y="484759"/>
                  </a:lnTo>
                  <a:lnTo>
                    <a:pt x="22987" y="529463"/>
                  </a:lnTo>
                  <a:lnTo>
                    <a:pt x="40132" y="571626"/>
                  </a:lnTo>
                  <a:lnTo>
                    <a:pt x="61341" y="610870"/>
                  </a:lnTo>
                  <a:lnTo>
                    <a:pt x="86360" y="646938"/>
                  </a:lnTo>
                  <a:lnTo>
                    <a:pt x="114935" y="679323"/>
                  </a:lnTo>
                  <a:lnTo>
                    <a:pt x="146685" y="707644"/>
                  </a:lnTo>
                  <a:lnTo>
                    <a:pt x="181228" y="731647"/>
                  </a:lnTo>
                  <a:lnTo>
                    <a:pt x="218440" y="751078"/>
                  </a:lnTo>
                  <a:lnTo>
                    <a:pt x="257810" y="765301"/>
                  </a:lnTo>
                  <a:lnTo>
                    <a:pt x="299212" y="774064"/>
                  </a:lnTo>
                  <a:lnTo>
                    <a:pt x="326390" y="775970"/>
                  </a:lnTo>
                  <a:lnTo>
                    <a:pt x="326390" y="780161"/>
                  </a:lnTo>
                  <a:lnTo>
                    <a:pt x="3556762" y="780161"/>
                  </a:lnTo>
                  <a:lnTo>
                    <a:pt x="3556762" y="0"/>
                  </a:lnTo>
                  <a:close/>
                </a:path>
                <a:path w="3557270" h="780414">
                  <a:moveTo>
                    <a:pt x="3150108" y="62484"/>
                  </a:moveTo>
                  <a:lnTo>
                    <a:pt x="3150108" y="717423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1506961" y="2120646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8"/>
                  </a:lnTo>
                  <a:lnTo>
                    <a:pt x="73787" y="22987"/>
                  </a:lnTo>
                  <a:lnTo>
                    <a:pt x="43688" y="49275"/>
                  </a:lnTo>
                  <a:lnTo>
                    <a:pt x="20320" y="83312"/>
                  </a:lnTo>
                  <a:lnTo>
                    <a:pt x="5334" y="123570"/>
                  </a:lnTo>
                  <a:lnTo>
                    <a:pt x="0" y="168275"/>
                  </a:lnTo>
                  <a:lnTo>
                    <a:pt x="5334" y="212851"/>
                  </a:lnTo>
                  <a:lnTo>
                    <a:pt x="20320" y="253111"/>
                  </a:lnTo>
                  <a:lnTo>
                    <a:pt x="43688" y="287146"/>
                  </a:lnTo>
                  <a:lnTo>
                    <a:pt x="73787" y="313436"/>
                  </a:lnTo>
                  <a:lnTo>
                    <a:pt x="109474" y="330453"/>
                  </a:lnTo>
                  <a:lnTo>
                    <a:pt x="149098" y="336423"/>
                  </a:lnTo>
                  <a:lnTo>
                    <a:pt x="188849" y="330453"/>
                  </a:lnTo>
                  <a:lnTo>
                    <a:pt x="224409" y="313436"/>
                  </a:lnTo>
                  <a:lnTo>
                    <a:pt x="254635" y="287146"/>
                  </a:lnTo>
                  <a:lnTo>
                    <a:pt x="277876" y="253111"/>
                  </a:lnTo>
                  <a:lnTo>
                    <a:pt x="292989" y="212851"/>
                  </a:lnTo>
                  <a:lnTo>
                    <a:pt x="298323" y="168275"/>
                  </a:lnTo>
                  <a:lnTo>
                    <a:pt x="292989" y="123570"/>
                  </a:lnTo>
                  <a:lnTo>
                    <a:pt x="277876" y="83312"/>
                  </a:lnTo>
                  <a:lnTo>
                    <a:pt x="254635" y="49275"/>
                  </a:lnTo>
                  <a:lnTo>
                    <a:pt x="224409" y="22987"/>
                  </a:lnTo>
                  <a:lnTo>
                    <a:pt x="188849" y="5968"/>
                  </a:lnTo>
                  <a:lnTo>
                    <a:pt x="149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1506961" y="2120646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8"/>
                  </a:lnTo>
                  <a:lnTo>
                    <a:pt x="73787" y="22987"/>
                  </a:lnTo>
                  <a:lnTo>
                    <a:pt x="43688" y="49275"/>
                  </a:lnTo>
                  <a:lnTo>
                    <a:pt x="20320" y="83312"/>
                  </a:lnTo>
                  <a:lnTo>
                    <a:pt x="5334" y="123570"/>
                  </a:lnTo>
                  <a:lnTo>
                    <a:pt x="0" y="168275"/>
                  </a:lnTo>
                  <a:lnTo>
                    <a:pt x="5334" y="212851"/>
                  </a:lnTo>
                  <a:lnTo>
                    <a:pt x="20320" y="253111"/>
                  </a:lnTo>
                  <a:lnTo>
                    <a:pt x="43688" y="287146"/>
                  </a:lnTo>
                  <a:lnTo>
                    <a:pt x="73787" y="313436"/>
                  </a:lnTo>
                  <a:lnTo>
                    <a:pt x="109474" y="330453"/>
                  </a:lnTo>
                  <a:lnTo>
                    <a:pt x="149098" y="336423"/>
                  </a:lnTo>
                  <a:lnTo>
                    <a:pt x="188849" y="330453"/>
                  </a:lnTo>
                  <a:lnTo>
                    <a:pt x="224409" y="313436"/>
                  </a:lnTo>
                  <a:lnTo>
                    <a:pt x="254635" y="287146"/>
                  </a:lnTo>
                  <a:lnTo>
                    <a:pt x="277876" y="253111"/>
                  </a:lnTo>
                  <a:lnTo>
                    <a:pt x="292989" y="212851"/>
                  </a:lnTo>
                  <a:lnTo>
                    <a:pt x="298323" y="168275"/>
                  </a:lnTo>
                  <a:lnTo>
                    <a:pt x="292989" y="123570"/>
                  </a:lnTo>
                  <a:lnTo>
                    <a:pt x="277876" y="83312"/>
                  </a:lnTo>
                  <a:lnTo>
                    <a:pt x="254635" y="49275"/>
                  </a:lnTo>
                  <a:lnTo>
                    <a:pt x="224409" y="22987"/>
                  </a:lnTo>
                  <a:lnTo>
                    <a:pt x="188849" y="5968"/>
                  </a:lnTo>
                  <a:lnTo>
                    <a:pt x="149098" y="0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43585" y="3270884"/>
            <a:ext cx="205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3585" y="4340478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557507" y="2157425"/>
            <a:ext cx="20574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557507" y="3244976"/>
            <a:ext cx="205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557507" y="4319777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1435" y="2017903"/>
            <a:ext cx="21653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24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UNCERTAINITY</a:t>
            </a:r>
            <a:endParaRPr sz="12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farmers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Indonesia </a:t>
            </a:r>
            <a:r>
              <a:rPr dirty="0" sz="1200">
                <a:latin typeface="Calibri"/>
                <a:cs typeface="Calibri"/>
              </a:rPr>
              <a:t>depend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seasonal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rainfall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70559" y="3103879"/>
            <a:ext cx="2463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51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CUMBERSOME</a:t>
            </a:r>
            <a:endParaRPr sz="12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usually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days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borrowers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19632" y="4187190"/>
            <a:ext cx="22072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24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INTEREST</a:t>
            </a:r>
            <a:r>
              <a:rPr dirty="0" sz="120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RATE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usually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borrow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higher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rate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compared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banks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814943" y="2000250"/>
            <a:ext cx="2357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8415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LEGACY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Old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legacy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place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018523" y="3074873"/>
            <a:ext cx="2066289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CREDIT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DEFAULT</a:t>
            </a:r>
            <a:endParaRPr sz="1200">
              <a:latin typeface="Calibri"/>
              <a:cs typeface="Calibri"/>
            </a:endParaRPr>
          </a:p>
          <a:p>
            <a:pPr algn="ctr" marL="12065" marR="5080" indent="63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who’ve </a:t>
            </a:r>
            <a:r>
              <a:rPr dirty="0" sz="1200">
                <a:latin typeface="Calibri"/>
                <a:cs typeface="Calibri"/>
              </a:rPr>
              <a:t>defaulted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increased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8%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37218" y="4156709"/>
            <a:ext cx="25139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87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RIGIDITY</a:t>
            </a:r>
            <a:endParaRPr sz="12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Rigid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company's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offerings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discourage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borrowers.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9" name="object 49"/>
          <p:cNvGrpSpPr/>
          <p:nvPr/>
        </p:nvGrpSpPr>
        <p:grpSpPr>
          <a:xfrm>
            <a:off x="3145535" y="713231"/>
            <a:ext cx="927100" cy="891540"/>
            <a:chOff x="3145535" y="713231"/>
            <a:chExt cx="927100" cy="891540"/>
          </a:xfrm>
        </p:grpSpPr>
        <p:sp>
          <p:nvSpPr>
            <p:cNvPr id="50" name="object 50"/>
            <p:cNvSpPr/>
            <p:nvPr/>
          </p:nvSpPr>
          <p:spPr>
            <a:xfrm>
              <a:off x="3145535" y="713231"/>
              <a:ext cx="927100" cy="891540"/>
            </a:xfrm>
            <a:custGeom>
              <a:avLst/>
              <a:gdLst/>
              <a:ahLst/>
              <a:cxnLst/>
              <a:rect l="l" t="t" r="r" b="b"/>
              <a:pathLst>
                <a:path w="927100" h="891540">
                  <a:moveTo>
                    <a:pt x="463296" y="0"/>
                  </a:moveTo>
                  <a:lnTo>
                    <a:pt x="405129" y="3428"/>
                  </a:lnTo>
                  <a:lnTo>
                    <a:pt x="349250" y="13588"/>
                  </a:lnTo>
                  <a:lnTo>
                    <a:pt x="295910" y="29971"/>
                  </a:lnTo>
                  <a:lnTo>
                    <a:pt x="245490" y="52196"/>
                  </a:lnTo>
                  <a:lnTo>
                    <a:pt x="198627" y="79882"/>
                  </a:lnTo>
                  <a:lnTo>
                    <a:pt x="155575" y="112521"/>
                  </a:lnTo>
                  <a:lnTo>
                    <a:pt x="116966" y="149732"/>
                  </a:lnTo>
                  <a:lnTo>
                    <a:pt x="83057" y="191134"/>
                  </a:lnTo>
                  <a:lnTo>
                    <a:pt x="54228" y="236219"/>
                  </a:lnTo>
                  <a:lnTo>
                    <a:pt x="31241" y="284606"/>
                  </a:lnTo>
                  <a:lnTo>
                    <a:pt x="14096" y="336041"/>
                  </a:lnTo>
                  <a:lnTo>
                    <a:pt x="3556" y="389889"/>
                  </a:lnTo>
                  <a:lnTo>
                    <a:pt x="0" y="445769"/>
                  </a:lnTo>
                  <a:lnTo>
                    <a:pt x="888" y="473963"/>
                  </a:lnTo>
                  <a:lnTo>
                    <a:pt x="8000" y="528827"/>
                  </a:lnTo>
                  <a:lnTo>
                    <a:pt x="21843" y="581532"/>
                  </a:lnTo>
                  <a:lnTo>
                    <a:pt x="42037" y="631443"/>
                  </a:lnTo>
                  <a:lnTo>
                    <a:pt x="67944" y="678306"/>
                  </a:lnTo>
                  <a:lnTo>
                    <a:pt x="99313" y="721613"/>
                  </a:lnTo>
                  <a:lnTo>
                    <a:pt x="135636" y="760983"/>
                  </a:lnTo>
                  <a:lnTo>
                    <a:pt x="176529" y="795908"/>
                  </a:lnTo>
                  <a:lnTo>
                    <a:pt x="221614" y="826134"/>
                  </a:lnTo>
                  <a:lnTo>
                    <a:pt x="270255" y="851153"/>
                  </a:lnTo>
                  <a:lnTo>
                    <a:pt x="322199" y="870457"/>
                  </a:lnTo>
                  <a:lnTo>
                    <a:pt x="376936" y="883792"/>
                  </a:lnTo>
                  <a:lnTo>
                    <a:pt x="433959" y="890651"/>
                  </a:lnTo>
                  <a:lnTo>
                    <a:pt x="463296" y="891539"/>
                  </a:lnTo>
                  <a:lnTo>
                    <a:pt x="492633" y="890651"/>
                  </a:lnTo>
                  <a:lnTo>
                    <a:pt x="549655" y="883792"/>
                  </a:lnTo>
                  <a:lnTo>
                    <a:pt x="604392" y="870457"/>
                  </a:lnTo>
                  <a:lnTo>
                    <a:pt x="656336" y="851153"/>
                  </a:lnTo>
                  <a:lnTo>
                    <a:pt x="704976" y="826134"/>
                  </a:lnTo>
                  <a:lnTo>
                    <a:pt x="750062" y="795908"/>
                  </a:lnTo>
                  <a:lnTo>
                    <a:pt x="790955" y="760983"/>
                  </a:lnTo>
                  <a:lnTo>
                    <a:pt x="827277" y="721613"/>
                  </a:lnTo>
                  <a:lnTo>
                    <a:pt x="858647" y="678306"/>
                  </a:lnTo>
                  <a:lnTo>
                    <a:pt x="884554" y="631443"/>
                  </a:lnTo>
                  <a:lnTo>
                    <a:pt x="904748" y="581532"/>
                  </a:lnTo>
                  <a:lnTo>
                    <a:pt x="918590" y="528827"/>
                  </a:lnTo>
                  <a:lnTo>
                    <a:pt x="925702" y="473963"/>
                  </a:lnTo>
                  <a:lnTo>
                    <a:pt x="926591" y="445769"/>
                  </a:lnTo>
                  <a:lnTo>
                    <a:pt x="925702" y="417575"/>
                  </a:lnTo>
                  <a:lnTo>
                    <a:pt x="918590" y="362712"/>
                  </a:lnTo>
                  <a:lnTo>
                    <a:pt x="904748" y="310006"/>
                  </a:lnTo>
                  <a:lnTo>
                    <a:pt x="884554" y="260095"/>
                  </a:lnTo>
                  <a:lnTo>
                    <a:pt x="858647" y="213232"/>
                  </a:lnTo>
                  <a:lnTo>
                    <a:pt x="827277" y="169925"/>
                  </a:lnTo>
                  <a:lnTo>
                    <a:pt x="790955" y="130555"/>
                  </a:lnTo>
                  <a:lnTo>
                    <a:pt x="750062" y="95630"/>
                  </a:lnTo>
                  <a:lnTo>
                    <a:pt x="704976" y="65404"/>
                  </a:lnTo>
                  <a:lnTo>
                    <a:pt x="656336" y="40385"/>
                  </a:lnTo>
                  <a:lnTo>
                    <a:pt x="604392" y="21081"/>
                  </a:lnTo>
                  <a:lnTo>
                    <a:pt x="549655" y="7746"/>
                  </a:lnTo>
                  <a:lnTo>
                    <a:pt x="492633" y="888"/>
                  </a:lnTo>
                  <a:lnTo>
                    <a:pt x="463296" y="0"/>
                  </a:lnTo>
                  <a:close/>
                </a:path>
              </a:pathLst>
            </a:custGeom>
            <a:solidFill>
              <a:srgbClr val="CCD3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06164" y="1350263"/>
              <a:ext cx="5080" cy="1270"/>
            </a:xfrm>
            <a:custGeom>
              <a:avLst/>
              <a:gdLst/>
              <a:ahLst/>
              <a:cxnLst/>
              <a:rect l="l" t="t" r="r" b="b"/>
              <a:pathLst>
                <a:path w="5079" h="1269">
                  <a:moveTo>
                    <a:pt x="4699" y="0"/>
                  </a:moveTo>
                  <a:lnTo>
                    <a:pt x="0" y="0"/>
                  </a:lnTo>
                  <a:lnTo>
                    <a:pt x="888" y="1270"/>
                  </a:lnTo>
                  <a:lnTo>
                    <a:pt x="3683" y="1270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233927" y="1299972"/>
              <a:ext cx="748030" cy="304800"/>
            </a:xfrm>
            <a:custGeom>
              <a:avLst/>
              <a:gdLst/>
              <a:ahLst/>
              <a:cxnLst/>
              <a:rect l="l" t="t" r="r" b="b"/>
              <a:pathLst>
                <a:path w="748029" h="304800">
                  <a:moveTo>
                    <a:pt x="517906" y="0"/>
                  </a:moveTo>
                  <a:lnTo>
                    <a:pt x="517398" y="40386"/>
                  </a:lnTo>
                  <a:lnTo>
                    <a:pt x="509650" y="78993"/>
                  </a:lnTo>
                  <a:lnTo>
                    <a:pt x="500634" y="107568"/>
                  </a:lnTo>
                  <a:lnTo>
                    <a:pt x="496062" y="118237"/>
                  </a:lnTo>
                  <a:lnTo>
                    <a:pt x="464820" y="81279"/>
                  </a:lnTo>
                  <a:lnTo>
                    <a:pt x="423925" y="61087"/>
                  </a:lnTo>
                  <a:lnTo>
                    <a:pt x="388366" y="52450"/>
                  </a:lnTo>
                  <a:lnTo>
                    <a:pt x="373252" y="50673"/>
                  </a:lnTo>
                  <a:lnTo>
                    <a:pt x="358013" y="52577"/>
                  </a:lnTo>
                  <a:lnTo>
                    <a:pt x="322580" y="61340"/>
                  </a:lnTo>
                  <a:lnTo>
                    <a:pt x="281939" y="81661"/>
                  </a:lnTo>
                  <a:lnTo>
                    <a:pt x="251206" y="118237"/>
                  </a:lnTo>
                  <a:lnTo>
                    <a:pt x="246507" y="107950"/>
                  </a:lnTo>
                  <a:lnTo>
                    <a:pt x="237489" y="79248"/>
                  </a:lnTo>
                  <a:lnTo>
                    <a:pt x="229870" y="40512"/>
                  </a:lnTo>
                  <a:lnTo>
                    <a:pt x="229235" y="0"/>
                  </a:lnTo>
                  <a:lnTo>
                    <a:pt x="203962" y="6730"/>
                  </a:lnTo>
                  <a:lnTo>
                    <a:pt x="151511" y="24637"/>
                  </a:lnTo>
                  <a:lnTo>
                    <a:pt x="98298" y="49275"/>
                  </a:lnTo>
                  <a:lnTo>
                    <a:pt x="46989" y="81406"/>
                  </a:lnTo>
                  <a:lnTo>
                    <a:pt x="0" y="121792"/>
                  </a:lnTo>
                  <a:lnTo>
                    <a:pt x="17652" y="143510"/>
                  </a:lnTo>
                  <a:lnTo>
                    <a:pt x="56769" y="183387"/>
                  </a:lnTo>
                  <a:lnTo>
                    <a:pt x="100584" y="218566"/>
                  </a:lnTo>
                  <a:lnTo>
                    <a:pt x="148717" y="248285"/>
                  </a:lnTo>
                  <a:lnTo>
                    <a:pt x="200533" y="272288"/>
                  </a:lnTo>
                  <a:lnTo>
                    <a:pt x="255650" y="289940"/>
                  </a:lnTo>
                  <a:lnTo>
                    <a:pt x="313689" y="300863"/>
                  </a:lnTo>
                  <a:lnTo>
                    <a:pt x="374014" y="304673"/>
                  </a:lnTo>
                  <a:lnTo>
                    <a:pt x="404495" y="303656"/>
                  </a:lnTo>
                  <a:lnTo>
                    <a:pt x="463676" y="296163"/>
                  </a:lnTo>
                  <a:lnTo>
                    <a:pt x="520446" y="281686"/>
                  </a:lnTo>
                  <a:lnTo>
                    <a:pt x="574039" y="260730"/>
                  </a:lnTo>
                  <a:lnTo>
                    <a:pt x="624205" y="233806"/>
                  </a:lnTo>
                  <a:lnTo>
                    <a:pt x="670179" y="201294"/>
                  </a:lnTo>
                  <a:lnTo>
                    <a:pt x="711581" y="163829"/>
                  </a:lnTo>
                  <a:lnTo>
                    <a:pt x="748030" y="121792"/>
                  </a:lnTo>
                  <a:lnTo>
                    <a:pt x="725297" y="100456"/>
                  </a:lnTo>
                  <a:lnTo>
                    <a:pt x="675894" y="64262"/>
                  </a:lnTo>
                  <a:lnTo>
                    <a:pt x="623188" y="36067"/>
                  </a:lnTo>
                  <a:lnTo>
                    <a:pt x="569722" y="14986"/>
                  </a:lnTo>
                  <a:lnTo>
                    <a:pt x="543433" y="6730"/>
                  </a:lnTo>
                  <a:lnTo>
                    <a:pt x="51790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93008" y="1200911"/>
              <a:ext cx="231775" cy="149860"/>
            </a:xfrm>
            <a:custGeom>
              <a:avLst/>
              <a:gdLst/>
              <a:ahLst/>
              <a:cxnLst/>
              <a:rect l="l" t="t" r="r" b="b"/>
              <a:pathLst>
                <a:path w="231775" h="149859">
                  <a:moveTo>
                    <a:pt x="231521" y="52959"/>
                  </a:moveTo>
                  <a:lnTo>
                    <a:pt x="231394" y="52197"/>
                  </a:lnTo>
                  <a:lnTo>
                    <a:pt x="230505" y="39370"/>
                  </a:lnTo>
                  <a:lnTo>
                    <a:pt x="227838" y="25908"/>
                  </a:lnTo>
                  <a:lnTo>
                    <a:pt x="223647" y="12700"/>
                  </a:lnTo>
                  <a:lnTo>
                    <a:pt x="218186" y="0"/>
                  </a:lnTo>
                  <a:lnTo>
                    <a:pt x="195072" y="21590"/>
                  </a:lnTo>
                  <a:lnTo>
                    <a:pt x="169799" y="38100"/>
                  </a:lnTo>
                  <a:lnTo>
                    <a:pt x="143129" y="48514"/>
                  </a:lnTo>
                  <a:lnTo>
                    <a:pt x="115570" y="52197"/>
                  </a:lnTo>
                  <a:lnTo>
                    <a:pt x="87630" y="48387"/>
                  </a:lnTo>
                  <a:lnTo>
                    <a:pt x="60960" y="37719"/>
                  </a:lnTo>
                  <a:lnTo>
                    <a:pt x="35941" y="21336"/>
                  </a:lnTo>
                  <a:lnTo>
                    <a:pt x="12954" y="0"/>
                  </a:lnTo>
                  <a:lnTo>
                    <a:pt x="7620" y="12700"/>
                  </a:lnTo>
                  <a:lnTo>
                    <a:pt x="3556" y="25908"/>
                  </a:lnTo>
                  <a:lnTo>
                    <a:pt x="1016" y="39370"/>
                  </a:lnTo>
                  <a:lnTo>
                    <a:pt x="0" y="52959"/>
                  </a:lnTo>
                  <a:lnTo>
                    <a:pt x="889" y="60579"/>
                  </a:lnTo>
                  <a:lnTo>
                    <a:pt x="16256" y="89916"/>
                  </a:lnTo>
                  <a:lnTo>
                    <a:pt x="35814" y="108966"/>
                  </a:lnTo>
                  <a:lnTo>
                    <a:pt x="67056" y="129286"/>
                  </a:lnTo>
                  <a:lnTo>
                    <a:pt x="112522" y="149352"/>
                  </a:lnTo>
                  <a:lnTo>
                    <a:pt x="118618" y="149352"/>
                  </a:lnTo>
                  <a:lnTo>
                    <a:pt x="164084" y="129286"/>
                  </a:lnTo>
                  <a:lnTo>
                    <a:pt x="195326" y="108966"/>
                  </a:lnTo>
                  <a:lnTo>
                    <a:pt x="215138" y="89916"/>
                  </a:lnTo>
                  <a:lnTo>
                    <a:pt x="230505" y="60579"/>
                  </a:lnTo>
                  <a:lnTo>
                    <a:pt x="231521" y="52959"/>
                  </a:lnTo>
                  <a:close/>
                </a:path>
              </a:pathLst>
            </a:custGeom>
            <a:solidFill>
              <a:srgbClr val="FCC0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3299" y="1350263"/>
              <a:ext cx="128015" cy="6096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543299" y="1412748"/>
              <a:ext cx="131445" cy="191770"/>
            </a:xfrm>
            <a:custGeom>
              <a:avLst/>
              <a:gdLst/>
              <a:ahLst/>
              <a:cxnLst/>
              <a:rect l="l" t="t" r="r" b="b"/>
              <a:pathLst>
                <a:path w="131445" h="191769">
                  <a:moveTo>
                    <a:pt x="105537" y="0"/>
                  </a:moveTo>
                  <a:lnTo>
                    <a:pt x="25400" y="0"/>
                  </a:lnTo>
                  <a:lnTo>
                    <a:pt x="0" y="187451"/>
                  </a:lnTo>
                  <a:lnTo>
                    <a:pt x="15875" y="189356"/>
                  </a:lnTo>
                  <a:lnTo>
                    <a:pt x="32003" y="190753"/>
                  </a:lnTo>
                  <a:lnTo>
                    <a:pt x="48513" y="191515"/>
                  </a:lnTo>
                  <a:lnTo>
                    <a:pt x="65404" y="191769"/>
                  </a:lnTo>
                  <a:lnTo>
                    <a:pt x="81914" y="191515"/>
                  </a:lnTo>
                  <a:lnTo>
                    <a:pt x="98298" y="190753"/>
                  </a:lnTo>
                  <a:lnTo>
                    <a:pt x="114680" y="189356"/>
                  </a:lnTo>
                  <a:lnTo>
                    <a:pt x="130937" y="187451"/>
                  </a:lnTo>
                  <a:lnTo>
                    <a:pt x="105537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607307" y="1251204"/>
              <a:ext cx="144780" cy="167640"/>
            </a:xfrm>
            <a:custGeom>
              <a:avLst/>
              <a:gdLst/>
              <a:ahLst/>
              <a:cxnLst/>
              <a:rect l="l" t="t" r="r" b="b"/>
              <a:pathLst>
                <a:path w="144779" h="167640">
                  <a:moveTo>
                    <a:pt x="115315" y="0"/>
                  </a:moveTo>
                  <a:lnTo>
                    <a:pt x="114300" y="9525"/>
                  </a:lnTo>
                  <a:lnTo>
                    <a:pt x="102742" y="33782"/>
                  </a:lnTo>
                  <a:lnTo>
                    <a:pt x="68833" y="66167"/>
                  </a:lnTo>
                  <a:lnTo>
                    <a:pt x="0" y="99822"/>
                  </a:lnTo>
                  <a:lnTo>
                    <a:pt x="15112" y="101600"/>
                  </a:lnTo>
                  <a:lnTo>
                    <a:pt x="50672" y="110236"/>
                  </a:lnTo>
                  <a:lnTo>
                    <a:pt x="91439" y="130556"/>
                  </a:lnTo>
                  <a:lnTo>
                    <a:pt x="122554" y="167640"/>
                  </a:lnTo>
                  <a:lnTo>
                    <a:pt x="125729" y="161036"/>
                  </a:lnTo>
                  <a:lnTo>
                    <a:pt x="132333" y="141478"/>
                  </a:lnTo>
                  <a:lnTo>
                    <a:pt x="139700" y="113411"/>
                  </a:lnTo>
                  <a:lnTo>
                    <a:pt x="144652" y="80899"/>
                  </a:lnTo>
                  <a:lnTo>
                    <a:pt x="144271" y="48387"/>
                  </a:lnTo>
                  <a:lnTo>
                    <a:pt x="135508" y="19938"/>
                  </a:lnTo>
                  <a:lnTo>
                    <a:pt x="115315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607307" y="1251204"/>
              <a:ext cx="144780" cy="167640"/>
            </a:xfrm>
            <a:custGeom>
              <a:avLst/>
              <a:gdLst/>
              <a:ahLst/>
              <a:cxnLst/>
              <a:rect l="l" t="t" r="r" b="b"/>
              <a:pathLst>
                <a:path w="144779" h="167640">
                  <a:moveTo>
                    <a:pt x="115315" y="0"/>
                  </a:moveTo>
                  <a:lnTo>
                    <a:pt x="114300" y="9525"/>
                  </a:lnTo>
                  <a:lnTo>
                    <a:pt x="102742" y="33782"/>
                  </a:lnTo>
                  <a:lnTo>
                    <a:pt x="68833" y="66167"/>
                  </a:lnTo>
                  <a:lnTo>
                    <a:pt x="0" y="99822"/>
                  </a:lnTo>
                  <a:lnTo>
                    <a:pt x="15112" y="101600"/>
                  </a:lnTo>
                  <a:lnTo>
                    <a:pt x="50672" y="110236"/>
                  </a:lnTo>
                  <a:lnTo>
                    <a:pt x="91439" y="130556"/>
                  </a:lnTo>
                  <a:lnTo>
                    <a:pt x="122554" y="167640"/>
                  </a:lnTo>
                  <a:lnTo>
                    <a:pt x="125729" y="161036"/>
                  </a:lnTo>
                  <a:lnTo>
                    <a:pt x="132333" y="141478"/>
                  </a:lnTo>
                  <a:lnTo>
                    <a:pt x="139700" y="113411"/>
                  </a:lnTo>
                  <a:lnTo>
                    <a:pt x="144652" y="80899"/>
                  </a:lnTo>
                  <a:lnTo>
                    <a:pt x="144271" y="48387"/>
                  </a:lnTo>
                  <a:lnTo>
                    <a:pt x="135508" y="19938"/>
                  </a:lnTo>
                  <a:lnTo>
                    <a:pt x="115315" y="0"/>
                  </a:lnTo>
                  <a:close/>
                </a:path>
              </a:pathLst>
            </a:custGeom>
            <a:ln w="952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464051" y="1251204"/>
              <a:ext cx="144780" cy="167640"/>
            </a:xfrm>
            <a:custGeom>
              <a:avLst/>
              <a:gdLst/>
              <a:ahLst/>
              <a:cxnLst/>
              <a:rect l="l" t="t" r="r" b="b"/>
              <a:pathLst>
                <a:path w="144779" h="167640">
                  <a:moveTo>
                    <a:pt x="29210" y="0"/>
                  </a:moveTo>
                  <a:lnTo>
                    <a:pt x="9144" y="19938"/>
                  </a:lnTo>
                  <a:lnTo>
                    <a:pt x="508" y="48133"/>
                  </a:lnTo>
                  <a:lnTo>
                    <a:pt x="0" y="80645"/>
                  </a:lnTo>
                  <a:lnTo>
                    <a:pt x="4825" y="113030"/>
                  </a:lnTo>
                  <a:lnTo>
                    <a:pt x="12192" y="141097"/>
                  </a:lnTo>
                  <a:lnTo>
                    <a:pt x="19050" y="160655"/>
                  </a:lnTo>
                  <a:lnTo>
                    <a:pt x="22351" y="167512"/>
                  </a:lnTo>
                  <a:lnTo>
                    <a:pt x="53086" y="130810"/>
                  </a:lnTo>
                  <a:lnTo>
                    <a:pt x="93852" y="110362"/>
                  </a:lnTo>
                  <a:lnTo>
                    <a:pt x="129412" y="101600"/>
                  </a:lnTo>
                  <a:lnTo>
                    <a:pt x="144652" y="99695"/>
                  </a:lnTo>
                  <a:lnTo>
                    <a:pt x="75564" y="66040"/>
                  </a:lnTo>
                  <a:lnTo>
                    <a:pt x="41656" y="33782"/>
                  </a:lnTo>
                  <a:lnTo>
                    <a:pt x="30225" y="9525"/>
                  </a:lnTo>
                  <a:lnTo>
                    <a:pt x="2921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464051" y="1251204"/>
              <a:ext cx="144780" cy="167640"/>
            </a:xfrm>
            <a:custGeom>
              <a:avLst/>
              <a:gdLst/>
              <a:ahLst/>
              <a:cxnLst/>
              <a:rect l="l" t="t" r="r" b="b"/>
              <a:pathLst>
                <a:path w="144779" h="167640">
                  <a:moveTo>
                    <a:pt x="29210" y="0"/>
                  </a:moveTo>
                  <a:lnTo>
                    <a:pt x="9144" y="19938"/>
                  </a:lnTo>
                  <a:lnTo>
                    <a:pt x="508" y="48133"/>
                  </a:lnTo>
                  <a:lnTo>
                    <a:pt x="0" y="80645"/>
                  </a:lnTo>
                  <a:lnTo>
                    <a:pt x="4825" y="113030"/>
                  </a:lnTo>
                  <a:lnTo>
                    <a:pt x="12192" y="141097"/>
                  </a:lnTo>
                  <a:lnTo>
                    <a:pt x="19050" y="160655"/>
                  </a:lnTo>
                  <a:lnTo>
                    <a:pt x="22351" y="167512"/>
                  </a:lnTo>
                  <a:lnTo>
                    <a:pt x="53086" y="130810"/>
                  </a:lnTo>
                  <a:lnTo>
                    <a:pt x="93852" y="110362"/>
                  </a:lnTo>
                  <a:lnTo>
                    <a:pt x="129412" y="101600"/>
                  </a:lnTo>
                  <a:lnTo>
                    <a:pt x="144652" y="99695"/>
                  </a:lnTo>
                  <a:lnTo>
                    <a:pt x="75564" y="66040"/>
                  </a:lnTo>
                  <a:lnTo>
                    <a:pt x="41656" y="33782"/>
                  </a:lnTo>
                  <a:lnTo>
                    <a:pt x="30225" y="9525"/>
                  </a:lnTo>
                  <a:lnTo>
                    <a:pt x="29210" y="0"/>
                  </a:lnTo>
                  <a:close/>
                </a:path>
              </a:pathLst>
            </a:custGeom>
            <a:ln w="952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00627" y="1200912"/>
              <a:ext cx="215265" cy="65405"/>
            </a:xfrm>
            <a:custGeom>
              <a:avLst/>
              <a:gdLst/>
              <a:ahLst/>
              <a:cxnLst/>
              <a:rect l="l" t="t" r="r" b="b"/>
              <a:pathLst>
                <a:path w="215264" h="65405">
                  <a:moveTo>
                    <a:pt x="209169" y="0"/>
                  </a:moveTo>
                  <a:lnTo>
                    <a:pt x="186309" y="21589"/>
                  </a:lnTo>
                  <a:lnTo>
                    <a:pt x="161544" y="37973"/>
                  </a:lnTo>
                  <a:lnTo>
                    <a:pt x="135127" y="48387"/>
                  </a:lnTo>
                  <a:lnTo>
                    <a:pt x="107442" y="52070"/>
                  </a:lnTo>
                  <a:lnTo>
                    <a:pt x="79629" y="48260"/>
                  </a:lnTo>
                  <a:lnTo>
                    <a:pt x="53339" y="37718"/>
                  </a:lnTo>
                  <a:lnTo>
                    <a:pt x="28448" y="21209"/>
                  </a:lnTo>
                  <a:lnTo>
                    <a:pt x="5714" y="0"/>
                  </a:lnTo>
                  <a:lnTo>
                    <a:pt x="3429" y="4063"/>
                  </a:lnTo>
                  <a:lnTo>
                    <a:pt x="1524" y="9016"/>
                  </a:lnTo>
                  <a:lnTo>
                    <a:pt x="0" y="13715"/>
                  </a:lnTo>
                  <a:lnTo>
                    <a:pt x="23875" y="35051"/>
                  </a:lnTo>
                  <a:lnTo>
                    <a:pt x="49911" y="51435"/>
                  </a:lnTo>
                  <a:lnTo>
                    <a:pt x="77724" y="61849"/>
                  </a:lnTo>
                  <a:lnTo>
                    <a:pt x="107442" y="65404"/>
                  </a:lnTo>
                  <a:lnTo>
                    <a:pt x="137033" y="61849"/>
                  </a:lnTo>
                  <a:lnTo>
                    <a:pt x="164973" y="51435"/>
                  </a:lnTo>
                  <a:lnTo>
                    <a:pt x="190881" y="35051"/>
                  </a:lnTo>
                  <a:lnTo>
                    <a:pt x="214757" y="13715"/>
                  </a:lnTo>
                  <a:lnTo>
                    <a:pt x="213360" y="9016"/>
                  </a:lnTo>
                  <a:lnTo>
                    <a:pt x="211455" y="4063"/>
                  </a:lnTo>
                  <a:lnTo>
                    <a:pt x="209169" y="0"/>
                  </a:lnTo>
                  <a:close/>
                </a:path>
              </a:pathLst>
            </a:custGeom>
            <a:solidFill>
              <a:srgbClr val="FCA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393947" y="894587"/>
              <a:ext cx="427990" cy="356870"/>
            </a:xfrm>
            <a:custGeom>
              <a:avLst/>
              <a:gdLst/>
              <a:ahLst/>
              <a:cxnLst/>
              <a:rect l="l" t="t" r="r" b="b"/>
              <a:pathLst>
                <a:path w="427989" h="356869">
                  <a:moveTo>
                    <a:pt x="94741" y="0"/>
                  </a:moveTo>
                  <a:lnTo>
                    <a:pt x="95757" y="28828"/>
                  </a:lnTo>
                  <a:lnTo>
                    <a:pt x="91059" y="52324"/>
                  </a:lnTo>
                  <a:lnTo>
                    <a:pt x="82803" y="72389"/>
                  </a:lnTo>
                  <a:lnTo>
                    <a:pt x="72771" y="90677"/>
                  </a:lnTo>
                  <a:lnTo>
                    <a:pt x="62991" y="109347"/>
                  </a:lnTo>
                  <a:lnTo>
                    <a:pt x="55372" y="129794"/>
                  </a:lnTo>
                  <a:lnTo>
                    <a:pt x="51815" y="154177"/>
                  </a:lnTo>
                  <a:lnTo>
                    <a:pt x="54482" y="184150"/>
                  </a:lnTo>
                  <a:lnTo>
                    <a:pt x="51688" y="180975"/>
                  </a:lnTo>
                  <a:lnTo>
                    <a:pt x="44830" y="171831"/>
                  </a:lnTo>
                  <a:lnTo>
                    <a:pt x="35813" y="157352"/>
                  </a:lnTo>
                  <a:lnTo>
                    <a:pt x="26669" y="138049"/>
                  </a:lnTo>
                  <a:lnTo>
                    <a:pt x="21462" y="137287"/>
                  </a:lnTo>
                  <a:lnTo>
                    <a:pt x="17272" y="138684"/>
                  </a:lnTo>
                  <a:lnTo>
                    <a:pt x="12573" y="140970"/>
                  </a:lnTo>
                  <a:lnTo>
                    <a:pt x="2921" y="152400"/>
                  </a:lnTo>
                  <a:lnTo>
                    <a:pt x="0" y="169417"/>
                  </a:lnTo>
                  <a:lnTo>
                    <a:pt x="3810" y="189737"/>
                  </a:lnTo>
                  <a:lnTo>
                    <a:pt x="14224" y="211454"/>
                  </a:lnTo>
                  <a:lnTo>
                    <a:pt x="41401" y="239649"/>
                  </a:lnTo>
                  <a:lnTo>
                    <a:pt x="70357" y="248031"/>
                  </a:lnTo>
                  <a:lnTo>
                    <a:pt x="86487" y="273431"/>
                  </a:lnTo>
                  <a:lnTo>
                    <a:pt x="123825" y="316484"/>
                  </a:lnTo>
                  <a:lnTo>
                    <a:pt x="166877" y="345566"/>
                  </a:lnTo>
                  <a:lnTo>
                    <a:pt x="214122" y="356362"/>
                  </a:lnTo>
                  <a:lnTo>
                    <a:pt x="238125" y="353567"/>
                  </a:lnTo>
                  <a:lnTo>
                    <a:pt x="283463" y="333248"/>
                  </a:lnTo>
                  <a:lnTo>
                    <a:pt x="323850" y="296672"/>
                  </a:lnTo>
                  <a:lnTo>
                    <a:pt x="357759" y="248031"/>
                  </a:lnTo>
                  <a:lnTo>
                    <a:pt x="371728" y="246887"/>
                  </a:lnTo>
                  <a:lnTo>
                    <a:pt x="401319" y="227964"/>
                  </a:lnTo>
                  <a:lnTo>
                    <a:pt x="424434" y="189611"/>
                  </a:lnTo>
                  <a:lnTo>
                    <a:pt x="427989" y="169037"/>
                  </a:lnTo>
                  <a:lnTo>
                    <a:pt x="424561" y="152019"/>
                  </a:lnTo>
                  <a:lnTo>
                    <a:pt x="414019" y="140970"/>
                  </a:lnTo>
                  <a:lnTo>
                    <a:pt x="412114" y="139446"/>
                  </a:lnTo>
                  <a:lnTo>
                    <a:pt x="408304" y="138049"/>
                  </a:lnTo>
                  <a:lnTo>
                    <a:pt x="405256" y="138049"/>
                  </a:lnTo>
                  <a:lnTo>
                    <a:pt x="398779" y="154686"/>
                  </a:lnTo>
                  <a:lnTo>
                    <a:pt x="390271" y="171958"/>
                  </a:lnTo>
                  <a:lnTo>
                    <a:pt x="379222" y="189484"/>
                  </a:lnTo>
                  <a:lnTo>
                    <a:pt x="365760" y="207390"/>
                  </a:lnTo>
                  <a:lnTo>
                    <a:pt x="369442" y="193166"/>
                  </a:lnTo>
                  <a:lnTo>
                    <a:pt x="372237" y="178815"/>
                  </a:lnTo>
                  <a:lnTo>
                    <a:pt x="374776" y="161162"/>
                  </a:lnTo>
                  <a:lnTo>
                    <a:pt x="376174" y="141350"/>
                  </a:lnTo>
                  <a:lnTo>
                    <a:pt x="375538" y="120650"/>
                  </a:lnTo>
                  <a:lnTo>
                    <a:pt x="365632" y="80899"/>
                  </a:lnTo>
                  <a:lnTo>
                    <a:pt x="338454" y="51053"/>
                  </a:lnTo>
                  <a:lnTo>
                    <a:pt x="316611" y="42672"/>
                  </a:lnTo>
                  <a:lnTo>
                    <a:pt x="288036" y="40386"/>
                  </a:lnTo>
                  <a:lnTo>
                    <a:pt x="252094" y="45085"/>
                  </a:lnTo>
                  <a:lnTo>
                    <a:pt x="261619" y="27304"/>
                  </a:lnTo>
                  <a:lnTo>
                    <a:pt x="183387" y="50291"/>
                  </a:lnTo>
                  <a:lnTo>
                    <a:pt x="131825" y="37846"/>
                  </a:lnTo>
                  <a:lnTo>
                    <a:pt x="103504" y="13335"/>
                  </a:lnTo>
                  <a:lnTo>
                    <a:pt x="94741" y="0"/>
                  </a:lnTo>
                  <a:close/>
                </a:path>
              </a:pathLst>
            </a:custGeom>
            <a:solidFill>
              <a:srgbClr val="FCC0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46042" y="921765"/>
              <a:ext cx="169545" cy="181610"/>
            </a:xfrm>
            <a:custGeom>
              <a:avLst/>
              <a:gdLst/>
              <a:ahLst/>
              <a:cxnLst/>
              <a:rect l="l" t="t" r="r" b="b"/>
              <a:pathLst>
                <a:path w="169545" h="181609">
                  <a:moveTo>
                    <a:pt x="166370" y="0"/>
                  </a:moveTo>
                  <a:lnTo>
                    <a:pt x="9525" y="0"/>
                  </a:lnTo>
                  <a:lnTo>
                    <a:pt x="0" y="17907"/>
                  </a:lnTo>
                  <a:lnTo>
                    <a:pt x="91186" y="27432"/>
                  </a:lnTo>
                  <a:lnTo>
                    <a:pt x="121920" y="85344"/>
                  </a:lnTo>
                  <a:lnTo>
                    <a:pt x="119887" y="150368"/>
                  </a:lnTo>
                  <a:lnTo>
                    <a:pt x="113030" y="181229"/>
                  </a:lnTo>
                  <a:lnTo>
                    <a:pt x="147447" y="125349"/>
                  </a:lnTo>
                  <a:lnTo>
                    <a:pt x="162560" y="76073"/>
                  </a:lnTo>
                  <a:lnTo>
                    <a:pt x="166116" y="41021"/>
                  </a:lnTo>
                  <a:lnTo>
                    <a:pt x="165608" y="27686"/>
                  </a:lnTo>
                  <a:lnTo>
                    <a:pt x="169545" y="27686"/>
                  </a:lnTo>
                  <a:lnTo>
                    <a:pt x="16637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0584" y="931290"/>
              <a:ext cx="78486" cy="1477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395472" y="763523"/>
              <a:ext cx="423545" cy="213995"/>
            </a:xfrm>
            <a:custGeom>
              <a:avLst/>
              <a:gdLst/>
              <a:ahLst/>
              <a:cxnLst/>
              <a:rect l="l" t="t" r="r" b="b"/>
              <a:pathLst>
                <a:path w="423545" h="213994">
                  <a:moveTo>
                    <a:pt x="249047" y="0"/>
                  </a:moveTo>
                  <a:lnTo>
                    <a:pt x="243840" y="0"/>
                  </a:lnTo>
                  <a:lnTo>
                    <a:pt x="243205" y="127"/>
                  </a:lnTo>
                  <a:lnTo>
                    <a:pt x="249047" y="0"/>
                  </a:lnTo>
                  <a:close/>
                </a:path>
                <a:path w="423545" h="213994">
                  <a:moveTo>
                    <a:pt x="416941" y="158242"/>
                  </a:moveTo>
                  <a:lnTo>
                    <a:pt x="376428" y="81788"/>
                  </a:lnTo>
                  <a:lnTo>
                    <a:pt x="331343" y="48895"/>
                  </a:lnTo>
                  <a:lnTo>
                    <a:pt x="311023" y="39243"/>
                  </a:lnTo>
                  <a:lnTo>
                    <a:pt x="322707" y="40386"/>
                  </a:lnTo>
                  <a:lnTo>
                    <a:pt x="334645" y="44069"/>
                  </a:lnTo>
                  <a:lnTo>
                    <a:pt x="343916" y="48006"/>
                  </a:lnTo>
                  <a:lnTo>
                    <a:pt x="347726" y="49784"/>
                  </a:lnTo>
                  <a:lnTo>
                    <a:pt x="331089" y="39243"/>
                  </a:lnTo>
                  <a:lnTo>
                    <a:pt x="308610" y="25146"/>
                  </a:lnTo>
                  <a:lnTo>
                    <a:pt x="296037" y="17272"/>
                  </a:lnTo>
                  <a:lnTo>
                    <a:pt x="242951" y="11938"/>
                  </a:lnTo>
                  <a:lnTo>
                    <a:pt x="201295" y="19431"/>
                  </a:lnTo>
                  <a:lnTo>
                    <a:pt x="184531" y="25146"/>
                  </a:lnTo>
                  <a:lnTo>
                    <a:pt x="208915" y="9398"/>
                  </a:lnTo>
                  <a:lnTo>
                    <a:pt x="229489" y="2032"/>
                  </a:lnTo>
                  <a:lnTo>
                    <a:pt x="243205" y="127"/>
                  </a:lnTo>
                  <a:lnTo>
                    <a:pt x="161544" y="889"/>
                  </a:lnTo>
                  <a:lnTo>
                    <a:pt x="109982" y="23241"/>
                  </a:lnTo>
                  <a:lnTo>
                    <a:pt x="85598" y="49530"/>
                  </a:lnTo>
                  <a:lnTo>
                    <a:pt x="79502" y="62230"/>
                  </a:lnTo>
                  <a:lnTo>
                    <a:pt x="75819" y="54229"/>
                  </a:lnTo>
                  <a:lnTo>
                    <a:pt x="73914" y="45847"/>
                  </a:lnTo>
                  <a:lnTo>
                    <a:pt x="73533" y="37973"/>
                  </a:lnTo>
                  <a:lnTo>
                    <a:pt x="73787" y="31623"/>
                  </a:lnTo>
                  <a:lnTo>
                    <a:pt x="69596" y="46609"/>
                  </a:lnTo>
                  <a:lnTo>
                    <a:pt x="70358" y="62992"/>
                  </a:lnTo>
                  <a:lnTo>
                    <a:pt x="73025" y="76327"/>
                  </a:lnTo>
                  <a:lnTo>
                    <a:pt x="74549" y="81788"/>
                  </a:lnTo>
                  <a:lnTo>
                    <a:pt x="62992" y="68326"/>
                  </a:lnTo>
                  <a:lnTo>
                    <a:pt x="47625" y="62484"/>
                  </a:lnTo>
                  <a:lnTo>
                    <a:pt x="34163" y="61214"/>
                  </a:lnTo>
                  <a:lnTo>
                    <a:pt x="28448" y="61468"/>
                  </a:lnTo>
                  <a:lnTo>
                    <a:pt x="46990" y="67310"/>
                  </a:lnTo>
                  <a:lnTo>
                    <a:pt x="57912" y="75057"/>
                  </a:lnTo>
                  <a:lnTo>
                    <a:pt x="62992" y="81915"/>
                  </a:lnTo>
                  <a:lnTo>
                    <a:pt x="64389" y="84836"/>
                  </a:lnTo>
                  <a:lnTo>
                    <a:pt x="22098" y="112522"/>
                  </a:lnTo>
                  <a:lnTo>
                    <a:pt x="3810" y="146812"/>
                  </a:lnTo>
                  <a:lnTo>
                    <a:pt x="0" y="176149"/>
                  </a:lnTo>
                  <a:lnTo>
                    <a:pt x="889" y="188468"/>
                  </a:lnTo>
                  <a:lnTo>
                    <a:pt x="19050" y="167767"/>
                  </a:lnTo>
                  <a:lnTo>
                    <a:pt x="93599" y="167767"/>
                  </a:lnTo>
                  <a:lnTo>
                    <a:pt x="95123" y="159766"/>
                  </a:lnTo>
                  <a:lnTo>
                    <a:pt x="94234" y="130937"/>
                  </a:lnTo>
                  <a:lnTo>
                    <a:pt x="102870" y="144399"/>
                  </a:lnTo>
                  <a:lnTo>
                    <a:pt x="131064" y="168910"/>
                  </a:lnTo>
                  <a:lnTo>
                    <a:pt x="182372" y="181356"/>
                  </a:lnTo>
                  <a:lnTo>
                    <a:pt x="260096" y="158242"/>
                  </a:lnTo>
                  <a:lnTo>
                    <a:pt x="416941" y="158242"/>
                  </a:lnTo>
                  <a:close/>
                </a:path>
                <a:path w="423545" h="213994">
                  <a:moveTo>
                    <a:pt x="423291" y="213868"/>
                  </a:moveTo>
                  <a:lnTo>
                    <a:pt x="420116" y="185928"/>
                  </a:lnTo>
                  <a:lnTo>
                    <a:pt x="416179" y="185928"/>
                  </a:lnTo>
                  <a:lnTo>
                    <a:pt x="423291" y="2138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8299704" y="708659"/>
            <a:ext cx="935990" cy="890269"/>
            <a:chOff x="8299704" y="708659"/>
            <a:chExt cx="935990" cy="890269"/>
          </a:xfrm>
        </p:grpSpPr>
        <p:sp>
          <p:nvSpPr>
            <p:cNvPr id="66" name="object 66"/>
            <p:cNvSpPr/>
            <p:nvPr/>
          </p:nvSpPr>
          <p:spPr>
            <a:xfrm>
              <a:off x="8299704" y="708659"/>
              <a:ext cx="935990" cy="890269"/>
            </a:xfrm>
            <a:custGeom>
              <a:avLst/>
              <a:gdLst/>
              <a:ahLst/>
              <a:cxnLst/>
              <a:rect l="l" t="t" r="r" b="b"/>
              <a:pathLst>
                <a:path w="935990" h="890269">
                  <a:moveTo>
                    <a:pt x="467868" y="0"/>
                  </a:moveTo>
                  <a:lnTo>
                    <a:pt x="409194" y="3428"/>
                  </a:lnTo>
                  <a:lnTo>
                    <a:pt x="352678" y="13588"/>
                  </a:lnTo>
                  <a:lnTo>
                    <a:pt x="298703" y="29972"/>
                  </a:lnTo>
                  <a:lnTo>
                    <a:pt x="247903" y="52197"/>
                  </a:lnTo>
                  <a:lnTo>
                    <a:pt x="200532" y="79755"/>
                  </a:lnTo>
                  <a:lnTo>
                    <a:pt x="157099" y="112267"/>
                  </a:lnTo>
                  <a:lnTo>
                    <a:pt x="118110" y="149478"/>
                  </a:lnTo>
                  <a:lnTo>
                    <a:pt x="83820" y="190753"/>
                  </a:lnTo>
                  <a:lnTo>
                    <a:pt x="54864" y="235838"/>
                  </a:lnTo>
                  <a:lnTo>
                    <a:pt x="31496" y="284225"/>
                  </a:lnTo>
                  <a:lnTo>
                    <a:pt x="14350" y="335406"/>
                  </a:lnTo>
                  <a:lnTo>
                    <a:pt x="3682" y="389254"/>
                  </a:lnTo>
                  <a:lnTo>
                    <a:pt x="0" y="445007"/>
                  </a:lnTo>
                  <a:lnTo>
                    <a:pt x="889" y="473201"/>
                  </a:lnTo>
                  <a:lnTo>
                    <a:pt x="8127" y="527938"/>
                  </a:lnTo>
                  <a:lnTo>
                    <a:pt x="22098" y="580516"/>
                  </a:lnTo>
                  <a:lnTo>
                    <a:pt x="42418" y="630427"/>
                  </a:lnTo>
                  <a:lnTo>
                    <a:pt x="68579" y="677163"/>
                  </a:lnTo>
                  <a:lnTo>
                    <a:pt x="100329" y="720343"/>
                  </a:lnTo>
                  <a:lnTo>
                    <a:pt x="137032" y="759713"/>
                  </a:lnTo>
                  <a:lnTo>
                    <a:pt x="178307" y="794638"/>
                  </a:lnTo>
                  <a:lnTo>
                    <a:pt x="223774" y="824738"/>
                  </a:lnTo>
                  <a:lnTo>
                    <a:pt x="272923" y="849629"/>
                  </a:lnTo>
                  <a:lnTo>
                    <a:pt x="325374" y="868934"/>
                  </a:lnTo>
                  <a:lnTo>
                    <a:pt x="380619" y="882268"/>
                  </a:lnTo>
                  <a:lnTo>
                    <a:pt x="438276" y="889126"/>
                  </a:lnTo>
                  <a:lnTo>
                    <a:pt x="467868" y="890015"/>
                  </a:lnTo>
                  <a:lnTo>
                    <a:pt x="497459" y="889126"/>
                  </a:lnTo>
                  <a:lnTo>
                    <a:pt x="555117" y="882268"/>
                  </a:lnTo>
                  <a:lnTo>
                    <a:pt x="610362" y="868934"/>
                  </a:lnTo>
                  <a:lnTo>
                    <a:pt x="662813" y="849629"/>
                  </a:lnTo>
                  <a:lnTo>
                    <a:pt x="711962" y="824738"/>
                  </a:lnTo>
                  <a:lnTo>
                    <a:pt x="757427" y="794638"/>
                  </a:lnTo>
                  <a:lnTo>
                    <a:pt x="798702" y="759713"/>
                  </a:lnTo>
                  <a:lnTo>
                    <a:pt x="835405" y="720343"/>
                  </a:lnTo>
                  <a:lnTo>
                    <a:pt x="867155" y="677163"/>
                  </a:lnTo>
                  <a:lnTo>
                    <a:pt x="893318" y="630427"/>
                  </a:lnTo>
                  <a:lnTo>
                    <a:pt x="913638" y="580516"/>
                  </a:lnTo>
                  <a:lnTo>
                    <a:pt x="927607" y="527938"/>
                  </a:lnTo>
                  <a:lnTo>
                    <a:pt x="934847" y="473201"/>
                  </a:lnTo>
                  <a:lnTo>
                    <a:pt x="935736" y="445007"/>
                  </a:lnTo>
                  <a:lnTo>
                    <a:pt x="934847" y="416813"/>
                  </a:lnTo>
                  <a:lnTo>
                    <a:pt x="927607" y="362076"/>
                  </a:lnTo>
                  <a:lnTo>
                    <a:pt x="913638" y="309499"/>
                  </a:lnTo>
                  <a:lnTo>
                    <a:pt x="893318" y="259587"/>
                  </a:lnTo>
                  <a:lnTo>
                    <a:pt x="867155" y="212851"/>
                  </a:lnTo>
                  <a:lnTo>
                    <a:pt x="835405" y="169672"/>
                  </a:lnTo>
                  <a:lnTo>
                    <a:pt x="798702" y="130301"/>
                  </a:lnTo>
                  <a:lnTo>
                    <a:pt x="757427" y="95376"/>
                  </a:lnTo>
                  <a:lnTo>
                    <a:pt x="711962" y="65277"/>
                  </a:lnTo>
                  <a:lnTo>
                    <a:pt x="662813" y="40386"/>
                  </a:lnTo>
                  <a:lnTo>
                    <a:pt x="610362" y="21081"/>
                  </a:lnTo>
                  <a:lnTo>
                    <a:pt x="555117" y="7747"/>
                  </a:lnTo>
                  <a:lnTo>
                    <a:pt x="497459" y="888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CCD3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8528304" y="748283"/>
              <a:ext cx="478790" cy="464820"/>
            </a:xfrm>
            <a:custGeom>
              <a:avLst/>
              <a:gdLst/>
              <a:ahLst/>
              <a:cxnLst/>
              <a:rect l="l" t="t" r="r" b="b"/>
              <a:pathLst>
                <a:path w="478790" h="464819">
                  <a:moveTo>
                    <a:pt x="265938" y="0"/>
                  </a:moveTo>
                  <a:lnTo>
                    <a:pt x="239268" y="3048"/>
                  </a:lnTo>
                  <a:lnTo>
                    <a:pt x="212598" y="0"/>
                  </a:lnTo>
                  <a:lnTo>
                    <a:pt x="186309" y="2412"/>
                  </a:lnTo>
                  <a:lnTo>
                    <a:pt x="136398" y="21970"/>
                  </a:lnTo>
                  <a:lnTo>
                    <a:pt x="91440" y="57912"/>
                  </a:lnTo>
                  <a:lnTo>
                    <a:pt x="53467" y="106679"/>
                  </a:lnTo>
                  <a:lnTo>
                    <a:pt x="32766" y="142875"/>
                  </a:lnTo>
                  <a:lnTo>
                    <a:pt x="7493" y="207899"/>
                  </a:lnTo>
                  <a:lnTo>
                    <a:pt x="0" y="264667"/>
                  </a:lnTo>
                  <a:lnTo>
                    <a:pt x="1524" y="290575"/>
                  </a:lnTo>
                  <a:lnTo>
                    <a:pt x="12700" y="338327"/>
                  </a:lnTo>
                  <a:lnTo>
                    <a:pt x="31115" y="382015"/>
                  </a:lnTo>
                  <a:lnTo>
                    <a:pt x="62738" y="443864"/>
                  </a:lnTo>
                  <a:lnTo>
                    <a:pt x="72136" y="464438"/>
                  </a:lnTo>
                  <a:lnTo>
                    <a:pt x="239268" y="464819"/>
                  </a:lnTo>
                  <a:lnTo>
                    <a:pt x="405892" y="464438"/>
                  </a:lnTo>
                  <a:lnTo>
                    <a:pt x="415417" y="443864"/>
                  </a:lnTo>
                  <a:lnTo>
                    <a:pt x="436625" y="402970"/>
                  </a:lnTo>
                  <a:lnTo>
                    <a:pt x="456946" y="360552"/>
                  </a:lnTo>
                  <a:lnTo>
                    <a:pt x="472440" y="315087"/>
                  </a:lnTo>
                  <a:lnTo>
                    <a:pt x="478409" y="264667"/>
                  </a:lnTo>
                  <a:lnTo>
                    <a:pt x="476757" y="237236"/>
                  </a:lnTo>
                  <a:lnTo>
                    <a:pt x="460882" y="176529"/>
                  </a:lnTo>
                  <a:lnTo>
                    <a:pt x="425069" y="106679"/>
                  </a:lnTo>
                  <a:lnTo>
                    <a:pt x="386969" y="57912"/>
                  </a:lnTo>
                  <a:lnTo>
                    <a:pt x="342011" y="21970"/>
                  </a:lnTo>
                  <a:lnTo>
                    <a:pt x="292100" y="2412"/>
                  </a:lnTo>
                  <a:lnTo>
                    <a:pt x="26593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8455152" y="1159763"/>
              <a:ext cx="624840" cy="426720"/>
            </a:xfrm>
            <a:custGeom>
              <a:avLst/>
              <a:gdLst/>
              <a:ahLst/>
              <a:cxnLst/>
              <a:rect l="l" t="t" r="r" b="b"/>
              <a:pathLst>
                <a:path w="624840" h="426719">
                  <a:moveTo>
                    <a:pt x="381000" y="0"/>
                  </a:moveTo>
                  <a:lnTo>
                    <a:pt x="374269" y="4318"/>
                  </a:lnTo>
                  <a:lnTo>
                    <a:pt x="357377" y="13588"/>
                  </a:lnTo>
                  <a:lnTo>
                    <a:pt x="334772" y="23113"/>
                  </a:lnTo>
                  <a:lnTo>
                    <a:pt x="311150" y="27559"/>
                  </a:lnTo>
                  <a:lnTo>
                    <a:pt x="287781" y="23622"/>
                  </a:lnTo>
                  <a:lnTo>
                    <a:pt x="266065" y="14732"/>
                  </a:lnTo>
                  <a:lnTo>
                    <a:pt x="250063" y="5969"/>
                  </a:lnTo>
                  <a:lnTo>
                    <a:pt x="243713" y="1905"/>
                  </a:lnTo>
                  <a:lnTo>
                    <a:pt x="240283" y="28066"/>
                  </a:lnTo>
                  <a:lnTo>
                    <a:pt x="224281" y="66421"/>
                  </a:lnTo>
                  <a:lnTo>
                    <a:pt x="198247" y="91059"/>
                  </a:lnTo>
                  <a:lnTo>
                    <a:pt x="165100" y="108458"/>
                  </a:lnTo>
                  <a:lnTo>
                    <a:pt x="127507" y="124713"/>
                  </a:lnTo>
                  <a:lnTo>
                    <a:pt x="88265" y="146176"/>
                  </a:lnTo>
                  <a:lnTo>
                    <a:pt x="50292" y="179197"/>
                  </a:lnTo>
                  <a:lnTo>
                    <a:pt x="19557" y="248031"/>
                  </a:lnTo>
                  <a:lnTo>
                    <a:pt x="10287" y="286131"/>
                  </a:lnTo>
                  <a:lnTo>
                    <a:pt x="0" y="325120"/>
                  </a:lnTo>
                  <a:lnTo>
                    <a:pt x="48768" y="357124"/>
                  </a:lnTo>
                  <a:lnTo>
                    <a:pt x="101726" y="383666"/>
                  </a:lnTo>
                  <a:lnTo>
                    <a:pt x="158369" y="404240"/>
                  </a:lnTo>
                  <a:lnTo>
                    <a:pt x="218058" y="418338"/>
                  </a:lnTo>
                  <a:lnTo>
                    <a:pt x="280416" y="425576"/>
                  </a:lnTo>
                  <a:lnTo>
                    <a:pt x="312420" y="426593"/>
                  </a:lnTo>
                  <a:lnTo>
                    <a:pt x="344424" y="425576"/>
                  </a:lnTo>
                  <a:lnTo>
                    <a:pt x="406653" y="418338"/>
                  </a:lnTo>
                  <a:lnTo>
                    <a:pt x="466471" y="404240"/>
                  </a:lnTo>
                  <a:lnTo>
                    <a:pt x="522986" y="383666"/>
                  </a:lnTo>
                  <a:lnTo>
                    <a:pt x="575945" y="357124"/>
                  </a:lnTo>
                  <a:lnTo>
                    <a:pt x="624713" y="325120"/>
                  </a:lnTo>
                  <a:lnTo>
                    <a:pt x="614426" y="286131"/>
                  </a:lnTo>
                  <a:lnTo>
                    <a:pt x="597534" y="217677"/>
                  </a:lnTo>
                  <a:lnTo>
                    <a:pt x="574548" y="179197"/>
                  </a:lnTo>
                  <a:lnTo>
                    <a:pt x="536448" y="146050"/>
                  </a:lnTo>
                  <a:lnTo>
                    <a:pt x="478027" y="115697"/>
                  </a:lnTo>
                  <a:lnTo>
                    <a:pt x="459740" y="107569"/>
                  </a:lnTo>
                  <a:lnTo>
                    <a:pt x="442341" y="99313"/>
                  </a:lnTo>
                  <a:lnTo>
                    <a:pt x="412496" y="78739"/>
                  </a:lnTo>
                  <a:lnTo>
                    <a:pt x="391032" y="47751"/>
                  </a:lnTo>
                  <a:lnTo>
                    <a:pt x="384428" y="2628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CC0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97468" y="1159763"/>
              <a:ext cx="140207" cy="5333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625840" y="894587"/>
              <a:ext cx="281940" cy="292735"/>
            </a:xfrm>
            <a:custGeom>
              <a:avLst/>
              <a:gdLst/>
              <a:ahLst/>
              <a:cxnLst/>
              <a:rect l="l" t="t" r="r" b="b"/>
              <a:pathLst>
                <a:path w="281940" h="292734">
                  <a:moveTo>
                    <a:pt x="149478" y="0"/>
                  </a:moveTo>
                  <a:lnTo>
                    <a:pt x="127888" y="35178"/>
                  </a:lnTo>
                  <a:lnTo>
                    <a:pt x="86867" y="74422"/>
                  </a:lnTo>
                  <a:lnTo>
                    <a:pt x="22605" y="88011"/>
                  </a:lnTo>
                  <a:lnTo>
                    <a:pt x="12318" y="90424"/>
                  </a:lnTo>
                  <a:lnTo>
                    <a:pt x="4825" y="96520"/>
                  </a:lnTo>
                  <a:lnTo>
                    <a:pt x="761" y="108585"/>
                  </a:lnTo>
                  <a:lnTo>
                    <a:pt x="0" y="138302"/>
                  </a:lnTo>
                  <a:lnTo>
                    <a:pt x="5587" y="168910"/>
                  </a:lnTo>
                  <a:lnTo>
                    <a:pt x="32384" y="226060"/>
                  </a:lnTo>
                  <a:lnTo>
                    <a:pt x="73532" y="266826"/>
                  </a:lnTo>
                  <a:lnTo>
                    <a:pt x="140842" y="292481"/>
                  </a:lnTo>
                  <a:lnTo>
                    <a:pt x="163449" y="288798"/>
                  </a:lnTo>
                  <a:lnTo>
                    <a:pt x="200659" y="271525"/>
                  </a:lnTo>
                  <a:lnTo>
                    <a:pt x="243204" y="236474"/>
                  </a:lnTo>
                  <a:lnTo>
                    <a:pt x="269620" y="189102"/>
                  </a:lnTo>
                  <a:lnTo>
                    <a:pt x="281558" y="130301"/>
                  </a:lnTo>
                  <a:lnTo>
                    <a:pt x="280542" y="98551"/>
                  </a:lnTo>
                  <a:lnTo>
                    <a:pt x="269366" y="76708"/>
                  </a:lnTo>
                  <a:lnTo>
                    <a:pt x="246252" y="73787"/>
                  </a:lnTo>
                  <a:lnTo>
                    <a:pt x="231775" y="73787"/>
                  </a:lnTo>
                  <a:lnTo>
                    <a:pt x="215773" y="71754"/>
                  </a:lnTo>
                  <a:lnTo>
                    <a:pt x="199008" y="65659"/>
                  </a:lnTo>
                  <a:lnTo>
                    <a:pt x="182117" y="53086"/>
                  </a:lnTo>
                  <a:lnTo>
                    <a:pt x="165353" y="32003"/>
                  </a:lnTo>
                  <a:lnTo>
                    <a:pt x="149478" y="0"/>
                  </a:lnTo>
                  <a:close/>
                </a:path>
              </a:pathLst>
            </a:custGeom>
            <a:solidFill>
              <a:srgbClr val="FCC0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8453628" y="1255775"/>
              <a:ext cx="628015" cy="330835"/>
            </a:xfrm>
            <a:custGeom>
              <a:avLst/>
              <a:gdLst/>
              <a:ahLst/>
              <a:cxnLst/>
              <a:rect l="l" t="t" r="r" b="b"/>
              <a:pathLst>
                <a:path w="628015" h="330834">
                  <a:moveTo>
                    <a:pt x="627761" y="228981"/>
                  </a:moveTo>
                  <a:lnTo>
                    <a:pt x="618998" y="191516"/>
                  </a:lnTo>
                  <a:lnTo>
                    <a:pt x="615696" y="175006"/>
                  </a:lnTo>
                  <a:lnTo>
                    <a:pt x="610743" y="150876"/>
                  </a:lnTo>
                  <a:lnTo>
                    <a:pt x="598170" y="84455"/>
                  </a:lnTo>
                  <a:lnTo>
                    <a:pt x="578993" y="50165"/>
                  </a:lnTo>
                  <a:lnTo>
                    <a:pt x="524764" y="25654"/>
                  </a:lnTo>
                  <a:lnTo>
                    <a:pt x="462788" y="9398"/>
                  </a:lnTo>
                  <a:lnTo>
                    <a:pt x="437388" y="0"/>
                  </a:lnTo>
                  <a:lnTo>
                    <a:pt x="414909" y="64135"/>
                  </a:lnTo>
                  <a:lnTo>
                    <a:pt x="390525" y="113919"/>
                  </a:lnTo>
                  <a:lnTo>
                    <a:pt x="351282" y="161290"/>
                  </a:lnTo>
                  <a:lnTo>
                    <a:pt x="310134" y="175006"/>
                  </a:lnTo>
                  <a:lnTo>
                    <a:pt x="296164" y="171831"/>
                  </a:lnTo>
                  <a:lnTo>
                    <a:pt x="240411" y="119888"/>
                  </a:lnTo>
                  <a:lnTo>
                    <a:pt x="213233" y="69850"/>
                  </a:lnTo>
                  <a:lnTo>
                    <a:pt x="187071" y="3302"/>
                  </a:lnTo>
                  <a:lnTo>
                    <a:pt x="162687" y="12573"/>
                  </a:lnTo>
                  <a:lnTo>
                    <a:pt x="105156" y="27813"/>
                  </a:lnTo>
                  <a:lnTo>
                    <a:pt x="52070" y="51054"/>
                  </a:lnTo>
                  <a:lnTo>
                    <a:pt x="23114" y="113411"/>
                  </a:lnTo>
                  <a:lnTo>
                    <a:pt x="16256" y="151130"/>
                  </a:lnTo>
                  <a:lnTo>
                    <a:pt x="8382" y="191643"/>
                  </a:lnTo>
                  <a:lnTo>
                    <a:pt x="0" y="228981"/>
                  </a:lnTo>
                  <a:lnTo>
                    <a:pt x="48895" y="260985"/>
                  </a:lnTo>
                  <a:lnTo>
                    <a:pt x="102108" y="287528"/>
                  </a:lnTo>
                  <a:lnTo>
                    <a:pt x="158877" y="308229"/>
                  </a:lnTo>
                  <a:lnTo>
                    <a:pt x="218948" y="322326"/>
                  </a:lnTo>
                  <a:lnTo>
                    <a:pt x="281686" y="329565"/>
                  </a:lnTo>
                  <a:lnTo>
                    <a:pt x="313817" y="330581"/>
                  </a:lnTo>
                  <a:lnTo>
                    <a:pt x="346075" y="329565"/>
                  </a:lnTo>
                  <a:lnTo>
                    <a:pt x="408813" y="322326"/>
                  </a:lnTo>
                  <a:lnTo>
                    <a:pt x="468757" y="308229"/>
                  </a:lnTo>
                  <a:lnTo>
                    <a:pt x="525653" y="287528"/>
                  </a:lnTo>
                  <a:lnTo>
                    <a:pt x="578739" y="260985"/>
                  </a:lnTo>
                  <a:lnTo>
                    <a:pt x="603758" y="245618"/>
                  </a:lnTo>
                  <a:lnTo>
                    <a:pt x="627761" y="228981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67737" y="1231201"/>
              <a:ext cx="407034" cy="204343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8298370" y="5119306"/>
            <a:ext cx="3585845" cy="808990"/>
            <a:chOff x="8298370" y="5119306"/>
            <a:chExt cx="3585845" cy="808990"/>
          </a:xfrm>
        </p:grpSpPr>
        <p:sp>
          <p:nvSpPr>
            <p:cNvPr id="74" name="object 74"/>
            <p:cNvSpPr/>
            <p:nvPr/>
          </p:nvSpPr>
          <p:spPr>
            <a:xfrm>
              <a:off x="8312657" y="5133594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6"/>
                  </a:lnTo>
                  <a:lnTo>
                    <a:pt x="299212" y="4571"/>
                  </a:lnTo>
                  <a:lnTo>
                    <a:pt x="257810" y="13334"/>
                  </a:lnTo>
                  <a:lnTo>
                    <a:pt x="218440" y="27685"/>
                  </a:lnTo>
                  <a:lnTo>
                    <a:pt x="181228" y="46989"/>
                  </a:lnTo>
                  <a:lnTo>
                    <a:pt x="146685" y="70992"/>
                  </a:lnTo>
                  <a:lnTo>
                    <a:pt x="114935" y="99440"/>
                  </a:lnTo>
                  <a:lnTo>
                    <a:pt x="86360" y="131698"/>
                  </a:lnTo>
                  <a:lnTo>
                    <a:pt x="61341" y="167766"/>
                  </a:lnTo>
                  <a:lnTo>
                    <a:pt x="40132" y="207009"/>
                  </a:lnTo>
                  <a:lnTo>
                    <a:pt x="22987" y="249173"/>
                  </a:lnTo>
                  <a:lnTo>
                    <a:pt x="10414" y="293877"/>
                  </a:lnTo>
                  <a:lnTo>
                    <a:pt x="2667" y="340613"/>
                  </a:lnTo>
                  <a:lnTo>
                    <a:pt x="0" y="389381"/>
                  </a:lnTo>
                  <a:lnTo>
                    <a:pt x="2667" y="438022"/>
                  </a:lnTo>
                  <a:lnTo>
                    <a:pt x="10414" y="484822"/>
                  </a:lnTo>
                  <a:lnTo>
                    <a:pt x="22987" y="529501"/>
                  </a:lnTo>
                  <a:lnTo>
                    <a:pt x="40132" y="571652"/>
                  </a:lnTo>
                  <a:lnTo>
                    <a:pt x="61341" y="610895"/>
                  </a:lnTo>
                  <a:lnTo>
                    <a:pt x="86360" y="646899"/>
                  </a:lnTo>
                  <a:lnTo>
                    <a:pt x="114935" y="679259"/>
                  </a:lnTo>
                  <a:lnTo>
                    <a:pt x="146685" y="707656"/>
                  </a:lnTo>
                  <a:lnTo>
                    <a:pt x="181228" y="731697"/>
                  </a:lnTo>
                  <a:lnTo>
                    <a:pt x="218440" y="751014"/>
                  </a:lnTo>
                  <a:lnTo>
                    <a:pt x="257810" y="765276"/>
                  </a:lnTo>
                  <a:lnTo>
                    <a:pt x="299212" y="774103"/>
                  </a:lnTo>
                  <a:lnTo>
                    <a:pt x="326390" y="776020"/>
                  </a:lnTo>
                  <a:lnTo>
                    <a:pt x="326390" y="780160"/>
                  </a:lnTo>
                  <a:lnTo>
                    <a:pt x="3556762" y="780160"/>
                  </a:lnTo>
                  <a:lnTo>
                    <a:pt x="355676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312657" y="5133594"/>
              <a:ext cx="3557270" cy="780415"/>
            </a:xfrm>
            <a:custGeom>
              <a:avLst/>
              <a:gdLst/>
              <a:ahLst/>
              <a:cxnLst/>
              <a:rect l="l" t="t" r="r" b="b"/>
              <a:pathLst>
                <a:path w="3557270" h="780414">
                  <a:moveTo>
                    <a:pt x="3556762" y="0"/>
                  </a:moveTo>
                  <a:lnTo>
                    <a:pt x="326390" y="0"/>
                  </a:lnTo>
                  <a:lnTo>
                    <a:pt x="326390" y="2666"/>
                  </a:lnTo>
                  <a:lnTo>
                    <a:pt x="299212" y="4571"/>
                  </a:lnTo>
                  <a:lnTo>
                    <a:pt x="257810" y="13334"/>
                  </a:lnTo>
                  <a:lnTo>
                    <a:pt x="218440" y="27685"/>
                  </a:lnTo>
                  <a:lnTo>
                    <a:pt x="181228" y="46989"/>
                  </a:lnTo>
                  <a:lnTo>
                    <a:pt x="146685" y="70992"/>
                  </a:lnTo>
                  <a:lnTo>
                    <a:pt x="114935" y="99440"/>
                  </a:lnTo>
                  <a:lnTo>
                    <a:pt x="86360" y="131698"/>
                  </a:lnTo>
                  <a:lnTo>
                    <a:pt x="61341" y="167766"/>
                  </a:lnTo>
                  <a:lnTo>
                    <a:pt x="40132" y="207009"/>
                  </a:lnTo>
                  <a:lnTo>
                    <a:pt x="22987" y="249173"/>
                  </a:lnTo>
                  <a:lnTo>
                    <a:pt x="10414" y="293877"/>
                  </a:lnTo>
                  <a:lnTo>
                    <a:pt x="2667" y="340613"/>
                  </a:lnTo>
                  <a:lnTo>
                    <a:pt x="0" y="389381"/>
                  </a:lnTo>
                  <a:lnTo>
                    <a:pt x="2667" y="438022"/>
                  </a:lnTo>
                  <a:lnTo>
                    <a:pt x="10414" y="484822"/>
                  </a:lnTo>
                  <a:lnTo>
                    <a:pt x="22987" y="529501"/>
                  </a:lnTo>
                  <a:lnTo>
                    <a:pt x="40132" y="571652"/>
                  </a:lnTo>
                  <a:lnTo>
                    <a:pt x="61341" y="610895"/>
                  </a:lnTo>
                  <a:lnTo>
                    <a:pt x="86360" y="646899"/>
                  </a:lnTo>
                  <a:lnTo>
                    <a:pt x="114935" y="679259"/>
                  </a:lnTo>
                  <a:lnTo>
                    <a:pt x="146685" y="707656"/>
                  </a:lnTo>
                  <a:lnTo>
                    <a:pt x="181228" y="731697"/>
                  </a:lnTo>
                  <a:lnTo>
                    <a:pt x="218440" y="751014"/>
                  </a:lnTo>
                  <a:lnTo>
                    <a:pt x="257810" y="765276"/>
                  </a:lnTo>
                  <a:lnTo>
                    <a:pt x="299212" y="774103"/>
                  </a:lnTo>
                  <a:lnTo>
                    <a:pt x="326390" y="776020"/>
                  </a:lnTo>
                  <a:lnTo>
                    <a:pt x="326390" y="780160"/>
                  </a:lnTo>
                  <a:lnTo>
                    <a:pt x="3556762" y="780160"/>
                  </a:lnTo>
                  <a:lnTo>
                    <a:pt x="3556762" y="0"/>
                  </a:lnTo>
                  <a:close/>
                </a:path>
                <a:path w="3557270" h="780414">
                  <a:moveTo>
                    <a:pt x="3150108" y="62483"/>
                  </a:moveTo>
                  <a:lnTo>
                    <a:pt x="3150108" y="717422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1506961" y="5356098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8"/>
                  </a:lnTo>
                  <a:lnTo>
                    <a:pt x="73787" y="22986"/>
                  </a:lnTo>
                  <a:lnTo>
                    <a:pt x="43688" y="49275"/>
                  </a:lnTo>
                  <a:lnTo>
                    <a:pt x="20320" y="83311"/>
                  </a:lnTo>
                  <a:lnTo>
                    <a:pt x="5334" y="123570"/>
                  </a:lnTo>
                  <a:lnTo>
                    <a:pt x="0" y="168274"/>
                  </a:lnTo>
                  <a:lnTo>
                    <a:pt x="5334" y="212851"/>
                  </a:lnTo>
                  <a:lnTo>
                    <a:pt x="20320" y="253098"/>
                  </a:lnTo>
                  <a:lnTo>
                    <a:pt x="43688" y="287134"/>
                  </a:lnTo>
                  <a:lnTo>
                    <a:pt x="73787" y="313448"/>
                  </a:lnTo>
                  <a:lnTo>
                    <a:pt x="109474" y="330415"/>
                  </a:lnTo>
                  <a:lnTo>
                    <a:pt x="149098" y="336422"/>
                  </a:lnTo>
                  <a:lnTo>
                    <a:pt x="188849" y="330415"/>
                  </a:lnTo>
                  <a:lnTo>
                    <a:pt x="224409" y="313448"/>
                  </a:lnTo>
                  <a:lnTo>
                    <a:pt x="254635" y="287134"/>
                  </a:lnTo>
                  <a:lnTo>
                    <a:pt x="277876" y="253098"/>
                  </a:lnTo>
                  <a:lnTo>
                    <a:pt x="292989" y="212851"/>
                  </a:lnTo>
                  <a:lnTo>
                    <a:pt x="298323" y="168274"/>
                  </a:lnTo>
                  <a:lnTo>
                    <a:pt x="292989" y="123570"/>
                  </a:lnTo>
                  <a:lnTo>
                    <a:pt x="277876" y="83311"/>
                  </a:lnTo>
                  <a:lnTo>
                    <a:pt x="254635" y="49275"/>
                  </a:lnTo>
                  <a:lnTo>
                    <a:pt x="224409" y="22986"/>
                  </a:lnTo>
                  <a:lnTo>
                    <a:pt x="188849" y="5968"/>
                  </a:lnTo>
                  <a:lnTo>
                    <a:pt x="149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1506961" y="5356098"/>
              <a:ext cx="298450" cy="336550"/>
            </a:xfrm>
            <a:custGeom>
              <a:avLst/>
              <a:gdLst/>
              <a:ahLst/>
              <a:cxnLst/>
              <a:rect l="l" t="t" r="r" b="b"/>
              <a:pathLst>
                <a:path w="298450" h="336550">
                  <a:moveTo>
                    <a:pt x="149098" y="0"/>
                  </a:moveTo>
                  <a:lnTo>
                    <a:pt x="109474" y="5968"/>
                  </a:lnTo>
                  <a:lnTo>
                    <a:pt x="73787" y="22986"/>
                  </a:lnTo>
                  <a:lnTo>
                    <a:pt x="43688" y="49275"/>
                  </a:lnTo>
                  <a:lnTo>
                    <a:pt x="20320" y="83311"/>
                  </a:lnTo>
                  <a:lnTo>
                    <a:pt x="5334" y="123570"/>
                  </a:lnTo>
                  <a:lnTo>
                    <a:pt x="0" y="168274"/>
                  </a:lnTo>
                  <a:lnTo>
                    <a:pt x="5334" y="212851"/>
                  </a:lnTo>
                  <a:lnTo>
                    <a:pt x="20320" y="253098"/>
                  </a:lnTo>
                  <a:lnTo>
                    <a:pt x="43688" y="287134"/>
                  </a:lnTo>
                  <a:lnTo>
                    <a:pt x="73787" y="313448"/>
                  </a:lnTo>
                  <a:lnTo>
                    <a:pt x="109474" y="330415"/>
                  </a:lnTo>
                  <a:lnTo>
                    <a:pt x="149098" y="336422"/>
                  </a:lnTo>
                  <a:lnTo>
                    <a:pt x="188849" y="330415"/>
                  </a:lnTo>
                  <a:lnTo>
                    <a:pt x="224409" y="313448"/>
                  </a:lnTo>
                  <a:lnTo>
                    <a:pt x="254635" y="287134"/>
                  </a:lnTo>
                  <a:lnTo>
                    <a:pt x="277876" y="253098"/>
                  </a:lnTo>
                  <a:lnTo>
                    <a:pt x="292989" y="212851"/>
                  </a:lnTo>
                  <a:lnTo>
                    <a:pt x="298323" y="168274"/>
                  </a:lnTo>
                  <a:lnTo>
                    <a:pt x="292989" y="123570"/>
                  </a:lnTo>
                  <a:lnTo>
                    <a:pt x="277876" y="83311"/>
                  </a:lnTo>
                  <a:lnTo>
                    <a:pt x="254635" y="49275"/>
                  </a:lnTo>
                  <a:lnTo>
                    <a:pt x="224409" y="22986"/>
                  </a:lnTo>
                  <a:lnTo>
                    <a:pt x="188849" y="5968"/>
                  </a:lnTo>
                  <a:lnTo>
                    <a:pt x="149098" y="0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11557507" y="539841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715882" y="5113640"/>
            <a:ext cx="2662555" cy="78232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1200" spc="-10" b="1">
                <a:latin typeface="Calibri"/>
                <a:cs typeface="Calibri"/>
              </a:rPr>
              <a:t>CREDIT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SCORING</a:t>
            </a:r>
            <a:endParaRPr sz="1200">
              <a:latin typeface="Calibri"/>
              <a:cs typeface="Calibri"/>
            </a:endParaRPr>
          </a:p>
          <a:p>
            <a:pPr algn="ctr" marL="12700" marR="5080" indent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limited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outlook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solely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economic </a:t>
            </a:r>
            <a:r>
              <a:rPr dirty="0" sz="1200" spc="-25">
                <a:latin typeface="Calibri"/>
                <a:cs typeface="Calibri"/>
              </a:rPr>
              <a:t>well-</a:t>
            </a:r>
            <a:r>
              <a:rPr dirty="0" sz="1200" spc="-10">
                <a:latin typeface="Calibri"/>
                <a:cs typeface="Calibri"/>
              </a:rPr>
              <a:t>being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makes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present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scoring </a:t>
            </a:r>
            <a:r>
              <a:rPr dirty="0" sz="1200" spc="-25">
                <a:latin typeface="Calibri"/>
                <a:cs typeface="Calibri"/>
              </a:rPr>
              <a:t>system</a:t>
            </a:r>
            <a:r>
              <a:rPr dirty="0" sz="1200" spc="-10">
                <a:latin typeface="Calibri"/>
                <a:cs typeface="Calibri"/>
              </a:rPr>
              <a:t> unreliable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18935" y="5139245"/>
            <a:ext cx="3579495" cy="808990"/>
            <a:chOff x="318935" y="5139245"/>
            <a:chExt cx="3579495" cy="808990"/>
          </a:xfrm>
        </p:grpSpPr>
        <p:sp>
          <p:nvSpPr>
            <p:cNvPr id="81" name="object 81"/>
            <p:cNvSpPr/>
            <p:nvPr/>
          </p:nvSpPr>
          <p:spPr>
            <a:xfrm>
              <a:off x="333222" y="5153533"/>
              <a:ext cx="3550920" cy="780415"/>
            </a:xfrm>
            <a:custGeom>
              <a:avLst/>
              <a:gdLst/>
              <a:ahLst/>
              <a:cxnLst/>
              <a:rect l="l" t="t" r="r" b="b"/>
              <a:pathLst>
                <a:path w="3550920" h="780414">
                  <a:moveTo>
                    <a:pt x="3224809" y="0"/>
                  </a:moveTo>
                  <a:lnTo>
                    <a:pt x="0" y="0"/>
                  </a:lnTo>
                  <a:lnTo>
                    <a:pt x="0" y="780161"/>
                  </a:lnTo>
                  <a:lnTo>
                    <a:pt x="3224809" y="780161"/>
                  </a:lnTo>
                  <a:lnTo>
                    <a:pt x="3224809" y="777532"/>
                  </a:lnTo>
                  <a:lnTo>
                    <a:pt x="3251987" y="775614"/>
                  </a:lnTo>
                  <a:lnTo>
                    <a:pt x="3293262" y="766787"/>
                  </a:lnTo>
                  <a:lnTo>
                    <a:pt x="3332632" y="752525"/>
                  </a:lnTo>
                  <a:lnTo>
                    <a:pt x="3369716" y="733209"/>
                  </a:lnTo>
                  <a:lnTo>
                    <a:pt x="3404260" y="709168"/>
                  </a:lnTo>
                  <a:lnTo>
                    <a:pt x="3436010" y="680770"/>
                  </a:lnTo>
                  <a:lnTo>
                    <a:pt x="3464458" y="648411"/>
                  </a:lnTo>
                  <a:lnTo>
                    <a:pt x="3489477" y="612406"/>
                  </a:lnTo>
                  <a:lnTo>
                    <a:pt x="3510686" y="573163"/>
                  </a:lnTo>
                  <a:lnTo>
                    <a:pt x="3527704" y="531012"/>
                  </a:lnTo>
                  <a:lnTo>
                    <a:pt x="3540277" y="486333"/>
                  </a:lnTo>
                  <a:lnTo>
                    <a:pt x="3548024" y="439483"/>
                  </a:lnTo>
                  <a:lnTo>
                    <a:pt x="3550691" y="390779"/>
                  </a:lnTo>
                  <a:lnTo>
                    <a:pt x="3548024" y="342138"/>
                  </a:lnTo>
                  <a:lnTo>
                    <a:pt x="3540277" y="295402"/>
                  </a:lnTo>
                  <a:lnTo>
                    <a:pt x="3527704" y="250698"/>
                  </a:lnTo>
                  <a:lnTo>
                    <a:pt x="3510686" y="208534"/>
                  </a:lnTo>
                  <a:lnTo>
                    <a:pt x="3489477" y="169291"/>
                  </a:lnTo>
                  <a:lnTo>
                    <a:pt x="3464458" y="133223"/>
                  </a:lnTo>
                  <a:lnTo>
                    <a:pt x="3436010" y="100838"/>
                  </a:lnTo>
                  <a:lnTo>
                    <a:pt x="3404260" y="72517"/>
                  </a:lnTo>
                  <a:lnTo>
                    <a:pt x="3369716" y="48514"/>
                  </a:lnTo>
                  <a:lnTo>
                    <a:pt x="3332632" y="29083"/>
                  </a:lnTo>
                  <a:lnTo>
                    <a:pt x="3293262" y="14859"/>
                  </a:lnTo>
                  <a:lnTo>
                    <a:pt x="3251987" y="6096"/>
                  </a:lnTo>
                  <a:lnTo>
                    <a:pt x="3224809" y="4191"/>
                  </a:lnTo>
                  <a:lnTo>
                    <a:pt x="3224809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33222" y="5153533"/>
              <a:ext cx="3550920" cy="780415"/>
            </a:xfrm>
            <a:custGeom>
              <a:avLst/>
              <a:gdLst/>
              <a:ahLst/>
              <a:cxnLst/>
              <a:rect l="l" t="t" r="r" b="b"/>
              <a:pathLst>
                <a:path w="3550920" h="780414">
                  <a:moveTo>
                    <a:pt x="0" y="780161"/>
                  </a:moveTo>
                  <a:lnTo>
                    <a:pt x="3224809" y="780161"/>
                  </a:lnTo>
                  <a:lnTo>
                    <a:pt x="3224809" y="777532"/>
                  </a:lnTo>
                  <a:lnTo>
                    <a:pt x="3251987" y="775614"/>
                  </a:lnTo>
                  <a:lnTo>
                    <a:pt x="3293262" y="766787"/>
                  </a:lnTo>
                  <a:lnTo>
                    <a:pt x="3332632" y="752525"/>
                  </a:lnTo>
                  <a:lnTo>
                    <a:pt x="3369716" y="733209"/>
                  </a:lnTo>
                  <a:lnTo>
                    <a:pt x="3404260" y="709168"/>
                  </a:lnTo>
                  <a:lnTo>
                    <a:pt x="3436010" y="680770"/>
                  </a:lnTo>
                  <a:lnTo>
                    <a:pt x="3464458" y="648411"/>
                  </a:lnTo>
                  <a:lnTo>
                    <a:pt x="3489477" y="612406"/>
                  </a:lnTo>
                  <a:lnTo>
                    <a:pt x="3510686" y="573163"/>
                  </a:lnTo>
                  <a:lnTo>
                    <a:pt x="3527704" y="531012"/>
                  </a:lnTo>
                  <a:lnTo>
                    <a:pt x="3540277" y="486333"/>
                  </a:lnTo>
                  <a:lnTo>
                    <a:pt x="3548024" y="439483"/>
                  </a:lnTo>
                  <a:lnTo>
                    <a:pt x="3550691" y="390779"/>
                  </a:lnTo>
                  <a:lnTo>
                    <a:pt x="3548024" y="342138"/>
                  </a:lnTo>
                  <a:lnTo>
                    <a:pt x="3540277" y="295402"/>
                  </a:lnTo>
                  <a:lnTo>
                    <a:pt x="3527704" y="250698"/>
                  </a:lnTo>
                  <a:lnTo>
                    <a:pt x="3510686" y="208534"/>
                  </a:lnTo>
                  <a:lnTo>
                    <a:pt x="3489477" y="169291"/>
                  </a:lnTo>
                  <a:lnTo>
                    <a:pt x="3464458" y="133223"/>
                  </a:lnTo>
                  <a:lnTo>
                    <a:pt x="3436010" y="100838"/>
                  </a:lnTo>
                  <a:lnTo>
                    <a:pt x="3404260" y="72517"/>
                  </a:lnTo>
                  <a:lnTo>
                    <a:pt x="3369716" y="48514"/>
                  </a:lnTo>
                  <a:lnTo>
                    <a:pt x="3332632" y="29083"/>
                  </a:lnTo>
                  <a:lnTo>
                    <a:pt x="3293262" y="14859"/>
                  </a:lnTo>
                  <a:lnTo>
                    <a:pt x="3251987" y="6096"/>
                  </a:lnTo>
                  <a:lnTo>
                    <a:pt x="3224809" y="4191"/>
                  </a:lnTo>
                  <a:lnTo>
                    <a:pt x="3224809" y="0"/>
                  </a:lnTo>
                  <a:lnTo>
                    <a:pt x="0" y="0"/>
                  </a:lnTo>
                  <a:lnTo>
                    <a:pt x="0" y="780161"/>
                  </a:lnTo>
                  <a:close/>
                </a:path>
                <a:path w="3550920" h="780414">
                  <a:moveTo>
                    <a:pt x="424967" y="717677"/>
                  </a:moveTo>
                  <a:lnTo>
                    <a:pt x="424967" y="62738"/>
                  </a:lnTo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15721" y="5374767"/>
              <a:ext cx="298450" cy="338455"/>
            </a:xfrm>
            <a:custGeom>
              <a:avLst/>
              <a:gdLst/>
              <a:ahLst/>
              <a:cxnLst/>
              <a:rect l="l" t="t" r="r" b="b"/>
              <a:pathLst>
                <a:path w="298450" h="338454">
                  <a:moveTo>
                    <a:pt x="149136" y="0"/>
                  </a:moveTo>
                  <a:lnTo>
                    <a:pt x="109473" y="6096"/>
                  </a:lnTo>
                  <a:lnTo>
                    <a:pt x="73850" y="23114"/>
                  </a:lnTo>
                  <a:lnTo>
                    <a:pt x="43662" y="49530"/>
                  </a:lnTo>
                  <a:lnTo>
                    <a:pt x="20358" y="83693"/>
                  </a:lnTo>
                  <a:lnTo>
                    <a:pt x="5321" y="124079"/>
                  </a:lnTo>
                  <a:lnTo>
                    <a:pt x="0" y="169037"/>
                  </a:lnTo>
                  <a:lnTo>
                    <a:pt x="5321" y="213880"/>
                  </a:lnTo>
                  <a:lnTo>
                    <a:pt x="20358" y="254241"/>
                  </a:lnTo>
                  <a:lnTo>
                    <a:pt x="43662" y="288442"/>
                  </a:lnTo>
                  <a:lnTo>
                    <a:pt x="73850" y="314871"/>
                  </a:lnTo>
                  <a:lnTo>
                    <a:pt x="109473" y="331914"/>
                  </a:lnTo>
                  <a:lnTo>
                    <a:pt x="149136" y="337947"/>
                  </a:lnTo>
                  <a:lnTo>
                    <a:pt x="188798" y="331914"/>
                  </a:lnTo>
                  <a:lnTo>
                    <a:pt x="224434" y="314871"/>
                  </a:lnTo>
                  <a:lnTo>
                    <a:pt x="254609" y="288442"/>
                  </a:lnTo>
                  <a:lnTo>
                    <a:pt x="277926" y="254241"/>
                  </a:lnTo>
                  <a:lnTo>
                    <a:pt x="292950" y="213880"/>
                  </a:lnTo>
                  <a:lnTo>
                    <a:pt x="298272" y="169037"/>
                  </a:lnTo>
                  <a:lnTo>
                    <a:pt x="292950" y="124079"/>
                  </a:lnTo>
                  <a:lnTo>
                    <a:pt x="277926" y="83693"/>
                  </a:lnTo>
                  <a:lnTo>
                    <a:pt x="254609" y="49530"/>
                  </a:lnTo>
                  <a:lnTo>
                    <a:pt x="224434" y="23114"/>
                  </a:lnTo>
                  <a:lnTo>
                    <a:pt x="188798" y="6096"/>
                  </a:lnTo>
                  <a:lnTo>
                    <a:pt x="149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15721" y="5374767"/>
              <a:ext cx="298450" cy="338455"/>
            </a:xfrm>
            <a:custGeom>
              <a:avLst/>
              <a:gdLst/>
              <a:ahLst/>
              <a:cxnLst/>
              <a:rect l="l" t="t" r="r" b="b"/>
              <a:pathLst>
                <a:path w="298450" h="338454">
                  <a:moveTo>
                    <a:pt x="149136" y="337947"/>
                  </a:moveTo>
                  <a:lnTo>
                    <a:pt x="188798" y="331914"/>
                  </a:lnTo>
                  <a:lnTo>
                    <a:pt x="224434" y="314871"/>
                  </a:lnTo>
                  <a:lnTo>
                    <a:pt x="254609" y="288442"/>
                  </a:lnTo>
                  <a:lnTo>
                    <a:pt x="277926" y="254241"/>
                  </a:lnTo>
                  <a:lnTo>
                    <a:pt x="292950" y="213880"/>
                  </a:lnTo>
                  <a:lnTo>
                    <a:pt x="298272" y="169037"/>
                  </a:lnTo>
                  <a:lnTo>
                    <a:pt x="292950" y="124079"/>
                  </a:lnTo>
                  <a:lnTo>
                    <a:pt x="277926" y="83693"/>
                  </a:lnTo>
                  <a:lnTo>
                    <a:pt x="254609" y="49530"/>
                  </a:lnTo>
                  <a:lnTo>
                    <a:pt x="224434" y="23114"/>
                  </a:lnTo>
                  <a:lnTo>
                    <a:pt x="188798" y="6096"/>
                  </a:lnTo>
                  <a:lnTo>
                    <a:pt x="149136" y="0"/>
                  </a:lnTo>
                  <a:lnTo>
                    <a:pt x="109473" y="6096"/>
                  </a:lnTo>
                  <a:lnTo>
                    <a:pt x="73850" y="23114"/>
                  </a:lnTo>
                  <a:lnTo>
                    <a:pt x="43662" y="49530"/>
                  </a:lnTo>
                  <a:lnTo>
                    <a:pt x="20358" y="83693"/>
                  </a:lnTo>
                  <a:lnTo>
                    <a:pt x="5321" y="124079"/>
                  </a:lnTo>
                  <a:lnTo>
                    <a:pt x="0" y="169037"/>
                  </a:lnTo>
                  <a:lnTo>
                    <a:pt x="5321" y="213880"/>
                  </a:lnTo>
                  <a:lnTo>
                    <a:pt x="20358" y="254241"/>
                  </a:lnTo>
                  <a:lnTo>
                    <a:pt x="43662" y="288442"/>
                  </a:lnTo>
                  <a:lnTo>
                    <a:pt x="73850" y="314871"/>
                  </a:lnTo>
                  <a:lnTo>
                    <a:pt x="109473" y="331914"/>
                  </a:lnTo>
                  <a:lnTo>
                    <a:pt x="149136" y="337947"/>
                  </a:lnTo>
                  <a:close/>
                </a:path>
              </a:pathLst>
            </a:custGeom>
            <a:ln w="2857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456387" y="5412435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152F5D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26083" y="5147309"/>
            <a:ext cx="281940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78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INTELIGIBILITY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TO </a:t>
            </a:r>
            <a:r>
              <a:rPr dirty="0" sz="1200" spc="-20" b="1">
                <a:latin typeface="Calibri"/>
                <a:cs typeface="Calibri"/>
              </a:rPr>
              <a:t>APPLY</a:t>
            </a:r>
            <a:endParaRPr sz="1200">
              <a:latin typeface="Calibri"/>
              <a:cs typeface="Calibri"/>
            </a:endParaRPr>
          </a:p>
          <a:p>
            <a:pPr algn="ctr" marL="12700" marR="5080" indent="635">
              <a:lnSpc>
                <a:spcPct val="100000"/>
              </a:lnSpc>
            </a:pPr>
            <a:r>
              <a:rPr dirty="0" sz="1200" spc="10">
                <a:latin typeface="Calibri"/>
                <a:cs typeface="Calibri"/>
              </a:rPr>
              <a:t>Many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of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the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underprivileged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don't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even </a:t>
            </a: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won't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eligible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quo.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7" name="object 87" descr="A red circle with a black background  Description automatically generated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64508" y="5193791"/>
            <a:ext cx="667512" cy="635507"/>
          </a:xfrm>
          <a:prstGeom prst="rect">
            <a:avLst/>
          </a:prstGeom>
        </p:spPr>
      </p:pic>
      <p:pic>
        <p:nvPicPr>
          <p:cNvPr id="88" name="object 88" descr="Global Microfinance Case Competition (GMCC) — Melbourne Microfinance  Initiative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pic>
        <p:nvPicPr>
          <p:cNvPr id="89" name="object 89" descr="Confused 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76115" y="1879092"/>
            <a:ext cx="780288" cy="731519"/>
          </a:xfrm>
          <a:prstGeom prst="rect">
            <a:avLst/>
          </a:prstGeom>
        </p:spPr>
      </p:pic>
      <p:pic>
        <p:nvPicPr>
          <p:cNvPr id="90" name="object 90" descr="Difficulty 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70091" y="3041344"/>
            <a:ext cx="796909" cy="645771"/>
          </a:xfrm>
          <a:prstGeom prst="rect">
            <a:avLst/>
          </a:prstGeom>
        </p:spPr>
      </p:pic>
      <p:pic>
        <p:nvPicPr>
          <p:cNvPr id="91" name="object 91" descr="Interest 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41124" y="4097642"/>
            <a:ext cx="703873" cy="709838"/>
          </a:xfrm>
          <a:prstGeom prst="rect">
            <a:avLst/>
          </a:prstGeom>
        </p:spPr>
      </p:pic>
      <p:pic>
        <p:nvPicPr>
          <p:cNvPr id="92" name="object 92" descr="Signing 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12735" y="1882139"/>
            <a:ext cx="774191" cy="780288"/>
          </a:xfrm>
          <a:prstGeom prst="rect">
            <a:avLst/>
          </a:prstGeom>
        </p:spPr>
      </p:pic>
      <p:pic>
        <p:nvPicPr>
          <p:cNvPr id="93" name="object 93" descr="Document 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429178" y="2994660"/>
            <a:ext cx="675774" cy="731519"/>
          </a:xfrm>
          <a:prstGeom prst="rect">
            <a:avLst/>
          </a:prstGeom>
        </p:spPr>
      </p:pic>
      <p:pic>
        <p:nvPicPr>
          <p:cNvPr id="94" name="object 94" descr="Delete 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86436" y="4113466"/>
            <a:ext cx="581072" cy="664083"/>
          </a:xfrm>
          <a:prstGeom prst="rect">
            <a:avLst/>
          </a:prstGeom>
        </p:spPr>
      </p:pic>
      <p:pic>
        <p:nvPicPr>
          <p:cNvPr id="95" name="object 95" descr="Business credit score 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455217" y="5150905"/>
            <a:ext cx="649604" cy="648128"/>
          </a:xfrm>
          <a:prstGeom prst="rect">
            <a:avLst/>
          </a:prstGeom>
        </p:spPr>
      </p:pic>
      <p:sp>
        <p:nvSpPr>
          <p:cNvPr id="96" name="object 9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Dual</a:t>
            </a:r>
            <a:r>
              <a:rPr dirty="0" spc="-20"/>
              <a:t> </a:t>
            </a:r>
            <a:r>
              <a:rPr dirty="0" spc="-10"/>
              <a:t>Obstacle</a:t>
            </a:r>
            <a:r>
              <a:rPr dirty="0" spc="-35"/>
              <a:t> </a:t>
            </a:r>
            <a:r>
              <a:rPr dirty="0" spc="-10"/>
              <a:t>Perspective</a:t>
            </a:r>
          </a:p>
          <a:p>
            <a:pPr marL="123825">
              <a:lnSpc>
                <a:spcPct val="100000"/>
              </a:lnSpc>
              <a:spcBef>
                <a:spcPts val="15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Issues</a:t>
            </a:r>
            <a:r>
              <a:rPr dirty="0" sz="17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experienced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by</a:t>
            </a:r>
            <a:r>
              <a:rPr dirty="0" sz="1700" spc="-5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two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parties</a:t>
            </a:r>
            <a:r>
              <a:rPr dirty="0" sz="17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Microfinance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loan</a:t>
            </a:r>
            <a:r>
              <a:rPr dirty="0" sz="1700" spc="-5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transactions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45083" y="6576161"/>
            <a:ext cx="8350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104" name="object 104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281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40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85343"/>
            <a:ext cx="12211050" cy="570230"/>
            <a:chOff x="-9525" y="85343"/>
            <a:chExt cx="12211050" cy="570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47347" y="85343"/>
              <a:ext cx="502920" cy="5044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7795"/>
              <a:ext cx="12192000" cy="8255"/>
            </a:xfrm>
            <a:custGeom>
              <a:avLst/>
              <a:gdLst/>
              <a:ahLst/>
              <a:cxnLst/>
              <a:rect l="l" t="t" r="r" b="b"/>
              <a:pathLst>
                <a:path w="12192000" h="8254">
                  <a:moveTo>
                    <a:pt x="0" y="7988"/>
                  </a:moveTo>
                  <a:lnTo>
                    <a:pt x="12192000" y="0"/>
                  </a:lnTo>
                </a:path>
              </a:pathLst>
            </a:custGeom>
            <a:ln w="1905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89992" y="24130"/>
            <a:ext cx="8228965" cy="561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Empowering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Futures: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Revolutionizing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Microfinance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Lasting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Impact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dirty="0" sz="1700" spc="-2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brief</a:t>
            </a:r>
            <a:r>
              <a:rPr dirty="0" sz="1700" spc="-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run-through</a:t>
            </a:r>
            <a:r>
              <a:rPr dirty="0" sz="1700" spc="-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common</a:t>
            </a:r>
            <a:r>
              <a:rPr dirty="0" sz="1700" spc="-2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problems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3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respective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strategies</a:t>
            </a:r>
            <a:r>
              <a:rPr dirty="0" sz="17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2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rectify</a:t>
            </a:r>
            <a:r>
              <a:rPr dirty="0" sz="1700" spc="-2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3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situation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04559" y="2108432"/>
            <a:ext cx="4029710" cy="3044825"/>
            <a:chOff x="6004559" y="2108432"/>
            <a:chExt cx="4029710" cy="30448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59" y="2108432"/>
              <a:ext cx="4029164" cy="30442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84491" y="2610611"/>
              <a:ext cx="414655" cy="414655"/>
            </a:xfrm>
            <a:custGeom>
              <a:avLst/>
              <a:gdLst/>
              <a:ahLst/>
              <a:cxnLst/>
              <a:rect l="l" t="t" r="r" b="b"/>
              <a:pathLst>
                <a:path w="414654" h="414655">
                  <a:moveTo>
                    <a:pt x="207263" y="0"/>
                  </a:move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5476" y="254774"/>
                  </a:lnTo>
                  <a:lnTo>
                    <a:pt x="21073" y="298395"/>
                  </a:lnTo>
                  <a:lnTo>
                    <a:pt x="45546" y="336879"/>
                  </a:lnTo>
                  <a:lnTo>
                    <a:pt x="77648" y="368981"/>
                  </a:lnTo>
                  <a:lnTo>
                    <a:pt x="116132" y="393454"/>
                  </a:lnTo>
                  <a:lnTo>
                    <a:pt x="159753" y="409051"/>
                  </a:lnTo>
                  <a:lnTo>
                    <a:pt x="207263" y="414527"/>
                  </a:lnTo>
                  <a:lnTo>
                    <a:pt x="254774" y="409051"/>
                  </a:lnTo>
                  <a:lnTo>
                    <a:pt x="298395" y="393454"/>
                  </a:lnTo>
                  <a:lnTo>
                    <a:pt x="336879" y="368981"/>
                  </a:lnTo>
                  <a:lnTo>
                    <a:pt x="368981" y="336879"/>
                  </a:lnTo>
                  <a:lnTo>
                    <a:pt x="393454" y="298395"/>
                  </a:lnTo>
                  <a:lnTo>
                    <a:pt x="409051" y="254774"/>
                  </a:lnTo>
                  <a:lnTo>
                    <a:pt x="414527" y="207263"/>
                  </a:lnTo>
                  <a:lnTo>
                    <a:pt x="409051" y="159753"/>
                  </a:lnTo>
                  <a:lnTo>
                    <a:pt x="393454" y="116132"/>
                  </a:lnTo>
                  <a:lnTo>
                    <a:pt x="368981" y="77648"/>
                  </a:lnTo>
                  <a:lnTo>
                    <a:pt x="336879" y="45546"/>
                  </a:lnTo>
                  <a:lnTo>
                    <a:pt x="298395" y="21073"/>
                  </a:lnTo>
                  <a:lnTo>
                    <a:pt x="254774" y="547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4300" y="2328672"/>
            <a:ext cx="646430" cy="1973580"/>
          </a:xfrm>
          <a:prstGeom prst="rect">
            <a:avLst/>
          </a:prstGeom>
          <a:solidFill>
            <a:srgbClr val="385622"/>
          </a:solidFill>
        </p:spPr>
        <p:txBody>
          <a:bodyPr wrap="square" lIns="0" tIns="66040" rIns="0" bIns="0" rtlCol="0" vert="vert270">
            <a:spAutoFit/>
          </a:bodyPr>
          <a:lstStyle/>
          <a:p>
            <a:pPr marL="756920" marR="177800" indent="-574675">
              <a:lnSpc>
                <a:spcPct val="100000"/>
              </a:lnSpc>
              <a:spcBef>
                <a:spcPts val="520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Problems faced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1712" y="1040891"/>
            <a:ext cx="2553970" cy="4481830"/>
            <a:chOff x="751712" y="1040891"/>
            <a:chExt cx="2553970" cy="4481830"/>
          </a:xfrm>
        </p:grpSpPr>
        <p:sp>
          <p:nvSpPr>
            <p:cNvPr id="11" name="object 11"/>
            <p:cNvSpPr/>
            <p:nvPr/>
          </p:nvSpPr>
          <p:spPr>
            <a:xfrm>
              <a:off x="761237" y="3272790"/>
              <a:ext cx="217804" cy="0"/>
            </a:xfrm>
            <a:custGeom>
              <a:avLst/>
              <a:gdLst/>
              <a:ahLst/>
              <a:cxnLst/>
              <a:rect l="l" t="t" r="r" b="b"/>
              <a:pathLst>
                <a:path w="217805" h="0">
                  <a:moveTo>
                    <a:pt x="0" y="0"/>
                  </a:moveTo>
                  <a:lnTo>
                    <a:pt x="217284" y="0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69263" y="1274063"/>
              <a:ext cx="283210" cy="4242435"/>
            </a:xfrm>
            <a:custGeom>
              <a:avLst/>
              <a:gdLst/>
              <a:ahLst/>
              <a:cxnLst/>
              <a:rect l="l" t="t" r="r" b="b"/>
              <a:pathLst>
                <a:path w="283209" h="4242435">
                  <a:moveTo>
                    <a:pt x="19773" y="0"/>
                  </a:moveTo>
                  <a:lnTo>
                    <a:pt x="0" y="4242308"/>
                  </a:lnTo>
                </a:path>
                <a:path w="283209" h="4242435">
                  <a:moveTo>
                    <a:pt x="19812" y="0"/>
                  </a:moveTo>
                  <a:lnTo>
                    <a:pt x="283044" y="0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29511" y="1231391"/>
              <a:ext cx="1876425" cy="847725"/>
            </a:xfrm>
            <a:custGeom>
              <a:avLst/>
              <a:gdLst/>
              <a:ahLst/>
              <a:cxnLst/>
              <a:rect l="l" t="t" r="r" b="b"/>
              <a:pathLst>
                <a:path w="1876425" h="847725">
                  <a:moveTo>
                    <a:pt x="1876043" y="0"/>
                  </a:moveTo>
                  <a:lnTo>
                    <a:pt x="0" y="0"/>
                  </a:lnTo>
                  <a:lnTo>
                    <a:pt x="0" y="847343"/>
                  </a:lnTo>
                  <a:lnTo>
                    <a:pt x="1876043" y="847343"/>
                  </a:lnTo>
                  <a:lnTo>
                    <a:pt x="1876043" y="0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60347" y="1040891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19" h="464819">
                  <a:moveTo>
                    <a:pt x="232410" y="0"/>
                  </a:moveTo>
                  <a:lnTo>
                    <a:pt x="185559" y="4720"/>
                  </a:lnTo>
                  <a:lnTo>
                    <a:pt x="141928" y="18258"/>
                  </a:lnTo>
                  <a:lnTo>
                    <a:pt x="102449" y="39681"/>
                  </a:lnTo>
                  <a:lnTo>
                    <a:pt x="68056" y="68056"/>
                  </a:lnTo>
                  <a:lnTo>
                    <a:pt x="39681" y="102449"/>
                  </a:lnTo>
                  <a:lnTo>
                    <a:pt x="18258" y="141928"/>
                  </a:lnTo>
                  <a:lnTo>
                    <a:pt x="4720" y="185559"/>
                  </a:lnTo>
                  <a:lnTo>
                    <a:pt x="0" y="232410"/>
                  </a:lnTo>
                  <a:lnTo>
                    <a:pt x="4720" y="279260"/>
                  </a:lnTo>
                  <a:lnTo>
                    <a:pt x="18258" y="322891"/>
                  </a:lnTo>
                  <a:lnTo>
                    <a:pt x="39681" y="362370"/>
                  </a:lnTo>
                  <a:lnTo>
                    <a:pt x="68056" y="396763"/>
                  </a:lnTo>
                  <a:lnTo>
                    <a:pt x="102449" y="425138"/>
                  </a:lnTo>
                  <a:lnTo>
                    <a:pt x="141928" y="446561"/>
                  </a:lnTo>
                  <a:lnTo>
                    <a:pt x="185559" y="460099"/>
                  </a:lnTo>
                  <a:lnTo>
                    <a:pt x="232410" y="464820"/>
                  </a:lnTo>
                  <a:lnTo>
                    <a:pt x="279260" y="460099"/>
                  </a:lnTo>
                  <a:lnTo>
                    <a:pt x="322891" y="446561"/>
                  </a:lnTo>
                  <a:lnTo>
                    <a:pt x="362370" y="425138"/>
                  </a:lnTo>
                  <a:lnTo>
                    <a:pt x="396763" y="396763"/>
                  </a:lnTo>
                  <a:lnTo>
                    <a:pt x="425138" y="362370"/>
                  </a:lnTo>
                  <a:lnTo>
                    <a:pt x="446561" y="322891"/>
                  </a:lnTo>
                  <a:lnTo>
                    <a:pt x="460099" y="279260"/>
                  </a:lnTo>
                  <a:lnTo>
                    <a:pt x="464820" y="232410"/>
                  </a:lnTo>
                  <a:lnTo>
                    <a:pt x="460099" y="185559"/>
                  </a:lnTo>
                  <a:lnTo>
                    <a:pt x="446561" y="141928"/>
                  </a:lnTo>
                  <a:lnTo>
                    <a:pt x="425138" y="102449"/>
                  </a:lnTo>
                  <a:lnTo>
                    <a:pt x="396763" y="68056"/>
                  </a:lnTo>
                  <a:lnTo>
                    <a:pt x="362370" y="39681"/>
                  </a:lnTo>
                  <a:lnTo>
                    <a:pt x="322891" y="18258"/>
                  </a:lnTo>
                  <a:lnTo>
                    <a:pt x="279260" y="4720"/>
                  </a:lnTo>
                  <a:lnTo>
                    <a:pt x="23241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90014" y="1025143"/>
            <a:ext cx="205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9833" y="1348816"/>
            <a:ext cx="139509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Difficulty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obtaining </a:t>
            </a:r>
            <a:r>
              <a:rPr dirty="0" sz="1200" b="1">
                <a:latin typeface="Calibri"/>
                <a:cs typeface="Calibri"/>
              </a:rPr>
              <a:t>loans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due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manual processing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5108" y="2471927"/>
            <a:ext cx="2045335" cy="1021080"/>
            <a:chOff x="1245108" y="2471927"/>
            <a:chExt cx="2045335" cy="1021080"/>
          </a:xfrm>
        </p:grpSpPr>
        <p:sp>
          <p:nvSpPr>
            <p:cNvPr id="18" name="object 18"/>
            <p:cNvSpPr/>
            <p:nvPr/>
          </p:nvSpPr>
          <p:spPr>
            <a:xfrm>
              <a:off x="1414272" y="2662427"/>
              <a:ext cx="1876425" cy="830580"/>
            </a:xfrm>
            <a:custGeom>
              <a:avLst/>
              <a:gdLst/>
              <a:ahLst/>
              <a:cxnLst/>
              <a:rect l="l" t="t" r="r" b="b"/>
              <a:pathLst>
                <a:path w="1876425" h="830579">
                  <a:moveTo>
                    <a:pt x="1876043" y="0"/>
                  </a:moveTo>
                  <a:lnTo>
                    <a:pt x="0" y="0"/>
                  </a:lnTo>
                  <a:lnTo>
                    <a:pt x="0" y="830580"/>
                  </a:lnTo>
                  <a:lnTo>
                    <a:pt x="1876043" y="830580"/>
                  </a:lnTo>
                  <a:lnTo>
                    <a:pt x="1876043" y="0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5108" y="2471927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19" h="464819">
                  <a:moveTo>
                    <a:pt x="232409" y="0"/>
                  </a:moveTo>
                  <a:lnTo>
                    <a:pt x="185559" y="4720"/>
                  </a:lnTo>
                  <a:lnTo>
                    <a:pt x="141928" y="18258"/>
                  </a:lnTo>
                  <a:lnTo>
                    <a:pt x="102449" y="39681"/>
                  </a:lnTo>
                  <a:lnTo>
                    <a:pt x="68056" y="68056"/>
                  </a:lnTo>
                  <a:lnTo>
                    <a:pt x="39681" y="102449"/>
                  </a:lnTo>
                  <a:lnTo>
                    <a:pt x="18258" y="141928"/>
                  </a:lnTo>
                  <a:lnTo>
                    <a:pt x="4720" y="185559"/>
                  </a:lnTo>
                  <a:lnTo>
                    <a:pt x="0" y="232410"/>
                  </a:lnTo>
                  <a:lnTo>
                    <a:pt x="4720" y="279260"/>
                  </a:lnTo>
                  <a:lnTo>
                    <a:pt x="18258" y="322891"/>
                  </a:lnTo>
                  <a:lnTo>
                    <a:pt x="39681" y="362370"/>
                  </a:lnTo>
                  <a:lnTo>
                    <a:pt x="68056" y="396763"/>
                  </a:lnTo>
                  <a:lnTo>
                    <a:pt x="102449" y="425138"/>
                  </a:lnTo>
                  <a:lnTo>
                    <a:pt x="141928" y="446561"/>
                  </a:lnTo>
                  <a:lnTo>
                    <a:pt x="185559" y="460099"/>
                  </a:lnTo>
                  <a:lnTo>
                    <a:pt x="232409" y="464820"/>
                  </a:lnTo>
                  <a:lnTo>
                    <a:pt x="279260" y="460099"/>
                  </a:lnTo>
                  <a:lnTo>
                    <a:pt x="322891" y="446561"/>
                  </a:lnTo>
                  <a:lnTo>
                    <a:pt x="362370" y="425138"/>
                  </a:lnTo>
                  <a:lnTo>
                    <a:pt x="396763" y="396763"/>
                  </a:lnTo>
                  <a:lnTo>
                    <a:pt x="425138" y="362370"/>
                  </a:lnTo>
                  <a:lnTo>
                    <a:pt x="446561" y="322891"/>
                  </a:lnTo>
                  <a:lnTo>
                    <a:pt x="460099" y="279260"/>
                  </a:lnTo>
                  <a:lnTo>
                    <a:pt x="464819" y="232410"/>
                  </a:lnTo>
                  <a:lnTo>
                    <a:pt x="460099" y="185559"/>
                  </a:lnTo>
                  <a:lnTo>
                    <a:pt x="446561" y="141928"/>
                  </a:lnTo>
                  <a:lnTo>
                    <a:pt x="425138" y="102449"/>
                  </a:lnTo>
                  <a:lnTo>
                    <a:pt x="396763" y="68056"/>
                  </a:lnTo>
                  <a:lnTo>
                    <a:pt x="362370" y="39681"/>
                  </a:lnTo>
                  <a:lnTo>
                    <a:pt x="322891" y="18258"/>
                  </a:lnTo>
                  <a:lnTo>
                    <a:pt x="279260" y="4720"/>
                  </a:lnTo>
                  <a:lnTo>
                    <a:pt x="23240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374775" y="2456179"/>
            <a:ext cx="205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19833" y="2777490"/>
            <a:ext cx="13468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Reduction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interest revenue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due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high </a:t>
            </a:r>
            <a:r>
              <a:rPr dirty="0" sz="1200" b="1">
                <a:latin typeface="Calibri"/>
                <a:cs typeface="Calibri"/>
              </a:rPr>
              <a:t>default</a:t>
            </a:r>
            <a:r>
              <a:rPr dirty="0" sz="1200" spc="-7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rates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58824" y="3910584"/>
            <a:ext cx="2045335" cy="1033780"/>
            <a:chOff x="1258824" y="3910584"/>
            <a:chExt cx="2045335" cy="1033780"/>
          </a:xfrm>
        </p:grpSpPr>
        <p:sp>
          <p:nvSpPr>
            <p:cNvPr id="23" name="object 23"/>
            <p:cNvSpPr/>
            <p:nvPr/>
          </p:nvSpPr>
          <p:spPr>
            <a:xfrm>
              <a:off x="1427988" y="4102608"/>
              <a:ext cx="1876425" cy="841375"/>
            </a:xfrm>
            <a:custGeom>
              <a:avLst/>
              <a:gdLst/>
              <a:ahLst/>
              <a:cxnLst/>
              <a:rect l="l" t="t" r="r" b="b"/>
              <a:pathLst>
                <a:path w="1876425" h="841375">
                  <a:moveTo>
                    <a:pt x="1876043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1876043" y="841247"/>
                  </a:lnTo>
                  <a:lnTo>
                    <a:pt x="1876043" y="0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58824" y="3910584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19" h="464820">
                  <a:moveTo>
                    <a:pt x="232409" y="0"/>
                  </a:moveTo>
                  <a:lnTo>
                    <a:pt x="185559" y="4720"/>
                  </a:lnTo>
                  <a:lnTo>
                    <a:pt x="141928" y="18258"/>
                  </a:lnTo>
                  <a:lnTo>
                    <a:pt x="102449" y="39681"/>
                  </a:lnTo>
                  <a:lnTo>
                    <a:pt x="68056" y="68056"/>
                  </a:lnTo>
                  <a:lnTo>
                    <a:pt x="39681" y="102449"/>
                  </a:lnTo>
                  <a:lnTo>
                    <a:pt x="18258" y="141928"/>
                  </a:lnTo>
                  <a:lnTo>
                    <a:pt x="4720" y="185559"/>
                  </a:lnTo>
                  <a:lnTo>
                    <a:pt x="0" y="232410"/>
                  </a:lnTo>
                  <a:lnTo>
                    <a:pt x="4720" y="279260"/>
                  </a:lnTo>
                  <a:lnTo>
                    <a:pt x="18258" y="322891"/>
                  </a:lnTo>
                  <a:lnTo>
                    <a:pt x="39681" y="362370"/>
                  </a:lnTo>
                  <a:lnTo>
                    <a:pt x="68056" y="396763"/>
                  </a:lnTo>
                  <a:lnTo>
                    <a:pt x="102449" y="425138"/>
                  </a:lnTo>
                  <a:lnTo>
                    <a:pt x="141928" y="446561"/>
                  </a:lnTo>
                  <a:lnTo>
                    <a:pt x="185559" y="460099"/>
                  </a:lnTo>
                  <a:lnTo>
                    <a:pt x="232409" y="464820"/>
                  </a:lnTo>
                  <a:lnTo>
                    <a:pt x="279260" y="460099"/>
                  </a:lnTo>
                  <a:lnTo>
                    <a:pt x="322891" y="446561"/>
                  </a:lnTo>
                  <a:lnTo>
                    <a:pt x="362370" y="425138"/>
                  </a:lnTo>
                  <a:lnTo>
                    <a:pt x="396763" y="396763"/>
                  </a:lnTo>
                  <a:lnTo>
                    <a:pt x="425138" y="362370"/>
                  </a:lnTo>
                  <a:lnTo>
                    <a:pt x="446561" y="322891"/>
                  </a:lnTo>
                  <a:lnTo>
                    <a:pt x="460099" y="279260"/>
                  </a:lnTo>
                  <a:lnTo>
                    <a:pt x="464819" y="232410"/>
                  </a:lnTo>
                  <a:lnTo>
                    <a:pt x="460099" y="185559"/>
                  </a:lnTo>
                  <a:lnTo>
                    <a:pt x="446561" y="141928"/>
                  </a:lnTo>
                  <a:lnTo>
                    <a:pt x="425138" y="102449"/>
                  </a:lnTo>
                  <a:lnTo>
                    <a:pt x="396763" y="68056"/>
                  </a:lnTo>
                  <a:lnTo>
                    <a:pt x="362370" y="39681"/>
                  </a:lnTo>
                  <a:lnTo>
                    <a:pt x="322891" y="18258"/>
                  </a:lnTo>
                  <a:lnTo>
                    <a:pt x="279260" y="4720"/>
                  </a:lnTo>
                  <a:lnTo>
                    <a:pt x="23240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388744" y="3895471"/>
            <a:ext cx="205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1677" y="4119498"/>
            <a:ext cx="141605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Obstacles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with </a:t>
            </a:r>
            <a:r>
              <a:rPr dirty="0" sz="1200" b="1">
                <a:latin typeface="Calibri"/>
                <a:cs typeface="Calibri"/>
              </a:rPr>
              <a:t>providing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loans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the </a:t>
            </a:r>
            <a:r>
              <a:rPr dirty="0" sz="1200" spc="-10" b="1">
                <a:latin typeface="Calibri"/>
                <a:cs typeface="Calibri"/>
              </a:rPr>
              <a:t>economically vulnerable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31391" y="5285232"/>
            <a:ext cx="2045335" cy="1038225"/>
            <a:chOff x="1231391" y="5285232"/>
            <a:chExt cx="2045335" cy="1038225"/>
          </a:xfrm>
        </p:grpSpPr>
        <p:sp>
          <p:nvSpPr>
            <p:cNvPr id="28" name="object 28"/>
            <p:cNvSpPr/>
            <p:nvPr/>
          </p:nvSpPr>
          <p:spPr>
            <a:xfrm>
              <a:off x="1400555" y="5477256"/>
              <a:ext cx="1876425" cy="845819"/>
            </a:xfrm>
            <a:custGeom>
              <a:avLst/>
              <a:gdLst/>
              <a:ahLst/>
              <a:cxnLst/>
              <a:rect l="l" t="t" r="r" b="b"/>
              <a:pathLst>
                <a:path w="1876425" h="845820">
                  <a:moveTo>
                    <a:pt x="1876044" y="0"/>
                  </a:moveTo>
                  <a:lnTo>
                    <a:pt x="0" y="0"/>
                  </a:lnTo>
                  <a:lnTo>
                    <a:pt x="0" y="845820"/>
                  </a:lnTo>
                  <a:lnTo>
                    <a:pt x="1876044" y="845820"/>
                  </a:lnTo>
                  <a:lnTo>
                    <a:pt x="1876044" y="0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31391" y="5285232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19" h="464820">
                  <a:moveTo>
                    <a:pt x="232410" y="0"/>
                  </a:moveTo>
                  <a:lnTo>
                    <a:pt x="185559" y="4720"/>
                  </a:lnTo>
                  <a:lnTo>
                    <a:pt x="141928" y="18258"/>
                  </a:lnTo>
                  <a:lnTo>
                    <a:pt x="102449" y="39681"/>
                  </a:lnTo>
                  <a:lnTo>
                    <a:pt x="68056" y="68056"/>
                  </a:lnTo>
                  <a:lnTo>
                    <a:pt x="39681" y="102449"/>
                  </a:lnTo>
                  <a:lnTo>
                    <a:pt x="18258" y="141928"/>
                  </a:lnTo>
                  <a:lnTo>
                    <a:pt x="4720" y="185559"/>
                  </a:lnTo>
                  <a:lnTo>
                    <a:pt x="0" y="232410"/>
                  </a:lnTo>
                  <a:lnTo>
                    <a:pt x="4720" y="279249"/>
                  </a:lnTo>
                  <a:lnTo>
                    <a:pt x="18258" y="322875"/>
                  </a:lnTo>
                  <a:lnTo>
                    <a:pt x="39681" y="362353"/>
                  </a:lnTo>
                  <a:lnTo>
                    <a:pt x="68056" y="396749"/>
                  </a:lnTo>
                  <a:lnTo>
                    <a:pt x="102449" y="425128"/>
                  </a:lnTo>
                  <a:lnTo>
                    <a:pt x="141928" y="446556"/>
                  </a:lnTo>
                  <a:lnTo>
                    <a:pt x="185559" y="460098"/>
                  </a:lnTo>
                  <a:lnTo>
                    <a:pt x="232410" y="464820"/>
                  </a:lnTo>
                  <a:lnTo>
                    <a:pt x="279260" y="460098"/>
                  </a:lnTo>
                  <a:lnTo>
                    <a:pt x="322891" y="446556"/>
                  </a:lnTo>
                  <a:lnTo>
                    <a:pt x="362370" y="425128"/>
                  </a:lnTo>
                  <a:lnTo>
                    <a:pt x="396763" y="396749"/>
                  </a:lnTo>
                  <a:lnTo>
                    <a:pt x="425138" y="362353"/>
                  </a:lnTo>
                  <a:lnTo>
                    <a:pt x="446561" y="322875"/>
                  </a:lnTo>
                  <a:lnTo>
                    <a:pt x="460099" y="279249"/>
                  </a:lnTo>
                  <a:lnTo>
                    <a:pt x="464820" y="232410"/>
                  </a:lnTo>
                  <a:lnTo>
                    <a:pt x="460099" y="185559"/>
                  </a:lnTo>
                  <a:lnTo>
                    <a:pt x="446561" y="141928"/>
                  </a:lnTo>
                  <a:lnTo>
                    <a:pt x="425138" y="102449"/>
                  </a:lnTo>
                  <a:lnTo>
                    <a:pt x="396763" y="68056"/>
                  </a:lnTo>
                  <a:lnTo>
                    <a:pt x="362370" y="39681"/>
                  </a:lnTo>
                  <a:lnTo>
                    <a:pt x="322891" y="18258"/>
                  </a:lnTo>
                  <a:lnTo>
                    <a:pt x="279260" y="4720"/>
                  </a:lnTo>
                  <a:lnTo>
                    <a:pt x="23241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361313" y="5270398"/>
            <a:ext cx="205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25295" y="5522467"/>
            <a:ext cx="12426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Lower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yield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due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to </a:t>
            </a:r>
            <a:r>
              <a:rPr dirty="0" sz="1200" spc="-10" b="1">
                <a:latin typeface="Calibri"/>
                <a:cs typeface="Calibri"/>
              </a:rPr>
              <a:t>traditional</a:t>
            </a:r>
            <a:r>
              <a:rPr dirty="0" sz="1200" spc="3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rain </a:t>
            </a:r>
            <a:r>
              <a:rPr dirty="0" sz="1200" b="1">
                <a:latin typeface="Calibri"/>
                <a:cs typeface="Calibri"/>
              </a:rPr>
              <a:t>dependent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farming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farmers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81455" y="716280"/>
            <a:ext cx="2862580" cy="5645785"/>
            <a:chOff x="981455" y="716280"/>
            <a:chExt cx="2862580" cy="5645785"/>
          </a:xfrm>
        </p:grpSpPr>
        <p:sp>
          <p:nvSpPr>
            <p:cNvPr id="33" name="object 33"/>
            <p:cNvSpPr/>
            <p:nvPr/>
          </p:nvSpPr>
          <p:spPr>
            <a:xfrm>
              <a:off x="981455" y="973836"/>
              <a:ext cx="2578100" cy="5381625"/>
            </a:xfrm>
            <a:custGeom>
              <a:avLst/>
              <a:gdLst/>
              <a:ahLst/>
              <a:cxnLst/>
              <a:rect l="l" t="t" r="r" b="b"/>
              <a:pathLst>
                <a:path w="2578100" h="5381625">
                  <a:moveTo>
                    <a:pt x="7619" y="1754124"/>
                  </a:moveTo>
                  <a:lnTo>
                    <a:pt x="270852" y="1754124"/>
                  </a:lnTo>
                </a:path>
                <a:path w="2578100" h="5381625">
                  <a:moveTo>
                    <a:pt x="0" y="4541520"/>
                  </a:moveTo>
                  <a:lnTo>
                    <a:pt x="263232" y="4541520"/>
                  </a:lnTo>
                </a:path>
                <a:path w="2578100" h="5381625">
                  <a:moveTo>
                    <a:pt x="4571" y="3182112"/>
                  </a:moveTo>
                  <a:lnTo>
                    <a:pt x="267804" y="3182112"/>
                  </a:lnTo>
                </a:path>
                <a:path w="2578100" h="5381625">
                  <a:moveTo>
                    <a:pt x="2378964" y="0"/>
                  </a:moveTo>
                  <a:lnTo>
                    <a:pt x="2575686" y="236981"/>
                  </a:lnTo>
                </a:path>
                <a:path w="2578100" h="5381625">
                  <a:moveTo>
                    <a:pt x="2345435" y="5381472"/>
                  </a:moveTo>
                  <a:lnTo>
                    <a:pt x="2578099" y="5152644"/>
                  </a:lnTo>
                </a:path>
                <a:path w="2578100" h="5381625">
                  <a:moveTo>
                    <a:pt x="2572511" y="211836"/>
                  </a:moveTo>
                  <a:lnTo>
                    <a:pt x="2572511" y="5169001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560063" y="3307080"/>
              <a:ext cx="283845" cy="329565"/>
            </a:xfrm>
            <a:custGeom>
              <a:avLst/>
              <a:gdLst/>
              <a:ahLst/>
              <a:cxnLst/>
              <a:rect l="l" t="t" r="r" b="b"/>
              <a:pathLst>
                <a:path w="283845" h="329564">
                  <a:moveTo>
                    <a:pt x="0" y="0"/>
                  </a:moveTo>
                  <a:lnTo>
                    <a:pt x="0" y="329184"/>
                  </a:lnTo>
                  <a:lnTo>
                    <a:pt x="283463" y="164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Applicant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2452" y="716280"/>
              <a:ext cx="541019" cy="541020"/>
            </a:xfrm>
            <a:prstGeom prst="rect">
              <a:avLst/>
            </a:prstGeom>
          </p:spPr>
        </p:pic>
        <p:pic>
          <p:nvPicPr>
            <p:cNvPr id="36" name="object 36" descr="Recession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4163" y="2110740"/>
              <a:ext cx="505968" cy="505967"/>
            </a:xfrm>
            <a:prstGeom prst="rect">
              <a:avLst/>
            </a:prstGeom>
          </p:spPr>
        </p:pic>
        <p:pic>
          <p:nvPicPr>
            <p:cNvPr id="37" name="object 37" descr="Economic Crisis 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5038" y="3541490"/>
              <a:ext cx="526565" cy="531066"/>
            </a:xfrm>
            <a:prstGeom prst="rect">
              <a:avLst/>
            </a:prstGeom>
          </p:spPr>
        </p:pic>
        <p:pic>
          <p:nvPicPr>
            <p:cNvPr id="38" name="object 38" descr="Agriculture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1303" y="4928615"/>
              <a:ext cx="524256" cy="52425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219955" y="858011"/>
            <a:ext cx="1568450" cy="445134"/>
          </a:xfrm>
          <a:prstGeom prst="rect">
            <a:avLst/>
          </a:prstGeom>
          <a:solidFill>
            <a:srgbClr val="63906F"/>
          </a:solidFill>
        </p:spPr>
        <p:txBody>
          <a:bodyPr wrap="square" lIns="0" tIns="121920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96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Fintech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Collaboration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30623" y="3710940"/>
            <a:ext cx="1568450" cy="445134"/>
          </a:xfrm>
          <a:prstGeom prst="rect">
            <a:avLst/>
          </a:prstGeom>
          <a:solidFill>
            <a:srgbClr val="63906F"/>
          </a:solidFill>
        </p:spPr>
        <p:txBody>
          <a:bodyPr wrap="square" lIns="0" tIns="123190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97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Alternate Measures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280904" y="845819"/>
            <a:ext cx="1568450" cy="445134"/>
          </a:xfrm>
          <a:prstGeom prst="rect">
            <a:avLst/>
          </a:prstGeom>
          <a:solidFill>
            <a:srgbClr val="63906F"/>
          </a:solidFill>
        </p:spPr>
        <p:txBody>
          <a:bodyPr wrap="square" lIns="0" tIns="121285" rIns="0" bIns="0" rtlCol="0" vert="horz">
            <a:spAutoFit/>
          </a:bodyPr>
          <a:lstStyle/>
          <a:p>
            <a:pPr marL="343535">
              <a:lnSpc>
                <a:spcPct val="100000"/>
              </a:lnSpc>
              <a:spcBef>
                <a:spcPts val="955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Scoring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280904" y="3709415"/>
            <a:ext cx="1568450" cy="445134"/>
          </a:xfrm>
          <a:prstGeom prst="rect">
            <a:avLst/>
          </a:prstGeom>
          <a:solidFill>
            <a:srgbClr val="63906F"/>
          </a:solidFill>
        </p:spPr>
        <p:txBody>
          <a:bodyPr wrap="square" lIns="0" tIns="121920" rIns="0" bIns="0" rtlCol="0" vert="horz">
            <a:spAutoFit/>
          </a:bodyPr>
          <a:lstStyle/>
          <a:p>
            <a:pPr marL="320675">
              <a:lnSpc>
                <a:spcPct val="100000"/>
              </a:lnSpc>
              <a:spcBef>
                <a:spcPts val="96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Modern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Subak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22414" y="2653029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842759" y="4061459"/>
            <a:ext cx="414655" cy="414655"/>
          </a:xfrm>
          <a:custGeom>
            <a:avLst/>
            <a:gdLst/>
            <a:ahLst/>
            <a:cxnLst/>
            <a:rect l="l" t="t" r="r" b="b"/>
            <a:pathLst>
              <a:path w="414654" h="414654">
                <a:moveTo>
                  <a:pt x="207264" y="0"/>
                </a:moveTo>
                <a:lnTo>
                  <a:pt x="159753" y="5476"/>
                </a:lnTo>
                <a:lnTo>
                  <a:pt x="116132" y="21073"/>
                </a:lnTo>
                <a:lnTo>
                  <a:pt x="77648" y="45546"/>
                </a:lnTo>
                <a:lnTo>
                  <a:pt x="45546" y="77648"/>
                </a:lnTo>
                <a:lnTo>
                  <a:pt x="21073" y="116132"/>
                </a:lnTo>
                <a:lnTo>
                  <a:pt x="5476" y="159753"/>
                </a:lnTo>
                <a:lnTo>
                  <a:pt x="0" y="207263"/>
                </a:lnTo>
                <a:lnTo>
                  <a:pt x="5476" y="254774"/>
                </a:lnTo>
                <a:lnTo>
                  <a:pt x="21073" y="298395"/>
                </a:lnTo>
                <a:lnTo>
                  <a:pt x="45546" y="336879"/>
                </a:lnTo>
                <a:lnTo>
                  <a:pt x="77648" y="368981"/>
                </a:lnTo>
                <a:lnTo>
                  <a:pt x="116132" y="393454"/>
                </a:lnTo>
                <a:lnTo>
                  <a:pt x="159753" y="409051"/>
                </a:lnTo>
                <a:lnTo>
                  <a:pt x="207264" y="414527"/>
                </a:lnTo>
                <a:lnTo>
                  <a:pt x="254774" y="409051"/>
                </a:lnTo>
                <a:lnTo>
                  <a:pt x="298395" y="393454"/>
                </a:lnTo>
                <a:lnTo>
                  <a:pt x="336879" y="368981"/>
                </a:lnTo>
                <a:lnTo>
                  <a:pt x="368981" y="336879"/>
                </a:lnTo>
                <a:lnTo>
                  <a:pt x="393454" y="298395"/>
                </a:lnTo>
                <a:lnTo>
                  <a:pt x="409051" y="254774"/>
                </a:lnTo>
                <a:lnTo>
                  <a:pt x="414528" y="207263"/>
                </a:lnTo>
                <a:lnTo>
                  <a:pt x="409051" y="159753"/>
                </a:lnTo>
                <a:lnTo>
                  <a:pt x="393454" y="116132"/>
                </a:lnTo>
                <a:lnTo>
                  <a:pt x="368981" y="77648"/>
                </a:lnTo>
                <a:lnTo>
                  <a:pt x="336879" y="45546"/>
                </a:lnTo>
                <a:lnTo>
                  <a:pt x="298395" y="21073"/>
                </a:lnTo>
                <a:lnTo>
                  <a:pt x="254774" y="5476"/>
                </a:lnTo>
                <a:lnTo>
                  <a:pt x="207264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980681" y="410489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18804" y="2674620"/>
            <a:ext cx="414655" cy="414655"/>
          </a:xfrm>
          <a:custGeom>
            <a:avLst/>
            <a:gdLst/>
            <a:ahLst/>
            <a:cxnLst/>
            <a:rect l="l" t="t" r="r" b="b"/>
            <a:pathLst>
              <a:path w="414654" h="414655">
                <a:moveTo>
                  <a:pt x="207264" y="0"/>
                </a:moveTo>
                <a:lnTo>
                  <a:pt x="159753" y="5476"/>
                </a:lnTo>
                <a:lnTo>
                  <a:pt x="116132" y="21073"/>
                </a:lnTo>
                <a:lnTo>
                  <a:pt x="77648" y="45546"/>
                </a:lnTo>
                <a:lnTo>
                  <a:pt x="45546" y="77648"/>
                </a:lnTo>
                <a:lnTo>
                  <a:pt x="21073" y="116132"/>
                </a:lnTo>
                <a:lnTo>
                  <a:pt x="5476" y="159753"/>
                </a:lnTo>
                <a:lnTo>
                  <a:pt x="0" y="207263"/>
                </a:lnTo>
                <a:lnTo>
                  <a:pt x="5476" y="254774"/>
                </a:lnTo>
                <a:lnTo>
                  <a:pt x="21073" y="298395"/>
                </a:lnTo>
                <a:lnTo>
                  <a:pt x="45546" y="336879"/>
                </a:lnTo>
                <a:lnTo>
                  <a:pt x="77648" y="368981"/>
                </a:lnTo>
                <a:lnTo>
                  <a:pt x="116132" y="393454"/>
                </a:lnTo>
                <a:lnTo>
                  <a:pt x="159753" y="409051"/>
                </a:lnTo>
                <a:lnTo>
                  <a:pt x="207264" y="414527"/>
                </a:lnTo>
                <a:lnTo>
                  <a:pt x="254774" y="409051"/>
                </a:lnTo>
                <a:lnTo>
                  <a:pt x="298395" y="393454"/>
                </a:lnTo>
                <a:lnTo>
                  <a:pt x="336879" y="368981"/>
                </a:lnTo>
                <a:lnTo>
                  <a:pt x="368981" y="336879"/>
                </a:lnTo>
                <a:lnTo>
                  <a:pt x="393454" y="298395"/>
                </a:lnTo>
                <a:lnTo>
                  <a:pt x="409051" y="254774"/>
                </a:lnTo>
                <a:lnTo>
                  <a:pt x="414527" y="207263"/>
                </a:lnTo>
                <a:lnTo>
                  <a:pt x="409051" y="159753"/>
                </a:lnTo>
                <a:lnTo>
                  <a:pt x="393454" y="116132"/>
                </a:lnTo>
                <a:lnTo>
                  <a:pt x="368981" y="77648"/>
                </a:lnTo>
                <a:lnTo>
                  <a:pt x="336879" y="45546"/>
                </a:lnTo>
                <a:lnTo>
                  <a:pt x="298395" y="21073"/>
                </a:lnTo>
                <a:lnTo>
                  <a:pt x="254774" y="5476"/>
                </a:lnTo>
                <a:lnTo>
                  <a:pt x="207264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856091" y="2717114"/>
            <a:ext cx="1416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560307" y="4274820"/>
            <a:ext cx="414655" cy="414655"/>
          </a:xfrm>
          <a:custGeom>
            <a:avLst/>
            <a:gdLst/>
            <a:ahLst/>
            <a:cxnLst/>
            <a:rect l="l" t="t" r="r" b="b"/>
            <a:pathLst>
              <a:path w="414654" h="414654">
                <a:moveTo>
                  <a:pt x="207264" y="0"/>
                </a:moveTo>
                <a:lnTo>
                  <a:pt x="159753" y="5476"/>
                </a:lnTo>
                <a:lnTo>
                  <a:pt x="116132" y="21073"/>
                </a:lnTo>
                <a:lnTo>
                  <a:pt x="77648" y="45546"/>
                </a:lnTo>
                <a:lnTo>
                  <a:pt x="45546" y="77648"/>
                </a:lnTo>
                <a:lnTo>
                  <a:pt x="21073" y="116132"/>
                </a:lnTo>
                <a:lnTo>
                  <a:pt x="5476" y="159753"/>
                </a:lnTo>
                <a:lnTo>
                  <a:pt x="0" y="207263"/>
                </a:lnTo>
                <a:lnTo>
                  <a:pt x="5476" y="254774"/>
                </a:lnTo>
                <a:lnTo>
                  <a:pt x="21073" y="298395"/>
                </a:lnTo>
                <a:lnTo>
                  <a:pt x="45546" y="336879"/>
                </a:lnTo>
                <a:lnTo>
                  <a:pt x="77648" y="368981"/>
                </a:lnTo>
                <a:lnTo>
                  <a:pt x="116132" y="393454"/>
                </a:lnTo>
                <a:lnTo>
                  <a:pt x="159753" y="409051"/>
                </a:lnTo>
                <a:lnTo>
                  <a:pt x="207264" y="414527"/>
                </a:lnTo>
                <a:lnTo>
                  <a:pt x="254774" y="409051"/>
                </a:lnTo>
                <a:lnTo>
                  <a:pt x="298395" y="393454"/>
                </a:lnTo>
                <a:lnTo>
                  <a:pt x="336879" y="368981"/>
                </a:lnTo>
                <a:lnTo>
                  <a:pt x="368981" y="336879"/>
                </a:lnTo>
                <a:lnTo>
                  <a:pt x="393454" y="298395"/>
                </a:lnTo>
                <a:lnTo>
                  <a:pt x="409051" y="254774"/>
                </a:lnTo>
                <a:lnTo>
                  <a:pt x="414527" y="207263"/>
                </a:lnTo>
                <a:lnTo>
                  <a:pt x="409051" y="159753"/>
                </a:lnTo>
                <a:lnTo>
                  <a:pt x="393454" y="116132"/>
                </a:lnTo>
                <a:lnTo>
                  <a:pt x="368981" y="77648"/>
                </a:lnTo>
                <a:lnTo>
                  <a:pt x="336879" y="45546"/>
                </a:lnTo>
                <a:lnTo>
                  <a:pt x="298395" y="21073"/>
                </a:lnTo>
                <a:lnTo>
                  <a:pt x="254774" y="5476"/>
                </a:lnTo>
                <a:lnTo>
                  <a:pt x="207264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8698483" y="431825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82796" y="1929383"/>
            <a:ext cx="1816735" cy="147066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95885" rIns="0" bIns="0" rtlCol="0" vert="horz">
            <a:spAutoFit/>
          </a:bodyPr>
          <a:lstStyle/>
          <a:p>
            <a:pPr marL="124460" marR="139700">
              <a:lnSpc>
                <a:spcPct val="100000"/>
              </a:lnSpc>
              <a:spcBef>
                <a:spcPts val="755"/>
              </a:spcBef>
            </a:pP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TBOP’s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Indonesia </a:t>
            </a:r>
            <a:r>
              <a:rPr dirty="0" sz="1100">
                <a:latin typeface="Calibri"/>
                <a:cs typeface="Calibri"/>
              </a:rPr>
              <a:t>centric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software,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Prodigy</a:t>
            </a:r>
            <a:r>
              <a:rPr dirty="0" sz="1100" spc="5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loan </a:t>
            </a:r>
            <a:r>
              <a:rPr dirty="0" sz="1100" spc="-10" b="1">
                <a:latin typeface="Calibri"/>
                <a:cs typeface="Calibri"/>
              </a:rPr>
              <a:t>application,</a:t>
            </a:r>
            <a:r>
              <a:rPr dirty="0" sz="1100" spc="5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interest </a:t>
            </a:r>
            <a:r>
              <a:rPr dirty="0" sz="1100" b="1">
                <a:latin typeface="Calibri"/>
                <a:cs typeface="Calibri"/>
              </a:rPr>
              <a:t>collection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data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storing </a:t>
            </a:r>
            <a:r>
              <a:rPr dirty="0" sz="1100">
                <a:latin typeface="Calibri"/>
                <a:cs typeface="Calibri"/>
              </a:rPr>
              <a:t>efforts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low-</a:t>
            </a:r>
            <a:r>
              <a:rPr dirty="0" sz="1100" b="1">
                <a:latin typeface="Calibri"/>
                <a:cs typeface="Calibri"/>
              </a:rPr>
              <a:t>bandwidth</a:t>
            </a:r>
            <a:r>
              <a:rPr dirty="0" sz="1100" spc="-55" b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regions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158983" y="1985772"/>
            <a:ext cx="1816735" cy="146939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51435" rIns="0" bIns="0" rtlCol="0" vert="horz">
            <a:spAutoFit/>
          </a:bodyPr>
          <a:lstStyle/>
          <a:p>
            <a:pPr marL="130175" marR="135890">
              <a:lnSpc>
                <a:spcPct val="100000"/>
              </a:lnSpc>
              <a:spcBef>
                <a:spcPts val="405"/>
              </a:spcBef>
            </a:pPr>
            <a:r>
              <a:rPr dirty="0" sz="1100" spc="-10">
                <a:latin typeface="Calibri"/>
                <a:cs typeface="Calibri"/>
              </a:rPr>
              <a:t>Integrating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social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factors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minority </a:t>
            </a:r>
            <a:r>
              <a:rPr dirty="0" sz="1100" b="1">
                <a:latin typeface="Calibri"/>
                <a:cs typeface="Calibri"/>
              </a:rPr>
              <a:t>weightages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ABN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along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traditional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economic </a:t>
            </a:r>
            <a:r>
              <a:rPr dirty="0" sz="1100">
                <a:latin typeface="Calibri"/>
                <a:cs typeface="Calibri"/>
              </a:rPr>
              <a:t>factors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ensure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UFH </a:t>
            </a:r>
            <a:r>
              <a:rPr dirty="0" sz="1100">
                <a:latin typeface="Calibri"/>
                <a:cs typeface="Calibri"/>
              </a:rPr>
              <a:t>caters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those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-25">
                <a:latin typeface="Calibri"/>
                <a:cs typeface="Calibri"/>
              </a:rPr>
              <a:t> are </a:t>
            </a:r>
            <a:r>
              <a:rPr dirty="0" sz="1100" b="1">
                <a:latin typeface="Calibri"/>
                <a:cs typeface="Calibri"/>
              </a:rPr>
              <a:t>usually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left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on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margins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systems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75176" y="4834128"/>
            <a:ext cx="1816735" cy="146939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57785" rIns="0" bIns="0" rtlCol="0" vert="horz">
            <a:spAutoFit/>
          </a:bodyPr>
          <a:lstStyle/>
          <a:p>
            <a:pPr marL="113664" marR="146685">
              <a:lnSpc>
                <a:spcPct val="100000"/>
              </a:lnSpc>
              <a:spcBef>
                <a:spcPts val="455"/>
              </a:spcBef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combat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rising </a:t>
            </a:r>
            <a:r>
              <a:rPr dirty="0" sz="1100">
                <a:latin typeface="Calibri"/>
                <a:cs typeface="Calibri"/>
              </a:rPr>
              <a:t>default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causes </a:t>
            </a:r>
            <a:r>
              <a:rPr dirty="0" sz="1100">
                <a:latin typeface="Calibri"/>
                <a:cs typeface="Calibri"/>
              </a:rPr>
              <a:t>reduction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interest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flexible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lending </a:t>
            </a:r>
            <a:r>
              <a:rPr dirty="0" sz="1100">
                <a:latin typeface="Calibri"/>
                <a:cs typeface="Calibri"/>
              </a:rPr>
              <a:t>amounts,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asset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lending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group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borrowings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are </a:t>
            </a:r>
            <a:r>
              <a:rPr dirty="0" sz="1100">
                <a:latin typeface="Calibri"/>
                <a:cs typeface="Calibri"/>
              </a:rPr>
              <a:t>added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lending system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157459" y="4786884"/>
            <a:ext cx="1816735" cy="146939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47625" rIns="0" bIns="0" rtlCol="0" vert="horz">
            <a:spAutoFit/>
          </a:bodyPr>
          <a:lstStyle/>
          <a:p>
            <a:pPr marL="92075" marR="142240">
              <a:lnSpc>
                <a:spcPct val="100000"/>
              </a:lnSpc>
              <a:spcBef>
                <a:spcPts val="375"/>
              </a:spcBef>
            </a:pPr>
            <a:r>
              <a:rPr dirty="0" sz="1100">
                <a:latin typeface="Calibri"/>
                <a:cs typeface="Calibri"/>
              </a:rPr>
              <a:t>Dependency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rainfall </a:t>
            </a:r>
            <a:r>
              <a:rPr dirty="0" sz="1100">
                <a:latin typeface="Calibri"/>
                <a:cs typeface="Calibri"/>
              </a:rPr>
              <a:t>leads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massive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reduction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drought.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combat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modern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take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traditional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Subak,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community-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irrigation </a:t>
            </a:r>
            <a:r>
              <a:rPr dirty="0" sz="1100">
                <a:latin typeface="Calibri"/>
                <a:cs typeface="Calibri"/>
              </a:rPr>
              <a:t>system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10">
                <a:latin typeface="Calibri"/>
                <a:cs typeface="Calibri"/>
              </a:rPr>
              <a:t>undertaken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4" name="object 54" descr="App development 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75239" y="1330059"/>
            <a:ext cx="541805" cy="541805"/>
          </a:xfrm>
          <a:prstGeom prst="rect">
            <a:avLst/>
          </a:prstGeom>
        </p:spPr>
      </p:pic>
      <p:pic>
        <p:nvPicPr>
          <p:cNvPr id="55" name="object 55" descr="Lending 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34496" y="4241101"/>
            <a:ext cx="443388" cy="542924"/>
          </a:xfrm>
          <a:prstGeom prst="rect">
            <a:avLst/>
          </a:prstGeom>
        </p:spPr>
      </p:pic>
      <p:pic>
        <p:nvPicPr>
          <p:cNvPr id="56" name="object 56" descr="Business credit score 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85085" y="1382006"/>
            <a:ext cx="550687" cy="550687"/>
          </a:xfrm>
          <a:prstGeom prst="rect">
            <a:avLst/>
          </a:prstGeom>
        </p:spPr>
      </p:pic>
      <p:pic>
        <p:nvPicPr>
          <p:cNvPr id="57" name="object 57" descr="Sprinkler 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42247" y="4189261"/>
            <a:ext cx="540353" cy="535995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6452615" y="858011"/>
            <a:ext cx="3171825" cy="459105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4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Mitra</a:t>
            </a:r>
            <a:r>
              <a:rPr dirty="0" sz="16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Kredit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13092" y="2923032"/>
            <a:ext cx="1511807" cy="1403603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45083" y="6576161"/>
            <a:ext cx="8350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74085" y="6576161"/>
            <a:ext cx="32188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2910" algn="l"/>
              </a:tabLst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66" name="object 66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81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40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4548" y="2308796"/>
            <a:ext cx="3848227" cy="14859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9525" y="240791"/>
            <a:ext cx="12211050" cy="6265545"/>
            <a:chOff x="-9525" y="240791"/>
            <a:chExt cx="12211050" cy="62655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0764" y="240791"/>
              <a:ext cx="2921508" cy="10713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5207" y="665987"/>
              <a:ext cx="6559296" cy="58399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0035" y="659891"/>
              <a:ext cx="3229356" cy="9144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37795"/>
              <a:ext cx="12192000" cy="8255"/>
            </a:xfrm>
            <a:custGeom>
              <a:avLst/>
              <a:gdLst/>
              <a:ahLst/>
              <a:cxnLst/>
              <a:rect l="l" t="t" r="r" b="b"/>
              <a:pathLst>
                <a:path w="12192000" h="8254">
                  <a:moveTo>
                    <a:pt x="0" y="7988"/>
                  </a:moveTo>
                  <a:lnTo>
                    <a:pt x="12192000" y="0"/>
                  </a:lnTo>
                </a:path>
              </a:pathLst>
            </a:custGeom>
            <a:ln w="1905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TBOP Pte Ltd | Singapore Singapor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6319" y="1424939"/>
              <a:ext cx="1405128" cy="4434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31791" y="1328927"/>
              <a:ext cx="601980" cy="858519"/>
            </a:xfrm>
            <a:custGeom>
              <a:avLst/>
              <a:gdLst/>
              <a:ahLst/>
              <a:cxnLst/>
              <a:rect l="l" t="t" r="r" b="b"/>
              <a:pathLst>
                <a:path w="601979" h="858519">
                  <a:moveTo>
                    <a:pt x="300990" y="0"/>
                  </a:moveTo>
                  <a:lnTo>
                    <a:pt x="256509" y="3907"/>
                  </a:lnTo>
                  <a:lnTo>
                    <a:pt x="214056" y="15263"/>
                  </a:lnTo>
                  <a:lnTo>
                    <a:pt x="174095" y="33519"/>
                  </a:lnTo>
                  <a:lnTo>
                    <a:pt x="137093" y="58126"/>
                  </a:lnTo>
                  <a:lnTo>
                    <a:pt x="103514" y="88535"/>
                  </a:lnTo>
                  <a:lnTo>
                    <a:pt x="73824" y="124196"/>
                  </a:lnTo>
                  <a:lnTo>
                    <a:pt x="48488" y="164561"/>
                  </a:lnTo>
                  <a:lnTo>
                    <a:pt x="27973" y="209080"/>
                  </a:lnTo>
                  <a:lnTo>
                    <a:pt x="12742" y="257205"/>
                  </a:lnTo>
                  <a:lnTo>
                    <a:pt x="3263" y="308387"/>
                  </a:lnTo>
                  <a:lnTo>
                    <a:pt x="0" y="362076"/>
                  </a:lnTo>
                  <a:lnTo>
                    <a:pt x="3035" y="413587"/>
                  </a:lnTo>
                  <a:lnTo>
                    <a:pt x="11876" y="463056"/>
                  </a:lnTo>
                  <a:lnTo>
                    <a:pt x="26130" y="509857"/>
                  </a:lnTo>
                  <a:lnTo>
                    <a:pt x="45400" y="553367"/>
                  </a:lnTo>
                  <a:lnTo>
                    <a:pt x="69291" y="592961"/>
                  </a:lnTo>
                  <a:lnTo>
                    <a:pt x="97409" y="628014"/>
                  </a:lnTo>
                  <a:lnTo>
                    <a:pt x="300990" y="858012"/>
                  </a:lnTo>
                  <a:lnTo>
                    <a:pt x="504571" y="628014"/>
                  </a:lnTo>
                  <a:lnTo>
                    <a:pt x="532688" y="592961"/>
                  </a:lnTo>
                  <a:lnTo>
                    <a:pt x="556579" y="553367"/>
                  </a:lnTo>
                  <a:lnTo>
                    <a:pt x="575849" y="509857"/>
                  </a:lnTo>
                  <a:lnTo>
                    <a:pt x="590103" y="463056"/>
                  </a:lnTo>
                  <a:lnTo>
                    <a:pt x="598944" y="413587"/>
                  </a:lnTo>
                  <a:lnTo>
                    <a:pt x="601980" y="362076"/>
                  </a:lnTo>
                  <a:lnTo>
                    <a:pt x="598716" y="308387"/>
                  </a:lnTo>
                  <a:lnTo>
                    <a:pt x="589237" y="257205"/>
                  </a:lnTo>
                  <a:lnTo>
                    <a:pt x="574006" y="209080"/>
                  </a:lnTo>
                  <a:lnTo>
                    <a:pt x="553491" y="164561"/>
                  </a:lnTo>
                  <a:lnTo>
                    <a:pt x="528155" y="124196"/>
                  </a:lnTo>
                  <a:lnTo>
                    <a:pt x="498465" y="88535"/>
                  </a:lnTo>
                  <a:lnTo>
                    <a:pt x="464886" y="58126"/>
                  </a:lnTo>
                  <a:lnTo>
                    <a:pt x="427884" y="33519"/>
                  </a:lnTo>
                  <a:lnTo>
                    <a:pt x="387923" y="15263"/>
                  </a:lnTo>
                  <a:lnTo>
                    <a:pt x="345470" y="3907"/>
                  </a:lnTo>
                  <a:lnTo>
                    <a:pt x="30099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14088" y="1423416"/>
              <a:ext cx="437515" cy="524510"/>
            </a:xfrm>
            <a:custGeom>
              <a:avLst/>
              <a:gdLst/>
              <a:ahLst/>
              <a:cxnLst/>
              <a:rect l="l" t="t" r="r" b="b"/>
              <a:pathLst>
                <a:path w="437514" h="524510">
                  <a:moveTo>
                    <a:pt x="218694" y="0"/>
                  </a:moveTo>
                  <a:lnTo>
                    <a:pt x="174620" y="5325"/>
                  </a:lnTo>
                  <a:lnTo>
                    <a:pt x="133570" y="20597"/>
                  </a:lnTo>
                  <a:lnTo>
                    <a:pt x="96422" y="44764"/>
                  </a:lnTo>
                  <a:lnTo>
                    <a:pt x="64055" y="76771"/>
                  </a:lnTo>
                  <a:lnTo>
                    <a:pt x="37350" y="115565"/>
                  </a:lnTo>
                  <a:lnTo>
                    <a:pt x="17186" y="160091"/>
                  </a:lnTo>
                  <a:lnTo>
                    <a:pt x="4443" y="209296"/>
                  </a:lnTo>
                  <a:lnTo>
                    <a:pt x="0" y="262128"/>
                  </a:lnTo>
                  <a:lnTo>
                    <a:pt x="4443" y="314959"/>
                  </a:lnTo>
                  <a:lnTo>
                    <a:pt x="17186" y="364164"/>
                  </a:lnTo>
                  <a:lnTo>
                    <a:pt x="37350" y="408690"/>
                  </a:lnTo>
                  <a:lnTo>
                    <a:pt x="64055" y="447484"/>
                  </a:lnTo>
                  <a:lnTo>
                    <a:pt x="96422" y="479491"/>
                  </a:lnTo>
                  <a:lnTo>
                    <a:pt x="133570" y="503658"/>
                  </a:lnTo>
                  <a:lnTo>
                    <a:pt x="174620" y="518930"/>
                  </a:lnTo>
                  <a:lnTo>
                    <a:pt x="218694" y="524256"/>
                  </a:lnTo>
                  <a:lnTo>
                    <a:pt x="262767" y="518930"/>
                  </a:lnTo>
                  <a:lnTo>
                    <a:pt x="303817" y="503658"/>
                  </a:lnTo>
                  <a:lnTo>
                    <a:pt x="340965" y="479491"/>
                  </a:lnTo>
                  <a:lnTo>
                    <a:pt x="373332" y="447484"/>
                  </a:lnTo>
                  <a:lnTo>
                    <a:pt x="400037" y="408690"/>
                  </a:lnTo>
                  <a:lnTo>
                    <a:pt x="420201" y="364164"/>
                  </a:lnTo>
                  <a:lnTo>
                    <a:pt x="432944" y="314959"/>
                  </a:lnTo>
                  <a:lnTo>
                    <a:pt x="437388" y="262128"/>
                  </a:lnTo>
                  <a:lnTo>
                    <a:pt x="432944" y="209296"/>
                  </a:lnTo>
                  <a:lnTo>
                    <a:pt x="420201" y="160091"/>
                  </a:lnTo>
                  <a:lnTo>
                    <a:pt x="400037" y="115565"/>
                  </a:lnTo>
                  <a:lnTo>
                    <a:pt x="373332" y="76771"/>
                  </a:lnTo>
                  <a:lnTo>
                    <a:pt x="340965" y="44764"/>
                  </a:lnTo>
                  <a:lnTo>
                    <a:pt x="303817" y="20597"/>
                  </a:lnTo>
                  <a:lnTo>
                    <a:pt x="262767" y="5325"/>
                  </a:lnTo>
                  <a:lnTo>
                    <a:pt x="218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14088" y="1423416"/>
              <a:ext cx="437515" cy="524510"/>
            </a:xfrm>
            <a:custGeom>
              <a:avLst/>
              <a:gdLst/>
              <a:ahLst/>
              <a:cxnLst/>
              <a:rect l="l" t="t" r="r" b="b"/>
              <a:pathLst>
                <a:path w="437514" h="524510">
                  <a:moveTo>
                    <a:pt x="0" y="262128"/>
                  </a:moveTo>
                  <a:lnTo>
                    <a:pt x="4443" y="209296"/>
                  </a:lnTo>
                  <a:lnTo>
                    <a:pt x="17186" y="160091"/>
                  </a:lnTo>
                  <a:lnTo>
                    <a:pt x="37350" y="115565"/>
                  </a:lnTo>
                  <a:lnTo>
                    <a:pt x="64055" y="76771"/>
                  </a:lnTo>
                  <a:lnTo>
                    <a:pt x="96422" y="44764"/>
                  </a:lnTo>
                  <a:lnTo>
                    <a:pt x="133570" y="20597"/>
                  </a:lnTo>
                  <a:lnTo>
                    <a:pt x="174620" y="5325"/>
                  </a:lnTo>
                  <a:lnTo>
                    <a:pt x="218694" y="0"/>
                  </a:lnTo>
                  <a:lnTo>
                    <a:pt x="262767" y="5325"/>
                  </a:lnTo>
                  <a:lnTo>
                    <a:pt x="303817" y="20597"/>
                  </a:lnTo>
                  <a:lnTo>
                    <a:pt x="340965" y="44764"/>
                  </a:lnTo>
                  <a:lnTo>
                    <a:pt x="373332" y="76771"/>
                  </a:lnTo>
                  <a:lnTo>
                    <a:pt x="400037" y="115565"/>
                  </a:lnTo>
                  <a:lnTo>
                    <a:pt x="420201" y="160091"/>
                  </a:lnTo>
                  <a:lnTo>
                    <a:pt x="432944" y="209296"/>
                  </a:lnTo>
                  <a:lnTo>
                    <a:pt x="437388" y="262128"/>
                  </a:lnTo>
                  <a:lnTo>
                    <a:pt x="432944" y="314959"/>
                  </a:lnTo>
                  <a:lnTo>
                    <a:pt x="420201" y="364164"/>
                  </a:lnTo>
                  <a:lnTo>
                    <a:pt x="400037" y="408690"/>
                  </a:lnTo>
                  <a:lnTo>
                    <a:pt x="373332" y="447484"/>
                  </a:lnTo>
                  <a:lnTo>
                    <a:pt x="340965" y="479491"/>
                  </a:lnTo>
                  <a:lnTo>
                    <a:pt x="303817" y="503658"/>
                  </a:lnTo>
                  <a:lnTo>
                    <a:pt x="262767" y="518930"/>
                  </a:lnTo>
                  <a:lnTo>
                    <a:pt x="218694" y="524256"/>
                  </a:lnTo>
                  <a:lnTo>
                    <a:pt x="174620" y="518930"/>
                  </a:lnTo>
                  <a:lnTo>
                    <a:pt x="133570" y="503658"/>
                  </a:lnTo>
                  <a:lnTo>
                    <a:pt x="96422" y="479491"/>
                  </a:lnTo>
                  <a:lnTo>
                    <a:pt x="64055" y="447484"/>
                  </a:lnTo>
                  <a:lnTo>
                    <a:pt x="37350" y="408690"/>
                  </a:lnTo>
                  <a:lnTo>
                    <a:pt x="17186" y="364164"/>
                  </a:lnTo>
                  <a:lnTo>
                    <a:pt x="4443" y="314959"/>
                  </a:lnTo>
                  <a:lnTo>
                    <a:pt x="0" y="262128"/>
                  </a:lnTo>
                  <a:close/>
                </a:path>
              </a:pathLst>
            </a:custGeom>
            <a:ln w="952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656835" y="1540002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291" y="934211"/>
            <a:ext cx="2123440" cy="394970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465"/>
              </a:lnSpc>
            </a:pP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FinTech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Collaborations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4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Operational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7447" y="1917192"/>
            <a:ext cx="1892935" cy="138684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22555" rIns="0" bIns="0" rtlCol="0" vert="horz">
            <a:spAutoFit/>
          </a:bodyPr>
          <a:lstStyle/>
          <a:p>
            <a:pPr marL="305435" marR="176530" indent="-172720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05435" algn="l"/>
              </a:tabLst>
            </a:pPr>
            <a:r>
              <a:rPr dirty="0" sz="1200" spc="-10">
                <a:latin typeface="Calibri"/>
                <a:cs typeface="Calibri"/>
              </a:rPr>
              <a:t>Collaborate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 </a:t>
            </a:r>
            <a:r>
              <a:rPr dirty="0" sz="1200" spc="-20">
                <a:latin typeface="Calibri"/>
                <a:cs typeface="Calibri"/>
              </a:rPr>
              <a:t>TBOP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optimize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</a:t>
            </a:r>
            <a:endParaRPr sz="1200">
              <a:latin typeface="Calibri"/>
              <a:cs typeface="Calibri"/>
            </a:endParaRPr>
          </a:p>
          <a:p>
            <a:pPr marL="305435" marR="255270" indent="-172720">
              <a:lnSpc>
                <a:spcPct val="100000"/>
              </a:lnSpc>
              <a:buFont typeface="Arial MT"/>
              <a:buChar char="•"/>
              <a:tabLst>
                <a:tab pos="305435" algn="l"/>
              </a:tabLst>
            </a:pP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lending amounts</a:t>
            </a:r>
            <a:endParaRPr sz="1200">
              <a:latin typeface="Calibri"/>
              <a:cs typeface="Calibri"/>
            </a:endParaRPr>
          </a:p>
          <a:p>
            <a:pPr marL="306070" indent="-172720">
              <a:lnSpc>
                <a:spcPct val="100000"/>
              </a:lnSpc>
              <a:buFont typeface="Arial MT"/>
              <a:buChar char="•"/>
              <a:tabLst>
                <a:tab pos="306070" algn="l"/>
              </a:tabLst>
            </a:pPr>
            <a:r>
              <a:rPr dirty="0" sz="1200">
                <a:latin typeface="Calibri"/>
                <a:cs typeface="Calibri"/>
              </a:rPr>
              <a:t>Modified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  <a:p>
            <a:pPr marL="305435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ratings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800" y="3400044"/>
            <a:ext cx="1807845" cy="443865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65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Country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expansion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61659" y="2168651"/>
            <a:ext cx="603885" cy="858519"/>
            <a:chOff x="5661659" y="2168651"/>
            <a:chExt cx="603885" cy="858519"/>
          </a:xfrm>
        </p:grpSpPr>
        <p:sp>
          <p:nvSpPr>
            <p:cNvPr id="17" name="object 17"/>
            <p:cNvSpPr/>
            <p:nvPr/>
          </p:nvSpPr>
          <p:spPr>
            <a:xfrm>
              <a:off x="5661659" y="2168651"/>
              <a:ext cx="603885" cy="858519"/>
            </a:xfrm>
            <a:custGeom>
              <a:avLst/>
              <a:gdLst/>
              <a:ahLst/>
              <a:cxnLst/>
              <a:rect l="l" t="t" r="r" b="b"/>
              <a:pathLst>
                <a:path w="603885" h="858519">
                  <a:moveTo>
                    <a:pt x="301751" y="0"/>
                  </a:moveTo>
                  <a:lnTo>
                    <a:pt x="257167" y="3907"/>
                  </a:lnTo>
                  <a:lnTo>
                    <a:pt x="214612" y="15263"/>
                  </a:lnTo>
                  <a:lnTo>
                    <a:pt x="174553" y="33519"/>
                  </a:lnTo>
                  <a:lnTo>
                    <a:pt x="137457" y="58126"/>
                  </a:lnTo>
                  <a:lnTo>
                    <a:pt x="103792" y="88535"/>
                  </a:lnTo>
                  <a:lnTo>
                    <a:pt x="74024" y="124196"/>
                  </a:lnTo>
                  <a:lnTo>
                    <a:pt x="48621" y="164561"/>
                  </a:lnTo>
                  <a:lnTo>
                    <a:pt x="28050" y="209080"/>
                  </a:lnTo>
                  <a:lnTo>
                    <a:pt x="12778" y="257205"/>
                  </a:lnTo>
                  <a:lnTo>
                    <a:pt x="3272" y="308387"/>
                  </a:lnTo>
                  <a:lnTo>
                    <a:pt x="0" y="362076"/>
                  </a:lnTo>
                  <a:lnTo>
                    <a:pt x="3045" y="413587"/>
                  </a:lnTo>
                  <a:lnTo>
                    <a:pt x="11914" y="463056"/>
                  </a:lnTo>
                  <a:lnTo>
                    <a:pt x="26209" y="509857"/>
                  </a:lnTo>
                  <a:lnTo>
                    <a:pt x="45531" y="553367"/>
                  </a:lnTo>
                  <a:lnTo>
                    <a:pt x="69482" y="592961"/>
                  </a:lnTo>
                  <a:lnTo>
                    <a:pt x="97662" y="628014"/>
                  </a:lnTo>
                  <a:lnTo>
                    <a:pt x="301751" y="858012"/>
                  </a:lnTo>
                  <a:lnTo>
                    <a:pt x="505840" y="628014"/>
                  </a:lnTo>
                  <a:lnTo>
                    <a:pt x="534021" y="592961"/>
                  </a:lnTo>
                  <a:lnTo>
                    <a:pt x="557972" y="553367"/>
                  </a:lnTo>
                  <a:lnTo>
                    <a:pt x="577294" y="509857"/>
                  </a:lnTo>
                  <a:lnTo>
                    <a:pt x="591589" y="463056"/>
                  </a:lnTo>
                  <a:lnTo>
                    <a:pt x="600458" y="413587"/>
                  </a:lnTo>
                  <a:lnTo>
                    <a:pt x="603503" y="362076"/>
                  </a:lnTo>
                  <a:lnTo>
                    <a:pt x="600231" y="308387"/>
                  </a:lnTo>
                  <a:lnTo>
                    <a:pt x="590725" y="257205"/>
                  </a:lnTo>
                  <a:lnTo>
                    <a:pt x="575453" y="209080"/>
                  </a:lnTo>
                  <a:lnTo>
                    <a:pt x="554882" y="164561"/>
                  </a:lnTo>
                  <a:lnTo>
                    <a:pt x="529479" y="124196"/>
                  </a:lnTo>
                  <a:lnTo>
                    <a:pt x="499711" y="88535"/>
                  </a:lnTo>
                  <a:lnTo>
                    <a:pt x="466046" y="58126"/>
                  </a:lnTo>
                  <a:lnTo>
                    <a:pt x="428950" y="33519"/>
                  </a:lnTo>
                  <a:lnTo>
                    <a:pt x="388891" y="15263"/>
                  </a:lnTo>
                  <a:lnTo>
                    <a:pt x="346336" y="3907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45479" y="2264663"/>
              <a:ext cx="437515" cy="524510"/>
            </a:xfrm>
            <a:custGeom>
              <a:avLst/>
              <a:gdLst/>
              <a:ahLst/>
              <a:cxnLst/>
              <a:rect l="l" t="t" r="r" b="b"/>
              <a:pathLst>
                <a:path w="437514" h="524510">
                  <a:moveTo>
                    <a:pt x="218694" y="0"/>
                  </a:moveTo>
                  <a:lnTo>
                    <a:pt x="174620" y="5325"/>
                  </a:lnTo>
                  <a:lnTo>
                    <a:pt x="133570" y="20597"/>
                  </a:lnTo>
                  <a:lnTo>
                    <a:pt x="96422" y="44764"/>
                  </a:lnTo>
                  <a:lnTo>
                    <a:pt x="64055" y="76771"/>
                  </a:lnTo>
                  <a:lnTo>
                    <a:pt x="37350" y="115565"/>
                  </a:lnTo>
                  <a:lnTo>
                    <a:pt x="17186" y="160091"/>
                  </a:lnTo>
                  <a:lnTo>
                    <a:pt x="4443" y="209296"/>
                  </a:lnTo>
                  <a:lnTo>
                    <a:pt x="0" y="262127"/>
                  </a:lnTo>
                  <a:lnTo>
                    <a:pt x="4443" y="314959"/>
                  </a:lnTo>
                  <a:lnTo>
                    <a:pt x="17186" y="364164"/>
                  </a:lnTo>
                  <a:lnTo>
                    <a:pt x="37350" y="408690"/>
                  </a:lnTo>
                  <a:lnTo>
                    <a:pt x="64055" y="447484"/>
                  </a:lnTo>
                  <a:lnTo>
                    <a:pt x="96422" y="479491"/>
                  </a:lnTo>
                  <a:lnTo>
                    <a:pt x="133570" y="503658"/>
                  </a:lnTo>
                  <a:lnTo>
                    <a:pt x="174620" y="518930"/>
                  </a:lnTo>
                  <a:lnTo>
                    <a:pt x="218694" y="524256"/>
                  </a:lnTo>
                  <a:lnTo>
                    <a:pt x="262767" y="518930"/>
                  </a:lnTo>
                  <a:lnTo>
                    <a:pt x="303817" y="503658"/>
                  </a:lnTo>
                  <a:lnTo>
                    <a:pt x="340965" y="479491"/>
                  </a:lnTo>
                  <a:lnTo>
                    <a:pt x="373332" y="447484"/>
                  </a:lnTo>
                  <a:lnTo>
                    <a:pt x="400037" y="408690"/>
                  </a:lnTo>
                  <a:lnTo>
                    <a:pt x="420201" y="364164"/>
                  </a:lnTo>
                  <a:lnTo>
                    <a:pt x="432944" y="314959"/>
                  </a:lnTo>
                  <a:lnTo>
                    <a:pt x="437388" y="262127"/>
                  </a:lnTo>
                  <a:lnTo>
                    <a:pt x="432944" y="209296"/>
                  </a:lnTo>
                  <a:lnTo>
                    <a:pt x="420201" y="160091"/>
                  </a:lnTo>
                  <a:lnTo>
                    <a:pt x="400037" y="115565"/>
                  </a:lnTo>
                  <a:lnTo>
                    <a:pt x="373332" y="76771"/>
                  </a:lnTo>
                  <a:lnTo>
                    <a:pt x="340965" y="44764"/>
                  </a:lnTo>
                  <a:lnTo>
                    <a:pt x="303817" y="20597"/>
                  </a:lnTo>
                  <a:lnTo>
                    <a:pt x="262767" y="5325"/>
                  </a:lnTo>
                  <a:lnTo>
                    <a:pt x="218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45479" y="2264663"/>
              <a:ext cx="437515" cy="524510"/>
            </a:xfrm>
            <a:custGeom>
              <a:avLst/>
              <a:gdLst/>
              <a:ahLst/>
              <a:cxnLst/>
              <a:rect l="l" t="t" r="r" b="b"/>
              <a:pathLst>
                <a:path w="437514" h="524510">
                  <a:moveTo>
                    <a:pt x="0" y="262127"/>
                  </a:moveTo>
                  <a:lnTo>
                    <a:pt x="4443" y="209296"/>
                  </a:lnTo>
                  <a:lnTo>
                    <a:pt x="17186" y="160091"/>
                  </a:lnTo>
                  <a:lnTo>
                    <a:pt x="37350" y="115565"/>
                  </a:lnTo>
                  <a:lnTo>
                    <a:pt x="64055" y="76771"/>
                  </a:lnTo>
                  <a:lnTo>
                    <a:pt x="96422" y="44764"/>
                  </a:lnTo>
                  <a:lnTo>
                    <a:pt x="133570" y="20597"/>
                  </a:lnTo>
                  <a:lnTo>
                    <a:pt x="174620" y="5325"/>
                  </a:lnTo>
                  <a:lnTo>
                    <a:pt x="218694" y="0"/>
                  </a:lnTo>
                  <a:lnTo>
                    <a:pt x="262767" y="5325"/>
                  </a:lnTo>
                  <a:lnTo>
                    <a:pt x="303817" y="20597"/>
                  </a:lnTo>
                  <a:lnTo>
                    <a:pt x="340965" y="44764"/>
                  </a:lnTo>
                  <a:lnTo>
                    <a:pt x="373332" y="76771"/>
                  </a:lnTo>
                  <a:lnTo>
                    <a:pt x="400037" y="115565"/>
                  </a:lnTo>
                  <a:lnTo>
                    <a:pt x="420201" y="160091"/>
                  </a:lnTo>
                  <a:lnTo>
                    <a:pt x="432944" y="209296"/>
                  </a:lnTo>
                  <a:lnTo>
                    <a:pt x="437388" y="262127"/>
                  </a:lnTo>
                  <a:lnTo>
                    <a:pt x="432944" y="314959"/>
                  </a:lnTo>
                  <a:lnTo>
                    <a:pt x="420201" y="364164"/>
                  </a:lnTo>
                  <a:lnTo>
                    <a:pt x="400037" y="408690"/>
                  </a:lnTo>
                  <a:lnTo>
                    <a:pt x="373332" y="447484"/>
                  </a:lnTo>
                  <a:lnTo>
                    <a:pt x="340965" y="479491"/>
                  </a:lnTo>
                  <a:lnTo>
                    <a:pt x="303817" y="503658"/>
                  </a:lnTo>
                  <a:lnTo>
                    <a:pt x="262767" y="518930"/>
                  </a:lnTo>
                  <a:lnTo>
                    <a:pt x="218694" y="524256"/>
                  </a:lnTo>
                  <a:lnTo>
                    <a:pt x="174620" y="518930"/>
                  </a:lnTo>
                  <a:lnTo>
                    <a:pt x="133570" y="503658"/>
                  </a:lnTo>
                  <a:lnTo>
                    <a:pt x="96422" y="479491"/>
                  </a:lnTo>
                  <a:lnTo>
                    <a:pt x="64055" y="447484"/>
                  </a:lnTo>
                  <a:lnTo>
                    <a:pt x="37350" y="408690"/>
                  </a:lnTo>
                  <a:lnTo>
                    <a:pt x="17186" y="364164"/>
                  </a:lnTo>
                  <a:lnTo>
                    <a:pt x="4443" y="314959"/>
                  </a:lnTo>
                  <a:lnTo>
                    <a:pt x="0" y="262127"/>
                  </a:lnTo>
                  <a:close/>
                </a:path>
              </a:pathLst>
            </a:custGeom>
            <a:ln w="952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887339" y="2379979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448811" y="4320540"/>
            <a:ext cx="601980" cy="858519"/>
            <a:chOff x="3448811" y="4320540"/>
            <a:chExt cx="601980" cy="858519"/>
          </a:xfrm>
        </p:grpSpPr>
        <p:sp>
          <p:nvSpPr>
            <p:cNvPr id="22" name="object 22"/>
            <p:cNvSpPr/>
            <p:nvPr/>
          </p:nvSpPr>
          <p:spPr>
            <a:xfrm>
              <a:off x="3448811" y="4320540"/>
              <a:ext cx="601980" cy="858519"/>
            </a:xfrm>
            <a:custGeom>
              <a:avLst/>
              <a:gdLst/>
              <a:ahLst/>
              <a:cxnLst/>
              <a:rect l="l" t="t" r="r" b="b"/>
              <a:pathLst>
                <a:path w="601979" h="858520">
                  <a:moveTo>
                    <a:pt x="300989" y="0"/>
                  </a:moveTo>
                  <a:lnTo>
                    <a:pt x="256509" y="3907"/>
                  </a:lnTo>
                  <a:lnTo>
                    <a:pt x="214056" y="15263"/>
                  </a:lnTo>
                  <a:lnTo>
                    <a:pt x="174095" y="33519"/>
                  </a:lnTo>
                  <a:lnTo>
                    <a:pt x="137093" y="58126"/>
                  </a:lnTo>
                  <a:lnTo>
                    <a:pt x="103514" y="88535"/>
                  </a:lnTo>
                  <a:lnTo>
                    <a:pt x="73824" y="124196"/>
                  </a:lnTo>
                  <a:lnTo>
                    <a:pt x="48488" y="164561"/>
                  </a:lnTo>
                  <a:lnTo>
                    <a:pt x="27973" y="209080"/>
                  </a:lnTo>
                  <a:lnTo>
                    <a:pt x="12742" y="257205"/>
                  </a:lnTo>
                  <a:lnTo>
                    <a:pt x="3263" y="308387"/>
                  </a:lnTo>
                  <a:lnTo>
                    <a:pt x="0" y="362077"/>
                  </a:lnTo>
                  <a:lnTo>
                    <a:pt x="3035" y="413587"/>
                  </a:lnTo>
                  <a:lnTo>
                    <a:pt x="11876" y="463056"/>
                  </a:lnTo>
                  <a:lnTo>
                    <a:pt x="26130" y="509857"/>
                  </a:lnTo>
                  <a:lnTo>
                    <a:pt x="45400" y="553367"/>
                  </a:lnTo>
                  <a:lnTo>
                    <a:pt x="69291" y="592961"/>
                  </a:lnTo>
                  <a:lnTo>
                    <a:pt x="97409" y="628015"/>
                  </a:lnTo>
                  <a:lnTo>
                    <a:pt x="300989" y="858012"/>
                  </a:lnTo>
                  <a:lnTo>
                    <a:pt x="504571" y="628015"/>
                  </a:lnTo>
                  <a:lnTo>
                    <a:pt x="532688" y="592961"/>
                  </a:lnTo>
                  <a:lnTo>
                    <a:pt x="556579" y="553367"/>
                  </a:lnTo>
                  <a:lnTo>
                    <a:pt x="575849" y="509857"/>
                  </a:lnTo>
                  <a:lnTo>
                    <a:pt x="590103" y="463056"/>
                  </a:lnTo>
                  <a:lnTo>
                    <a:pt x="598944" y="413587"/>
                  </a:lnTo>
                  <a:lnTo>
                    <a:pt x="601979" y="362077"/>
                  </a:lnTo>
                  <a:lnTo>
                    <a:pt x="598716" y="308387"/>
                  </a:lnTo>
                  <a:lnTo>
                    <a:pt x="589237" y="257205"/>
                  </a:lnTo>
                  <a:lnTo>
                    <a:pt x="574006" y="209080"/>
                  </a:lnTo>
                  <a:lnTo>
                    <a:pt x="553491" y="164561"/>
                  </a:lnTo>
                  <a:lnTo>
                    <a:pt x="528155" y="124196"/>
                  </a:lnTo>
                  <a:lnTo>
                    <a:pt x="498465" y="88535"/>
                  </a:lnTo>
                  <a:lnTo>
                    <a:pt x="464886" y="58126"/>
                  </a:lnTo>
                  <a:lnTo>
                    <a:pt x="427884" y="33519"/>
                  </a:lnTo>
                  <a:lnTo>
                    <a:pt x="387923" y="15263"/>
                  </a:lnTo>
                  <a:lnTo>
                    <a:pt x="345470" y="3907"/>
                  </a:lnTo>
                  <a:lnTo>
                    <a:pt x="30098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31107" y="4415028"/>
              <a:ext cx="437515" cy="524510"/>
            </a:xfrm>
            <a:custGeom>
              <a:avLst/>
              <a:gdLst/>
              <a:ahLst/>
              <a:cxnLst/>
              <a:rect l="l" t="t" r="r" b="b"/>
              <a:pathLst>
                <a:path w="437514" h="524510">
                  <a:moveTo>
                    <a:pt x="218693" y="0"/>
                  </a:moveTo>
                  <a:lnTo>
                    <a:pt x="174620" y="5325"/>
                  </a:lnTo>
                  <a:lnTo>
                    <a:pt x="133570" y="20597"/>
                  </a:lnTo>
                  <a:lnTo>
                    <a:pt x="96422" y="44764"/>
                  </a:lnTo>
                  <a:lnTo>
                    <a:pt x="64055" y="76771"/>
                  </a:lnTo>
                  <a:lnTo>
                    <a:pt x="37350" y="115565"/>
                  </a:lnTo>
                  <a:lnTo>
                    <a:pt x="17186" y="160091"/>
                  </a:lnTo>
                  <a:lnTo>
                    <a:pt x="4443" y="209296"/>
                  </a:lnTo>
                  <a:lnTo>
                    <a:pt x="0" y="262128"/>
                  </a:lnTo>
                  <a:lnTo>
                    <a:pt x="4443" y="314959"/>
                  </a:lnTo>
                  <a:lnTo>
                    <a:pt x="17186" y="364164"/>
                  </a:lnTo>
                  <a:lnTo>
                    <a:pt x="37350" y="408690"/>
                  </a:lnTo>
                  <a:lnTo>
                    <a:pt x="64055" y="447484"/>
                  </a:lnTo>
                  <a:lnTo>
                    <a:pt x="96422" y="479491"/>
                  </a:lnTo>
                  <a:lnTo>
                    <a:pt x="133570" y="503658"/>
                  </a:lnTo>
                  <a:lnTo>
                    <a:pt x="174620" y="518930"/>
                  </a:lnTo>
                  <a:lnTo>
                    <a:pt x="218693" y="524256"/>
                  </a:lnTo>
                  <a:lnTo>
                    <a:pt x="262767" y="518930"/>
                  </a:lnTo>
                  <a:lnTo>
                    <a:pt x="303817" y="503658"/>
                  </a:lnTo>
                  <a:lnTo>
                    <a:pt x="340965" y="479491"/>
                  </a:lnTo>
                  <a:lnTo>
                    <a:pt x="373332" y="447484"/>
                  </a:lnTo>
                  <a:lnTo>
                    <a:pt x="400037" y="408690"/>
                  </a:lnTo>
                  <a:lnTo>
                    <a:pt x="420201" y="364164"/>
                  </a:lnTo>
                  <a:lnTo>
                    <a:pt x="432944" y="314959"/>
                  </a:lnTo>
                  <a:lnTo>
                    <a:pt x="437388" y="262128"/>
                  </a:lnTo>
                  <a:lnTo>
                    <a:pt x="432944" y="209296"/>
                  </a:lnTo>
                  <a:lnTo>
                    <a:pt x="420201" y="160091"/>
                  </a:lnTo>
                  <a:lnTo>
                    <a:pt x="400037" y="115565"/>
                  </a:lnTo>
                  <a:lnTo>
                    <a:pt x="373332" y="76771"/>
                  </a:lnTo>
                  <a:lnTo>
                    <a:pt x="340965" y="44764"/>
                  </a:lnTo>
                  <a:lnTo>
                    <a:pt x="303817" y="20597"/>
                  </a:lnTo>
                  <a:lnTo>
                    <a:pt x="262767" y="5325"/>
                  </a:lnTo>
                  <a:lnTo>
                    <a:pt x="218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1107" y="4415028"/>
              <a:ext cx="437515" cy="524510"/>
            </a:xfrm>
            <a:custGeom>
              <a:avLst/>
              <a:gdLst/>
              <a:ahLst/>
              <a:cxnLst/>
              <a:rect l="l" t="t" r="r" b="b"/>
              <a:pathLst>
                <a:path w="437514" h="524510">
                  <a:moveTo>
                    <a:pt x="0" y="262128"/>
                  </a:moveTo>
                  <a:lnTo>
                    <a:pt x="4443" y="209296"/>
                  </a:lnTo>
                  <a:lnTo>
                    <a:pt x="17186" y="160091"/>
                  </a:lnTo>
                  <a:lnTo>
                    <a:pt x="37350" y="115565"/>
                  </a:lnTo>
                  <a:lnTo>
                    <a:pt x="64055" y="76771"/>
                  </a:lnTo>
                  <a:lnTo>
                    <a:pt x="96422" y="44764"/>
                  </a:lnTo>
                  <a:lnTo>
                    <a:pt x="133570" y="20597"/>
                  </a:lnTo>
                  <a:lnTo>
                    <a:pt x="174620" y="5325"/>
                  </a:lnTo>
                  <a:lnTo>
                    <a:pt x="218693" y="0"/>
                  </a:lnTo>
                  <a:lnTo>
                    <a:pt x="262767" y="5325"/>
                  </a:lnTo>
                  <a:lnTo>
                    <a:pt x="303817" y="20597"/>
                  </a:lnTo>
                  <a:lnTo>
                    <a:pt x="340965" y="44764"/>
                  </a:lnTo>
                  <a:lnTo>
                    <a:pt x="373332" y="76771"/>
                  </a:lnTo>
                  <a:lnTo>
                    <a:pt x="400037" y="115565"/>
                  </a:lnTo>
                  <a:lnTo>
                    <a:pt x="420201" y="160091"/>
                  </a:lnTo>
                  <a:lnTo>
                    <a:pt x="432944" y="209296"/>
                  </a:lnTo>
                  <a:lnTo>
                    <a:pt x="437388" y="262128"/>
                  </a:lnTo>
                  <a:lnTo>
                    <a:pt x="432944" y="314959"/>
                  </a:lnTo>
                  <a:lnTo>
                    <a:pt x="420201" y="364164"/>
                  </a:lnTo>
                  <a:lnTo>
                    <a:pt x="400037" y="408690"/>
                  </a:lnTo>
                  <a:lnTo>
                    <a:pt x="373332" y="447484"/>
                  </a:lnTo>
                  <a:lnTo>
                    <a:pt x="340965" y="479491"/>
                  </a:lnTo>
                  <a:lnTo>
                    <a:pt x="303817" y="503658"/>
                  </a:lnTo>
                  <a:lnTo>
                    <a:pt x="262767" y="518930"/>
                  </a:lnTo>
                  <a:lnTo>
                    <a:pt x="218693" y="524256"/>
                  </a:lnTo>
                  <a:lnTo>
                    <a:pt x="174620" y="518930"/>
                  </a:lnTo>
                  <a:lnTo>
                    <a:pt x="133570" y="503658"/>
                  </a:lnTo>
                  <a:lnTo>
                    <a:pt x="96422" y="479491"/>
                  </a:lnTo>
                  <a:lnTo>
                    <a:pt x="64055" y="447484"/>
                  </a:lnTo>
                  <a:lnTo>
                    <a:pt x="37350" y="408690"/>
                  </a:lnTo>
                  <a:lnTo>
                    <a:pt x="17186" y="364164"/>
                  </a:lnTo>
                  <a:lnTo>
                    <a:pt x="4443" y="314959"/>
                  </a:lnTo>
                  <a:lnTo>
                    <a:pt x="0" y="262128"/>
                  </a:lnTo>
                  <a:close/>
                </a:path>
              </a:pathLst>
            </a:custGeom>
            <a:ln w="952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673221" y="4531563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800" y="4643628"/>
            <a:ext cx="1807845" cy="165544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23189" rIns="0" bIns="0" rtlCol="0" vert="horz">
            <a:spAutoFit/>
          </a:bodyPr>
          <a:lstStyle/>
          <a:p>
            <a:pPr marL="304800" marR="100330" indent="-172720">
              <a:lnSpc>
                <a:spcPct val="100000"/>
              </a:lnSpc>
              <a:spcBef>
                <a:spcPts val="969"/>
              </a:spcBef>
              <a:buFont typeface="Arial MT"/>
              <a:buChar char="•"/>
              <a:tabLst>
                <a:tab pos="304800" algn="l"/>
              </a:tabLst>
            </a:pPr>
            <a:r>
              <a:rPr dirty="0" sz="1200">
                <a:latin typeface="Calibri"/>
                <a:cs typeface="Calibri"/>
              </a:rPr>
              <a:t>Expand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other </a:t>
            </a:r>
            <a:r>
              <a:rPr dirty="0" sz="1200" spc="-10">
                <a:latin typeface="Calibri"/>
                <a:cs typeface="Calibri"/>
              </a:rPr>
              <a:t>provinces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Indonesia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consumer </a:t>
            </a:r>
            <a:r>
              <a:rPr dirty="0" sz="1200" spc="-20">
                <a:latin typeface="Calibri"/>
                <a:cs typeface="Calibri"/>
              </a:rPr>
              <a:t>base</a:t>
            </a:r>
            <a:endParaRPr sz="1200">
              <a:latin typeface="Calibri"/>
              <a:cs typeface="Calibri"/>
            </a:endParaRPr>
          </a:p>
          <a:p>
            <a:pPr marL="304800" marR="124460" indent="-1727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04800" algn="l"/>
              </a:tabLst>
            </a:pP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Subak’s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in other</a:t>
            </a:r>
            <a:r>
              <a:rPr dirty="0" sz="1200" spc="-10">
                <a:latin typeface="Calibri"/>
                <a:cs typeface="Calibri"/>
              </a:rPr>
              <a:t> provinces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meet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irrigation requirements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50123" y="1176527"/>
            <a:ext cx="4052570" cy="394970"/>
          </a:xfrm>
          <a:prstGeom prst="rect">
            <a:avLst/>
          </a:prstGeom>
          <a:solidFill>
            <a:srgbClr val="385622"/>
          </a:solidFill>
          <a:ln w="12700">
            <a:solidFill>
              <a:srgbClr val="172C51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Province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Expansion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Irrigation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Facility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77824" y="1122044"/>
            <a:ext cx="8437245" cy="3617595"/>
            <a:chOff x="877824" y="1122044"/>
            <a:chExt cx="8437245" cy="3617595"/>
          </a:xfrm>
        </p:grpSpPr>
        <p:sp>
          <p:nvSpPr>
            <p:cNvPr id="29" name="object 29"/>
            <p:cNvSpPr/>
            <p:nvPr/>
          </p:nvSpPr>
          <p:spPr>
            <a:xfrm>
              <a:off x="2935986" y="1131569"/>
              <a:ext cx="1497330" cy="597535"/>
            </a:xfrm>
            <a:custGeom>
              <a:avLst/>
              <a:gdLst/>
              <a:ahLst/>
              <a:cxnLst/>
              <a:rect l="l" t="t" r="r" b="b"/>
              <a:pathLst>
                <a:path w="1497329" h="597535">
                  <a:moveTo>
                    <a:pt x="0" y="0"/>
                  </a:moveTo>
                  <a:lnTo>
                    <a:pt x="748538" y="0"/>
                  </a:lnTo>
                  <a:lnTo>
                    <a:pt x="748538" y="597153"/>
                  </a:lnTo>
                  <a:lnTo>
                    <a:pt x="1497076" y="597153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Indonesia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824" y="3907536"/>
              <a:ext cx="673607" cy="67360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13026" y="1373885"/>
              <a:ext cx="5738495" cy="3356610"/>
            </a:xfrm>
            <a:custGeom>
              <a:avLst/>
              <a:gdLst/>
              <a:ahLst/>
              <a:cxnLst/>
              <a:rect l="l" t="t" r="r" b="b"/>
              <a:pathLst>
                <a:path w="5738495" h="3356610">
                  <a:moveTo>
                    <a:pt x="4152900" y="1157097"/>
                  </a:moveTo>
                  <a:lnTo>
                    <a:pt x="4945507" y="1157097"/>
                  </a:lnTo>
                  <a:lnTo>
                    <a:pt x="4945507" y="0"/>
                  </a:lnTo>
                  <a:lnTo>
                    <a:pt x="5737987" y="0"/>
                  </a:lnTo>
                </a:path>
                <a:path w="5738495" h="3356610">
                  <a:moveTo>
                    <a:pt x="0" y="2247900"/>
                  </a:moveTo>
                  <a:lnTo>
                    <a:pt x="668147" y="2247900"/>
                  </a:lnTo>
                  <a:lnTo>
                    <a:pt x="668147" y="3356229"/>
                  </a:lnTo>
                  <a:lnTo>
                    <a:pt x="1336294" y="3356229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04404" y="1661159"/>
              <a:ext cx="1510665" cy="429895"/>
            </a:xfrm>
            <a:custGeom>
              <a:avLst/>
              <a:gdLst/>
              <a:ahLst/>
              <a:cxnLst/>
              <a:rect l="l" t="t" r="r" b="b"/>
              <a:pathLst>
                <a:path w="1510665" h="429894">
                  <a:moveTo>
                    <a:pt x="1295400" y="0"/>
                  </a:moveTo>
                  <a:lnTo>
                    <a:pt x="0" y="0"/>
                  </a:lnTo>
                  <a:lnTo>
                    <a:pt x="214884" y="214884"/>
                  </a:lnTo>
                  <a:lnTo>
                    <a:pt x="0" y="429767"/>
                  </a:lnTo>
                  <a:lnTo>
                    <a:pt x="1295400" y="429767"/>
                  </a:lnTo>
                  <a:lnTo>
                    <a:pt x="1510284" y="214884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145906" y="1671954"/>
            <a:ext cx="82994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West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Kalimanthan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74480" y="1668779"/>
            <a:ext cx="1510665" cy="429895"/>
          </a:xfrm>
          <a:custGeom>
            <a:avLst/>
            <a:gdLst/>
            <a:ahLst/>
            <a:cxnLst/>
            <a:rect l="l" t="t" r="r" b="b"/>
            <a:pathLst>
              <a:path w="1510665" h="429894">
                <a:moveTo>
                  <a:pt x="1295400" y="0"/>
                </a:moveTo>
                <a:lnTo>
                  <a:pt x="0" y="0"/>
                </a:lnTo>
                <a:lnTo>
                  <a:pt x="214884" y="214884"/>
                </a:lnTo>
                <a:lnTo>
                  <a:pt x="0" y="429768"/>
                </a:lnTo>
                <a:lnTo>
                  <a:pt x="1295400" y="429768"/>
                </a:lnTo>
                <a:lnTo>
                  <a:pt x="1510284" y="214884"/>
                </a:lnTo>
                <a:lnTo>
                  <a:pt x="1295400" y="0"/>
                </a:lnTo>
                <a:close/>
              </a:path>
            </a:pathLst>
          </a:custGeom>
          <a:solidFill>
            <a:srgbClr val="639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612630" y="1679575"/>
            <a:ext cx="6369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East</a:t>
            </a:r>
            <a:r>
              <a:rPr dirty="0" sz="1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Nusa</a:t>
            </a:r>
            <a:endParaRPr sz="1200">
              <a:latin typeface="Calibri"/>
              <a:cs typeface="Calibri"/>
            </a:endParaRPr>
          </a:p>
          <a:p>
            <a:pPr marL="3683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Tenggara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552176" y="1668779"/>
            <a:ext cx="1510665" cy="431800"/>
          </a:xfrm>
          <a:custGeom>
            <a:avLst/>
            <a:gdLst/>
            <a:ahLst/>
            <a:cxnLst/>
            <a:rect l="l" t="t" r="r" b="b"/>
            <a:pathLst>
              <a:path w="1510665" h="431800">
                <a:moveTo>
                  <a:pt x="1294638" y="0"/>
                </a:moveTo>
                <a:lnTo>
                  <a:pt x="0" y="0"/>
                </a:lnTo>
                <a:lnTo>
                  <a:pt x="215646" y="215646"/>
                </a:lnTo>
                <a:lnTo>
                  <a:pt x="0" y="431292"/>
                </a:lnTo>
                <a:lnTo>
                  <a:pt x="1294638" y="431292"/>
                </a:lnTo>
                <a:lnTo>
                  <a:pt x="1510283" y="215646"/>
                </a:lnTo>
                <a:lnTo>
                  <a:pt x="1294638" y="0"/>
                </a:lnTo>
                <a:close/>
              </a:path>
            </a:pathLst>
          </a:custGeom>
          <a:solidFill>
            <a:srgbClr val="639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018901" y="1679524"/>
            <a:ext cx="57785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Sulawesi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92668" y="3843528"/>
            <a:ext cx="3495040" cy="217170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4889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385"/>
              </a:spcBef>
            </a:pPr>
            <a:r>
              <a:rPr dirty="0" sz="1200" spc="-10" b="1">
                <a:latin typeface="Calibri"/>
                <a:cs typeface="Calibri"/>
              </a:rPr>
              <a:t>PROVINCE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EXPANSION</a:t>
            </a:r>
            <a:endParaRPr sz="1200">
              <a:latin typeface="Calibri"/>
              <a:cs typeface="Calibri"/>
            </a:endParaRPr>
          </a:p>
          <a:p>
            <a:pPr marL="350520" marR="475615" indent="-172720">
              <a:lnSpc>
                <a:spcPct val="100000"/>
              </a:lnSpc>
              <a:buFont typeface="Arial MT"/>
              <a:buChar char="•"/>
              <a:tabLst>
                <a:tab pos="350520" algn="l"/>
              </a:tabLst>
            </a:pP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female </a:t>
            </a:r>
            <a:r>
              <a:rPr dirty="0" sz="1200">
                <a:latin typeface="Calibri"/>
                <a:cs typeface="Calibri"/>
              </a:rPr>
              <a:t>population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areas</a:t>
            </a:r>
            <a:endParaRPr sz="1200">
              <a:latin typeface="Calibri"/>
              <a:cs typeface="Calibri"/>
            </a:endParaRPr>
          </a:p>
          <a:p>
            <a:pPr marL="351790" indent="-173355">
              <a:lnSpc>
                <a:spcPct val="100000"/>
              </a:lnSpc>
              <a:buFont typeface="Arial MT"/>
              <a:buChar char="•"/>
              <a:tabLst>
                <a:tab pos="351790" algn="l"/>
              </a:tabLst>
            </a:pPr>
            <a:r>
              <a:rPr dirty="0" sz="1200">
                <a:latin typeface="Calibri"/>
                <a:cs typeface="Calibri"/>
              </a:rPr>
              <a:t>Agriculture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prominent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occupation</a:t>
            </a:r>
            <a:endParaRPr sz="1200">
              <a:latin typeface="Calibri"/>
              <a:cs typeface="Calibri"/>
            </a:endParaRPr>
          </a:p>
          <a:p>
            <a:pPr marL="351790" indent="-173355">
              <a:lnSpc>
                <a:spcPct val="100000"/>
              </a:lnSpc>
              <a:buFont typeface="Arial MT"/>
              <a:buChar char="•"/>
              <a:tabLst>
                <a:tab pos="351790" algn="l"/>
              </a:tabLst>
            </a:pPr>
            <a:r>
              <a:rPr dirty="0" sz="1200">
                <a:latin typeface="Calibri"/>
                <a:cs typeface="Calibri"/>
              </a:rPr>
              <a:t>Absence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MFIs</a:t>
            </a:r>
            <a:endParaRPr sz="1200">
              <a:latin typeface="Calibri"/>
              <a:cs typeface="Calibri"/>
            </a:endParaRPr>
          </a:p>
          <a:p>
            <a:pPr marL="351155" indent="-172720">
              <a:lnSpc>
                <a:spcPct val="100000"/>
              </a:lnSpc>
              <a:buFont typeface="Arial MT"/>
              <a:buChar char="•"/>
              <a:tabLst>
                <a:tab pos="351155" algn="l"/>
              </a:tabLst>
            </a:pPr>
            <a:r>
              <a:rPr dirty="0" sz="1200">
                <a:latin typeface="Calibri"/>
                <a:cs typeface="Calibri"/>
              </a:rPr>
              <a:t>Absence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civil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conflicts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Arial MT"/>
              <a:buChar char="•"/>
            </a:pPr>
            <a:endParaRPr sz="1200">
              <a:latin typeface="Calibri"/>
              <a:cs typeface="Calibri"/>
            </a:endParaRPr>
          </a:p>
          <a:p>
            <a:pPr marL="178435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IRRIGATION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FACILITY</a:t>
            </a:r>
            <a:endParaRPr sz="1200">
              <a:latin typeface="Calibri"/>
              <a:cs typeface="Calibri"/>
            </a:endParaRPr>
          </a:p>
          <a:p>
            <a:pPr marL="350520" marR="142240" indent="-172720">
              <a:lnSpc>
                <a:spcPct val="100000"/>
              </a:lnSpc>
              <a:buFont typeface="Arial MT"/>
              <a:buChar char="•"/>
              <a:tabLst>
                <a:tab pos="350520" algn="l"/>
              </a:tabLst>
            </a:pPr>
            <a:r>
              <a:rPr dirty="0" sz="1200" spc="-10">
                <a:latin typeface="Calibri"/>
                <a:cs typeface="Calibri"/>
              </a:rPr>
              <a:t>Introduction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Subak’s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enhance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current irrigation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facilities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Asset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Lending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aspect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Lending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2091308"/>
            <a:ext cx="12179300" cy="4472940"/>
            <a:chOff x="0" y="2091308"/>
            <a:chExt cx="12179300" cy="4472940"/>
          </a:xfrm>
        </p:grpSpPr>
        <p:sp>
          <p:nvSpPr>
            <p:cNvPr id="40" name="object 40"/>
            <p:cNvSpPr/>
            <p:nvPr/>
          </p:nvSpPr>
          <p:spPr>
            <a:xfrm>
              <a:off x="8510778" y="2100833"/>
              <a:ext cx="2531745" cy="1501140"/>
            </a:xfrm>
            <a:custGeom>
              <a:avLst/>
              <a:gdLst/>
              <a:ahLst/>
              <a:cxnLst/>
              <a:rect l="l" t="t" r="r" b="b"/>
              <a:pathLst>
                <a:path w="2531745" h="1501139">
                  <a:moveTo>
                    <a:pt x="824229" y="820292"/>
                  </a:moveTo>
                  <a:lnTo>
                    <a:pt x="25526" y="820292"/>
                  </a:lnTo>
                  <a:lnTo>
                    <a:pt x="25526" y="22860"/>
                  </a:lnTo>
                  <a:lnTo>
                    <a:pt x="0" y="22860"/>
                  </a:lnTo>
                </a:path>
                <a:path w="2531745" h="1501139">
                  <a:moveTo>
                    <a:pt x="1507236" y="956563"/>
                  </a:moveTo>
                  <a:lnTo>
                    <a:pt x="1399286" y="956563"/>
                  </a:lnTo>
                  <a:lnTo>
                    <a:pt x="1399286" y="489203"/>
                  </a:lnTo>
                  <a:lnTo>
                    <a:pt x="1399031" y="489203"/>
                  </a:lnTo>
                  <a:lnTo>
                    <a:pt x="1399031" y="0"/>
                  </a:lnTo>
                </a:path>
                <a:path w="2531745" h="1501139">
                  <a:moveTo>
                    <a:pt x="1592579" y="1501013"/>
                  </a:moveTo>
                  <a:lnTo>
                    <a:pt x="2531745" y="1501013"/>
                  </a:lnTo>
                  <a:lnTo>
                    <a:pt x="2531745" y="22860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81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40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xfrm>
            <a:off x="189992" y="31750"/>
            <a:ext cx="580961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Roadmap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Responsible</a:t>
            </a:r>
            <a:r>
              <a:rPr dirty="0" spc="-15"/>
              <a:t> </a:t>
            </a:r>
            <a:r>
              <a:rPr dirty="0" spc="-10"/>
              <a:t>Organisational</a:t>
            </a:r>
            <a:r>
              <a:rPr dirty="0" spc="-20"/>
              <a:t> </a:t>
            </a:r>
            <a:r>
              <a:rPr dirty="0" spc="-10"/>
              <a:t>Profitability</a:t>
            </a:r>
            <a:r>
              <a:rPr dirty="0" spc="-50"/>
              <a:t> </a:t>
            </a:r>
            <a:r>
              <a:rPr dirty="0" spc="-10"/>
              <a:t>Increase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89992" y="307594"/>
            <a:ext cx="446151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Division</a:t>
            </a:r>
            <a:r>
              <a:rPr dirty="0" sz="17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strategies</a:t>
            </a:r>
            <a:r>
              <a:rPr dirty="0" sz="1700" spc="-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1700" spc="-3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phases</a:t>
            </a:r>
            <a:r>
              <a:rPr dirty="0" sz="1700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dirty="0" sz="1700" spc="-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implementation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5083" y="6576161"/>
            <a:ext cx="19272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</a:tabLst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OVERVIEW</a:t>
            </a:r>
            <a:r>
              <a:rPr dirty="0" sz="1400" b="1">
                <a:solidFill>
                  <a:srgbClr val="385622"/>
                </a:solidFill>
                <a:latin typeface="Calibri"/>
                <a:cs typeface="Calibri"/>
              </a:rPr>
              <a:t>	</a:t>
            </a:r>
            <a:r>
              <a:rPr dirty="0" baseline="1984" sz="2100" spc="-15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baseline="1984" sz="2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Nature Lover's Guide to Bali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76760" cy="6858000"/>
          </a:xfrm>
          <a:custGeom>
            <a:avLst/>
            <a:gdLst/>
            <a:ahLst/>
            <a:cxnLst/>
            <a:rect l="l" t="t" r="r" b="b"/>
            <a:pathLst>
              <a:path w="12176760" h="6858000">
                <a:moveTo>
                  <a:pt x="0" y="6858000"/>
                </a:moveTo>
                <a:lnTo>
                  <a:pt x="12176760" y="6858000"/>
                </a:lnTo>
                <a:lnTo>
                  <a:pt x="1217676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65853" y="1611248"/>
            <a:ext cx="386143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Mitra</a:t>
            </a:r>
            <a:r>
              <a:rPr dirty="0" sz="6000" spc="-290">
                <a:solidFill>
                  <a:srgbClr val="FFFFFF"/>
                </a:solidFill>
              </a:rPr>
              <a:t> </a:t>
            </a:r>
            <a:r>
              <a:rPr dirty="0" sz="6000" spc="-10">
                <a:solidFill>
                  <a:srgbClr val="FFFFFF"/>
                </a:solidFill>
              </a:rPr>
              <a:t>Kredit</a:t>
            </a:r>
            <a:endParaRPr sz="6000"/>
          </a:p>
        </p:txBody>
      </p:sp>
      <p:sp>
        <p:nvSpPr>
          <p:cNvPr id="5" name="object 5"/>
          <p:cNvSpPr/>
          <p:nvPr/>
        </p:nvSpPr>
        <p:spPr>
          <a:xfrm>
            <a:off x="2851404" y="2638044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585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42617" y="2861309"/>
            <a:ext cx="8902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Optimizing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UFH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microfinance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accessible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843009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59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29739" y="4169664"/>
            <a:ext cx="1367155" cy="1367155"/>
          </a:xfrm>
          <a:custGeom>
            <a:avLst/>
            <a:gdLst/>
            <a:ahLst/>
            <a:cxnLst/>
            <a:rect l="l" t="t" r="r" b="b"/>
            <a:pathLst>
              <a:path w="1367155" h="1367154">
                <a:moveTo>
                  <a:pt x="0" y="683513"/>
                </a:moveTo>
                <a:lnTo>
                  <a:pt x="1716" y="634706"/>
                </a:lnTo>
                <a:lnTo>
                  <a:pt x="6788" y="586823"/>
                </a:lnTo>
                <a:lnTo>
                  <a:pt x="15100" y="539982"/>
                </a:lnTo>
                <a:lnTo>
                  <a:pt x="26537" y="494297"/>
                </a:lnTo>
                <a:lnTo>
                  <a:pt x="40982" y="449885"/>
                </a:lnTo>
                <a:lnTo>
                  <a:pt x="58320" y="406861"/>
                </a:lnTo>
                <a:lnTo>
                  <a:pt x="78435" y="365341"/>
                </a:lnTo>
                <a:lnTo>
                  <a:pt x="101211" y="325440"/>
                </a:lnTo>
                <a:lnTo>
                  <a:pt x="126533" y="287275"/>
                </a:lnTo>
                <a:lnTo>
                  <a:pt x="154285" y="250962"/>
                </a:lnTo>
                <a:lnTo>
                  <a:pt x="184350" y="216615"/>
                </a:lnTo>
                <a:lnTo>
                  <a:pt x="216615" y="184350"/>
                </a:lnTo>
                <a:lnTo>
                  <a:pt x="250962" y="154285"/>
                </a:lnTo>
                <a:lnTo>
                  <a:pt x="287275" y="126533"/>
                </a:lnTo>
                <a:lnTo>
                  <a:pt x="325440" y="101211"/>
                </a:lnTo>
                <a:lnTo>
                  <a:pt x="365341" y="78435"/>
                </a:lnTo>
                <a:lnTo>
                  <a:pt x="406861" y="58320"/>
                </a:lnTo>
                <a:lnTo>
                  <a:pt x="449885" y="40982"/>
                </a:lnTo>
                <a:lnTo>
                  <a:pt x="494297" y="26537"/>
                </a:lnTo>
                <a:lnTo>
                  <a:pt x="539982" y="15100"/>
                </a:lnTo>
                <a:lnTo>
                  <a:pt x="586823" y="6788"/>
                </a:lnTo>
                <a:lnTo>
                  <a:pt x="634706" y="1716"/>
                </a:lnTo>
                <a:lnTo>
                  <a:pt x="683514" y="0"/>
                </a:lnTo>
                <a:lnTo>
                  <a:pt x="732321" y="1716"/>
                </a:lnTo>
                <a:lnTo>
                  <a:pt x="780204" y="6788"/>
                </a:lnTo>
                <a:lnTo>
                  <a:pt x="827045" y="15100"/>
                </a:lnTo>
                <a:lnTo>
                  <a:pt x="872730" y="26537"/>
                </a:lnTo>
                <a:lnTo>
                  <a:pt x="917142" y="40982"/>
                </a:lnTo>
                <a:lnTo>
                  <a:pt x="960166" y="58320"/>
                </a:lnTo>
                <a:lnTo>
                  <a:pt x="1001686" y="78435"/>
                </a:lnTo>
                <a:lnTo>
                  <a:pt x="1041587" y="101211"/>
                </a:lnTo>
                <a:lnTo>
                  <a:pt x="1079752" y="126533"/>
                </a:lnTo>
                <a:lnTo>
                  <a:pt x="1116065" y="154285"/>
                </a:lnTo>
                <a:lnTo>
                  <a:pt x="1150412" y="184350"/>
                </a:lnTo>
                <a:lnTo>
                  <a:pt x="1182677" y="216615"/>
                </a:lnTo>
                <a:lnTo>
                  <a:pt x="1212742" y="250962"/>
                </a:lnTo>
                <a:lnTo>
                  <a:pt x="1240494" y="287275"/>
                </a:lnTo>
                <a:lnTo>
                  <a:pt x="1265816" y="325440"/>
                </a:lnTo>
                <a:lnTo>
                  <a:pt x="1288592" y="365341"/>
                </a:lnTo>
                <a:lnTo>
                  <a:pt x="1308707" y="406861"/>
                </a:lnTo>
                <a:lnTo>
                  <a:pt x="1326045" y="449885"/>
                </a:lnTo>
                <a:lnTo>
                  <a:pt x="1340490" y="494297"/>
                </a:lnTo>
                <a:lnTo>
                  <a:pt x="1351927" y="539982"/>
                </a:lnTo>
                <a:lnTo>
                  <a:pt x="1360239" y="586823"/>
                </a:lnTo>
                <a:lnTo>
                  <a:pt x="1365311" y="634706"/>
                </a:lnTo>
                <a:lnTo>
                  <a:pt x="1367028" y="683513"/>
                </a:lnTo>
                <a:lnTo>
                  <a:pt x="1365311" y="732321"/>
                </a:lnTo>
                <a:lnTo>
                  <a:pt x="1360239" y="780204"/>
                </a:lnTo>
                <a:lnTo>
                  <a:pt x="1351927" y="827045"/>
                </a:lnTo>
                <a:lnTo>
                  <a:pt x="1340490" y="872730"/>
                </a:lnTo>
                <a:lnTo>
                  <a:pt x="1326045" y="917142"/>
                </a:lnTo>
                <a:lnTo>
                  <a:pt x="1308707" y="960166"/>
                </a:lnTo>
                <a:lnTo>
                  <a:pt x="1288592" y="1001686"/>
                </a:lnTo>
                <a:lnTo>
                  <a:pt x="1265816" y="1041587"/>
                </a:lnTo>
                <a:lnTo>
                  <a:pt x="1240494" y="1079752"/>
                </a:lnTo>
                <a:lnTo>
                  <a:pt x="1212742" y="1116065"/>
                </a:lnTo>
                <a:lnTo>
                  <a:pt x="1182677" y="1150412"/>
                </a:lnTo>
                <a:lnTo>
                  <a:pt x="1150412" y="1182677"/>
                </a:lnTo>
                <a:lnTo>
                  <a:pt x="1116065" y="1212742"/>
                </a:lnTo>
                <a:lnTo>
                  <a:pt x="1079752" y="1240494"/>
                </a:lnTo>
                <a:lnTo>
                  <a:pt x="1041587" y="1265816"/>
                </a:lnTo>
                <a:lnTo>
                  <a:pt x="1001686" y="1288592"/>
                </a:lnTo>
                <a:lnTo>
                  <a:pt x="960166" y="1308707"/>
                </a:lnTo>
                <a:lnTo>
                  <a:pt x="917142" y="1326045"/>
                </a:lnTo>
                <a:lnTo>
                  <a:pt x="872730" y="1340490"/>
                </a:lnTo>
                <a:lnTo>
                  <a:pt x="827045" y="1351927"/>
                </a:lnTo>
                <a:lnTo>
                  <a:pt x="780204" y="1360239"/>
                </a:lnTo>
                <a:lnTo>
                  <a:pt x="732321" y="1365311"/>
                </a:lnTo>
                <a:lnTo>
                  <a:pt x="683514" y="1367028"/>
                </a:lnTo>
                <a:lnTo>
                  <a:pt x="634706" y="1365311"/>
                </a:lnTo>
                <a:lnTo>
                  <a:pt x="586823" y="1360239"/>
                </a:lnTo>
                <a:lnTo>
                  <a:pt x="539982" y="1351927"/>
                </a:lnTo>
                <a:lnTo>
                  <a:pt x="494297" y="1340490"/>
                </a:lnTo>
                <a:lnTo>
                  <a:pt x="449885" y="1326045"/>
                </a:lnTo>
                <a:lnTo>
                  <a:pt x="406861" y="1308707"/>
                </a:lnTo>
                <a:lnTo>
                  <a:pt x="365341" y="1288592"/>
                </a:lnTo>
                <a:lnTo>
                  <a:pt x="325440" y="1265816"/>
                </a:lnTo>
                <a:lnTo>
                  <a:pt x="287275" y="1240494"/>
                </a:lnTo>
                <a:lnTo>
                  <a:pt x="250962" y="1212742"/>
                </a:lnTo>
                <a:lnTo>
                  <a:pt x="216615" y="1182677"/>
                </a:lnTo>
                <a:lnTo>
                  <a:pt x="184350" y="1150412"/>
                </a:lnTo>
                <a:lnTo>
                  <a:pt x="154285" y="1116065"/>
                </a:lnTo>
                <a:lnTo>
                  <a:pt x="126533" y="1079752"/>
                </a:lnTo>
                <a:lnTo>
                  <a:pt x="101211" y="1041587"/>
                </a:lnTo>
                <a:lnTo>
                  <a:pt x="78435" y="1001686"/>
                </a:lnTo>
                <a:lnTo>
                  <a:pt x="58320" y="960166"/>
                </a:lnTo>
                <a:lnTo>
                  <a:pt x="40982" y="917142"/>
                </a:lnTo>
                <a:lnTo>
                  <a:pt x="26537" y="872730"/>
                </a:lnTo>
                <a:lnTo>
                  <a:pt x="15100" y="827045"/>
                </a:lnTo>
                <a:lnTo>
                  <a:pt x="6788" y="780204"/>
                </a:lnTo>
                <a:lnTo>
                  <a:pt x="1716" y="732321"/>
                </a:lnTo>
                <a:lnTo>
                  <a:pt x="0" y="683513"/>
                </a:lnTo>
                <a:close/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98797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60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74714" y="4170426"/>
            <a:ext cx="1367155" cy="1367155"/>
          </a:xfrm>
          <a:custGeom>
            <a:avLst/>
            <a:gdLst/>
            <a:ahLst/>
            <a:cxnLst/>
            <a:rect l="l" t="t" r="r" b="b"/>
            <a:pathLst>
              <a:path w="1367154" h="1367154">
                <a:moveTo>
                  <a:pt x="0" y="683513"/>
                </a:moveTo>
                <a:lnTo>
                  <a:pt x="1716" y="634706"/>
                </a:lnTo>
                <a:lnTo>
                  <a:pt x="6788" y="586823"/>
                </a:lnTo>
                <a:lnTo>
                  <a:pt x="15100" y="539982"/>
                </a:lnTo>
                <a:lnTo>
                  <a:pt x="26537" y="494297"/>
                </a:lnTo>
                <a:lnTo>
                  <a:pt x="40982" y="449885"/>
                </a:lnTo>
                <a:lnTo>
                  <a:pt x="58320" y="406861"/>
                </a:lnTo>
                <a:lnTo>
                  <a:pt x="78435" y="365341"/>
                </a:lnTo>
                <a:lnTo>
                  <a:pt x="101211" y="325440"/>
                </a:lnTo>
                <a:lnTo>
                  <a:pt x="126533" y="287275"/>
                </a:lnTo>
                <a:lnTo>
                  <a:pt x="154285" y="250962"/>
                </a:lnTo>
                <a:lnTo>
                  <a:pt x="184350" y="216615"/>
                </a:lnTo>
                <a:lnTo>
                  <a:pt x="216615" y="184350"/>
                </a:lnTo>
                <a:lnTo>
                  <a:pt x="250962" y="154285"/>
                </a:lnTo>
                <a:lnTo>
                  <a:pt x="287275" y="126533"/>
                </a:lnTo>
                <a:lnTo>
                  <a:pt x="325440" y="101211"/>
                </a:lnTo>
                <a:lnTo>
                  <a:pt x="365341" y="78435"/>
                </a:lnTo>
                <a:lnTo>
                  <a:pt x="406861" y="58320"/>
                </a:lnTo>
                <a:lnTo>
                  <a:pt x="449885" y="40982"/>
                </a:lnTo>
                <a:lnTo>
                  <a:pt x="494297" y="26537"/>
                </a:lnTo>
                <a:lnTo>
                  <a:pt x="539982" y="15100"/>
                </a:lnTo>
                <a:lnTo>
                  <a:pt x="586823" y="6788"/>
                </a:lnTo>
                <a:lnTo>
                  <a:pt x="634706" y="1716"/>
                </a:lnTo>
                <a:lnTo>
                  <a:pt x="683513" y="0"/>
                </a:lnTo>
                <a:lnTo>
                  <a:pt x="732321" y="1716"/>
                </a:lnTo>
                <a:lnTo>
                  <a:pt x="780204" y="6788"/>
                </a:lnTo>
                <a:lnTo>
                  <a:pt x="827045" y="15100"/>
                </a:lnTo>
                <a:lnTo>
                  <a:pt x="872730" y="26537"/>
                </a:lnTo>
                <a:lnTo>
                  <a:pt x="917142" y="40982"/>
                </a:lnTo>
                <a:lnTo>
                  <a:pt x="960166" y="58320"/>
                </a:lnTo>
                <a:lnTo>
                  <a:pt x="1001686" y="78435"/>
                </a:lnTo>
                <a:lnTo>
                  <a:pt x="1041587" y="101211"/>
                </a:lnTo>
                <a:lnTo>
                  <a:pt x="1079752" y="126533"/>
                </a:lnTo>
                <a:lnTo>
                  <a:pt x="1116065" y="154285"/>
                </a:lnTo>
                <a:lnTo>
                  <a:pt x="1150412" y="184350"/>
                </a:lnTo>
                <a:lnTo>
                  <a:pt x="1182677" y="216615"/>
                </a:lnTo>
                <a:lnTo>
                  <a:pt x="1212742" y="250962"/>
                </a:lnTo>
                <a:lnTo>
                  <a:pt x="1240494" y="287275"/>
                </a:lnTo>
                <a:lnTo>
                  <a:pt x="1265816" y="325440"/>
                </a:lnTo>
                <a:lnTo>
                  <a:pt x="1288592" y="365341"/>
                </a:lnTo>
                <a:lnTo>
                  <a:pt x="1308707" y="406861"/>
                </a:lnTo>
                <a:lnTo>
                  <a:pt x="1326045" y="449885"/>
                </a:lnTo>
                <a:lnTo>
                  <a:pt x="1340490" y="494297"/>
                </a:lnTo>
                <a:lnTo>
                  <a:pt x="1351927" y="539982"/>
                </a:lnTo>
                <a:lnTo>
                  <a:pt x="1360239" y="586823"/>
                </a:lnTo>
                <a:lnTo>
                  <a:pt x="1365311" y="634706"/>
                </a:lnTo>
                <a:lnTo>
                  <a:pt x="1367028" y="683513"/>
                </a:lnTo>
                <a:lnTo>
                  <a:pt x="1365311" y="732321"/>
                </a:lnTo>
                <a:lnTo>
                  <a:pt x="1360239" y="780204"/>
                </a:lnTo>
                <a:lnTo>
                  <a:pt x="1351927" y="827045"/>
                </a:lnTo>
                <a:lnTo>
                  <a:pt x="1340490" y="872730"/>
                </a:lnTo>
                <a:lnTo>
                  <a:pt x="1326045" y="917142"/>
                </a:lnTo>
                <a:lnTo>
                  <a:pt x="1308707" y="960166"/>
                </a:lnTo>
                <a:lnTo>
                  <a:pt x="1288592" y="1001686"/>
                </a:lnTo>
                <a:lnTo>
                  <a:pt x="1265816" y="1041587"/>
                </a:lnTo>
                <a:lnTo>
                  <a:pt x="1240494" y="1079752"/>
                </a:lnTo>
                <a:lnTo>
                  <a:pt x="1212742" y="1116065"/>
                </a:lnTo>
                <a:lnTo>
                  <a:pt x="1182677" y="1150412"/>
                </a:lnTo>
                <a:lnTo>
                  <a:pt x="1150412" y="1182677"/>
                </a:lnTo>
                <a:lnTo>
                  <a:pt x="1116065" y="1212742"/>
                </a:lnTo>
                <a:lnTo>
                  <a:pt x="1079752" y="1240494"/>
                </a:lnTo>
                <a:lnTo>
                  <a:pt x="1041587" y="1265816"/>
                </a:lnTo>
                <a:lnTo>
                  <a:pt x="1001686" y="1288592"/>
                </a:lnTo>
                <a:lnTo>
                  <a:pt x="960166" y="1308707"/>
                </a:lnTo>
                <a:lnTo>
                  <a:pt x="917142" y="1326045"/>
                </a:lnTo>
                <a:lnTo>
                  <a:pt x="872730" y="1340490"/>
                </a:lnTo>
                <a:lnTo>
                  <a:pt x="827045" y="1351927"/>
                </a:lnTo>
                <a:lnTo>
                  <a:pt x="780204" y="1360239"/>
                </a:lnTo>
                <a:lnTo>
                  <a:pt x="732321" y="1365311"/>
                </a:lnTo>
                <a:lnTo>
                  <a:pt x="683513" y="1367028"/>
                </a:lnTo>
                <a:lnTo>
                  <a:pt x="634706" y="1365311"/>
                </a:lnTo>
                <a:lnTo>
                  <a:pt x="586823" y="1360239"/>
                </a:lnTo>
                <a:lnTo>
                  <a:pt x="539982" y="1351927"/>
                </a:lnTo>
                <a:lnTo>
                  <a:pt x="494297" y="1340490"/>
                </a:lnTo>
                <a:lnTo>
                  <a:pt x="449885" y="1326045"/>
                </a:lnTo>
                <a:lnTo>
                  <a:pt x="406861" y="1308707"/>
                </a:lnTo>
                <a:lnTo>
                  <a:pt x="365341" y="1288592"/>
                </a:lnTo>
                <a:lnTo>
                  <a:pt x="325440" y="1265816"/>
                </a:lnTo>
                <a:lnTo>
                  <a:pt x="287275" y="1240494"/>
                </a:lnTo>
                <a:lnTo>
                  <a:pt x="250962" y="1212742"/>
                </a:lnTo>
                <a:lnTo>
                  <a:pt x="216615" y="1182677"/>
                </a:lnTo>
                <a:lnTo>
                  <a:pt x="184350" y="1150412"/>
                </a:lnTo>
                <a:lnTo>
                  <a:pt x="154285" y="1116065"/>
                </a:lnTo>
                <a:lnTo>
                  <a:pt x="126533" y="1079752"/>
                </a:lnTo>
                <a:lnTo>
                  <a:pt x="101211" y="1041587"/>
                </a:lnTo>
                <a:lnTo>
                  <a:pt x="78435" y="1001686"/>
                </a:lnTo>
                <a:lnTo>
                  <a:pt x="58320" y="960166"/>
                </a:lnTo>
                <a:lnTo>
                  <a:pt x="40982" y="917142"/>
                </a:lnTo>
                <a:lnTo>
                  <a:pt x="26537" y="872730"/>
                </a:lnTo>
                <a:lnTo>
                  <a:pt x="15100" y="827045"/>
                </a:lnTo>
                <a:lnTo>
                  <a:pt x="6788" y="780204"/>
                </a:lnTo>
                <a:lnTo>
                  <a:pt x="1716" y="732321"/>
                </a:lnTo>
                <a:lnTo>
                  <a:pt x="0" y="683513"/>
                </a:lnTo>
                <a:close/>
              </a:path>
            </a:pathLst>
          </a:custGeom>
          <a:ln w="2857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55901" y="4465701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2966" y="5633110"/>
            <a:ext cx="155257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6703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FinTech Collaborations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2582" y="5633110"/>
            <a:ext cx="8020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0485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Credit Ratings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2641" y="5633110"/>
            <a:ext cx="101854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marR="5080" indent="-8128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1821" y="4465701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0747" y="4465701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87993" y="4554092"/>
            <a:ext cx="877569" cy="171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4400">
              <a:latin typeface="Calibri"/>
              <a:cs typeface="Calibri"/>
            </a:endParaRPr>
          </a:p>
          <a:p>
            <a:pPr marL="117475" marR="5080" indent="-105410">
              <a:lnSpc>
                <a:spcPct val="100000"/>
              </a:lnSpc>
              <a:spcBef>
                <a:spcPts val="322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Modern Subak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258" y="1311910"/>
            <a:ext cx="11658600" cy="4993640"/>
            <a:chOff x="163258" y="1311910"/>
            <a:chExt cx="11658600" cy="4993640"/>
          </a:xfrm>
        </p:grpSpPr>
        <p:sp>
          <p:nvSpPr>
            <p:cNvPr id="3" name="object 3"/>
            <p:cNvSpPr/>
            <p:nvPr/>
          </p:nvSpPr>
          <p:spPr>
            <a:xfrm>
              <a:off x="177545" y="2745486"/>
              <a:ext cx="11630025" cy="914400"/>
            </a:xfrm>
            <a:custGeom>
              <a:avLst/>
              <a:gdLst/>
              <a:ahLst/>
              <a:cxnLst/>
              <a:rect l="l" t="t" r="r" b="b"/>
              <a:pathLst>
                <a:path w="11630025" h="914400">
                  <a:moveTo>
                    <a:pt x="0" y="914400"/>
                  </a:moveTo>
                  <a:lnTo>
                    <a:pt x="11629644" y="914400"/>
                  </a:lnTo>
                  <a:lnTo>
                    <a:pt x="1162964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83311" y="1311910"/>
              <a:ext cx="11430000" cy="4993640"/>
            </a:xfrm>
            <a:custGeom>
              <a:avLst/>
              <a:gdLst/>
              <a:ahLst/>
              <a:cxnLst/>
              <a:rect l="l" t="t" r="r" b="b"/>
              <a:pathLst>
                <a:path w="11430000" h="4993640">
                  <a:moveTo>
                    <a:pt x="1810994" y="0"/>
                  </a:moveTo>
                  <a:lnTo>
                    <a:pt x="1810994" y="4993386"/>
                  </a:lnTo>
                </a:path>
                <a:path w="11430000" h="4993640">
                  <a:moveTo>
                    <a:pt x="4081373" y="0"/>
                  </a:moveTo>
                  <a:lnTo>
                    <a:pt x="4081373" y="4993386"/>
                  </a:lnTo>
                </a:path>
                <a:path w="11430000" h="4993640">
                  <a:moveTo>
                    <a:pt x="5844895" y="0"/>
                  </a:moveTo>
                  <a:lnTo>
                    <a:pt x="5844895" y="4993386"/>
                  </a:lnTo>
                </a:path>
                <a:path w="11430000" h="4993640">
                  <a:moveTo>
                    <a:pt x="7656296" y="0"/>
                  </a:moveTo>
                  <a:lnTo>
                    <a:pt x="7656296" y="4993386"/>
                  </a:lnTo>
                </a:path>
                <a:path w="11430000" h="4993640">
                  <a:moveTo>
                    <a:pt x="9467697" y="0"/>
                  </a:moveTo>
                  <a:lnTo>
                    <a:pt x="9467697" y="4993386"/>
                  </a:lnTo>
                </a:path>
                <a:path w="11430000" h="4993640">
                  <a:moveTo>
                    <a:pt x="0" y="1279525"/>
                  </a:moveTo>
                  <a:lnTo>
                    <a:pt x="11429847" y="1279525"/>
                  </a:lnTo>
                </a:path>
                <a:path w="11430000" h="4993640">
                  <a:moveTo>
                    <a:pt x="0" y="2559050"/>
                  </a:moveTo>
                  <a:lnTo>
                    <a:pt x="11429847" y="2559050"/>
                  </a:lnTo>
                </a:path>
                <a:path w="11430000" h="4993640">
                  <a:moveTo>
                    <a:pt x="0" y="3838448"/>
                  </a:moveTo>
                  <a:lnTo>
                    <a:pt x="11429847" y="3838448"/>
                  </a:lnTo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23340" y="882776"/>
            <a:ext cx="8464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63906F"/>
                </a:solidFill>
                <a:latin typeface="Calibri"/>
                <a:cs typeface="Calibri"/>
              </a:rPr>
              <a:t>Companies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7998" y="774953"/>
            <a:ext cx="117919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63906F"/>
                </a:solidFill>
                <a:latin typeface="Calibri"/>
                <a:cs typeface="Calibri"/>
              </a:rPr>
              <a:t>Low</a:t>
            </a:r>
            <a:r>
              <a:rPr dirty="0" sz="1400" spc="-30" b="1">
                <a:solidFill>
                  <a:srgbClr val="63906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63906F"/>
                </a:solidFill>
                <a:latin typeface="Calibri"/>
                <a:cs typeface="Calibri"/>
              </a:rPr>
              <a:t>Bandwidth Productivity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7590" y="774953"/>
            <a:ext cx="92964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302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63906F"/>
                </a:solidFill>
                <a:latin typeface="Calibri"/>
                <a:cs typeface="Calibri"/>
              </a:rPr>
              <a:t>Automated upgradation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6375" y="882776"/>
            <a:ext cx="10617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63906F"/>
                </a:solidFill>
                <a:latin typeface="Calibri"/>
                <a:cs typeface="Calibri"/>
              </a:rPr>
              <a:t>MIS</a:t>
            </a:r>
            <a:r>
              <a:rPr dirty="0" sz="1400" spc="-10" b="1">
                <a:solidFill>
                  <a:srgbClr val="63906F"/>
                </a:solidFill>
                <a:latin typeface="Calibri"/>
                <a:cs typeface="Calibri"/>
              </a:rPr>
              <a:t> efficiency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36122" y="882776"/>
            <a:ext cx="3479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63906F"/>
                </a:solidFill>
                <a:latin typeface="Calibri"/>
                <a:cs typeface="Calibri"/>
              </a:rPr>
              <a:t>Cost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98585" y="882776"/>
            <a:ext cx="10052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63906F"/>
                </a:solidFill>
                <a:latin typeface="Calibri"/>
                <a:cs typeface="Calibri"/>
              </a:rPr>
              <a:t>User</a:t>
            </a:r>
            <a:r>
              <a:rPr dirty="0" sz="1400" spc="-30" b="1">
                <a:solidFill>
                  <a:srgbClr val="63906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63906F"/>
                </a:solidFill>
                <a:latin typeface="Calibri"/>
                <a:cs typeface="Calibri"/>
              </a:rPr>
              <a:t>Friendly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 descr="TBOP Pte Ltd | Singapore Singapo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768" y="2975426"/>
            <a:ext cx="1490471" cy="484109"/>
          </a:xfrm>
          <a:prstGeom prst="rect">
            <a:avLst/>
          </a:prstGeom>
        </p:spPr>
      </p:pic>
      <p:pic>
        <p:nvPicPr>
          <p:cNvPr id="13" name="object 13" descr="Mekar - Fund loans to small Indonesian businesses, earn up to 10% flat  p.a., get 100% principal protecti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236" y="4081297"/>
            <a:ext cx="797613" cy="799439"/>
          </a:xfrm>
          <a:prstGeom prst="rect">
            <a:avLst/>
          </a:prstGeom>
        </p:spPr>
      </p:pic>
      <p:pic>
        <p:nvPicPr>
          <p:cNvPr id="14" name="object 14" descr="Amartha Microfinance - APK Download for Android | Aptoid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594" y="5325018"/>
            <a:ext cx="772342" cy="77234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823722" y="1241297"/>
            <a:ext cx="1097915" cy="0"/>
          </a:xfrm>
          <a:custGeom>
            <a:avLst/>
            <a:gdLst/>
            <a:ahLst/>
            <a:cxnLst/>
            <a:rect l="l" t="t" r="r" b="b"/>
            <a:pathLst>
              <a:path w="1097914" h="0">
                <a:moveTo>
                  <a:pt x="0" y="0"/>
                </a:moveTo>
                <a:lnTo>
                  <a:pt x="1097788" y="0"/>
                </a:lnTo>
              </a:path>
            </a:pathLst>
          </a:custGeom>
          <a:ln w="28575">
            <a:solidFill>
              <a:srgbClr val="6390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04338" y="1241297"/>
            <a:ext cx="1229360" cy="0"/>
          </a:xfrm>
          <a:custGeom>
            <a:avLst/>
            <a:gdLst/>
            <a:ahLst/>
            <a:cxnLst/>
            <a:rect l="l" t="t" r="r" b="b"/>
            <a:pathLst>
              <a:path w="1229360" h="0">
                <a:moveTo>
                  <a:pt x="0" y="0"/>
                </a:moveTo>
                <a:lnTo>
                  <a:pt x="1228852" y="0"/>
                </a:lnTo>
              </a:path>
            </a:pathLst>
          </a:custGeom>
          <a:ln w="28575">
            <a:solidFill>
              <a:srgbClr val="6390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80965" y="1241297"/>
            <a:ext cx="1229360" cy="0"/>
          </a:xfrm>
          <a:custGeom>
            <a:avLst/>
            <a:gdLst/>
            <a:ahLst/>
            <a:cxnLst/>
            <a:rect l="l" t="t" r="r" b="b"/>
            <a:pathLst>
              <a:path w="1229360" h="0">
                <a:moveTo>
                  <a:pt x="0" y="0"/>
                </a:moveTo>
                <a:lnTo>
                  <a:pt x="1228852" y="0"/>
                </a:lnTo>
              </a:path>
            </a:pathLst>
          </a:custGeom>
          <a:ln w="28575">
            <a:solidFill>
              <a:srgbClr val="6390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73190" y="1241297"/>
            <a:ext cx="1229360" cy="0"/>
          </a:xfrm>
          <a:custGeom>
            <a:avLst/>
            <a:gdLst/>
            <a:ahLst/>
            <a:cxnLst/>
            <a:rect l="l" t="t" r="r" b="b"/>
            <a:pathLst>
              <a:path w="1229359" h="0">
                <a:moveTo>
                  <a:pt x="0" y="0"/>
                </a:moveTo>
                <a:lnTo>
                  <a:pt x="1228852" y="0"/>
                </a:lnTo>
              </a:path>
            </a:pathLst>
          </a:custGeom>
          <a:ln w="28575">
            <a:solidFill>
              <a:srgbClr val="6390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87333" y="1241297"/>
            <a:ext cx="1229360" cy="0"/>
          </a:xfrm>
          <a:custGeom>
            <a:avLst/>
            <a:gdLst/>
            <a:ahLst/>
            <a:cxnLst/>
            <a:rect l="l" t="t" r="r" b="b"/>
            <a:pathLst>
              <a:path w="1229359" h="0">
                <a:moveTo>
                  <a:pt x="0" y="0"/>
                </a:moveTo>
                <a:lnTo>
                  <a:pt x="1228852" y="0"/>
                </a:lnTo>
              </a:path>
            </a:pathLst>
          </a:custGeom>
          <a:ln w="28575">
            <a:solidFill>
              <a:srgbClr val="6390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89285" y="1241297"/>
            <a:ext cx="1041400" cy="0"/>
          </a:xfrm>
          <a:custGeom>
            <a:avLst/>
            <a:gdLst/>
            <a:ahLst/>
            <a:cxnLst/>
            <a:rect l="l" t="t" r="r" b="b"/>
            <a:pathLst>
              <a:path w="1041400" h="0">
                <a:moveTo>
                  <a:pt x="0" y="0"/>
                </a:moveTo>
                <a:lnTo>
                  <a:pt x="1041019" y="0"/>
                </a:lnTo>
              </a:path>
            </a:pathLst>
          </a:custGeom>
          <a:ln w="28575">
            <a:solidFill>
              <a:srgbClr val="63906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2834385" y="2820670"/>
            <a:ext cx="758190" cy="749300"/>
            <a:chOff x="2834385" y="2820670"/>
            <a:chExt cx="758190" cy="749300"/>
          </a:xfrm>
        </p:grpSpPr>
        <p:sp>
          <p:nvSpPr>
            <p:cNvPr id="22" name="object 22"/>
            <p:cNvSpPr/>
            <p:nvPr/>
          </p:nvSpPr>
          <p:spPr>
            <a:xfrm>
              <a:off x="2840735" y="3349752"/>
              <a:ext cx="158750" cy="213360"/>
            </a:xfrm>
            <a:custGeom>
              <a:avLst/>
              <a:gdLst/>
              <a:ahLst/>
              <a:cxnLst/>
              <a:rect l="l" t="t" r="r" b="b"/>
              <a:pathLst>
                <a:path w="158750" h="213360">
                  <a:moveTo>
                    <a:pt x="158495" y="0"/>
                  </a:moveTo>
                  <a:lnTo>
                    <a:pt x="0" y="0"/>
                  </a:lnTo>
                  <a:lnTo>
                    <a:pt x="0" y="213360"/>
                  </a:lnTo>
                  <a:lnTo>
                    <a:pt x="158495" y="213360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40735" y="3349752"/>
              <a:ext cx="158750" cy="213360"/>
            </a:xfrm>
            <a:custGeom>
              <a:avLst/>
              <a:gdLst/>
              <a:ahLst/>
              <a:cxnLst/>
              <a:rect l="l" t="t" r="r" b="b"/>
              <a:pathLst>
                <a:path w="158750" h="213360">
                  <a:moveTo>
                    <a:pt x="0" y="213360"/>
                  </a:moveTo>
                  <a:lnTo>
                    <a:pt x="158495" y="213360"/>
                  </a:lnTo>
                  <a:lnTo>
                    <a:pt x="158495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35807" y="3102864"/>
              <a:ext cx="158750" cy="460375"/>
            </a:xfrm>
            <a:custGeom>
              <a:avLst/>
              <a:gdLst/>
              <a:ahLst/>
              <a:cxnLst/>
              <a:rect l="l" t="t" r="r" b="b"/>
              <a:pathLst>
                <a:path w="158750" h="460375">
                  <a:moveTo>
                    <a:pt x="158495" y="0"/>
                  </a:moveTo>
                  <a:lnTo>
                    <a:pt x="0" y="0"/>
                  </a:lnTo>
                  <a:lnTo>
                    <a:pt x="0" y="460248"/>
                  </a:lnTo>
                  <a:lnTo>
                    <a:pt x="158495" y="460248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35807" y="3102864"/>
              <a:ext cx="158750" cy="460375"/>
            </a:xfrm>
            <a:custGeom>
              <a:avLst/>
              <a:gdLst/>
              <a:ahLst/>
              <a:cxnLst/>
              <a:rect l="l" t="t" r="r" b="b"/>
              <a:pathLst>
                <a:path w="158750" h="460375">
                  <a:moveTo>
                    <a:pt x="0" y="460248"/>
                  </a:moveTo>
                  <a:lnTo>
                    <a:pt x="158495" y="460248"/>
                  </a:lnTo>
                  <a:lnTo>
                    <a:pt x="158495" y="0"/>
                  </a:lnTo>
                  <a:lnTo>
                    <a:pt x="0" y="0"/>
                  </a:lnTo>
                  <a:lnTo>
                    <a:pt x="0" y="460248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30879" y="2988564"/>
              <a:ext cx="160020" cy="574675"/>
            </a:xfrm>
            <a:custGeom>
              <a:avLst/>
              <a:gdLst/>
              <a:ahLst/>
              <a:cxnLst/>
              <a:rect l="l" t="t" r="r" b="b"/>
              <a:pathLst>
                <a:path w="160020" h="574675">
                  <a:moveTo>
                    <a:pt x="160019" y="0"/>
                  </a:moveTo>
                  <a:lnTo>
                    <a:pt x="0" y="0"/>
                  </a:lnTo>
                  <a:lnTo>
                    <a:pt x="0" y="574548"/>
                  </a:lnTo>
                  <a:lnTo>
                    <a:pt x="160019" y="574548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230879" y="2988564"/>
              <a:ext cx="160020" cy="574675"/>
            </a:xfrm>
            <a:custGeom>
              <a:avLst/>
              <a:gdLst/>
              <a:ahLst/>
              <a:cxnLst/>
              <a:rect l="l" t="t" r="r" b="b"/>
              <a:pathLst>
                <a:path w="160020" h="574675">
                  <a:moveTo>
                    <a:pt x="0" y="574548"/>
                  </a:moveTo>
                  <a:lnTo>
                    <a:pt x="160019" y="574548"/>
                  </a:lnTo>
                  <a:lnTo>
                    <a:pt x="160019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427475" y="2827020"/>
              <a:ext cx="158750" cy="736600"/>
            </a:xfrm>
            <a:custGeom>
              <a:avLst/>
              <a:gdLst/>
              <a:ahLst/>
              <a:cxnLst/>
              <a:rect l="l" t="t" r="r" b="b"/>
              <a:pathLst>
                <a:path w="158750" h="736600">
                  <a:moveTo>
                    <a:pt x="158496" y="0"/>
                  </a:moveTo>
                  <a:lnTo>
                    <a:pt x="0" y="0"/>
                  </a:lnTo>
                  <a:lnTo>
                    <a:pt x="0" y="736091"/>
                  </a:lnTo>
                  <a:lnTo>
                    <a:pt x="158496" y="736091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427475" y="2827020"/>
              <a:ext cx="158750" cy="736600"/>
            </a:xfrm>
            <a:custGeom>
              <a:avLst/>
              <a:gdLst/>
              <a:ahLst/>
              <a:cxnLst/>
              <a:rect l="l" t="t" r="r" b="b"/>
              <a:pathLst>
                <a:path w="158750" h="736600">
                  <a:moveTo>
                    <a:pt x="0" y="736091"/>
                  </a:moveTo>
                  <a:lnTo>
                    <a:pt x="158496" y="736091"/>
                  </a:lnTo>
                  <a:lnTo>
                    <a:pt x="158496" y="0"/>
                  </a:lnTo>
                  <a:lnTo>
                    <a:pt x="0" y="0"/>
                  </a:lnTo>
                  <a:lnTo>
                    <a:pt x="0" y="736091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834385" y="4090161"/>
            <a:ext cx="758190" cy="747395"/>
            <a:chOff x="2834385" y="4090161"/>
            <a:chExt cx="758190" cy="747395"/>
          </a:xfrm>
        </p:grpSpPr>
        <p:sp>
          <p:nvSpPr>
            <p:cNvPr id="31" name="object 31"/>
            <p:cNvSpPr/>
            <p:nvPr/>
          </p:nvSpPr>
          <p:spPr>
            <a:xfrm>
              <a:off x="2840735" y="4619243"/>
              <a:ext cx="158750" cy="212090"/>
            </a:xfrm>
            <a:custGeom>
              <a:avLst/>
              <a:gdLst/>
              <a:ahLst/>
              <a:cxnLst/>
              <a:rect l="l" t="t" r="r" b="b"/>
              <a:pathLst>
                <a:path w="158750" h="212089">
                  <a:moveTo>
                    <a:pt x="158495" y="0"/>
                  </a:moveTo>
                  <a:lnTo>
                    <a:pt x="0" y="0"/>
                  </a:lnTo>
                  <a:lnTo>
                    <a:pt x="0" y="211835"/>
                  </a:lnTo>
                  <a:lnTo>
                    <a:pt x="158495" y="211835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840735" y="4619243"/>
              <a:ext cx="158750" cy="212090"/>
            </a:xfrm>
            <a:custGeom>
              <a:avLst/>
              <a:gdLst/>
              <a:ahLst/>
              <a:cxnLst/>
              <a:rect l="l" t="t" r="r" b="b"/>
              <a:pathLst>
                <a:path w="158750" h="212089">
                  <a:moveTo>
                    <a:pt x="0" y="211835"/>
                  </a:moveTo>
                  <a:lnTo>
                    <a:pt x="158495" y="211835"/>
                  </a:lnTo>
                  <a:lnTo>
                    <a:pt x="158495" y="0"/>
                  </a:lnTo>
                  <a:lnTo>
                    <a:pt x="0" y="0"/>
                  </a:lnTo>
                  <a:lnTo>
                    <a:pt x="0" y="211835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35807" y="4370831"/>
              <a:ext cx="158750" cy="460375"/>
            </a:xfrm>
            <a:custGeom>
              <a:avLst/>
              <a:gdLst/>
              <a:ahLst/>
              <a:cxnLst/>
              <a:rect l="l" t="t" r="r" b="b"/>
              <a:pathLst>
                <a:path w="158750" h="460375">
                  <a:moveTo>
                    <a:pt x="158495" y="0"/>
                  </a:moveTo>
                  <a:lnTo>
                    <a:pt x="0" y="0"/>
                  </a:lnTo>
                  <a:lnTo>
                    <a:pt x="0" y="460248"/>
                  </a:lnTo>
                  <a:lnTo>
                    <a:pt x="158495" y="460248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035807" y="4096511"/>
              <a:ext cx="550545" cy="734695"/>
            </a:xfrm>
            <a:custGeom>
              <a:avLst/>
              <a:gdLst/>
              <a:ahLst/>
              <a:cxnLst/>
              <a:rect l="l" t="t" r="r" b="b"/>
              <a:pathLst>
                <a:path w="550545" h="734695">
                  <a:moveTo>
                    <a:pt x="0" y="734568"/>
                  </a:moveTo>
                  <a:lnTo>
                    <a:pt x="158495" y="734568"/>
                  </a:lnTo>
                  <a:lnTo>
                    <a:pt x="158495" y="274319"/>
                  </a:lnTo>
                  <a:lnTo>
                    <a:pt x="0" y="274319"/>
                  </a:lnTo>
                  <a:lnTo>
                    <a:pt x="0" y="734568"/>
                  </a:lnTo>
                  <a:close/>
                </a:path>
                <a:path w="550545" h="734695">
                  <a:moveTo>
                    <a:pt x="195072" y="734568"/>
                  </a:moveTo>
                  <a:lnTo>
                    <a:pt x="355092" y="734568"/>
                  </a:lnTo>
                  <a:lnTo>
                    <a:pt x="355092" y="160019"/>
                  </a:lnTo>
                  <a:lnTo>
                    <a:pt x="195072" y="160019"/>
                  </a:lnTo>
                  <a:lnTo>
                    <a:pt x="195072" y="734568"/>
                  </a:lnTo>
                  <a:close/>
                </a:path>
                <a:path w="550545" h="734695">
                  <a:moveTo>
                    <a:pt x="391668" y="734568"/>
                  </a:moveTo>
                  <a:lnTo>
                    <a:pt x="550164" y="734568"/>
                  </a:lnTo>
                  <a:lnTo>
                    <a:pt x="550164" y="0"/>
                  </a:lnTo>
                  <a:lnTo>
                    <a:pt x="391668" y="0"/>
                  </a:lnTo>
                  <a:lnTo>
                    <a:pt x="391668" y="734568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2834385" y="5359653"/>
            <a:ext cx="758190" cy="749300"/>
            <a:chOff x="2834385" y="5359653"/>
            <a:chExt cx="758190" cy="749300"/>
          </a:xfrm>
        </p:grpSpPr>
        <p:sp>
          <p:nvSpPr>
            <p:cNvPr id="36" name="object 36"/>
            <p:cNvSpPr/>
            <p:nvPr/>
          </p:nvSpPr>
          <p:spPr>
            <a:xfrm>
              <a:off x="2840735" y="5890259"/>
              <a:ext cx="158750" cy="212090"/>
            </a:xfrm>
            <a:custGeom>
              <a:avLst/>
              <a:gdLst/>
              <a:ahLst/>
              <a:cxnLst/>
              <a:rect l="l" t="t" r="r" b="b"/>
              <a:pathLst>
                <a:path w="158750" h="212089">
                  <a:moveTo>
                    <a:pt x="158495" y="0"/>
                  </a:moveTo>
                  <a:lnTo>
                    <a:pt x="0" y="0"/>
                  </a:lnTo>
                  <a:lnTo>
                    <a:pt x="0" y="211835"/>
                  </a:lnTo>
                  <a:lnTo>
                    <a:pt x="158495" y="211835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840735" y="5890259"/>
              <a:ext cx="158750" cy="212090"/>
            </a:xfrm>
            <a:custGeom>
              <a:avLst/>
              <a:gdLst/>
              <a:ahLst/>
              <a:cxnLst/>
              <a:rect l="l" t="t" r="r" b="b"/>
              <a:pathLst>
                <a:path w="158750" h="212089">
                  <a:moveTo>
                    <a:pt x="0" y="211835"/>
                  </a:moveTo>
                  <a:lnTo>
                    <a:pt x="158495" y="211835"/>
                  </a:lnTo>
                  <a:lnTo>
                    <a:pt x="158495" y="0"/>
                  </a:lnTo>
                  <a:lnTo>
                    <a:pt x="0" y="0"/>
                  </a:lnTo>
                  <a:lnTo>
                    <a:pt x="0" y="211835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035807" y="5641847"/>
              <a:ext cx="158750" cy="460375"/>
            </a:xfrm>
            <a:custGeom>
              <a:avLst/>
              <a:gdLst/>
              <a:ahLst/>
              <a:cxnLst/>
              <a:rect l="l" t="t" r="r" b="b"/>
              <a:pathLst>
                <a:path w="158750" h="460375">
                  <a:moveTo>
                    <a:pt x="158495" y="0"/>
                  </a:moveTo>
                  <a:lnTo>
                    <a:pt x="0" y="0"/>
                  </a:lnTo>
                  <a:lnTo>
                    <a:pt x="0" y="460247"/>
                  </a:lnTo>
                  <a:lnTo>
                    <a:pt x="158495" y="460247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035807" y="5641847"/>
              <a:ext cx="158750" cy="460375"/>
            </a:xfrm>
            <a:custGeom>
              <a:avLst/>
              <a:gdLst/>
              <a:ahLst/>
              <a:cxnLst/>
              <a:rect l="l" t="t" r="r" b="b"/>
              <a:pathLst>
                <a:path w="158750" h="460375">
                  <a:moveTo>
                    <a:pt x="0" y="460247"/>
                  </a:moveTo>
                  <a:lnTo>
                    <a:pt x="158495" y="460247"/>
                  </a:lnTo>
                  <a:lnTo>
                    <a:pt x="158495" y="0"/>
                  </a:lnTo>
                  <a:lnTo>
                    <a:pt x="0" y="0"/>
                  </a:lnTo>
                  <a:lnTo>
                    <a:pt x="0" y="460247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30879" y="5527547"/>
              <a:ext cx="160020" cy="574675"/>
            </a:xfrm>
            <a:custGeom>
              <a:avLst/>
              <a:gdLst/>
              <a:ahLst/>
              <a:cxnLst/>
              <a:rect l="l" t="t" r="r" b="b"/>
              <a:pathLst>
                <a:path w="160020" h="574675">
                  <a:moveTo>
                    <a:pt x="160019" y="0"/>
                  </a:moveTo>
                  <a:lnTo>
                    <a:pt x="0" y="0"/>
                  </a:lnTo>
                  <a:lnTo>
                    <a:pt x="0" y="574547"/>
                  </a:lnTo>
                  <a:lnTo>
                    <a:pt x="160019" y="57454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30879" y="5366003"/>
              <a:ext cx="355600" cy="736600"/>
            </a:xfrm>
            <a:custGeom>
              <a:avLst/>
              <a:gdLst/>
              <a:ahLst/>
              <a:cxnLst/>
              <a:rect l="l" t="t" r="r" b="b"/>
              <a:pathLst>
                <a:path w="355600" h="736600">
                  <a:moveTo>
                    <a:pt x="0" y="736092"/>
                  </a:moveTo>
                  <a:lnTo>
                    <a:pt x="160019" y="736092"/>
                  </a:lnTo>
                  <a:lnTo>
                    <a:pt x="160019" y="161544"/>
                  </a:lnTo>
                  <a:lnTo>
                    <a:pt x="0" y="161544"/>
                  </a:lnTo>
                  <a:lnTo>
                    <a:pt x="0" y="736092"/>
                  </a:lnTo>
                  <a:close/>
                </a:path>
                <a:path w="355600" h="736600">
                  <a:moveTo>
                    <a:pt x="196595" y="736092"/>
                  </a:moveTo>
                  <a:lnTo>
                    <a:pt x="355092" y="736092"/>
                  </a:lnTo>
                  <a:lnTo>
                    <a:pt x="355092" y="0"/>
                  </a:lnTo>
                  <a:lnTo>
                    <a:pt x="196595" y="0"/>
                  </a:lnTo>
                  <a:lnTo>
                    <a:pt x="196595" y="736092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34537" y="3160380"/>
            <a:ext cx="403697" cy="34700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87297" y="3160377"/>
            <a:ext cx="825650" cy="347011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34537" y="4314049"/>
            <a:ext cx="403697" cy="34700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87297" y="4314045"/>
            <a:ext cx="825650" cy="34701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34532" y="5554776"/>
            <a:ext cx="403708" cy="34814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87291" y="5554772"/>
            <a:ext cx="825660" cy="348155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4925660" y="2793238"/>
            <a:ext cx="740410" cy="776605"/>
            <a:chOff x="4925660" y="2793238"/>
            <a:chExt cx="740410" cy="776605"/>
          </a:xfrm>
        </p:grpSpPr>
        <p:sp>
          <p:nvSpPr>
            <p:cNvPr id="49" name="object 49"/>
            <p:cNvSpPr/>
            <p:nvPr/>
          </p:nvSpPr>
          <p:spPr>
            <a:xfrm>
              <a:off x="5001767" y="2852928"/>
              <a:ext cx="213360" cy="516890"/>
            </a:xfrm>
            <a:custGeom>
              <a:avLst/>
              <a:gdLst/>
              <a:ahLst/>
              <a:cxnLst/>
              <a:rect l="l" t="t" r="r" b="b"/>
              <a:pathLst>
                <a:path w="213360" h="516889">
                  <a:moveTo>
                    <a:pt x="106680" y="0"/>
                  </a:moveTo>
                  <a:lnTo>
                    <a:pt x="0" y="106680"/>
                  </a:lnTo>
                  <a:lnTo>
                    <a:pt x="53340" y="106680"/>
                  </a:lnTo>
                  <a:lnTo>
                    <a:pt x="53340" y="516636"/>
                  </a:lnTo>
                  <a:lnTo>
                    <a:pt x="160020" y="516636"/>
                  </a:lnTo>
                  <a:lnTo>
                    <a:pt x="160020" y="106680"/>
                  </a:lnTo>
                  <a:lnTo>
                    <a:pt x="213360" y="10668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001767" y="2852928"/>
              <a:ext cx="213360" cy="516890"/>
            </a:xfrm>
            <a:custGeom>
              <a:avLst/>
              <a:gdLst/>
              <a:ahLst/>
              <a:cxnLst/>
              <a:rect l="l" t="t" r="r" b="b"/>
              <a:pathLst>
                <a:path w="213360" h="516889">
                  <a:moveTo>
                    <a:pt x="0" y="106680"/>
                  </a:moveTo>
                  <a:lnTo>
                    <a:pt x="106680" y="0"/>
                  </a:lnTo>
                  <a:lnTo>
                    <a:pt x="213360" y="106680"/>
                  </a:lnTo>
                  <a:lnTo>
                    <a:pt x="160020" y="106680"/>
                  </a:lnTo>
                  <a:lnTo>
                    <a:pt x="160020" y="516636"/>
                  </a:lnTo>
                  <a:lnTo>
                    <a:pt x="53340" y="516636"/>
                  </a:lnTo>
                  <a:lnTo>
                    <a:pt x="53340" y="106680"/>
                  </a:lnTo>
                  <a:lnTo>
                    <a:pt x="0" y="10668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180075" y="279958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60" h="539750">
                  <a:moveTo>
                    <a:pt x="106679" y="0"/>
                  </a:moveTo>
                  <a:lnTo>
                    <a:pt x="0" y="106679"/>
                  </a:lnTo>
                  <a:lnTo>
                    <a:pt x="53339" y="106679"/>
                  </a:lnTo>
                  <a:lnTo>
                    <a:pt x="53339" y="539496"/>
                  </a:lnTo>
                  <a:lnTo>
                    <a:pt x="160020" y="539496"/>
                  </a:lnTo>
                  <a:lnTo>
                    <a:pt x="160020" y="106679"/>
                  </a:lnTo>
                  <a:lnTo>
                    <a:pt x="213360" y="106679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180075" y="2799588"/>
              <a:ext cx="410209" cy="603885"/>
            </a:xfrm>
            <a:custGeom>
              <a:avLst/>
              <a:gdLst/>
              <a:ahLst/>
              <a:cxnLst/>
              <a:rect l="l" t="t" r="r" b="b"/>
              <a:pathLst>
                <a:path w="410210" h="603885">
                  <a:moveTo>
                    <a:pt x="0" y="106679"/>
                  </a:moveTo>
                  <a:lnTo>
                    <a:pt x="106679" y="0"/>
                  </a:lnTo>
                  <a:lnTo>
                    <a:pt x="213360" y="106679"/>
                  </a:lnTo>
                  <a:lnTo>
                    <a:pt x="160020" y="106679"/>
                  </a:lnTo>
                  <a:lnTo>
                    <a:pt x="160020" y="539496"/>
                  </a:lnTo>
                  <a:lnTo>
                    <a:pt x="53339" y="539496"/>
                  </a:lnTo>
                  <a:lnTo>
                    <a:pt x="53339" y="106679"/>
                  </a:lnTo>
                  <a:lnTo>
                    <a:pt x="0" y="106679"/>
                  </a:lnTo>
                  <a:close/>
                </a:path>
                <a:path w="410210" h="603885">
                  <a:moveTo>
                    <a:pt x="195072" y="171450"/>
                  </a:moveTo>
                  <a:lnTo>
                    <a:pt x="302513" y="64008"/>
                  </a:lnTo>
                  <a:lnTo>
                    <a:pt x="409956" y="171450"/>
                  </a:lnTo>
                  <a:lnTo>
                    <a:pt x="356235" y="171450"/>
                  </a:lnTo>
                  <a:lnTo>
                    <a:pt x="356235" y="603503"/>
                  </a:lnTo>
                  <a:lnTo>
                    <a:pt x="248793" y="603503"/>
                  </a:lnTo>
                  <a:lnTo>
                    <a:pt x="248793" y="171450"/>
                  </a:lnTo>
                  <a:lnTo>
                    <a:pt x="195072" y="17145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931905" y="3200967"/>
              <a:ext cx="728345" cy="362585"/>
            </a:xfrm>
            <a:custGeom>
              <a:avLst/>
              <a:gdLst/>
              <a:ahLst/>
              <a:cxnLst/>
              <a:rect l="l" t="t" r="r" b="b"/>
              <a:pathLst>
                <a:path w="728345" h="362585">
                  <a:moveTo>
                    <a:pt x="136816" y="76045"/>
                  </a:moveTo>
                  <a:lnTo>
                    <a:pt x="75890" y="137095"/>
                  </a:lnTo>
                  <a:lnTo>
                    <a:pt x="102612" y="217425"/>
                  </a:lnTo>
                  <a:lnTo>
                    <a:pt x="94211" y="233692"/>
                  </a:lnTo>
                  <a:lnTo>
                    <a:pt x="86712" y="250360"/>
                  </a:lnTo>
                  <a:lnTo>
                    <a:pt x="80215" y="267430"/>
                  </a:lnTo>
                  <a:lnTo>
                    <a:pt x="74821" y="284900"/>
                  </a:lnTo>
                  <a:lnTo>
                    <a:pt x="0" y="321316"/>
                  </a:lnTo>
                  <a:lnTo>
                    <a:pt x="0" y="362143"/>
                  </a:lnTo>
                  <a:lnTo>
                    <a:pt x="235561" y="362144"/>
                  </a:lnTo>
                  <a:lnTo>
                    <a:pt x="245273" y="314254"/>
                  </a:lnTo>
                  <a:lnTo>
                    <a:pt x="272830" y="273387"/>
                  </a:lnTo>
                  <a:lnTo>
                    <a:pt x="313614" y="245775"/>
                  </a:lnTo>
                  <a:lnTo>
                    <a:pt x="363417" y="235633"/>
                  </a:lnTo>
                  <a:lnTo>
                    <a:pt x="633798" y="235633"/>
                  </a:lnTo>
                  <a:lnTo>
                    <a:pt x="632624" y="233073"/>
                  </a:lnTo>
                  <a:lnTo>
                    <a:pt x="624223" y="217425"/>
                  </a:lnTo>
                  <a:lnTo>
                    <a:pt x="650945" y="137096"/>
                  </a:lnTo>
                  <a:lnTo>
                    <a:pt x="616741" y="102822"/>
                  </a:lnTo>
                  <a:lnTo>
                    <a:pt x="216981" y="102821"/>
                  </a:lnTo>
                  <a:lnTo>
                    <a:pt x="136816" y="76045"/>
                  </a:lnTo>
                  <a:close/>
                </a:path>
                <a:path w="728345" h="362585">
                  <a:moveTo>
                    <a:pt x="633798" y="235633"/>
                  </a:moveTo>
                  <a:lnTo>
                    <a:pt x="363417" y="235633"/>
                  </a:lnTo>
                  <a:lnTo>
                    <a:pt x="413220" y="245775"/>
                  </a:lnTo>
                  <a:lnTo>
                    <a:pt x="454004" y="273387"/>
                  </a:lnTo>
                  <a:lnTo>
                    <a:pt x="481561" y="314255"/>
                  </a:lnTo>
                  <a:lnTo>
                    <a:pt x="491273" y="362144"/>
                  </a:lnTo>
                  <a:lnTo>
                    <a:pt x="727904" y="362144"/>
                  </a:lnTo>
                  <a:lnTo>
                    <a:pt x="727904" y="320246"/>
                  </a:lnTo>
                  <a:lnTo>
                    <a:pt x="652014" y="283829"/>
                  </a:lnTo>
                  <a:lnTo>
                    <a:pt x="646619" y="266375"/>
                  </a:lnTo>
                  <a:lnTo>
                    <a:pt x="640122" y="249423"/>
                  </a:lnTo>
                  <a:lnTo>
                    <a:pt x="633798" y="235633"/>
                  </a:lnTo>
                  <a:close/>
                </a:path>
                <a:path w="728345" h="362585">
                  <a:moveTo>
                    <a:pt x="406172" y="0"/>
                  </a:moveTo>
                  <a:lnTo>
                    <a:pt x="320662" y="0"/>
                  </a:lnTo>
                  <a:lnTo>
                    <a:pt x="283252" y="74974"/>
                  </a:lnTo>
                  <a:lnTo>
                    <a:pt x="265832" y="80379"/>
                  </a:lnTo>
                  <a:lnTo>
                    <a:pt x="248914" y="86889"/>
                  </a:lnTo>
                  <a:lnTo>
                    <a:pt x="232597" y="94404"/>
                  </a:lnTo>
                  <a:lnTo>
                    <a:pt x="216981" y="102821"/>
                  </a:lnTo>
                  <a:lnTo>
                    <a:pt x="509853" y="102822"/>
                  </a:lnTo>
                  <a:lnTo>
                    <a:pt x="493620" y="94404"/>
                  </a:lnTo>
                  <a:lnTo>
                    <a:pt x="476985" y="86889"/>
                  </a:lnTo>
                  <a:lnTo>
                    <a:pt x="459950" y="80379"/>
                  </a:lnTo>
                  <a:lnTo>
                    <a:pt x="442514" y="74974"/>
                  </a:lnTo>
                  <a:lnTo>
                    <a:pt x="406172" y="0"/>
                  </a:lnTo>
                  <a:close/>
                </a:path>
                <a:path w="728345" h="362585">
                  <a:moveTo>
                    <a:pt x="590019" y="76045"/>
                  </a:moveTo>
                  <a:lnTo>
                    <a:pt x="509853" y="102822"/>
                  </a:lnTo>
                  <a:lnTo>
                    <a:pt x="616741" y="102822"/>
                  </a:lnTo>
                  <a:lnTo>
                    <a:pt x="590019" y="76045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931905" y="3200967"/>
              <a:ext cx="728345" cy="362585"/>
            </a:xfrm>
            <a:custGeom>
              <a:avLst/>
              <a:gdLst/>
              <a:ahLst/>
              <a:cxnLst/>
              <a:rect l="l" t="t" r="r" b="b"/>
              <a:pathLst>
                <a:path w="728345" h="362585">
                  <a:moveTo>
                    <a:pt x="235561" y="362143"/>
                  </a:moveTo>
                  <a:lnTo>
                    <a:pt x="245273" y="314254"/>
                  </a:lnTo>
                  <a:lnTo>
                    <a:pt x="272830" y="273387"/>
                  </a:lnTo>
                  <a:lnTo>
                    <a:pt x="313614" y="245775"/>
                  </a:lnTo>
                  <a:lnTo>
                    <a:pt x="363417" y="235633"/>
                  </a:lnTo>
                  <a:lnTo>
                    <a:pt x="413220" y="245775"/>
                  </a:lnTo>
                  <a:lnTo>
                    <a:pt x="454004" y="273387"/>
                  </a:lnTo>
                  <a:lnTo>
                    <a:pt x="481561" y="314255"/>
                  </a:lnTo>
                  <a:lnTo>
                    <a:pt x="491273" y="362143"/>
                  </a:lnTo>
                </a:path>
                <a:path w="728345" h="362585">
                  <a:moveTo>
                    <a:pt x="727904" y="362143"/>
                  </a:moveTo>
                  <a:lnTo>
                    <a:pt x="727904" y="320246"/>
                  </a:lnTo>
                  <a:lnTo>
                    <a:pt x="652014" y="283829"/>
                  </a:lnTo>
                  <a:lnTo>
                    <a:pt x="646619" y="266375"/>
                  </a:lnTo>
                  <a:lnTo>
                    <a:pt x="640122" y="249423"/>
                  </a:lnTo>
                  <a:lnTo>
                    <a:pt x="632624" y="233073"/>
                  </a:lnTo>
                  <a:lnTo>
                    <a:pt x="624223" y="217425"/>
                  </a:lnTo>
                  <a:lnTo>
                    <a:pt x="650945" y="137096"/>
                  </a:lnTo>
                  <a:lnTo>
                    <a:pt x="590019" y="76045"/>
                  </a:lnTo>
                  <a:lnTo>
                    <a:pt x="509853" y="102822"/>
                  </a:lnTo>
                  <a:lnTo>
                    <a:pt x="493620" y="94404"/>
                  </a:lnTo>
                  <a:lnTo>
                    <a:pt x="476985" y="86889"/>
                  </a:lnTo>
                  <a:lnTo>
                    <a:pt x="459950" y="80379"/>
                  </a:lnTo>
                  <a:lnTo>
                    <a:pt x="442514" y="74974"/>
                  </a:lnTo>
                  <a:lnTo>
                    <a:pt x="406172" y="0"/>
                  </a:lnTo>
                  <a:lnTo>
                    <a:pt x="320662" y="0"/>
                  </a:lnTo>
                  <a:lnTo>
                    <a:pt x="283252" y="74974"/>
                  </a:lnTo>
                  <a:lnTo>
                    <a:pt x="265832" y="80379"/>
                  </a:lnTo>
                  <a:lnTo>
                    <a:pt x="248914" y="86889"/>
                  </a:lnTo>
                  <a:lnTo>
                    <a:pt x="232597" y="94404"/>
                  </a:lnTo>
                  <a:lnTo>
                    <a:pt x="216981" y="102821"/>
                  </a:lnTo>
                  <a:lnTo>
                    <a:pt x="136816" y="76045"/>
                  </a:lnTo>
                  <a:lnTo>
                    <a:pt x="75890" y="137095"/>
                  </a:lnTo>
                  <a:lnTo>
                    <a:pt x="102612" y="217425"/>
                  </a:lnTo>
                  <a:lnTo>
                    <a:pt x="94211" y="233692"/>
                  </a:lnTo>
                  <a:lnTo>
                    <a:pt x="86712" y="250360"/>
                  </a:lnTo>
                  <a:lnTo>
                    <a:pt x="80215" y="267430"/>
                  </a:lnTo>
                  <a:lnTo>
                    <a:pt x="74821" y="284900"/>
                  </a:lnTo>
                  <a:lnTo>
                    <a:pt x="0" y="321316"/>
                  </a:lnTo>
                  <a:lnTo>
                    <a:pt x="0" y="362143"/>
                  </a:lnTo>
                </a:path>
              </a:pathLst>
            </a:custGeom>
            <a:ln w="1248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4925674" y="4131309"/>
            <a:ext cx="740410" cy="774700"/>
            <a:chOff x="4925674" y="4131309"/>
            <a:chExt cx="740410" cy="774700"/>
          </a:xfrm>
        </p:grpSpPr>
        <p:sp>
          <p:nvSpPr>
            <p:cNvPr id="56" name="object 56"/>
            <p:cNvSpPr/>
            <p:nvPr/>
          </p:nvSpPr>
          <p:spPr>
            <a:xfrm>
              <a:off x="5001767" y="4189475"/>
              <a:ext cx="213360" cy="518159"/>
            </a:xfrm>
            <a:custGeom>
              <a:avLst/>
              <a:gdLst/>
              <a:ahLst/>
              <a:cxnLst/>
              <a:rect l="l" t="t" r="r" b="b"/>
              <a:pathLst>
                <a:path w="213360" h="518160">
                  <a:moveTo>
                    <a:pt x="106680" y="0"/>
                  </a:moveTo>
                  <a:lnTo>
                    <a:pt x="0" y="106680"/>
                  </a:lnTo>
                  <a:lnTo>
                    <a:pt x="53340" y="106680"/>
                  </a:lnTo>
                  <a:lnTo>
                    <a:pt x="53340" y="518160"/>
                  </a:lnTo>
                  <a:lnTo>
                    <a:pt x="160020" y="518160"/>
                  </a:lnTo>
                  <a:lnTo>
                    <a:pt x="160020" y="106680"/>
                  </a:lnTo>
                  <a:lnTo>
                    <a:pt x="213360" y="10668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001767" y="4137659"/>
              <a:ext cx="588645" cy="603885"/>
            </a:xfrm>
            <a:custGeom>
              <a:avLst/>
              <a:gdLst/>
              <a:ahLst/>
              <a:cxnLst/>
              <a:rect l="l" t="t" r="r" b="b"/>
              <a:pathLst>
                <a:path w="588645" h="603885">
                  <a:moveTo>
                    <a:pt x="0" y="158495"/>
                  </a:moveTo>
                  <a:lnTo>
                    <a:pt x="106680" y="51815"/>
                  </a:lnTo>
                  <a:lnTo>
                    <a:pt x="213360" y="158495"/>
                  </a:lnTo>
                  <a:lnTo>
                    <a:pt x="160020" y="158495"/>
                  </a:lnTo>
                  <a:lnTo>
                    <a:pt x="160020" y="569976"/>
                  </a:lnTo>
                  <a:lnTo>
                    <a:pt x="53340" y="569976"/>
                  </a:lnTo>
                  <a:lnTo>
                    <a:pt x="53340" y="158495"/>
                  </a:lnTo>
                  <a:lnTo>
                    <a:pt x="0" y="158495"/>
                  </a:lnTo>
                  <a:close/>
                </a:path>
                <a:path w="588645" h="603885">
                  <a:moveTo>
                    <a:pt x="178308" y="106679"/>
                  </a:moveTo>
                  <a:lnTo>
                    <a:pt x="284988" y="0"/>
                  </a:lnTo>
                  <a:lnTo>
                    <a:pt x="391668" y="106679"/>
                  </a:lnTo>
                  <a:lnTo>
                    <a:pt x="338328" y="106679"/>
                  </a:lnTo>
                  <a:lnTo>
                    <a:pt x="338328" y="539495"/>
                  </a:lnTo>
                  <a:lnTo>
                    <a:pt x="231648" y="539495"/>
                  </a:lnTo>
                  <a:lnTo>
                    <a:pt x="231648" y="106679"/>
                  </a:lnTo>
                  <a:lnTo>
                    <a:pt x="178308" y="106679"/>
                  </a:lnTo>
                  <a:close/>
                </a:path>
                <a:path w="588645" h="603885">
                  <a:moveTo>
                    <a:pt x="373380" y="171450"/>
                  </a:moveTo>
                  <a:lnTo>
                    <a:pt x="480822" y="64007"/>
                  </a:lnTo>
                  <a:lnTo>
                    <a:pt x="588264" y="171450"/>
                  </a:lnTo>
                  <a:lnTo>
                    <a:pt x="534543" y="171450"/>
                  </a:lnTo>
                  <a:lnTo>
                    <a:pt x="534543" y="603503"/>
                  </a:lnTo>
                  <a:lnTo>
                    <a:pt x="427101" y="603503"/>
                  </a:lnTo>
                  <a:lnTo>
                    <a:pt x="427101" y="171450"/>
                  </a:lnTo>
                  <a:lnTo>
                    <a:pt x="373380" y="17145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931905" y="4538573"/>
              <a:ext cx="728345" cy="361315"/>
            </a:xfrm>
            <a:custGeom>
              <a:avLst/>
              <a:gdLst/>
              <a:ahLst/>
              <a:cxnLst/>
              <a:rect l="l" t="t" r="r" b="b"/>
              <a:pathLst>
                <a:path w="728345" h="361314">
                  <a:moveTo>
                    <a:pt x="136816" y="75823"/>
                  </a:moveTo>
                  <a:lnTo>
                    <a:pt x="75890" y="136695"/>
                  </a:lnTo>
                  <a:lnTo>
                    <a:pt x="102612" y="216790"/>
                  </a:lnTo>
                  <a:lnTo>
                    <a:pt x="94211" y="233009"/>
                  </a:lnTo>
                  <a:lnTo>
                    <a:pt x="86712" y="249629"/>
                  </a:lnTo>
                  <a:lnTo>
                    <a:pt x="80215" y="266648"/>
                  </a:lnTo>
                  <a:lnTo>
                    <a:pt x="74821" y="284068"/>
                  </a:lnTo>
                  <a:lnTo>
                    <a:pt x="0" y="320378"/>
                  </a:lnTo>
                  <a:lnTo>
                    <a:pt x="0" y="361086"/>
                  </a:lnTo>
                  <a:lnTo>
                    <a:pt x="235561" y="361086"/>
                  </a:lnTo>
                  <a:lnTo>
                    <a:pt x="245273" y="313337"/>
                  </a:lnTo>
                  <a:lnTo>
                    <a:pt x="272830" y="272589"/>
                  </a:lnTo>
                  <a:lnTo>
                    <a:pt x="313614" y="245057"/>
                  </a:lnTo>
                  <a:lnTo>
                    <a:pt x="363417" y="234945"/>
                  </a:lnTo>
                  <a:lnTo>
                    <a:pt x="633798" y="234945"/>
                  </a:lnTo>
                  <a:lnTo>
                    <a:pt x="632623" y="232392"/>
                  </a:lnTo>
                  <a:lnTo>
                    <a:pt x="624223" y="216790"/>
                  </a:lnTo>
                  <a:lnTo>
                    <a:pt x="650945" y="136695"/>
                  </a:lnTo>
                  <a:lnTo>
                    <a:pt x="616741" y="102521"/>
                  </a:lnTo>
                  <a:lnTo>
                    <a:pt x="216981" y="102521"/>
                  </a:lnTo>
                  <a:lnTo>
                    <a:pt x="136816" y="75823"/>
                  </a:lnTo>
                  <a:close/>
                </a:path>
                <a:path w="728345" h="361314">
                  <a:moveTo>
                    <a:pt x="633798" y="234945"/>
                  </a:moveTo>
                  <a:lnTo>
                    <a:pt x="363417" y="234945"/>
                  </a:lnTo>
                  <a:lnTo>
                    <a:pt x="413220" y="245057"/>
                  </a:lnTo>
                  <a:lnTo>
                    <a:pt x="454004" y="272589"/>
                  </a:lnTo>
                  <a:lnTo>
                    <a:pt x="481561" y="313337"/>
                  </a:lnTo>
                  <a:lnTo>
                    <a:pt x="491273" y="361086"/>
                  </a:lnTo>
                  <a:lnTo>
                    <a:pt x="727904" y="361086"/>
                  </a:lnTo>
                  <a:lnTo>
                    <a:pt x="727904" y="319310"/>
                  </a:lnTo>
                  <a:lnTo>
                    <a:pt x="652014" y="283000"/>
                  </a:lnTo>
                  <a:lnTo>
                    <a:pt x="646619" y="265597"/>
                  </a:lnTo>
                  <a:lnTo>
                    <a:pt x="640122" y="248694"/>
                  </a:lnTo>
                  <a:lnTo>
                    <a:pt x="633798" y="234945"/>
                  </a:lnTo>
                  <a:close/>
                </a:path>
                <a:path w="728345" h="361314">
                  <a:moveTo>
                    <a:pt x="406172" y="0"/>
                  </a:moveTo>
                  <a:lnTo>
                    <a:pt x="320662" y="0"/>
                  </a:lnTo>
                  <a:lnTo>
                    <a:pt x="283252" y="74755"/>
                  </a:lnTo>
                  <a:lnTo>
                    <a:pt x="265832" y="80145"/>
                  </a:lnTo>
                  <a:lnTo>
                    <a:pt x="248914" y="86636"/>
                  </a:lnTo>
                  <a:lnTo>
                    <a:pt x="232597" y="94128"/>
                  </a:lnTo>
                  <a:lnTo>
                    <a:pt x="216981" y="102521"/>
                  </a:lnTo>
                  <a:lnTo>
                    <a:pt x="509853" y="102521"/>
                  </a:lnTo>
                  <a:lnTo>
                    <a:pt x="493620" y="94128"/>
                  </a:lnTo>
                  <a:lnTo>
                    <a:pt x="476985" y="86636"/>
                  </a:lnTo>
                  <a:lnTo>
                    <a:pt x="459950" y="80145"/>
                  </a:lnTo>
                  <a:lnTo>
                    <a:pt x="442514" y="74755"/>
                  </a:lnTo>
                  <a:lnTo>
                    <a:pt x="406172" y="0"/>
                  </a:lnTo>
                  <a:close/>
                </a:path>
                <a:path w="728345" h="361314">
                  <a:moveTo>
                    <a:pt x="590019" y="75823"/>
                  </a:moveTo>
                  <a:lnTo>
                    <a:pt x="509853" y="102521"/>
                  </a:lnTo>
                  <a:lnTo>
                    <a:pt x="616741" y="102521"/>
                  </a:lnTo>
                  <a:lnTo>
                    <a:pt x="590019" y="75823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931905" y="4538573"/>
              <a:ext cx="728345" cy="361315"/>
            </a:xfrm>
            <a:custGeom>
              <a:avLst/>
              <a:gdLst/>
              <a:ahLst/>
              <a:cxnLst/>
              <a:rect l="l" t="t" r="r" b="b"/>
              <a:pathLst>
                <a:path w="728345" h="361314">
                  <a:moveTo>
                    <a:pt x="235561" y="361086"/>
                  </a:moveTo>
                  <a:lnTo>
                    <a:pt x="245273" y="313337"/>
                  </a:lnTo>
                  <a:lnTo>
                    <a:pt x="272830" y="272589"/>
                  </a:lnTo>
                  <a:lnTo>
                    <a:pt x="313614" y="245057"/>
                  </a:lnTo>
                  <a:lnTo>
                    <a:pt x="363417" y="234945"/>
                  </a:lnTo>
                  <a:lnTo>
                    <a:pt x="413220" y="245057"/>
                  </a:lnTo>
                  <a:lnTo>
                    <a:pt x="454004" y="272589"/>
                  </a:lnTo>
                  <a:lnTo>
                    <a:pt x="481561" y="313337"/>
                  </a:lnTo>
                  <a:lnTo>
                    <a:pt x="491273" y="361086"/>
                  </a:lnTo>
                </a:path>
                <a:path w="728345" h="361314">
                  <a:moveTo>
                    <a:pt x="727904" y="361086"/>
                  </a:moveTo>
                  <a:lnTo>
                    <a:pt x="727904" y="319310"/>
                  </a:lnTo>
                  <a:lnTo>
                    <a:pt x="652014" y="283000"/>
                  </a:lnTo>
                  <a:lnTo>
                    <a:pt x="646619" y="265597"/>
                  </a:lnTo>
                  <a:lnTo>
                    <a:pt x="640122" y="248694"/>
                  </a:lnTo>
                  <a:lnTo>
                    <a:pt x="632623" y="232392"/>
                  </a:lnTo>
                  <a:lnTo>
                    <a:pt x="624223" y="216790"/>
                  </a:lnTo>
                  <a:lnTo>
                    <a:pt x="650945" y="136695"/>
                  </a:lnTo>
                  <a:lnTo>
                    <a:pt x="590019" y="75823"/>
                  </a:lnTo>
                  <a:lnTo>
                    <a:pt x="509853" y="102521"/>
                  </a:lnTo>
                  <a:lnTo>
                    <a:pt x="493620" y="94128"/>
                  </a:lnTo>
                  <a:lnTo>
                    <a:pt x="476985" y="86636"/>
                  </a:lnTo>
                  <a:lnTo>
                    <a:pt x="459950" y="80145"/>
                  </a:lnTo>
                  <a:lnTo>
                    <a:pt x="442514" y="74755"/>
                  </a:lnTo>
                  <a:lnTo>
                    <a:pt x="406172" y="0"/>
                  </a:lnTo>
                  <a:lnTo>
                    <a:pt x="320662" y="0"/>
                  </a:lnTo>
                  <a:lnTo>
                    <a:pt x="283251" y="74755"/>
                  </a:lnTo>
                  <a:lnTo>
                    <a:pt x="265832" y="80145"/>
                  </a:lnTo>
                  <a:lnTo>
                    <a:pt x="248914" y="86636"/>
                  </a:lnTo>
                  <a:lnTo>
                    <a:pt x="232597" y="94128"/>
                  </a:lnTo>
                  <a:lnTo>
                    <a:pt x="216981" y="102521"/>
                  </a:lnTo>
                  <a:lnTo>
                    <a:pt x="136816" y="75823"/>
                  </a:lnTo>
                  <a:lnTo>
                    <a:pt x="75890" y="136695"/>
                  </a:lnTo>
                  <a:lnTo>
                    <a:pt x="102612" y="216790"/>
                  </a:lnTo>
                  <a:lnTo>
                    <a:pt x="94211" y="233009"/>
                  </a:lnTo>
                  <a:lnTo>
                    <a:pt x="86712" y="249629"/>
                  </a:lnTo>
                  <a:lnTo>
                    <a:pt x="80215" y="266648"/>
                  </a:lnTo>
                  <a:lnTo>
                    <a:pt x="74821" y="284068"/>
                  </a:lnTo>
                  <a:lnTo>
                    <a:pt x="0" y="320378"/>
                  </a:lnTo>
                  <a:lnTo>
                    <a:pt x="0" y="361086"/>
                  </a:lnTo>
                </a:path>
              </a:pathLst>
            </a:custGeom>
            <a:ln w="12464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/>
          <p:cNvGrpSpPr/>
          <p:nvPr/>
        </p:nvGrpSpPr>
        <p:grpSpPr>
          <a:xfrm>
            <a:off x="4925660" y="5307838"/>
            <a:ext cx="740410" cy="776605"/>
            <a:chOff x="4925660" y="5307838"/>
            <a:chExt cx="740410" cy="776605"/>
          </a:xfrm>
        </p:grpSpPr>
        <p:sp>
          <p:nvSpPr>
            <p:cNvPr id="61" name="object 61"/>
            <p:cNvSpPr/>
            <p:nvPr/>
          </p:nvSpPr>
          <p:spPr>
            <a:xfrm>
              <a:off x="5001767" y="5367528"/>
              <a:ext cx="213360" cy="516890"/>
            </a:xfrm>
            <a:custGeom>
              <a:avLst/>
              <a:gdLst/>
              <a:ahLst/>
              <a:cxnLst/>
              <a:rect l="l" t="t" r="r" b="b"/>
              <a:pathLst>
                <a:path w="213360" h="516889">
                  <a:moveTo>
                    <a:pt x="106680" y="0"/>
                  </a:moveTo>
                  <a:lnTo>
                    <a:pt x="0" y="106680"/>
                  </a:lnTo>
                  <a:lnTo>
                    <a:pt x="53340" y="106680"/>
                  </a:lnTo>
                  <a:lnTo>
                    <a:pt x="53340" y="516636"/>
                  </a:lnTo>
                  <a:lnTo>
                    <a:pt x="160020" y="516636"/>
                  </a:lnTo>
                  <a:lnTo>
                    <a:pt x="160020" y="106680"/>
                  </a:lnTo>
                  <a:lnTo>
                    <a:pt x="213360" y="10668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001767" y="5367528"/>
              <a:ext cx="213360" cy="516890"/>
            </a:xfrm>
            <a:custGeom>
              <a:avLst/>
              <a:gdLst/>
              <a:ahLst/>
              <a:cxnLst/>
              <a:rect l="l" t="t" r="r" b="b"/>
              <a:pathLst>
                <a:path w="213360" h="516889">
                  <a:moveTo>
                    <a:pt x="0" y="106680"/>
                  </a:moveTo>
                  <a:lnTo>
                    <a:pt x="106680" y="0"/>
                  </a:lnTo>
                  <a:lnTo>
                    <a:pt x="213360" y="106680"/>
                  </a:lnTo>
                  <a:lnTo>
                    <a:pt x="160020" y="106680"/>
                  </a:lnTo>
                  <a:lnTo>
                    <a:pt x="160020" y="516636"/>
                  </a:lnTo>
                  <a:lnTo>
                    <a:pt x="53340" y="516636"/>
                  </a:lnTo>
                  <a:lnTo>
                    <a:pt x="53340" y="106680"/>
                  </a:lnTo>
                  <a:lnTo>
                    <a:pt x="0" y="10668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180075" y="531418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60" h="539750">
                  <a:moveTo>
                    <a:pt x="106679" y="0"/>
                  </a:moveTo>
                  <a:lnTo>
                    <a:pt x="0" y="106680"/>
                  </a:lnTo>
                  <a:lnTo>
                    <a:pt x="53339" y="106680"/>
                  </a:lnTo>
                  <a:lnTo>
                    <a:pt x="53339" y="539496"/>
                  </a:lnTo>
                  <a:lnTo>
                    <a:pt x="160020" y="539496"/>
                  </a:lnTo>
                  <a:lnTo>
                    <a:pt x="160020" y="106680"/>
                  </a:lnTo>
                  <a:lnTo>
                    <a:pt x="213360" y="106680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180075" y="531418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60" h="539750">
                  <a:moveTo>
                    <a:pt x="0" y="106680"/>
                  </a:moveTo>
                  <a:lnTo>
                    <a:pt x="106679" y="0"/>
                  </a:lnTo>
                  <a:lnTo>
                    <a:pt x="213360" y="106680"/>
                  </a:lnTo>
                  <a:lnTo>
                    <a:pt x="160020" y="106680"/>
                  </a:lnTo>
                  <a:lnTo>
                    <a:pt x="160020" y="539496"/>
                  </a:lnTo>
                  <a:lnTo>
                    <a:pt x="53339" y="539496"/>
                  </a:lnTo>
                  <a:lnTo>
                    <a:pt x="53339" y="106680"/>
                  </a:lnTo>
                  <a:lnTo>
                    <a:pt x="0" y="10668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375147" y="5378196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4" h="539750">
                  <a:moveTo>
                    <a:pt x="107441" y="0"/>
                  </a:moveTo>
                  <a:lnTo>
                    <a:pt x="0" y="107441"/>
                  </a:lnTo>
                  <a:lnTo>
                    <a:pt x="53721" y="107441"/>
                  </a:lnTo>
                  <a:lnTo>
                    <a:pt x="53721" y="539495"/>
                  </a:lnTo>
                  <a:lnTo>
                    <a:pt x="161162" y="539495"/>
                  </a:lnTo>
                  <a:lnTo>
                    <a:pt x="161162" y="107441"/>
                  </a:lnTo>
                  <a:lnTo>
                    <a:pt x="214884" y="107441"/>
                  </a:lnTo>
                  <a:lnTo>
                    <a:pt x="107441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375147" y="5378196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4" h="539750">
                  <a:moveTo>
                    <a:pt x="0" y="107441"/>
                  </a:moveTo>
                  <a:lnTo>
                    <a:pt x="107441" y="0"/>
                  </a:lnTo>
                  <a:lnTo>
                    <a:pt x="214884" y="107441"/>
                  </a:lnTo>
                  <a:lnTo>
                    <a:pt x="161162" y="107441"/>
                  </a:lnTo>
                  <a:lnTo>
                    <a:pt x="161162" y="539495"/>
                  </a:lnTo>
                  <a:lnTo>
                    <a:pt x="53721" y="539495"/>
                  </a:lnTo>
                  <a:lnTo>
                    <a:pt x="53721" y="107441"/>
                  </a:lnTo>
                  <a:lnTo>
                    <a:pt x="0" y="10744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931905" y="5715567"/>
              <a:ext cx="728345" cy="362585"/>
            </a:xfrm>
            <a:custGeom>
              <a:avLst/>
              <a:gdLst/>
              <a:ahLst/>
              <a:cxnLst/>
              <a:rect l="l" t="t" r="r" b="b"/>
              <a:pathLst>
                <a:path w="728345" h="362585">
                  <a:moveTo>
                    <a:pt x="136816" y="76045"/>
                  </a:moveTo>
                  <a:lnTo>
                    <a:pt x="75890" y="137096"/>
                  </a:lnTo>
                  <a:lnTo>
                    <a:pt x="102612" y="217425"/>
                  </a:lnTo>
                  <a:lnTo>
                    <a:pt x="94211" y="233692"/>
                  </a:lnTo>
                  <a:lnTo>
                    <a:pt x="86712" y="250360"/>
                  </a:lnTo>
                  <a:lnTo>
                    <a:pt x="80215" y="267430"/>
                  </a:lnTo>
                  <a:lnTo>
                    <a:pt x="74821" y="284900"/>
                  </a:lnTo>
                  <a:lnTo>
                    <a:pt x="0" y="321316"/>
                  </a:lnTo>
                  <a:lnTo>
                    <a:pt x="0" y="362144"/>
                  </a:lnTo>
                  <a:lnTo>
                    <a:pt x="235561" y="362144"/>
                  </a:lnTo>
                  <a:lnTo>
                    <a:pt x="245273" y="314255"/>
                  </a:lnTo>
                  <a:lnTo>
                    <a:pt x="272830" y="273387"/>
                  </a:lnTo>
                  <a:lnTo>
                    <a:pt x="313614" y="245775"/>
                  </a:lnTo>
                  <a:lnTo>
                    <a:pt x="363417" y="235633"/>
                  </a:lnTo>
                  <a:lnTo>
                    <a:pt x="633798" y="235633"/>
                  </a:lnTo>
                  <a:lnTo>
                    <a:pt x="632624" y="233073"/>
                  </a:lnTo>
                  <a:lnTo>
                    <a:pt x="624223" y="217425"/>
                  </a:lnTo>
                  <a:lnTo>
                    <a:pt x="650945" y="137096"/>
                  </a:lnTo>
                  <a:lnTo>
                    <a:pt x="616741" y="102822"/>
                  </a:lnTo>
                  <a:lnTo>
                    <a:pt x="216981" y="102822"/>
                  </a:lnTo>
                  <a:lnTo>
                    <a:pt x="136816" y="76045"/>
                  </a:lnTo>
                  <a:close/>
                </a:path>
                <a:path w="728345" h="362585">
                  <a:moveTo>
                    <a:pt x="633798" y="235633"/>
                  </a:moveTo>
                  <a:lnTo>
                    <a:pt x="363417" y="235633"/>
                  </a:lnTo>
                  <a:lnTo>
                    <a:pt x="413220" y="245775"/>
                  </a:lnTo>
                  <a:lnTo>
                    <a:pt x="454004" y="273387"/>
                  </a:lnTo>
                  <a:lnTo>
                    <a:pt x="481561" y="314255"/>
                  </a:lnTo>
                  <a:lnTo>
                    <a:pt x="491274" y="362144"/>
                  </a:lnTo>
                  <a:lnTo>
                    <a:pt x="727904" y="362144"/>
                  </a:lnTo>
                  <a:lnTo>
                    <a:pt x="727904" y="320245"/>
                  </a:lnTo>
                  <a:lnTo>
                    <a:pt x="652014" y="283829"/>
                  </a:lnTo>
                  <a:lnTo>
                    <a:pt x="646619" y="266375"/>
                  </a:lnTo>
                  <a:lnTo>
                    <a:pt x="640122" y="249423"/>
                  </a:lnTo>
                  <a:lnTo>
                    <a:pt x="633798" y="235633"/>
                  </a:lnTo>
                  <a:close/>
                </a:path>
                <a:path w="728345" h="362585">
                  <a:moveTo>
                    <a:pt x="406172" y="0"/>
                  </a:moveTo>
                  <a:lnTo>
                    <a:pt x="320662" y="0"/>
                  </a:lnTo>
                  <a:lnTo>
                    <a:pt x="283252" y="74974"/>
                  </a:lnTo>
                  <a:lnTo>
                    <a:pt x="265832" y="80379"/>
                  </a:lnTo>
                  <a:lnTo>
                    <a:pt x="248914" y="86889"/>
                  </a:lnTo>
                  <a:lnTo>
                    <a:pt x="232597" y="94404"/>
                  </a:lnTo>
                  <a:lnTo>
                    <a:pt x="216981" y="102822"/>
                  </a:lnTo>
                  <a:lnTo>
                    <a:pt x="509853" y="102822"/>
                  </a:lnTo>
                  <a:lnTo>
                    <a:pt x="493620" y="94404"/>
                  </a:lnTo>
                  <a:lnTo>
                    <a:pt x="476985" y="86889"/>
                  </a:lnTo>
                  <a:lnTo>
                    <a:pt x="459950" y="80379"/>
                  </a:lnTo>
                  <a:lnTo>
                    <a:pt x="442514" y="74974"/>
                  </a:lnTo>
                  <a:lnTo>
                    <a:pt x="406172" y="0"/>
                  </a:lnTo>
                  <a:close/>
                </a:path>
                <a:path w="728345" h="362585">
                  <a:moveTo>
                    <a:pt x="590019" y="76045"/>
                  </a:moveTo>
                  <a:lnTo>
                    <a:pt x="509853" y="102822"/>
                  </a:lnTo>
                  <a:lnTo>
                    <a:pt x="616741" y="102822"/>
                  </a:lnTo>
                  <a:lnTo>
                    <a:pt x="590019" y="76045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931905" y="5715567"/>
              <a:ext cx="728345" cy="362585"/>
            </a:xfrm>
            <a:custGeom>
              <a:avLst/>
              <a:gdLst/>
              <a:ahLst/>
              <a:cxnLst/>
              <a:rect l="l" t="t" r="r" b="b"/>
              <a:pathLst>
                <a:path w="728345" h="362585">
                  <a:moveTo>
                    <a:pt x="235561" y="362144"/>
                  </a:moveTo>
                  <a:lnTo>
                    <a:pt x="245273" y="314254"/>
                  </a:lnTo>
                  <a:lnTo>
                    <a:pt x="272830" y="273387"/>
                  </a:lnTo>
                  <a:lnTo>
                    <a:pt x="313614" y="245775"/>
                  </a:lnTo>
                  <a:lnTo>
                    <a:pt x="363417" y="235633"/>
                  </a:lnTo>
                  <a:lnTo>
                    <a:pt x="413220" y="245775"/>
                  </a:lnTo>
                  <a:lnTo>
                    <a:pt x="454004" y="273387"/>
                  </a:lnTo>
                  <a:lnTo>
                    <a:pt x="481561" y="314254"/>
                  </a:lnTo>
                  <a:lnTo>
                    <a:pt x="491273" y="362144"/>
                  </a:lnTo>
                </a:path>
                <a:path w="728345" h="362585">
                  <a:moveTo>
                    <a:pt x="727904" y="362144"/>
                  </a:moveTo>
                  <a:lnTo>
                    <a:pt x="727904" y="320245"/>
                  </a:lnTo>
                  <a:lnTo>
                    <a:pt x="652014" y="283829"/>
                  </a:lnTo>
                  <a:lnTo>
                    <a:pt x="646619" y="266375"/>
                  </a:lnTo>
                  <a:lnTo>
                    <a:pt x="640122" y="249423"/>
                  </a:lnTo>
                  <a:lnTo>
                    <a:pt x="632624" y="233073"/>
                  </a:lnTo>
                  <a:lnTo>
                    <a:pt x="624223" y="217425"/>
                  </a:lnTo>
                  <a:lnTo>
                    <a:pt x="650945" y="137095"/>
                  </a:lnTo>
                  <a:lnTo>
                    <a:pt x="590019" y="76045"/>
                  </a:lnTo>
                  <a:lnTo>
                    <a:pt x="509853" y="102821"/>
                  </a:lnTo>
                  <a:lnTo>
                    <a:pt x="493620" y="94404"/>
                  </a:lnTo>
                  <a:lnTo>
                    <a:pt x="476985" y="86889"/>
                  </a:lnTo>
                  <a:lnTo>
                    <a:pt x="459950" y="80379"/>
                  </a:lnTo>
                  <a:lnTo>
                    <a:pt x="442514" y="74974"/>
                  </a:lnTo>
                  <a:lnTo>
                    <a:pt x="406172" y="0"/>
                  </a:lnTo>
                  <a:lnTo>
                    <a:pt x="320662" y="0"/>
                  </a:lnTo>
                  <a:lnTo>
                    <a:pt x="283252" y="74974"/>
                  </a:lnTo>
                  <a:lnTo>
                    <a:pt x="265832" y="80379"/>
                  </a:lnTo>
                  <a:lnTo>
                    <a:pt x="248914" y="86889"/>
                  </a:lnTo>
                  <a:lnTo>
                    <a:pt x="232597" y="94404"/>
                  </a:lnTo>
                  <a:lnTo>
                    <a:pt x="216981" y="102821"/>
                  </a:lnTo>
                  <a:lnTo>
                    <a:pt x="136816" y="76045"/>
                  </a:lnTo>
                  <a:lnTo>
                    <a:pt x="75890" y="137095"/>
                  </a:lnTo>
                  <a:lnTo>
                    <a:pt x="102612" y="217425"/>
                  </a:lnTo>
                  <a:lnTo>
                    <a:pt x="94211" y="233692"/>
                  </a:lnTo>
                  <a:lnTo>
                    <a:pt x="86712" y="250360"/>
                  </a:lnTo>
                  <a:lnTo>
                    <a:pt x="80215" y="267430"/>
                  </a:lnTo>
                  <a:lnTo>
                    <a:pt x="74821" y="284900"/>
                  </a:lnTo>
                  <a:lnTo>
                    <a:pt x="0" y="321316"/>
                  </a:lnTo>
                  <a:lnTo>
                    <a:pt x="0" y="362144"/>
                  </a:lnTo>
                </a:path>
              </a:pathLst>
            </a:custGeom>
            <a:ln w="1248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8495805" y="3220650"/>
            <a:ext cx="269240" cy="285750"/>
            <a:chOff x="8495805" y="3220650"/>
            <a:chExt cx="269240" cy="285750"/>
          </a:xfrm>
        </p:grpSpPr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61852" y="3220650"/>
              <a:ext cx="136911" cy="13698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8498214" y="3371746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6"/>
                  </a:lnTo>
                  <a:lnTo>
                    <a:pt x="7662" y="45173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498214" y="3371746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4818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/>
          <p:cNvGrpSpPr/>
          <p:nvPr/>
        </p:nvGrpSpPr>
        <p:grpSpPr>
          <a:xfrm>
            <a:off x="8850897" y="3220650"/>
            <a:ext cx="269240" cy="285750"/>
            <a:chOff x="8850897" y="3220650"/>
            <a:chExt cx="269240" cy="285750"/>
          </a:xfrm>
        </p:grpSpPr>
        <p:pic>
          <p:nvPicPr>
            <p:cNvPr id="74" name="object 7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16944" y="3220650"/>
              <a:ext cx="136911" cy="136983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8853306" y="3371746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6"/>
                  </a:lnTo>
                  <a:lnTo>
                    <a:pt x="7662" y="45173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53306" y="3371746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4818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/>
          <p:cNvGrpSpPr/>
          <p:nvPr/>
        </p:nvGrpSpPr>
        <p:grpSpPr>
          <a:xfrm>
            <a:off x="9198959" y="3213620"/>
            <a:ext cx="283210" cy="300355"/>
            <a:chOff x="9198959" y="3213620"/>
            <a:chExt cx="283210" cy="300355"/>
          </a:xfrm>
        </p:grpSpPr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5007" y="3213620"/>
              <a:ext cx="150969" cy="15104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9208398" y="3371746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18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/>
          <p:cNvGrpSpPr/>
          <p:nvPr/>
        </p:nvGrpSpPr>
        <p:grpSpPr>
          <a:xfrm>
            <a:off x="8498214" y="4468166"/>
            <a:ext cx="264795" cy="281305"/>
            <a:chOff x="8498214" y="4468166"/>
            <a:chExt cx="264795" cy="281305"/>
          </a:xfrm>
        </p:grpSpPr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64261" y="4468166"/>
              <a:ext cx="132093" cy="13216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8498214" y="4616854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7"/>
                  </a:lnTo>
                  <a:lnTo>
                    <a:pt x="7662" y="45174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/>
          <p:cNvGrpSpPr/>
          <p:nvPr/>
        </p:nvGrpSpPr>
        <p:grpSpPr>
          <a:xfrm>
            <a:off x="8853306" y="4468166"/>
            <a:ext cx="264795" cy="281305"/>
            <a:chOff x="8853306" y="4468166"/>
            <a:chExt cx="264795" cy="281305"/>
          </a:xfrm>
        </p:grpSpPr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19353" y="4468166"/>
              <a:ext cx="132093" cy="13216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8853306" y="4616854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7"/>
                  </a:lnTo>
                  <a:lnTo>
                    <a:pt x="7662" y="45174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/>
          <p:cNvGrpSpPr/>
          <p:nvPr/>
        </p:nvGrpSpPr>
        <p:grpSpPr>
          <a:xfrm>
            <a:off x="9198959" y="4458729"/>
            <a:ext cx="283210" cy="300355"/>
            <a:chOff x="9198959" y="4458729"/>
            <a:chExt cx="283210" cy="300355"/>
          </a:xfrm>
        </p:grpSpPr>
        <p:pic>
          <p:nvPicPr>
            <p:cNvPr id="87" name="object 8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65007" y="4458729"/>
              <a:ext cx="150969" cy="15104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9208398" y="4616854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18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/>
          <p:cNvGrpSpPr/>
          <p:nvPr/>
        </p:nvGrpSpPr>
        <p:grpSpPr>
          <a:xfrm>
            <a:off x="8495805" y="5591993"/>
            <a:ext cx="269240" cy="285750"/>
            <a:chOff x="8495805" y="5591993"/>
            <a:chExt cx="269240" cy="285750"/>
          </a:xfrm>
        </p:grpSpPr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1852" y="5591993"/>
              <a:ext cx="136911" cy="136983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8498214" y="5743089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7"/>
                  </a:lnTo>
                  <a:lnTo>
                    <a:pt x="7662" y="45174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498214" y="5743089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4818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/>
          <p:cNvGrpSpPr/>
          <p:nvPr/>
        </p:nvGrpSpPr>
        <p:grpSpPr>
          <a:xfrm>
            <a:off x="8850897" y="5591993"/>
            <a:ext cx="269240" cy="285750"/>
            <a:chOff x="8850897" y="5591993"/>
            <a:chExt cx="269240" cy="285750"/>
          </a:xfrm>
        </p:grpSpPr>
        <p:pic>
          <p:nvPicPr>
            <p:cNvPr id="94" name="object 9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16944" y="5591993"/>
              <a:ext cx="136911" cy="136983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8853306" y="5743089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7"/>
                  </a:lnTo>
                  <a:lnTo>
                    <a:pt x="7662" y="45174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853306" y="5743089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4818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/>
          <p:cNvGrpSpPr/>
          <p:nvPr/>
        </p:nvGrpSpPr>
        <p:grpSpPr>
          <a:xfrm>
            <a:off x="9205989" y="5591993"/>
            <a:ext cx="269240" cy="285750"/>
            <a:chOff x="9205989" y="5591993"/>
            <a:chExt cx="269240" cy="285750"/>
          </a:xfrm>
        </p:grpSpPr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72036" y="5591993"/>
              <a:ext cx="136911" cy="136983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9208398" y="5743089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7"/>
                  </a:lnTo>
                  <a:lnTo>
                    <a:pt x="7662" y="45174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9208398" y="5743089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4818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1" name="object 10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418550" y="3037459"/>
            <a:ext cx="1427545" cy="479764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417534" y="4280119"/>
            <a:ext cx="1430121" cy="478822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18550" y="5403806"/>
            <a:ext cx="1430248" cy="485177"/>
          </a:xfrm>
          <a:prstGeom prst="rect">
            <a:avLst/>
          </a:prstGeom>
        </p:spPr>
      </p:pic>
      <p:pic>
        <p:nvPicPr>
          <p:cNvPr id="104" name="object 104" descr="This Is How BRIAPI Helps FinTech Development in Indonesia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96240" y="1790700"/>
            <a:ext cx="1559052" cy="576072"/>
          </a:xfrm>
          <a:prstGeom prst="rect">
            <a:avLst/>
          </a:prstGeom>
        </p:spPr>
      </p:pic>
      <p:grpSp>
        <p:nvGrpSpPr>
          <p:cNvPr id="105" name="object 105"/>
          <p:cNvGrpSpPr/>
          <p:nvPr/>
        </p:nvGrpSpPr>
        <p:grpSpPr>
          <a:xfrm>
            <a:off x="2834385" y="1609089"/>
            <a:ext cx="758190" cy="749300"/>
            <a:chOff x="2834385" y="1609089"/>
            <a:chExt cx="758190" cy="749300"/>
          </a:xfrm>
        </p:grpSpPr>
        <p:sp>
          <p:nvSpPr>
            <p:cNvPr id="106" name="object 106"/>
            <p:cNvSpPr/>
            <p:nvPr/>
          </p:nvSpPr>
          <p:spPr>
            <a:xfrm>
              <a:off x="2840735" y="2138171"/>
              <a:ext cx="158750" cy="213360"/>
            </a:xfrm>
            <a:custGeom>
              <a:avLst/>
              <a:gdLst/>
              <a:ahLst/>
              <a:cxnLst/>
              <a:rect l="l" t="t" r="r" b="b"/>
              <a:pathLst>
                <a:path w="158750" h="213360">
                  <a:moveTo>
                    <a:pt x="158495" y="0"/>
                  </a:moveTo>
                  <a:lnTo>
                    <a:pt x="0" y="0"/>
                  </a:lnTo>
                  <a:lnTo>
                    <a:pt x="0" y="213360"/>
                  </a:lnTo>
                  <a:lnTo>
                    <a:pt x="158495" y="213360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840735" y="1615439"/>
              <a:ext cx="745490" cy="736600"/>
            </a:xfrm>
            <a:custGeom>
              <a:avLst/>
              <a:gdLst/>
              <a:ahLst/>
              <a:cxnLst/>
              <a:rect l="l" t="t" r="r" b="b"/>
              <a:pathLst>
                <a:path w="745489" h="736600">
                  <a:moveTo>
                    <a:pt x="0" y="736091"/>
                  </a:moveTo>
                  <a:lnTo>
                    <a:pt x="158495" y="736091"/>
                  </a:lnTo>
                  <a:lnTo>
                    <a:pt x="158495" y="522731"/>
                  </a:lnTo>
                  <a:lnTo>
                    <a:pt x="0" y="522731"/>
                  </a:lnTo>
                  <a:lnTo>
                    <a:pt x="0" y="736091"/>
                  </a:lnTo>
                  <a:close/>
                </a:path>
                <a:path w="745489" h="736600">
                  <a:moveTo>
                    <a:pt x="195071" y="736091"/>
                  </a:moveTo>
                  <a:lnTo>
                    <a:pt x="353567" y="736091"/>
                  </a:lnTo>
                  <a:lnTo>
                    <a:pt x="353567" y="274319"/>
                  </a:lnTo>
                  <a:lnTo>
                    <a:pt x="195071" y="274319"/>
                  </a:lnTo>
                  <a:lnTo>
                    <a:pt x="195071" y="736091"/>
                  </a:lnTo>
                  <a:close/>
                </a:path>
                <a:path w="745489" h="736600">
                  <a:moveTo>
                    <a:pt x="390144" y="736091"/>
                  </a:moveTo>
                  <a:lnTo>
                    <a:pt x="550163" y="736091"/>
                  </a:lnTo>
                  <a:lnTo>
                    <a:pt x="550163" y="160019"/>
                  </a:lnTo>
                  <a:lnTo>
                    <a:pt x="390144" y="160019"/>
                  </a:lnTo>
                  <a:lnTo>
                    <a:pt x="390144" y="736091"/>
                  </a:lnTo>
                  <a:close/>
                </a:path>
                <a:path w="745489" h="736600">
                  <a:moveTo>
                    <a:pt x="586739" y="736091"/>
                  </a:moveTo>
                  <a:lnTo>
                    <a:pt x="745236" y="736091"/>
                  </a:lnTo>
                  <a:lnTo>
                    <a:pt x="745236" y="0"/>
                  </a:lnTo>
                  <a:lnTo>
                    <a:pt x="586739" y="0"/>
                  </a:lnTo>
                  <a:lnTo>
                    <a:pt x="586739" y="736091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8" name="object 10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134532" y="1784400"/>
            <a:ext cx="403708" cy="348147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587291" y="1784396"/>
            <a:ext cx="825660" cy="348155"/>
          </a:xfrm>
          <a:prstGeom prst="rect">
            <a:avLst/>
          </a:prstGeom>
        </p:spPr>
      </p:pic>
      <p:grpSp>
        <p:nvGrpSpPr>
          <p:cNvPr id="110" name="object 110"/>
          <p:cNvGrpSpPr/>
          <p:nvPr/>
        </p:nvGrpSpPr>
        <p:grpSpPr>
          <a:xfrm>
            <a:off x="4925660" y="1569466"/>
            <a:ext cx="740410" cy="776605"/>
            <a:chOff x="4925660" y="1569466"/>
            <a:chExt cx="740410" cy="776605"/>
          </a:xfrm>
        </p:grpSpPr>
        <p:sp>
          <p:nvSpPr>
            <p:cNvPr id="111" name="object 111"/>
            <p:cNvSpPr/>
            <p:nvPr/>
          </p:nvSpPr>
          <p:spPr>
            <a:xfrm>
              <a:off x="5001767" y="1629156"/>
              <a:ext cx="213360" cy="516890"/>
            </a:xfrm>
            <a:custGeom>
              <a:avLst/>
              <a:gdLst/>
              <a:ahLst/>
              <a:cxnLst/>
              <a:rect l="l" t="t" r="r" b="b"/>
              <a:pathLst>
                <a:path w="213360" h="516889">
                  <a:moveTo>
                    <a:pt x="106680" y="0"/>
                  </a:moveTo>
                  <a:lnTo>
                    <a:pt x="0" y="106680"/>
                  </a:lnTo>
                  <a:lnTo>
                    <a:pt x="53340" y="106680"/>
                  </a:lnTo>
                  <a:lnTo>
                    <a:pt x="53340" y="516636"/>
                  </a:lnTo>
                  <a:lnTo>
                    <a:pt x="160020" y="516636"/>
                  </a:lnTo>
                  <a:lnTo>
                    <a:pt x="160020" y="106680"/>
                  </a:lnTo>
                  <a:lnTo>
                    <a:pt x="213360" y="10668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5001767" y="1629156"/>
              <a:ext cx="213360" cy="516890"/>
            </a:xfrm>
            <a:custGeom>
              <a:avLst/>
              <a:gdLst/>
              <a:ahLst/>
              <a:cxnLst/>
              <a:rect l="l" t="t" r="r" b="b"/>
              <a:pathLst>
                <a:path w="213360" h="516889">
                  <a:moveTo>
                    <a:pt x="0" y="106680"/>
                  </a:moveTo>
                  <a:lnTo>
                    <a:pt x="106680" y="0"/>
                  </a:lnTo>
                  <a:lnTo>
                    <a:pt x="213360" y="106680"/>
                  </a:lnTo>
                  <a:lnTo>
                    <a:pt x="160020" y="106680"/>
                  </a:lnTo>
                  <a:lnTo>
                    <a:pt x="160020" y="516636"/>
                  </a:lnTo>
                  <a:lnTo>
                    <a:pt x="53340" y="516636"/>
                  </a:lnTo>
                  <a:lnTo>
                    <a:pt x="53340" y="106680"/>
                  </a:lnTo>
                  <a:lnTo>
                    <a:pt x="0" y="10668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5180075" y="1575816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60" h="539750">
                  <a:moveTo>
                    <a:pt x="106679" y="0"/>
                  </a:moveTo>
                  <a:lnTo>
                    <a:pt x="0" y="106680"/>
                  </a:lnTo>
                  <a:lnTo>
                    <a:pt x="53339" y="106680"/>
                  </a:lnTo>
                  <a:lnTo>
                    <a:pt x="53339" y="539496"/>
                  </a:lnTo>
                  <a:lnTo>
                    <a:pt x="160020" y="539496"/>
                  </a:lnTo>
                  <a:lnTo>
                    <a:pt x="160020" y="106680"/>
                  </a:lnTo>
                  <a:lnTo>
                    <a:pt x="213360" y="106680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180075" y="1575816"/>
              <a:ext cx="410209" cy="603885"/>
            </a:xfrm>
            <a:custGeom>
              <a:avLst/>
              <a:gdLst/>
              <a:ahLst/>
              <a:cxnLst/>
              <a:rect l="l" t="t" r="r" b="b"/>
              <a:pathLst>
                <a:path w="410210" h="603885">
                  <a:moveTo>
                    <a:pt x="0" y="106680"/>
                  </a:moveTo>
                  <a:lnTo>
                    <a:pt x="106679" y="0"/>
                  </a:lnTo>
                  <a:lnTo>
                    <a:pt x="213360" y="106680"/>
                  </a:lnTo>
                  <a:lnTo>
                    <a:pt x="160020" y="106680"/>
                  </a:lnTo>
                  <a:lnTo>
                    <a:pt x="160020" y="539496"/>
                  </a:lnTo>
                  <a:lnTo>
                    <a:pt x="53339" y="539496"/>
                  </a:lnTo>
                  <a:lnTo>
                    <a:pt x="53339" y="106680"/>
                  </a:lnTo>
                  <a:lnTo>
                    <a:pt x="0" y="106680"/>
                  </a:lnTo>
                  <a:close/>
                </a:path>
                <a:path w="410210" h="603885">
                  <a:moveTo>
                    <a:pt x="195072" y="171450"/>
                  </a:moveTo>
                  <a:lnTo>
                    <a:pt x="302513" y="64008"/>
                  </a:lnTo>
                  <a:lnTo>
                    <a:pt x="409956" y="171450"/>
                  </a:lnTo>
                  <a:lnTo>
                    <a:pt x="356235" y="171450"/>
                  </a:lnTo>
                  <a:lnTo>
                    <a:pt x="356235" y="603504"/>
                  </a:lnTo>
                  <a:lnTo>
                    <a:pt x="248793" y="603504"/>
                  </a:lnTo>
                  <a:lnTo>
                    <a:pt x="248793" y="171450"/>
                  </a:lnTo>
                  <a:lnTo>
                    <a:pt x="195072" y="17145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931905" y="1977195"/>
              <a:ext cx="728345" cy="362585"/>
            </a:xfrm>
            <a:custGeom>
              <a:avLst/>
              <a:gdLst/>
              <a:ahLst/>
              <a:cxnLst/>
              <a:rect l="l" t="t" r="r" b="b"/>
              <a:pathLst>
                <a:path w="728345" h="362585">
                  <a:moveTo>
                    <a:pt x="136816" y="76045"/>
                  </a:moveTo>
                  <a:lnTo>
                    <a:pt x="75890" y="137096"/>
                  </a:lnTo>
                  <a:lnTo>
                    <a:pt x="102612" y="217425"/>
                  </a:lnTo>
                  <a:lnTo>
                    <a:pt x="94211" y="233692"/>
                  </a:lnTo>
                  <a:lnTo>
                    <a:pt x="86712" y="250360"/>
                  </a:lnTo>
                  <a:lnTo>
                    <a:pt x="80215" y="267430"/>
                  </a:lnTo>
                  <a:lnTo>
                    <a:pt x="74821" y="284900"/>
                  </a:lnTo>
                  <a:lnTo>
                    <a:pt x="0" y="321316"/>
                  </a:lnTo>
                  <a:lnTo>
                    <a:pt x="0" y="362144"/>
                  </a:lnTo>
                  <a:lnTo>
                    <a:pt x="235561" y="362144"/>
                  </a:lnTo>
                  <a:lnTo>
                    <a:pt x="245273" y="314255"/>
                  </a:lnTo>
                  <a:lnTo>
                    <a:pt x="272830" y="273387"/>
                  </a:lnTo>
                  <a:lnTo>
                    <a:pt x="313614" y="245775"/>
                  </a:lnTo>
                  <a:lnTo>
                    <a:pt x="363417" y="235633"/>
                  </a:lnTo>
                  <a:lnTo>
                    <a:pt x="633798" y="235633"/>
                  </a:lnTo>
                  <a:lnTo>
                    <a:pt x="632624" y="233073"/>
                  </a:lnTo>
                  <a:lnTo>
                    <a:pt x="624223" y="217425"/>
                  </a:lnTo>
                  <a:lnTo>
                    <a:pt x="650945" y="137096"/>
                  </a:lnTo>
                  <a:lnTo>
                    <a:pt x="616741" y="102822"/>
                  </a:lnTo>
                  <a:lnTo>
                    <a:pt x="216981" y="102822"/>
                  </a:lnTo>
                  <a:lnTo>
                    <a:pt x="136816" y="76045"/>
                  </a:lnTo>
                  <a:close/>
                </a:path>
                <a:path w="728345" h="362585">
                  <a:moveTo>
                    <a:pt x="633798" y="235633"/>
                  </a:moveTo>
                  <a:lnTo>
                    <a:pt x="363417" y="235633"/>
                  </a:lnTo>
                  <a:lnTo>
                    <a:pt x="413220" y="245775"/>
                  </a:lnTo>
                  <a:lnTo>
                    <a:pt x="454004" y="273387"/>
                  </a:lnTo>
                  <a:lnTo>
                    <a:pt x="481561" y="314255"/>
                  </a:lnTo>
                  <a:lnTo>
                    <a:pt x="491274" y="362144"/>
                  </a:lnTo>
                  <a:lnTo>
                    <a:pt x="727904" y="362144"/>
                  </a:lnTo>
                  <a:lnTo>
                    <a:pt x="727904" y="320245"/>
                  </a:lnTo>
                  <a:lnTo>
                    <a:pt x="652014" y="283829"/>
                  </a:lnTo>
                  <a:lnTo>
                    <a:pt x="646619" y="266375"/>
                  </a:lnTo>
                  <a:lnTo>
                    <a:pt x="640122" y="249423"/>
                  </a:lnTo>
                  <a:lnTo>
                    <a:pt x="633798" y="235633"/>
                  </a:lnTo>
                  <a:close/>
                </a:path>
                <a:path w="728345" h="362585">
                  <a:moveTo>
                    <a:pt x="406172" y="0"/>
                  </a:moveTo>
                  <a:lnTo>
                    <a:pt x="320662" y="0"/>
                  </a:lnTo>
                  <a:lnTo>
                    <a:pt x="283252" y="74974"/>
                  </a:lnTo>
                  <a:lnTo>
                    <a:pt x="265832" y="80379"/>
                  </a:lnTo>
                  <a:lnTo>
                    <a:pt x="248914" y="86889"/>
                  </a:lnTo>
                  <a:lnTo>
                    <a:pt x="232597" y="94404"/>
                  </a:lnTo>
                  <a:lnTo>
                    <a:pt x="216981" y="102822"/>
                  </a:lnTo>
                  <a:lnTo>
                    <a:pt x="509853" y="102822"/>
                  </a:lnTo>
                  <a:lnTo>
                    <a:pt x="493620" y="94404"/>
                  </a:lnTo>
                  <a:lnTo>
                    <a:pt x="476985" y="86889"/>
                  </a:lnTo>
                  <a:lnTo>
                    <a:pt x="459950" y="80379"/>
                  </a:lnTo>
                  <a:lnTo>
                    <a:pt x="442514" y="74974"/>
                  </a:lnTo>
                  <a:lnTo>
                    <a:pt x="406172" y="0"/>
                  </a:lnTo>
                  <a:close/>
                </a:path>
                <a:path w="728345" h="362585">
                  <a:moveTo>
                    <a:pt x="590019" y="76045"/>
                  </a:moveTo>
                  <a:lnTo>
                    <a:pt x="509853" y="102822"/>
                  </a:lnTo>
                  <a:lnTo>
                    <a:pt x="616741" y="102822"/>
                  </a:lnTo>
                  <a:lnTo>
                    <a:pt x="590019" y="76045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931905" y="1977195"/>
              <a:ext cx="728345" cy="362585"/>
            </a:xfrm>
            <a:custGeom>
              <a:avLst/>
              <a:gdLst/>
              <a:ahLst/>
              <a:cxnLst/>
              <a:rect l="l" t="t" r="r" b="b"/>
              <a:pathLst>
                <a:path w="728345" h="362585">
                  <a:moveTo>
                    <a:pt x="235561" y="362144"/>
                  </a:moveTo>
                  <a:lnTo>
                    <a:pt x="245273" y="314254"/>
                  </a:lnTo>
                  <a:lnTo>
                    <a:pt x="272830" y="273387"/>
                  </a:lnTo>
                  <a:lnTo>
                    <a:pt x="313614" y="245775"/>
                  </a:lnTo>
                  <a:lnTo>
                    <a:pt x="363417" y="235633"/>
                  </a:lnTo>
                  <a:lnTo>
                    <a:pt x="413220" y="245775"/>
                  </a:lnTo>
                  <a:lnTo>
                    <a:pt x="454004" y="273387"/>
                  </a:lnTo>
                  <a:lnTo>
                    <a:pt x="481561" y="314254"/>
                  </a:lnTo>
                  <a:lnTo>
                    <a:pt x="491273" y="362144"/>
                  </a:lnTo>
                </a:path>
                <a:path w="728345" h="362585">
                  <a:moveTo>
                    <a:pt x="727904" y="362144"/>
                  </a:moveTo>
                  <a:lnTo>
                    <a:pt x="727904" y="320245"/>
                  </a:lnTo>
                  <a:lnTo>
                    <a:pt x="652014" y="283829"/>
                  </a:lnTo>
                  <a:lnTo>
                    <a:pt x="646619" y="266375"/>
                  </a:lnTo>
                  <a:lnTo>
                    <a:pt x="640122" y="249423"/>
                  </a:lnTo>
                  <a:lnTo>
                    <a:pt x="632624" y="233073"/>
                  </a:lnTo>
                  <a:lnTo>
                    <a:pt x="624223" y="217425"/>
                  </a:lnTo>
                  <a:lnTo>
                    <a:pt x="650945" y="137095"/>
                  </a:lnTo>
                  <a:lnTo>
                    <a:pt x="590019" y="76045"/>
                  </a:lnTo>
                  <a:lnTo>
                    <a:pt x="509853" y="102821"/>
                  </a:lnTo>
                  <a:lnTo>
                    <a:pt x="493620" y="94404"/>
                  </a:lnTo>
                  <a:lnTo>
                    <a:pt x="476985" y="86889"/>
                  </a:lnTo>
                  <a:lnTo>
                    <a:pt x="459950" y="80379"/>
                  </a:lnTo>
                  <a:lnTo>
                    <a:pt x="442514" y="74974"/>
                  </a:lnTo>
                  <a:lnTo>
                    <a:pt x="406172" y="0"/>
                  </a:lnTo>
                  <a:lnTo>
                    <a:pt x="320662" y="0"/>
                  </a:lnTo>
                  <a:lnTo>
                    <a:pt x="283252" y="74974"/>
                  </a:lnTo>
                  <a:lnTo>
                    <a:pt x="265832" y="80379"/>
                  </a:lnTo>
                  <a:lnTo>
                    <a:pt x="248914" y="86889"/>
                  </a:lnTo>
                  <a:lnTo>
                    <a:pt x="232597" y="94404"/>
                  </a:lnTo>
                  <a:lnTo>
                    <a:pt x="216981" y="102821"/>
                  </a:lnTo>
                  <a:lnTo>
                    <a:pt x="136816" y="76045"/>
                  </a:lnTo>
                  <a:lnTo>
                    <a:pt x="75890" y="137095"/>
                  </a:lnTo>
                  <a:lnTo>
                    <a:pt x="102612" y="217425"/>
                  </a:lnTo>
                  <a:lnTo>
                    <a:pt x="94211" y="233692"/>
                  </a:lnTo>
                  <a:lnTo>
                    <a:pt x="86712" y="250360"/>
                  </a:lnTo>
                  <a:lnTo>
                    <a:pt x="80215" y="267430"/>
                  </a:lnTo>
                  <a:lnTo>
                    <a:pt x="74821" y="284900"/>
                  </a:lnTo>
                  <a:lnTo>
                    <a:pt x="0" y="321316"/>
                  </a:lnTo>
                  <a:lnTo>
                    <a:pt x="0" y="362144"/>
                  </a:lnTo>
                </a:path>
              </a:pathLst>
            </a:custGeom>
            <a:ln w="1248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" name="object 117"/>
          <p:cNvGrpSpPr/>
          <p:nvPr/>
        </p:nvGrpSpPr>
        <p:grpSpPr>
          <a:xfrm>
            <a:off x="8498214" y="1880414"/>
            <a:ext cx="264795" cy="281305"/>
            <a:chOff x="8498214" y="1880414"/>
            <a:chExt cx="264795" cy="281305"/>
          </a:xfrm>
        </p:grpSpPr>
        <p:pic>
          <p:nvPicPr>
            <p:cNvPr id="118" name="object 1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64261" y="1880414"/>
              <a:ext cx="132093" cy="13216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8498214" y="2029102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132093" y="0"/>
                  </a:moveTo>
                  <a:lnTo>
                    <a:pt x="91227" y="4878"/>
                  </a:lnTo>
                  <a:lnTo>
                    <a:pt x="43549" y="21476"/>
                  </a:lnTo>
                  <a:lnTo>
                    <a:pt x="7662" y="45173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" name="object 120"/>
          <p:cNvGrpSpPr/>
          <p:nvPr/>
        </p:nvGrpSpPr>
        <p:grpSpPr>
          <a:xfrm>
            <a:off x="8843867" y="1870977"/>
            <a:ext cx="283210" cy="300355"/>
            <a:chOff x="8843867" y="1870977"/>
            <a:chExt cx="283210" cy="300355"/>
          </a:xfrm>
        </p:grpSpPr>
        <p:pic>
          <p:nvPicPr>
            <p:cNvPr id="121" name="object 1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09915" y="1870977"/>
              <a:ext cx="150969" cy="151042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8853306" y="2029102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18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/>
          <p:cNvGrpSpPr/>
          <p:nvPr/>
        </p:nvGrpSpPr>
        <p:grpSpPr>
          <a:xfrm>
            <a:off x="9198959" y="1870977"/>
            <a:ext cx="283210" cy="300355"/>
            <a:chOff x="9198959" y="1870977"/>
            <a:chExt cx="283210" cy="300355"/>
          </a:xfrm>
        </p:grpSpPr>
        <p:pic>
          <p:nvPicPr>
            <p:cNvPr id="124" name="object 1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65007" y="1870977"/>
              <a:ext cx="150969" cy="15104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9208398" y="2029102"/>
              <a:ext cx="264795" cy="132715"/>
            </a:xfrm>
            <a:custGeom>
              <a:avLst/>
              <a:gdLst/>
              <a:ahLst/>
              <a:cxnLst/>
              <a:rect l="l" t="t" r="r" b="b"/>
              <a:pathLst>
                <a:path w="264795" h="132714">
                  <a:moveTo>
                    <a:pt x="264187" y="132166"/>
                  </a:moveTo>
                  <a:lnTo>
                    <a:pt x="264187" y="66083"/>
                  </a:lnTo>
                  <a:lnTo>
                    <a:pt x="236504" y="29401"/>
                  </a:lnTo>
                  <a:lnTo>
                    <a:pt x="186582" y="8260"/>
                  </a:lnTo>
                  <a:lnTo>
                    <a:pt x="146644" y="593"/>
                  </a:lnTo>
                  <a:lnTo>
                    <a:pt x="132093" y="0"/>
                  </a:lnTo>
                  <a:lnTo>
                    <a:pt x="118471" y="593"/>
                  </a:lnTo>
                  <a:lnTo>
                    <a:pt x="77605" y="8260"/>
                  </a:lnTo>
                  <a:lnTo>
                    <a:pt x="27682" y="30098"/>
                  </a:lnTo>
                  <a:lnTo>
                    <a:pt x="902" y="58700"/>
                  </a:lnTo>
                  <a:lnTo>
                    <a:pt x="0" y="66083"/>
                  </a:lnTo>
                  <a:lnTo>
                    <a:pt x="0" y="132166"/>
                  </a:lnTo>
                  <a:lnTo>
                    <a:pt x="264187" y="132166"/>
                  </a:lnTo>
                  <a:close/>
                </a:path>
              </a:pathLst>
            </a:custGeom>
            <a:ln w="18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6" name="object 1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418550" y="1827114"/>
            <a:ext cx="1430248" cy="485169"/>
          </a:xfrm>
          <a:prstGeom prst="rect">
            <a:avLst/>
          </a:prstGeom>
        </p:spPr>
      </p:pic>
      <p:sp>
        <p:nvSpPr>
          <p:cNvPr id="127" name="object 127" descr="$PPTXTitle"/>
          <p:cNvSpPr txBox="1">
            <a:spLocks noGrp="1"/>
          </p:cNvSpPr>
          <p:nvPr>
            <p:ph type="title"/>
          </p:nvPr>
        </p:nvSpPr>
        <p:spPr>
          <a:xfrm>
            <a:off x="189992" y="31750"/>
            <a:ext cx="306514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Potential</a:t>
            </a:r>
            <a:r>
              <a:rPr dirty="0" spc="-45"/>
              <a:t> </a:t>
            </a:r>
            <a:r>
              <a:rPr dirty="0" spc="-20"/>
              <a:t>FinTech</a:t>
            </a:r>
            <a:r>
              <a:rPr dirty="0" spc="-25"/>
              <a:t> </a:t>
            </a:r>
            <a:r>
              <a:rPr dirty="0" spc="-10"/>
              <a:t>Collaborations</a:t>
            </a:r>
          </a:p>
        </p:txBody>
      </p:sp>
      <p:sp>
        <p:nvSpPr>
          <p:cNvPr id="128" name="object 128"/>
          <p:cNvSpPr txBox="1"/>
          <p:nvPr/>
        </p:nvSpPr>
        <p:spPr>
          <a:xfrm>
            <a:off x="189992" y="307594"/>
            <a:ext cx="51409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Comparing</a:t>
            </a:r>
            <a:r>
              <a:rPr dirty="0" sz="1700" spc="-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contrasting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various</a:t>
            </a:r>
            <a:r>
              <a:rPr dirty="0" sz="1700" spc="-3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services</a:t>
            </a:r>
            <a:r>
              <a:rPr dirty="0" sz="1700" spc="-7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on</a:t>
            </a:r>
            <a:r>
              <a:rPr dirty="0" sz="1700" spc="-2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key</a:t>
            </a:r>
            <a:r>
              <a:rPr dirty="0" sz="1700" spc="-3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metrics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45083" y="6576161"/>
            <a:ext cx="8140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826767" y="6568237"/>
            <a:ext cx="651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0" y="6536817"/>
            <a:ext cx="12179300" cy="19050"/>
            <a:chOff x="0" y="6536817"/>
            <a:chExt cx="12179300" cy="19050"/>
          </a:xfrm>
        </p:grpSpPr>
        <p:sp>
          <p:nvSpPr>
            <p:cNvPr id="136" name="object 136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608582" y="6546342"/>
              <a:ext cx="1052195" cy="0"/>
            </a:xfrm>
            <a:custGeom>
              <a:avLst/>
              <a:gdLst/>
              <a:ahLst/>
              <a:cxnLst/>
              <a:rect l="l" t="t" r="r" b="b"/>
              <a:pathLst>
                <a:path w="1052195" h="0">
                  <a:moveTo>
                    <a:pt x="0" y="0"/>
                  </a:moveTo>
                  <a:lnTo>
                    <a:pt x="1051941" y="0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3212" y="763523"/>
            <a:ext cx="7714615" cy="5584190"/>
            <a:chOff x="553212" y="763523"/>
            <a:chExt cx="7714615" cy="5584190"/>
          </a:xfrm>
        </p:grpSpPr>
        <p:sp>
          <p:nvSpPr>
            <p:cNvPr id="3" name="object 3"/>
            <p:cNvSpPr/>
            <p:nvPr/>
          </p:nvSpPr>
          <p:spPr>
            <a:xfrm>
              <a:off x="553212" y="763523"/>
              <a:ext cx="7714615" cy="5584190"/>
            </a:xfrm>
            <a:custGeom>
              <a:avLst/>
              <a:gdLst/>
              <a:ahLst/>
              <a:cxnLst/>
              <a:rect l="l" t="t" r="r" b="b"/>
              <a:pathLst>
                <a:path w="7714615" h="5584190">
                  <a:moveTo>
                    <a:pt x="7714488" y="0"/>
                  </a:moveTo>
                  <a:lnTo>
                    <a:pt x="0" y="0"/>
                  </a:lnTo>
                  <a:lnTo>
                    <a:pt x="0" y="5583936"/>
                  </a:lnTo>
                  <a:lnTo>
                    <a:pt x="7714488" y="5583936"/>
                  </a:lnTo>
                  <a:lnTo>
                    <a:pt x="7714488" y="0"/>
                  </a:lnTo>
                  <a:close/>
                </a:path>
              </a:pathLst>
            </a:custGeom>
            <a:solidFill>
              <a:srgbClr val="87AA8F">
                <a:alpha val="6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2176" y="797051"/>
              <a:ext cx="1917192" cy="2350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884" y="797051"/>
              <a:ext cx="1213104" cy="22875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3256788"/>
              <a:ext cx="4655820" cy="279806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57883" y="3084576"/>
            <a:ext cx="1213485" cy="277495"/>
          </a:xfrm>
          <a:prstGeom prst="rect">
            <a:avLst/>
          </a:prstGeom>
          <a:solidFill>
            <a:srgbClr val="385622"/>
          </a:solidFill>
        </p:spPr>
        <p:txBody>
          <a:bodyPr wrap="square" lIns="0" tIns="38100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Seeker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86683" y="3084576"/>
            <a:ext cx="1213485" cy="277495"/>
          </a:xfrm>
          <a:prstGeom prst="rect">
            <a:avLst/>
          </a:prstGeom>
          <a:solidFill>
            <a:srgbClr val="385622"/>
          </a:solidFill>
        </p:spPr>
        <p:txBody>
          <a:bodyPr wrap="square" lIns="0" tIns="38100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Officer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6588" y="6009132"/>
            <a:ext cx="2623185" cy="277495"/>
          </a:xfrm>
          <a:prstGeom prst="rect">
            <a:avLst/>
          </a:prstGeom>
          <a:solidFill>
            <a:srgbClr val="385622"/>
          </a:solidFill>
        </p:spPr>
        <p:txBody>
          <a:bodyPr wrap="square" lIns="0" tIns="40005" rIns="0" bIns="0" rtlCol="0" vert="horz">
            <a:spAutoFit/>
          </a:bodyPr>
          <a:lstStyle/>
          <a:p>
            <a:pPr marL="749935">
              <a:lnSpc>
                <a:spcPct val="100000"/>
              </a:lnSpc>
              <a:spcBef>
                <a:spcPts val="315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Terminal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22748" y="5087111"/>
            <a:ext cx="431800" cy="742315"/>
          </a:xfrm>
          <a:custGeom>
            <a:avLst/>
            <a:gdLst/>
            <a:ahLst/>
            <a:cxnLst/>
            <a:rect l="l" t="t" r="r" b="b"/>
            <a:pathLst>
              <a:path w="431800" h="742314">
                <a:moveTo>
                  <a:pt x="249936" y="379476"/>
                </a:moveTo>
                <a:lnTo>
                  <a:pt x="124968" y="60960"/>
                </a:lnTo>
                <a:lnTo>
                  <a:pt x="0" y="60960"/>
                </a:lnTo>
                <a:lnTo>
                  <a:pt x="124968" y="379476"/>
                </a:lnTo>
                <a:lnTo>
                  <a:pt x="0" y="697992"/>
                </a:lnTo>
                <a:lnTo>
                  <a:pt x="124968" y="697992"/>
                </a:lnTo>
                <a:lnTo>
                  <a:pt x="249936" y="379476"/>
                </a:lnTo>
                <a:close/>
              </a:path>
              <a:path w="431800" h="742314">
                <a:moveTo>
                  <a:pt x="431292" y="371094"/>
                </a:moveTo>
                <a:lnTo>
                  <a:pt x="307086" y="0"/>
                </a:lnTo>
                <a:lnTo>
                  <a:pt x="182880" y="0"/>
                </a:lnTo>
                <a:lnTo>
                  <a:pt x="307086" y="371094"/>
                </a:lnTo>
                <a:lnTo>
                  <a:pt x="182880" y="742188"/>
                </a:lnTo>
                <a:lnTo>
                  <a:pt x="307086" y="742188"/>
                </a:lnTo>
                <a:lnTo>
                  <a:pt x="431292" y="371094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22748" y="3144011"/>
            <a:ext cx="431800" cy="742315"/>
          </a:xfrm>
          <a:custGeom>
            <a:avLst/>
            <a:gdLst/>
            <a:ahLst/>
            <a:cxnLst/>
            <a:rect l="l" t="t" r="r" b="b"/>
            <a:pathLst>
              <a:path w="431800" h="742314">
                <a:moveTo>
                  <a:pt x="249936" y="379476"/>
                </a:moveTo>
                <a:lnTo>
                  <a:pt x="124968" y="60960"/>
                </a:lnTo>
                <a:lnTo>
                  <a:pt x="0" y="60960"/>
                </a:lnTo>
                <a:lnTo>
                  <a:pt x="124968" y="379476"/>
                </a:lnTo>
                <a:lnTo>
                  <a:pt x="0" y="697992"/>
                </a:lnTo>
                <a:lnTo>
                  <a:pt x="124968" y="697992"/>
                </a:lnTo>
                <a:lnTo>
                  <a:pt x="249936" y="379476"/>
                </a:lnTo>
                <a:close/>
              </a:path>
              <a:path w="431800" h="742314">
                <a:moveTo>
                  <a:pt x="431292" y="371094"/>
                </a:moveTo>
                <a:lnTo>
                  <a:pt x="307086" y="0"/>
                </a:lnTo>
                <a:lnTo>
                  <a:pt x="182880" y="0"/>
                </a:lnTo>
                <a:lnTo>
                  <a:pt x="307086" y="371094"/>
                </a:lnTo>
                <a:lnTo>
                  <a:pt x="182880" y="742188"/>
                </a:lnTo>
                <a:lnTo>
                  <a:pt x="307086" y="742188"/>
                </a:lnTo>
                <a:lnTo>
                  <a:pt x="431292" y="371094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22748" y="1231391"/>
            <a:ext cx="431800" cy="742315"/>
          </a:xfrm>
          <a:custGeom>
            <a:avLst/>
            <a:gdLst/>
            <a:ahLst/>
            <a:cxnLst/>
            <a:rect l="l" t="t" r="r" b="b"/>
            <a:pathLst>
              <a:path w="431800" h="742314">
                <a:moveTo>
                  <a:pt x="249936" y="378714"/>
                </a:moveTo>
                <a:lnTo>
                  <a:pt x="124968" y="60960"/>
                </a:lnTo>
                <a:lnTo>
                  <a:pt x="0" y="60960"/>
                </a:lnTo>
                <a:lnTo>
                  <a:pt x="124968" y="378714"/>
                </a:lnTo>
                <a:lnTo>
                  <a:pt x="0" y="696468"/>
                </a:lnTo>
                <a:lnTo>
                  <a:pt x="124968" y="696468"/>
                </a:lnTo>
                <a:lnTo>
                  <a:pt x="249936" y="378714"/>
                </a:lnTo>
                <a:close/>
              </a:path>
              <a:path w="431800" h="742314">
                <a:moveTo>
                  <a:pt x="431292" y="371094"/>
                </a:moveTo>
                <a:lnTo>
                  <a:pt x="307086" y="0"/>
                </a:lnTo>
                <a:lnTo>
                  <a:pt x="182880" y="0"/>
                </a:lnTo>
                <a:lnTo>
                  <a:pt x="307086" y="371094"/>
                </a:lnTo>
                <a:lnTo>
                  <a:pt x="182880" y="742188"/>
                </a:lnTo>
                <a:lnTo>
                  <a:pt x="307086" y="742188"/>
                </a:lnTo>
                <a:lnTo>
                  <a:pt x="431292" y="371094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47688" y="1104900"/>
            <a:ext cx="1455420" cy="1015365"/>
          </a:xfrm>
          <a:custGeom>
            <a:avLst/>
            <a:gdLst/>
            <a:ahLst/>
            <a:cxnLst/>
            <a:rect l="l" t="t" r="r" b="b"/>
            <a:pathLst>
              <a:path w="1455420" h="1015364">
                <a:moveTo>
                  <a:pt x="1286255" y="0"/>
                </a:moveTo>
                <a:lnTo>
                  <a:pt x="169163" y="0"/>
                </a:lnTo>
                <a:lnTo>
                  <a:pt x="124177" y="6039"/>
                </a:lnTo>
                <a:lnTo>
                  <a:pt x="83763" y="23085"/>
                </a:lnTo>
                <a:lnTo>
                  <a:pt x="49529" y="49530"/>
                </a:lnTo>
                <a:lnTo>
                  <a:pt x="23085" y="83763"/>
                </a:lnTo>
                <a:lnTo>
                  <a:pt x="6039" y="124177"/>
                </a:lnTo>
                <a:lnTo>
                  <a:pt x="0" y="169163"/>
                </a:lnTo>
                <a:lnTo>
                  <a:pt x="0" y="845820"/>
                </a:lnTo>
                <a:lnTo>
                  <a:pt x="6039" y="890806"/>
                </a:lnTo>
                <a:lnTo>
                  <a:pt x="23085" y="931220"/>
                </a:lnTo>
                <a:lnTo>
                  <a:pt x="49529" y="965453"/>
                </a:lnTo>
                <a:lnTo>
                  <a:pt x="83763" y="991898"/>
                </a:lnTo>
                <a:lnTo>
                  <a:pt x="124177" y="1008944"/>
                </a:lnTo>
                <a:lnTo>
                  <a:pt x="169163" y="1014984"/>
                </a:lnTo>
                <a:lnTo>
                  <a:pt x="1286255" y="1014984"/>
                </a:lnTo>
                <a:lnTo>
                  <a:pt x="1331242" y="1008944"/>
                </a:lnTo>
                <a:lnTo>
                  <a:pt x="1371656" y="991898"/>
                </a:lnTo>
                <a:lnTo>
                  <a:pt x="1405890" y="965453"/>
                </a:lnTo>
                <a:lnTo>
                  <a:pt x="1432334" y="931220"/>
                </a:lnTo>
                <a:lnTo>
                  <a:pt x="1449380" y="890806"/>
                </a:lnTo>
                <a:lnTo>
                  <a:pt x="1455419" y="845820"/>
                </a:lnTo>
                <a:lnTo>
                  <a:pt x="1455419" y="169163"/>
                </a:lnTo>
                <a:lnTo>
                  <a:pt x="1449380" y="124177"/>
                </a:lnTo>
                <a:lnTo>
                  <a:pt x="1432334" y="83763"/>
                </a:lnTo>
                <a:lnTo>
                  <a:pt x="1405889" y="49530"/>
                </a:lnTo>
                <a:lnTo>
                  <a:pt x="1371656" y="23085"/>
                </a:lnTo>
                <a:lnTo>
                  <a:pt x="1331242" y="6039"/>
                </a:lnTo>
                <a:lnTo>
                  <a:pt x="1286255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47688" y="2962655"/>
            <a:ext cx="1455420" cy="1016635"/>
          </a:xfrm>
          <a:custGeom>
            <a:avLst/>
            <a:gdLst/>
            <a:ahLst/>
            <a:cxnLst/>
            <a:rect l="l" t="t" r="r" b="b"/>
            <a:pathLst>
              <a:path w="1455420" h="1016635">
                <a:moveTo>
                  <a:pt x="1286002" y="0"/>
                </a:moveTo>
                <a:lnTo>
                  <a:pt x="169417" y="0"/>
                </a:lnTo>
                <a:lnTo>
                  <a:pt x="124368" y="6049"/>
                </a:lnTo>
                <a:lnTo>
                  <a:pt x="83895" y="23123"/>
                </a:lnTo>
                <a:lnTo>
                  <a:pt x="49609" y="49609"/>
                </a:lnTo>
                <a:lnTo>
                  <a:pt x="23123" y="83895"/>
                </a:lnTo>
                <a:lnTo>
                  <a:pt x="6049" y="124368"/>
                </a:lnTo>
                <a:lnTo>
                  <a:pt x="0" y="169418"/>
                </a:lnTo>
                <a:lnTo>
                  <a:pt x="0" y="847090"/>
                </a:lnTo>
                <a:lnTo>
                  <a:pt x="6049" y="892139"/>
                </a:lnTo>
                <a:lnTo>
                  <a:pt x="23123" y="932612"/>
                </a:lnTo>
                <a:lnTo>
                  <a:pt x="49609" y="966898"/>
                </a:lnTo>
                <a:lnTo>
                  <a:pt x="83895" y="993384"/>
                </a:lnTo>
                <a:lnTo>
                  <a:pt x="124368" y="1010458"/>
                </a:lnTo>
                <a:lnTo>
                  <a:pt x="169417" y="1016508"/>
                </a:lnTo>
                <a:lnTo>
                  <a:pt x="1286002" y="1016508"/>
                </a:lnTo>
                <a:lnTo>
                  <a:pt x="1331051" y="1010458"/>
                </a:lnTo>
                <a:lnTo>
                  <a:pt x="1371524" y="993384"/>
                </a:lnTo>
                <a:lnTo>
                  <a:pt x="1405810" y="966898"/>
                </a:lnTo>
                <a:lnTo>
                  <a:pt x="1432296" y="932612"/>
                </a:lnTo>
                <a:lnTo>
                  <a:pt x="1449370" y="892139"/>
                </a:lnTo>
                <a:lnTo>
                  <a:pt x="1455419" y="847090"/>
                </a:lnTo>
                <a:lnTo>
                  <a:pt x="1455419" y="169418"/>
                </a:lnTo>
                <a:lnTo>
                  <a:pt x="1449370" y="124368"/>
                </a:lnTo>
                <a:lnTo>
                  <a:pt x="1432296" y="83895"/>
                </a:lnTo>
                <a:lnTo>
                  <a:pt x="1405810" y="49609"/>
                </a:lnTo>
                <a:lnTo>
                  <a:pt x="1371524" y="23123"/>
                </a:lnTo>
                <a:lnTo>
                  <a:pt x="1331051" y="6049"/>
                </a:lnTo>
                <a:lnTo>
                  <a:pt x="1286002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47688" y="4928615"/>
            <a:ext cx="1455420" cy="1016635"/>
          </a:xfrm>
          <a:custGeom>
            <a:avLst/>
            <a:gdLst/>
            <a:ahLst/>
            <a:cxnLst/>
            <a:rect l="l" t="t" r="r" b="b"/>
            <a:pathLst>
              <a:path w="1455420" h="1016635">
                <a:moveTo>
                  <a:pt x="1286002" y="0"/>
                </a:moveTo>
                <a:lnTo>
                  <a:pt x="169417" y="0"/>
                </a:lnTo>
                <a:lnTo>
                  <a:pt x="124368" y="6049"/>
                </a:lnTo>
                <a:lnTo>
                  <a:pt x="83895" y="23123"/>
                </a:lnTo>
                <a:lnTo>
                  <a:pt x="49609" y="49609"/>
                </a:lnTo>
                <a:lnTo>
                  <a:pt x="23123" y="83895"/>
                </a:lnTo>
                <a:lnTo>
                  <a:pt x="6049" y="124368"/>
                </a:lnTo>
                <a:lnTo>
                  <a:pt x="0" y="169417"/>
                </a:lnTo>
                <a:lnTo>
                  <a:pt x="0" y="847089"/>
                </a:lnTo>
                <a:lnTo>
                  <a:pt x="6049" y="892125"/>
                </a:lnTo>
                <a:lnTo>
                  <a:pt x="23123" y="932595"/>
                </a:lnTo>
                <a:lnTo>
                  <a:pt x="49609" y="966884"/>
                </a:lnTo>
                <a:lnTo>
                  <a:pt x="83895" y="993376"/>
                </a:lnTo>
                <a:lnTo>
                  <a:pt x="124368" y="1010455"/>
                </a:lnTo>
                <a:lnTo>
                  <a:pt x="169417" y="1016507"/>
                </a:lnTo>
                <a:lnTo>
                  <a:pt x="1286002" y="1016507"/>
                </a:lnTo>
                <a:lnTo>
                  <a:pt x="1331051" y="1010455"/>
                </a:lnTo>
                <a:lnTo>
                  <a:pt x="1371524" y="993376"/>
                </a:lnTo>
                <a:lnTo>
                  <a:pt x="1405810" y="966884"/>
                </a:lnTo>
                <a:lnTo>
                  <a:pt x="1432296" y="932595"/>
                </a:lnTo>
                <a:lnTo>
                  <a:pt x="1449370" y="892125"/>
                </a:lnTo>
                <a:lnTo>
                  <a:pt x="1455419" y="847089"/>
                </a:lnTo>
                <a:lnTo>
                  <a:pt x="1455419" y="169417"/>
                </a:lnTo>
                <a:lnTo>
                  <a:pt x="1449370" y="124368"/>
                </a:lnTo>
                <a:lnTo>
                  <a:pt x="1432296" y="83895"/>
                </a:lnTo>
                <a:lnTo>
                  <a:pt x="1405810" y="49609"/>
                </a:lnTo>
                <a:lnTo>
                  <a:pt x="1371524" y="23123"/>
                </a:lnTo>
                <a:lnTo>
                  <a:pt x="1331051" y="6049"/>
                </a:lnTo>
                <a:lnTo>
                  <a:pt x="1286002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3212" y="763523"/>
            <a:ext cx="7714615" cy="5584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6284595" marR="346710">
              <a:lnSpc>
                <a:spcPct val="100000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Boots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6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Ground Approach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Calibri"/>
              <a:cs typeface="Calibri"/>
            </a:endParaRPr>
          </a:p>
          <a:p>
            <a:pPr algn="ctr" marL="6363335" marR="422275" indent="-1905">
              <a:lnSpc>
                <a:spcPct val="100000"/>
              </a:lnSpc>
            </a:pP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Low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Bandwidth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600">
              <a:latin typeface="Calibri"/>
              <a:cs typeface="Calibri"/>
            </a:endParaRPr>
          </a:p>
          <a:p>
            <a:pPr algn="ctr" marL="5930900">
              <a:lnSpc>
                <a:spcPct val="100000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dirty="0" sz="16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Trails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79357" y="991361"/>
            <a:ext cx="3138170" cy="1239520"/>
          </a:xfrm>
          <a:prstGeom prst="rect">
            <a:avLst/>
          </a:prstGeom>
          <a:ln w="19050">
            <a:solidFill>
              <a:srgbClr val="385622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260985" marR="99695" indent="-17272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60985" algn="l"/>
              </a:tabLst>
            </a:pPr>
            <a:r>
              <a:rPr dirty="0" sz="1200" spc="-10">
                <a:latin typeface="Calibri"/>
                <a:cs typeface="Calibri"/>
              </a:rPr>
              <a:t>Developers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significant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visits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observe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day-to-</a:t>
            </a:r>
            <a:r>
              <a:rPr dirty="0" sz="1200">
                <a:latin typeface="Calibri"/>
                <a:cs typeface="Calibri"/>
              </a:rPr>
              <a:t>day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workings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MIS</a:t>
            </a:r>
            <a:endParaRPr sz="1200">
              <a:latin typeface="Calibri"/>
              <a:cs typeface="Calibri"/>
            </a:endParaRPr>
          </a:p>
          <a:p>
            <a:pPr marL="260985" marR="364490" indent="-1727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0985" algn="l"/>
              </a:tabLst>
            </a:pPr>
            <a:r>
              <a:rPr dirty="0" sz="1200" spc="-10">
                <a:latin typeface="Calibri"/>
                <a:cs typeface="Calibri"/>
              </a:rPr>
              <a:t>Two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obstacles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identified: operations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offers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connecting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79357" y="2740914"/>
            <a:ext cx="3138170" cy="1377950"/>
          </a:xfrm>
          <a:prstGeom prst="rect">
            <a:avLst/>
          </a:prstGeom>
          <a:ln w="19050">
            <a:solidFill>
              <a:srgbClr val="385622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marL="260985" marR="112395" indent="-17272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6098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program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designed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 work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HTML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tablets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web </a:t>
            </a:r>
            <a:r>
              <a:rPr dirty="0" sz="1200" spc="-10">
                <a:latin typeface="Calibri"/>
                <a:cs typeface="Calibri"/>
              </a:rPr>
              <a:t>browser</a:t>
            </a:r>
            <a:endParaRPr sz="1200">
              <a:latin typeface="Calibri"/>
              <a:cs typeface="Calibri"/>
            </a:endParaRPr>
          </a:p>
          <a:p>
            <a:pPr marL="260985" marR="196215" indent="-172720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dirty="0" sz="1200" spc="-10">
                <a:latin typeface="Calibri"/>
                <a:cs typeface="Calibri"/>
              </a:rPr>
              <a:t>Receipts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Bluetooth printers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synchronized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 physical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79357" y="4748021"/>
            <a:ext cx="3138170" cy="1379220"/>
          </a:xfrm>
          <a:prstGeom prst="rect">
            <a:avLst/>
          </a:prstGeom>
          <a:ln w="19050">
            <a:solidFill>
              <a:srgbClr val="385622"/>
            </a:solidFill>
          </a:ln>
        </p:spPr>
        <p:txBody>
          <a:bodyPr wrap="square" lIns="0" tIns="126365" rIns="0" bIns="0" rtlCol="0" vert="horz">
            <a:spAutoFit/>
          </a:bodyPr>
          <a:lstStyle/>
          <a:p>
            <a:pPr marL="260985" marR="164465" indent="-172720">
              <a:lnSpc>
                <a:spcPct val="100000"/>
              </a:lnSpc>
              <a:spcBef>
                <a:spcPts val="995"/>
              </a:spcBef>
              <a:buFont typeface="Arial MT"/>
              <a:buChar char="•"/>
              <a:tabLst>
                <a:tab pos="260985" algn="l"/>
              </a:tabLst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entries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User </a:t>
            </a:r>
            <a:r>
              <a:rPr dirty="0" sz="1200">
                <a:latin typeface="Calibri"/>
                <a:cs typeface="Calibri"/>
              </a:rPr>
              <a:t>ID,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time </a:t>
            </a:r>
            <a:r>
              <a:rPr dirty="0" sz="1200">
                <a:latin typeface="Calibri"/>
                <a:cs typeface="Calibri"/>
              </a:rPr>
              <a:t>stamps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transparency</a:t>
            </a:r>
            <a:endParaRPr sz="1200">
              <a:latin typeface="Calibri"/>
              <a:cs typeface="Calibri"/>
            </a:endParaRPr>
          </a:p>
          <a:p>
            <a:pPr marL="260985" marR="207010" indent="-172720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scope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easier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audit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1" name="object 21" descr="Delete 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72911" y="3107435"/>
            <a:ext cx="812291" cy="813815"/>
          </a:xfrm>
          <a:prstGeom prst="rect">
            <a:avLst/>
          </a:prstGeom>
        </p:spPr>
      </p:pic>
      <p:pic>
        <p:nvPicPr>
          <p:cNvPr id="22" name="object 22" descr="Audit 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43955" y="5087111"/>
            <a:ext cx="742188" cy="742188"/>
          </a:xfrm>
          <a:prstGeom prst="rect">
            <a:avLst/>
          </a:prstGeom>
        </p:spPr>
      </p:pic>
      <p:pic>
        <p:nvPicPr>
          <p:cNvPr id="23" name="object 23" descr="Chart 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48528" y="1211580"/>
            <a:ext cx="813816" cy="812291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Prodigy:</a:t>
            </a:r>
            <a:r>
              <a:rPr dirty="0" spc="-45"/>
              <a:t> </a:t>
            </a:r>
            <a:r>
              <a:rPr dirty="0"/>
              <a:t>TBOP's</a:t>
            </a:r>
            <a:r>
              <a:rPr dirty="0" spc="-10"/>
              <a:t> </a:t>
            </a:r>
            <a:r>
              <a:rPr dirty="0"/>
              <a:t>financial</a:t>
            </a:r>
            <a:r>
              <a:rPr dirty="0" spc="-55"/>
              <a:t> </a:t>
            </a:r>
            <a:r>
              <a:rPr dirty="0"/>
              <a:t>services</a:t>
            </a:r>
            <a:r>
              <a:rPr dirty="0" spc="-40"/>
              <a:t> </a:t>
            </a:r>
            <a:r>
              <a:rPr dirty="0" spc="-10"/>
              <a:t>software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 spc="-20"/>
              <a:t>MFIs</a:t>
            </a:r>
          </a:p>
          <a:p>
            <a:pPr marL="123825">
              <a:lnSpc>
                <a:spcPct val="100000"/>
              </a:lnSpc>
              <a:spcBef>
                <a:spcPts val="15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Outline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interface</a:t>
            </a: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features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1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Indonesian-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centric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platform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5083" y="6576161"/>
            <a:ext cx="19335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</a:tabLst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r>
              <a:rPr dirty="0" sz="1400">
                <a:solidFill>
                  <a:srgbClr val="A4A4A4"/>
                </a:solidFill>
                <a:latin typeface="Calibri"/>
                <a:cs typeface="Calibri"/>
              </a:rPr>
              <a:t>	</a:t>
            </a:r>
            <a:r>
              <a:rPr dirty="0" baseline="1984" sz="2100" spc="-15" b="1">
                <a:solidFill>
                  <a:srgbClr val="385622"/>
                </a:solidFill>
                <a:latin typeface="Calibri"/>
                <a:cs typeface="Calibri"/>
              </a:rPr>
              <a:t>FINTECH</a:t>
            </a:r>
            <a:endParaRPr baseline="1984" sz="2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74085" y="6576161"/>
            <a:ext cx="54140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2910" algn="l"/>
                <a:tab pos="3689350" algn="l"/>
                <a:tab pos="4708525" algn="l"/>
              </a:tabLst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6536817"/>
            <a:ext cx="12179300" cy="19050"/>
            <a:chOff x="0" y="6536817"/>
            <a:chExt cx="12179300" cy="19050"/>
          </a:xfrm>
        </p:grpSpPr>
        <p:sp>
          <p:nvSpPr>
            <p:cNvPr id="28" name="object 28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608582" y="6546342"/>
              <a:ext cx="1052195" cy="0"/>
            </a:xfrm>
            <a:custGeom>
              <a:avLst/>
              <a:gdLst/>
              <a:ahLst/>
              <a:cxnLst/>
              <a:rect l="l" t="t" r="r" b="b"/>
              <a:pathLst>
                <a:path w="1052195" h="0">
                  <a:moveTo>
                    <a:pt x="0" y="0"/>
                  </a:moveTo>
                  <a:lnTo>
                    <a:pt x="1051941" y="0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53355" y="1367027"/>
            <a:ext cx="1853564" cy="943610"/>
          </a:xfrm>
          <a:custGeom>
            <a:avLst/>
            <a:gdLst/>
            <a:ahLst/>
            <a:cxnLst/>
            <a:rect l="l" t="t" r="r" b="b"/>
            <a:pathLst>
              <a:path w="1853565" h="943610">
                <a:moveTo>
                  <a:pt x="926592" y="0"/>
                </a:moveTo>
                <a:lnTo>
                  <a:pt x="0" y="471677"/>
                </a:lnTo>
                <a:lnTo>
                  <a:pt x="926592" y="943356"/>
                </a:lnTo>
                <a:lnTo>
                  <a:pt x="1853184" y="471677"/>
                </a:lnTo>
                <a:lnTo>
                  <a:pt x="926592" y="0"/>
                </a:lnTo>
                <a:close/>
              </a:path>
            </a:pathLst>
          </a:custGeom>
          <a:solidFill>
            <a:srgbClr val="87AA8F">
              <a:alpha val="5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1060" y="1005839"/>
            <a:ext cx="3145790" cy="1301750"/>
          </a:xfrm>
          <a:custGeom>
            <a:avLst/>
            <a:gdLst/>
            <a:ahLst/>
            <a:cxnLst/>
            <a:rect l="l" t="t" r="r" b="b"/>
            <a:pathLst>
              <a:path w="3145790" h="1301750">
                <a:moveTo>
                  <a:pt x="3145536" y="0"/>
                </a:moveTo>
                <a:lnTo>
                  <a:pt x="0" y="0"/>
                </a:lnTo>
                <a:lnTo>
                  <a:pt x="0" y="1301496"/>
                </a:lnTo>
                <a:lnTo>
                  <a:pt x="3145536" y="1301496"/>
                </a:lnTo>
                <a:lnTo>
                  <a:pt x="314553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Businessman 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1072" y="1242060"/>
            <a:ext cx="784860" cy="7848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483" y="1293875"/>
            <a:ext cx="682752" cy="33985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81100" y="1685544"/>
            <a:ext cx="719455" cy="367665"/>
            <a:chOff x="1181100" y="1685544"/>
            <a:chExt cx="719455" cy="367665"/>
          </a:xfrm>
        </p:grpSpPr>
        <p:pic>
          <p:nvPicPr>
            <p:cNvPr id="8" name="object 8" descr="Woman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100" y="1685544"/>
              <a:ext cx="365759" cy="367284"/>
            </a:xfrm>
            <a:prstGeom prst="rect">
              <a:avLst/>
            </a:prstGeom>
          </p:spPr>
        </p:pic>
        <p:pic>
          <p:nvPicPr>
            <p:cNvPr id="9" name="object 9" descr="Svg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9052" y="1694688"/>
              <a:ext cx="341376" cy="348996"/>
            </a:xfrm>
            <a:prstGeom prst="rect">
              <a:avLst/>
            </a:prstGeom>
          </p:spPr>
        </p:pic>
      </p:grpSp>
      <p:pic>
        <p:nvPicPr>
          <p:cNvPr id="10" name="object 10" descr="Tablet 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5348" y="1424939"/>
            <a:ext cx="606551" cy="60655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672573" y="755650"/>
            <a:ext cx="1419860" cy="1671320"/>
            <a:chOff x="9672573" y="755650"/>
            <a:chExt cx="1419860" cy="1671320"/>
          </a:xfrm>
        </p:grpSpPr>
        <p:sp>
          <p:nvSpPr>
            <p:cNvPr id="12" name="object 12"/>
            <p:cNvSpPr/>
            <p:nvPr/>
          </p:nvSpPr>
          <p:spPr>
            <a:xfrm>
              <a:off x="9678923" y="937768"/>
              <a:ext cx="1407160" cy="1482725"/>
            </a:xfrm>
            <a:custGeom>
              <a:avLst/>
              <a:gdLst/>
              <a:ahLst/>
              <a:cxnLst/>
              <a:rect l="l" t="t" r="r" b="b"/>
              <a:pathLst>
                <a:path w="1407159" h="1482725">
                  <a:moveTo>
                    <a:pt x="1406652" y="0"/>
                  </a:moveTo>
                  <a:lnTo>
                    <a:pt x="1392365" y="35452"/>
                  </a:lnTo>
                  <a:lnTo>
                    <a:pt x="1351389" y="68470"/>
                  </a:lnTo>
                  <a:lnTo>
                    <a:pt x="1286549" y="98349"/>
                  </a:lnTo>
                  <a:lnTo>
                    <a:pt x="1246064" y="111890"/>
                  </a:lnTo>
                  <a:lnTo>
                    <a:pt x="1200673" y="124380"/>
                  </a:lnTo>
                  <a:lnTo>
                    <a:pt x="1150730" y="135732"/>
                  </a:lnTo>
                  <a:lnTo>
                    <a:pt x="1096587" y="145857"/>
                  </a:lnTo>
                  <a:lnTo>
                    <a:pt x="1038598" y="154667"/>
                  </a:lnTo>
                  <a:lnTo>
                    <a:pt x="977116" y="162073"/>
                  </a:lnTo>
                  <a:lnTo>
                    <a:pt x="912494" y="167988"/>
                  </a:lnTo>
                  <a:lnTo>
                    <a:pt x="845087" y="172321"/>
                  </a:lnTo>
                  <a:lnTo>
                    <a:pt x="775246" y="174986"/>
                  </a:lnTo>
                  <a:lnTo>
                    <a:pt x="703326" y="175895"/>
                  </a:lnTo>
                  <a:lnTo>
                    <a:pt x="631405" y="174986"/>
                  </a:lnTo>
                  <a:lnTo>
                    <a:pt x="561564" y="172321"/>
                  </a:lnTo>
                  <a:lnTo>
                    <a:pt x="494157" y="167988"/>
                  </a:lnTo>
                  <a:lnTo>
                    <a:pt x="429535" y="162073"/>
                  </a:lnTo>
                  <a:lnTo>
                    <a:pt x="368053" y="154667"/>
                  </a:lnTo>
                  <a:lnTo>
                    <a:pt x="310064" y="145857"/>
                  </a:lnTo>
                  <a:lnTo>
                    <a:pt x="255921" y="135732"/>
                  </a:lnTo>
                  <a:lnTo>
                    <a:pt x="205978" y="124380"/>
                  </a:lnTo>
                  <a:lnTo>
                    <a:pt x="160587" y="111890"/>
                  </a:lnTo>
                  <a:lnTo>
                    <a:pt x="120102" y="98349"/>
                  </a:lnTo>
                  <a:lnTo>
                    <a:pt x="55262" y="68470"/>
                  </a:lnTo>
                  <a:lnTo>
                    <a:pt x="14286" y="35452"/>
                  </a:lnTo>
                  <a:lnTo>
                    <a:pt x="0" y="0"/>
                  </a:lnTo>
                  <a:lnTo>
                    <a:pt x="0" y="1306449"/>
                  </a:lnTo>
                  <a:lnTo>
                    <a:pt x="14286" y="1341901"/>
                  </a:lnTo>
                  <a:lnTo>
                    <a:pt x="55262" y="1374919"/>
                  </a:lnTo>
                  <a:lnTo>
                    <a:pt x="120102" y="1404798"/>
                  </a:lnTo>
                  <a:lnTo>
                    <a:pt x="160587" y="1418339"/>
                  </a:lnTo>
                  <a:lnTo>
                    <a:pt x="205978" y="1430829"/>
                  </a:lnTo>
                  <a:lnTo>
                    <a:pt x="255921" y="1442181"/>
                  </a:lnTo>
                  <a:lnTo>
                    <a:pt x="310064" y="1452306"/>
                  </a:lnTo>
                  <a:lnTo>
                    <a:pt x="368053" y="1461116"/>
                  </a:lnTo>
                  <a:lnTo>
                    <a:pt x="429535" y="1468522"/>
                  </a:lnTo>
                  <a:lnTo>
                    <a:pt x="494157" y="1474437"/>
                  </a:lnTo>
                  <a:lnTo>
                    <a:pt x="561564" y="1478770"/>
                  </a:lnTo>
                  <a:lnTo>
                    <a:pt x="631405" y="1481435"/>
                  </a:lnTo>
                  <a:lnTo>
                    <a:pt x="703326" y="1482344"/>
                  </a:lnTo>
                  <a:lnTo>
                    <a:pt x="775246" y="1481435"/>
                  </a:lnTo>
                  <a:lnTo>
                    <a:pt x="845087" y="1478770"/>
                  </a:lnTo>
                  <a:lnTo>
                    <a:pt x="912494" y="1474437"/>
                  </a:lnTo>
                  <a:lnTo>
                    <a:pt x="977116" y="1468522"/>
                  </a:lnTo>
                  <a:lnTo>
                    <a:pt x="1038598" y="1461116"/>
                  </a:lnTo>
                  <a:lnTo>
                    <a:pt x="1096587" y="1452306"/>
                  </a:lnTo>
                  <a:lnTo>
                    <a:pt x="1150730" y="1442181"/>
                  </a:lnTo>
                  <a:lnTo>
                    <a:pt x="1200673" y="1430829"/>
                  </a:lnTo>
                  <a:lnTo>
                    <a:pt x="1246064" y="1418339"/>
                  </a:lnTo>
                  <a:lnTo>
                    <a:pt x="1286549" y="1404798"/>
                  </a:lnTo>
                  <a:lnTo>
                    <a:pt x="1351389" y="1374919"/>
                  </a:lnTo>
                  <a:lnTo>
                    <a:pt x="1392365" y="1341901"/>
                  </a:lnTo>
                  <a:lnTo>
                    <a:pt x="1406652" y="1306449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678923" y="762000"/>
              <a:ext cx="1407160" cy="351790"/>
            </a:xfrm>
            <a:custGeom>
              <a:avLst/>
              <a:gdLst/>
              <a:ahLst/>
              <a:cxnLst/>
              <a:rect l="l" t="t" r="r" b="b"/>
              <a:pathLst>
                <a:path w="1407159" h="351790">
                  <a:moveTo>
                    <a:pt x="703326" y="0"/>
                  </a:moveTo>
                  <a:lnTo>
                    <a:pt x="631405" y="907"/>
                  </a:lnTo>
                  <a:lnTo>
                    <a:pt x="561564" y="3572"/>
                  </a:lnTo>
                  <a:lnTo>
                    <a:pt x="494157" y="7906"/>
                  </a:lnTo>
                  <a:lnTo>
                    <a:pt x="429535" y="13819"/>
                  </a:lnTo>
                  <a:lnTo>
                    <a:pt x="368053" y="21223"/>
                  </a:lnTo>
                  <a:lnTo>
                    <a:pt x="310064" y="30030"/>
                  </a:lnTo>
                  <a:lnTo>
                    <a:pt x="255921" y="40151"/>
                  </a:lnTo>
                  <a:lnTo>
                    <a:pt x="205978" y="51498"/>
                  </a:lnTo>
                  <a:lnTo>
                    <a:pt x="160587" y="63982"/>
                  </a:lnTo>
                  <a:lnTo>
                    <a:pt x="120102" y="77514"/>
                  </a:lnTo>
                  <a:lnTo>
                    <a:pt x="55262" y="107370"/>
                  </a:lnTo>
                  <a:lnTo>
                    <a:pt x="14286" y="140357"/>
                  </a:lnTo>
                  <a:lnTo>
                    <a:pt x="0" y="175767"/>
                  </a:lnTo>
                  <a:lnTo>
                    <a:pt x="3630" y="193754"/>
                  </a:lnTo>
                  <a:lnTo>
                    <a:pt x="31615" y="228077"/>
                  </a:lnTo>
                  <a:lnTo>
                    <a:pt x="84876" y="259614"/>
                  </a:lnTo>
                  <a:lnTo>
                    <a:pt x="160587" y="287658"/>
                  </a:lnTo>
                  <a:lnTo>
                    <a:pt x="205978" y="300148"/>
                  </a:lnTo>
                  <a:lnTo>
                    <a:pt x="255921" y="311500"/>
                  </a:lnTo>
                  <a:lnTo>
                    <a:pt x="310064" y="321625"/>
                  </a:lnTo>
                  <a:lnTo>
                    <a:pt x="368053" y="330435"/>
                  </a:lnTo>
                  <a:lnTo>
                    <a:pt x="429535" y="337841"/>
                  </a:lnTo>
                  <a:lnTo>
                    <a:pt x="494157" y="343756"/>
                  </a:lnTo>
                  <a:lnTo>
                    <a:pt x="561564" y="348089"/>
                  </a:lnTo>
                  <a:lnTo>
                    <a:pt x="631405" y="350754"/>
                  </a:lnTo>
                  <a:lnTo>
                    <a:pt x="703326" y="351663"/>
                  </a:lnTo>
                  <a:lnTo>
                    <a:pt x="775246" y="350754"/>
                  </a:lnTo>
                  <a:lnTo>
                    <a:pt x="845087" y="348089"/>
                  </a:lnTo>
                  <a:lnTo>
                    <a:pt x="912494" y="343756"/>
                  </a:lnTo>
                  <a:lnTo>
                    <a:pt x="977116" y="337841"/>
                  </a:lnTo>
                  <a:lnTo>
                    <a:pt x="1038598" y="330435"/>
                  </a:lnTo>
                  <a:lnTo>
                    <a:pt x="1096587" y="321625"/>
                  </a:lnTo>
                  <a:lnTo>
                    <a:pt x="1150730" y="311500"/>
                  </a:lnTo>
                  <a:lnTo>
                    <a:pt x="1200673" y="300148"/>
                  </a:lnTo>
                  <a:lnTo>
                    <a:pt x="1246064" y="287658"/>
                  </a:lnTo>
                  <a:lnTo>
                    <a:pt x="1286549" y="274117"/>
                  </a:lnTo>
                  <a:lnTo>
                    <a:pt x="1351389" y="244238"/>
                  </a:lnTo>
                  <a:lnTo>
                    <a:pt x="1392365" y="211220"/>
                  </a:lnTo>
                  <a:lnTo>
                    <a:pt x="1406652" y="175767"/>
                  </a:lnTo>
                  <a:lnTo>
                    <a:pt x="1403021" y="157804"/>
                  </a:lnTo>
                  <a:lnTo>
                    <a:pt x="1375036" y="123517"/>
                  </a:lnTo>
                  <a:lnTo>
                    <a:pt x="1321775" y="92006"/>
                  </a:lnTo>
                  <a:lnTo>
                    <a:pt x="1246064" y="63982"/>
                  </a:lnTo>
                  <a:lnTo>
                    <a:pt x="1200673" y="51498"/>
                  </a:lnTo>
                  <a:lnTo>
                    <a:pt x="1150730" y="40151"/>
                  </a:lnTo>
                  <a:lnTo>
                    <a:pt x="1096587" y="30030"/>
                  </a:lnTo>
                  <a:lnTo>
                    <a:pt x="1038598" y="21223"/>
                  </a:lnTo>
                  <a:lnTo>
                    <a:pt x="977116" y="13819"/>
                  </a:lnTo>
                  <a:lnTo>
                    <a:pt x="912494" y="7906"/>
                  </a:lnTo>
                  <a:lnTo>
                    <a:pt x="845087" y="3572"/>
                  </a:lnTo>
                  <a:lnTo>
                    <a:pt x="775246" y="907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879A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678923" y="762000"/>
              <a:ext cx="1407160" cy="1658620"/>
            </a:xfrm>
            <a:custGeom>
              <a:avLst/>
              <a:gdLst/>
              <a:ahLst/>
              <a:cxnLst/>
              <a:rect l="l" t="t" r="r" b="b"/>
              <a:pathLst>
                <a:path w="1407159" h="1658620">
                  <a:moveTo>
                    <a:pt x="1406652" y="175767"/>
                  </a:moveTo>
                  <a:lnTo>
                    <a:pt x="1392365" y="211220"/>
                  </a:lnTo>
                  <a:lnTo>
                    <a:pt x="1351389" y="244238"/>
                  </a:lnTo>
                  <a:lnTo>
                    <a:pt x="1286549" y="274117"/>
                  </a:lnTo>
                  <a:lnTo>
                    <a:pt x="1246064" y="287658"/>
                  </a:lnTo>
                  <a:lnTo>
                    <a:pt x="1200673" y="300148"/>
                  </a:lnTo>
                  <a:lnTo>
                    <a:pt x="1150730" y="311500"/>
                  </a:lnTo>
                  <a:lnTo>
                    <a:pt x="1096587" y="321625"/>
                  </a:lnTo>
                  <a:lnTo>
                    <a:pt x="1038598" y="330435"/>
                  </a:lnTo>
                  <a:lnTo>
                    <a:pt x="977116" y="337841"/>
                  </a:lnTo>
                  <a:lnTo>
                    <a:pt x="912494" y="343756"/>
                  </a:lnTo>
                  <a:lnTo>
                    <a:pt x="845087" y="348089"/>
                  </a:lnTo>
                  <a:lnTo>
                    <a:pt x="775246" y="350754"/>
                  </a:lnTo>
                  <a:lnTo>
                    <a:pt x="703326" y="351663"/>
                  </a:lnTo>
                  <a:lnTo>
                    <a:pt x="631405" y="350754"/>
                  </a:lnTo>
                  <a:lnTo>
                    <a:pt x="561564" y="348089"/>
                  </a:lnTo>
                  <a:lnTo>
                    <a:pt x="494157" y="343756"/>
                  </a:lnTo>
                  <a:lnTo>
                    <a:pt x="429535" y="337841"/>
                  </a:lnTo>
                  <a:lnTo>
                    <a:pt x="368053" y="330435"/>
                  </a:lnTo>
                  <a:lnTo>
                    <a:pt x="310064" y="321625"/>
                  </a:lnTo>
                  <a:lnTo>
                    <a:pt x="255921" y="311500"/>
                  </a:lnTo>
                  <a:lnTo>
                    <a:pt x="205978" y="300148"/>
                  </a:lnTo>
                  <a:lnTo>
                    <a:pt x="160587" y="287658"/>
                  </a:lnTo>
                  <a:lnTo>
                    <a:pt x="120102" y="274117"/>
                  </a:lnTo>
                  <a:lnTo>
                    <a:pt x="55262" y="244238"/>
                  </a:lnTo>
                  <a:lnTo>
                    <a:pt x="14286" y="211220"/>
                  </a:lnTo>
                  <a:lnTo>
                    <a:pt x="0" y="175767"/>
                  </a:lnTo>
                  <a:lnTo>
                    <a:pt x="3630" y="157804"/>
                  </a:lnTo>
                  <a:lnTo>
                    <a:pt x="31615" y="123517"/>
                  </a:lnTo>
                  <a:lnTo>
                    <a:pt x="84876" y="92006"/>
                  </a:lnTo>
                  <a:lnTo>
                    <a:pt x="160587" y="63982"/>
                  </a:lnTo>
                  <a:lnTo>
                    <a:pt x="205978" y="51498"/>
                  </a:lnTo>
                  <a:lnTo>
                    <a:pt x="255921" y="40151"/>
                  </a:lnTo>
                  <a:lnTo>
                    <a:pt x="310064" y="30030"/>
                  </a:lnTo>
                  <a:lnTo>
                    <a:pt x="368053" y="21223"/>
                  </a:lnTo>
                  <a:lnTo>
                    <a:pt x="429535" y="13819"/>
                  </a:lnTo>
                  <a:lnTo>
                    <a:pt x="494157" y="7906"/>
                  </a:lnTo>
                  <a:lnTo>
                    <a:pt x="561564" y="3572"/>
                  </a:lnTo>
                  <a:lnTo>
                    <a:pt x="631405" y="907"/>
                  </a:lnTo>
                  <a:lnTo>
                    <a:pt x="703326" y="0"/>
                  </a:lnTo>
                  <a:lnTo>
                    <a:pt x="775246" y="907"/>
                  </a:lnTo>
                  <a:lnTo>
                    <a:pt x="845087" y="3572"/>
                  </a:lnTo>
                  <a:lnTo>
                    <a:pt x="912494" y="7906"/>
                  </a:lnTo>
                  <a:lnTo>
                    <a:pt x="977116" y="13819"/>
                  </a:lnTo>
                  <a:lnTo>
                    <a:pt x="1038598" y="21223"/>
                  </a:lnTo>
                  <a:lnTo>
                    <a:pt x="1096587" y="30030"/>
                  </a:lnTo>
                  <a:lnTo>
                    <a:pt x="1150730" y="40151"/>
                  </a:lnTo>
                  <a:lnTo>
                    <a:pt x="1200673" y="51498"/>
                  </a:lnTo>
                  <a:lnTo>
                    <a:pt x="1246064" y="63982"/>
                  </a:lnTo>
                  <a:lnTo>
                    <a:pt x="1286549" y="77514"/>
                  </a:lnTo>
                  <a:lnTo>
                    <a:pt x="1351389" y="107370"/>
                  </a:lnTo>
                  <a:lnTo>
                    <a:pt x="1392365" y="140357"/>
                  </a:lnTo>
                  <a:lnTo>
                    <a:pt x="1406652" y="175767"/>
                  </a:lnTo>
                  <a:lnTo>
                    <a:pt x="1406652" y="1482216"/>
                  </a:lnTo>
                  <a:lnTo>
                    <a:pt x="1392365" y="1517669"/>
                  </a:lnTo>
                  <a:lnTo>
                    <a:pt x="1351389" y="1550687"/>
                  </a:lnTo>
                  <a:lnTo>
                    <a:pt x="1286549" y="1580566"/>
                  </a:lnTo>
                  <a:lnTo>
                    <a:pt x="1246064" y="1594107"/>
                  </a:lnTo>
                  <a:lnTo>
                    <a:pt x="1200673" y="1606597"/>
                  </a:lnTo>
                  <a:lnTo>
                    <a:pt x="1150730" y="1617949"/>
                  </a:lnTo>
                  <a:lnTo>
                    <a:pt x="1096587" y="1628074"/>
                  </a:lnTo>
                  <a:lnTo>
                    <a:pt x="1038598" y="1636884"/>
                  </a:lnTo>
                  <a:lnTo>
                    <a:pt x="977116" y="1644290"/>
                  </a:lnTo>
                  <a:lnTo>
                    <a:pt x="912494" y="1650205"/>
                  </a:lnTo>
                  <a:lnTo>
                    <a:pt x="845087" y="1654538"/>
                  </a:lnTo>
                  <a:lnTo>
                    <a:pt x="775246" y="1657203"/>
                  </a:lnTo>
                  <a:lnTo>
                    <a:pt x="703326" y="1658112"/>
                  </a:lnTo>
                  <a:lnTo>
                    <a:pt x="631405" y="1657203"/>
                  </a:lnTo>
                  <a:lnTo>
                    <a:pt x="561564" y="1654538"/>
                  </a:lnTo>
                  <a:lnTo>
                    <a:pt x="494157" y="1650205"/>
                  </a:lnTo>
                  <a:lnTo>
                    <a:pt x="429535" y="1644290"/>
                  </a:lnTo>
                  <a:lnTo>
                    <a:pt x="368053" y="1636884"/>
                  </a:lnTo>
                  <a:lnTo>
                    <a:pt x="310064" y="1628074"/>
                  </a:lnTo>
                  <a:lnTo>
                    <a:pt x="255921" y="1617949"/>
                  </a:lnTo>
                  <a:lnTo>
                    <a:pt x="205978" y="1606597"/>
                  </a:lnTo>
                  <a:lnTo>
                    <a:pt x="160587" y="1594107"/>
                  </a:lnTo>
                  <a:lnTo>
                    <a:pt x="120102" y="1580566"/>
                  </a:lnTo>
                  <a:lnTo>
                    <a:pt x="55262" y="1550687"/>
                  </a:lnTo>
                  <a:lnTo>
                    <a:pt x="14286" y="1517669"/>
                  </a:lnTo>
                  <a:lnTo>
                    <a:pt x="0" y="1482216"/>
                  </a:lnTo>
                  <a:lnTo>
                    <a:pt x="0" y="175767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5462015" y="877824"/>
            <a:ext cx="2147570" cy="1056640"/>
            <a:chOff x="5462015" y="877824"/>
            <a:chExt cx="2147570" cy="1056640"/>
          </a:xfrm>
        </p:grpSpPr>
        <p:sp>
          <p:nvSpPr>
            <p:cNvPr id="16" name="object 16"/>
            <p:cNvSpPr/>
            <p:nvPr/>
          </p:nvSpPr>
          <p:spPr>
            <a:xfrm>
              <a:off x="5756147" y="877824"/>
              <a:ext cx="1853564" cy="943610"/>
            </a:xfrm>
            <a:custGeom>
              <a:avLst/>
              <a:gdLst/>
              <a:ahLst/>
              <a:cxnLst/>
              <a:rect l="l" t="t" r="r" b="b"/>
              <a:pathLst>
                <a:path w="1853565" h="943610">
                  <a:moveTo>
                    <a:pt x="926592" y="0"/>
                  </a:moveTo>
                  <a:lnTo>
                    <a:pt x="0" y="471677"/>
                  </a:lnTo>
                  <a:lnTo>
                    <a:pt x="926592" y="943355"/>
                  </a:lnTo>
                  <a:lnTo>
                    <a:pt x="1853183" y="471677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87AA8F">
                <a:alpha val="5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Bank terminal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19" y="944880"/>
              <a:ext cx="472440" cy="472439"/>
            </a:xfrm>
            <a:prstGeom prst="rect">
              <a:avLst/>
            </a:prstGeom>
          </p:spPr>
        </p:pic>
        <p:pic>
          <p:nvPicPr>
            <p:cNvPr id="18" name="object 18" descr="Desktop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2015" y="1527048"/>
              <a:ext cx="406908" cy="406908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9816083" y="1245108"/>
            <a:ext cx="1099185" cy="944880"/>
            <a:chOff x="9816083" y="1245108"/>
            <a:chExt cx="1099185" cy="944880"/>
          </a:xfrm>
        </p:grpSpPr>
        <p:pic>
          <p:nvPicPr>
            <p:cNvPr id="20" name="object 20" descr="Computer tower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16083" y="1245108"/>
              <a:ext cx="583692" cy="585215"/>
            </a:xfrm>
            <a:prstGeom prst="rect">
              <a:avLst/>
            </a:prstGeom>
          </p:spPr>
        </p:pic>
        <p:pic>
          <p:nvPicPr>
            <p:cNvPr id="21" name="object 21" descr="Computer tower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31195" y="1606296"/>
              <a:ext cx="583692" cy="58369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814315" y="2654807"/>
            <a:ext cx="2856230" cy="1434465"/>
            <a:chOff x="4814315" y="2654807"/>
            <a:chExt cx="2856230" cy="1434465"/>
          </a:xfrm>
        </p:grpSpPr>
        <p:sp>
          <p:nvSpPr>
            <p:cNvPr id="23" name="object 23"/>
            <p:cNvSpPr/>
            <p:nvPr/>
          </p:nvSpPr>
          <p:spPr>
            <a:xfrm>
              <a:off x="4814316" y="2654807"/>
              <a:ext cx="2856230" cy="1434465"/>
            </a:xfrm>
            <a:custGeom>
              <a:avLst/>
              <a:gdLst/>
              <a:ahLst/>
              <a:cxnLst/>
              <a:rect l="l" t="t" r="r" b="b"/>
              <a:pathLst>
                <a:path w="2856229" h="1434464">
                  <a:moveTo>
                    <a:pt x="1853184" y="962406"/>
                  </a:moveTo>
                  <a:lnTo>
                    <a:pt x="926592" y="490728"/>
                  </a:lnTo>
                  <a:lnTo>
                    <a:pt x="0" y="962406"/>
                  </a:lnTo>
                  <a:lnTo>
                    <a:pt x="926592" y="1434084"/>
                  </a:lnTo>
                  <a:lnTo>
                    <a:pt x="1853184" y="962406"/>
                  </a:lnTo>
                  <a:close/>
                </a:path>
                <a:path w="2856229" h="1434464">
                  <a:moveTo>
                    <a:pt x="2855976" y="471678"/>
                  </a:moveTo>
                  <a:lnTo>
                    <a:pt x="1929384" y="0"/>
                  </a:lnTo>
                  <a:lnTo>
                    <a:pt x="1002792" y="471678"/>
                  </a:lnTo>
                  <a:lnTo>
                    <a:pt x="1929384" y="943356"/>
                  </a:lnTo>
                  <a:lnTo>
                    <a:pt x="2855976" y="471678"/>
                  </a:lnTo>
                  <a:close/>
                </a:path>
              </a:pathLst>
            </a:custGeom>
            <a:solidFill>
              <a:srgbClr val="87AA8F">
                <a:alpha val="5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Bank terminal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4687" y="3258311"/>
              <a:ext cx="472439" cy="472439"/>
            </a:xfrm>
            <a:prstGeom prst="rect">
              <a:avLst/>
            </a:prstGeom>
          </p:spPr>
        </p:pic>
        <p:pic>
          <p:nvPicPr>
            <p:cNvPr id="25" name="object 25" descr="Desktop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1007" y="2799587"/>
              <a:ext cx="406907" cy="405384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1954529" y="1584197"/>
            <a:ext cx="565150" cy="76200"/>
          </a:xfrm>
          <a:custGeom>
            <a:avLst/>
            <a:gdLst/>
            <a:ahLst/>
            <a:cxnLst/>
            <a:rect l="l" t="t" r="r" b="b"/>
            <a:pathLst>
              <a:path w="56515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56515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565150" h="76200">
                <a:moveTo>
                  <a:pt x="564769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564769" y="47625"/>
                </a:lnTo>
                <a:lnTo>
                  <a:pt x="564769" y="28575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65070" y="1810004"/>
            <a:ext cx="568325" cy="76200"/>
          </a:xfrm>
          <a:custGeom>
            <a:avLst/>
            <a:gdLst/>
            <a:ahLst/>
            <a:cxnLst/>
            <a:rect l="l" t="t" r="r" b="b"/>
            <a:pathLst>
              <a:path w="568325" h="76200">
                <a:moveTo>
                  <a:pt x="491998" y="0"/>
                </a:moveTo>
                <a:lnTo>
                  <a:pt x="491236" y="76200"/>
                </a:lnTo>
                <a:lnTo>
                  <a:pt x="549583" y="47751"/>
                </a:lnTo>
                <a:lnTo>
                  <a:pt x="504190" y="47751"/>
                </a:lnTo>
                <a:lnTo>
                  <a:pt x="504444" y="28701"/>
                </a:lnTo>
                <a:lnTo>
                  <a:pt x="547995" y="28701"/>
                </a:lnTo>
                <a:lnTo>
                  <a:pt x="491998" y="0"/>
                </a:lnTo>
                <a:close/>
              </a:path>
              <a:path w="568325" h="76200">
                <a:moveTo>
                  <a:pt x="254" y="23749"/>
                </a:moveTo>
                <a:lnTo>
                  <a:pt x="52" y="38862"/>
                </a:lnTo>
                <a:lnTo>
                  <a:pt x="0" y="42799"/>
                </a:lnTo>
                <a:lnTo>
                  <a:pt x="504190" y="47751"/>
                </a:lnTo>
                <a:lnTo>
                  <a:pt x="491520" y="47751"/>
                </a:lnTo>
                <a:lnTo>
                  <a:pt x="491609" y="38862"/>
                </a:lnTo>
                <a:lnTo>
                  <a:pt x="491710" y="28701"/>
                </a:lnTo>
                <a:lnTo>
                  <a:pt x="504443" y="28701"/>
                </a:lnTo>
                <a:lnTo>
                  <a:pt x="254" y="23749"/>
                </a:lnTo>
                <a:close/>
              </a:path>
              <a:path w="568325" h="76200">
                <a:moveTo>
                  <a:pt x="547995" y="28701"/>
                </a:moveTo>
                <a:lnTo>
                  <a:pt x="504444" y="28701"/>
                </a:lnTo>
                <a:lnTo>
                  <a:pt x="504308" y="38862"/>
                </a:lnTo>
                <a:lnTo>
                  <a:pt x="504190" y="47751"/>
                </a:lnTo>
                <a:lnTo>
                  <a:pt x="549583" y="47751"/>
                </a:lnTo>
                <a:lnTo>
                  <a:pt x="567817" y="38862"/>
                </a:lnTo>
                <a:lnTo>
                  <a:pt x="547995" y="28701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853186" y="2791714"/>
            <a:ext cx="3158490" cy="1314450"/>
            <a:chOff x="853186" y="2791714"/>
            <a:chExt cx="3158490" cy="1314450"/>
          </a:xfrm>
        </p:grpSpPr>
        <p:sp>
          <p:nvSpPr>
            <p:cNvPr id="29" name="object 29"/>
            <p:cNvSpPr/>
            <p:nvPr/>
          </p:nvSpPr>
          <p:spPr>
            <a:xfrm>
              <a:off x="859536" y="2798064"/>
              <a:ext cx="3145790" cy="1301750"/>
            </a:xfrm>
            <a:custGeom>
              <a:avLst/>
              <a:gdLst/>
              <a:ahLst/>
              <a:cxnLst/>
              <a:rect l="l" t="t" r="r" b="b"/>
              <a:pathLst>
                <a:path w="3145790" h="1301750">
                  <a:moveTo>
                    <a:pt x="3145536" y="0"/>
                  </a:moveTo>
                  <a:lnTo>
                    <a:pt x="0" y="0"/>
                  </a:lnTo>
                  <a:lnTo>
                    <a:pt x="0" y="1301496"/>
                  </a:lnTo>
                  <a:lnTo>
                    <a:pt x="3145536" y="1301496"/>
                  </a:lnTo>
                  <a:lnTo>
                    <a:pt x="314553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59536" y="2798064"/>
              <a:ext cx="3145790" cy="1301750"/>
            </a:xfrm>
            <a:custGeom>
              <a:avLst/>
              <a:gdLst/>
              <a:ahLst/>
              <a:cxnLst/>
              <a:rect l="l" t="t" r="r" b="b"/>
              <a:pathLst>
                <a:path w="3145790" h="1301750">
                  <a:moveTo>
                    <a:pt x="0" y="1301496"/>
                  </a:moveTo>
                  <a:lnTo>
                    <a:pt x="3145536" y="1301496"/>
                  </a:lnTo>
                  <a:lnTo>
                    <a:pt x="3145536" y="0"/>
                  </a:lnTo>
                  <a:lnTo>
                    <a:pt x="0" y="0"/>
                  </a:lnTo>
                  <a:lnTo>
                    <a:pt x="0" y="1301496"/>
                  </a:lnTo>
                  <a:close/>
                </a:path>
              </a:pathLst>
            </a:custGeom>
            <a:ln w="12700">
              <a:solidFill>
                <a:srgbClr val="63906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Businessman 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7355" y="3000756"/>
              <a:ext cx="784859" cy="7848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3292" y="3052572"/>
              <a:ext cx="681228" cy="341375"/>
            </a:xfrm>
            <a:prstGeom prst="rect">
              <a:avLst/>
            </a:prstGeom>
          </p:spPr>
        </p:pic>
        <p:pic>
          <p:nvPicPr>
            <p:cNvPr id="33" name="object 33" descr="Woman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7384" y="3445764"/>
              <a:ext cx="365759" cy="365760"/>
            </a:xfrm>
            <a:prstGeom prst="rect">
              <a:avLst/>
            </a:prstGeom>
          </p:spPr>
        </p:pic>
        <p:pic>
          <p:nvPicPr>
            <p:cNvPr id="34" name="object 34" descr="Svg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5336" y="3454908"/>
              <a:ext cx="341375" cy="34747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940814" y="3342893"/>
              <a:ext cx="578485" cy="302260"/>
            </a:xfrm>
            <a:custGeom>
              <a:avLst/>
              <a:gdLst/>
              <a:ahLst/>
              <a:cxnLst/>
              <a:rect l="l" t="t" r="r" b="b"/>
              <a:pathLst>
                <a:path w="578485" h="302260">
                  <a:moveTo>
                    <a:pt x="564769" y="28575"/>
                  </a:moveTo>
                  <a:lnTo>
                    <a:pt x="76200" y="28575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564769" y="47625"/>
                  </a:lnTo>
                  <a:lnTo>
                    <a:pt x="564769" y="28575"/>
                  </a:lnTo>
                  <a:close/>
                </a:path>
                <a:path w="578485" h="302260">
                  <a:moveTo>
                    <a:pt x="578358" y="264668"/>
                  </a:moveTo>
                  <a:lnTo>
                    <a:pt x="558533" y="254508"/>
                  </a:lnTo>
                  <a:lnTo>
                    <a:pt x="502539" y="225806"/>
                  </a:lnTo>
                  <a:lnTo>
                    <a:pt x="502246" y="254393"/>
                  </a:lnTo>
                  <a:lnTo>
                    <a:pt x="10795" y="249555"/>
                  </a:lnTo>
                  <a:lnTo>
                    <a:pt x="10591" y="264668"/>
                  </a:lnTo>
                  <a:lnTo>
                    <a:pt x="10541" y="268605"/>
                  </a:lnTo>
                  <a:lnTo>
                    <a:pt x="502056" y="273443"/>
                  </a:lnTo>
                  <a:lnTo>
                    <a:pt x="514731" y="273558"/>
                  </a:lnTo>
                  <a:lnTo>
                    <a:pt x="502056" y="273558"/>
                  </a:lnTo>
                  <a:lnTo>
                    <a:pt x="501777" y="302006"/>
                  </a:lnTo>
                  <a:lnTo>
                    <a:pt x="560120" y="273558"/>
                  </a:lnTo>
                  <a:lnTo>
                    <a:pt x="578358" y="264668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6154292" y="1553717"/>
            <a:ext cx="4949825" cy="2760980"/>
            <a:chOff x="6154292" y="1553717"/>
            <a:chExt cx="4949825" cy="2760980"/>
          </a:xfrm>
        </p:grpSpPr>
        <p:sp>
          <p:nvSpPr>
            <p:cNvPr id="37" name="object 37"/>
            <p:cNvSpPr/>
            <p:nvPr/>
          </p:nvSpPr>
          <p:spPr>
            <a:xfrm>
              <a:off x="9691115" y="2826130"/>
              <a:ext cx="1407160" cy="1482725"/>
            </a:xfrm>
            <a:custGeom>
              <a:avLst/>
              <a:gdLst/>
              <a:ahLst/>
              <a:cxnLst/>
              <a:rect l="l" t="t" r="r" b="b"/>
              <a:pathLst>
                <a:path w="1407159" h="1482725">
                  <a:moveTo>
                    <a:pt x="1406652" y="0"/>
                  </a:moveTo>
                  <a:lnTo>
                    <a:pt x="1392365" y="35410"/>
                  </a:lnTo>
                  <a:lnTo>
                    <a:pt x="1351389" y="68397"/>
                  </a:lnTo>
                  <a:lnTo>
                    <a:pt x="1286549" y="98253"/>
                  </a:lnTo>
                  <a:lnTo>
                    <a:pt x="1246064" y="111785"/>
                  </a:lnTo>
                  <a:lnTo>
                    <a:pt x="1200673" y="124269"/>
                  </a:lnTo>
                  <a:lnTo>
                    <a:pt x="1150730" y="135616"/>
                  </a:lnTo>
                  <a:lnTo>
                    <a:pt x="1096587" y="145737"/>
                  </a:lnTo>
                  <a:lnTo>
                    <a:pt x="1038598" y="154544"/>
                  </a:lnTo>
                  <a:lnTo>
                    <a:pt x="977116" y="161948"/>
                  </a:lnTo>
                  <a:lnTo>
                    <a:pt x="912494" y="167861"/>
                  </a:lnTo>
                  <a:lnTo>
                    <a:pt x="845087" y="172195"/>
                  </a:lnTo>
                  <a:lnTo>
                    <a:pt x="775246" y="174860"/>
                  </a:lnTo>
                  <a:lnTo>
                    <a:pt x="703326" y="175768"/>
                  </a:lnTo>
                  <a:lnTo>
                    <a:pt x="631405" y="174860"/>
                  </a:lnTo>
                  <a:lnTo>
                    <a:pt x="561564" y="172195"/>
                  </a:lnTo>
                  <a:lnTo>
                    <a:pt x="494157" y="167861"/>
                  </a:lnTo>
                  <a:lnTo>
                    <a:pt x="429535" y="161948"/>
                  </a:lnTo>
                  <a:lnTo>
                    <a:pt x="368053" y="154544"/>
                  </a:lnTo>
                  <a:lnTo>
                    <a:pt x="310064" y="145737"/>
                  </a:lnTo>
                  <a:lnTo>
                    <a:pt x="255921" y="135616"/>
                  </a:lnTo>
                  <a:lnTo>
                    <a:pt x="205978" y="124269"/>
                  </a:lnTo>
                  <a:lnTo>
                    <a:pt x="160587" y="111785"/>
                  </a:lnTo>
                  <a:lnTo>
                    <a:pt x="120102" y="98253"/>
                  </a:lnTo>
                  <a:lnTo>
                    <a:pt x="55262" y="68397"/>
                  </a:lnTo>
                  <a:lnTo>
                    <a:pt x="14286" y="35410"/>
                  </a:lnTo>
                  <a:lnTo>
                    <a:pt x="0" y="0"/>
                  </a:lnTo>
                  <a:lnTo>
                    <a:pt x="0" y="1306322"/>
                  </a:lnTo>
                  <a:lnTo>
                    <a:pt x="14286" y="1341774"/>
                  </a:lnTo>
                  <a:lnTo>
                    <a:pt x="55262" y="1374792"/>
                  </a:lnTo>
                  <a:lnTo>
                    <a:pt x="120102" y="1404671"/>
                  </a:lnTo>
                  <a:lnTo>
                    <a:pt x="160587" y="1418212"/>
                  </a:lnTo>
                  <a:lnTo>
                    <a:pt x="205978" y="1430702"/>
                  </a:lnTo>
                  <a:lnTo>
                    <a:pt x="255921" y="1442054"/>
                  </a:lnTo>
                  <a:lnTo>
                    <a:pt x="310064" y="1452179"/>
                  </a:lnTo>
                  <a:lnTo>
                    <a:pt x="368053" y="1460989"/>
                  </a:lnTo>
                  <a:lnTo>
                    <a:pt x="429535" y="1468395"/>
                  </a:lnTo>
                  <a:lnTo>
                    <a:pt x="494157" y="1474310"/>
                  </a:lnTo>
                  <a:lnTo>
                    <a:pt x="561564" y="1478643"/>
                  </a:lnTo>
                  <a:lnTo>
                    <a:pt x="631405" y="1481308"/>
                  </a:lnTo>
                  <a:lnTo>
                    <a:pt x="703326" y="1482217"/>
                  </a:lnTo>
                  <a:lnTo>
                    <a:pt x="775246" y="1481308"/>
                  </a:lnTo>
                  <a:lnTo>
                    <a:pt x="845087" y="1478643"/>
                  </a:lnTo>
                  <a:lnTo>
                    <a:pt x="912494" y="1474310"/>
                  </a:lnTo>
                  <a:lnTo>
                    <a:pt x="977116" y="1468395"/>
                  </a:lnTo>
                  <a:lnTo>
                    <a:pt x="1038598" y="1460989"/>
                  </a:lnTo>
                  <a:lnTo>
                    <a:pt x="1096587" y="1452179"/>
                  </a:lnTo>
                  <a:lnTo>
                    <a:pt x="1150730" y="1442054"/>
                  </a:lnTo>
                  <a:lnTo>
                    <a:pt x="1200673" y="1430702"/>
                  </a:lnTo>
                  <a:lnTo>
                    <a:pt x="1246064" y="1418212"/>
                  </a:lnTo>
                  <a:lnTo>
                    <a:pt x="1286549" y="1404671"/>
                  </a:lnTo>
                  <a:lnTo>
                    <a:pt x="1351389" y="1374792"/>
                  </a:lnTo>
                  <a:lnTo>
                    <a:pt x="1392365" y="1341774"/>
                  </a:lnTo>
                  <a:lnTo>
                    <a:pt x="1406652" y="1306322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691115" y="2650235"/>
              <a:ext cx="1407160" cy="351790"/>
            </a:xfrm>
            <a:custGeom>
              <a:avLst/>
              <a:gdLst/>
              <a:ahLst/>
              <a:cxnLst/>
              <a:rect l="l" t="t" r="r" b="b"/>
              <a:pathLst>
                <a:path w="1407159" h="351789">
                  <a:moveTo>
                    <a:pt x="703326" y="0"/>
                  </a:moveTo>
                  <a:lnTo>
                    <a:pt x="631405" y="908"/>
                  </a:lnTo>
                  <a:lnTo>
                    <a:pt x="561564" y="3573"/>
                  </a:lnTo>
                  <a:lnTo>
                    <a:pt x="494157" y="7906"/>
                  </a:lnTo>
                  <a:lnTo>
                    <a:pt x="429535" y="13821"/>
                  </a:lnTo>
                  <a:lnTo>
                    <a:pt x="368053" y="21227"/>
                  </a:lnTo>
                  <a:lnTo>
                    <a:pt x="310064" y="30037"/>
                  </a:lnTo>
                  <a:lnTo>
                    <a:pt x="255921" y="40162"/>
                  </a:lnTo>
                  <a:lnTo>
                    <a:pt x="205978" y="51514"/>
                  </a:lnTo>
                  <a:lnTo>
                    <a:pt x="160587" y="64004"/>
                  </a:lnTo>
                  <a:lnTo>
                    <a:pt x="120102" y="77545"/>
                  </a:lnTo>
                  <a:lnTo>
                    <a:pt x="55262" y="107424"/>
                  </a:lnTo>
                  <a:lnTo>
                    <a:pt x="14286" y="140442"/>
                  </a:lnTo>
                  <a:lnTo>
                    <a:pt x="0" y="175894"/>
                  </a:lnTo>
                  <a:lnTo>
                    <a:pt x="3630" y="193858"/>
                  </a:lnTo>
                  <a:lnTo>
                    <a:pt x="31615" y="228145"/>
                  </a:lnTo>
                  <a:lnTo>
                    <a:pt x="84876" y="259656"/>
                  </a:lnTo>
                  <a:lnTo>
                    <a:pt x="160587" y="287680"/>
                  </a:lnTo>
                  <a:lnTo>
                    <a:pt x="205978" y="300164"/>
                  </a:lnTo>
                  <a:lnTo>
                    <a:pt x="255921" y="311511"/>
                  </a:lnTo>
                  <a:lnTo>
                    <a:pt x="310064" y="321632"/>
                  </a:lnTo>
                  <a:lnTo>
                    <a:pt x="368053" y="330439"/>
                  </a:lnTo>
                  <a:lnTo>
                    <a:pt x="429535" y="337843"/>
                  </a:lnTo>
                  <a:lnTo>
                    <a:pt x="494157" y="343756"/>
                  </a:lnTo>
                  <a:lnTo>
                    <a:pt x="561564" y="348090"/>
                  </a:lnTo>
                  <a:lnTo>
                    <a:pt x="631405" y="350755"/>
                  </a:lnTo>
                  <a:lnTo>
                    <a:pt x="703326" y="351663"/>
                  </a:lnTo>
                  <a:lnTo>
                    <a:pt x="775246" y="350755"/>
                  </a:lnTo>
                  <a:lnTo>
                    <a:pt x="845087" y="348090"/>
                  </a:lnTo>
                  <a:lnTo>
                    <a:pt x="912494" y="343756"/>
                  </a:lnTo>
                  <a:lnTo>
                    <a:pt x="977116" y="337843"/>
                  </a:lnTo>
                  <a:lnTo>
                    <a:pt x="1038598" y="330439"/>
                  </a:lnTo>
                  <a:lnTo>
                    <a:pt x="1096587" y="321632"/>
                  </a:lnTo>
                  <a:lnTo>
                    <a:pt x="1150730" y="311511"/>
                  </a:lnTo>
                  <a:lnTo>
                    <a:pt x="1200673" y="300164"/>
                  </a:lnTo>
                  <a:lnTo>
                    <a:pt x="1246064" y="287680"/>
                  </a:lnTo>
                  <a:lnTo>
                    <a:pt x="1286549" y="274148"/>
                  </a:lnTo>
                  <a:lnTo>
                    <a:pt x="1351389" y="244292"/>
                  </a:lnTo>
                  <a:lnTo>
                    <a:pt x="1392365" y="211305"/>
                  </a:lnTo>
                  <a:lnTo>
                    <a:pt x="1406652" y="175894"/>
                  </a:lnTo>
                  <a:lnTo>
                    <a:pt x="1403021" y="157908"/>
                  </a:lnTo>
                  <a:lnTo>
                    <a:pt x="1375036" y="123585"/>
                  </a:lnTo>
                  <a:lnTo>
                    <a:pt x="1321775" y="92048"/>
                  </a:lnTo>
                  <a:lnTo>
                    <a:pt x="1246064" y="64004"/>
                  </a:lnTo>
                  <a:lnTo>
                    <a:pt x="1200673" y="51514"/>
                  </a:lnTo>
                  <a:lnTo>
                    <a:pt x="1150730" y="40162"/>
                  </a:lnTo>
                  <a:lnTo>
                    <a:pt x="1096587" y="30037"/>
                  </a:lnTo>
                  <a:lnTo>
                    <a:pt x="1038598" y="21227"/>
                  </a:lnTo>
                  <a:lnTo>
                    <a:pt x="977116" y="13821"/>
                  </a:lnTo>
                  <a:lnTo>
                    <a:pt x="912494" y="7906"/>
                  </a:lnTo>
                  <a:lnTo>
                    <a:pt x="845087" y="3573"/>
                  </a:lnTo>
                  <a:lnTo>
                    <a:pt x="775246" y="908"/>
                  </a:lnTo>
                  <a:lnTo>
                    <a:pt x="703326" y="0"/>
                  </a:lnTo>
                  <a:close/>
                </a:path>
              </a:pathLst>
            </a:custGeom>
            <a:solidFill>
              <a:srgbClr val="879A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691115" y="2650235"/>
              <a:ext cx="1407160" cy="1658620"/>
            </a:xfrm>
            <a:custGeom>
              <a:avLst/>
              <a:gdLst/>
              <a:ahLst/>
              <a:cxnLst/>
              <a:rect l="l" t="t" r="r" b="b"/>
              <a:pathLst>
                <a:path w="1407159" h="1658620">
                  <a:moveTo>
                    <a:pt x="1406652" y="175894"/>
                  </a:moveTo>
                  <a:lnTo>
                    <a:pt x="1392365" y="211305"/>
                  </a:lnTo>
                  <a:lnTo>
                    <a:pt x="1351389" y="244292"/>
                  </a:lnTo>
                  <a:lnTo>
                    <a:pt x="1286549" y="274148"/>
                  </a:lnTo>
                  <a:lnTo>
                    <a:pt x="1246064" y="287680"/>
                  </a:lnTo>
                  <a:lnTo>
                    <a:pt x="1200673" y="300164"/>
                  </a:lnTo>
                  <a:lnTo>
                    <a:pt x="1150730" y="311511"/>
                  </a:lnTo>
                  <a:lnTo>
                    <a:pt x="1096587" y="321632"/>
                  </a:lnTo>
                  <a:lnTo>
                    <a:pt x="1038598" y="330439"/>
                  </a:lnTo>
                  <a:lnTo>
                    <a:pt x="977116" y="337843"/>
                  </a:lnTo>
                  <a:lnTo>
                    <a:pt x="912494" y="343756"/>
                  </a:lnTo>
                  <a:lnTo>
                    <a:pt x="845087" y="348090"/>
                  </a:lnTo>
                  <a:lnTo>
                    <a:pt x="775246" y="350755"/>
                  </a:lnTo>
                  <a:lnTo>
                    <a:pt x="703326" y="351663"/>
                  </a:lnTo>
                  <a:lnTo>
                    <a:pt x="631405" y="350755"/>
                  </a:lnTo>
                  <a:lnTo>
                    <a:pt x="561564" y="348090"/>
                  </a:lnTo>
                  <a:lnTo>
                    <a:pt x="494157" y="343756"/>
                  </a:lnTo>
                  <a:lnTo>
                    <a:pt x="429535" y="337843"/>
                  </a:lnTo>
                  <a:lnTo>
                    <a:pt x="368053" y="330439"/>
                  </a:lnTo>
                  <a:lnTo>
                    <a:pt x="310064" y="321632"/>
                  </a:lnTo>
                  <a:lnTo>
                    <a:pt x="255921" y="311511"/>
                  </a:lnTo>
                  <a:lnTo>
                    <a:pt x="205978" y="300164"/>
                  </a:lnTo>
                  <a:lnTo>
                    <a:pt x="160587" y="287680"/>
                  </a:lnTo>
                  <a:lnTo>
                    <a:pt x="120102" y="274148"/>
                  </a:lnTo>
                  <a:lnTo>
                    <a:pt x="55262" y="244292"/>
                  </a:lnTo>
                  <a:lnTo>
                    <a:pt x="14286" y="211305"/>
                  </a:lnTo>
                  <a:lnTo>
                    <a:pt x="0" y="175894"/>
                  </a:lnTo>
                  <a:lnTo>
                    <a:pt x="3630" y="157908"/>
                  </a:lnTo>
                  <a:lnTo>
                    <a:pt x="31615" y="123585"/>
                  </a:lnTo>
                  <a:lnTo>
                    <a:pt x="84876" y="92048"/>
                  </a:lnTo>
                  <a:lnTo>
                    <a:pt x="160587" y="64004"/>
                  </a:lnTo>
                  <a:lnTo>
                    <a:pt x="205978" y="51514"/>
                  </a:lnTo>
                  <a:lnTo>
                    <a:pt x="255921" y="40162"/>
                  </a:lnTo>
                  <a:lnTo>
                    <a:pt x="310064" y="30037"/>
                  </a:lnTo>
                  <a:lnTo>
                    <a:pt x="368053" y="21227"/>
                  </a:lnTo>
                  <a:lnTo>
                    <a:pt x="429535" y="13821"/>
                  </a:lnTo>
                  <a:lnTo>
                    <a:pt x="494157" y="7906"/>
                  </a:lnTo>
                  <a:lnTo>
                    <a:pt x="561564" y="3573"/>
                  </a:lnTo>
                  <a:lnTo>
                    <a:pt x="631405" y="908"/>
                  </a:lnTo>
                  <a:lnTo>
                    <a:pt x="703326" y="0"/>
                  </a:lnTo>
                  <a:lnTo>
                    <a:pt x="775246" y="908"/>
                  </a:lnTo>
                  <a:lnTo>
                    <a:pt x="845087" y="3573"/>
                  </a:lnTo>
                  <a:lnTo>
                    <a:pt x="912494" y="7906"/>
                  </a:lnTo>
                  <a:lnTo>
                    <a:pt x="977116" y="13821"/>
                  </a:lnTo>
                  <a:lnTo>
                    <a:pt x="1038598" y="21227"/>
                  </a:lnTo>
                  <a:lnTo>
                    <a:pt x="1096587" y="30037"/>
                  </a:lnTo>
                  <a:lnTo>
                    <a:pt x="1150730" y="40162"/>
                  </a:lnTo>
                  <a:lnTo>
                    <a:pt x="1200673" y="51514"/>
                  </a:lnTo>
                  <a:lnTo>
                    <a:pt x="1246064" y="64004"/>
                  </a:lnTo>
                  <a:lnTo>
                    <a:pt x="1286549" y="77545"/>
                  </a:lnTo>
                  <a:lnTo>
                    <a:pt x="1351389" y="107424"/>
                  </a:lnTo>
                  <a:lnTo>
                    <a:pt x="1392365" y="140442"/>
                  </a:lnTo>
                  <a:lnTo>
                    <a:pt x="1406652" y="175894"/>
                  </a:lnTo>
                  <a:lnTo>
                    <a:pt x="1406652" y="1482216"/>
                  </a:lnTo>
                  <a:lnTo>
                    <a:pt x="1392365" y="1517669"/>
                  </a:lnTo>
                  <a:lnTo>
                    <a:pt x="1351389" y="1550687"/>
                  </a:lnTo>
                  <a:lnTo>
                    <a:pt x="1286549" y="1580566"/>
                  </a:lnTo>
                  <a:lnTo>
                    <a:pt x="1246064" y="1594107"/>
                  </a:lnTo>
                  <a:lnTo>
                    <a:pt x="1200673" y="1606597"/>
                  </a:lnTo>
                  <a:lnTo>
                    <a:pt x="1150730" y="1617949"/>
                  </a:lnTo>
                  <a:lnTo>
                    <a:pt x="1096587" y="1628074"/>
                  </a:lnTo>
                  <a:lnTo>
                    <a:pt x="1038598" y="1636884"/>
                  </a:lnTo>
                  <a:lnTo>
                    <a:pt x="977116" y="1644290"/>
                  </a:lnTo>
                  <a:lnTo>
                    <a:pt x="912494" y="1650205"/>
                  </a:lnTo>
                  <a:lnTo>
                    <a:pt x="845087" y="1654538"/>
                  </a:lnTo>
                  <a:lnTo>
                    <a:pt x="775246" y="1657203"/>
                  </a:lnTo>
                  <a:lnTo>
                    <a:pt x="703326" y="1658112"/>
                  </a:lnTo>
                  <a:lnTo>
                    <a:pt x="631405" y="1657203"/>
                  </a:lnTo>
                  <a:lnTo>
                    <a:pt x="561564" y="1654538"/>
                  </a:lnTo>
                  <a:lnTo>
                    <a:pt x="494157" y="1650205"/>
                  </a:lnTo>
                  <a:lnTo>
                    <a:pt x="429535" y="1644290"/>
                  </a:lnTo>
                  <a:lnTo>
                    <a:pt x="368053" y="1636884"/>
                  </a:lnTo>
                  <a:lnTo>
                    <a:pt x="310064" y="1628074"/>
                  </a:lnTo>
                  <a:lnTo>
                    <a:pt x="255921" y="1617949"/>
                  </a:lnTo>
                  <a:lnTo>
                    <a:pt x="205978" y="1606597"/>
                  </a:lnTo>
                  <a:lnTo>
                    <a:pt x="160587" y="1594107"/>
                  </a:lnTo>
                  <a:lnTo>
                    <a:pt x="120102" y="1580566"/>
                  </a:lnTo>
                  <a:lnTo>
                    <a:pt x="55262" y="1550687"/>
                  </a:lnTo>
                  <a:lnTo>
                    <a:pt x="14286" y="1517669"/>
                  </a:lnTo>
                  <a:lnTo>
                    <a:pt x="0" y="1482216"/>
                  </a:lnTo>
                  <a:lnTo>
                    <a:pt x="0" y="175894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Computer tower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28276" y="3134867"/>
              <a:ext cx="583692" cy="583691"/>
            </a:xfrm>
            <a:prstGeom prst="rect">
              <a:avLst/>
            </a:prstGeom>
          </p:spPr>
        </p:pic>
        <p:pic>
          <p:nvPicPr>
            <p:cNvPr id="41" name="object 41" descr="Computer tower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43388" y="3494532"/>
              <a:ext cx="583692" cy="58369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671053" y="1553717"/>
              <a:ext cx="2008505" cy="1584325"/>
            </a:xfrm>
            <a:custGeom>
              <a:avLst/>
              <a:gdLst/>
              <a:ahLst/>
              <a:cxnLst/>
              <a:rect l="l" t="t" r="r" b="b"/>
              <a:pathLst>
                <a:path w="2008504" h="1584325">
                  <a:moveTo>
                    <a:pt x="994664" y="1564767"/>
                  </a:moveTo>
                  <a:lnTo>
                    <a:pt x="0" y="1564767"/>
                  </a:lnTo>
                  <a:lnTo>
                    <a:pt x="0" y="1583817"/>
                  </a:lnTo>
                  <a:lnTo>
                    <a:pt x="1013714" y="1583817"/>
                  </a:lnTo>
                  <a:lnTo>
                    <a:pt x="1013714" y="1574292"/>
                  </a:lnTo>
                  <a:lnTo>
                    <a:pt x="994664" y="1574292"/>
                  </a:lnTo>
                  <a:lnTo>
                    <a:pt x="994664" y="1564767"/>
                  </a:lnTo>
                  <a:close/>
                </a:path>
                <a:path w="2008504" h="1584325">
                  <a:moveTo>
                    <a:pt x="1932177" y="28575"/>
                  </a:moveTo>
                  <a:lnTo>
                    <a:pt x="994664" y="28575"/>
                  </a:lnTo>
                  <a:lnTo>
                    <a:pt x="994664" y="1574292"/>
                  </a:lnTo>
                  <a:lnTo>
                    <a:pt x="1004189" y="1564767"/>
                  </a:lnTo>
                  <a:lnTo>
                    <a:pt x="1013714" y="1564767"/>
                  </a:lnTo>
                  <a:lnTo>
                    <a:pt x="1013714" y="47625"/>
                  </a:lnTo>
                  <a:lnTo>
                    <a:pt x="1004189" y="47625"/>
                  </a:lnTo>
                  <a:lnTo>
                    <a:pt x="1013714" y="38100"/>
                  </a:lnTo>
                  <a:lnTo>
                    <a:pt x="1932177" y="38100"/>
                  </a:lnTo>
                  <a:lnTo>
                    <a:pt x="1932177" y="28575"/>
                  </a:lnTo>
                  <a:close/>
                </a:path>
                <a:path w="2008504" h="1584325">
                  <a:moveTo>
                    <a:pt x="1013714" y="1564767"/>
                  </a:moveTo>
                  <a:lnTo>
                    <a:pt x="1004189" y="1564767"/>
                  </a:lnTo>
                  <a:lnTo>
                    <a:pt x="994664" y="1574292"/>
                  </a:lnTo>
                  <a:lnTo>
                    <a:pt x="1013714" y="1574292"/>
                  </a:lnTo>
                  <a:lnTo>
                    <a:pt x="1013714" y="1564767"/>
                  </a:lnTo>
                  <a:close/>
                </a:path>
                <a:path w="2008504" h="1584325">
                  <a:moveTo>
                    <a:pt x="1932177" y="0"/>
                  </a:moveTo>
                  <a:lnTo>
                    <a:pt x="1932177" y="76200"/>
                  </a:lnTo>
                  <a:lnTo>
                    <a:pt x="1989327" y="47625"/>
                  </a:lnTo>
                  <a:lnTo>
                    <a:pt x="1944877" y="47625"/>
                  </a:lnTo>
                  <a:lnTo>
                    <a:pt x="1944877" y="28575"/>
                  </a:lnTo>
                  <a:lnTo>
                    <a:pt x="1989327" y="28575"/>
                  </a:lnTo>
                  <a:lnTo>
                    <a:pt x="1932177" y="0"/>
                  </a:lnTo>
                  <a:close/>
                </a:path>
                <a:path w="2008504" h="1584325">
                  <a:moveTo>
                    <a:pt x="1013714" y="38100"/>
                  </a:moveTo>
                  <a:lnTo>
                    <a:pt x="1004189" y="47625"/>
                  </a:lnTo>
                  <a:lnTo>
                    <a:pt x="1013714" y="47625"/>
                  </a:lnTo>
                  <a:lnTo>
                    <a:pt x="1013714" y="38100"/>
                  </a:lnTo>
                  <a:close/>
                </a:path>
                <a:path w="2008504" h="1584325">
                  <a:moveTo>
                    <a:pt x="1932177" y="38100"/>
                  </a:moveTo>
                  <a:lnTo>
                    <a:pt x="1013714" y="38100"/>
                  </a:lnTo>
                  <a:lnTo>
                    <a:pt x="1013714" y="47625"/>
                  </a:lnTo>
                  <a:lnTo>
                    <a:pt x="1932177" y="47625"/>
                  </a:lnTo>
                  <a:lnTo>
                    <a:pt x="1932177" y="38100"/>
                  </a:lnTo>
                  <a:close/>
                </a:path>
                <a:path w="2008504" h="1584325">
                  <a:moveTo>
                    <a:pt x="1989327" y="28575"/>
                  </a:moveTo>
                  <a:lnTo>
                    <a:pt x="1944877" y="28575"/>
                  </a:lnTo>
                  <a:lnTo>
                    <a:pt x="1944877" y="47625"/>
                  </a:lnTo>
                  <a:lnTo>
                    <a:pt x="1989327" y="47625"/>
                  </a:lnTo>
                  <a:lnTo>
                    <a:pt x="2008377" y="38100"/>
                  </a:lnTo>
                  <a:lnTo>
                    <a:pt x="1989327" y="28575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163817" y="1591817"/>
              <a:ext cx="2511425" cy="478155"/>
            </a:xfrm>
            <a:custGeom>
              <a:avLst/>
              <a:gdLst/>
              <a:ahLst/>
              <a:cxnLst/>
              <a:rect l="l" t="t" r="r" b="b"/>
              <a:pathLst>
                <a:path w="2511425" h="478155">
                  <a:moveTo>
                    <a:pt x="0" y="478155"/>
                  </a:moveTo>
                  <a:lnTo>
                    <a:pt x="1255776" y="478155"/>
                  </a:lnTo>
                  <a:lnTo>
                    <a:pt x="1255776" y="0"/>
                  </a:lnTo>
                  <a:lnTo>
                    <a:pt x="2511425" y="0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84941" y="2398013"/>
              <a:ext cx="76200" cy="25171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83546" y="2420873"/>
              <a:ext cx="76200" cy="229870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4007358" y="1647825"/>
            <a:ext cx="748030" cy="230504"/>
          </a:xfrm>
          <a:custGeom>
            <a:avLst/>
            <a:gdLst/>
            <a:ahLst/>
            <a:cxnLst/>
            <a:rect l="l" t="t" r="r" b="b"/>
            <a:pathLst>
              <a:path w="748029" h="230505">
                <a:moveTo>
                  <a:pt x="671449" y="154050"/>
                </a:moveTo>
                <a:lnTo>
                  <a:pt x="671449" y="230250"/>
                </a:lnTo>
                <a:lnTo>
                  <a:pt x="728599" y="201675"/>
                </a:lnTo>
                <a:lnTo>
                  <a:pt x="684149" y="201675"/>
                </a:lnTo>
                <a:lnTo>
                  <a:pt x="684149" y="182625"/>
                </a:lnTo>
                <a:lnTo>
                  <a:pt x="728599" y="182625"/>
                </a:lnTo>
                <a:lnTo>
                  <a:pt x="671449" y="154050"/>
                </a:lnTo>
                <a:close/>
              </a:path>
              <a:path w="748029" h="230505">
                <a:moveTo>
                  <a:pt x="364236" y="9525"/>
                </a:moveTo>
                <a:lnTo>
                  <a:pt x="364236" y="201675"/>
                </a:lnTo>
                <a:lnTo>
                  <a:pt x="671449" y="201675"/>
                </a:lnTo>
                <a:lnTo>
                  <a:pt x="671449" y="192150"/>
                </a:lnTo>
                <a:lnTo>
                  <a:pt x="383286" y="192150"/>
                </a:lnTo>
                <a:lnTo>
                  <a:pt x="373761" y="182625"/>
                </a:lnTo>
                <a:lnTo>
                  <a:pt x="383286" y="182625"/>
                </a:lnTo>
                <a:lnTo>
                  <a:pt x="383286" y="19050"/>
                </a:lnTo>
                <a:lnTo>
                  <a:pt x="373761" y="19050"/>
                </a:lnTo>
                <a:lnTo>
                  <a:pt x="364236" y="9525"/>
                </a:lnTo>
                <a:close/>
              </a:path>
              <a:path w="748029" h="230505">
                <a:moveTo>
                  <a:pt x="728599" y="182625"/>
                </a:moveTo>
                <a:lnTo>
                  <a:pt x="684149" y="182625"/>
                </a:lnTo>
                <a:lnTo>
                  <a:pt x="684149" y="201675"/>
                </a:lnTo>
                <a:lnTo>
                  <a:pt x="728599" y="201675"/>
                </a:lnTo>
                <a:lnTo>
                  <a:pt x="747649" y="192150"/>
                </a:lnTo>
                <a:lnTo>
                  <a:pt x="728599" y="182625"/>
                </a:lnTo>
                <a:close/>
              </a:path>
              <a:path w="748029" h="230505">
                <a:moveTo>
                  <a:pt x="383286" y="182625"/>
                </a:moveTo>
                <a:lnTo>
                  <a:pt x="373761" y="182625"/>
                </a:lnTo>
                <a:lnTo>
                  <a:pt x="383286" y="192150"/>
                </a:lnTo>
                <a:lnTo>
                  <a:pt x="383286" y="182625"/>
                </a:lnTo>
                <a:close/>
              </a:path>
              <a:path w="748029" h="230505">
                <a:moveTo>
                  <a:pt x="671449" y="182625"/>
                </a:moveTo>
                <a:lnTo>
                  <a:pt x="383286" y="182625"/>
                </a:lnTo>
                <a:lnTo>
                  <a:pt x="383286" y="192150"/>
                </a:lnTo>
                <a:lnTo>
                  <a:pt x="671449" y="192150"/>
                </a:lnTo>
                <a:lnTo>
                  <a:pt x="671449" y="182625"/>
                </a:lnTo>
                <a:close/>
              </a:path>
              <a:path w="748029" h="230505">
                <a:moveTo>
                  <a:pt x="383286" y="0"/>
                </a:moveTo>
                <a:lnTo>
                  <a:pt x="0" y="0"/>
                </a:lnTo>
                <a:lnTo>
                  <a:pt x="0" y="19050"/>
                </a:lnTo>
                <a:lnTo>
                  <a:pt x="364236" y="19050"/>
                </a:lnTo>
                <a:lnTo>
                  <a:pt x="364236" y="9525"/>
                </a:lnTo>
                <a:lnTo>
                  <a:pt x="383286" y="9525"/>
                </a:lnTo>
                <a:lnTo>
                  <a:pt x="383286" y="0"/>
                </a:lnTo>
                <a:close/>
              </a:path>
              <a:path w="748029" h="230505">
                <a:moveTo>
                  <a:pt x="383286" y="9525"/>
                </a:moveTo>
                <a:lnTo>
                  <a:pt x="364236" y="9525"/>
                </a:lnTo>
                <a:lnTo>
                  <a:pt x="373761" y="19050"/>
                </a:lnTo>
                <a:lnTo>
                  <a:pt x="383286" y="19050"/>
                </a:lnTo>
                <a:lnTo>
                  <a:pt x="383286" y="9525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05834" y="2871977"/>
            <a:ext cx="2159000" cy="587375"/>
          </a:xfrm>
          <a:custGeom>
            <a:avLst/>
            <a:gdLst/>
            <a:ahLst/>
            <a:cxnLst/>
            <a:rect l="l" t="t" r="r" b="b"/>
            <a:pathLst>
              <a:path w="2159000" h="587375">
                <a:moveTo>
                  <a:pt x="600455" y="567944"/>
                </a:moveTo>
                <a:lnTo>
                  <a:pt x="0" y="567944"/>
                </a:lnTo>
                <a:lnTo>
                  <a:pt x="0" y="586994"/>
                </a:lnTo>
                <a:lnTo>
                  <a:pt x="619505" y="586994"/>
                </a:lnTo>
                <a:lnTo>
                  <a:pt x="619505" y="577469"/>
                </a:lnTo>
                <a:lnTo>
                  <a:pt x="600455" y="577469"/>
                </a:lnTo>
                <a:lnTo>
                  <a:pt x="600455" y="567944"/>
                </a:lnTo>
                <a:close/>
              </a:path>
              <a:path w="2159000" h="587375">
                <a:moveTo>
                  <a:pt x="2082800" y="28575"/>
                </a:moveTo>
                <a:lnTo>
                  <a:pt x="600455" y="28575"/>
                </a:lnTo>
                <a:lnTo>
                  <a:pt x="600455" y="577469"/>
                </a:lnTo>
                <a:lnTo>
                  <a:pt x="609980" y="567944"/>
                </a:lnTo>
                <a:lnTo>
                  <a:pt x="619505" y="567944"/>
                </a:lnTo>
                <a:lnTo>
                  <a:pt x="619505" y="47625"/>
                </a:lnTo>
                <a:lnTo>
                  <a:pt x="609980" y="47625"/>
                </a:lnTo>
                <a:lnTo>
                  <a:pt x="619505" y="38100"/>
                </a:lnTo>
                <a:lnTo>
                  <a:pt x="2082800" y="38100"/>
                </a:lnTo>
                <a:lnTo>
                  <a:pt x="2082800" y="28575"/>
                </a:lnTo>
                <a:close/>
              </a:path>
              <a:path w="2159000" h="587375">
                <a:moveTo>
                  <a:pt x="619505" y="567944"/>
                </a:moveTo>
                <a:lnTo>
                  <a:pt x="609980" y="567944"/>
                </a:lnTo>
                <a:lnTo>
                  <a:pt x="600455" y="577469"/>
                </a:lnTo>
                <a:lnTo>
                  <a:pt x="619505" y="577469"/>
                </a:lnTo>
                <a:lnTo>
                  <a:pt x="619505" y="567944"/>
                </a:lnTo>
                <a:close/>
              </a:path>
              <a:path w="2159000" h="587375">
                <a:moveTo>
                  <a:pt x="2082800" y="0"/>
                </a:moveTo>
                <a:lnTo>
                  <a:pt x="2082800" y="76200"/>
                </a:lnTo>
                <a:lnTo>
                  <a:pt x="2139950" y="47625"/>
                </a:lnTo>
                <a:lnTo>
                  <a:pt x="2095500" y="47625"/>
                </a:lnTo>
                <a:lnTo>
                  <a:pt x="2095500" y="28575"/>
                </a:lnTo>
                <a:lnTo>
                  <a:pt x="2139950" y="28575"/>
                </a:lnTo>
                <a:lnTo>
                  <a:pt x="2082800" y="0"/>
                </a:lnTo>
                <a:close/>
              </a:path>
              <a:path w="2159000" h="587375">
                <a:moveTo>
                  <a:pt x="619505" y="38100"/>
                </a:moveTo>
                <a:lnTo>
                  <a:pt x="609980" y="47625"/>
                </a:lnTo>
                <a:lnTo>
                  <a:pt x="619505" y="47625"/>
                </a:lnTo>
                <a:lnTo>
                  <a:pt x="619505" y="38100"/>
                </a:lnTo>
                <a:close/>
              </a:path>
              <a:path w="2159000" h="587375">
                <a:moveTo>
                  <a:pt x="2082800" y="38100"/>
                </a:moveTo>
                <a:lnTo>
                  <a:pt x="619505" y="38100"/>
                </a:lnTo>
                <a:lnTo>
                  <a:pt x="619505" y="47625"/>
                </a:lnTo>
                <a:lnTo>
                  <a:pt x="2082800" y="47625"/>
                </a:lnTo>
                <a:lnTo>
                  <a:pt x="2082800" y="38100"/>
                </a:lnTo>
                <a:close/>
              </a:path>
              <a:path w="2159000" h="587375">
                <a:moveTo>
                  <a:pt x="2139950" y="28575"/>
                </a:moveTo>
                <a:lnTo>
                  <a:pt x="2095500" y="28575"/>
                </a:lnTo>
                <a:lnTo>
                  <a:pt x="2095500" y="47625"/>
                </a:lnTo>
                <a:lnTo>
                  <a:pt x="2139950" y="47625"/>
                </a:lnTo>
                <a:lnTo>
                  <a:pt x="2159000" y="38100"/>
                </a:lnTo>
                <a:lnTo>
                  <a:pt x="2139950" y="28575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270498" y="1311401"/>
            <a:ext cx="3421379" cy="2560955"/>
          </a:xfrm>
          <a:custGeom>
            <a:avLst/>
            <a:gdLst/>
            <a:ahLst/>
            <a:cxnLst/>
            <a:rect l="l" t="t" r="r" b="b"/>
            <a:pathLst>
              <a:path w="3421379" h="2560954">
                <a:moveTo>
                  <a:pt x="76200" y="2484628"/>
                </a:moveTo>
                <a:lnTo>
                  <a:pt x="0" y="2522728"/>
                </a:lnTo>
                <a:lnTo>
                  <a:pt x="76200" y="2560828"/>
                </a:lnTo>
                <a:lnTo>
                  <a:pt x="76200" y="2484628"/>
                </a:lnTo>
                <a:close/>
              </a:path>
              <a:path w="3421379" h="2560954">
                <a:moveTo>
                  <a:pt x="189357" y="2513203"/>
                </a:moveTo>
                <a:lnTo>
                  <a:pt x="113157" y="2513203"/>
                </a:lnTo>
                <a:lnTo>
                  <a:pt x="113157" y="2532253"/>
                </a:lnTo>
                <a:lnTo>
                  <a:pt x="189357" y="2532253"/>
                </a:lnTo>
                <a:lnTo>
                  <a:pt x="189357" y="2513203"/>
                </a:lnTo>
                <a:close/>
              </a:path>
              <a:path w="3421379" h="2560954">
                <a:moveTo>
                  <a:pt x="322707" y="2513203"/>
                </a:moveTo>
                <a:lnTo>
                  <a:pt x="246507" y="2513203"/>
                </a:lnTo>
                <a:lnTo>
                  <a:pt x="246507" y="2532253"/>
                </a:lnTo>
                <a:lnTo>
                  <a:pt x="322707" y="2532253"/>
                </a:lnTo>
                <a:lnTo>
                  <a:pt x="322707" y="2513203"/>
                </a:lnTo>
                <a:close/>
              </a:path>
              <a:path w="3421379" h="2560954">
                <a:moveTo>
                  <a:pt x="456057" y="2513203"/>
                </a:moveTo>
                <a:lnTo>
                  <a:pt x="379857" y="2513203"/>
                </a:lnTo>
                <a:lnTo>
                  <a:pt x="379857" y="2532253"/>
                </a:lnTo>
                <a:lnTo>
                  <a:pt x="456057" y="2532253"/>
                </a:lnTo>
                <a:lnTo>
                  <a:pt x="456057" y="2513203"/>
                </a:lnTo>
                <a:close/>
              </a:path>
              <a:path w="3421379" h="2560954">
                <a:moveTo>
                  <a:pt x="589407" y="2513203"/>
                </a:moveTo>
                <a:lnTo>
                  <a:pt x="513207" y="2513203"/>
                </a:lnTo>
                <a:lnTo>
                  <a:pt x="513207" y="2532253"/>
                </a:lnTo>
                <a:lnTo>
                  <a:pt x="589407" y="2532253"/>
                </a:lnTo>
                <a:lnTo>
                  <a:pt x="589407" y="2513203"/>
                </a:lnTo>
                <a:close/>
              </a:path>
              <a:path w="3421379" h="2560954">
                <a:moveTo>
                  <a:pt x="722757" y="2513203"/>
                </a:moveTo>
                <a:lnTo>
                  <a:pt x="646557" y="2513203"/>
                </a:lnTo>
                <a:lnTo>
                  <a:pt x="646557" y="2532253"/>
                </a:lnTo>
                <a:lnTo>
                  <a:pt x="722757" y="2532253"/>
                </a:lnTo>
                <a:lnTo>
                  <a:pt x="722757" y="2513203"/>
                </a:lnTo>
                <a:close/>
              </a:path>
              <a:path w="3421379" h="2560954">
                <a:moveTo>
                  <a:pt x="856107" y="2513203"/>
                </a:moveTo>
                <a:lnTo>
                  <a:pt x="779907" y="2513203"/>
                </a:lnTo>
                <a:lnTo>
                  <a:pt x="779907" y="2532253"/>
                </a:lnTo>
                <a:lnTo>
                  <a:pt x="856107" y="2532253"/>
                </a:lnTo>
                <a:lnTo>
                  <a:pt x="856107" y="2513203"/>
                </a:lnTo>
                <a:close/>
              </a:path>
              <a:path w="3421379" h="2560954">
                <a:moveTo>
                  <a:pt x="989457" y="2513203"/>
                </a:moveTo>
                <a:lnTo>
                  <a:pt x="913257" y="2513203"/>
                </a:lnTo>
                <a:lnTo>
                  <a:pt x="913257" y="2532253"/>
                </a:lnTo>
                <a:lnTo>
                  <a:pt x="989457" y="2532253"/>
                </a:lnTo>
                <a:lnTo>
                  <a:pt x="989457" y="2513203"/>
                </a:lnTo>
                <a:close/>
              </a:path>
              <a:path w="3421379" h="2560954">
                <a:moveTo>
                  <a:pt x="1122807" y="2513203"/>
                </a:moveTo>
                <a:lnTo>
                  <a:pt x="1046607" y="2513203"/>
                </a:lnTo>
                <a:lnTo>
                  <a:pt x="1046607" y="2532253"/>
                </a:lnTo>
                <a:lnTo>
                  <a:pt x="1122807" y="2532253"/>
                </a:lnTo>
                <a:lnTo>
                  <a:pt x="1122807" y="2513203"/>
                </a:lnTo>
                <a:close/>
              </a:path>
              <a:path w="3421379" h="2560954">
                <a:moveTo>
                  <a:pt x="1256157" y="2513203"/>
                </a:moveTo>
                <a:lnTo>
                  <a:pt x="1179957" y="2513203"/>
                </a:lnTo>
                <a:lnTo>
                  <a:pt x="1179957" y="2532253"/>
                </a:lnTo>
                <a:lnTo>
                  <a:pt x="1256157" y="2532253"/>
                </a:lnTo>
                <a:lnTo>
                  <a:pt x="1256157" y="2513203"/>
                </a:lnTo>
                <a:close/>
              </a:path>
              <a:path w="3421379" h="2560954">
                <a:moveTo>
                  <a:pt x="1389507" y="2513203"/>
                </a:moveTo>
                <a:lnTo>
                  <a:pt x="1313307" y="2513203"/>
                </a:lnTo>
                <a:lnTo>
                  <a:pt x="1313307" y="2532253"/>
                </a:lnTo>
                <a:lnTo>
                  <a:pt x="1389507" y="2532253"/>
                </a:lnTo>
                <a:lnTo>
                  <a:pt x="1389507" y="2513203"/>
                </a:lnTo>
                <a:close/>
              </a:path>
              <a:path w="3421379" h="2560954">
                <a:moveTo>
                  <a:pt x="1417447" y="28575"/>
                </a:moveTo>
                <a:lnTo>
                  <a:pt x="1415796" y="28575"/>
                </a:lnTo>
                <a:lnTo>
                  <a:pt x="1415796" y="0"/>
                </a:lnTo>
                <a:lnTo>
                  <a:pt x="1339596" y="38100"/>
                </a:lnTo>
                <a:lnTo>
                  <a:pt x="1415796" y="76200"/>
                </a:lnTo>
                <a:lnTo>
                  <a:pt x="1415796" y="47625"/>
                </a:lnTo>
                <a:lnTo>
                  <a:pt x="1417447" y="47625"/>
                </a:lnTo>
                <a:lnTo>
                  <a:pt x="1417447" y="28575"/>
                </a:lnTo>
                <a:close/>
              </a:path>
              <a:path w="3421379" h="2560954">
                <a:moveTo>
                  <a:pt x="1522857" y="2513203"/>
                </a:moveTo>
                <a:lnTo>
                  <a:pt x="1446657" y="2513203"/>
                </a:lnTo>
                <a:lnTo>
                  <a:pt x="1446657" y="2532253"/>
                </a:lnTo>
                <a:lnTo>
                  <a:pt x="1522857" y="2532253"/>
                </a:lnTo>
                <a:lnTo>
                  <a:pt x="1522857" y="2513203"/>
                </a:lnTo>
                <a:close/>
              </a:path>
              <a:path w="3421379" h="2560954">
                <a:moveTo>
                  <a:pt x="1550797" y="28575"/>
                </a:moveTo>
                <a:lnTo>
                  <a:pt x="1474597" y="28575"/>
                </a:lnTo>
                <a:lnTo>
                  <a:pt x="1474597" y="47625"/>
                </a:lnTo>
                <a:lnTo>
                  <a:pt x="1550797" y="47625"/>
                </a:lnTo>
                <a:lnTo>
                  <a:pt x="1550797" y="28575"/>
                </a:lnTo>
                <a:close/>
              </a:path>
              <a:path w="3421379" h="2560954">
                <a:moveTo>
                  <a:pt x="1656207" y="2513203"/>
                </a:moveTo>
                <a:lnTo>
                  <a:pt x="1580007" y="2513203"/>
                </a:lnTo>
                <a:lnTo>
                  <a:pt x="1580007" y="2532253"/>
                </a:lnTo>
                <a:lnTo>
                  <a:pt x="1656207" y="2532253"/>
                </a:lnTo>
                <a:lnTo>
                  <a:pt x="1656207" y="2513203"/>
                </a:lnTo>
                <a:close/>
              </a:path>
              <a:path w="3421379" h="2560954">
                <a:moveTo>
                  <a:pt x="1667764" y="2391410"/>
                </a:moveTo>
                <a:lnTo>
                  <a:pt x="1648714" y="2391410"/>
                </a:lnTo>
                <a:lnTo>
                  <a:pt x="1648714" y="2467610"/>
                </a:lnTo>
                <a:lnTo>
                  <a:pt x="1667764" y="2467610"/>
                </a:lnTo>
                <a:lnTo>
                  <a:pt x="1667764" y="2391410"/>
                </a:lnTo>
                <a:close/>
              </a:path>
              <a:path w="3421379" h="2560954">
                <a:moveTo>
                  <a:pt x="1667764" y="2258060"/>
                </a:moveTo>
                <a:lnTo>
                  <a:pt x="1648714" y="2258060"/>
                </a:lnTo>
                <a:lnTo>
                  <a:pt x="1648714" y="2334260"/>
                </a:lnTo>
                <a:lnTo>
                  <a:pt x="1667764" y="2334260"/>
                </a:lnTo>
                <a:lnTo>
                  <a:pt x="1667764" y="2258060"/>
                </a:lnTo>
                <a:close/>
              </a:path>
              <a:path w="3421379" h="2560954">
                <a:moveTo>
                  <a:pt x="1675003" y="1980819"/>
                </a:moveTo>
                <a:lnTo>
                  <a:pt x="1655953" y="1980819"/>
                </a:lnTo>
                <a:lnTo>
                  <a:pt x="1655953" y="2057019"/>
                </a:lnTo>
                <a:lnTo>
                  <a:pt x="1675003" y="2057019"/>
                </a:lnTo>
                <a:lnTo>
                  <a:pt x="1675003" y="1980819"/>
                </a:lnTo>
                <a:close/>
              </a:path>
              <a:path w="3421379" h="2560954">
                <a:moveTo>
                  <a:pt x="1675003" y="1847469"/>
                </a:moveTo>
                <a:lnTo>
                  <a:pt x="1655953" y="1847469"/>
                </a:lnTo>
                <a:lnTo>
                  <a:pt x="1655953" y="1923669"/>
                </a:lnTo>
                <a:lnTo>
                  <a:pt x="1675003" y="1923669"/>
                </a:lnTo>
                <a:lnTo>
                  <a:pt x="1675003" y="1847469"/>
                </a:lnTo>
                <a:close/>
              </a:path>
              <a:path w="3421379" h="2560954">
                <a:moveTo>
                  <a:pt x="1675003" y="1714119"/>
                </a:moveTo>
                <a:lnTo>
                  <a:pt x="1655953" y="1714119"/>
                </a:lnTo>
                <a:lnTo>
                  <a:pt x="1655953" y="1790319"/>
                </a:lnTo>
                <a:lnTo>
                  <a:pt x="1675003" y="1790319"/>
                </a:lnTo>
                <a:lnTo>
                  <a:pt x="1675003" y="1714119"/>
                </a:lnTo>
                <a:close/>
              </a:path>
              <a:path w="3421379" h="2560954">
                <a:moveTo>
                  <a:pt x="1675003" y="1580769"/>
                </a:moveTo>
                <a:lnTo>
                  <a:pt x="1655953" y="1580769"/>
                </a:lnTo>
                <a:lnTo>
                  <a:pt x="1655953" y="1656969"/>
                </a:lnTo>
                <a:lnTo>
                  <a:pt x="1675003" y="1656969"/>
                </a:lnTo>
                <a:lnTo>
                  <a:pt x="1675003" y="1580769"/>
                </a:lnTo>
                <a:close/>
              </a:path>
              <a:path w="3421379" h="2560954">
                <a:moveTo>
                  <a:pt x="1675003" y="1447419"/>
                </a:moveTo>
                <a:lnTo>
                  <a:pt x="1655953" y="1447419"/>
                </a:lnTo>
                <a:lnTo>
                  <a:pt x="1655953" y="1523619"/>
                </a:lnTo>
                <a:lnTo>
                  <a:pt x="1675003" y="1523619"/>
                </a:lnTo>
                <a:lnTo>
                  <a:pt x="1675003" y="1447419"/>
                </a:lnTo>
                <a:close/>
              </a:path>
              <a:path w="3421379" h="2560954">
                <a:moveTo>
                  <a:pt x="1675003" y="1314069"/>
                </a:moveTo>
                <a:lnTo>
                  <a:pt x="1655953" y="1314069"/>
                </a:lnTo>
                <a:lnTo>
                  <a:pt x="1655953" y="1390269"/>
                </a:lnTo>
                <a:lnTo>
                  <a:pt x="1675003" y="1390269"/>
                </a:lnTo>
                <a:lnTo>
                  <a:pt x="1675003" y="1314069"/>
                </a:lnTo>
                <a:close/>
              </a:path>
              <a:path w="3421379" h="2560954">
                <a:moveTo>
                  <a:pt x="1675003" y="1180719"/>
                </a:moveTo>
                <a:lnTo>
                  <a:pt x="1655953" y="1180719"/>
                </a:lnTo>
                <a:lnTo>
                  <a:pt x="1655953" y="1256919"/>
                </a:lnTo>
                <a:lnTo>
                  <a:pt x="1675003" y="1256919"/>
                </a:lnTo>
                <a:lnTo>
                  <a:pt x="1675003" y="1180719"/>
                </a:lnTo>
                <a:close/>
              </a:path>
              <a:path w="3421379" h="2560954">
                <a:moveTo>
                  <a:pt x="1675003" y="1047369"/>
                </a:moveTo>
                <a:lnTo>
                  <a:pt x="1655953" y="1047369"/>
                </a:lnTo>
                <a:lnTo>
                  <a:pt x="1655953" y="1123569"/>
                </a:lnTo>
                <a:lnTo>
                  <a:pt x="1675003" y="1123569"/>
                </a:lnTo>
                <a:lnTo>
                  <a:pt x="1675003" y="1047369"/>
                </a:lnTo>
                <a:close/>
              </a:path>
              <a:path w="3421379" h="2560954">
                <a:moveTo>
                  <a:pt x="1675003" y="914019"/>
                </a:moveTo>
                <a:lnTo>
                  <a:pt x="1655953" y="914019"/>
                </a:lnTo>
                <a:lnTo>
                  <a:pt x="1655953" y="990219"/>
                </a:lnTo>
                <a:lnTo>
                  <a:pt x="1675003" y="990219"/>
                </a:lnTo>
                <a:lnTo>
                  <a:pt x="1675003" y="914019"/>
                </a:lnTo>
                <a:close/>
              </a:path>
              <a:path w="3421379" h="2560954">
                <a:moveTo>
                  <a:pt x="1675003" y="780669"/>
                </a:moveTo>
                <a:lnTo>
                  <a:pt x="1655953" y="780669"/>
                </a:lnTo>
                <a:lnTo>
                  <a:pt x="1655953" y="856869"/>
                </a:lnTo>
                <a:lnTo>
                  <a:pt x="1675003" y="856869"/>
                </a:lnTo>
                <a:lnTo>
                  <a:pt x="1675003" y="780669"/>
                </a:lnTo>
                <a:close/>
              </a:path>
              <a:path w="3421379" h="2560954">
                <a:moveTo>
                  <a:pt x="1675003" y="647319"/>
                </a:moveTo>
                <a:lnTo>
                  <a:pt x="1655953" y="647319"/>
                </a:lnTo>
                <a:lnTo>
                  <a:pt x="1655953" y="723519"/>
                </a:lnTo>
                <a:lnTo>
                  <a:pt x="1675003" y="723519"/>
                </a:lnTo>
                <a:lnTo>
                  <a:pt x="1675003" y="647319"/>
                </a:lnTo>
                <a:close/>
              </a:path>
              <a:path w="3421379" h="2560954">
                <a:moveTo>
                  <a:pt x="1675003" y="513969"/>
                </a:moveTo>
                <a:lnTo>
                  <a:pt x="1655953" y="513969"/>
                </a:lnTo>
                <a:lnTo>
                  <a:pt x="1655953" y="590169"/>
                </a:lnTo>
                <a:lnTo>
                  <a:pt x="1675003" y="590169"/>
                </a:lnTo>
                <a:lnTo>
                  <a:pt x="1675003" y="513969"/>
                </a:lnTo>
                <a:close/>
              </a:path>
              <a:path w="3421379" h="2560954">
                <a:moveTo>
                  <a:pt x="1675003" y="380619"/>
                </a:moveTo>
                <a:lnTo>
                  <a:pt x="1655953" y="380619"/>
                </a:lnTo>
                <a:lnTo>
                  <a:pt x="1655953" y="456819"/>
                </a:lnTo>
                <a:lnTo>
                  <a:pt x="1675003" y="456819"/>
                </a:lnTo>
                <a:lnTo>
                  <a:pt x="1675003" y="380619"/>
                </a:lnTo>
                <a:close/>
              </a:path>
              <a:path w="3421379" h="2560954">
                <a:moveTo>
                  <a:pt x="1675003" y="247269"/>
                </a:moveTo>
                <a:lnTo>
                  <a:pt x="1655953" y="247269"/>
                </a:lnTo>
                <a:lnTo>
                  <a:pt x="1655953" y="323469"/>
                </a:lnTo>
                <a:lnTo>
                  <a:pt x="1675003" y="323469"/>
                </a:lnTo>
                <a:lnTo>
                  <a:pt x="1675003" y="247269"/>
                </a:lnTo>
                <a:close/>
              </a:path>
              <a:path w="3421379" h="2560954">
                <a:moveTo>
                  <a:pt x="1675003" y="113919"/>
                </a:moveTo>
                <a:lnTo>
                  <a:pt x="1655953" y="113919"/>
                </a:lnTo>
                <a:lnTo>
                  <a:pt x="1655953" y="190119"/>
                </a:lnTo>
                <a:lnTo>
                  <a:pt x="1675003" y="190119"/>
                </a:lnTo>
                <a:lnTo>
                  <a:pt x="1675003" y="113919"/>
                </a:lnTo>
                <a:close/>
              </a:path>
              <a:path w="3421379" h="2560954">
                <a:moveTo>
                  <a:pt x="1675003" y="28575"/>
                </a:moveTo>
                <a:lnTo>
                  <a:pt x="1607947" y="28575"/>
                </a:lnTo>
                <a:lnTo>
                  <a:pt x="1607947" y="47625"/>
                </a:lnTo>
                <a:lnTo>
                  <a:pt x="1655953" y="47625"/>
                </a:lnTo>
                <a:lnTo>
                  <a:pt x="1655953" y="56769"/>
                </a:lnTo>
                <a:lnTo>
                  <a:pt x="1675003" y="56769"/>
                </a:lnTo>
                <a:lnTo>
                  <a:pt x="1675003" y="47625"/>
                </a:lnTo>
                <a:lnTo>
                  <a:pt x="1675003" y="38100"/>
                </a:lnTo>
                <a:lnTo>
                  <a:pt x="1675003" y="28575"/>
                </a:lnTo>
                <a:close/>
              </a:path>
              <a:path w="3421379" h="2560954">
                <a:moveTo>
                  <a:pt x="1687703" y="2158619"/>
                </a:moveTo>
                <a:lnTo>
                  <a:pt x="1685417" y="2158619"/>
                </a:lnTo>
                <a:lnTo>
                  <a:pt x="1685417" y="2151888"/>
                </a:lnTo>
                <a:lnTo>
                  <a:pt x="1685417" y="2142363"/>
                </a:lnTo>
                <a:lnTo>
                  <a:pt x="1675003" y="2142363"/>
                </a:lnTo>
                <a:lnTo>
                  <a:pt x="1675003" y="2114169"/>
                </a:lnTo>
                <a:lnTo>
                  <a:pt x="1655953" y="2114169"/>
                </a:lnTo>
                <a:lnTo>
                  <a:pt x="1655953" y="2142363"/>
                </a:lnTo>
                <a:lnTo>
                  <a:pt x="1648714" y="2142363"/>
                </a:lnTo>
                <a:lnTo>
                  <a:pt x="1648714" y="2200910"/>
                </a:lnTo>
                <a:lnTo>
                  <a:pt x="1667764" y="2200910"/>
                </a:lnTo>
                <a:lnTo>
                  <a:pt x="1667764" y="2177669"/>
                </a:lnTo>
                <a:lnTo>
                  <a:pt x="1687703" y="2177669"/>
                </a:lnTo>
                <a:lnTo>
                  <a:pt x="1687703" y="2168144"/>
                </a:lnTo>
                <a:lnTo>
                  <a:pt x="1687703" y="2158619"/>
                </a:lnTo>
                <a:close/>
              </a:path>
              <a:path w="3421379" h="2560954">
                <a:moveTo>
                  <a:pt x="1821053" y="2158619"/>
                </a:moveTo>
                <a:lnTo>
                  <a:pt x="1744853" y="2158619"/>
                </a:lnTo>
                <a:lnTo>
                  <a:pt x="1744853" y="2177669"/>
                </a:lnTo>
                <a:lnTo>
                  <a:pt x="1821053" y="2177669"/>
                </a:lnTo>
                <a:lnTo>
                  <a:pt x="1821053" y="2158619"/>
                </a:lnTo>
                <a:close/>
              </a:path>
              <a:path w="3421379" h="2560954">
                <a:moveTo>
                  <a:pt x="1954403" y="2158619"/>
                </a:moveTo>
                <a:lnTo>
                  <a:pt x="1878203" y="2158619"/>
                </a:lnTo>
                <a:lnTo>
                  <a:pt x="1878203" y="2177669"/>
                </a:lnTo>
                <a:lnTo>
                  <a:pt x="1954403" y="2177669"/>
                </a:lnTo>
                <a:lnTo>
                  <a:pt x="1954403" y="2158619"/>
                </a:lnTo>
                <a:close/>
              </a:path>
              <a:path w="3421379" h="2560954">
                <a:moveTo>
                  <a:pt x="2087753" y="2158619"/>
                </a:moveTo>
                <a:lnTo>
                  <a:pt x="2011553" y="2158619"/>
                </a:lnTo>
                <a:lnTo>
                  <a:pt x="2011553" y="2177669"/>
                </a:lnTo>
                <a:lnTo>
                  <a:pt x="2087753" y="2177669"/>
                </a:lnTo>
                <a:lnTo>
                  <a:pt x="2087753" y="2158619"/>
                </a:lnTo>
                <a:close/>
              </a:path>
              <a:path w="3421379" h="2560954">
                <a:moveTo>
                  <a:pt x="2221103" y="2158619"/>
                </a:moveTo>
                <a:lnTo>
                  <a:pt x="2144903" y="2158619"/>
                </a:lnTo>
                <a:lnTo>
                  <a:pt x="2144903" y="2177669"/>
                </a:lnTo>
                <a:lnTo>
                  <a:pt x="2221103" y="2177669"/>
                </a:lnTo>
                <a:lnTo>
                  <a:pt x="2221103" y="2158619"/>
                </a:lnTo>
                <a:close/>
              </a:path>
              <a:path w="3421379" h="2560954">
                <a:moveTo>
                  <a:pt x="2354453" y="2158619"/>
                </a:moveTo>
                <a:lnTo>
                  <a:pt x="2278253" y="2158619"/>
                </a:lnTo>
                <a:lnTo>
                  <a:pt x="2278253" y="2177669"/>
                </a:lnTo>
                <a:lnTo>
                  <a:pt x="2354453" y="2177669"/>
                </a:lnTo>
                <a:lnTo>
                  <a:pt x="2354453" y="2158619"/>
                </a:lnTo>
                <a:close/>
              </a:path>
              <a:path w="3421379" h="2560954">
                <a:moveTo>
                  <a:pt x="2487803" y="2158619"/>
                </a:moveTo>
                <a:lnTo>
                  <a:pt x="2411603" y="2158619"/>
                </a:lnTo>
                <a:lnTo>
                  <a:pt x="2411603" y="2177669"/>
                </a:lnTo>
                <a:lnTo>
                  <a:pt x="2487803" y="2177669"/>
                </a:lnTo>
                <a:lnTo>
                  <a:pt x="2487803" y="2158619"/>
                </a:lnTo>
                <a:close/>
              </a:path>
              <a:path w="3421379" h="2560954">
                <a:moveTo>
                  <a:pt x="2621153" y="2158619"/>
                </a:moveTo>
                <a:lnTo>
                  <a:pt x="2544953" y="2158619"/>
                </a:lnTo>
                <a:lnTo>
                  <a:pt x="2544953" y="2177669"/>
                </a:lnTo>
                <a:lnTo>
                  <a:pt x="2621153" y="2177669"/>
                </a:lnTo>
                <a:lnTo>
                  <a:pt x="2621153" y="2158619"/>
                </a:lnTo>
                <a:close/>
              </a:path>
              <a:path w="3421379" h="2560954">
                <a:moveTo>
                  <a:pt x="2754503" y="2158619"/>
                </a:moveTo>
                <a:lnTo>
                  <a:pt x="2678303" y="2158619"/>
                </a:lnTo>
                <a:lnTo>
                  <a:pt x="2678303" y="2177669"/>
                </a:lnTo>
                <a:lnTo>
                  <a:pt x="2754503" y="2177669"/>
                </a:lnTo>
                <a:lnTo>
                  <a:pt x="2754503" y="2158619"/>
                </a:lnTo>
                <a:close/>
              </a:path>
              <a:path w="3421379" h="2560954">
                <a:moveTo>
                  <a:pt x="2887853" y="2158619"/>
                </a:moveTo>
                <a:lnTo>
                  <a:pt x="2811653" y="2158619"/>
                </a:lnTo>
                <a:lnTo>
                  <a:pt x="2811653" y="2177669"/>
                </a:lnTo>
                <a:lnTo>
                  <a:pt x="2887853" y="2177669"/>
                </a:lnTo>
                <a:lnTo>
                  <a:pt x="2887853" y="2158619"/>
                </a:lnTo>
                <a:close/>
              </a:path>
              <a:path w="3421379" h="2560954">
                <a:moveTo>
                  <a:pt x="3021203" y="2158619"/>
                </a:moveTo>
                <a:lnTo>
                  <a:pt x="2945003" y="2158619"/>
                </a:lnTo>
                <a:lnTo>
                  <a:pt x="2945003" y="2177669"/>
                </a:lnTo>
                <a:lnTo>
                  <a:pt x="3021203" y="2177669"/>
                </a:lnTo>
                <a:lnTo>
                  <a:pt x="3021203" y="2158619"/>
                </a:lnTo>
                <a:close/>
              </a:path>
              <a:path w="3421379" h="2560954">
                <a:moveTo>
                  <a:pt x="3154553" y="2158619"/>
                </a:moveTo>
                <a:lnTo>
                  <a:pt x="3078353" y="2158619"/>
                </a:lnTo>
                <a:lnTo>
                  <a:pt x="3078353" y="2177669"/>
                </a:lnTo>
                <a:lnTo>
                  <a:pt x="3154553" y="2177669"/>
                </a:lnTo>
                <a:lnTo>
                  <a:pt x="3154553" y="2158619"/>
                </a:lnTo>
                <a:close/>
              </a:path>
              <a:path w="3421379" h="2560954">
                <a:moveTo>
                  <a:pt x="3287903" y="2158619"/>
                </a:moveTo>
                <a:lnTo>
                  <a:pt x="3211703" y="2158619"/>
                </a:lnTo>
                <a:lnTo>
                  <a:pt x="3211703" y="2177669"/>
                </a:lnTo>
                <a:lnTo>
                  <a:pt x="3287903" y="2177669"/>
                </a:lnTo>
                <a:lnTo>
                  <a:pt x="3287903" y="2158619"/>
                </a:lnTo>
                <a:close/>
              </a:path>
              <a:path w="3421379" h="2560954">
                <a:moveTo>
                  <a:pt x="3421253" y="2158619"/>
                </a:moveTo>
                <a:lnTo>
                  <a:pt x="3345053" y="2158619"/>
                </a:lnTo>
                <a:lnTo>
                  <a:pt x="3345053" y="2177669"/>
                </a:lnTo>
                <a:lnTo>
                  <a:pt x="3421253" y="2177669"/>
                </a:lnTo>
                <a:lnTo>
                  <a:pt x="3421253" y="2158619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Tablet 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6872" y="3204972"/>
            <a:ext cx="606551" cy="606551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3957828" y="5972555"/>
            <a:ext cx="4051300" cy="533400"/>
          </a:xfrm>
          <a:custGeom>
            <a:avLst/>
            <a:gdLst/>
            <a:ahLst/>
            <a:cxnLst/>
            <a:rect l="l" t="t" r="r" b="b"/>
            <a:pathLst>
              <a:path w="4051300" h="533400">
                <a:moveTo>
                  <a:pt x="0" y="0"/>
                </a:moveTo>
                <a:lnTo>
                  <a:pt x="0" y="533234"/>
                </a:lnTo>
              </a:path>
              <a:path w="4051300" h="533400">
                <a:moveTo>
                  <a:pt x="4050792" y="21336"/>
                </a:moveTo>
                <a:lnTo>
                  <a:pt x="4050792" y="533234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379209" y="1439417"/>
            <a:ext cx="636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Terminals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15153" y="3204413"/>
            <a:ext cx="170561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139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Bank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Office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Terminals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00853" y="1911477"/>
            <a:ext cx="755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Bank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Office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858768" y="5567171"/>
            <a:ext cx="253365" cy="340360"/>
          </a:xfrm>
          <a:custGeom>
            <a:avLst/>
            <a:gdLst/>
            <a:ahLst/>
            <a:cxnLst/>
            <a:rect l="l" t="t" r="r" b="b"/>
            <a:pathLst>
              <a:path w="253364" h="340360">
                <a:moveTo>
                  <a:pt x="146304" y="174498"/>
                </a:moveTo>
                <a:lnTo>
                  <a:pt x="73152" y="28956"/>
                </a:lnTo>
                <a:lnTo>
                  <a:pt x="0" y="28956"/>
                </a:lnTo>
                <a:lnTo>
                  <a:pt x="73152" y="174498"/>
                </a:lnTo>
                <a:lnTo>
                  <a:pt x="0" y="320040"/>
                </a:lnTo>
                <a:lnTo>
                  <a:pt x="73152" y="320040"/>
                </a:lnTo>
                <a:lnTo>
                  <a:pt x="146304" y="174498"/>
                </a:lnTo>
                <a:close/>
              </a:path>
              <a:path w="253364" h="340360">
                <a:moveTo>
                  <a:pt x="252984" y="169926"/>
                </a:moveTo>
                <a:lnTo>
                  <a:pt x="179832" y="0"/>
                </a:lnTo>
                <a:lnTo>
                  <a:pt x="106680" y="0"/>
                </a:lnTo>
                <a:lnTo>
                  <a:pt x="179832" y="169926"/>
                </a:lnTo>
                <a:lnTo>
                  <a:pt x="106680" y="339852"/>
                </a:lnTo>
                <a:lnTo>
                  <a:pt x="179832" y="339852"/>
                </a:lnTo>
                <a:lnTo>
                  <a:pt x="252984" y="169926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45458" y="1082421"/>
            <a:ext cx="2225040" cy="417195"/>
          </a:xfrm>
          <a:custGeom>
            <a:avLst/>
            <a:gdLst/>
            <a:ahLst/>
            <a:cxnLst/>
            <a:rect l="l" t="t" r="r" b="b"/>
            <a:pathLst>
              <a:path w="2225040" h="417194">
                <a:moveTo>
                  <a:pt x="2224786" y="0"/>
                </a:moveTo>
                <a:lnTo>
                  <a:pt x="2148586" y="0"/>
                </a:lnTo>
                <a:lnTo>
                  <a:pt x="2148586" y="19050"/>
                </a:lnTo>
                <a:lnTo>
                  <a:pt x="2224786" y="19050"/>
                </a:lnTo>
                <a:lnTo>
                  <a:pt x="2224786" y="0"/>
                </a:lnTo>
                <a:close/>
              </a:path>
              <a:path w="2225040" h="417194">
                <a:moveTo>
                  <a:pt x="2091436" y="0"/>
                </a:moveTo>
                <a:lnTo>
                  <a:pt x="2015236" y="0"/>
                </a:lnTo>
                <a:lnTo>
                  <a:pt x="2015236" y="19050"/>
                </a:lnTo>
                <a:lnTo>
                  <a:pt x="2091436" y="19050"/>
                </a:lnTo>
                <a:lnTo>
                  <a:pt x="2091436" y="0"/>
                </a:lnTo>
                <a:close/>
              </a:path>
              <a:path w="2225040" h="417194">
                <a:moveTo>
                  <a:pt x="1958086" y="0"/>
                </a:moveTo>
                <a:lnTo>
                  <a:pt x="1881886" y="0"/>
                </a:lnTo>
                <a:lnTo>
                  <a:pt x="1881886" y="19050"/>
                </a:lnTo>
                <a:lnTo>
                  <a:pt x="1958086" y="19050"/>
                </a:lnTo>
                <a:lnTo>
                  <a:pt x="1958086" y="0"/>
                </a:lnTo>
                <a:close/>
              </a:path>
              <a:path w="2225040" h="417194">
                <a:moveTo>
                  <a:pt x="1824736" y="0"/>
                </a:moveTo>
                <a:lnTo>
                  <a:pt x="1748536" y="0"/>
                </a:lnTo>
                <a:lnTo>
                  <a:pt x="1748536" y="19050"/>
                </a:lnTo>
                <a:lnTo>
                  <a:pt x="1824736" y="19050"/>
                </a:lnTo>
                <a:lnTo>
                  <a:pt x="1824736" y="0"/>
                </a:lnTo>
                <a:close/>
              </a:path>
              <a:path w="2225040" h="417194">
                <a:moveTo>
                  <a:pt x="1691386" y="0"/>
                </a:moveTo>
                <a:lnTo>
                  <a:pt x="1615186" y="0"/>
                </a:lnTo>
                <a:lnTo>
                  <a:pt x="1615186" y="19050"/>
                </a:lnTo>
                <a:lnTo>
                  <a:pt x="1691386" y="19050"/>
                </a:lnTo>
                <a:lnTo>
                  <a:pt x="1691386" y="0"/>
                </a:lnTo>
                <a:close/>
              </a:path>
              <a:path w="2225040" h="417194">
                <a:moveTo>
                  <a:pt x="1558036" y="0"/>
                </a:moveTo>
                <a:lnTo>
                  <a:pt x="1481836" y="0"/>
                </a:lnTo>
                <a:lnTo>
                  <a:pt x="1481836" y="19050"/>
                </a:lnTo>
                <a:lnTo>
                  <a:pt x="1558036" y="19050"/>
                </a:lnTo>
                <a:lnTo>
                  <a:pt x="1558036" y="0"/>
                </a:lnTo>
                <a:close/>
              </a:path>
              <a:path w="2225040" h="417194">
                <a:moveTo>
                  <a:pt x="1424686" y="0"/>
                </a:moveTo>
                <a:lnTo>
                  <a:pt x="1348486" y="0"/>
                </a:lnTo>
                <a:lnTo>
                  <a:pt x="1348486" y="19050"/>
                </a:lnTo>
                <a:lnTo>
                  <a:pt x="1424686" y="19050"/>
                </a:lnTo>
                <a:lnTo>
                  <a:pt x="1424686" y="0"/>
                </a:lnTo>
                <a:close/>
              </a:path>
              <a:path w="2225040" h="417194">
                <a:moveTo>
                  <a:pt x="1291336" y="0"/>
                </a:moveTo>
                <a:lnTo>
                  <a:pt x="1215136" y="0"/>
                </a:lnTo>
                <a:lnTo>
                  <a:pt x="1215136" y="19050"/>
                </a:lnTo>
                <a:lnTo>
                  <a:pt x="1291336" y="19050"/>
                </a:lnTo>
                <a:lnTo>
                  <a:pt x="1291336" y="0"/>
                </a:lnTo>
                <a:close/>
              </a:path>
              <a:path w="2225040" h="417194">
                <a:moveTo>
                  <a:pt x="1157986" y="0"/>
                </a:moveTo>
                <a:lnTo>
                  <a:pt x="1102867" y="0"/>
                </a:lnTo>
                <a:lnTo>
                  <a:pt x="1102867" y="40131"/>
                </a:lnTo>
                <a:lnTo>
                  <a:pt x="1121917" y="40131"/>
                </a:lnTo>
                <a:lnTo>
                  <a:pt x="1121917" y="19050"/>
                </a:lnTo>
                <a:lnTo>
                  <a:pt x="1112392" y="19050"/>
                </a:lnTo>
                <a:lnTo>
                  <a:pt x="1121917" y="9525"/>
                </a:lnTo>
                <a:lnTo>
                  <a:pt x="1157986" y="9525"/>
                </a:lnTo>
                <a:lnTo>
                  <a:pt x="1157986" y="0"/>
                </a:lnTo>
                <a:close/>
              </a:path>
              <a:path w="2225040" h="417194">
                <a:moveTo>
                  <a:pt x="1121917" y="9525"/>
                </a:moveTo>
                <a:lnTo>
                  <a:pt x="1112392" y="19050"/>
                </a:lnTo>
                <a:lnTo>
                  <a:pt x="1121917" y="19050"/>
                </a:lnTo>
                <a:lnTo>
                  <a:pt x="1121917" y="9525"/>
                </a:lnTo>
                <a:close/>
              </a:path>
              <a:path w="2225040" h="417194">
                <a:moveTo>
                  <a:pt x="1157986" y="9525"/>
                </a:moveTo>
                <a:lnTo>
                  <a:pt x="1121917" y="9525"/>
                </a:lnTo>
                <a:lnTo>
                  <a:pt x="1121917" y="19050"/>
                </a:lnTo>
                <a:lnTo>
                  <a:pt x="1157986" y="19050"/>
                </a:lnTo>
                <a:lnTo>
                  <a:pt x="1157986" y="9525"/>
                </a:lnTo>
                <a:close/>
              </a:path>
              <a:path w="2225040" h="417194">
                <a:moveTo>
                  <a:pt x="1121917" y="97281"/>
                </a:moveTo>
                <a:lnTo>
                  <a:pt x="1102867" y="97281"/>
                </a:lnTo>
                <a:lnTo>
                  <a:pt x="1102867" y="173481"/>
                </a:lnTo>
                <a:lnTo>
                  <a:pt x="1121917" y="173481"/>
                </a:lnTo>
                <a:lnTo>
                  <a:pt x="1121917" y="97281"/>
                </a:lnTo>
                <a:close/>
              </a:path>
              <a:path w="2225040" h="417194">
                <a:moveTo>
                  <a:pt x="1121917" y="230631"/>
                </a:moveTo>
                <a:lnTo>
                  <a:pt x="1102867" y="230631"/>
                </a:lnTo>
                <a:lnTo>
                  <a:pt x="1102867" y="306831"/>
                </a:lnTo>
                <a:lnTo>
                  <a:pt x="1121917" y="306831"/>
                </a:lnTo>
                <a:lnTo>
                  <a:pt x="1121917" y="230631"/>
                </a:lnTo>
                <a:close/>
              </a:path>
              <a:path w="2225040" h="417194">
                <a:moveTo>
                  <a:pt x="1102867" y="369442"/>
                </a:moveTo>
                <a:lnTo>
                  <a:pt x="1051178" y="369442"/>
                </a:lnTo>
                <a:lnTo>
                  <a:pt x="1051178" y="388492"/>
                </a:lnTo>
                <a:lnTo>
                  <a:pt x="1121917" y="388492"/>
                </a:lnTo>
                <a:lnTo>
                  <a:pt x="1121917" y="378967"/>
                </a:lnTo>
                <a:lnTo>
                  <a:pt x="1102867" y="378967"/>
                </a:lnTo>
                <a:lnTo>
                  <a:pt x="1102867" y="369442"/>
                </a:lnTo>
                <a:close/>
              </a:path>
              <a:path w="2225040" h="417194">
                <a:moveTo>
                  <a:pt x="1121917" y="363981"/>
                </a:moveTo>
                <a:lnTo>
                  <a:pt x="1102867" y="363981"/>
                </a:lnTo>
                <a:lnTo>
                  <a:pt x="1102867" y="378967"/>
                </a:lnTo>
                <a:lnTo>
                  <a:pt x="1112392" y="369442"/>
                </a:lnTo>
                <a:lnTo>
                  <a:pt x="1121917" y="369442"/>
                </a:lnTo>
                <a:lnTo>
                  <a:pt x="1121917" y="363981"/>
                </a:lnTo>
                <a:close/>
              </a:path>
              <a:path w="2225040" h="417194">
                <a:moveTo>
                  <a:pt x="1121917" y="369442"/>
                </a:moveTo>
                <a:lnTo>
                  <a:pt x="1112392" y="369442"/>
                </a:lnTo>
                <a:lnTo>
                  <a:pt x="1102867" y="378967"/>
                </a:lnTo>
                <a:lnTo>
                  <a:pt x="1121917" y="378967"/>
                </a:lnTo>
                <a:lnTo>
                  <a:pt x="1121917" y="369442"/>
                </a:lnTo>
                <a:close/>
              </a:path>
              <a:path w="2225040" h="417194">
                <a:moveTo>
                  <a:pt x="994028" y="369442"/>
                </a:moveTo>
                <a:lnTo>
                  <a:pt x="917828" y="369442"/>
                </a:lnTo>
                <a:lnTo>
                  <a:pt x="917828" y="388492"/>
                </a:lnTo>
                <a:lnTo>
                  <a:pt x="994028" y="388492"/>
                </a:lnTo>
                <a:lnTo>
                  <a:pt x="994028" y="369442"/>
                </a:lnTo>
                <a:close/>
              </a:path>
              <a:path w="2225040" h="417194">
                <a:moveTo>
                  <a:pt x="860678" y="369442"/>
                </a:moveTo>
                <a:lnTo>
                  <a:pt x="784478" y="369442"/>
                </a:lnTo>
                <a:lnTo>
                  <a:pt x="784478" y="388492"/>
                </a:lnTo>
                <a:lnTo>
                  <a:pt x="860678" y="388492"/>
                </a:lnTo>
                <a:lnTo>
                  <a:pt x="860678" y="369442"/>
                </a:lnTo>
                <a:close/>
              </a:path>
              <a:path w="2225040" h="417194">
                <a:moveTo>
                  <a:pt x="727328" y="369442"/>
                </a:moveTo>
                <a:lnTo>
                  <a:pt x="651128" y="369442"/>
                </a:lnTo>
                <a:lnTo>
                  <a:pt x="651128" y="388492"/>
                </a:lnTo>
                <a:lnTo>
                  <a:pt x="727328" y="388492"/>
                </a:lnTo>
                <a:lnTo>
                  <a:pt x="727328" y="369442"/>
                </a:lnTo>
                <a:close/>
              </a:path>
              <a:path w="2225040" h="417194">
                <a:moveTo>
                  <a:pt x="593978" y="369442"/>
                </a:moveTo>
                <a:lnTo>
                  <a:pt x="517778" y="369442"/>
                </a:lnTo>
                <a:lnTo>
                  <a:pt x="517778" y="388492"/>
                </a:lnTo>
                <a:lnTo>
                  <a:pt x="593978" y="388492"/>
                </a:lnTo>
                <a:lnTo>
                  <a:pt x="593978" y="369442"/>
                </a:lnTo>
                <a:close/>
              </a:path>
              <a:path w="2225040" h="417194">
                <a:moveTo>
                  <a:pt x="460628" y="369442"/>
                </a:moveTo>
                <a:lnTo>
                  <a:pt x="384428" y="369442"/>
                </a:lnTo>
                <a:lnTo>
                  <a:pt x="384428" y="388492"/>
                </a:lnTo>
                <a:lnTo>
                  <a:pt x="460628" y="388492"/>
                </a:lnTo>
                <a:lnTo>
                  <a:pt x="460628" y="369442"/>
                </a:lnTo>
                <a:close/>
              </a:path>
              <a:path w="2225040" h="417194">
                <a:moveTo>
                  <a:pt x="327278" y="369442"/>
                </a:moveTo>
                <a:lnTo>
                  <a:pt x="251078" y="369442"/>
                </a:lnTo>
                <a:lnTo>
                  <a:pt x="251078" y="388492"/>
                </a:lnTo>
                <a:lnTo>
                  <a:pt x="327278" y="388492"/>
                </a:lnTo>
                <a:lnTo>
                  <a:pt x="327278" y="369442"/>
                </a:lnTo>
                <a:close/>
              </a:path>
              <a:path w="2225040" h="417194">
                <a:moveTo>
                  <a:pt x="193928" y="369442"/>
                </a:moveTo>
                <a:lnTo>
                  <a:pt x="117728" y="369442"/>
                </a:lnTo>
                <a:lnTo>
                  <a:pt x="117728" y="388492"/>
                </a:lnTo>
                <a:lnTo>
                  <a:pt x="193928" y="388492"/>
                </a:lnTo>
                <a:lnTo>
                  <a:pt x="193928" y="369442"/>
                </a:lnTo>
                <a:close/>
              </a:path>
              <a:path w="2225040" h="417194">
                <a:moveTo>
                  <a:pt x="76200" y="340867"/>
                </a:moveTo>
                <a:lnTo>
                  <a:pt x="0" y="378967"/>
                </a:lnTo>
                <a:lnTo>
                  <a:pt x="76200" y="417067"/>
                </a:lnTo>
                <a:lnTo>
                  <a:pt x="76200" y="340867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45458" y="3611117"/>
            <a:ext cx="1168400" cy="247015"/>
          </a:xfrm>
          <a:custGeom>
            <a:avLst/>
            <a:gdLst/>
            <a:ahLst/>
            <a:cxnLst/>
            <a:rect l="l" t="t" r="r" b="b"/>
            <a:pathLst>
              <a:path w="1168400" h="247014">
                <a:moveTo>
                  <a:pt x="1167891" y="227710"/>
                </a:moveTo>
                <a:lnTo>
                  <a:pt x="1091691" y="227710"/>
                </a:lnTo>
                <a:lnTo>
                  <a:pt x="1091691" y="246760"/>
                </a:lnTo>
                <a:lnTo>
                  <a:pt x="1167891" y="246760"/>
                </a:lnTo>
                <a:lnTo>
                  <a:pt x="1167891" y="227710"/>
                </a:lnTo>
                <a:close/>
              </a:path>
              <a:path w="1168400" h="247014">
                <a:moveTo>
                  <a:pt x="1034541" y="227710"/>
                </a:moveTo>
                <a:lnTo>
                  <a:pt x="958341" y="227710"/>
                </a:lnTo>
                <a:lnTo>
                  <a:pt x="958341" y="246760"/>
                </a:lnTo>
                <a:lnTo>
                  <a:pt x="1034541" y="246760"/>
                </a:lnTo>
                <a:lnTo>
                  <a:pt x="1034541" y="227710"/>
                </a:lnTo>
                <a:close/>
              </a:path>
              <a:path w="1168400" h="247014">
                <a:moveTo>
                  <a:pt x="901191" y="227710"/>
                </a:moveTo>
                <a:lnTo>
                  <a:pt x="824991" y="227710"/>
                </a:lnTo>
                <a:lnTo>
                  <a:pt x="824991" y="246760"/>
                </a:lnTo>
                <a:lnTo>
                  <a:pt x="901191" y="246760"/>
                </a:lnTo>
                <a:lnTo>
                  <a:pt x="901191" y="227710"/>
                </a:lnTo>
                <a:close/>
              </a:path>
              <a:path w="1168400" h="247014">
                <a:moveTo>
                  <a:pt x="767841" y="227710"/>
                </a:moveTo>
                <a:lnTo>
                  <a:pt x="691641" y="227710"/>
                </a:lnTo>
                <a:lnTo>
                  <a:pt x="691641" y="246760"/>
                </a:lnTo>
                <a:lnTo>
                  <a:pt x="767841" y="246760"/>
                </a:lnTo>
                <a:lnTo>
                  <a:pt x="767841" y="227710"/>
                </a:lnTo>
                <a:close/>
              </a:path>
              <a:path w="1168400" h="247014">
                <a:moveTo>
                  <a:pt x="593470" y="211581"/>
                </a:moveTo>
                <a:lnTo>
                  <a:pt x="574420" y="211581"/>
                </a:lnTo>
                <a:lnTo>
                  <a:pt x="574420" y="246760"/>
                </a:lnTo>
                <a:lnTo>
                  <a:pt x="634491" y="246760"/>
                </a:lnTo>
                <a:lnTo>
                  <a:pt x="634491" y="237235"/>
                </a:lnTo>
                <a:lnTo>
                  <a:pt x="593470" y="237235"/>
                </a:lnTo>
                <a:lnTo>
                  <a:pt x="583945" y="227710"/>
                </a:lnTo>
                <a:lnTo>
                  <a:pt x="593470" y="227710"/>
                </a:lnTo>
                <a:lnTo>
                  <a:pt x="593470" y="211581"/>
                </a:lnTo>
                <a:close/>
              </a:path>
              <a:path w="1168400" h="247014">
                <a:moveTo>
                  <a:pt x="593470" y="227710"/>
                </a:moveTo>
                <a:lnTo>
                  <a:pt x="583945" y="227710"/>
                </a:lnTo>
                <a:lnTo>
                  <a:pt x="593470" y="237235"/>
                </a:lnTo>
                <a:lnTo>
                  <a:pt x="593470" y="227710"/>
                </a:lnTo>
                <a:close/>
              </a:path>
              <a:path w="1168400" h="247014">
                <a:moveTo>
                  <a:pt x="634491" y="227710"/>
                </a:moveTo>
                <a:lnTo>
                  <a:pt x="593470" y="227710"/>
                </a:lnTo>
                <a:lnTo>
                  <a:pt x="593470" y="237235"/>
                </a:lnTo>
                <a:lnTo>
                  <a:pt x="634491" y="237235"/>
                </a:lnTo>
                <a:lnTo>
                  <a:pt x="634491" y="227710"/>
                </a:lnTo>
                <a:close/>
              </a:path>
              <a:path w="1168400" h="247014">
                <a:moveTo>
                  <a:pt x="593470" y="78231"/>
                </a:moveTo>
                <a:lnTo>
                  <a:pt x="574420" y="78231"/>
                </a:lnTo>
                <a:lnTo>
                  <a:pt x="574420" y="154431"/>
                </a:lnTo>
                <a:lnTo>
                  <a:pt x="593470" y="154431"/>
                </a:lnTo>
                <a:lnTo>
                  <a:pt x="593470" y="78231"/>
                </a:lnTo>
                <a:close/>
              </a:path>
              <a:path w="1168400" h="247014">
                <a:moveTo>
                  <a:pt x="566927" y="28574"/>
                </a:moveTo>
                <a:lnTo>
                  <a:pt x="490727" y="28574"/>
                </a:lnTo>
                <a:lnTo>
                  <a:pt x="490727" y="47624"/>
                </a:lnTo>
                <a:lnTo>
                  <a:pt x="566927" y="47624"/>
                </a:lnTo>
                <a:lnTo>
                  <a:pt x="566927" y="28574"/>
                </a:lnTo>
                <a:close/>
              </a:path>
              <a:path w="1168400" h="247014">
                <a:moveTo>
                  <a:pt x="433577" y="28574"/>
                </a:moveTo>
                <a:lnTo>
                  <a:pt x="357377" y="28574"/>
                </a:lnTo>
                <a:lnTo>
                  <a:pt x="357377" y="47624"/>
                </a:lnTo>
                <a:lnTo>
                  <a:pt x="433577" y="47624"/>
                </a:lnTo>
                <a:lnTo>
                  <a:pt x="433577" y="28574"/>
                </a:lnTo>
                <a:close/>
              </a:path>
              <a:path w="1168400" h="247014">
                <a:moveTo>
                  <a:pt x="300227" y="28574"/>
                </a:moveTo>
                <a:lnTo>
                  <a:pt x="224027" y="28574"/>
                </a:lnTo>
                <a:lnTo>
                  <a:pt x="224027" y="47624"/>
                </a:lnTo>
                <a:lnTo>
                  <a:pt x="300227" y="47624"/>
                </a:lnTo>
                <a:lnTo>
                  <a:pt x="300227" y="28574"/>
                </a:lnTo>
                <a:close/>
              </a:path>
              <a:path w="1168400" h="247014">
                <a:moveTo>
                  <a:pt x="166877" y="28574"/>
                </a:moveTo>
                <a:lnTo>
                  <a:pt x="90677" y="28574"/>
                </a:lnTo>
                <a:lnTo>
                  <a:pt x="90677" y="47624"/>
                </a:lnTo>
                <a:lnTo>
                  <a:pt x="166877" y="47624"/>
                </a:lnTo>
                <a:lnTo>
                  <a:pt x="166877" y="28574"/>
                </a:lnTo>
                <a:close/>
              </a:path>
              <a:path w="1168400" h="247014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66394" y="5496559"/>
            <a:ext cx="28873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120014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collect </a:t>
            </a:r>
            <a:r>
              <a:rPr dirty="0" sz="1200" spc="-10">
                <a:latin typeface="Calibri"/>
                <a:cs typeface="Calibri"/>
              </a:rPr>
              <a:t>interests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applications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prevent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error</a:t>
            </a:r>
            <a:endParaRPr sz="120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0">
                <a:latin typeface="Calibri"/>
                <a:cs typeface="Calibri"/>
              </a:rPr>
              <a:t>Receipts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Bluetooth connected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printers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accountability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457200" y="4428744"/>
          <a:ext cx="11277600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0754"/>
                <a:gridCol w="4050664"/>
                <a:gridCol w="3649979"/>
              </a:tblGrid>
              <a:tr h="367030">
                <a:tc gridSpan="3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solidFill>
                      <a:srgbClr val="63906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marL="9328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500" spc="-20" b="1">
                          <a:latin typeface="Calibri"/>
                          <a:cs typeface="Calibri"/>
                        </a:rPr>
                        <a:t>Ground-</a:t>
                      </a:r>
                      <a:r>
                        <a:rPr dirty="0" sz="1500" b="1">
                          <a:latin typeface="Calibri"/>
                          <a:cs typeface="Calibri"/>
                        </a:rPr>
                        <a:t>work</a:t>
                      </a:r>
                      <a:r>
                        <a:rPr dirty="0" sz="1500" spc="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 b="1">
                          <a:latin typeface="Calibri"/>
                          <a:cs typeface="Calibri"/>
                        </a:rPr>
                        <a:t>Aid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1849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b="1">
                          <a:latin typeface="Calibri"/>
                          <a:cs typeface="Calibri"/>
                        </a:rPr>
                        <a:t>Decision</a:t>
                      </a:r>
                      <a:r>
                        <a:rPr dirty="0" sz="1500" spc="-20" b="1">
                          <a:latin typeface="Calibri"/>
                          <a:cs typeface="Calibri"/>
                        </a:rPr>
                        <a:t> Terminal</a:t>
                      </a:r>
                      <a:r>
                        <a:rPr dirty="0" sz="15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 b="1">
                          <a:latin typeface="Calibri"/>
                          <a:cs typeface="Calibri"/>
                        </a:rPr>
                        <a:t>Aid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65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500" b="1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500" spc="-10" b="1">
                          <a:latin typeface="Calibri"/>
                          <a:cs typeface="Calibri"/>
                        </a:rPr>
                        <a:t> Back-</a:t>
                      </a:r>
                      <a:r>
                        <a:rPr dirty="0" sz="1500" b="1"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15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 b="1">
                          <a:latin typeface="Calibri"/>
                          <a:cs typeface="Calibri"/>
                        </a:rPr>
                        <a:t>Aid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7E6E6"/>
                    </a:solidFill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L="394970" indent="-173355">
                        <a:lnSpc>
                          <a:spcPct val="100000"/>
                        </a:lnSpc>
                        <a:spcBef>
                          <a:spcPts val="1245"/>
                        </a:spcBef>
                        <a:buFont typeface="Arial MT"/>
                        <a:buChar char="•"/>
                        <a:tabLst>
                          <a:tab pos="394970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field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officer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visits 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locality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tablet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115">
                    <a:lnR w="9525">
                      <a:solidFill>
                        <a:srgbClr val="000000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L="701675" indent="-172720">
                        <a:lnSpc>
                          <a:spcPct val="100000"/>
                        </a:lnSpc>
                        <a:spcBef>
                          <a:spcPts val="1225"/>
                        </a:spcBef>
                        <a:buFont typeface="Arial MT"/>
                        <a:buChar char="•"/>
                        <a:tabLst>
                          <a:tab pos="701675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Bank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offices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store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collected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the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5575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L="565785" indent="-173355">
                        <a:lnSpc>
                          <a:spcPct val="100000"/>
                        </a:lnSpc>
                        <a:spcBef>
                          <a:spcPts val="1075"/>
                        </a:spcBef>
                        <a:buFont typeface="Arial MT"/>
                        <a:buChar char="•"/>
                        <a:tabLst>
                          <a:tab pos="565785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stored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two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databases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which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000000"/>
                      </a:solidFill>
                      <a:prstDash val="sysDash"/>
                    </a:lnL>
                  </a:tcPr>
                </a:tc>
              </a:tr>
            </a:tbl>
          </a:graphicData>
        </a:graphic>
      </p:graphicFrame>
      <p:sp>
        <p:nvSpPr>
          <p:cNvPr id="59" name="object 59"/>
          <p:cNvSpPr txBox="1"/>
          <p:nvPr/>
        </p:nvSpPr>
        <p:spPr>
          <a:xfrm>
            <a:off x="8388857" y="5474919"/>
            <a:ext cx="292036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regularly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20">
                <a:latin typeface="Calibri"/>
                <a:cs typeface="Calibri"/>
              </a:rPr>
              <a:t> other</a:t>
            </a:r>
            <a:endParaRPr sz="120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loss 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from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via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back-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route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74590" y="5494121"/>
            <a:ext cx="2892425" cy="1321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officer</a:t>
            </a:r>
            <a:endParaRPr sz="120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locality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10">
                <a:latin typeface="Calibri"/>
                <a:cs typeface="Calibri"/>
              </a:rPr>
              <a:t> decision </a:t>
            </a:r>
            <a:r>
              <a:rPr dirty="0" sz="1200">
                <a:latin typeface="Calibri"/>
                <a:cs typeface="Calibri"/>
              </a:rPr>
              <a:t>e.g.</a:t>
            </a:r>
            <a:r>
              <a:rPr dirty="0" sz="1200" spc="-10">
                <a:latin typeface="Calibri"/>
                <a:cs typeface="Calibri"/>
              </a:rPr>
              <a:t> determination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  <a:spcBef>
                <a:spcPts val="1320"/>
              </a:spcBef>
              <a:tabLst>
                <a:tab pos="2188845" algn="l"/>
              </a:tabLst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912608" y="5588508"/>
            <a:ext cx="253365" cy="340360"/>
          </a:xfrm>
          <a:custGeom>
            <a:avLst/>
            <a:gdLst/>
            <a:ahLst/>
            <a:cxnLst/>
            <a:rect l="l" t="t" r="r" b="b"/>
            <a:pathLst>
              <a:path w="253365" h="340360">
                <a:moveTo>
                  <a:pt x="146304" y="172974"/>
                </a:moveTo>
                <a:lnTo>
                  <a:pt x="73152" y="27432"/>
                </a:lnTo>
                <a:lnTo>
                  <a:pt x="0" y="27432"/>
                </a:lnTo>
                <a:lnTo>
                  <a:pt x="73152" y="172974"/>
                </a:lnTo>
                <a:lnTo>
                  <a:pt x="0" y="318516"/>
                </a:lnTo>
                <a:lnTo>
                  <a:pt x="73152" y="318516"/>
                </a:lnTo>
                <a:lnTo>
                  <a:pt x="146304" y="172974"/>
                </a:lnTo>
                <a:close/>
              </a:path>
              <a:path w="253365" h="340360">
                <a:moveTo>
                  <a:pt x="252984" y="169926"/>
                </a:moveTo>
                <a:lnTo>
                  <a:pt x="179832" y="0"/>
                </a:lnTo>
                <a:lnTo>
                  <a:pt x="106680" y="0"/>
                </a:lnTo>
                <a:lnTo>
                  <a:pt x="179832" y="169926"/>
                </a:lnTo>
                <a:lnTo>
                  <a:pt x="106680" y="339852"/>
                </a:lnTo>
                <a:lnTo>
                  <a:pt x="179832" y="339852"/>
                </a:lnTo>
                <a:lnTo>
                  <a:pt x="252984" y="169926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9893934" y="792607"/>
            <a:ext cx="9994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Active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773157" y="2674112"/>
            <a:ext cx="12344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Stand-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4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61060" y="1005839"/>
            <a:ext cx="3145790" cy="1301750"/>
          </a:xfrm>
          <a:prstGeom prst="rect">
            <a:avLst/>
          </a:prstGeom>
          <a:ln w="12700">
            <a:solidFill>
              <a:srgbClr val="63906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255270">
              <a:lnSpc>
                <a:spcPct val="100000"/>
              </a:lnSpc>
              <a:tabLst>
                <a:tab pos="1845945" algn="l"/>
              </a:tabLst>
            </a:pPr>
            <a:r>
              <a:rPr dirty="0" sz="1200" b="1">
                <a:latin typeface="Calibri"/>
                <a:cs typeface="Calibri"/>
              </a:rPr>
              <a:t>General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Public</a:t>
            </a:r>
            <a:r>
              <a:rPr dirty="0" sz="1200" b="1">
                <a:latin typeface="Calibri"/>
                <a:cs typeface="Calibri"/>
              </a:rPr>
              <a:t>	Field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Officer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730119" y="3848227"/>
            <a:ext cx="785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Field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Officer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16787" y="3826509"/>
            <a:ext cx="927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General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Public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36804" y="1001267"/>
            <a:ext cx="436245" cy="1310640"/>
          </a:xfrm>
          <a:custGeom>
            <a:avLst/>
            <a:gdLst/>
            <a:ahLst/>
            <a:cxnLst/>
            <a:rect l="l" t="t" r="r" b="b"/>
            <a:pathLst>
              <a:path w="436245" h="1310639">
                <a:moveTo>
                  <a:pt x="435864" y="0"/>
                </a:moveTo>
                <a:lnTo>
                  <a:pt x="0" y="0"/>
                </a:lnTo>
                <a:lnTo>
                  <a:pt x="0" y="1310639"/>
                </a:lnTo>
                <a:lnTo>
                  <a:pt x="435864" y="1310639"/>
                </a:lnTo>
                <a:lnTo>
                  <a:pt x="435864" y="0"/>
                </a:lnTo>
                <a:close/>
              </a:path>
            </a:pathLst>
          </a:custGeom>
          <a:solidFill>
            <a:srgbClr val="639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36804" y="2801111"/>
            <a:ext cx="436245" cy="1298575"/>
          </a:xfrm>
          <a:custGeom>
            <a:avLst/>
            <a:gdLst/>
            <a:ahLst/>
            <a:cxnLst/>
            <a:rect l="l" t="t" r="r" b="b"/>
            <a:pathLst>
              <a:path w="436245" h="1298575">
                <a:moveTo>
                  <a:pt x="435864" y="0"/>
                </a:moveTo>
                <a:lnTo>
                  <a:pt x="0" y="0"/>
                </a:lnTo>
                <a:lnTo>
                  <a:pt x="0" y="1298448"/>
                </a:lnTo>
                <a:lnTo>
                  <a:pt x="435864" y="1298448"/>
                </a:lnTo>
                <a:lnTo>
                  <a:pt x="435864" y="0"/>
                </a:lnTo>
                <a:close/>
              </a:path>
            </a:pathLst>
          </a:custGeom>
          <a:solidFill>
            <a:srgbClr val="639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65912" y="1303288"/>
            <a:ext cx="203835" cy="7385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Locality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5912" y="3097259"/>
            <a:ext cx="203835" cy="7302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Locality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Prodigy:</a:t>
            </a:r>
            <a:r>
              <a:rPr dirty="0" spc="-45"/>
              <a:t> </a:t>
            </a:r>
            <a:r>
              <a:rPr dirty="0"/>
              <a:t>TBOP's</a:t>
            </a:r>
            <a:r>
              <a:rPr dirty="0" spc="-10"/>
              <a:t> </a:t>
            </a:r>
            <a:r>
              <a:rPr dirty="0"/>
              <a:t>financial</a:t>
            </a:r>
            <a:r>
              <a:rPr dirty="0" spc="-55"/>
              <a:t> </a:t>
            </a:r>
            <a:r>
              <a:rPr dirty="0"/>
              <a:t>services</a:t>
            </a:r>
            <a:r>
              <a:rPr dirty="0" spc="-40"/>
              <a:t> </a:t>
            </a:r>
            <a:r>
              <a:rPr dirty="0" spc="-10"/>
              <a:t>software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 spc="-20"/>
              <a:t>MFIs</a:t>
            </a:r>
          </a:p>
          <a:p>
            <a:pPr marL="123825">
              <a:lnSpc>
                <a:spcPct val="100000"/>
              </a:lnSpc>
              <a:spcBef>
                <a:spcPts val="15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Digitisation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from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grass-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root</a:t>
            </a:r>
            <a:r>
              <a:rPr dirty="0" sz="1700" spc="-2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level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5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increase</a:t>
            </a:r>
            <a:r>
              <a:rPr dirty="0" sz="17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efficiency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reduce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loan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application</a:t>
            </a:r>
            <a:r>
              <a:rPr dirty="0" sz="1700" spc="-7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time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45083" y="6576161"/>
            <a:ext cx="8140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826767" y="6568237"/>
            <a:ext cx="651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6536817"/>
            <a:ext cx="12179300" cy="19050"/>
            <a:chOff x="0" y="6536817"/>
            <a:chExt cx="12179300" cy="19050"/>
          </a:xfrm>
        </p:grpSpPr>
        <p:sp>
          <p:nvSpPr>
            <p:cNvPr id="77" name="object 77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08582" y="6546342"/>
              <a:ext cx="1052195" cy="0"/>
            </a:xfrm>
            <a:custGeom>
              <a:avLst/>
              <a:gdLst/>
              <a:ahLst/>
              <a:cxnLst/>
              <a:rect l="l" t="t" r="r" b="b"/>
              <a:pathLst>
                <a:path w="1052195" h="0">
                  <a:moveTo>
                    <a:pt x="0" y="0"/>
                  </a:moveTo>
                  <a:lnTo>
                    <a:pt x="1051941" y="0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Nature Lover's Guide to Bali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35073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60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51404" y="2638044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585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42617" y="2861309"/>
            <a:ext cx="8902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Optimizing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UFH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microfinance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accessible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843009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59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04132" y="4169664"/>
            <a:ext cx="1367155" cy="1367155"/>
          </a:xfrm>
          <a:custGeom>
            <a:avLst/>
            <a:gdLst/>
            <a:ahLst/>
            <a:cxnLst/>
            <a:rect l="l" t="t" r="r" b="b"/>
            <a:pathLst>
              <a:path w="1367154" h="1367154">
                <a:moveTo>
                  <a:pt x="0" y="683513"/>
                </a:moveTo>
                <a:lnTo>
                  <a:pt x="1716" y="634706"/>
                </a:lnTo>
                <a:lnTo>
                  <a:pt x="6788" y="586823"/>
                </a:lnTo>
                <a:lnTo>
                  <a:pt x="15100" y="539982"/>
                </a:lnTo>
                <a:lnTo>
                  <a:pt x="26537" y="494297"/>
                </a:lnTo>
                <a:lnTo>
                  <a:pt x="40982" y="449885"/>
                </a:lnTo>
                <a:lnTo>
                  <a:pt x="58320" y="406861"/>
                </a:lnTo>
                <a:lnTo>
                  <a:pt x="78435" y="365341"/>
                </a:lnTo>
                <a:lnTo>
                  <a:pt x="101211" y="325440"/>
                </a:lnTo>
                <a:lnTo>
                  <a:pt x="126533" y="287275"/>
                </a:lnTo>
                <a:lnTo>
                  <a:pt x="154285" y="250962"/>
                </a:lnTo>
                <a:lnTo>
                  <a:pt x="184350" y="216615"/>
                </a:lnTo>
                <a:lnTo>
                  <a:pt x="216615" y="184350"/>
                </a:lnTo>
                <a:lnTo>
                  <a:pt x="250962" y="154285"/>
                </a:lnTo>
                <a:lnTo>
                  <a:pt x="287275" y="126533"/>
                </a:lnTo>
                <a:lnTo>
                  <a:pt x="325440" y="101211"/>
                </a:lnTo>
                <a:lnTo>
                  <a:pt x="365341" y="78435"/>
                </a:lnTo>
                <a:lnTo>
                  <a:pt x="406861" y="58320"/>
                </a:lnTo>
                <a:lnTo>
                  <a:pt x="449885" y="40982"/>
                </a:lnTo>
                <a:lnTo>
                  <a:pt x="494297" y="26537"/>
                </a:lnTo>
                <a:lnTo>
                  <a:pt x="539982" y="15100"/>
                </a:lnTo>
                <a:lnTo>
                  <a:pt x="586823" y="6788"/>
                </a:lnTo>
                <a:lnTo>
                  <a:pt x="634706" y="1716"/>
                </a:lnTo>
                <a:lnTo>
                  <a:pt x="683513" y="0"/>
                </a:lnTo>
                <a:lnTo>
                  <a:pt x="732321" y="1716"/>
                </a:lnTo>
                <a:lnTo>
                  <a:pt x="780204" y="6788"/>
                </a:lnTo>
                <a:lnTo>
                  <a:pt x="827045" y="15100"/>
                </a:lnTo>
                <a:lnTo>
                  <a:pt x="872730" y="26537"/>
                </a:lnTo>
                <a:lnTo>
                  <a:pt x="917142" y="40982"/>
                </a:lnTo>
                <a:lnTo>
                  <a:pt x="960166" y="58320"/>
                </a:lnTo>
                <a:lnTo>
                  <a:pt x="1001686" y="78435"/>
                </a:lnTo>
                <a:lnTo>
                  <a:pt x="1041587" y="101211"/>
                </a:lnTo>
                <a:lnTo>
                  <a:pt x="1079752" y="126533"/>
                </a:lnTo>
                <a:lnTo>
                  <a:pt x="1116065" y="154285"/>
                </a:lnTo>
                <a:lnTo>
                  <a:pt x="1150412" y="184350"/>
                </a:lnTo>
                <a:lnTo>
                  <a:pt x="1182677" y="216615"/>
                </a:lnTo>
                <a:lnTo>
                  <a:pt x="1212742" y="250962"/>
                </a:lnTo>
                <a:lnTo>
                  <a:pt x="1240494" y="287275"/>
                </a:lnTo>
                <a:lnTo>
                  <a:pt x="1265816" y="325440"/>
                </a:lnTo>
                <a:lnTo>
                  <a:pt x="1288592" y="365341"/>
                </a:lnTo>
                <a:lnTo>
                  <a:pt x="1308707" y="406861"/>
                </a:lnTo>
                <a:lnTo>
                  <a:pt x="1326045" y="449885"/>
                </a:lnTo>
                <a:lnTo>
                  <a:pt x="1340490" y="494297"/>
                </a:lnTo>
                <a:lnTo>
                  <a:pt x="1351927" y="539982"/>
                </a:lnTo>
                <a:lnTo>
                  <a:pt x="1360239" y="586823"/>
                </a:lnTo>
                <a:lnTo>
                  <a:pt x="1365311" y="634706"/>
                </a:lnTo>
                <a:lnTo>
                  <a:pt x="1367027" y="683513"/>
                </a:lnTo>
                <a:lnTo>
                  <a:pt x="1365311" y="732321"/>
                </a:lnTo>
                <a:lnTo>
                  <a:pt x="1360239" y="780204"/>
                </a:lnTo>
                <a:lnTo>
                  <a:pt x="1351927" y="827045"/>
                </a:lnTo>
                <a:lnTo>
                  <a:pt x="1340490" y="872730"/>
                </a:lnTo>
                <a:lnTo>
                  <a:pt x="1326045" y="917142"/>
                </a:lnTo>
                <a:lnTo>
                  <a:pt x="1308707" y="960166"/>
                </a:lnTo>
                <a:lnTo>
                  <a:pt x="1288592" y="1001686"/>
                </a:lnTo>
                <a:lnTo>
                  <a:pt x="1265816" y="1041587"/>
                </a:lnTo>
                <a:lnTo>
                  <a:pt x="1240494" y="1079752"/>
                </a:lnTo>
                <a:lnTo>
                  <a:pt x="1212742" y="1116065"/>
                </a:lnTo>
                <a:lnTo>
                  <a:pt x="1182677" y="1150412"/>
                </a:lnTo>
                <a:lnTo>
                  <a:pt x="1150412" y="1182677"/>
                </a:lnTo>
                <a:lnTo>
                  <a:pt x="1116065" y="1212742"/>
                </a:lnTo>
                <a:lnTo>
                  <a:pt x="1079752" y="1240494"/>
                </a:lnTo>
                <a:lnTo>
                  <a:pt x="1041587" y="1265816"/>
                </a:lnTo>
                <a:lnTo>
                  <a:pt x="1001686" y="1288592"/>
                </a:lnTo>
                <a:lnTo>
                  <a:pt x="960166" y="1308707"/>
                </a:lnTo>
                <a:lnTo>
                  <a:pt x="917142" y="1326045"/>
                </a:lnTo>
                <a:lnTo>
                  <a:pt x="872730" y="1340490"/>
                </a:lnTo>
                <a:lnTo>
                  <a:pt x="827045" y="1351927"/>
                </a:lnTo>
                <a:lnTo>
                  <a:pt x="780204" y="1360239"/>
                </a:lnTo>
                <a:lnTo>
                  <a:pt x="732321" y="1365311"/>
                </a:lnTo>
                <a:lnTo>
                  <a:pt x="683513" y="1367028"/>
                </a:lnTo>
                <a:lnTo>
                  <a:pt x="634706" y="1365311"/>
                </a:lnTo>
                <a:lnTo>
                  <a:pt x="586823" y="1360239"/>
                </a:lnTo>
                <a:lnTo>
                  <a:pt x="539982" y="1351927"/>
                </a:lnTo>
                <a:lnTo>
                  <a:pt x="494297" y="1340490"/>
                </a:lnTo>
                <a:lnTo>
                  <a:pt x="449885" y="1326045"/>
                </a:lnTo>
                <a:lnTo>
                  <a:pt x="406861" y="1308707"/>
                </a:lnTo>
                <a:lnTo>
                  <a:pt x="365341" y="1288592"/>
                </a:lnTo>
                <a:lnTo>
                  <a:pt x="325440" y="1265816"/>
                </a:lnTo>
                <a:lnTo>
                  <a:pt x="287275" y="1240494"/>
                </a:lnTo>
                <a:lnTo>
                  <a:pt x="250962" y="1212742"/>
                </a:lnTo>
                <a:lnTo>
                  <a:pt x="216615" y="1182677"/>
                </a:lnTo>
                <a:lnTo>
                  <a:pt x="184350" y="1150412"/>
                </a:lnTo>
                <a:lnTo>
                  <a:pt x="154285" y="1116065"/>
                </a:lnTo>
                <a:lnTo>
                  <a:pt x="126533" y="1079752"/>
                </a:lnTo>
                <a:lnTo>
                  <a:pt x="101211" y="1041587"/>
                </a:lnTo>
                <a:lnTo>
                  <a:pt x="78435" y="1001686"/>
                </a:lnTo>
                <a:lnTo>
                  <a:pt x="58320" y="960166"/>
                </a:lnTo>
                <a:lnTo>
                  <a:pt x="40982" y="917142"/>
                </a:lnTo>
                <a:lnTo>
                  <a:pt x="26537" y="872730"/>
                </a:lnTo>
                <a:lnTo>
                  <a:pt x="15100" y="827045"/>
                </a:lnTo>
                <a:lnTo>
                  <a:pt x="6788" y="780204"/>
                </a:lnTo>
                <a:lnTo>
                  <a:pt x="1716" y="732321"/>
                </a:lnTo>
                <a:lnTo>
                  <a:pt x="0" y="683513"/>
                </a:lnTo>
                <a:close/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74714" y="4170426"/>
            <a:ext cx="1367155" cy="1367155"/>
          </a:xfrm>
          <a:custGeom>
            <a:avLst/>
            <a:gdLst/>
            <a:ahLst/>
            <a:cxnLst/>
            <a:rect l="l" t="t" r="r" b="b"/>
            <a:pathLst>
              <a:path w="1367154" h="1367154">
                <a:moveTo>
                  <a:pt x="0" y="683513"/>
                </a:moveTo>
                <a:lnTo>
                  <a:pt x="1716" y="634706"/>
                </a:lnTo>
                <a:lnTo>
                  <a:pt x="6788" y="586823"/>
                </a:lnTo>
                <a:lnTo>
                  <a:pt x="15100" y="539982"/>
                </a:lnTo>
                <a:lnTo>
                  <a:pt x="26537" y="494297"/>
                </a:lnTo>
                <a:lnTo>
                  <a:pt x="40982" y="449885"/>
                </a:lnTo>
                <a:lnTo>
                  <a:pt x="58320" y="406861"/>
                </a:lnTo>
                <a:lnTo>
                  <a:pt x="78435" y="365341"/>
                </a:lnTo>
                <a:lnTo>
                  <a:pt x="101211" y="325440"/>
                </a:lnTo>
                <a:lnTo>
                  <a:pt x="126533" y="287275"/>
                </a:lnTo>
                <a:lnTo>
                  <a:pt x="154285" y="250962"/>
                </a:lnTo>
                <a:lnTo>
                  <a:pt x="184350" y="216615"/>
                </a:lnTo>
                <a:lnTo>
                  <a:pt x="216615" y="184350"/>
                </a:lnTo>
                <a:lnTo>
                  <a:pt x="250962" y="154285"/>
                </a:lnTo>
                <a:lnTo>
                  <a:pt x="287275" y="126533"/>
                </a:lnTo>
                <a:lnTo>
                  <a:pt x="325440" y="101211"/>
                </a:lnTo>
                <a:lnTo>
                  <a:pt x="365341" y="78435"/>
                </a:lnTo>
                <a:lnTo>
                  <a:pt x="406861" y="58320"/>
                </a:lnTo>
                <a:lnTo>
                  <a:pt x="449885" y="40982"/>
                </a:lnTo>
                <a:lnTo>
                  <a:pt x="494297" y="26537"/>
                </a:lnTo>
                <a:lnTo>
                  <a:pt x="539982" y="15100"/>
                </a:lnTo>
                <a:lnTo>
                  <a:pt x="586823" y="6788"/>
                </a:lnTo>
                <a:lnTo>
                  <a:pt x="634706" y="1716"/>
                </a:lnTo>
                <a:lnTo>
                  <a:pt x="683513" y="0"/>
                </a:lnTo>
                <a:lnTo>
                  <a:pt x="732321" y="1716"/>
                </a:lnTo>
                <a:lnTo>
                  <a:pt x="780204" y="6788"/>
                </a:lnTo>
                <a:lnTo>
                  <a:pt x="827045" y="15100"/>
                </a:lnTo>
                <a:lnTo>
                  <a:pt x="872730" y="26537"/>
                </a:lnTo>
                <a:lnTo>
                  <a:pt x="917142" y="40982"/>
                </a:lnTo>
                <a:lnTo>
                  <a:pt x="960166" y="58320"/>
                </a:lnTo>
                <a:lnTo>
                  <a:pt x="1001686" y="78435"/>
                </a:lnTo>
                <a:lnTo>
                  <a:pt x="1041587" y="101211"/>
                </a:lnTo>
                <a:lnTo>
                  <a:pt x="1079752" y="126533"/>
                </a:lnTo>
                <a:lnTo>
                  <a:pt x="1116065" y="154285"/>
                </a:lnTo>
                <a:lnTo>
                  <a:pt x="1150412" y="184350"/>
                </a:lnTo>
                <a:lnTo>
                  <a:pt x="1182677" y="216615"/>
                </a:lnTo>
                <a:lnTo>
                  <a:pt x="1212742" y="250962"/>
                </a:lnTo>
                <a:lnTo>
                  <a:pt x="1240494" y="287275"/>
                </a:lnTo>
                <a:lnTo>
                  <a:pt x="1265816" y="325440"/>
                </a:lnTo>
                <a:lnTo>
                  <a:pt x="1288592" y="365341"/>
                </a:lnTo>
                <a:lnTo>
                  <a:pt x="1308707" y="406861"/>
                </a:lnTo>
                <a:lnTo>
                  <a:pt x="1326045" y="449885"/>
                </a:lnTo>
                <a:lnTo>
                  <a:pt x="1340490" y="494297"/>
                </a:lnTo>
                <a:lnTo>
                  <a:pt x="1351927" y="539982"/>
                </a:lnTo>
                <a:lnTo>
                  <a:pt x="1360239" y="586823"/>
                </a:lnTo>
                <a:lnTo>
                  <a:pt x="1365311" y="634706"/>
                </a:lnTo>
                <a:lnTo>
                  <a:pt x="1367028" y="683513"/>
                </a:lnTo>
                <a:lnTo>
                  <a:pt x="1365311" y="732321"/>
                </a:lnTo>
                <a:lnTo>
                  <a:pt x="1360239" y="780204"/>
                </a:lnTo>
                <a:lnTo>
                  <a:pt x="1351927" y="827045"/>
                </a:lnTo>
                <a:lnTo>
                  <a:pt x="1340490" y="872730"/>
                </a:lnTo>
                <a:lnTo>
                  <a:pt x="1326045" y="917142"/>
                </a:lnTo>
                <a:lnTo>
                  <a:pt x="1308707" y="960166"/>
                </a:lnTo>
                <a:lnTo>
                  <a:pt x="1288592" y="1001686"/>
                </a:lnTo>
                <a:lnTo>
                  <a:pt x="1265816" y="1041587"/>
                </a:lnTo>
                <a:lnTo>
                  <a:pt x="1240494" y="1079752"/>
                </a:lnTo>
                <a:lnTo>
                  <a:pt x="1212742" y="1116065"/>
                </a:lnTo>
                <a:lnTo>
                  <a:pt x="1182677" y="1150412"/>
                </a:lnTo>
                <a:lnTo>
                  <a:pt x="1150412" y="1182677"/>
                </a:lnTo>
                <a:lnTo>
                  <a:pt x="1116065" y="1212742"/>
                </a:lnTo>
                <a:lnTo>
                  <a:pt x="1079752" y="1240494"/>
                </a:lnTo>
                <a:lnTo>
                  <a:pt x="1041587" y="1265816"/>
                </a:lnTo>
                <a:lnTo>
                  <a:pt x="1001686" y="1288592"/>
                </a:lnTo>
                <a:lnTo>
                  <a:pt x="960166" y="1308707"/>
                </a:lnTo>
                <a:lnTo>
                  <a:pt x="917142" y="1326045"/>
                </a:lnTo>
                <a:lnTo>
                  <a:pt x="872730" y="1340490"/>
                </a:lnTo>
                <a:lnTo>
                  <a:pt x="827045" y="1351927"/>
                </a:lnTo>
                <a:lnTo>
                  <a:pt x="780204" y="1360239"/>
                </a:lnTo>
                <a:lnTo>
                  <a:pt x="732321" y="1365311"/>
                </a:lnTo>
                <a:lnTo>
                  <a:pt x="683513" y="1367028"/>
                </a:lnTo>
                <a:lnTo>
                  <a:pt x="634706" y="1365311"/>
                </a:lnTo>
                <a:lnTo>
                  <a:pt x="586823" y="1360239"/>
                </a:lnTo>
                <a:lnTo>
                  <a:pt x="539982" y="1351927"/>
                </a:lnTo>
                <a:lnTo>
                  <a:pt x="494297" y="1340490"/>
                </a:lnTo>
                <a:lnTo>
                  <a:pt x="449885" y="1326045"/>
                </a:lnTo>
                <a:lnTo>
                  <a:pt x="406861" y="1308707"/>
                </a:lnTo>
                <a:lnTo>
                  <a:pt x="365341" y="1288592"/>
                </a:lnTo>
                <a:lnTo>
                  <a:pt x="325440" y="1265816"/>
                </a:lnTo>
                <a:lnTo>
                  <a:pt x="287275" y="1240494"/>
                </a:lnTo>
                <a:lnTo>
                  <a:pt x="250962" y="1212742"/>
                </a:lnTo>
                <a:lnTo>
                  <a:pt x="216615" y="1182677"/>
                </a:lnTo>
                <a:lnTo>
                  <a:pt x="184350" y="1150412"/>
                </a:lnTo>
                <a:lnTo>
                  <a:pt x="154285" y="1116065"/>
                </a:lnTo>
                <a:lnTo>
                  <a:pt x="126533" y="1079752"/>
                </a:lnTo>
                <a:lnTo>
                  <a:pt x="101211" y="1041587"/>
                </a:lnTo>
                <a:lnTo>
                  <a:pt x="78435" y="1001686"/>
                </a:lnTo>
                <a:lnTo>
                  <a:pt x="58320" y="960166"/>
                </a:lnTo>
                <a:lnTo>
                  <a:pt x="40982" y="917142"/>
                </a:lnTo>
                <a:lnTo>
                  <a:pt x="26537" y="872730"/>
                </a:lnTo>
                <a:lnTo>
                  <a:pt x="15100" y="827045"/>
                </a:lnTo>
                <a:lnTo>
                  <a:pt x="6788" y="780204"/>
                </a:lnTo>
                <a:lnTo>
                  <a:pt x="1716" y="732321"/>
                </a:lnTo>
                <a:lnTo>
                  <a:pt x="0" y="683513"/>
                </a:lnTo>
                <a:close/>
              </a:path>
            </a:pathLst>
          </a:custGeom>
          <a:ln w="2857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633721" y="4465701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4782" y="5633110"/>
            <a:ext cx="145097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496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FinTech Collaboration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02582" y="5633110"/>
            <a:ext cx="8020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0485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Credit Ratings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52641" y="5633110"/>
            <a:ext cx="101854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marR="5080" indent="-8128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7993" y="5633110"/>
            <a:ext cx="877569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Modern Subak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6282" y="4466666"/>
            <a:ext cx="3092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3542" y="4466666"/>
            <a:ext cx="3092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72981" y="4466666"/>
            <a:ext cx="3092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4165853" y="1611248"/>
            <a:ext cx="386143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Mitra</a:t>
            </a:r>
            <a:r>
              <a:rPr dirty="0" sz="6000" spc="-290">
                <a:solidFill>
                  <a:srgbClr val="FFFFFF"/>
                </a:solidFill>
              </a:rPr>
              <a:t> </a:t>
            </a:r>
            <a:r>
              <a:rPr dirty="0" sz="6000" spc="-10">
                <a:solidFill>
                  <a:srgbClr val="FFFFFF"/>
                </a:solidFill>
              </a:rPr>
              <a:t>Kredit</a:t>
            </a:r>
            <a:endParaRPr sz="6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0164" y="4062983"/>
            <a:ext cx="5340350" cy="485140"/>
          </a:xfrm>
          <a:custGeom>
            <a:avLst/>
            <a:gdLst/>
            <a:ahLst/>
            <a:cxnLst/>
            <a:rect l="l" t="t" r="r" b="b"/>
            <a:pathLst>
              <a:path w="5340350" h="485139">
                <a:moveTo>
                  <a:pt x="1453896" y="242316"/>
                </a:moveTo>
                <a:lnTo>
                  <a:pt x="1211580" y="0"/>
                </a:lnTo>
                <a:lnTo>
                  <a:pt x="0" y="0"/>
                </a:lnTo>
                <a:lnTo>
                  <a:pt x="0" y="484632"/>
                </a:lnTo>
                <a:lnTo>
                  <a:pt x="1211580" y="484632"/>
                </a:lnTo>
                <a:lnTo>
                  <a:pt x="1453896" y="242316"/>
                </a:lnTo>
                <a:close/>
              </a:path>
              <a:path w="5340350" h="485139">
                <a:moveTo>
                  <a:pt x="2747772" y="242316"/>
                </a:moveTo>
                <a:lnTo>
                  <a:pt x="2505456" y="0"/>
                </a:lnTo>
                <a:lnTo>
                  <a:pt x="1295400" y="0"/>
                </a:lnTo>
                <a:lnTo>
                  <a:pt x="1537716" y="242316"/>
                </a:lnTo>
                <a:lnTo>
                  <a:pt x="1295400" y="484632"/>
                </a:lnTo>
                <a:lnTo>
                  <a:pt x="2505456" y="484632"/>
                </a:lnTo>
                <a:lnTo>
                  <a:pt x="2747772" y="242316"/>
                </a:lnTo>
                <a:close/>
              </a:path>
              <a:path w="5340350" h="485139">
                <a:moveTo>
                  <a:pt x="4044696" y="242316"/>
                </a:moveTo>
                <a:lnTo>
                  <a:pt x="3802380" y="0"/>
                </a:lnTo>
                <a:lnTo>
                  <a:pt x="2590800" y="0"/>
                </a:lnTo>
                <a:lnTo>
                  <a:pt x="2833116" y="242316"/>
                </a:lnTo>
                <a:lnTo>
                  <a:pt x="2590800" y="484632"/>
                </a:lnTo>
                <a:lnTo>
                  <a:pt x="3802380" y="484632"/>
                </a:lnTo>
                <a:lnTo>
                  <a:pt x="4044696" y="242316"/>
                </a:lnTo>
                <a:close/>
              </a:path>
              <a:path w="5340350" h="485139">
                <a:moveTo>
                  <a:pt x="5340096" y="242316"/>
                </a:moveTo>
                <a:lnTo>
                  <a:pt x="5097780" y="0"/>
                </a:lnTo>
                <a:lnTo>
                  <a:pt x="3886200" y="0"/>
                </a:lnTo>
                <a:lnTo>
                  <a:pt x="4128516" y="242316"/>
                </a:lnTo>
                <a:lnTo>
                  <a:pt x="3886200" y="484632"/>
                </a:lnTo>
                <a:lnTo>
                  <a:pt x="5097780" y="484632"/>
                </a:lnTo>
                <a:lnTo>
                  <a:pt x="5340096" y="242316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1687" y="4602479"/>
            <a:ext cx="1222375" cy="1710055"/>
          </a:xfrm>
          <a:custGeom>
            <a:avLst/>
            <a:gdLst/>
            <a:ahLst/>
            <a:cxnLst/>
            <a:rect l="l" t="t" r="r" b="b"/>
            <a:pathLst>
              <a:path w="1222375" h="1710054">
                <a:moveTo>
                  <a:pt x="1222248" y="0"/>
                </a:moveTo>
                <a:lnTo>
                  <a:pt x="0" y="0"/>
                </a:lnTo>
                <a:lnTo>
                  <a:pt x="0" y="1709928"/>
                </a:lnTo>
                <a:lnTo>
                  <a:pt x="1222248" y="1709928"/>
                </a:lnTo>
                <a:lnTo>
                  <a:pt x="1222248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7088" y="4602479"/>
            <a:ext cx="1222375" cy="1710055"/>
          </a:xfrm>
          <a:custGeom>
            <a:avLst/>
            <a:gdLst/>
            <a:ahLst/>
            <a:cxnLst/>
            <a:rect l="l" t="t" r="r" b="b"/>
            <a:pathLst>
              <a:path w="1222375" h="1710054">
                <a:moveTo>
                  <a:pt x="1222248" y="0"/>
                </a:moveTo>
                <a:lnTo>
                  <a:pt x="0" y="0"/>
                </a:lnTo>
                <a:lnTo>
                  <a:pt x="0" y="1709928"/>
                </a:lnTo>
                <a:lnTo>
                  <a:pt x="1222248" y="1709928"/>
                </a:lnTo>
                <a:lnTo>
                  <a:pt x="1222248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54679" y="4602479"/>
            <a:ext cx="1222375" cy="1708785"/>
          </a:xfrm>
          <a:custGeom>
            <a:avLst/>
            <a:gdLst/>
            <a:ahLst/>
            <a:cxnLst/>
            <a:rect l="l" t="t" r="r" b="b"/>
            <a:pathLst>
              <a:path w="1222375" h="1708785">
                <a:moveTo>
                  <a:pt x="1222247" y="0"/>
                </a:moveTo>
                <a:lnTo>
                  <a:pt x="0" y="0"/>
                </a:lnTo>
                <a:lnTo>
                  <a:pt x="0" y="1708404"/>
                </a:lnTo>
                <a:lnTo>
                  <a:pt x="1222247" y="1708404"/>
                </a:lnTo>
                <a:lnTo>
                  <a:pt x="1222247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4462271" y="4602479"/>
            <a:ext cx="1184275" cy="1708785"/>
            <a:chOff x="4462271" y="4602479"/>
            <a:chExt cx="1184275" cy="1708785"/>
          </a:xfrm>
        </p:grpSpPr>
        <p:sp>
          <p:nvSpPr>
            <p:cNvPr id="8" name="object 8"/>
            <p:cNvSpPr/>
            <p:nvPr/>
          </p:nvSpPr>
          <p:spPr>
            <a:xfrm>
              <a:off x="4462271" y="4602479"/>
              <a:ext cx="1184275" cy="1708785"/>
            </a:xfrm>
            <a:custGeom>
              <a:avLst/>
              <a:gdLst/>
              <a:ahLst/>
              <a:cxnLst/>
              <a:rect l="l" t="t" r="r" b="b"/>
              <a:pathLst>
                <a:path w="1184275" h="1708785">
                  <a:moveTo>
                    <a:pt x="1184148" y="0"/>
                  </a:moveTo>
                  <a:lnTo>
                    <a:pt x="0" y="0"/>
                  </a:lnTo>
                  <a:lnTo>
                    <a:pt x="0" y="1708404"/>
                  </a:lnTo>
                  <a:lnTo>
                    <a:pt x="1184148" y="1708404"/>
                  </a:lnTo>
                  <a:lnTo>
                    <a:pt x="11841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Coins 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7739" y="4669535"/>
              <a:ext cx="493775" cy="4953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38352" y="4069842"/>
            <a:ext cx="888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Lacks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Literacy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Aspect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5764" y="4079875"/>
            <a:ext cx="5981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Potential Earning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66642" y="4101210"/>
            <a:ext cx="10236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Standardization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58054" y="4079875"/>
            <a:ext cx="868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Transparency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4" name="object 14" descr="Responsive 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" y="4654296"/>
            <a:ext cx="492251" cy="490727"/>
          </a:xfrm>
          <a:prstGeom prst="rect">
            <a:avLst/>
          </a:prstGeom>
        </p:spPr>
      </p:pic>
      <p:pic>
        <p:nvPicPr>
          <p:cNvPr id="15" name="object 15" descr="Interaction 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3035" y="4645152"/>
            <a:ext cx="502919" cy="502919"/>
          </a:xfrm>
          <a:prstGeom prst="rect">
            <a:avLst/>
          </a:prstGeom>
        </p:spPr>
      </p:pic>
      <p:pic>
        <p:nvPicPr>
          <p:cNvPr id="16" name="object 16" descr="Money 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71671" y="4597908"/>
            <a:ext cx="623315" cy="62179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70356" y="5244846"/>
            <a:ext cx="980440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Literate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loan </a:t>
            </a:r>
            <a:r>
              <a:rPr dirty="0" sz="1100">
                <a:latin typeface="Calibri"/>
                <a:cs typeface="Calibri"/>
              </a:rPr>
              <a:t>takers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</a:t>
            </a:r>
            <a:r>
              <a:rPr dirty="0" sz="1100" spc="-20">
                <a:latin typeface="Calibri"/>
                <a:cs typeface="Calibri"/>
              </a:rPr>
              <a:t>more </a:t>
            </a:r>
            <a:r>
              <a:rPr dirty="0" sz="1100">
                <a:latin typeface="Calibri"/>
                <a:cs typeface="Calibri"/>
              </a:rPr>
              <a:t>likely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more </a:t>
            </a:r>
            <a:r>
              <a:rPr dirty="0" sz="1100" spc="-10">
                <a:latin typeface="Calibri"/>
                <a:cs typeface="Calibri"/>
              </a:rPr>
              <a:t>financial responsible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by </a:t>
            </a:r>
            <a:r>
              <a:rPr dirty="0" sz="1100">
                <a:latin typeface="Calibri"/>
                <a:cs typeface="Calibri"/>
              </a:rPr>
              <a:t>not</a:t>
            </a:r>
            <a:r>
              <a:rPr dirty="0" sz="1100" spc="-10">
                <a:latin typeface="Calibri"/>
                <a:cs typeface="Calibri"/>
              </a:rPr>
              <a:t> defaulting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906" y="1222339"/>
            <a:ext cx="4741904" cy="271939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70916" y="734568"/>
            <a:ext cx="5279390" cy="361315"/>
          </a:xfrm>
          <a:prstGeom prst="rect">
            <a:avLst/>
          </a:prstGeom>
          <a:solidFill>
            <a:srgbClr val="63906F"/>
          </a:solidFill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  <a:r>
              <a:rPr dirty="0" sz="1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6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(A)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52370" y="5244846"/>
            <a:ext cx="998219" cy="86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Doesn’t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take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into </a:t>
            </a:r>
            <a:r>
              <a:rPr dirty="0" sz="1100">
                <a:latin typeface="Calibri"/>
                <a:cs typeface="Calibri"/>
              </a:rPr>
              <a:t>account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in </a:t>
            </a:r>
            <a:r>
              <a:rPr dirty="0" sz="1100">
                <a:latin typeface="Calibri"/>
                <a:cs typeface="Calibri"/>
              </a:rPr>
              <a:t>earning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after </a:t>
            </a:r>
            <a:r>
              <a:rPr dirty="0" sz="1100">
                <a:latin typeface="Calibri"/>
                <a:cs typeface="Calibri"/>
              </a:rPr>
              <a:t>taking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loan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20592" y="5258511"/>
            <a:ext cx="981075" cy="1032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banks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bureaus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different </a:t>
            </a:r>
            <a:r>
              <a:rPr dirty="0" sz="1100">
                <a:latin typeface="Calibri"/>
                <a:cs typeface="Calibri"/>
              </a:rPr>
              <a:t>methods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determine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credit scores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6317" y="5244846"/>
            <a:ext cx="895985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process behind determining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scores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is </a:t>
            </a:r>
            <a:r>
              <a:rPr dirty="0" sz="1100">
                <a:latin typeface="Calibri"/>
                <a:cs typeface="Calibri"/>
              </a:rPr>
              <a:t>not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revealed</a:t>
            </a:r>
            <a:r>
              <a:rPr dirty="0" sz="1100" spc="-25">
                <a:latin typeface="Calibri"/>
                <a:cs typeface="Calibri"/>
              </a:rPr>
              <a:t> to </a:t>
            </a:r>
            <a:r>
              <a:rPr dirty="0" sz="1100">
                <a:latin typeface="Calibri"/>
                <a:cs typeface="Calibri"/>
              </a:rPr>
              <a:t>loan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seekers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23659" y="737616"/>
            <a:ext cx="5278120" cy="361315"/>
          </a:xfrm>
          <a:prstGeom prst="rect">
            <a:avLst/>
          </a:prstGeom>
          <a:solidFill>
            <a:srgbClr val="63906F"/>
          </a:solidFill>
        </p:spPr>
        <p:txBody>
          <a:bodyPr wrap="square" lIns="0" tIns="46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387084" y="3319271"/>
          <a:ext cx="5011420" cy="2990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965"/>
                <a:gridCol w="1097280"/>
                <a:gridCol w="1447800"/>
                <a:gridCol w="2034539"/>
              </a:tblGrid>
              <a:tr h="378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Literacy</a:t>
                      </a:r>
                      <a:r>
                        <a:rPr dirty="0" sz="16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r>
                        <a:rPr dirty="0" sz="16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(B)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63906F">
                        <a:alpha val="7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30225">
                <a:tc gridSpan="2"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63906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Weights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0495">
                    <a:lnL w="5715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63906F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518795">
                <a:tc gridSpan="2">
                  <a:txBody>
                    <a:bodyPr/>
                    <a:lstStyle/>
                    <a:p>
                      <a:pPr marL="400050" marR="400685" indent="-152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Formal Education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7310"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63906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200" spc="-50" b="1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62560">
                    <a:lnL w="5715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524510">
                <a:tc gridSpan="2">
                  <a:txBody>
                    <a:bodyPr/>
                    <a:lstStyle/>
                    <a:p>
                      <a:pPr marL="503555" marR="118110" indent="-40259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Finished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Secondary School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63906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200" spc="-50" b="1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4940">
                    <a:lnL w="5715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535305">
                <a:tc gridSpan="2"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Finished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R="1651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School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9375"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63906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dirty="0" sz="1200" spc="-50" b="1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68910">
                    <a:lnL w="5715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502920">
                <a:tc gridSpan="2"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Pursued</a:t>
                      </a:r>
                      <a:r>
                        <a:rPr dirty="0" sz="12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R="14604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Education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63906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dirty="0" sz="1200" spc="-50" b="1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67640">
                    <a:lnL w="5715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9386316" y="3850385"/>
            <a:ext cx="367030" cy="2391410"/>
          </a:xfrm>
          <a:custGeom>
            <a:avLst/>
            <a:gdLst/>
            <a:ahLst/>
            <a:cxnLst/>
            <a:rect l="l" t="t" r="r" b="b"/>
            <a:pathLst>
              <a:path w="367029" h="2391410">
                <a:moveTo>
                  <a:pt x="0" y="0"/>
                </a:moveTo>
                <a:lnTo>
                  <a:pt x="48720" y="6545"/>
                </a:lnTo>
                <a:lnTo>
                  <a:pt x="92498" y="25018"/>
                </a:lnTo>
                <a:lnTo>
                  <a:pt x="129587" y="53673"/>
                </a:lnTo>
                <a:lnTo>
                  <a:pt x="158242" y="90762"/>
                </a:lnTo>
                <a:lnTo>
                  <a:pt x="176715" y="134540"/>
                </a:lnTo>
                <a:lnTo>
                  <a:pt x="183260" y="183261"/>
                </a:lnTo>
                <a:lnTo>
                  <a:pt x="183260" y="1012316"/>
                </a:lnTo>
                <a:lnTo>
                  <a:pt x="189806" y="1061037"/>
                </a:lnTo>
                <a:lnTo>
                  <a:pt x="208279" y="1104815"/>
                </a:lnTo>
                <a:lnTo>
                  <a:pt x="236934" y="1141904"/>
                </a:lnTo>
                <a:lnTo>
                  <a:pt x="274023" y="1170558"/>
                </a:lnTo>
                <a:lnTo>
                  <a:pt x="317801" y="1189032"/>
                </a:lnTo>
                <a:lnTo>
                  <a:pt x="366522" y="1195577"/>
                </a:lnTo>
                <a:lnTo>
                  <a:pt x="317801" y="1202123"/>
                </a:lnTo>
                <a:lnTo>
                  <a:pt x="274023" y="1220597"/>
                </a:lnTo>
                <a:lnTo>
                  <a:pt x="236934" y="1249251"/>
                </a:lnTo>
                <a:lnTo>
                  <a:pt x="208279" y="1286340"/>
                </a:lnTo>
                <a:lnTo>
                  <a:pt x="189806" y="1330118"/>
                </a:lnTo>
                <a:lnTo>
                  <a:pt x="183260" y="1378839"/>
                </a:lnTo>
                <a:lnTo>
                  <a:pt x="183260" y="2207907"/>
                </a:lnTo>
                <a:lnTo>
                  <a:pt x="176715" y="2256622"/>
                </a:lnTo>
                <a:lnTo>
                  <a:pt x="158242" y="2300397"/>
                </a:lnTo>
                <a:lnTo>
                  <a:pt x="129587" y="2337484"/>
                </a:lnTo>
                <a:lnTo>
                  <a:pt x="92498" y="2366137"/>
                </a:lnTo>
                <a:lnTo>
                  <a:pt x="48720" y="2384610"/>
                </a:lnTo>
                <a:lnTo>
                  <a:pt x="0" y="2391156"/>
                </a:lnTo>
              </a:path>
            </a:pathLst>
          </a:custGeom>
          <a:ln w="1905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884664" y="3883152"/>
            <a:ext cx="1903730" cy="2324100"/>
          </a:xfrm>
          <a:custGeom>
            <a:avLst/>
            <a:gdLst/>
            <a:ahLst/>
            <a:cxnLst/>
            <a:rect l="l" t="t" r="r" b="b"/>
            <a:pathLst>
              <a:path w="1903729" h="2324100">
                <a:moveTo>
                  <a:pt x="1903476" y="0"/>
                </a:moveTo>
                <a:lnTo>
                  <a:pt x="0" y="0"/>
                </a:lnTo>
                <a:lnTo>
                  <a:pt x="0" y="2324100"/>
                </a:lnTo>
                <a:lnTo>
                  <a:pt x="1903476" y="2324100"/>
                </a:lnTo>
                <a:lnTo>
                  <a:pt x="1903476" y="0"/>
                </a:lnTo>
                <a:close/>
              </a:path>
            </a:pathLst>
          </a:custGeom>
          <a:solidFill>
            <a:srgbClr val="87AA8F">
              <a:alpha val="4784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990581" y="4549902"/>
            <a:ext cx="1658620" cy="1535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exists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direct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negative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correlation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financial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literacy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rates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default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rates</a:t>
            </a:r>
            <a:endParaRPr sz="1100">
              <a:latin typeface="Calibri"/>
              <a:cs typeface="Calibri"/>
            </a:endParaRPr>
          </a:p>
          <a:p>
            <a:pPr marL="181610" marR="10795" indent="-16954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100">
                <a:latin typeface="Calibri"/>
                <a:cs typeface="Calibri"/>
              </a:rPr>
              <a:t>Therefore,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would </a:t>
            </a:r>
            <a:r>
              <a:rPr dirty="0" sz="1100" spc="-2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assigned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education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20">
                <a:latin typeface="Calibri"/>
                <a:cs typeface="Calibri"/>
              </a:rPr>
              <a:t> then </a:t>
            </a:r>
            <a:r>
              <a:rPr dirty="0" sz="1100" spc="-2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subsequently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showed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10">
                <a:latin typeface="Calibri"/>
                <a:cs typeface="Calibri"/>
              </a:rPr>
              <a:t> score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8" name="object 28" descr="Negative growth 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43031" y="3938015"/>
            <a:ext cx="586740" cy="586740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6623304" y="1252727"/>
            <a:ext cx="4876800" cy="573405"/>
          </a:xfrm>
          <a:custGeom>
            <a:avLst/>
            <a:gdLst/>
            <a:ahLst/>
            <a:cxnLst/>
            <a:rect l="l" t="t" r="r" b="b"/>
            <a:pathLst>
              <a:path w="4876800" h="573405">
                <a:moveTo>
                  <a:pt x="4876800" y="0"/>
                </a:moveTo>
                <a:lnTo>
                  <a:pt x="0" y="0"/>
                </a:lnTo>
                <a:lnTo>
                  <a:pt x="0" y="573024"/>
                </a:lnTo>
                <a:lnTo>
                  <a:pt x="4876800" y="573024"/>
                </a:lnTo>
                <a:lnTo>
                  <a:pt x="4876800" y="0"/>
                </a:lnTo>
                <a:close/>
              </a:path>
            </a:pathLst>
          </a:custGeom>
          <a:solidFill>
            <a:srgbClr val="63906F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739633" y="1398269"/>
            <a:ext cx="50863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alibri"/>
                <a:cs typeface="Calibri"/>
              </a:rPr>
              <a:t>0.5*A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90866" y="1367789"/>
            <a:ext cx="1463040" cy="370840"/>
          </a:xfrm>
          <a:custGeom>
            <a:avLst/>
            <a:gdLst/>
            <a:ahLst/>
            <a:cxnLst/>
            <a:rect l="l" t="t" r="r" b="b"/>
            <a:pathLst>
              <a:path w="1463040" h="370839">
                <a:moveTo>
                  <a:pt x="61722" y="370332"/>
                </a:moveTo>
                <a:lnTo>
                  <a:pt x="37719" y="365474"/>
                </a:lnTo>
                <a:lnTo>
                  <a:pt x="18097" y="352234"/>
                </a:lnTo>
                <a:lnTo>
                  <a:pt x="4857" y="332613"/>
                </a:lnTo>
                <a:lnTo>
                  <a:pt x="0" y="308610"/>
                </a:lnTo>
                <a:lnTo>
                  <a:pt x="0" y="61722"/>
                </a:lnTo>
                <a:lnTo>
                  <a:pt x="4857" y="37719"/>
                </a:lnTo>
                <a:lnTo>
                  <a:pt x="18097" y="18097"/>
                </a:lnTo>
                <a:lnTo>
                  <a:pt x="37719" y="4857"/>
                </a:lnTo>
                <a:lnTo>
                  <a:pt x="61722" y="0"/>
                </a:lnTo>
              </a:path>
              <a:path w="1463040" h="370839">
                <a:moveTo>
                  <a:pt x="540257" y="0"/>
                </a:moveTo>
                <a:lnTo>
                  <a:pt x="564260" y="4857"/>
                </a:lnTo>
                <a:lnTo>
                  <a:pt x="583882" y="18097"/>
                </a:lnTo>
                <a:lnTo>
                  <a:pt x="597122" y="37719"/>
                </a:lnTo>
                <a:lnTo>
                  <a:pt x="601979" y="61722"/>
                </a:lnTo>
                <a:lnTo>
                  <a:pt x="601979" y="308610"/>
                </a:lnTo>
                <a:lnTo>
                  <a:pt x="597122" y="332613"/>
                </a:lnTo>
                <a:lnTo>
                  <a:pt x="583882" y="352234"/>
                </a:lnTo>
                <a:lnTo>
                  <a:pt x="564260" y="365474"/>
                </a:lnTo>
                <a:lnTo>
                  <a:pt x="540257" y="370332"/>
                </a:lnTo>
              </a:path>
              <a:path w="1463040" h="370839">
                <a:moveTo>
                  <a:pt x="922781" y="370332"/>
                </a:moveTo>
                <a:lnTo>
                  <a:pt x="898778" y="365474"/>
                </a:lnTo>
                <a:lnTo>
                  <a:pt x="879157" y="352234"/>
                </a:lnTo>
                <a:lnTo>
                  <a:pt x="865917" y="332613"/>
                </a:lnTo>
                <a:lnTo>
                  <a:pt x="861059" y="308610"/>
                </a:lnTo>
                <a:lnTo>
                  <a:pt x="861059" y="61722"/>
                </a:lnTo>
                <a:lnTo>
                  <a:pt x="865917" y="37719"/>
                </a:lnTo>
                <a:lnTo>
                  <a:pt x="879157" y="18097"/>
                </a:lnTo>
                <a:lnTo>
                  <a:pt x="898778" y="4857"/>
                </a:lnTo>
                <a:lnTo>
                  <a:pt x="922781" y="0"/>
                </a:lnTo>
              </a:path>
              <a:path w="1463040" h="370839">
                <a:moveTo>
                  <a:pt x="1401317" y="0"/>
                </a:moveTo>
                <a:lnTo>
                  <a:pt x="1425320" y="4857"/>
                </a:lnTo>
                <a:lnTo>
                  <a:pt x="1444942" y="18097"/>
                </a:lnTo>
                <a:lnTo>
                  <a:pt x="1458182" y="37719"/>
                </a:lnTo>
                <a:lnTo>
                  <a:pt x="1463039" y="61722"/>
                </a:lnTo>
                <a:lnTo>
                  <a:pt x="1463039" y="308610"/>
                </a:lnTo>
                <a:lnTo>
                  <a:pt x="1458182" y="332613"/>
                </a:lnTo>
                <a:lnTo>
                  <a:pt x="1444942" y="352234"/>
                </a:lnTo>
                <a:lnTo>
                  <a:pt x="1425321" y="365474"/>
                </a:lnTo>
                <a:lnTo>
                  <a:pt x="1401317" y="37033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351901" y="1370787"/>
            <a:ext cx="1397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98789" y="1398269"/>
            <a:ext cx="4997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alibri"/>
                <a:cs typeface="Calibri"/>
              </a:rPr>
              <a:t>0.2*B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504680" y="1398269"/>
            <a:ext cx="82676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alibri"/>
                <a:cs typeface="Calibri"/>
              </a:rPr>
              <a:t>0.3*SEUR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233154" y="1386078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736080" y="1358264"/>
            <a:ext cx="4587240" cy="1810385"/>
            <a:chOff x="6736080" y="1358264"/>
            <a:chExt cx="4587240" cy="1810385"/>
          </a:xfrm>
        </p:grpSpPr>
        <p:sp>
          <p:nvSpPr>
            <p:cNvPr id="37" name="object 37"/>
            <p:cNvSpPr/>
            <p:nvPr/>
          </p:nvSpPr>
          <p:spPr>
            <a:xfrm>
              <a:off x="9452610" y="1367789"/>
              <a:ext cx="960119" cy="370840"/>
            </a:xfrm>
            <a:custGeom>
              <a:avLst/>
              <a:gdLst/>
              <a:ahLst/>
              <a:cxnLst/>
              <a:rect l="l" t="t" r="r" b="b"/>
              <a:pathLst>
                <a:path w="960120" h="370839">
                  <a:moveTo>
                    <a:pt x="61722" y="370332"/>
                  </a:moveTo>
                  <a:lnTo>
                    <a:pt x="37719" y="365474"/>
                  </a:lnTo>
                  <a:lnTo>
                    <a:pt x="18097" y="352234"/>
                  </a:lnTo>
                  <a:lnTo>
                    <a:pt x="4857" y="332613"/>
                  </a:lnTo>
                  <a:lnTo>
                    <a:pt x="0" y="308610"/>
                  </a:lnTo>
                  <a:lnTo>
                    <a:pt x="0" y="61722"/>
                  </a:lnTo>
                  <a:lnTo>
                    <a:pt x="4857" y="37719"/>
                  </a:lnTo>
                  <a:lnTo>
                    <a:pt x="18097" y="18097"/>
                  </a:lnTo>
                  <a:lnTo>
                    <a:pt x="37719" y="4857"/>
                  </a:lnTo>
                  <a:lnTo>
                    <a:pt x="61722" y="0"/>
                  </a:lnTo>
                </a:path>
                <a:path w="960120" h="370839">
                  <a:moveTo>
                    <a:pt x="898398" y="0"/>
                  </a:moveTo>
                  <a:lnTo>
                    <a:pt x="922401" y="4857"/>
                  </a:lnTo>
                  <a:lnTo>
                    <a:pt x="942022" y="18097"/>
                  </a:lnTo>
                  <a:lnTo>
                    <a:pt x="955262" y="37719"/>
                  </a:lnTo>
                  <a:lnTo>
                    <a:pt x="960120" y="61722"/>
                  </a:lnTo>
                  <a:lnTo>
                    <a:pt x="960120" y="308610"/>
                  </a:lnTo>
                  <a:lnTo>
                    <a:pt x="955262" y="332613"/>
                  </a:lnTo>
                  <a:lnTo>
                    <a:pt x="942022" y="352234"/>
                  </a:lnTo>
                  <a:lnTo>
                    <a:pt x="922401" y="365474"/>
                  </a:lnTo>
                  <a:lnTo>
                    <a:pt x="898398" y="3703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736080" y="2063495"/>
              <a:ext cx="4587240" cy="1104900"/>
            </a:xfrm>
            <a:custGeom>
              <a:avLst/>
              <a:gdLst/>
              <a:ahLst/>
              <a:cxnLst/>
              <a:rect l="l" t="t" r="r" b="b"/>
              <a:pathLst>
                <a:path w="4587240" h="1104900">
                  <a:moveTo>
                    <a:pt x="1476756" y="0"/>
                  </a:moveTo>
                  <a:lnTo>
                    <a:pt x="0" y="0"/>
                  </a:lnTo>
                  <a:lnTo>
                    <a:pt x="0" y="1100328"/>
                  </a:lnTo>
                  <a:lnTo>
                    <a:pt x="1476756" y="1100328"/>
                  </a:lnTo>
                  <a:lnTo>
                    <a:pt x="1476756" y="0"/>
                  </a:lnTo>
                  <a:close/>
                </a:path>
                <a:path w="4587240" h="1104900">
                  <a:moveTo>
                    <a:pt x="3040380" y="4584"/>
                  </a:moveTo>
                  <a:lnTo>
                    <a:pt x="1563624" y="4584"/>
                  </a:lnTo>
                  <a:lnTo>
                    <a:pt x="1563624" y="1104900"/>
                  </a:lnTo>
                  <a:lnTo>
                    <a:pt x="3040380" y="1104900"/>
                  </a:lnTo>
                  <a:lnTo>
                    <a:pt x="3040380" y="4584"/>
                  </a:lnTo>
                  <a:close/>
                </a:path>
                <a:path w="4587240" h="1104900">
                  <a:moveTo>
                    <a:pt x="4587240" y="4584"/>
                  </a:moveTo>
                  <a:lnTo>
                    <a:pt x="3110484" y="4584"/>
                  </a:lnTo>
                  <a:lnTo>
                    <a:pt x="3110484" y="1104900"/>
                  </a:lnTo>
                  <a:lnTo>
                    <a:pt x="4587240" y="1104900"/>
                  </a:lnTo>
                  <a:lnTo>
                    <a:pt x="4587240" y="4584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437120" y="1716023"/>
              <a:ext cx="3185795" cy="352425"/>
            </a:xfrm>
            <a:custGeom>
              <a:avLst/>
              <a:gdLst/>
              <a:ahLst/>
              <a:cxnLst/>
              <a:rect l="l" t="t" r="r" b="b"/>
              <a:pathLst>
                <a:path w="3185795" h="352425">
                  <a:moveTo>
                    <a:pt x="567182" y="0"/>
                  </a:moveTo>
                  <a:lnTo>
                    <a:pt x="554482" y="0"/>
                  </a:lnTo>
                  <a:lnTo>
                    <a:pt x="554482" y="167640"/>
                  </a:lnTo>
                  <a:lnTo>
                    <a:pt x="31750" y="167640"/>
                  </a:lnTo>
                  <a:lnTo>
                    <a:pt x="31750" y="271907"/>
                  </a:lnTo>
                  <a:lnTo>
                    <a:pt x="0" y="271907"/>
                  </a:lnTo>
                  <a:lnTo>
                    <a:pt x="38100" y="348107"/>
                  </a:lnTo>
                  <a:lnTo>
                    <a:pt x="69850" y="284607"/>
                  </a:lnTo>
                  <a:lnTo>
                    <a:pt x="76200" y="271907"/>
                  </a:lnTo>
                  <a:lnTo>
                    <a:pt x="44450" y="271907"/>
                  </a:lnTo>
                  <a:lnTo>
                    <a:pt x="44450" y="180340"/>
                  </a:lnTo>
                  <a:lnTo>
                    <a:pt x="567182" y="180340"/>
                  </a:lnTo>
                  <a:lnTo>
                    <a:pt x="567182" y="167640"/>
                  </a:lnTo>
                  <a:lnTo>
                    <a:pt x="567182" y="0"/>
                  </a:lnTo>
                  <a:close/>
                </a:path>
                <a:path w="3185795" h="352425">
                  <a:moveTo>
                    <a:pt x="1638173" y="275717"/>
                  </a:moveTo>
                  <a:lnTo>
                    <a:pt x="1606423" y="275717"/>
                  </a:lnTo>
                  <a:lnTo>
                    <a:pt x="1606423" y="182245"/>
                  </a:lnTo>
                  <a:lnTo>
                    <a:pt x="1606423" y="169545"/>
                  </a:lnTo>
                  <a:lnTo>
                    <a:pt x="1420622" y="169545"/>
                  </a:lnTo>
                  <a:lnTo>
                    <a:pt x="1420622" y="0"/>
                  </a:lnTo>
                  <a:lnTo>
                    <a:pt x="1407922" y="0"/>
                  </a:lnTo>
                  <a:lnTo>
                    <a:pt x="1407922" y="182245"/>
                  </a:lnTo>
                  <a:lnTo>
                    <a:pt x="1593723" y="182245"/>
                  </a:lnTo>
                  <a:lnTo>
                    <a:pt x="1593723" y="275717"/>
                  </a:lnTo>
                  <a:lnTo>
                    <a:pt x="1561973" y="275717"/>
                  </a:lnTo>
                  <a:lnTo>
                    <a:pt x="1600073" y="351917"/>
                  </a:lnTo>
                  <a:lnTo>
                    <a:pt x="1631823" y="288417"/>
                  </a:lnTo>
                  <a:lnTo>
                    <a:pt x="1638173" y="275717"/>
                  </a:lnTo>
                  <a:close/>
                </a:path>
                <a:path w="3185795" h="352425">
                  <a:moveTo>
                    <a:pt x="3185414" y="275717"/>
                  </a:moveTo>
                  <a:lnTo>
                    <a:pt x="3153664" y="275717"/>
                  </a:lnTo>
                  <a:lnTo>
                    <a:pt x="3153664" y="182372"/>
                  </a:lnTo>
                  <a:lnTo>
                    <a:pt x="3153664" y="169672"/>
                  </a:lnTo>
                  <a:lnTo>
                    <a:pt x="2491994" y="169672"/>
                  </a:lnTo>
                  <a:lnTo>
                    <a:pt x="2491994" y="0"/>
                  </a:lnTo>
                  <a:lnTo>
                    <a:pt x="2479294" y="0"/>
                  </a:lnTo>
                  <a:lnTo>
                    <a:pt x="2479294" y="182372"/>
                  </a:lnTo>
                  <a:lnTo>
                    <a:pt x="3140964" y="182372"/>
                  </a:lnTo>
                  <a:lnTo>
                    <a:pt x="3140964" y="275717"/>
                  </a:lnTo>
                  <a:lnTo>
                    <a:pt x="3109214" y="275717"/>
                  </a:lnTo>
                  <a:lnTo>
                    <a:pt x="3147314" y="351917"/>
                  </a:lnTo>
                  <a:lnTo>
                    <a:pt x="3179064" y="288417"/>
                  </a:lnTo>
                  <a:lnTo>
                    <a:pt x="3185414" y="275717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736080" y="2063495"/>
            <a:ext cx="1477010" cy="1100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100">
              <a:latin typeface="Times New Roman"/>
              <a:cs typeface="Times New Roman"/>
            </a:endParaRPr>
          </a:p>
          <a:p>
            <a:pPr marL="252095" marR="104139" indent="-1695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55270" algn="l"/>
              </a:tabLst>
            </a:pP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assess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financial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soundness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behind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lending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 spc="-20">
                <a:latin typeface="Calibri"/>
                <a:cs typeface="Calibri"/>
              </a:rPr>
              <a:t>loan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358885" y="2455291"/>
            <a:ext cx="1297940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100">
                <a:latin typeface="Calibri"/>
                <a:cs typeface="Calibri"/>
              </a:rPr>
              <a:t>Gauges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earning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capacity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 spc="-10">
                <a:latin typeface="Calibri"/>
                <a:cs typeface="Calibri"/>
              </a:rPr>
              <a:t>financial 	responsibility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35642" y="2505201"/>
            <a:ext cx="146113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100">
                <a:latin typeface="Calibri"/>
                <a:cs typeface="Calibri"/>
              </a:rPr>
              <a:t>Incorporates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soc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io-</a:t>
            </a:r>
            <a:r>
              <a:rPr dirty="0" sz="1100" spc="-10">
                <a:latin typeface="Calibri"/>
                <a:cs typeface="Calibri"/>
              </a:rPr>
              <a:t>economic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privilege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background.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71004" y="2093976"/>
            <a:ext cx="3495040" cy="402590"/>
            <a:chOff x="7271004" y="2093976"/>
            <a:chExt cx="3495040" cy="402590"/>
          </a:xfrm>
        </p:grpSpPr>
        <p:pic>
          <p:nvPicPr>
            <p:cNvPr id="44" name="object 44" descr="Budget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1004" y="2107692"/>
              <a:ext cx="388620" cy="388620"/>
            </a:xfrm>
            <a:prstGeom prst="rect">
              <a:avLst/>
            </a:prstGeom>
          </p:spPr>
        </p:pic>
        <p:pic>
          <p:nvPicPr>
            <p:cNvPr id="45" name="object 45" descr="Responsibility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45296" y="2144268"/>
              <a:ext cx="350520" cy="352043"/>
            </a:xfrm>
            <a:prstGeom prst="rect">
              <a:avLst/>
            </a:prstGeom>
          </p:spPr>
        </p:pic>
        <p:pic>
          <p:nvPicPr>
            <p:cNvPr id="46" name="object 46" descr="Rice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70820" y="2093976"/>
              <a:ext cx="394716" cy="393191"/>
            </a:xfrm>
            <a:prstGeom prst="rect">
              <a:avLst/>
            </a:prstGeom>
          </p:spPr>
        </p:pic>
      </p:grpSp>
      <p:sp>
        <p:nvSpPr>
          <p:cNvPr id="47" name="object 47" descr="$PPTXTitle"/>
          <p:cNvSpPr txBox="1">
            <a:spLocks noGrp="1"/>
          </p:cNvSpPr>
          <p:nvPr>
            <p:ph type="title"/>
          </p:nvPr>
        </p:nvSpPr>
        <p:spPr>
          <a:xfrm>
            <a:off x="189992" y="24130"/>
            <a:ext cx="414972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Traditional</a:t>
            </a:r>
            <a:r>
              <a:rPr dirty="0" spc="-75"/>
              <a:t> </a:t>
            </a:r>
            <a:r>
              <a:rPr dirty="0"/>
              <a:t>vs</a:t>
            </a:r>
            <a:r>
              <a:rPr dirty="0" spc="-10"/>
              <a:t> Contemporary</a:t>
            </a:r>
            <a:r>
              <a:rPr dirty="0" spc="-50"/>
              <a:t> </a:t>
            </a:r>
            <a:r>
              <a:rPr dirty="0"/>
              <a:t>Credit</a:t>
            </a:r>
            <a:r>
              <a:rPr dirty="0" spc="-25"/>
              <a:t> </a:t>
            </a:r>
            <a:r>
              <a:rPr dirty="0" spc="-10"/>
              <a:t>Systems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89992" y="299974"/>
            <a:ext cx="626110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Identifying</a:t>
            </a:r>
            <a:r>
              <a:rPr dirty="0" sz="1700" spc="-7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rectifying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shortcomings</a:t>
            </a:r>
            <a:r>
              <a:rPr dirty="0" sz="1700" spc="-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current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credit</a:t>
            </a:r>
            <a:r>
              <a:rPr dirty="0" sz="17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system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5083" y="6576161"/>
            <a:ext cx="8350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74085" y="6576161"/>
            <a:ext cx="1240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85622"/>
                </a:solidFill>
                <a:latin typeface="Calibri"/>
                <a:cs typeface="Calibri"/>
              </a:rPr>
              <a:t>CREDIT</a:t>
            </a:r>
            <a:r>
              <a:rPr dirty="0" sz="1400" spc="-40" b="1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56" name="object 56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48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39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7683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457"/>
            <a:ext cx="4523105" cy="300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SEUR:</a:t>
            </a:r>
            <a:r>
              <a:rPr dirty="0" spc="15"/>
              <a:t> </a:t>
            </a:r>
            <a:r>
              <a:rPr dirty="0"/>
              <a:t>The Socio-</a:t>
            </a:r>
            <a:r>
              <a:rPr dirty="0" spc="-10"/>
              <a:t>Economic</a:t>
            </a:r>
            <a:r>
              <a:rPr dirty="0" spc="-25"/>
              <a:t> </a:t>
            </a:r>
            <a:r>
              <a:rPr dirty="0" spc="-10"/>
              <a:t>Underprivilege</a:t>
            </a:r>
            <a:r>
              <a:rPr dirty="0" spc="-25"/>
              <a:t> </a:t>
            </a:r>
            <a:r>
              <a:rPr dirty="0" spc="-10"/>
              <a:t>Ratio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276859"/>
            <a:ext cx="98145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UFH</a:t>
            </a:r>
            <a:r>
              <a:rPr dirty="0" sz="1700" spc="-3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aims</a:t>
            </a:r>
            <a:r>
              <a:rPr dirty="0" sz="1700" spc="-2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be</a:t>
            </a:r>
            <a:r>
              <a:rPr dirty="0" sz="1700" spc="-2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profitable</a:t>
            </a:r>
            <a:r>
              <a:rPr dirty="0" sz="1700" spc="-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while</a:t>
            </a:r>
            <a:r>
              <a:rPr dirty="0" sz="1700" spc="-2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servicing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underprivileged</a:t>
            </a:r>
            <a:r>
              <a:rPr dirty="0" sz="17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households</a:t>
            </a:r>
            <a:r>
              <a:rPr dirty="0" sz="1700" spc="-2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who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have</a:t>
            </a:r>
            <a:r>
              <a:rPr dirty="0" sz="1700" spc="-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little</a:t>
            </a:r>
            <a:r>
              <a:rPr dirty="0" sz="1700" spc="-3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access</a:t>
            </a:r>
            <a:r>
              <a:rPr dirty="0" sz="1700" spc="-2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financial</a:t>
            </a:r>
            <a:r>
              <a:rPr dirty="0" sz="1700" spc="-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services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5423" y="5184647"/>
            <a:ext cx="3639820" cy="113093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137795" rIns="0" bIns="0" rtlCol="0" vert="horz">
            <a:spAutoFit/>
          </a:bodyPr>
          <a:lstStyle/>
          <a:p>
            <a:pPr algn="just" marL="90805" marR="80645">
              <a:lnSpc>
                <a:spcPct val="100000"/>
              </a:lnSpc>
              <a:spcBef>
                <a:spcPts val="1085"/>
              </a:spcBef>
            </a:pPr>
            <a:r>
              <a:rPr dirty="0" sz="1100">
                <a:latin typeface="Calibri"/>
                <a:cs typeface="Calibri"/>
              </a:rPr>
              <a:t>UFH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aims</a:t>
            </a:r>
            <a:r>
              <a:rPr dirty="0" sz="1100" spc="3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profitable</a:t>
            </a:r>
            <a:r>
              <a:rPr dirty="0" sz="1100" spc="3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while</a:t>
            </a:r>
            <a:r>
              <a:rPr dirty="0" sz="1100" spc="3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being</a:t>
            </a:r>
            <a:r>
              <a:rPr dirty="0" sz="1100" spc="3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equitable</a:t>
            </a:r>
            <a:r>
              <a:rPr dirty="0" sz="1100" spc="32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its </a:t>
            </a:r>
            <a:r>
              <a:rPr dirty="0" sz="1100">
                <a:latin typeface="Calibri"/>
                <a:cs typeface="Calibri"/>
              </a:rPr>
              <a:t>activities.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Existing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measures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scoring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limited</a:t>
            </a:r>
            <a:r>
              <a:rPr dirty="0" sz="1100" spc="110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in </a:t>
            </a:r>
            <a:r>
              <a:rPr dirty="0" sz="1100" b="1">
                <a:latin typeface="Calibri"/>
                <a:cs typeface="Calibri"/>
              </a:rPr>
              <a:t>their</a:t>
            </a:r>
            <a:r>
              <a:rPr dirty="0" sz="1100" spc="114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scope</a:t>
            </a:r>
            <a:r>
              <a:rPr dirty="0" sz="1100" spc="1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while</a:t>
            </a:r>
            <a:r>
              <a:rPr dirty="0" sz="1100" spc="114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incorporating</a:t>
            </a:r>
            <a:r>
              <a:rPr dirty="0" sz="1100" spc="1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socio-</a:t>
            </a:r>
            <a:r>
              <a:rPr dirty="0" sz="1100" b="1">
                <a:latin typeface="Calibri"/>
                <a:cs typeface="Calibri"/>
              </a:rPr>
              <a:t>economic</a:t>
            </a:r>
            <a:r>
              <a:rPr dirty="0" sz="1100" spc="1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measures. </a:t>
            </a:r>
            <a:r>
              <a:rPr dirty="0" sz="1100" b="1">
                <a:latin typeface="Calibri"/>
                <a:cs typeface="Calibri"/>
              </a:rPr>
              <a:t>SEUR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measure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levelling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socio-</a:t>
            </a:r>
            <a:r>
              <a:rPr dirty="0" sz="1100">
                <a:latin typeface="Calibri"/>
                <a:cs typeface="Calibri"/>
              </a:rPr>
              <a:t>economic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hierarchy.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accessible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underprivileged.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3711" y="1958339"/>
            <a:ext cx="3717290" cy="102616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46990" rIns="0" bIns="0" rtlCol="0" vert="horz">
            <a:spAutoFit/>
          </a:bodyPr>
          <a:lstStyle/>
          <a:p>
            <a:pPr algn="just" marL="91440" marR="80645">
              <a:lnSpc>
                <a:spcPct val="100000"/>
              </a:lnSpc>
              <a:spcBef>
                <a:spcPts val="370"/>
              </a:spcBef>
            </a:pPr>
            <a:r>
              <a:rPr dirty="0" sz="1200">
                <a:latin typeface="Calibri"/>
                <a:cs typeface="Calibri"/>
              </a:rPr>
              <a:t>Relative</a:t>
            </a:r>
            <a:r>
              <a:rPr dirty="0" sz="1200" spc="3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every</a:t>
            </a:r>
            <a:r>
              <a:rPr dirty="0" sz="1200" spc="3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area.</a:t>
            </a:r>
            <a:r>
              <a:rPr dirty="0" sz="1200" spc="3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Weights</a:t>
            </a:r>
            <a:r>
              <a:rPr dirty="0" sz="1200" spc="3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37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inversely </a:t>
            </a:r>
            <a:r>
              <a:rPr dirty="0" sz="1200">
                <a:latin typeface="Calibri"/>
                <a:cs typeface="Calibri"/>
              </a:rPr>
              <a:t>proportional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population.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 increases 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SEUR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minorities.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Indonesia,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ethnicities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broadly categorized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categories.</a:t>
            </a:r>
            <a:endParaRPr sz="1200">
              <a:latin typeface="Calibri"/>
              <a:cs typeface="Calibri"/>
            </a:endParaRPr>
          </a:p>
          <a:p>
            <a:pPr algn="just" marL="9144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Calculation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=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0.5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*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(1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-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minority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total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pop.)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2856" y="3221735"/>
            <a:ext cx="3693160" cy="78803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11125" rIns="0" bIns="0" rtlCol="0" vert="horz">
            <a:spAutoFit/>
          </a:bodyPr>
          <a:lstStyle/>
          <a:p>
            <a:pPr algn="just" marL="92710" marR="82550">
              <a:lnSpc>
                <a:spcPct val="100000"/>
              </a:lnSpc>
              <a:spcBef>
                <a:spcPts val="875"/>
              </a:spcBef>
            </a:pP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Necessities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is</a:t>
            </a:r>
            <a:r>
              <a:rPr dirty="0" sz="1200" spc="1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assessed</a:t>
            </a:r>
            <a:r>
              <a:rPr dirty="0" sz="1200" spc="1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by</a:t>
            </a:r>
            <a:r>
              <a:rPr dirty="0" sz="1200" spc="1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gauging</a:t>
            </a:r>
            <a:r>
              <a:rPr dirty="0" sz="1200" spc="14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the </a:t>
            </a:r>
            <a:r>
              <a:rPr dirty="0" sz="1200" b="1">
                <a:latin typeface="Calibri"/>
                <a:cs typeface="Calibri"/>
              </a:rPr>
              <a:t>individual's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ease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obtaining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essentials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food,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water, shelter,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healthcare,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education.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8952" y="4169664"/>
            <a:ext cx="3702050" cy="102425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46990" rIns="0" bIns="0" rtlCol="0" vert="horz">
            <a:spAutoFit/>
          </a:bodyPr>
          <a:lstStyle/>
          <a:p>
            <a:pPr algn="just" marL="91440" marR="81915">
              <a:lnSpc>
                <a:spcPct val="100000"/>
              </a:lnSpc>
              <a:spcBef>
                <a:spcPts val="37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derived</a:t>
            </a:r>
            <a:r>
              <a:rPr dirty="0" sz="1200" spc="23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23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24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24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responses, </a:t>
            </a:r>
            <a:r>
              <a:rPr dirty="0" sz="1200" b="1">
                <a:latin typeface="Calibri"/>
                <a:cs typeface="Calibri"/>
              </a:rPr>
              <a:t>averaging</a:t>
            </a:r>
            <a:r>
              <a:rPr dirty="0" sz="1200" spc="16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answers</a:t>
            </a:r>
            <a:r>
              <a:rPr dirty="0" sz="1200" spc="16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160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five</a:t>
            </a:r>
            <a:r>
              <a:rPr dirty="0" sz="1200" spc="16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objective</a:t>
            </a:r>
            <a:r>
              <a:rPr dirty="0" sz="1200" spc="16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(Yes</a:t>
            </a:r>
            <a:r>
              <a:rPr dirty="0" sz="1200" spc="16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or</a:t>
            </a:r>
            <a:r>
              <a:rPr dirty="0" sz="1200" spc="170" b="1">
                <a:latin typeface="Calibri"/>
                <a:cs typeface="Calibri"/>
              </a:rPr>
              <a:t>  </a:t>
            </a:r>
            <a:r>
              <a:rPr dirty="0" sz="1200" spc="-25" b="1">
                <a:latin typeface="Calibri"/>
                <a:cs typeface="Calibri"/>
              </a:rPr>
              <a:t>No) </a:t>
            </a:r>
            <a:r>
              <a:rPr dirty="0" sz="1200">
                <a:latin typeface="Calibri"/>
                <a:cs typeface="Calibri"/>
              </a:rPr>
              <a:t>questions,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with</a:t>
            </a:r>
            <a:r>
              <a:rPr dirty="0" sz="1200" spc="7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scores</a:t>
            </a:r>
            <a:r>
              <a:rPr dirty="0" sz="1200" spc="6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7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</a:t>
            </a:r>
            <a:r>
              <a:rPr dirty="0" sz="1200" spc="6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or</a:t>
            </a:r>
            <a:r>
              <a:rPr dirty="0" sz="1200" spc="7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2.</a:t>
            </a:r>
            <a:r>
              <a:rPr dirty="0" sz="1200" spc="6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lower</a:t>
            </a:r>
            <a:r>
              <a:rPr dirty="0" sz="1200" spc="7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access</a:t>
            </a:r>
            <a:r>
              <a:rPr dirty="0" sz="1200" spc="6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results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9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9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lower</a:t>
            </a:r>
            <a:r>
              <a:rPr dirty="0" sz="1200" spc="10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score</a:t>
            </a:r>
            <a:r>
              <a:rPr dirty="0" sz="1200" spc="9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higher</a:t>
            </a:r>
            <a:r>
              <a:rPr dirty="0" sz="1200" spc="10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SEUR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contributing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 </a:t>
            </a:r>
            <a:r>
              <a:rPr dirty="0" sz="1200" spc="-10" b="1">
                <a:latin typeface="Calibri"/>
                <a:cs typeface="Calibri"/>
              </a:rPr>
              <a:t>elevated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credit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rating.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58756" y="4024884"/>
            <a:ext cx="791210" cy="111760"/>
          </a:xfrm>
          <a:custGeom>
            <a:avLst/>
            <a:gdLst/>
            <a:ahLst/>
            <a:cxnLst/>
            <a:rect l="l" t="t" r="r" b="b"/>
            <a:pathLst>
              <a:path w="791209" h="111760">
                <a:moveTo>
                  <a:pt x="790955" y="0"/>
                </a:moveTo>
                <a:lnTo>
                  <a:pt x="0" y="0"/>
                </a:lnTo>
                <a:lnTo>
                  <a:pt x="347091" y="111252"/>
                </a:lnTo>
                <a:lnTo>
                  <a:pt x="790955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85888" y="2822448"/>
            <a:ext cx="200025" cy="631190"/>
          </a:xfrm>
          <a:custGeom>
            <a:avLst/>
            <a:gdLst/>
            <a:ahLst/>
            <a:cxnLst/>
            <a:rect l="l" t="t" r="r" b="b"/>
            <a:pathLst>
              <a:path w="200025" h="631189">
                <a:moveTo>
                  <a:pt x="199643" y="0"/>
                </a:moveTo>
                <a:lnTo>
                  <a:pt x="0" y="276860"/>
                </a:lnTo>
                <a:lnTo>
                  <a:pt x="199643" y="630936"/>
                </a:lnTo>
                <a:lnTo>
                  <a:pt x="19964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64780" y="1970532"/>
            <a:ext cx="536575" cy="1030605"/>
          </a:xfrm>
          <a:custGeom>
            <a:avLst/>
            <a:gdLst/>
            <a:ahLst/>
            <a:cxnLst/>
            <a:rect l="l" t="t" r="r" b="b"/>
            <a:pathLst>
              <a:path w="536575" h="1030605">
                <a:moveTo>
                  <a:pt x="536448" y="0"/>
                </a:moveTo>
                <a:lnTo>
                  <a:pt x="0" y="0"/>
                </a:lnTo>
                <a:lnTo>
                  <a:pt x="0" y="1030224"/>
                </a:lnTo>
                <a:lnTo>
                  <a:pt x="536448" y="1030224"/>
                </a:lnTo>
                <a:lnTo>
                  <a:pt x="536448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38440" y="2104836"/>
            <a:ext cx="417195" cy="795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5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MINORITY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WEIGHT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4780" y="3206495"/>
            <a:ext cx="536575" cy="1975485"/>
          </a:xfrm>
          <a:custGeom>
            <a:avLst/>
            <a:gdLst/>
            <a:ahLst/>
            <a:cxnLst/>
            <a:rect l="l" t="t" r="r" b="b"/>
            <a:pathLst>
              <a:path w="536575" h="1975485">
                <a:moveTo>
                  <a:pt x="536448" y="0"/>
                </a:moveTo>
                <a:lnTo>
                  <a:pt x="0" y="0"/>
                </a:lnTo>
                <a:lnTo>
                  <a:pt x="0" y="1975103"/>
                </a:lnTo>
                <a:lnTo>
                  <a:pt x="536448" y="1975103"/>
                </a:lnTo>
                <a:lnTo>
                  <a:pt x="536448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28406" y="3513440"/>
            <a:ext cx="417195" cy="12877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143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1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NECESSITIES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58756" y="5256276"/>
            <a:ext cx="791210" cy="127000"/>
          </a:xfrm>
          <a:custGeom>
            <a:avLst/>
            <a:gdLst/>
            <a:ahLst/>
            <a:cxnLst/>
            <a:rect l="l" t="t" r="r" b="b"/>
            <a:pathLst>
              <a:path w="791209" h="127000">
                <a:moveTo>
                  <a:pt x="790955" y="0"/>
                </a:moveTo>
                <a:lnTo>
                  <a:pt x="0" y="0"/>
                </a:lnTo>
                <a:lnTo>
                  <a:pt x="347091" y="126492"/>
                </a:lnTo>
                <a:lnTo>
                  <a:pt x="790955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54111" y="5399532"/>
            <a:ext cx="536575" cy="1092835"/>
          </a:xfrm>
          <a:custGeom>
            <a:avLst/>
            <a:gdLst/>
            <a:ahLst/>
            <a:cxnLst/>
            <a:rect l="l" t="t" r="r" b="b"/>
            <a:pathLst>
              <a:path w="536575" h="1092835">
                <a:moveTo>
                  <a:pt x="536448" y="0"/>
                </a:moveTo>
                <a:lnTo>
                  <a:pt x="0" y="0"/>
                </a:lnTo>
                <a:lnTo>
                  <a:pt x="0" y="1092708"/>
                </a:lnTo>
                <a:lnTo>
                  <a:pt x="536448" y="1092708"/>
                </a:lnTo>
                <a:lnTo>
                  <a:pt x="536448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17739" y="5655615"/>
            <a:ext cx="417195" cy="541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8415">
              <a:lnSpc>
                <a:spcPts val="1435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7616" y="5420867"/>
            <a:ext cx="3708400" cy="109156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1355"/>
              </a:lnSpc>
            </a:pPr>
            <a:r>
              <a:rPr dirty="0" sz="1200" b="1">
                <a:latin typeface="Calibri"/>
                <a:cs typeface="Calibri"/>
              </a:rPr>
              <a:t>Net</a:t>
            </a:r>
            <a:r>
              <a:rPr dirty="0" sz="1200" spc="1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Income:</a:t>
            </a:r>
            <a:r>
              <a:rPr dirty="0" sz="1200" spc="114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person’s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income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deducting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their</a:t>
            </a:r>
            <a:endParaRPr sz="12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expenses.</a:t>
            </a:r>
            <a:endParaRPr sz="1200">
              <a:latin typeface="Calibri"/>
              <a:cs typeface="Calibri"/>
            </a:endParaRPr>
          </a:p>
          <a:p>
            <a:pPr marL="92710" marR="8318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Income:</a:t>
            </a:r>
            <a:r>
              <a:rPr dirty="0" sz="1200" spc="44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person’s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income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4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all </a:t>
            </a:r>
            <a:r>
              <a:rPr dirty="0" sz="1200" spc="-10">
                <a:latin typeface="Calibri"/>
                <a:cs typeface="Calibri"/>
              </a:rPr>
              <a:t>sources.</a:t>
            </a:r>
            <a:endParaRPr sz="1200">
              <a:latin typeface="Calibri"/>
              <a:cs typeface="Calibri"/>
            </a:endParaRPr>
          </a:p>
          <a:p>
            <a:pPr marL="92710" marR="8128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Asset-to-</a:t>
            </a:r>
            <a:r>
              <a:rPr dirty="0" sz="1200" b="1">
                <a:latin typeface="Calibri"/>
                <a:cs typeface="Calibri"/>
              </a:rPr>
              <a:t>income</a:t>
            </a:r>
            <a:r>
              <a:rPr dirty="0" sz="1200" spc="1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ratio:</a:t>
            </a:r>
            <a:r>
              <a:rPr dirty="0" sz="1200" spc="155" b="1"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This</a:t>
            </a:r>
            <a:r>
              <a:rPr dirty="0" sz="1200" spc="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is</a:t>
            </a:r>
            <a:r>
              <a:rPr dirty="0" sz="1200" spc="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00" spc="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ratio</a:t>
            </a:r>
            <a:r>
              <a:rPr dirty="0" sz="1200" spc="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200" spc="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0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person's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assets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their</a:t>
            </a:r>
            <a:r>
              <a:rPr dirty="0" sz="12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income.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661" y="680973"/>
            <a:ext cx="4366895" cy="883285"/>
            <a:chOff x="89661" y="680973"/>
            <a:chExt cx="4366895" cy="883285"/>
          </a:xfrm>
        </p:grpSpPr>
        <p:sp>
          <p:nvSpPr>
            <p:cNvPr id="20" name="object 20"/>
            <p:cNvSpPr/>
            <p:nvPr/>
          </p:nvSpPr>
          <p:spPr>
            <a:xfrm>
              <a:off x="96011" y="687323"/>
              <a:ext cx="4354195" cy="870585"/>
            </a:xfrm>
            <a:custGeom>
              <a:avLst/>
              <a:gdLst/>
              <a:ahLst/>
              <a:cxnLst/>
              <a:rect l="l" t="t" r="r" b="b"/>
              <a:pathLst>
                <a:path w="4354195" h="870585">
                  <a:moveTo>
                    <a:pt x="4354068" y="0"/>
                  </a:moveTo>
                  <a:lnTo>
                    <a:pt x="0" y="0"/>
                  </a:lnTo>
                  <a:lnTo>
                    <a:pt x="0" y="870203"/>
                  </a:lnTo>
                  <a:lnTo>
                    <a:pt x="4354068" y="870203"/>
                  </a:lnTo>
                  <a:lnTo>
                    <a:pt x="435406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6011" y="687323"/>
              <a:ext cx="4354195" cy="870585"/>
            </a:xfrm>
            <a:custGeom>
              <a:avLst/>
              <a:gdLst/>
              <a:ahLst/>
              <a:cxnLst/>
              <a:rect l="l" t="t" r="r" b="b"/>
              <a:pathLst>
                <a:path w="4354195" h="870585">
                  <a:moveTo>
                    <a:pt x="0" y="870203"/>
                  </a:moveTo>
                  <a:lnTo>
                    <a:pt x="4354068" y="870203"/>
                  </a:lnTo>
                  <a:lnTo>
                    <a:pt x="4354068" y="0"/>
                  </a:lnTo>
                  <a:lnTo>
                    <a:pt x="0" y="0"/>
                  </a:lnTo>
                  <a:lnTo>
                    <a:pt x="0" y="870203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332479" y="743457"/>
            <a:ext cx="5613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Income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75507" y="956818"/>
            <a:ext cx="876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alibri"/>
                <a:cs typeface="Calibri"/>
              </a:rPr>
              <a:t>Total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Assets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3261" y="979169"/>
            <a:ext cx="3420110" cy="266065"/>
          </a:xfrm>
          <a:custGeom>
            <a:avLst/>
            <a:gdLst/>
            <a:ahLst/>
            <a:cxnLst/>
            <a:rect l="l" t="t" r="r" b="b"/>
            <a:pathLst>
              <a:path w="3420110" h="266065">
                <a:moveTo>
                  <a:pt x="2122932" y="0"/>
                </a:moveTo>
                <a:lnTo>
                  <a:pt x="3158490" y="4190"/>
                </a:lnTo>
              </a:path>
              <a:path w="3420110" h="266065">
                <a:moveTo>
                  <a:pt x="0" y="265683"/>
                </a:moveTo>
                <a:lnTo>
                  <a:pt x="3419602" y="2590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503933" y="1258062"/>
            <a:ext cx="19926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Access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to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Basic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Necessities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5839" y="581990"/>
            <a:ext cx="2212975" cy="560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(MW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+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spc="-70" b="1">
                <a:latin typeface="Calibri"/>
                <a:cs typeface="Calibri"/>
              </a:rPr>
              <a:t>EW)*</a:t>
            </a:r>
            <a:r>
              <a:rPr dirty="0" baseline="-7142" sz="5250" spc="-104">
                <a:latin typeface="Calibri"/>
                <a:cs typeface="Calibri"/>
              </a:rPr>
              <a:t>[</a:t>
            </a:r>
            <a:r>
              <a:rPr dirty="0" sz="1400" spc="-70">
                <a:latin typeface="Calibri"/>
                <a:cs typeface="Calibri"/>
              </a:rPr>
              <a:t>Net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Income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*</a:t>
            </a:r>
            <a:r>
              <a:rPr dirty="0" sz="1400" spc="-155" b="1">
                <a:latin typeface="Calibri"/>
                <a:cs typeface="Calibri"/>
              </a:rPr>
              <a:t> </a:t>
            </a:r>
            <a:r>
              <a:rPr dirty="0" baseline="-7936" sz="5250" spc="-75">
                <a:latin typeface="Calibri"/>
                <a:cs typeface="Calibri"/>
              </a:rPr>
              <a:t>(</a:t>
            </a:r>
            <a:endParaRPr baseline="-7936" sz="5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37457" y="654253"/>
            <a:ext cx="257175" cy="560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 spc="-140">
                <a:latin typeface="Calibri"/>
                <a:cs typeface="Calibri"/>
              </a:rPr>
              <a:t>)</a:t>
            </a:r>
            <a:r>
              <a:rPr dirty="0" sz="3500" spc="-140">
                <a:latin typeface="Calibri"/>
                <a:cs typeface="Calibri"/>
              </a:rPr>
              <a:t>]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8772" y="1058417"/>
            <a:ext cx="687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SEUR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64780" y="640080"/>
            <a:ext cx="536575" cy="1112520"/>
          </a:xfrm>
          <a:custGeom>
            <a:avLst/>
            <a:gdLst/>
            <a:ahLst/>
            <a:cxnLst/>
            <a:rect l="l" t="t" r="r" b="b"/>
            <a:pathLst>
              <a:path w="536575" h="1112520">
                <a:moveTo>
                  <a:pt x="536448" y="0"/>
                </a:moveTo>
                <a:lnTo>
                  <a:pt x="0" y="0"/>
                </a:lnTo>
                <a:lnTo>
                  <a:pt x="0" y="1112520"/>
                </a:lnTo>
                <a:lnTo>
                  <a:pt x="536448" y="1112520"/>
                </a:lnTo>
                <a:lnTo>
                  <a:pt x="536448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843901" y="762162"/>
            <a:ext cx="417195" cy="8578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1435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ECONOMIC</a:t>
            </a:r>
            <a:endParaRPr sz="14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WEIGHT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834371" y="3031235"/>
            <a:ext cx="791210" cy="111760"/>
          </a:xfrm>
          <a:custGeom>
            <a:avLst/>
            <a:gdLst/>
            <a:ahLst/>
            <a:cxnLst/>
            <a:rect l="l" t="t" r="r" b="b"/>
            <a:pathLst>
              <a:path w="791209" h="111760">
                <a:moveTo>
                  <a:pt x="790955" y="0"/>
                </a:moveTo>
                <a:lnTo>
                  <a:pt x="0" y="0"/>
                </a:lnTo>
                <a:lnTo>
                  <a:pt x="347091" y="111251"/>
                </a:lnTo>
                <a:lnTo>
                  <a:pt x="790955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834371" y="1802892"/>
            <a:ext cx="791210" cy="111760"/>
          </a:xfrm>
          <a:custGeom>
            <a:avLst/>
            <a:gdLst/>
            <a:ahLst/>
            <a:cxnLst/>
            <a:rect l="l" t="t" r="r" b="b"/>
            <a:pathLst>
              <a:path w="791209" h="111760">
                <a:moveTo>
                  <a:pt x="790955" y="0"/>
                </a:moveTo>
                <a:lnTo>
                  <a:pt x="0" y="0"/>
                </a:lnTo>
                <a:lnTo>
                  <a:pt x="347091" y="111252"/>
                </a:lnTo>
                <a:lnTo>
                  <a:pt x="790955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202692" y="871726"/>
            <a:ext cx="7263765" cy="5986780"/>
            <a:chOff x="202692" y="871726"/>
            <a:chExt cx="7263765" cy="598678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1876" y="871726"/>
              <a:ext cx="3124200" cy="598627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1297" y="4322826"/>
              <a:ext cx="76200" cy="17843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02692" y="2592324"/>
              <a:ext cx="2155190" cy="1725295"/>
            </a:xfrm>
            <a:custGeom>
              <a:avLst/>
              <a:gdLst/>
              <a:ahLst/>
              <a:cxnLst/>
              <a:rect l="l" t="t" r="r" b="b"/>
              <a:pathLst>
                <a:path w="2155190" h="1725295">
                  <a:moveTo>
                    <a:pt x="2154936" y="0"/>
                  </a:moveTo>
                  <a:lnTo>
                    <a:pt x="0" y="0"/>
                  </a:lnTo>
                  <a:lnTo>
                    <a:pt x="0" y="1725168"/>
                  </a:lnTo>
                  <a:lnTo>
                    <a:pt x="2154936" y="1725168"/>
                  </a:lnTo>
                  <a:lnTo>
                    <a:pt x="215493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96875" y="3731132"/>
            <a:ext cx="732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ABN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1.6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=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6875" y="4096892"/>
            <a:ext cx="9537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SEUR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=</a:t>
            </a:r>
            <a:r>
              <a:rPr dirty="0" sz="1200" spc="-10" b="1">
                <a:latin typeface="Calibri"/>
                <a:cs typeface="Calibri"/>
              </a:rPr>
              <a:t> 39.40%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50441" y="2258948"/>
            <a:ext cx="3257550" cy="1130935"/>
            <a:chOff x="1250441" y="2258948"/>
            <a:chExt cx="3257550" cy="1130935"/>
          </a:xfrm>
        </p:grpSpPr>
        <p:sp>
          <p:nvSpPr>
            <p:cNvPr id="40" name="object 40"/>
            <p:cNvSpPr/>
            <p:nvPr/>
          </p:nvSpPr>
          <p:spPr>
            <a:xfrm>
              <a:off x="2737103" y="2622803"/>
              <a:ext cx="1771014" cy="767080"/>
            </a:xfrm>
            <a:custGeom>
              <a:avLst/>
              <a:gdLst/>
              <a:ahLst/>
              <a:cxnLst/>
              <a:rect l="l" t="t" r="r" b="b"/>
              <a:pathLst>
                <a:path w="1771014" h="767079">
                  <a:moveTo>
                    <a:pt x="1770888" y="0"/>
                  </a:moveTo>
                  <a:lnTo>
                    <a:pt x="0" y="0"/>
                  </a:lnTo>
                  <a:lnTo>
                    <a:pt x="0" y="766572"/>
                  </a:lnTo>
                  <a:lnTo>
                    <a:pt x="1770888" y="766572"/>
                  </a:lnTo>
                  <a:lnTo>
                    <a:pt x="177088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2552" y="2807207"/>
              <a:ext cx="419100" cy="41147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82445" y="2268473"/>
              <a:ext cx="2316480" cy="0"/>
            </a:xfrm>
            <a:custGeom>
              <a:avLst/>
              <a:gdLst/>
              <a:ahLst/>
              <a:cxnLst/>
              <a:rect l="l" t="t" r="r" b="b"/>
              <a:pathLst>
                <a:path w="2316479" h="0">
                  <a:moveTo>
                    <a:pt x="0" y="0"/>
                  </a:moveTo>
                  <a:lnTo>
                    <a:pt x="162306" y="0"/>
                  </a:lnTo>
                </a:path>
                <a:path w="2316479" h="0">
                  <a:moveTo>
                    <a:pt x="2151126" y="0"/>
                  </a:moveTo>
                  <a:lnTo>
                    <a:pt x="231622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0825" y="2268473"/>
              <a:ext cx="76200" cy="24511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441" y="2268473"/>
              <a:ext cx="76200" cy="24511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54508" y="4498847"/>
            <a:ext cx="4117975" cy="53975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78105" rIns="0" bIns="0" rtlCol="0" vert="horz">
            <a:spAutoFit/>
          </a:bodyPr>
          <a:lstStyle/>
          <a:p>
            <a:pPr marL="297815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socio-economic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background 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applicant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is</a:t>
            </a:r>
            <a:endParaRPr sz="1200">
              <a:latin typeface="Calibri"/>
              <a:cs typeface="Calibri"/>
            </a:endParaRPr>
          </a:p>
          <a:p>
            <a:pPr marL="29781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considered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factor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while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evaluating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credit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score.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37104" y="2622804"/>
            <a:ext cx="1771014" cy="76708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700405" marR="36830">
              <a:lnSpc>
                <a:spcPct val="100000"/>
              </a:lnSpc>
              <a:spcBef>
                <a:spcPts val="25"/>
              </a:spcBef>
            </a:pPr>
            <a:r>
              <a:rPr dirty="0" sz="1200" b="1">
                <a:latin typeface="Calibri"/>
                <a:cs typeface="Calibri"/>
              </a:rPr>
              <a:t>No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provision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for </a:t>
            </a:r>
            <a:r>
              <a:rPr dirty="0" sz="1200" spc="-10" b="1">
                <a:latin typeface="Calibri"/>
                <a:cs typeface="Calibri"/>
              </a:rPr>
              <a:t>evaluation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of </a:t>
            </a:r>
            <a:r>
              <a:rPr dirty="0" sz="1200" spc="-10" b="1">
                <a:latin typeface="Calibri"/>
                <a:cs typeface="Calibri"/>
              </a:rPr>
              <a:t>socio-economic background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24911" y="3564635"/>
            <a:ext cx="1772920" cy="49847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57785" rIns="0" bIns="0" rtlCol="0" vert="horz">
            <a:spAutoFit/>
          </a:bodyPr>
          <a:lstStyle/>
          <a:p>
            <a:pPr marL="717550" marR="167640" indent="-544195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latin typeface="Calibri"/>
                <a:cs typeface="Calibri"/>
              </a:rPr>
              <a:t>No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effect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credit </a:t>
            </a:r>
            <a:r>
              <a:rPr dirty="0" sz="1200" spc="-20" b="1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6875" y="2633598"/>
            <a:ext cx="1986914" cy="119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MW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0.5*(1-</a:t>
            </a:r>
            <a:r>
              <a:rPr dirty="0" sz="1200">
                <a:latin typeface="Calibri"/>
                <a:cs typeface="Calibri"/>
              </a:rPr>
              <a:t>0.0743) =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0.46285 </a:t>
            </a:r>
            <a:r>
              <a:rPr dirty="0" sz="1200">
                <a:latin typeface="Calibri"/>
                <a:cs typeface="Calibri"/>
              </a:rPr>
              <a:t>EW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 </a:t>
            </a:r>
            <a:r>
              <a:rPr dirty="0" sz="1200" spc="-25">
                <a:latin typeface="Calibri"/>
                <a:cs typeface="Calibri"/>
              </a:rPr>
              <a:t>0.8</a:t>
            </a:r>
            <a:endParaRPr sz="1200">
              <a:latin typeface="Calibri"/>
              <a:cs typeface="Calibri"/>
            </a:endParaRPr>
          </a:p>
          <a:p>
            <a:pPr marR="67627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Net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6,000 </a:t>
            </a:r>
            <a:r>
              <a:rPr dirty="0" sz="1200">
                <a:latin typeface="Calibri"/>
                <a:cs typeface="Calibri"/>
              </a:rPr>
              <a:t>Income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13,000 </a:t>
            </a:r>
            <a:r>
              <a:rPr dirty="0" sz="1200" spc="-20">
                <a:latin typeface="Calibri"/>
                <a:cs typeface="Calibri"/>
              </a:rPr>
              <a:t>Total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Assets 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25,000</a:t>
            </a:r>
            <a:endParaRPr sz="1200">
              <a:latin typeface="Calibri"/>
              <a:cs typeface="Calibri"/>
            </a:endParaRPr>
          </a:p>
          <a:p>
            <a:pPr marL="814705">
              <a:lnSpc>
                <a:spcPct val="100000"/>
              </a:lnSpc>
              <a:spcBef>
                <a:spcPts val="530"/>
              </a:spcBef>
            </a:pP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[(2*3)+(1*2)]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80438" y="3798570"/>
            <a:ext cx="9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91084" y="1620011"/>
            <a:ext cx="2470785" cy="4692650"/>
            <a:chOff x="291084" y="1620011"/>
            <a:chExt cx="2470785" cy="4692650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8923" y="1620011"/>
              <a:ext cx="702563" cy="69342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91084" y="5199888"/>
              <a:ext cx="422275" cy="1112520"/>
            </a:xfrm>
            <a:custGeom>
              <a:avLst/>
              <a:gdLst/>
              <a:ahLst/>
              <a:cxnLst/>
              <a:rect l="l" t="t" r="r" b="b"/>
              <a:pathLst>
                <a:path w="422275" h="1112520">
                  <a:moveTo>
                    <a:pt x="422148" y="0"/>
                  </a:moveTo>
                  <a:lnTo>
                    <a:pt x="0" y="0"/>
                  </a:lnTo>
                  <a:lnTo>
                    <a:pt x="0" y="1112520"/>
                  </a:lnTo>
                  <a:lnTo>
                    <a:pt x="422148" y="1112520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2860294" y="2259838"/>
            <a:ext cx="47498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latin typeface="Calibri"/>
                <a:cs typeface="Calibri"/>
              </a:rPr>
              <a:t>Existing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86611" y="2240026"/>
            <a:ext cx="33020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 b="1">
                <a:latin typeface="Calibri"/>
                <a:cs typeface="Calibri"/>
              </a:rPr>
              <a:t>SEUR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363711" y="641604"/>
            <a:ext cx="3717290" cy="112522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13335" rIns="0" bIns="0" rtlCol="0" vert="horz">
            <a:spAutoFit/>
          </a:bodyPr>
          <a:lstStyle/>
          <a:p>
            <a:pPr marL="105410" marR="261620">
              <a:lnSpc>
                <a:spcPct val="100000"/>
              </a:lnSpc>
              <a:spcBef>
                <a:spcPts val="105"/>
              </a:spcBef>
              <a:tabLst>
                <a:tab pos="663575" algn="l"/>
                <a:tab pos="957580" algn="l"/>
                <a:tab pos="1162050" algn="l"/>
                <a:tab pos="1861185" algn="l"/>
                <a:tab pos="2185670" algn="l"/>
                <a:tab pos="2449830" algn="l"/>
                <a:tab pos="2698115" algn="l"/>
                <a:tab pos="3317240" algn="l"/>
              </a:tabLst>
            </a:pPr>
            <a:r>
              <a:rPr dirty="0" sz="1200" spc="-10" b="1">
                <a:latin typeface="Calibri"/>
                <a:cs typeface="Calibri"/>
              </a:rPr>
              <a:t>Scored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25" b="1">
                <a:latin typeface="Calibri"/>
                <a:cs typeface="Calibri"/>
              </a:rPr>
              <a:t>on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50" b="1">
                <a:latin typeface="Calibri"/>
                <a:cs typeface="Calibri"/>
              </a:rPr>
              <a:t>a</a:t>
            </a:r>
            <a:r>
              <a:rPr dirty="0" sz="1200" b="1">
                <a:latin typeface="Calibri"/>
                <a:cs typeface="Calibri"/>
              </a:rPr>
              <a:t>	scale</a:t>
            </a:r>
            <a:r>
              <a:rPr dirty="0" sz="1200" spc="210" b="1">
                <a:latin typeface="Calibri"/>
                <a:cs typeface="Calibri"/>
              </a:rPr>
              <a:t>  </a:t>
            </a:r>
            <a:r>
              <a:rPr dirty="0" sz="1200" spc="-25" b="1">
                <a:latin typeface="Calibri"/>
                <a:cs typeface="Calibri"/>
              </a:rPr>
              <a:t>of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25" b="1">
                <a:latin typeface="Calibri"/>
                <a:cs typeface="Calibri"/>
              </a:rPr>
              <a:t>0.5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25" b="1">
                <a:latin typeface="Calibri"/>
                <a:cs typeface="Calibri"/>
              </a:rPr>
              <a:t>to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25" b="1">
                <a:latin typeface="Calibri"/>
                <a:cs typeface="Calibri"/>
              </a:rPr>
              <a:t>1.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Relative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income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area.</a:t>
            </a:r>
            <a:endParaRPr sz="1200">
              <a:latin typeface="Calibri"/>
              <a:cs typeface="Calibri"/>
            </a:endParaRPr>
          </a:p>
          <a:p>
            <a:pPr marL="278765" indent="-173355">
              <a:lnSpc>
                <a:spcPct val="100000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200" b="1">
                <a:latin typeface="Calibri"/>
                <a:cs typeface="Calibri"/>
              </a:rPr>
              <a:t>Rich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 </a:t>
            </a:r>
            <a:r>
              <a:rPr dirty="0" sz="1200" spc="-10" b="1">
                <a:latin typeface="Calibri"/>
                <a:cs typeface="Calibri"/>
              </a:rPr>
              <a:t>upper-</a:t>
            </a:r>
            <a:r>
              <a:rPr dirty="0" sz="1200" b="1">
                <a:latin typeface="Calibri"/>
                <a:cs typeface="Calibri"/>
              </a:rPr>
              <a:t>middle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class: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0.5</a:t>
            </a:r>
            <a:endParaRPr sz="1200">
              <a:latin typeface="Calibri"/>
              <a:cs typeface="Calibri"/>
            </a:endParaRPr>
          </a:p>
          <a:p>
            <a:pPr marL="278765" indent="-173355">
              <a:lnSpc>
                <a:spcPct val="100000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200" spc="-10" b="1">
                <a:latin typeface="Calibri"/>
                <a:cs typeface="Calibri"/>
              </a:rPr>
              <a:t>Middle-</a:t>
            </a:r>
            <a:r>
              <a:rPr dirty="0" sz="1200" b="1">
                <a:latin typeface="Calibri"/>
                <a:cs typeface="Calibri"/>
              </a:rPr>
              <a:t>class: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0.7</a:t>
            </a:r>
            <a:endParaRPr sz="1200">
              <a:latin typeface="Calibri"/>
              <a:cs typeface="Calibri"/>
            </a:endParaRPr>
          </a:p>
          <a:p>
            <a:pPr marL="278765" indent="-173355">
              <a:lnSpc>
                <a:spcPct val="100000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200" spc="-10" b="1">
                <a:latin typeface="Calibri"/>
                <a:cs typeface="Calibri"/>
              </a:rPr>
              <a:t>Lower-</a:t>
            </a:r>
            <a:r>
              <a:rPr dirty="0" sz="1200" b="1">
                <a:latin typeface="Calibri"/>
                <a:cs typeface="Calibri"/>
              </a:rPr>
              <a:t>middle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class:</a:t>
            </a:r>
            <a:r>
              <a:rPr dirty="0" sz="1200" spc="-25" b="1">
                <a:latin typeface="Calibri"/>
                <a:cs typeface="Calibri"/>
              </a:rPr>
              <a:t> 0.8</a:t>
            </a:r>
            <a:endParaRPr sz="1200">
              <a:latin typeface="Calibri"/>
              <a:cs typeface="Calibri"/>
            </a:endParaRPr>
          </a:p>
          <a:p>
            <a:pPr marL="278765" indent="-173355">
              <a:lnSpc>
                <a:spcPct val="100000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200" b="1">
                <a:latin typeface="Calibri"/>
                <a:cs typeface="Calibri"/>
              </a:rPr>
              <a:t>BPL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Usually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Poor: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0.9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6" name="object 56" descr="Global Microfinance Case Competition (GMCC) — Melbourne Microfinance  Initiative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68683" y="47244"/>
            <a:ext cx="499872" cy="501395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05485" y="5309084"/>
            <a:ext cx="177800" cy="86614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5083" y="6576161"/>
            <a:ext cx="366902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  <a:tab pos="2441575" algn="l"/>
              </a:tabLst>
            </a:pPr>
            <a:r>
              <a:rPr dirty="0" sz="1400" spc="-10" b="1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r>
              <a:rPr dirty="0" sz="1400" b="1">
                <a:solidFill>
                  <a:srgbClr val="A4A4A4"/>
                </a:solidFill>
                <a:latin typeface="Calibri"/>
                <a:cs typeface="Calibri"/>
              </a:rPr>
              <a:t>	</a:t>
            </a:r>
            <a:r>
              <a:rPr dirty="0" baseline="1984" sz="2100" spc="-15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r>
              <a:rPr dirty="0" baseline="1984" sz="210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1400" b="1">
                <a:solidFill>
                  <a:srgbClr val="385622"/>
                </a:solidFill>
                <a:latin typeface="Calibri"/>
                <a:cs typeface="Calibri"/>
              </a:rPr>
              <a:t>CREDIT</a:t>
            </a:r>
            <a:r>
              <a:rPr dirty="0" sz="1400" spc="-50" b="1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62" name="object 62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948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39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7670038" y="6576161"/>
            <a:ext cx="25888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5235" algn="l"/>
              </a:tabLst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9918" y="1266444"/>
            <a:ext cx="2548255" cy="3299460"/>
            <a:chOff x="109918" y="1266444"/>
            <a:chExt cx="2548255" cy="3299460"/>
          </a:xfrm>
        </p:grpSpPr>
        <p:sp>
          <p:nvSpPr>
            <p:cNvPr id="4" name="object 4"/>
            <p:cNvSpPr/>
            <p:nvPr/>
          </p:nvSpPr>
          <p:spPr>
            <a:xfrm>
              <a:off x="922019" y="2193036"/>
              <a:ext cx="368935" cy="2317115"/>
            </a:xfrm>
            <a:custGeom>
              <a:avLst/>
              <a:gdLst/>
              <a:ahLst/>
              <a:cxnLst/>
              <a:rect l="l" t="t" r="r" b="b"/>
              <a:pathLst>
                <a:path w="368934" h="2317115">
                  <a:moveTo>
                    <a:pt x="0" y="1159764"/>
                  </a:moveTo>
                  <a:lnTo>
                    <a:pt x="152450" y="1159764"/>
                  </a:lnTo>
                </a:path>
                <a:path w="368934" h="2317115">
                  <a:moveTo>
                    <a:pt x="152400" y="0"/>
                  </a:moveTo>
                  <a:lnTo>
                    <a:pt x="152400" y="2317115"/>
                  </a:lnTo>
                </a:path>
                <a:path w="368934" h="2317115">
                  <a:moveTo>
                    <a:pt x="152400" y="12191"/>
                  </a:moveTo>
                  <a:lnTo>
                    <a:pt x="368427" y="12191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79493" y="4508754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70">
                  <a:moveTo>
                    <a:pt x="0" y="0"/>
                  </a:moveTo>
                  <a:lnTo>
                    <a:pt x="0" y="13716"/>
                  </a:lnTo>
                </a:path>
              </a:pathLst>
            </a:custGeom>
            <a:ln w="13525">
              <a:solidFill>
                <a:srgbClr val="DEC6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99972" y="1266444"/>
              <a:ext cx="1358265" cy="1984375"/>
            </a:xfrm>
            <a:custGeom>
              <a:avLst/>
              <a:gdLst/>
              <a:ahLst/>
              <a:cxnLst/>
              <a:rect l="l" t="t" r="r" b="b"/>
              <a:pathLst>
                <a:path w="1358264" h="1984375">
                  <a:moveTo>
                    <a:pt x="1357884" y="0"/>
                  </a:moveTo>
                  <a:lnTo>
                    <a:pt x="0" y="0"/>
                  </a:lnTo>
                  <a:lnTo>
                    <a:pt x="0" y="1984248"/>
                  </a:lnTo>
                  <a:lnTo>
                    <a:pt x="1357884" y="1984248"/>
                  </a:lnTo>
                  <a:lnTo>
                    <a:pt x="1357884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4205" y="2198369"/>
              <a:ext cx="779145" cy="2353310"/>
            </a:xfrm>
            <a:custGeom>
              <a:avLst/>
              <a:gdLst/>
              <a:ahLst/>
              <a:cxnLst/>
              <a:rect l="l" t="t" r="r" b="b"/>
              <a:pathLst>
                <a:path w="779144" h="2353310">
                  <a:moveTo>
                    <a:pt x="778763" y="0"/>
                  </a:moveTo>
                  <a:lnTo>
                    <a:pt x="0" y="0"/>
                  </a:lnTo>
                  <a:lnTo>
                    <a:pt x="0" y="2353055"/>
                  </a:lnTo>
                  <a:lnTo>
                    <a:pt x="778763" y="2353055"/>
                  </a:lnTo>
                  <a:lnTo>
                    <a:pt x="778763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4205" y="2198369"/>
              <a:ext cx="779145" cy="2353310"/>
            </a:xfrm>
            <a:custGeom>
              <a:avLst/>
              <a:gdLst/>
              <a:ahLst/>
              <a:cxnLst/>
              <a:rect l="l" t="t" r="r" b="b"/>
              <a:pathLst>
                <a:path w="779144" h="2353310">
                  <a:moveTo>
                    <a:pt x="0" y="2353055"/>
                  </a:moveTo>
                  <a:lnTo>
                    <a:pt x="778763" y="2353055"/>
                  </a:lnTo>
                  <a:lnTo>
                    <a:pt x="778763" y="0"/>
                  </a:lnTo>
                  <a:lnTo>
                    <a:pt x="0" y="0"/>
                  </a:lnTo>
                  <a:lnTo>
                    <a:pt x="0" y="2353055"/>
                  </a:lnTo>
                  <a:close/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48132" y="2792575"/>
            <a:ext cx="528955" cy="11677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1810"/>
              </a:lnSpc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endParaRPr sz="18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Ratings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1372" y="4514088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6789" y="0"/>
                </a:lnTo>
              </a:path>
            </a:pathLst>
          </a:custGeom>
          <a:ln w="1270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99972" y="1266444"/>
            <a:ext cx="1358265" cy="1984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3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3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46248" y="771144"/>
            <a:ext cx="5145405" cy="2479675"/>
            <a:chOff x="2746248" y="771144"/>
            <a:chExt cx="5145405" cy="2479675"/>
          </a:xfrm>
        </p:grpSpPr>
        <p:sp>
          <p:nvSpPr>
            <p:cNvPr id="13" name="object 13"/>
            <p:cNvSpPr/>
            <p:nvPr/>
          </p:nvSpPr>
          <p:spPr>
            <a:xfrm>
              <a:off x="2746248" y="1266444"/>
              <a:ext cx="3390900" cy="1984375"/>
            </a:xfrm>
            <a:custGeom>
              <a:avLst/>
              <a:gdLst/>
              <a:ahLst/>
              <a:cxnLst/>
              <a:rect l="l" t="t" r="r" b="b"/>
              <a:pathLst>
                <a:path w="3390900" h="1984375">
                  <a:moveTo>
                    <a:pt x="3390900" y="0"/>
                  </a:moveTo>
                  <a:lnTo>
                    <a:pt x="0" y="0"/>
                  </a:lnTo>
                  <a:lnTo>
                    <a:pt x="0" y="1984248"/>
                  </a:lnTo>
                  <a:lnTo>
                    <a:pt x="3390900" y="1984248"/>
                  </a:lnTo>
                  <a:lnTo>
                    <a:pt x="339090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44768" y="1380744"/>
              <a:ext cx="253365" cy="1774189"/>
            </a:xfrm>
            <a:custGeom>
              <a:avLst/>
              <a:gdLst/>
              <a:ahLst/>
              <a:cxnLst/>
              <a:rect l="l" t="t" r="r" b="b"/>
              <a:pathLst>
                <a:path w="253364" h="1774189">
                  <a:moveTo>
                    <a:pt x="0" y="835151"/>
                  </a:moveTo>
                  <a:lnTo>
                    <a:pt x="125349" y="835151"/>
                  </a:lnTo>
                </a:path>
                <a:path w="253364" h="1774189">
                  <a:moveTo>
                    <a:pt x="126492" y="1771903"/>
                  </a:moveTo>
                  <a:lnTo>
                    <a:pt x="126492" y="0"/>
                  </a:lnTo>
                </a:path>
                <a:path w="253364" h="1774189">
                  <a:moveTo>
                    <a:pt x="124968" y="6095"/>
                  </a:moveTo>
                  <a:lnTo>
                    <a:pt x="250317" y="6095"/>
                  </a:lnTo>
                </a:path>
                <a:path w="253364" h="1774189">
                  <a:moveTo>
                    <a:pt x="128016" y="1773935"/>
                  </a:moveTo>
                  <a:lnTo>
                    <a:pt x="253365" y="1773935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402324" y="771144"/>
              <a:ext cx="1489075" cy="1231900"/>
            </a:xfrm>
            <a:custGeom>
              <a:avLst/>
              <a:gdLst/>
              <a:ahLst/>
              <a:cxnLst/>
              <a:rect l="l" t="t" r="r" b="b"/>
              <a:pathLst>
                <a:path w="1489075" h="1231900">
                  <a:moveTo>
                    <a:pt x="1488948" y="0"/>
                  </a:moveTo>
                  <a:lnTo>
                    <a:pt x="0" y="0"/>
                  </a:lnTo>
                  <a:lnTo>
                    <a:pt x="0" y="1231391"/>
                  </a:lnTo>
                  <a:lnTo>
                    <a:pt x="1488948" y="1231391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402323" y="771144"/>
            <a:ext cx="1489075" cy="1231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20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dirty="0" sz="12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76616" y="774191"/>
            <a:ext cx="1892935" cy="1231900"/>
          </a:xfrm>
          <a:custGeom>
            <a:avLst/>
            <a:gdLst/>
            <a:ahLst/>
            <a:cxnLst/>
            <a:rect l="l" t="t" r="r" b="b"/>
            <a:pathLst>
              <a:path w="1892934" h="1231900">
                <a:moveTo>
                  <a:pt x="1892807" y="0"/>
                </a:moveTo>
                <a:lnTo>
                  <a:pt x="0" y="0"/>
                </a:lnTo>
                <a:lnTo>
                  <a:pt x="0" y="1231391"/>
                </a:lnTo>
                <a:lnTo>
                  <a:pt x="1892807" y="1231391"/>
                </a:lnTo>
                <a:lnTo>
                  <a:pt x="1892807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954768" y="771144"/>
            <a:ext cx="1892935" cy="1231900"/>
          </a:xfrm>
          <a:custGeom>
            <a:avLst/>
            <a:gdLst/>
            <a:ahLst/>
            <a:cxnLst/>
            <a:rect l="l" t="t" r="r" b="b"/>
            <a:pathLst>
              <a:path w="1892934" h="1231900">
                <a:moveTo>
                  <a:pt x="1892807" y="0"/>
                </a:moveTo>
                <a:lnTo>
                  <a:pt x="0" y="0"/>
                </a:lnTo>
                <a:lnTo>
                  <a:pt x="0" y="1231391"/>
                </a:lnTo>
                <a:lnTo>
                  <a:pt x="1892807" y="1231391"/>
                </a:lnTo>
                <a:lnTo>
                  <a:pt x="1892807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1286255" y="1757172"/>
            <a:ext cx="1358265" cy="3792220"/>
            <a:chOff x="1286255" y="1757172"/>
            <a:chExt cx="1358265" cy="3792220"/>
          </a:xfrm>
        </p:grpSpPr>
        <p:pic>
          <p:nvPicPr>
            <p:cNvPr id="20" name="object 20" descr="Low price 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4019" y="1757172"/>
              <a:ext cx="641604" cy="64160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86255" y="3564636"/>
              <a:ext cx="1358265" cy="1984375"/>
            </a:xfrm>
            <a:custGeom>
              <a:avLst/>
              <a:gdLst/>
              <a:ahLst/>
              <a:cxnLst/>
              <a:rect l="l" t="t" r="r" b="b"/>
              <a:pathLst>
                <a:path w="1358264" h="1984375">
                  <a:moveTo>
                    <a:pt x="1357883" y="0"/>
                  </a:moveTo>
                  <a:lnTo>
                    <a:pt x="0" y="0"/>
                  </a:lnTo>
                  <a:lnTo>
                    <a:pt x="0" y="1984248"/>
                  </a:lnTo>
                  <a:lnTo>
                    <a:pt x="1357883" y="1984248"/>
                  </a:lnTo>
                  <a:lnTo>
                    <a:pt x="135788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Increase 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223" y="3933444"/>
              <a:ext cx="1117091" cy="812292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6402323" y="2476500"/>
            <a:ext cx="1489075" cy="1231900"/>
          </a:xfrm>
          <a:custGeom>
            <a:avLst/>
            <a:gdLst/>
            <a:ahLst/>
            <a:cxnLst/>
            <a:rect l="l" t="t" r="r" b="b"/>
            <a:pathLst>
              <a:path w="1489075" h="1231900">
                <a:moveTo>
                  <a:pt x="1488948" y="0"/>
                </a:moveTo>
                <a:lnTo>
                  <a:pt x="0" y="0"/>
                </a:lnTo>
                <a:lnTo>
                  <a:pt x="0" y="1231392"/>
                </a:lnTo>
                <a:lnTo>
                  <a:pt x="1488948" y="1231392"/>
                </a:lnTo>
                <a:lnTo>
                  <a:pt x="1488948" y="0"/>
                </a:lnTo>
                <a:close/>
              </a:path>
            </a:pathLst>
          </a:custGeom>
          <a:solidFill>
            <a:srgbClr val="87AA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402323" y="2476500"/>
            <a:ext cx="1489075" cy="1231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Borrowing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76616" y="2473451"/>
            <a:ext cx="1892935" cy="1231900"/>
          </a:xfrm>
          <a:custGeom>
            <a:avLst/>
            <a:gdLst/>
            <a:ahLst/>
            <a:cxnLst/>
            <a:rect l="l" t="t" r="r" b="b"/>
            <a:pathLst>
              <a:path w="1892934" h="1231900">
                <a:moveTo>
                  <a:pt x="1892807" y="0"/>
                </a:moveTo>
                <a:lnTo>
                  <a:pt x="0" y="0"/>
                </a:lnTo>
                <a:lnTo>
                  <a:pt x="0" y="1231392"/>
                </a:lnTo>
                <a:lnTo>
                  <a:pt x="1892807" y="1231392"/>
                </a:lnTo>
                <a:lnTo>
                  <a:pt x="1892807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954768" y="2473451"/>
            <a:ext cx="1892935" cy="1231900"/>
          </a:xfrm>
          <a:custGeom>
            <a:avLst/>
            <a:gdLst/>
            <a:ahLst/>
            <a:cxnLst/>
            <a:rect l="l" t="t" r="r" b="b"/>
            <a:pathLst>
              <a:path w="1892934" h="1231900">
                <a:moveTo>
                  <a:pt x="1892807" y="0"/>
                </a:moveTo>
                <a:lnTo>
                  <a:pt x="0" y="0"/>
                </a:lnTo>
                <a:lnTo>
                  <a:pt x="0" y="1231392"/>
                </a:lnTo>
                <a:lnTo>
                  <a:pt x="1892807" y="1231392"/>
                </a:lnTo>
                <a:lnTo>
                  <a:pt x="1892807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2732532" y="1010411"/>
            <a:ext cx="4820920" cy="4538980"/>
            <a:chOff x="2732532" y="1010411"/>
            <a:chExt cx="4820920" cy="4538980"/>
          </a:xfrm>
        </p:grpSpPr>
        <p:pic>
          <p:nvPicPr>
            <p:cNvPr id="28" name="object 28" descr="Peer to peer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5035" y="1010411"/>
              <a:ext cx="711707" cy="711708"/>
            </a:xfrm>
            <a:prstGeom prst="rect">
              <a:avLst/>
            </a:prstGeom>
          </p:spPr>
        </p:pic>
        <p:pic>
          <p:nvPicPr>
            <p:cNvPr id="29" name="object 29" descr="Loan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0652" y="2624327"/>
              <a:ext cx="812292" cy="81229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32532" y="3564635"/>
              <a:ext cx="3392804" cy="1984375"/>
            </a:xfrm>
            <a:custGeom>
              <a:avLst/>
              <a:gdLst/>
              <a:ahLst/>
              <a:cxnLst/>
              <a:rect l="l" t="t" r="r" b="b"/>
              <a:pathLst>
                <a:path w="3392804" h="1984375">
                  <a:moveTo>
                    <a:pt x="3392424" y="0"/>
                  </a:moveTo>
                  <a:lnTo>
                    <a:pt x="0" y="0"/>
                  </a:lnTo>
                  <a:lnTo>
                    <a:pt x="0" y="1984248"/>
                  </a:lnTo>
                  <a:lnTo>
                    <a:pt x="3392424" y="1984248"/>
                  </a:lnTo>
                  <a:lnTo>
                    <a:pt x="339242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Woman 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2448" y="1563623"/>
              <a:ext cx="1082039" cy="1082039"/>
            </a:xfrm>
            <a:prstGeom prst="rect">
              <a:avLst/>
            </a:prstGeom>
          </p:spPr>
        </p:pic>
        <p:pic>
          <p:nvPicPr>
            <p:cNvPr id="32" name="object 32" descr="Man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2448" y="3867911"/>
              <a:ext cx="1065276" cy="106375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286255" y="3564635"/>
            <a:ext cx="1358265" cy="1984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3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3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46248" y="1266444"/>
            <a:ext cx="3390900" cy="198437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32535">
              <a:lnSpc>
                <a:spcPct val="100000"/>
              </a:lnSpc>
              <a:spcBef>
                <a:spcPts val="1175"/>
              </a:spcBef>
            </a:pPr>
            <a:r>
              <a:rPr dirty="0" sz="1200" b="1">
                <a:latin typeface="Calibri"/>
                <a:cs typeface="Calibri"/>
              </a:rPr>
              <a:t>Name: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Intan</a:t>
            </a:r>
            <a:endParaRPr sz="1200">
              <a:latin typeface="Calibri"/>
              <a:cs typeface="Calibri"/>
            </a:endParaRPr>
          </a:p>
          <a:p>
            <a:pPr marL="123253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Gender: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Female</a:t>
            </a:r>
            <a:endParaRPr sz="1200">
              <a:latin typeface="Calibri"/>
              <a:cs typeface="Calibri"/>
            </a:endParaRPr>
          </a:p>
          <a:p>
            <a:pPr marL="1232535" marR="34099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Amount: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2500 </a:t>
            </a:r>
            <a:r>
              <a:rPr dirty="0" sz="1200" b="1">
                <a:latin typeface="Calibri"/>
                <a:cs typeface="Calibri"/>
              </a:rPr>
              <a:t>Occupation: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Basket-</a:t>
            </a:r>
            <a:r>
              <a:rPr dirty="0" sz="1200" spc="-10">
                <a:latin typeface="Calibri"/>
                <a:cs typeface="Calibri"/>
              </a:rPr>
              <a:t>weaver </a:t>
            </a:r>
            <a:r>
              <a:rPr dirty="0" sz="1200" b="1">
                <a:latin typeface="Calibri"/>
                <a:cs typeface="Calibri"/>
              </a:rPr>
              <a:t>Reason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loan: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purchase </a:t>
            </a:r>
            <a:r>
              <a:rPr dirty="0" sz="1200">
                <a:latin typeface="Calibri"/>
                <a:cs typeface="Calibri"/>
              </a:rPr>
              <a:t>raw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materials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</a:t>
            </a:r>
            <a:r>
              <a:rPr dirty="0" sz="1200" spc="-10">
                <a:latin typeface="Calibri"/>
                <a:cs typeface="Calibri"/>
              </a:rPr>
              <a:t> Canang </a:t>
            </a:r>
            <a:r>
              <a:rPr dirty="0" sz="1200" spc="-20">
                <a:latin typeface="Calibri"/>
                <a:cs typeface="Calibri"/>
              </a:rPr>
              <a:t>Sari</a:t>
            </a:r>
            <a:endParaRPr sz="1200">
              <a:latin typeface="Calibri"/>
              <a:cs typeface="Calibri"/>
            </a:endParaRPr>
          </a:p>
          <a:p>
            <a:pPr marL="38735" marR="55880">
              <a:lnSpc>
                <a:spcPct val="100000"/>
              </a:lnSpc>
              <a:spcBef>
                <a:spcPts val="94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lower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given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further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improve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32532" y="3564635"/>
            <a:ext cx="3392804" cy="1984375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18565">
              <a:lnSpc>
                <a:spcPct val="100000"/>
              </a:lnSpc>
              <a:spcBef>
                <a:spcPts val="1240"/>
              </a:spcBef>
            </a:pPr>
            <a:r>
              <a:rPr dirty="0" sz="1200" b="1">
                <a:latin typeface="Calibri"/>
                <a:cs typeface="Calibri"/>
              </a:rPr>
              <a:t>Name: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Abyasa</a:t>
            </a:r>
            <a:endParaRPr sz="1200">
              <a:latin typeface="Calibri"/>
              <a:cs typeface="Calibri"/>
            </a:endParaRPr>
          </a:p>
          <a:p>
            <a:pPr marL="121856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Gender: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Male</a:t>
            </a:r>
            <a:endParaRPr sz="1200">
              <a:latin typeface="Calibri"/>
              <a:cs typeface="Calibri"/>
            </a:endParaRPr>
          </a:p>
          <a:p>
            <a:pPr marL="1218565" marR="32384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Amount: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15000 </a:t>
            </a:r>
            <a:r>
              <a:rPr dirty="0" sz="1200" b="1">
                <a:latin typeface="Calibri"/>
                <a:cs typeface="Calibri"/>
              </a:rPr>
              <a:t>Occupation: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Medium-sized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farmer </a:t>
            </a:r>
            <a:r>
              <a:rPr dirty="0" sz="1200" b="1">
                <a:latin typeface="Calibri"/>
                <a:cs typeface="Calibri"/>
              </a:rPr>
              <a:t>Reason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loan: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Temporarily </a:t>
            </a:r>
            <a:r>
              <a:rPr dirty="0" sz="1200">
                <a:latin typeface="Calibri"/>
                <a:cs typeface="Calibri"/>
              </a:rPr>
              <a:t>increase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yield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Nusantara </a:t>
            </a:r>
            <a:r>
              <a:rPr dirty="0" sz="1200">
                <a:latin typeface="Calibri"/>
                <a:cs typeface="Calibri"/>
              </a:rPr>
              <a:t>fruit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festivals</a:t>
            </a:r>
            <a:endParaRPr sz="1200">
              <a:latin typeface="Calibri"/>
              <a:cs typeface="Calibri"/>
            </a:endParaRPr>
          </a:p>
          <a:p>
            <a:pPr marL="52705" marR="107314">
              <a:lnSpc>
                <a:spcPct val="100000"/>
              </a:lnSpc>
              <a:spcBef>
                <a:spcPts val="87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</a:t>
            </a:r>
            <a:r>
              <a:rPr dirty="0" sz="1200" spc="-10">
                <a:latin typeface="Calibri"/>
                <a:cs typeface="Calibri"/>
              </a:rPr>
              <a:t>granted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repayment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78469" y="908050"/>
            <a:ext cx="157988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loan </a:t>
            </a:r>
            <a:r>
              <a:rPr dirty="0" sz="1200" spc="-10">
                <a:latin typeface="Calibri"/>
                <a:cs typeface="Calibri"/>
              </a:rPr>
              <a:t>amounts,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smaller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given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 </a:t>
            </a:r>
            <a:r>
              <a:rPr dirty="0" sz="1200">
                <a:latin typeface="Calibri"/>
                <a:cs typeface="Calibri"/>
              </a:rPr>
              <a:t>easier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080117" y="911478"/>
            <a:ext cx="14751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Intan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Rp </a:t>
            </a:r>
            <a:r>
              <a:rPr dirty="0" sz="1200">
                <a:latin typeface="Calibri"/>
                <a:cs typeface="Calibri"/>
              </a:rPr>
              <a:t>2500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20">
                <a:latin typeface="Calibri"/>
                <a:cs typeface="Calibri"/>
              </a:rPr>
              <a:t>UFH’s</a:t>
            </a:r>
            <a:r>
              <a:rPr dirty="0" sz="1200">
                <a:latin typeface="Calibri"/>
                <a:cs typeface="Calibri"/>
              </a:rPr>
              <a:t> set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offering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Rp </a:t>
            </a:r>
            <a:r>
              <a:rPr dirty="0" sz="1200" spc="-20">
                <a:latin typeface="Calibri"/>
                <a:cs typeface="Calibri"/>
              </a:rPr>
              <a:t>3500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78469" y="2614421"/>
            <a:ext cx="157226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issued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groups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individuals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 accountability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all </a:t>
            </a:r>
            <a:r>
              <a:rPr dirty="0" sz="1200" spc="-10">
                <a:latin typeface="Calibri"/>
                <a:cs typeface="Calibri"/>
              </a:rPr>
              <a:t>members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80117" y="2617723"/>
            <a:ext cx="150558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Intan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approaches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along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other </a:t>
            </a:r>
            <a:r>
              <a:rPr dirty="0" sz="1200" spc="-10">
                <a:latin typeface="Calibri"/>
                <a:cs typeface="Calibri"/>
              </a:rPr>
              <a:t>basket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weavers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produce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Canang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Sari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93560" y="3944492"/>
            <a:ext cx="5464810" cy="2082800"/>
            <a:chOff x="6393560" y="3944492"/>
            <a:chExt cx="5464810" cy="2082800"/>
          </a:xfrm>
        </p:grpSpPr>
        <p:sp>
          <p:nvSpPr>
            <p:cNvPr id="41" name="object 41"/>
            <p:cNvSpPr/>
            <p:nvPr/>
          </p:nvSpPr>
          <p:spPr>
            <a:xfrm>
              <a:off x="6403085" y="3954017"/>
              <a:ext cx="5445760" cy="2063750"/>
            </a:xfrm>
            <a:custGeom>
              <a:avLst/>
              <a:gdLst/>
              <a:ahLst/>
              <a:cxnLst/>
              <a:rect l="l" t="t" r="r" b="b"/>
              <a:pathLst>
                <a:path w="5445759" h="2063750">
                  <a:moveTo>
                    <a:pt x="5445252" y="0"/>
                  </a:moveTo>
                  <a:lnTo>
                    <a:pt x="0" y="0"/>
                  </a:lnTo>
                  <a:lnTo>
                    <a:pt x="0" y="2063495"/>
                  </a:lnTo>
                  <a:lnTo>
                    <a:pt x="5445252" y="2063495"/>
                  </a:lnTo>
                  <a:lnTo>
                    <a:pt x="5445252" y="0"/>
                  </a:lnTo>
                  <a:close/>
                </a:path>
              </a:pathLst>
            </a:custGeom>
            <a:solidFill>
              <a:srgbClr val="87AA8F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403085" y="3954017"/>
              <a:ext cx="5445760" cy="2063750"/>
            </a:xfrm>
            <a:custGeom>
              <a:avLst/>
              <a:gdLst/>
              <a:ahLst/>
              <a:cxnLst/>
              <a:rect l="l" t="t" r="r" b="b"/>
              <a:pathLst>
                <a:path w="5445759" h="2063750">
                  <a:moveTo>
                    <a:pt x="0" y="2063495"/>
                  </a:moveTo>
                  <a:lnTo>
                    <a:pt x="5445252" y="2063495"/>
                  </a:lnTo>
                  <a:lnTo>
                    <a:pt x="5445252" y="0"/>
                  </a:lnTo>
                  <a:lnTo>
                    <a:pt x="0" y="0"/>
                  </a:lnTo>
                  <a:lnTo>
                    <a:pt x="0" y="2063495"/>
                  </a:lnTo>
                  <a:close/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582914" y="4044188"/>
            <a:ext cx="970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alibri"/>
                <a:cs typeface="Calibri"/>
              </a:rPr>
              <a:t>RATIONALE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144511" y="4319015"/>
            <a:ext cx="1041400" cy="462280"/>
          </a:xfrm>
          <a:custGeom>
            <a:avLst/>
            <a:gdLst/>
            <a:ahLst/>
            <a:cxnLst/>
            <a:rect l="l" t="t" r="r" b="b"/>
            <a:pathLst>
              <a:path w="1041400" h="462279">
                <a:moveTo>
                  <a:pt x="1040892" y="0"/>
                </a:moveTo>
                <a:lnTo>
                  <a:pt x="0" y="0"/>
                </a:lnTo>
                <a:lnTo>
                  <a:pt x="0" y="461772"/>
                </a:lnTo>
                <a:lnTo>
                  <a:pt x="1040892" y="461772"/>
                </a:lnTo>
                <a:lnTo>
                  <a:pt x="1040892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277734" y="4343527"/>
            <a:ext cx="789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 marR="5080" indent="-13906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CREDIT SYSTEM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597395" y="4780788"/>
            <a:ext cx="2152015" cy="1114425"/>
          </a:xfrm>
          <a:custGeom>
            <a:avLst/>
            <a:gdLst/>
            <a:ahLst/>
            <a:cxnLst/>
            <a:rect l="l" t="t" r="r" b="b"/>
            <a:pathLst>
              <a:path w="2152015" h="1114425">
                <a:moveTo>
                  <a:pt x="1068324" y="0"/>
                </a:moveTo>
                <a:lnTo>
                  <a:pt x="1068324" y="151256"/>
                </a:lnTo>
              </a:path>
              <a:path w="2152015" h="1114425">
                <a:moveTo>
                  <a:pt x="469392" y="158495"/>
                </a:moveTo>
                <a:lnTo>
                  <a:pt x="1727834" y="158495"/>
                </a:lnTo>
              </a:path>
              <a:path w="2152015" h="1114425">
                <a:moveTo>
                  <a:pt x="473963" y="152400"/>
                </a:moveTo>
                <a:lnTo>
                  <a:pt x="473963" y="303656"/>
                </a:lnTo>
              </a:path>
              <a:path w="2152015" h="1114425">
                <a:moveTo>
                  <a:pt x="1723644" y="147828"/>
                </a:moveTo>
                <a:lnTo>
                  <a:pt x="1723644" y="299085"/>
                </a:lnTo>
              </a:path>
              <a:path w="2152015" h="1114425">
                <a:moveTo>
                  <a:pt x="0" y="1107948"/>
                </a:moveTo>
                <a:lnTo>
                  <a:pt x="979931" y="1107948"/>
                </a:lnTo>
                <a:lnTo>
                  <a:pt x="979931" y="310896"/>
                </a:lnTo>
                <a:lnTo>
                  <a:pt x="0" y="310896"/>
                </a:lnTo>
                <a:lnTo>
                  <a:pt x="0" y="1107948"/>
                </a:lnTo>
                <a:close/>
              </a:path>
              <a:path w="2152015" h="1114425">
                <a:moveTo>
                  <a:pt x="1171955" y="1114044"/>
                </a:moveTo>
                <a:lnTo>
                  <a:pt x="2151887" y="1114044"/>
                </a:lnTo>
                <a:lnTo>
                  <a:pt x="2151887" y="316992"/>
                </a:lnTo>
                <a:lnTo>
                  <a:pt x="1171955" y="316992"/>
                </a:lnTo>
                <a:lnTo>
                  <a:pt x="1171955" y="1114044"/>
                </a:lnTo>
                <a:close/>
              </a:path>
            </a:pathLst>
          </a:custGeom>
          <a:ln w="1270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783578" y="5487111"/>
            <a:ext cx="6216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Economic</a:t>
            </a:r>
            <a:endParaRPr sz="1200">
              <a:latin typeface="Calibri"/>
              <a:cs typeface="Calibri"/>
            </a:endParaRPr>
          </a:p>
          <a:p>
            <a:pPr algn="ctr" marR="508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Factors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033257" y="5476443"/>
            <a:ext cx="465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254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Social </a:t>
            </a:r>
            <a:r>
              <a:rPr dirty="0" sz="1200" spc="-20" b="1">
                <a:latin typeface="Calibri"/>
                <a:cs typeface="Calibri"/>
              </a:rPr>
              <a:t>Factors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9055607" y="4407408"/>
            <a:ext cx="462280" cy="1478280"/>
          </a:xfrm>
          <a:custGeom>
            <a:avLst/>
            <a:gdLst/>
            <a:ahLst/>
            <a:cxnLst/>
            <a:rect l="l" t="t" r="r" b="b"/>
            <a:pathLst>
              <a:path w="462279" h="1478279">
                <a:moveTo>
                  <a:pt x="461772" y="0"/>
                </a:moveTo>
                <a:lnTo>
                  <a:pt x="0" y="0"/>
                </a:lnTo>
                <a:lnTo>
                  <a:pt x="0" y="1478280"/>
                </a:lnTo>
                <a:lnTo>
                  <a:pt x="461772" y="1478280"/>
                </a:lnTo>
                <a:lnTo>
                  <a:pt x="461772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9119361" y="4684424"/>
            <a:ext cx="360680" cy="928369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004809" y="4485513"/>
            <a:ext cx="1052195" cy="700405"/>
          </a:xfrm>
          <a:custGeom>
            <a:avLst/>
            <a:gdLst/>
            <a:ahLst/>
            <a:cxnLst/>
            <a:rect l="l" t="t" r="r" b="b"/>
            <a:pathLst>
              <a:path w="1052195" h="700404">
                <a:moveTo>
                  <a:pt x="975741" y="623697"/>
                </a:moveTo>
                <a:lnTo>
                  <a:pt x="975741" y="699897"/>
                </a:lnTo>
                <a:lnTo>
                  <a:pt x="1032891" y="671322"/>
                </a:lnTo>
                <a:lnTo>
                  <a:pt x="988441" y="671322"/>
                </a:lnTo>
                <a:lnTo>
                  <a:pt x="988441" y="652272"/>
                </a:lnTo>
                <a:lnTo>
                  <a:pt x="1032891" y="652272"/>
                </a:lnTo>
                <a:lnTo>
                  <a:pt x="975741" y="623697"/>
                </a:lnTo>
                <a:close/>
              </a:path>
              <a:path w="1052195" h="700404">
                <a:moveTo>
                  <a:pt x="864743" y="9525"/>
                </a:moveTo>
                <a:lnTo>
                  <a:pt x="864743" y="671322"/>
                </a:lnTo>
                <a:lnTo>
                  <a:pt x="975741" y="671322"/>
                </a:lnTo>
                <a:lnTo>
                  <a:pt x="975741" y="661797"/>
                </a:lnTo>
                <a:lnTo>
                  <a:pt x="883793" y="661797"/>
                </a:lnTo>
                <a:lnTo>
                  <a:pt x="874268" y="652272"/>
                </a:lnTo>
                <a:lnTo>
                  <a:pt x="883793" y="652272"/>
                </a:lnTo>
                <a:lnTo>
                  <a:pt x="883793" y="19050"/>
                </a:lnTo>
                <a:lnTo>
                  <a:pt x="874268" y="19050"/>
                </a:lnTo>
                <a:lnTo>
                  <a:pt x="864743" y="9525"/>
                </a:lnTo>
                <a:close/>
              </a:path>
              <a:path w="1052195" h="700404">
                <a:moveTo>
                  <a:pt x="1032891" y="652272"/>
                </a:moveTo>
                <a:lnTo>
                  <a:pt x="988441" y="652272"/>
                </a:lnTo>
                <a:lnTo>
                  <a:pt x="988441" y="671322"/>
                </a:lnTo>
                <a:lnTo>
                  <a:pt x="1032891" y="671322"/>
                </a:lnTo>
                <a:lnTo>
                  <a:pt x="1051941" y="661797"/>
                </a:lnTo>
                <a:lnTo>
                  <a:pt x="1032891" y="652272"/>
                </a:lnTo>
                <a:close/>
              </a:path>
              <a:path w="1052195" h="700404">
                <a:moveTo>
                  <a:pt x="883793" y="652272"/>
                </a:moveTo>
                <a:lnTo>
                  <a:pt x="874268" y="652272"/>
                </a:lnTo>
                <a:lnTo>
                  <a:pt x="883793" y="661797"/>
                </a:lnTo>
                <a:lnTo>
                  <a:pt x="883793" y="652272"/>
                </a:lnTo>
                <a:close/>
              </a:path>
              <a:path w="1052195" h="700404">
                <a:moveTo>
                  <a:pt x="975741" y="652272"/>
                </a:moveTo>
                <a:lnTo>
                  <a:pt x="883793" y="652272"/>
                </a:lnTo>
                <a:lnTo>
                  <a:pt x="883793" y="661797"/>
                </a:lnTo>
                <a:lnTo>
                  <a:pt x="975741" y="661797"/>
                </a:lnTo>
                <a:lnTo>
                  <a:pt x="975741" y="652272"/>
                </a:lnTo>
                <a:close/>
              </a:path>
              <a:path w="1052195" h="700404">
                <a:moveTo>
                  <a:pt x="883793" y="0"/>
                </a:moveTo>
                <a:lnTo>
                  <a:pt x="0" y="0"/>
                </a:lnTo>
                <a:lnTo>
                  <a:pt x="0" y="19050"/>
                </a:lnTo>
                <a:lnTo>
                  <a:pt x="864743" y="19050"/>
                </a:lnTo>
                <a:lnTo>
                  <a:pt x="864743" y="9525"/>
                </a:lnTo>
                <a:lnTo>
                  <a:pt x="883793" y="9525"/>
                </a:lnTo>
                <a:lnTo>
                  <a:pt x="883793" y="0"/>
                </a:lnTo>
                <a:close/>
              </a:path>
              <a:path w="1052195" h="700404">
                <a:moveTo>
                  <a:pt x="883793" y="9525"/>
                </a:moveTo>
                <a:lnTo>
                  <a:pt x="864743" y="9525"/>
                </a:lnTo>
                <a:lnTo>
                  <a:pt x="874268" y="19050"/>
                </a:lnTo>
                <a:lnTo>
                  <a:pt x="883793" y="19050"/>
                </a:lnTo>
                <a:lnTo>
                  <a:pt x="883793" y="9525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9640823" y="4445508"/>
            <a:ext cx="2021205" cy="63563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561340" marR="37465">
              <a:lnSpc>
                <a:spcPct val="100000"/>
              </a:lnSpc>
              <a:spcBef>
                <a:spcPts val="415"/>
              </a:spcBef>
            </a:pPr>
            <a:r>
              <a:rPr dirty="0" sz="1100">
                <a:latin typeface="Calibri"/>
                <a:cs typeface="Calibri"/>
              </a:rPr>
              <a:t>We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aim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low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rated customers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46919" y="5218176"/>
            <a:ext cx="2021205" cy="635635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532130" marR="27940">
              <a:lnSpc>
                <a:spcPct val="100000"/>
              </a:lnSpc>
              <a:spcBef>
                <a:spcPts val="520"/>
              </a:spcBef>
            </a:pPr>
            <a:r>
              <a:rPr dirty="0" sz="1050">
                <a:latin typeface="Calibri"/>
                <a:cs typeface="Calibri"/>
              </a:rPr>
              <a:t>Decrease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default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rates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by </a:t>
            </a:r>
            <a:r>
              <a:rPr dirty="0" sz="1050">
                <a:latin typeface="Calibri"/>
                <a:cs typeface="Calibri"/>
              </a:rPr>
              <a:t>providing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group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borrowing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flexible</a:t>
            </a:r>
            <a:r>
              <a:rPr dirty="0" sz="10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lending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909816" y="4530852"/>
            <a:ext cx="3249295" cy="1243965"/>
            <a:chOff x="6909816" y="4530852"/>
            <a:chExt cx="3249295" cy="1243965"/>
          </a:xfrm>
        </p:grpSpPr>
        <p:pic>
          <p:nvPicPr>
            <p:cNvPr id="55" name="object 55" descr="Economics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9816" y="5164836"/>
              <a:ext cx="347472" cy="347472"/>
            </a:xfrm>
            <a:prstGeom prst="rect">
              <a:avLst/>
            </a:prstGeom>
          </p:spPr>
        </p:pic>
        <p:pic>
          <p:nvPicPr>
            <p:cNvPr id="56" name="object 56" descr="Community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94904" y="5064252"/>
              <a:ext cx="522731" cy="522732"/>
            </a:xfrm>
            <a:prstGeom prst="rect">
              <a:avLst/>
            </a:prstGeom>
          </p:spPr>
        </p:pic>
        <p:pic>
          <p:nvPicPr>
            <p:cNvPr id="57" name="object 57" descr="Performance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77400" y="4530852"/>
              <a:ext cx="441959" cy="440436"/>
            </a:xfrm>
            <a:prstGeom prst="rect">
              <a:avLst/>
            </a:prstGeom>
          </p:spPr>
        </p:pic>
        <p:pic>
          <p:nvPicPr>
            <p:cNvPr id="58" name="object 58" descr="Statistics 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72828" y="5289804"/>
              <a:ext cx="486155" cy="484631"/>
            </a:xfrm>
            <a:prstGeom prst="rect">
              <a:avLst/>
            </a:prstGeom>
          </p:spPr>
        </p:pic>
      </p:grpSp>
      <p:sp>
        <p:nvSpPr>
          <p:cNvPr id="59" name="object 5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Credit</a:t>
            </a:r>
            <a:r>
              <a:rPr dirty="0" spc="-65"/>
              <a:t> </a:t>
            </a:r>
            <a:r>
              <a:rPr dirty="0"/>
              <a:t>Score</a:t>
            </a:r>
            <a:r>
              <a:rPr dirty="0" spc="-60"/>
              <a:t> </a:t>
            </a:r>
            <a:r>
              <a:rPr dirty="0" spc="-10"/>
              <a:t>Mapping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Consumer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routes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dirty="0" sz="1700" spc="-2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different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credit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score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alternatives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45083" y="6576161"/>
            <a:ext cx="8350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74085" y="6576161"/>
            <a:ext cx="1240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85622"/>
                </a:solidFill>
                <a:latin typeface="Calibri"/>
                <a:cs typeface="Calibri"/>
              </a:rPr>
              <a:t>CREDIT</a:t>
            </a:r>
            <a:r>
              <a:rPr dirty="0" sz="1400" spc="-40" b="1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67" name="object 67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948177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39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Nature Lover's Guide to Bali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87555" cy="6858000"/>
          </a:xfrm>
          <a:custGeom>
            <a:avLst/>
            <a:gdLst/>
            <a:ahLst/>
            <a:cxnLst/>
            <a:rect l="l" t="t" r="r" b="b"/>
            <a:pathLst>
              <a:path w="12187555" h="6858000">
                <a:moveTo>
                  <a:pt x="12187428" y="6858000"/>
                </a:moveTo>
                <a:lnTo>
                  <a:pt x="12187428" y="0"/>
                </a:lnTo>
                <a:lnTo>
                  <a:pt x="0" y="0"/>
                </a:lnTo>
                <a:lnTo>
                  <a:pt x="0" y="6858000"/>
                </a:lnTo>
                <a:lnTo>
                  <a:pt x="12187428" y="685800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51404" y="2638044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585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42617" y="2861309"/>
            <a:ext cx="8902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Optimizing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UFH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microfinance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accessible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43009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59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30501" y="4170426"/>
            <a:ext cx="1367155" cy="1367155"/>
          </a:xfrm>
          <a:custGeom>
            <a:avLst/>
            <a:gdLst/>
            <a:ahLst/>
            <a:cxnLst/>
            <a:rect l="l" t="t" r="r" b="b"/>
            <a:pathLst>
              <a:path w="1367155" h="1367154">
                <a:moveTo>
                  <a:pt x="0" y="683513"/>
                </a:moveTo>
                <a:lnTo>
                  <a:pt x="1716" y="634706"/>
                </a:lnTo>
                <a:lnTo>
                  <a:pt x="6788" y="586823"/>
                </a:lnTo>
                <a:lnTo>
                  <a:pt x="15100" y="539982"/>
                </a:lnTo>
                <a:lnTo>
                  <a:pt x="26537" y="494297"/>
                </a:lnTo>
                <a:lnTo>
                  <a:pt x="40982" y="449885"/>
                </a:lnTo>
                <a:lnTo>
                  <a:pt x="58320" y="406861"/>
                </a:lnTo>
                <a:lnTo>
                  <a:pt x="78435" y="365341"/>
                </a:lnTo>
                <a:lnTo>
                  <a:pt x="101211" y="325440"/>
                </a:lnTo>
                <a:lnTo>
                  <a:pt x="126533" y="287275"/>
                </a:lnTo>
                <a:lnTo>
                  <a:pt x="154285" y="250962"/>
                </a:lnTo>
                <a:lnTo>
                  <a:pt x="184350" y="216615"/>
                </a:lnTo>
                <a:lnTo>
                  <a:pt x="216615" y="184350"/>
                </a:lnTo>
                <a:lnTo>
                  <a:pt x="250962" y="154285"/>
                </a:lnTo>
                <a:lnTo>
                  <a:pt x="287275" y="126533"/>
                </a:lnTo>
                <a:lnTo>
                  <a:pt x="325440" y="101211"/>
                </a:lnTo>
                <a:lnTo>
                  <a:pt x="365341" y="78435"/>
                </a:lnTo>
                <a:lnTo>
                  <a:pt x="406861" y="58320"/>
                </a:lnTo>
                <a:lnTo>
                  <a:pt x="449885" y="40982"/>
                </a:lnTo>
                <a:lnTo>
                  <a:pt x="494297" y="26537"/>
                </a:lnTo>
                <a:lnTo>
                  <a:pt x="539982" y="15100"/>
                </a:lnTo>
                <a:lnTo>
                  <a:pt x="586823" y="6788"/>
                </a:lnTo>
                <a:lnTo>
                  <a:pt x="634706" y="1716"/>
                </a:lnTo>
                <a:lnTo>
                  <a:pt x="683514" y="0"/>
                </a:lnTo>
                <a:lnTo>
                  <a:pt x="732321" y="1716"/>
                </a:lnTo>
                <a:lnTo>
                  <a:pt x="780204" y="6788"/>
                </a:lnTo>
                <a:lnTo>
                  <a:pt x="827045" y="15100"/>
                </a:lnTo>
                <a:lnTo>
                  <a:pt x="872730" y="26537"/>
                </a:lnTo>
                <a:lnTo>
                  <a:pt x="917142" y="40982"/>
                </a:lnTo>
                <a:lnTo>
                  <a:pt x="960166" y="58320"/>
                </a:lnTo>
                <a:lnTo>
                  <a:pt x="1001686" y="78435"/>
                </a:lnTo>
                <a:lnTo>
                  <a:pt x="1041587" y="101211"/>
                </a:lnTo>
                <a:lnTo>
                  <a:pt x="1079752" y="126533"/>
                </a:lnTo>
                <a:lnTo>
                  <a:pt x="1116065" y="154285"/>
                </a:lnTo>
                <a:lnTo>
                  <a:pt x="1150412" y="184350"/>
                </a:lnTo>
                <a:lnTo>
                  <a:pt x="1182677" y="216615"/>
                </a:lnTo>
                <a:lnTo>
                  <a:pt x="1212742" y="250962"/>
                </a:lnTo>
                <a:lnTo>
                  <a:pt x="1240494" y="287275"/>
                </a:lnTo>
                <a:lnTo>
                  <a:pt x="1265816" y="325440"/>
                </a:lnTo>
                <a:lnTo>
                  <a:pt x="1288592" y="365341"/>
                </a:lnTo>
                <a:lnTo>
                  <a:pt x="1308707" y="406861"/>
                </a:lnTo>
                <a:lnTo>
                  <a:pt x="1326045" y="449885"/>
                </a:lnTo>
                <a:lnTo>
                  <a:pt x="1340490" y="494297"/>
                </a:lnTo>
                <a:lnTo>
                  <a:pt x="1351927" y="539982"/>
                </a:lnTo>
                <a:lnTo>
                  <a:pt x="1360239" y="586823"/>
                </a:lnTo>
                <a:lnTo>
                  <a:pt x="1365311" y="634706"/>
                </a:lnTo>
                <a:lnTo>
                  <a:pt x="1367028" y="683513"/>
                </a:lnTo>
                <a:lnTo>
                  <a:pt x="1365311" y="732321"/>
                </a:lnTo>
                <a:lnTo>
                  <a:pt x="1360239" y="780204"/>
                </a:lnTo>
                <a:lnTo>
                  <a:pt x="1351927" y="827045"/>
                </a:lnTo>
                <a:lnTo>
                  <a:pt x="1340490" y="872730"/>
                </a:lnTo>
                <a:lnTo>
                  <a:pt x="1326045" y="917142"/>
                </a:lnTo>
                <a:lnTo>
                  <a:pt x="1308707" y="960166"/>
                </a:lnTo>
                <a:lnTo>
                  <a:pt x="1288592" y="1001686"/>
                </a:lnTo>
                <a:lnTo>
                  <a:pt x="1265816" y="1041587"/>
                </a:lnTo>
                <a:lnTo>
                  <a:pt x="1240494" y="1079752"/>
                </a:lnTo>
                <a:lnTo>
                  <a:pt x="1212742" y="1116065"/>
                </a:lnTo>
                <a:lnTo>
                  <a:pt x="1182677" y="1150412"/>
                </a:lnTo>
                <a:lnTo>
                  <a:pt x="1150412" y="1182677"/>
                </a:lnTo>
                <a:lnTo>
                  <a:pt x="1116065" y="1212742"/>
                </a:lnTo>
                <a:lnTo>
                  <a:pt x="1079752" y="1240494"/>
                </a:lnTo>
                <a:lnTo>
                  <a:pt x="1041587" y="1265816"/>
                </a:lnTo>
                <a:lnTo>
                  <a:pt x="1001686" y="1288592"/>
                </a:lnTo>
                <a:lnTo>
                  <a:pt x="960166" y="1308707"/>
                </a:lnTo>
                <a:lnTo>
                  <a:pt x="917142" y="1326045"/>
                </a:lnTo>
                <a:lnTo>
                  <a:pt x="872730" y="1340490"/>
                </a:lnTo>
                <a:lnTo>
                  <a:pt x="827045" y="1351927"/>
                </a:lnTo>
                <a:lnTo>
                  <a:pt x="780204" y="1360239"/>
                </a:lnTo>
                <a:lnTo>
                  <a:pt x="732321" y="1365311"/>
                </a:lnTo>
                <a:lnTo>
                  <a:pt x="683514" y="1367028"/>
                </a:lnTo>
                <a:lnTo>
                  <a:pt x="634706" y="1365311"/>
                </a:lnTo>
                <a:lnTo>
                  <a:pt x="586823" y="1360239"/>
                </a:lnTo>
                <a:lnTo>
                  <a:pt x="539982" y="1351927"/>
                </a:lnTo>
                <a:lnTo>
                  <a:pt x="494297" y="1340490"/>
                </a:lnTo>
                <a:lnTo>
                  <a:pt x="449885" y="1326045"/>
                </a:lnTo>
                <a:lnTo>
                  <a:pt x="406861" y="1308707"/>
                </a:lnTo>
                <a:lnTo>
                  <a:pt x="365341" y="1288592"/>
                </a:lnTo>
                <a:lnTo>
                  <a:pt x="325440" y="1265816"/>
                </a:lnTo>
                <a:lnTo>
                  <a:pt x="287275" y="1240494"/>
                </a:lnTo>
                <a:lnTo>
                  <a:pt x="250962" y="1212742"/>
                </a:lnTo>
                <a:lnTo>
                  <a:pt x="216615" y="1182677"/>
                </a:lnTo>
                <a:lnTo>
                  <a:pt x="184350" y="1150412"/>
                </a:lnTo>
                <a:lnTo>
                  <a:pt x="154285" y="1116065"/>
                </a:lnTo>
                <a:lnTo>
                  <a:pt x="126533" y="1079752"/>
                </a:lnTo>
                <a:lnTo>
                  <a:pt x="101211" y="1041587"/>
                </a:lnTo>
                <a:lnTo>
                  <a:pt x="78435" y="1001686"/>
                </a:lnTo>
                <a:lnTo>
                  <a:pt x="58320" y="960166"/>
                </a:lnTo>
                <a:lnTo>
                  <a:pt x="40982" y="917142"/>
                </a:lnTo>
                <a:lnTo>
                  <a:pt x="26537" y="872730"/>
                </a:lnTo>
                <a:lnTo>
                  <a:pt x="15100" y="827045"/>
                </a:lnTo>
                <a:lnTo>
                  <a:pt x="6788" y="780204"/>
                </a:lnTo>
                <a:lnTo>
                  <a:pt x="1716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8797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60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73952" y="4034028"/>
            <a:ext cx="1367155" cy="1369060"/>
          </a:xfrm>
          <a:custGeom>
            <a:avLst/>
            <a:gdLst/>
            <a:ahLst/>
            <a:cxnLst/>
            <a:rect l="l" t="t" r="r" b="b"/>
            <a:pathLst>
              <a:path w="1367154" h="1369060">
                <a:moveTo>
                  <a:pt x="0" y="684276"/>
                </a:moveTo>
                <a:lnTo>
                  <a:pt x="1716" y="635403"/>
                </a:lnTo>
                <a:lnTo>
                  <a:pt x="6788" y="587458"/>
                </a:lnTo>
                <a:lnTo>
                  <a:pt x="15100" y="540558"/>
                </a:lnTo>
                <a:lnTo>
                  <a:pt x="26537" y="494817"/>
                </a:lnTo>
                <a:lnTo>
                  <a:pt x="40982" y="450351"/>
                </a:lnTo>
                <a:lnTo>
                  <a:pt x="58320" y="407277"/>
                </a:lnTo>
                <a:lnTo>
                  <a:pt x="78435" y="365709"/>
                </a:lnTo>
                <a:lnTo>
                  <a:pt x="101211" y="325764"/>
                </a:lnTo>
                <a:lnTo>
                  <a:pt x="126533" y="287558"/>
                </a:lnTo>
                <a:lnTo>
                  <a:pt x="154285" y="251205"/>
                </a:lnTo>
                <a:lnTo>
                  <a:pt x="184350" y="216822"/>
                </a:lnTo>
                <a:lnTo>
                  <a:pt x="216615" y="184525"/>
                </a:lnTo>
                <a:lnTo>
                  <a:pt x="250962" y="154429"/>
                </a:lnTo>
                <a:lnTo>
                  <a:pt x="287275" y="126650"/>
                </a:lnTo>
                <a:lnTo>
                  <a:pt x="325440" y="101303"/>
                </a:lnTo>
                <a:lnTo>
                  <a:pt x="365341" y="78505"/>
                </a:lnTo>
                <a:lnTo>
                  <a:pt x="406861" y="58372"/>
                </a:lnTo>
                <a:lnTo>
                  <a:pt x="449885" y="41018"/>
                </a:lnTo>
                <a:lnTo>
                  <a:pt x="494297" y="26560"/>
                </a:lnTo>
                <a:lnTo>
                  <a:pt x="539982" y="15113"/>
                </a:lnTo>
                <a:lnTo>
                  <a:pt x="586823" y="6794"/>
                </a:lnTo>
                <a:lnTo>
                  <a:pt x="634706" y="1717"/>
                </a:lnTo>
                <a:lnTo>
                  <a:pt x="683514" y="0"/>
                </a:lnTo>
                <a:lnTo>
                  <a:pt x="732321" y="1717"/>
                </a:lnTo>
                <a:lnTo>
                  <a:pt x="780204" y="6794"/>
                </a:lnTo>
                <a:lnTo>
                  <a:pt x="827045" y="15113"/>
                </a:lnTo>
                <a:lnTo>
                  <a:pt x="872730" y="26560"/>
                </a:lnTo>
                <a:lnTo>
                  <a:pt x="917142" y="41018"/>
                </a:lnTo>
                <a:lnTo>
                  <a:pt x="960166" y="58372"/>
                </a:lnTo>
                <a:lnTo>
                  <a:pt x="1001686" y="78505"/>
                </a:lnTo>
                <a:lnTo>
                  <a:pt x="1041587" y="101303"/>
                </a:lnTo>
                <a:lnTo>
                  <a:pt x="1079752" y="126650"/>
                </a:lnTo>
                <a:lnTo>
                  <a:pt x="1116065" y="154429"/>
                </a:lnTo>
                <a:lnTo>
                  <a:pt x="1150412" y="184525"/>
                </a:lnTo>
                <a:lnTo>
                  <a:pt x="1182677" y="216822"/>
                </a:lnTo>
                <a:lnTo>
                  <a:pt x="1212742" y="251205"/>
                </a:lnTo>
                <a:lnTo>
                  <a:pt x="1240494" y="287558"/>
                </a:lnTo>
                <a:lnTo>
                  <a:pt x="1265816" y="325764"/>
                </a:lnTo>
                <a:lnTo>
                  <a:pt x="1288592" y="365709"/>
                </a:lnTo>
                <a:lnTo>
                  <a:pt x="1308707" y="407277"/>
                </a:lnTo>
                <a:lnTo>
                  <a:pt x="1326045" y="450351"/>
                </a:lnTo>
                <a:lnTo>
                  <a:pt x="1340490" y="494817"/>
                </a:lnTo>
                <a:lnTo>
                  <a:pt x="1351927" y="540558"/>
                </a:lnTo>
                <a:lnTo>
                  <a:pt x="1360239" y="587458"/>
                </a:lnTo>
                <a:lnTo>
                  <a:pt x="1365311" y="635403"/>
                </a:lnTo>
                <a:lnTo>
                  <a:pt x="1367027" y="684276"/>
                </a:lnTo>
                <a:lnTo>
                  <a:pt x="1365311" y="733148"/>
                </a:lnTo>
                <a:lnTo>
                  <a:pt x="1360239" y="781093"/>
                </a:lnTo>
                <a:lnTo>
                  <a:pt x="1351927" y="827993"/>
                </a:lnTo>
                <a:lnTo>
                  <a:pt x="1340490" y="873734"/>
                </a:lnTo>
                <a:lnTo>
                  <a:pt x="1326045" y="918200"/>
                </a:lnTo>
                <a:lnTo>
                  <a:pt x="1308707" y="961274"/>
                </a:lnTo>
                <a:lnTo>
                  <a:pt x="1288592" y="1002842"/>
                </a:lnTo>
                <a:lnTo>
                  <a:pt x="1265816" y="1042787"/>
                </a:lnTo>
                <a:lnTo>
                  <a:pt x="1240494" y="1080993"/>
                </a:lnTo>
                <a:lnTo>
                  <a:pt x="1212742" y="1117346"/>
                </a:lnTo>
                <a:lnTo>
                  <a:pt x="1182677" y="1151729"/>
                </a:lnTo>
                <a:lnTo>
                  <a:pt x="1150412" y="1184026"/>
                </a:lnTo>
                <a:lnTo>
                  <a:pt x="1116065" y="1214122"/>
                </a:lnTo>
                <a:lnTo>
                  <a:pt x="1079752" y="1241901"/>
                </a:lnTo>
                <a:lnTo>
                  <a:pt x="1041587" y="1267248"/>
                </a:lnTo>
                <a:lnTo>
                  <a:pt x="1001686" y="1290046"/>
                </a:lnTo>
                <a:lnTo>
                  <a:pt x="960166" y="1310179"/>
                </a:lnTo>
                <a:lnTo>
                  <a:pt x="917142" y="1327533"/>
                </a:lnTo>
                <a:lnTo>
                  <a:pt x="872730" y="1341991"/>
                </a:lnTo>
                <a:lnTo>
                  <a:pt x="827045" y="1353438"/>
                </a:lnTo>
                <a:lnTo>
                  <a:pt x="780204" y="1361757"/>
                </a:lnTo>
                <a:lnTo>
                  <a:pt x="732321" y="1366834"/>
                </a:lnTo>
                <a:lnTo>
                  <a:pt x="683514" y="1368552"/>
                </a:lnTo>
                <a:lnTo>
                  <a:pt x="634706" y="1366834"/>
                </a:lnTo>
                <a:lnTo>
                  <a:pt x="586823" y="1361757"/>
                </a:lnTo>
                <a:lnTo>
                  <a:pt x="539982" y="1353438"/>
                </a:lnTo>
                <a:lnTo>
                  <a:pt x="494297" y="1341991"/>
                </a:lnTo>
                <a:lnTo>
                  <a:pt x="449885" y="1327533"/>
                </a:lnTo>
                <a:lnTo>
                  <a:pt x="406861" y="1310179"/>
                </a:lnTo>
                <a:lnTo>
                  <a:pt x="365341" y="1290046"/>
                </a:lnTo>
                <a:lnTo>
                  <a:pt x="325440" y="1267248"/>
                </a:lnTo>
                <a:lnTo>
                  <a:pt x="287275" y="1241901"/>
                </a:lnTo>
                <a:lnTo>
                  <a:pt x="250962" y="1214122"/>
                </a:lnTo>
                <a:lnTo>
                  <a:pt x="216615" y="1184026"/>
                </a:lnTo>
                <a:lnTo>
                  <a:pt x="184350" y="1151729"/>
                </a:lnTo>
                <a:lnTo>
                  <a:pt x="154285" y="1117346"/>
                </a:lnTo>
                <a:lnTo>
                  <a:pt x="126533" y="1080993"/>
                </a:lnTo>
                <a:lnTo>
                  <a:pt x="101211" y="1042787"/>
                </a:lnTo>
                <a:lnTo>
                  <a:pt x="78435" y="1002842"/>
                </a:lnTo>
                <a:lnTo>
                  <a:pt x="58320" y="961274"/>
                </a:lnTo>
                <a:lnTo>
                  <a:pt x="40982" y="918200"/>
                </a:lnTo>
                <a:lnTo>
                  <a:pt x="26537" y="873734"/>
                </a:lnTo>
                <a:lnTo>
                  <a:pt x="15100" y="827993"/>
                </a:lnTo>
                <a:lnTo>
                  <a:pt x="6788" y="781093"/>
                </a:lnTo>
                <a:lnTo>
                  <a:pt x="1716" y="733148"/>
                </a:lnTo>
                <a:lnTo>
                  <a:pt x="0" y="684276"/>
                </a:lnTo>
                <a:close/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94652" y="4388611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1189" y="5633110"/>
            <a:ext cx="101854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marR="5080" indent="-8128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02582" y="5633110"/>
            <a:ext cx="8020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0485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Credit Ratings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1201" y="5633110"/>
            <a:ext cx="120078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Alternative Lending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7993" y="5633110"/>
            <a:ext cx="877569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Modern Subak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6126" y="4504182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29658" y="4504182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59645" y="4504182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4165853" y="1611248"/>
            <a:ext cx="386143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Mitra</a:t>
            </a:r>
            <a:r>
              <a:rPr dirty="0" sz="6000" spc="-290">
                <a:solidFill>
                  <a:srgbClr val="FFFFFF"/>
                </a:solidFill>
              </a:rPr>
              <a:t> </a:t>
            </a:r>
            <a:r>
              <a:rPr dirty="0" sz="6000" spc="-10">
                <a:solidFill>
                  <a:srgbClr val="FFFFFF"/>
                </a:solidFill>
              </a:rPr>
              <a:t>Kredit</a:t>
            </a:r>
            <a:endParaRPr sz="6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92079" y="2445892"/>
            <a:ext cx="423545" cy="424815"/>
            <a:chOff x="3692079" y="2445892"/>
            <a:chExt cx="423545" cy="424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3726" y="2445892"/>
              <a:ext cx="211454" cy="1957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2079" y="2445892"/>
              <a:ext cx="423545" cy="424815"/>
            </a:xfrm>
            <a:custGeom>
              <a:avLst/>
              <a:gdLst/>
              <a:ahLst/>
              <a:cxnLst/>
              <a:rect l="l" t="t" r="r" b="b"/>
              <a:pathLst>
                <a:path w="423545" h="424814">
                  <a:moveTo>
                    <a:pt x="211646" y="0"/>
                  </a:moveTo>
                  <a:lnTo>
                    <a:pt x="138211" y="13012"/>
                  </a:lnTo>
                  <a:lnTo>
                    <a:pt x="95653" y="34335"/>
                  </a:lnTo>
                  <a:lnTo>
                    <a:pt x="59436" y="64069"/>
                  </a:lnTo>
                  <a:lnTo>
                    <a:pt x="30676" y="100789"/>
                  </a:lnTo>
                  <a:lnTo>
                    <a:pt x="10491" y="143073"/>
                  </a:lnTo>
                  <a:lnTo>
                    <a:pt x="0" y="189495"/>
                  </a:lnTo>
                  <a:lnTo>
                    <a:pt x="318" y="238633"/>
                  </a:lnTo>
                  <a:lnTo>
                    <a:pt x="11759" y="286414"/>
                  </a:lnTo>
                  <a:lnTo>
                    <a:pt x="33048" y="328974"/>
                  </a:lnTo>
                  <a:lnTo>
                    <a:pt x="62760" y="365199"/>
                  </a:lnTo>
                  <a:lnTo>
                    <a:pt x="99467" y="393972"/>
                  </a:lnTo>
                  <a:lnTo>
                    <a:pt x="141743" y="414179"/>
                  </a:lnTo>
                  <a:lnTo>
                    <a:pt x="188163" y="424705"/>
                  </a:lnTo>
                  <a:lnTo>
                    <a:pt x="237300" y="424434"/>
                  </a:lnTo>
                  <a:lnTo>
                    <a:pt x="285128" y="412945"/>
                  </a:lnTo>
                  <a:lnTo>
                    <a:pt x="327719" y="391622"/>
                  </a:lnTo>
                  <a:lnTo>
                    <a:pt x="363960" y="361888"/>
                  </a:lnTo>
                  <a:lnTo>
                    <a:pt x="392733" y="325168"/>
                  </a:lnTo>
                  <a:lnTo>
                    <a:pt x="412925" y="282884"/>
                  </a:lnTo>
                  <a:lnTo>
                    <a:pt x="423419" y="236462"/>
                  </a:lnTo>
                  <a:lnTo>
                    <a:pt x="423101" y="187325"/>
                  </a:lnTo>
                  <a:lnTo>
                    <a:pt x="353378" y="195707"/>
                  </a:lnTo>
                  <a:lnTo>
                    <a:pt x="354013" y="201422"/>
                  </a:lnTo>
                  <a:lnTo>
                    <a:pt x="354394" y="207264"/>
                  </a:lnTo>
                  <a:lnTo>
                    <a:pt x="354394" y="212979"/>
                  </a:lnTo>
                  <a:lnTo>
                    <a:pt x="347119" y="258047"/>
                  </a:lnTo>
                  <a:lnTo>
                    <a:pt x="326860" y="297197"/>
                  </a:lnTo>
                  <a:lnTo>
                    <a:pt x="295964" y="328074"/>
                  </a:lnTo>
                  <a:lnTo>
                    <a:pt x="256777" y="348326"/>
                  </a:lnTo>
                  <a:lnTo>
                    <a:pt x="211646" y="355600"/>
                  </a:lnTo>
                  <a:lnTo>
                    <a:pt x="166577" y="348326"/>
                  </a:lnTo>
                  <a:lnTo>
                    <a:pt x="127428" y="328074"/>
                  </a:lnTo>
                  <a:lnTo>
                    <a:pt x="96550" y="297197"/>
                  </a:lnTo>
                  <a:lnTo>
                    <a:pt x="76298" y="258047"/>
                  </a:lnTo>
                  <a:lnTo>
                    <a:pt x="69025" y="212979"/>
                  </a:lnTo>
                  <a:lnTo>
                    <a:pt x="76298" y="167848"/>
                  </a:lnTo>
                  <a:lnTo>
                    <a:pt x="96550" y="128661"/>
                  </a:lnTo>
                  <a:lnTo>
                    <a:pt x="127428" y="97764"/>
                  </a:lnTo>
                  <a:lnTo>
                    <a:pt x="166577" y="77505"/>
                  </a:lnTo>
                  <a:lnTo>
                    <a:pt x="211646" y="70231"/>
                  </a:lnTo>
                  <a:lnTo>
                    <a:pt x="21164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Alternate</a:t>
            </a:r>
            <a:r>
              <a:rPr dirty="0" spc="-85"/>
              <a:t> </a:t>
            </a:r>
            <a:r>
              <a:rPr dirty="0" spc="-10"/>
              <a:t>Lending</a:t>
            </a:r>
          </a:p>
          <a:p>
            <a:pPr marL="123825">
              <a:lnSpc>
                <a:spcPct val="100000"/>
              </a:lnSpc>
              <a:spcBef>
                <a:spcPts val="15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Holistic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approaches</a:t>
            </a:r>
            <a:r>
              <a:rPr dirty="0" sz="1700" spc="-5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reduce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default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rates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21068" y="944880"/>
            <a:ext cx="2207260" cy="515620"/>
            <a:chOff x="7021068" y="944880"/>
            <a:chExt cx="2207260" cy="515620"/>
          </a:xfrm>
        </p:grpSpPr>
        <p:sp>
          <p:nvSpPr>
            <p:cNvPr id="8" name="object 8"/>
            <p:cNvSpPr/>
            <p:nvPr/>
          </p:nvSpPr>
          <p:spPr>
            <a:xfrm>
              <a:off x="7143750" y="1233678"/>
              <a:ext cx="2084070" cy="0"/>
            </a:xfrm>
            <a:custGeom>
              <a:avLst/>
              <a:gdLst/>
              <a:ahLst/>
              <a:cxnLst/>
              <a:rect l="l" t="t" r="r" b="b"/>
              <a:pathLst>
                <a:path w="2084070" h="0">
                  <a:moveTo>
                    <a:pt x="0" y="0"/>
                  </a:moveTo>
                  <a:lnTo>
                    <a:pt x="2084070" y="0"/>
                  </a:lnTo>
                </a:path>
              </a:pathLst>
            </a:custGeom>
            <a:ln w="285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1068" y="1162812"/>
              <a:ext cx="135635" cy="1402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88452" y="944880"/>
              <a:ext cx="506095" cy="515620"/>
            </a:xfrm>
            <a:custGeom>
              <a:avLst/>
              <a:gdLst/>
              <a:ahLst/>
              <a:cxnLst/>
              <a:rect l="l" t="t" r="r" b="b"/>
              <a:pathLst>
                <a:path w="506095" h="515619">
                  <a:moveTo>
                    <a:pt x="252983" y="0"/>
                  </a:moveTo>
                  <a:lnTo>
                    <a:pt x="207514" y="4149"/>
                  </a:lnTo>
                  <a:lnTo>
                    <a:pt x="164717" y="16113"/>
                  </a:lnTo>
                  <a:lnTo>
                    <a:pt x="125306" y="35164"/>
                  </a:lnTo>
                  <a:lnTo>
                    <a:pt x="89997" y="60575"/>
                  </a:lnTo>
                  <a:lnTo>
                    <a:pt x="59504" y="91617"/>
                  </a:lnTo>
                  <a:lnTo>
                    <a:pt x="34544" y="127564"/>
                  </a:lnTo>
                  <a:lnTo>
                    <a:pt x="15829" y="167688"/>
                  </a:lnTo>
                  <a:lnTo>
                    <a:pt x="4076" y="211261"/>
                  </a:lnTo>
                  <a:lnTo>
                    <a:pt x="0" y="257556"/>
                  </a:lnTo>
                  <a:lnTo>
                    <a:pt x="4076" y="303850"/>
                  </a:lnTo>
                  <a:lnTo>
                    <a:pt x="15829" y="347423"/>
                  </a:lnTo>
                  <a:lnTo>
                    <a:pt x="34544" y="387547"/>
                  </a:lnTo>
                  <a:lnTo>
                    <a:pt x="59504" y="423494"/>
                  </a:lnTo>
                  <a:lnTo>
                    <a:pt x="89997" y="454536"/>
                  </a:lnTo>
                  <a:lnTo>
                    <a:pt x="125306" y="479947"/>
                  </a:lnTo>
                  <a:lnTo>
                    <a:pt x="164717" y="498998"/>
                  </a:lnTo>
                  <a:lnTo>
                    <a:pt x="207514" y="510962"/>
                  </a:lnTo>
                  <a:lnTo>
                    <a:pt x="252983" y="515112"/>
                  </a:lnTo>
                  <a:lnTo>
                    <a:pt x="298453" y="510962"/>
                  </a:lnTo>
                  <a:lnTo>
                    <a:pt x="341250" y="498998"/>
                  </a:lnTo>
                  <a:lnTo>
                    <a:pt x="380661" y="479947"/>
                  </a:lnTo>
                  <a:lnTo>
                    <a:pt x="415970" y="454536"/>
                  </a:lnTo>
                  <a:lnTo>
                    <a:pt x="446463" y="423494"/>
                  </a:lnTo>
                  <a:lnTo>
                    <a:pt x="471424" y="387547"/>
                  </a:lnTo>
                  <a:lnTo>
                    <a:pt x="490138" y="347423"/>
                  </a:lnTo>
                  <a:lnTo>
                    <a:pt x="501891" y="303850"/>
                  </a:lnTo>
                  <a:lnTo>
                    <a:pt x="505968" y="257556"/>
                  </a:lnTo>
                  <a:lnTo>
                    <a:pt x="501891" y="211261"/>
                  </a:lnTo>
                  <a:lnTo>
                    <a:pt x="490138" y="167688"/>
                  </a:lnTo>
                  <a:lnTo>
                    <a:pt x="471424" y="127564"/>
                  </a:lnTo>
                  <a:lnTo>
                    <a:pt x="446463" y="91617"/>
                  </a:lnTo>
                  <a:lnTo>
                    <a:pt x="415970" y="60575"/>
                  </a:lnTo>
                  <a:lnTo>
                    <a:pt x="380661" y="35164"/>
                  </a:lnTo>
                  <a:lnTo>
                    <a:pt x="341250" y="16113"/>
                  </a:lnTo>
                  <a:lnTo>
                    <a:pt x="298453" y="4149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9551860" y="946403"/>
            <a:ext cx="2019300" cy="948690"/>
            <a:chOff x="9551860" y="946403"/>
            <a:chExt cx="2019300" cy="948690"/>
          </a:xfrm>
        </p:grpSpPr>
        <p:sp>
          <p:nvSpPr>
            <p:cNvPr id="12" name="object 12"/>
            <p:cNvSpPr/>
            <p:nvPr/>
          </p:nvSpPr>
          <p:spPr>
            <a:xfrm>
              <a:off x="9566147" y="1233677"/>
              <a:ext cx="1990725" cy="647065"/>
            </a:xfrm>
            <a:custGeom>
              <a:avLst/>
              <a:gdLst/>
              <a:ahLst/>
              <a:cxnLst/>
              <a:rect l="l" t="t" r="r" b="b"/>
              <a:pathLst>
                <a:path w="1990725" h="647064">
                  <a:moveTo>
                    <a:pt x="0" y="0"/>
                  </a:moveTo>
                  <a:lnTo>
                    <a:pt x="1990598" y="0"/>
                  </a:lnTo>
                </a:path>
                <a:path w="1990725" h="647064">
                  <a:moveTo>
                    <a:pt x="1971294" y="4572"/>
                  </a:moveTo>
                  <a:lnTo>
                    <a:pt x="1971294" y="646938"/>
                  </a:lnTo>
                </a:path>
              </a:pathLst>
            </a:custGeom>
            <a:ln w="285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58983" y="946403"/>
              <a:ext cx="506095" cy="515620"/>
            </a:xfrm>
            <a:custGeom>
              <a:avLst/>
              <a:gdLst/>
              <a:ahLst/>
              <a:cxnLst/>
              <a:rect l="l" t="t" r="r" b="b"/>
              <a:pathLst>
                <a:path w="506095" h="515619">
                  <a:moveTo>
                    <a:pt x="252984" y="0"/>
                  </a:moveTo>
                  <a:lnTo>
                    <a:pt x="207514" y="4149"/>
                  </a:lnTo>
                  <a:lnTo>
                    <a:pt x="164717" y="16113"/>
                  </a:lnTo>
                  <a:lnTo>
                    <a:pt x="125306" y="35164"/>
                  </a:lnTo>
                  <a:lnTo>
                    <a:pt x="89997" y="60575"/>
                  </a:lnTo>
                  <a:lnTo>
                    <a:pt x="59504" y="91617"/>
                  </a:lnTo>
                  <a:lnTo>
                    <a:pt x="34544" y="127564"/>
                  </a:lnTo>
                  <a:lnTo>
                    <a:pt x="15829" y="167688"/>
                  </a:lnTo>
                  <a:lnTo>
                    <a:pt x="4076" y="211261"/>
                  </a:lnTo>
                  <a:lnTo>
                    <a:pt x="0" y="257556"/>
                  </a:lnTo>
                  <a:lnTo>
                    <a:pt x="4076" y="303850"/>
                  </a:lnTo>
                  <a:lnTo>
                    <a:pt x="15829" y="347423"/>
                  </a:lnTo>
                  <a:lnTo>
                    <a:pt x="34543" y="387547"/>
                  </a:lnTo>
                  <a:lnTo>
                    <a:pt x="59504" y="423494"/>
                  </a:lnTo>
                  <a:lnTo>
                    <a:pt x="89997" y="454536"/>
                  </a:lnTo>
                  <a:lnTo>
                    <a:pt x="125306" y="479947"/>
                  </a:lnTo>
                  <a:lnTo>
                    <a:pt x="164717" y="498998"/>
                  </a:lnTo>
                  <a:lnTo>
                    <a:pt x="207514" y="510962"/>
                  </a:lnTo>
                  <a:lnTo>
                    <a:pt x="252984" y="515112"/>
                  </a:lnTo>
                  <a:lnTo>
                    <a:pt x="298453" y="510962"/>
                  </a:lnTo>
                  <a:lnTo>
                    <a:pt x="341250" y="498998"/>
                  </a:lnTo>
                  <a:lnTo>
                    <a:pt x="380661" y="479947"/>
                  </a:lnTo>
                  <a:lnTo>
                    <a:pt x="415970" y="454536"/>
                  </a:lnTo>
                  <a:lnTo>
                    <a:pt x="446463" y="423494"/>
                  </a:lnTo>
                  <a:lnTo>
                    <a:pt x="471424" y="387547"/>
                  </a:lnTo>
                  <a:lnTo>
                    <a:pt x="490138" y="347423"/>
                  </a:lnTo>
                  <a:lnTo>
                    <a:pt x="501891" y="303850"/>
                  </a:lnTo>
                  <a:lnTo>
                    <a:pt x="505968" y="257556"/>
                  </a:lnTo>
                  <a:lnTo>
                    <a:pt x="501891" y="211261"/>
                  </a:lnTo>
                  <a:lnTo>
                    <a:pt x="490138" y="167688"/>
                  </a:lnTo>
                  <a:lnTo>
                    <a:pt x="471424" y="127564"/>
                  </a:lnTo>
                  <a:lnTo>
                    <a:pt x="446463" y="91617"/>
                  </a:lnTo>
                  <a:lnTo>
                    <a:pt x="415970" y="60575"/>
                  </a:lnTo>
                  <a:lnTo>
                    <a:pt x="380661" y="35164"/>
                  </a:lnTo>
                  <a:lnTo>
                    <a:pt x="341250" y="16113"/>
                  </a:lnTo>
                  <a:lnTo>
                    <a:pt x="298453" y="4149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9551860" y="2204656"/>
            <a:ext cx="2019300" cy="887730"/>
            <a:chOff x="9551860" y="2204656"/>
            <a:chExt cx="2019300" cy="887730"/>
          </a:xfrm>
        </p:grpSpPr>
        <p:sp>
          <p:nvSpPr>
            <p:cNvPr id="15" name="object 15"/>
            <p:cNvSpPr/>
            <p:nvPr/>
          </p:nvSpPr>
          <p:spPr>
            <a:xfrm>
              <a:off x="9566147" y="2218944"/>
              <a:ext cx="1990725" cy="650240"/>
            </a:xfrm>
            <a:custGeom>
              <a:avLst/>
              <a:gdLst/>
              <a:ahLst/>
              <a:cxnLst/>
              <a:rect l="l" t="t" r="r" b="b"/>
              <a:pathLst>
                <a:path w="1990725" h="650239">
                  <a:moveTo>
                    <a:pt x="1971294" y="0"/>
                  </a:moveTo>
                  <a:lnTo>
                    <a:pt x="1971294" y="649351"/>
                  </a:lnTo>
                </a:path>
                <a:path w="1990725" h="650239">
                  <a:moveTo>
                    <a:pt x="0" y="649985"/>
                  </a:moveTo>
                  <a:lnTo>
                    <a:pt x="1990598" y="649985"/>
                  </a:lnTo>
                </a:path>
              </a:pathLst>
            </a:custGeom>
            <a:ln w="285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158983" y="2577084"/>
              <a:ext cx="506095" cy="515620"/>
            </a:xfrm>
            <a:custGeom>
              <a:avLst/>
              <a:gdLst/>
              <a:ahLst/>
              <a:cxnLst/>
              <a:rect l="l" t="t" r="r" b="b"/>
              <a:pathLst>
                <a:path w="506095" h="515619">
                  <a:moveTo>
                    <a:pt x="252984" y="0"/>
                  </a:moveTo>
                  <a:lnTo>
                    <a:pt x="207514" y="4149"/>
                  </a:lnTo>
                  <a:lnTo>
                    <a:pt x="164717" y="16113"/>
                  </a:lnTo>
                  <a:lnTo>
                    <a:pt x="125306" y="35164"/>
                  </a:lnTo>
                  <a:lnTo>
                    <a:pt x="89997" y="60575"/>
                  </a:lnTo>
                  <a:lnTo>
                    <a:pt x="59504" y="91617"/>
                  </a:lnTo>
                  <a:lnTo>
                    <a:pt x="34544" y="127564"/>
                  </a:lnTo>
                  <a:lnTo>
                    <a:pt x="15829" y="167688"/>
                  </a:lnTo>
                  <a:lnTo>
                    <a:pt x="4076" y="211261"/>
                  </a:lnTo>
                  <a:lnTo>
                    <a:pt x="0" y="257555"/>
                  </a:lnTo>
                  <a:lnTo>
                    <a:pt x="4076" y="303850"/>
                  </a:lnTo>
                  <a:lnTo>
                    <a:pt x="15829" y="347423"/>
                  </a:lnTo>
                  <a:lnTo>
                    <a:pt x="34543" y="387547"/>
                  </a:lnTo>
                  <a:lnTo>
                    <a:pt x="59504" y="423494"/>
                  </a:lnTo>
                  <a:lnTo>
                    <a:pt x="89997" y="454536"/>
                  </a:lnTo>
                  <a:lnTo>
                    <a:pt x="125306" y="479947"/>
                  </a:lnTo>
                  <a:lnTo>
                    <a:pt x="164717" y="498998"/>
                  </a:lnTo>
                  <a:lnTo>
                    <a:pt x="207514" y="510962"/>
                  </a:lnTo>
                  <a:lnTo>
                    <a:pt x="252984" y="515112"/>
                  </a:lnTo>
                  <a:lnTo>
                    <a:pt x="298453" y="510962"/>
                  </a:lnTo>
                  <a:lnTo>
                    <a:pt x="341250" y="498998"/>
                  </a:lnTo>
                  <a:lnTo>
                    <a:pt x="380661" y="479947"/>
                  </a:lnTo>
                  <a:lnTo>
                    <a:pt x="415970" y="454536"/>
                  </a:lnTo>
                  <a:lnTo>
                    <a:pt x="446463" y="423494"/>
                  </a:lnTo>
                  <a:lnTo>
                    <a:pt x="471424" y="387547"/>
                  </a:lnTo>
                  <a:lnTo>
                    <a:pt x="490138" y="347423"/>
                  </a:lnTo>
                  <a:lnTo>
                    <a:pt x="501891" y="303850"/>
                  </a:lnTo>
                  <a:lnTo>
                    <a:pt x="505968" y="257555"/>
                  </a:lnTo>
                  <a:lnTo>
                    <a:pt x="501891" y="211261"/>
                  </a:lnTo>
                  <a:lnTo>
                    <a:pt x="490138" y="167688"/>
                  </a:lnTo>
                  <a:lnTo>
                    <a:pt x="471424" y="127564"/>
                  </a:lnTo>
                  <a:lnTo>
                    <a:pt x="446463" y="91617"/>
                  </a:lnTo>
                  <a:lnTo>
                    <a:pt x="415970" y="60575"/>
                  </a:lnTo>
                  <a:lnTo>
                    <a:pt x="380661" y="35164"/>
                  </a:lnTo>
                  <a:lnTo>
                    <a:pt x="341250" y="16113"/>
                  </a:lnTo>
                  <a:lnTo>
                    <a:pt x="298453" y="4149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7129462" y="2577083"/>
            <a:ext cx="2112645" cy="955040"/>
            <a:chOff x="7129462" y="2577083"/>
            <a:chExt cx="2112645" cy="955040"/>
          </a:xfrm>
        </p:grpSpPr>
        <p:sp>
          <p:nvSpPr>
            <p:cNvPr id="18" name="object 18"/>
            <p:cNvSpPr/>
            <p:nvPr/>
          </p:nvSpPr>
          <p:spPr>
            <a:xfrm>
              <a:off x="7143750" y="2868929"/>
              <a:ext cx="2084070" cy="648970"/>
            </a:xfrm>
            <a:custGeom>
              <a:avLst/>
              <a:gdLst/>
              <a:ahLst/>
              <a:cxnLst/>
              <a:rect l="l" t="t" r="r" b="b"/>
              <a:pathLst>
                <a:path w="2084070" h="648970">
                  <a:moveTo>
                    <a:pt x="0" y="0"/>
                  </a:moveTo>
                  <a:lnTo>
                    <a:pt x="2084070" y="0"/>
                  </a:lnTo>
                </a:path>
                <a:path w="2084070" h="648970">
                  <a:moveTo>
                    <a:pt x="16764" y="0"/>
                  </a:moveTo>
                  <a:lnTo>
                    <a:pt x="16764" y="648462"/>
                  </a:lnTo>
                </a:path>
              </a:pathLst>
            </a:custGeom>
            <a:ln w="285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188452" y="2577083"/>
              <a:ext cx="506095" cy="515620"/>
            </a:xfrm>
            <a:custGeom>
              <a:avLst/>
              <a:gdLst/>
              <a:ahLst/>
              <a:cxnLst/>
              <a:rect l="l" t="t" r="r" b="b"/>
              <a:pathLst>
                <a:path w="506095" h="515619">
                  <a:moveTo>
                    <a:pt x="252983" y="0"/>
                  </a:moveTo>
                  <a:lnTo>
                    <a:pt x="207514" y="4149"/>
                  </a:lnTo>
                  <a:lnTo>
                    <a:pt x="164717" y="16113"/>
                  </a:lnTo>
                  <a:lnTo>
                    <a:pt x="125306" y="35164"/>
                  </a:lnTo>
                  <a:lnTo>
                    <a:pt x="89997" y="60575"/>
                  </a:lnTo>
                  <a:lnTo>
                    <a:pt x="59504" y="91617"/>
                  </a:lnTo>
                  <a:lnTo>
                    <a:pt x="34544" y="127564"/>
                  </a:lnTo>
                  <a:lnTo>
                    <a:pt x="15829" y="167688"/>
                  </a:lnTo>
                  <a:lnTo>
                    <a:pt x="4076" y="211261"/>
                  </a:lnTo>
                  <a:lnTo>
                    <a:pt x="0" y="257555"/>
                  </a:lnTo>
                  <a:lnTo>
                    <a:pt x="4076" y="303850"/>
                  </a:lnTo>
                  <a:lnTo>
                    <a:pt x="15829" y="347423"/>
                  </a:lnTo>
                  <a:lnTo>
                    <a:pt x="34544" y="387547"/>
                  </a:lnTo>
                  <a:lnTo>
                    <a:pt x="59504" y="423494"/>
                  </a:lnTo>
                  <a:lnTo>
                    <a:pt x="89997" y="454536"/>
                  </a:lnTo>
                  <a:lnTo>
                    <a:pt x="125306" y="479947"/>
                  </a:lnTo>
                  <a:lnTo>
                    <a:pt x="164717" y="498998"/>
                  </a:lnTo>
                  <a:lnTo>
                    <a:pt x="207514" y="510962"/>
                  </a:lnTo>
                  <a:lnTo>
                    <a:pt x="252983" y="515112"/>
                  </a:lnTo>
                  <a:lnTo>
                    <a:pt x="298453" y="510962"/>
                  </a:lnTo>
                  <a:lnTo>
                    <a:pt x="341250" y="498998"/>
                  </a:lnTo>
                  <a:lnTo>
                    <a:pt x="380661" y="479947"/>
                  </a:lnTo>
                  <a:lnTo>
                    <a:pt x="415970" y="454536"/>
                  </a:lnTo>
                  <a:lnTo>
                    <a:pt x="446463" y="423494"/>
                  </a:lnTo>
                  <a:lnTo>
                    <a:pt x="471424" y="387547"/>
                  </a:lnTo>
                  <a:lnTo>
                    <a:pt x="490138" y="347423"/>
                  </a:lnTo>
                  <a:lnTo>
                    <a:pt x="501891" y="303850"/>
                  </a:lnTo>
                  <a:lnTo>
                    <a:pt x="505968" y="257555"/>
                  </a:lnTo>
                  <a:lnTo>
                    <a:pt x="501891" y="211261"/>
                  </a:lnTo>
                  <a:lnTo>
                    <a:pt x="490138" y="167688"/>
                  </a:lnTo>
                  <a:lnTo>
                    <a:pt x="471424" y="127564"/>
                  </a:lnTo>
                  <a:lnTo>
                    <a:pt x="446463" y="91617"/>
                  </a:lnTo>
                  <a:lnTo>
                    <a:pt x="415970" y="60575"/>
                  </a:lnTo>
                  <a:lnTo>
                    <a:pt x="380661" y="35164"/>
                  </a:lnTo>
                  <a:lnTo>
                    <a:pt x="341250" y="16113"/>
                  </a:lnTo>
                  <a:lnTo>
                    <a:pt x="298453" y="4149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7143750" y="3854196"/>
            <a:ext cx="2383790" cy="965835"/>
            <a:chOff x="7143750" y="3854196"/>
            <a:chExt cx="2383790" cy="965835"/>
          </a:xfrm>
        </p:grpSpPr>
        <p:sp>
          <p:nvSpPr>
            <p:cNvPr id="21" name="object 21"/>
            <p:cNvSpPr/>
            <p:nvPr/>
          </p:nvSpPr>
          <p:spPr>
            <a:xfrm>
              <a:off x="7143750" y="3854196"/>
              <a:ext cx="2341880" cy="645160"/>
            </a:xfrm>
            <a:custGeom>
              <a:avLst/>
              <a:gdLst/>
              <a:ahLst/>
              <a:cxnLst/>
              <a:rect l="l" t="t" r="r" b="b"/>
              <a:pathLst>
                <a:path w="2341879" h="645160">
                  <a:moveTo>
                    <a:pt x="16764" y="0"/>
                  </a:moveTo>
                  <a:lnTo>
                    <a:pt x="16764" y="644778"/>
                  </a:lnTo>
                </a:path>
                <a:path w="2341879" h="645160">
                  <a:moveTo>
                    <a:pt x="0" y="624077"/>
                  </a:moveTo>
                  <a:lnTo>
                    <a:pt x="2341499" y="624077"/>
                  </a:lnTo>
                </a:path>
              </a:pathLst>
            </a:custGeom>
            <a:ln w="285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441688" y="4470654"/>
              <a:ext cx="85725" cy="349885"/>
            </a:xfrm>
            <a:custGeom>
              <a:avLst/>
              <a:gdLst/>
              <a:ahLst/>
              <a:cxnLst/>
              <a:rect l="l" t="t" r="r" b="b"/>
              <a:pathLst>
                <a:path w="85725" h="349885">
                  <a:moveTo>
                    <a:pt x="28575" y="263652"/>
                  </a:moveTo>
                  <a:lnTo>
                    <a:pt x="0" y="263652"/>
                  </a:lnTo>
                  <a:lnTo>
                    <a:pt x="42925" y="349377"/>
                  </a:lnTo>
                  <a:lnTo>
                    <a:pt x="78623" y="277876"/>
                  </a:lnTo>
                  <a:lnTo>
                    <a:pt x="28575" y="277876"/>
                  </a:lnTo>
                  <a:lnTo>
                    <a:pt x="28575" y="263652"/>
                  </a:lnTo>
                  <a:close/>
                </a:path>
                <a:path w="85725" h="349885">
                  <a:moveTo>
                    <a:pt x="57150" y="0"/>
                  </a:moveTo>
                  <a:lnTo>
                    <a:pt x="28575" y="0"/>
                  </a:lnTo>
                  <a:lnTo>
                    <a:pt x="28575" y="277876"/>
                  </a:lnTo>
                  <a:lnTo>
                    <a:pt x="57150" y="277876"/>
                  </a:lnTo>
                  <a:lnTo>
                    <a:pt x="57150" y="0"/>
                  </a:lnTo>
                  <a:close/>
                </a:path>
                <a:path w="85725" h="349885">
                  <a:moveTo>
                    <a:pt x="85725" y="263652"/>
                  </a:moveTo>
                  <a:lnTo>
                    <a:pt x="57150" y="263652"/>
                  </a:lnTo>
                  <a:lnTo>
                    <a:pt x="57150" y="277876"/>
                  </a:lnTo>
                  <a:lnTo>
                    <a:pt x="78623" y="277876"/>
                  </a:lnTo>
                  <a:lnTo>
                    <a:pt x="85725" y="263652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379079" y="1055369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49230" y="1056893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49230" y="2688462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79079" y="2688462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310116" y="1082039"/>
            <a:ext cx="160020" cy="291465"/>
          </a:xfrm>
          <a:custGeom>
            <a:avLst/>
            <a:gdLst/>
            <a:ahLst/>
            <a:cxnLst/>
            <a:rect l="l" t="t" r="r" b="b"/>
            <a:pathLst>
              <a:path w="160020" h="291465">
                <a:moveTo>
                  <a:pt x="80009" y="0"/>
                </a:moveTo>
                <a:lnTo>
                  <a:pt x="0" y="0"/>
                </a:lnTo>
                <a:lnTo>
                  <a:pt x="80009" y="145542"/>
                </a:lnTo>
                <a:lnTo>
                  <a:pt x="0" y="291084"/>
                </a:lnTo>
                <a:lnTo>
                  <a:pt x="80009" y="291084"/>
                </a:lnTo>
                <a:lnTo>
                  <a:pt x="160019" y="145542"/>
                </a:lnTo>
                <a:lnTo>
                  <a:pt x="80009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387328" y="1962911"/>
            <a:ext cx="291465" cy="160020"/>
          </a:xfrm>
          <a:custGeom>
            <a:avLst/>
            <a:gdLst/>
            <a:ahLst/>
            <a:cxnLst/>
            <a:rect l="l" t="t" r="r" b="b"/>
            <a:pathLst>
              <a:path w="291465" h="160019">
                <a:moveTo>
                  <a:pt x="291083" y="0"/>
                </a:moveTo>
                <a:lnTo>
                  <a:pt x="145542" y="80010"/>
                </a:lnTo>
                <a:lnTo>
                  <a:pt x="0" y="0"/>
                </a:lnTo>
                <a:lnTo>
                  <a:pt x="0" y="80010"/>
                </a:lnTo>
                <a:lnTo>
                  <a:pt x="145542" y="160020"/>
                </a:lnTo>
                <a:lnTo>
                  <a:pt x="291083" y="80010"/>
                </a:lnTo>
                <a:lnTo>
                  <a:pt x="29108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323831" y="2740151"/>
            <a:ext cx="160020" cy="291465"/>
          </a:xfrm>
          <a:custGeom>
            <a:avLst/>
            <a:gdLst/>
            <a:ahLst/>
            <a:cxnLst/>
            <a:rect l="l" t="t" r="r" b="b"/>
            <a:pathLst>
              <a:path w="160020" h="291464">
                <a:moveTo>
                  <a:pt x="160020" y="0"/>
                </a:moveTo>
                <a:lnTo>
                  <a:pt x="80010" y="0"/>
                </a:lnTo>
                <a:lnTo>
                  <a:pt x="0" y="145542"/>
                </a:lnTo>
                <a:lnTo>
                  <a:pt x="80010" y="291084"/>
                </a:lnTo>
                <a:lnTo>
                  <a:pt x="160020" y="291084"/>
                </a:lnTo>
                <a:lnTo>
                  <a:pt x="80010" y="145542"/>
                </a:lnTo>
                <a:lnTo>
                  <a:pt x="16002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10400" y="3598164"/>
            <a:ext cx="291465" cy="160020"/>
          </a:xfrm>
          <a:custGeom>
            <a:avLst/>
            <a:gdLst/>
            <a:ahLst/>
            <a:cxnLst/>
            <a:rect l="l" t="t" r="r" b="b"/>
            <a:pathLst>
              <a:path w="291465" h="160020">
                <a:moveTo>
                  <a:pt x="291083" y="0"/>
                </a:moveTo>
                <a:lnTo>
                  <a:pt x="145542" y="80010"/>
                </a:lnTo>
                <a:lnTo>
                  <a:pt x="0" y="0"/>
                </a:lnTo>
                <a:lnTo>
                  <a:pt x="0" y="80010"/>
                </a:lnTo>
                <a:lnTo>
                  <a:pt x="145542" y="160019"/>
                </a:lnTo>
                <a:lnTo>
                  <a:pt x="291083" y="80010"/>
                </a:lnTo>
                <a:lnTo>
                  <a:pt x="29108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7755445" y="1507236"/>
            <a:ext cx="1217930" cy="554990"/>
            <a:chOff x="7755445" y="1507236"/>
            <a:chExt cx="1217930" cy="554990"/>
          </a:xfrm>
        </p:grpSpPr>
        <p:pic>
          <p:nvPicPr>
            <p:cNvPr id="32" name="object 32" descr="Woman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5445" y="1507236"/>
              <a:ext cx="381380" cy="55473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139684" y="1709927"/>
              <a:ext cx="302895" cy="224154"/>
            </a:xfrm>
            <a:custGeom>
              <a:avLst/>
              <a:gdLst/>
              <a:ahLst/>
              <a:cxnLst/>
              <a:rect l="l" t="t" r="r" b="b"/>
              <a:pathLst>
                <a:path w="302895" h="224155">
                  <a:moveTo>
                    <a:pt x="290195" y="38100"/>
                  </a:moveTo>
                  <a:lnTo>
                    <a:pt x="277495" y="31750"/>
                  </a:lnTo>
                  <a:lnTo>
                    <a:pt x="213995" y="0"/>
                  </a:lnTo>
                  <a:lnTo>
                    <a:pt x="213995" y="31750"/>
                  </a:lnTo>
                  <a:lnTo>
                    <a:pt x="33528" y="31750"/>
                  </a:lnTo>
                  <a:lnTo>
                    <a:pt x="33528" y="44450"/>
                  </a:lnTo>
                  <a:lnTo>
                    <a:pt x="213995" y="44450"/>
                  </a:lnTo>
                  <a:lnTo>
                    <a:pt x="213995" y="76200"/>
                  </a:lnTo>
                  <a:lnTo>
                    <a:pt x="277495" y="44450"/>
                  </a:lnTo>
                  <a:lnTo>
                    <a:pt x="290195" y="38100"/>
                  </a:lnTo>
                  <a:close/>
                </a:path>
                <a:path w="302895" h="224155">
                  <a:moveTo>
                    <a:pt x="302387" y="179578"/>
                  </a:moveTo>
                  <a:lnTo>
                    <a:pt x="76200" y="179578"/>
                  </a:lnTo>
                  <a:lnTo>
                    <a:pt x="76200" y="147828"/>
                  </a:lnTo>
                  <a:lnTo>
                    <a:pt x="0" y="185928"/>
                  </a:lnTo>
                  <a:lnTo>
                    <a:pt x="76200" y="224028"/>
                  </a:lnTo>
                  <a:lnTo>
                    <a:pt x="76200" y="192278"/>
                  </a:lnTo>
                  <a:lnTo>
                    <a:pt x="302387" y="192278"/>
                  </a:lnTo>
                  <a:lnTo>
                    <a:pt x="302387" y="179578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Bank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0579" y="1513332"/>
              <a:ext cx="522731" cy="5227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3315" y="1819656"/>
              <a:ext cx="135635" cy="141732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446644" y="2117217"/>
            <a:ext cx="174752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Citra’s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gets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denied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due</a:t>
            </a:r>
            <a:r>
              <a:rPr dirty="0" sz="1100" spc="-25">
                <a:latin typeface="Calibri"/>
                <a:cs typeface="Calibri"/>
              </a:rPr>
              <a:t> to </a:t>
            </a:r>
            <a:r>
              <a:rPr dirty="0" sz="1100">
                <a:latin typeface="Calibri"/>
                <a:cs typeface="Calibri"/>
              </a:rPr>
              <a:t>poor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score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773221" y="1463039"/>
            <a:ext cx="1291590" cy="601980"/>
            <a:chOff x="9773221" y="1463039"/>
            <a:chExt cx="1291590" cy="601980"/>
          </a:xfrm>
        </p:grpSpPr>
        <p:pic>
          <p:nvPicPr>
            <p:cNvPr id="38" name="object 38" descr="Woman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3221" y="1463039"/>
              <a:ext cx="381380" cy="55473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197084" y="1702307"/>
              <a:ext cx="257175" cy="187960"/>
            </a:xfrm>
            <a:custGeom>
              <a:avLst/>
              <a:gdLst/>
              <a:ahLst/>
              <a:cxnLst/>
              <a:rect l="l" t="t" r="r" b="b"/>
              <a:pathLst>
                <a:path w="257175" h="187960">
                  <a:moveTo>
                    <a:pt x="256667" y="149352"/>
                  </a:moveTo>
                  <a:lnTo>
                    <a:pt x="243967" y="143002"/>
                  </a:lnTo>
                  <a:lnTo>
                    <a:pt x="180467" y="111252"/>
                  </a:lnTo>
                  <a:lnTo>
                    <a:pt x="180467" y="143002"/>
                  </a:lnTo>
                  <a:lnTo>
                    <a:pt x="0" y="143002"/>
                  </a:lnTo>
                  <a:lnTo>
                    <a:pt x="0" y="155702"/>
                  </a:lnTo>
                  <a:lnTo>
                    <a:pt x="180467" y="155702"/>
                  </a:lnTo>
                  <a:lnTo>
                    <a:pt x="180467" y="187452"/>
                  </a:lnTo>
                  <a:lnTo>
                    <a:pt x="243967" y="155702"/>
                  </a:lnTo>
                  <a:lnTo>
                    <a:pt x="256667" y="149352"/>
                  </a:lnTo>
                  <a:close/>
                </a:path>
                <a:path w="257175" h="187960">
                  <a:moveTo>
                    <a:pt x="256667" y="38100"/>
                  </a:moveTo>
                  <a:lnTo>
                    <a:pt x="243967" y="31750"/>
                  </a:lnTo>
                  <a:lnTo>
                    <a:pt x="180467" y="0"/>
                  </a:lnTo>
                  <a:lnTo>
                    <a:pt x="180467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80467" y="44450"/>
                  </a:lnTo>
                  <a:lnTo>
                    <a:pt x="180467" y="76200"/>
                  </a:lnTo>
                  <a:lnTo>
                    <a:pt x="243967" y="44450"/>
                  </a:lnTo>
                  <a:lnTo>
                    <a:pt x="256667" y="3810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Man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6912" y="1464563"/>
              <a:ext cx="277285" cy="266700"/>
            </a:xfrm>
            <a:prstGeom prst="rect">
              <a:avLst/>
            </a:prstGeom>
          </p:spPr>
        </p:pic>
        <p:pic>
          <p:nvPicPr>
            <p:cNvPr id="41" name="object 41" descr="Woman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27207" y="1778507"/>
              <a:ext cx="324611" cy="286512"/>
            </a:xfrm>
            <a:prstGeom prst="rect">
              <a:avLst/>
            </a:prstGeom>
          </p:spPr>
        </p:pic>
        <p:pic>
          <p:nvPicPr>
            <p:cNvPr id="42" name="object 42" descr="Boy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36351" y="1464563"/>
              <a:ext cx="301751" cy="266700"/>
            </a:xfrm>
            <a:prstGeom prst="rect">
              <a:avLst/>
            </a:prstGeom>
          </p:spPr>
        </p:pic>
        <p:pic>
          <p:nvPicPr>
            <p:cNvPr id="43" name="object 43" descr="Svg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70107" y="1792223"/>
              <a:ext cx="292744" cy="27279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9445243" y="2126361"/>
            <a:ext cx="189992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Citra </a:t>
            </a:r>
            <a:r>
              <a:rPr dirty="0" sz="1100" spc="-10">
                <a:latin typeface="Calibri"/>
                <a:cs typeface="Calibri"/>
              </a:rPr>
              <a:t>approaches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get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together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810605" y="3076955"/>
            <a:ext cx="1377315" cy="615950"/>
            <a:chOff x="9810605" y="3076955"/>
            <a:chExt cx="1377315" cy="615950"/>
          </a:xfrm>
        </p:grpSpPr>
        <p:pic>
          <p:nvPicPr>
            <p:cNvPr id="46" name="object 46" descr="Man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7914" y="3272027"/>
              <a:ext cx="215666" cy="185927"/>
            </a:xfrm>
            <a:prstGeom prst="rect">
              <a:avLst/>
            </a:prstGeom>
          </p:spPr>
        </p:pic>
        <p:pic>
          <p:nvPicPr>
            <p:cNvPr id="47" name="object 47" descr="Woman 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19151" y="3491483"/>
              <a:ext cx="192139" cy="201167"/>
            </a:xfrm>
            <a:prstGeom prst="rect">
              <a:avLst/>
            </a:prstGeom>
          </p:spPr>
        </p:pic>
        <p:pic>
          <p:nvPicPr>
            <p:cNvPr id="48" name="object 48" descr="Boy 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10605" y="3272027"/>
              <a:ext cx="206151" cy="185927"/>
            </a:xfrm>
            <a:prstGeom prst="rect">
              <a:avLst/>
            </a:prstGeom>
          </p:spPr>
        </p:pic>
        <p:pic>
          <p:nvPicPr>
            <p:cNvPr id="49" name="object 49" descr="Svg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53827" y="3502151"/>
              <a:ext cx="227690" cy="190500"/>
            </a:xfrm>
            <a:prstGeom prst="rect">
              <a:avLst/>
            </a:prstGeom>
          </p:spPr>
        </p:pic>
        <p:pic>
          <p:nvPicPr>
            <p:cNvPr id="50" name="object 50" descr="Woman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18191" y="3076955"/>
              <a:ext cx="252983" cy="18592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302240" y="3319271"/>
              <a:ext cx="302895" cy="220979"/>
            </a:xfrm>
            <a:custGeom>
              <a:avLst/>
              <a:gdLst/>
              <a:ahLst/>
              <a:cxnLst/>
              <a:rect l="l" t="t" r="r" b="b"/>
              <a:pathLst>
                <a:path w="302895" h="220979">
                  <a:moveTo>
                    <a:pt x="302387" y="176530"/>
                  </a:moveTo>
                  <a:lnTo>
                    <a:pt x="76200" y="176530"/>
                  </a:lnTo>
                  <a:lnTo>
                    <a:pt x="76200" y="144780"/>
                  </a:lnTo>
                  <a:lnTo>
                    <a:pt x="0" y="182880"/>
                  </a:lnTo>
                  <a:lnTo>
                    <a:pt x="76200" y="220980"/>
                  </a:lnTo>
                  <a:lnTo>
                    <a:pt x="76200" y="189230"/>
                  </a:lnTo>
                  <a:lnTo>
                    <a:pt x="302387" y="189230"/>
                  </a:lnTo>
                  <a:lnTo>
                    <a:pt x="302387" y="176530"/>
                  </a:lnTo>
                  <a:close/>
                </a:path>
                <a:path w="302895" h="220979">
                  <a:moveTo>
                    <a:pt x="302387" y="38100"/>
                  </a:moveTo>
                  <a:lnTo>
                    <a:pt x="289687" y="31750"/>
                  </a:lnTo>
                  <a:lnTo>
                    <a:pt x="226187" y="0"/>
                  </a:lnTo>
                  <a:lnTo>
                    <a:pt x="226187" y="31750"/>
                  </a:lnTo>
                  <a:lnTo>
                    <a:pt x="45720" y="31750"/>
                  </a:lnTo>
                  <a:lnTo>
                    <a:pt x="45720" y="44450"/>
                  </a:lnTo>
                  <a:lnTo>
                    <a:pt x="226187" y="44450"/>
                  </a:lnTo>
                  <a:lnTo>
                    <a:pt x="226187" y="76200"/>
                  </a:lnTo>
                  <a:lnTo>
                    <a:pt x="289687" y="44450"/>
                  </a:lnTo>
                  <a:lnTo>
                    <a:pt x="302387" y="3810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01300" y="3398519"/>
              <a:ext cx="163068" cy="173736"/>
            </a:xfrm>
            <a:prstGeom prst="rect">
              <a:avLst/>
            </a:prstGeom>
          </p:spPr>
        </p:pic>
        <p:pic>
          <p:nvPicPr>
            <p:cNvPr id="53" name="object 53" descr="Bank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4952" y="3095243"/>
              <a:ext cx="522731" cy="52425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9507093" y="3711955"/>
            <a:ext cx="1896745" cy="52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banks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approves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due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accountability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group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869029" y="3038855"/>
            <a:ext cx="1010285" cy="664845"/>
            <a:chOff x="7869029" y="3038855"/>
            <a:chExt cx="1010285" cy="664845"/>
          </a:xfrm>
        </p:grpSpPr>
        <p:pic>
          <p:nvPicPr>
            <p:cNvPr id="56" name="object 56" descr="Man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6338" y="3278123"/>
              <a:ext cx="215666" cy="185927"/>
            </a:xfrm>
            <a:prstGeom prst="rect">
              <a:avLst/>
            </a:prstGeom>
          </p:spPr>
        </p:pic>
        <p:pic>
          <p:nvPicPr>
            <p:cNvPr id="57" name="object 57" descr="Woman 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77575" y="3497579"/>
              <a:ext cx="192139" cy="199644"/>
            </a:xfrm>
            <a:prstGeom prst="rect">
              <a:avLst/>
            </a:prstGeom>
          </p:spPr>
        </p:pic>
        <p:pic>
          <p:nvPicPr>
            <p:cNvPr id="58" name="object 58" descr="Boy 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69029" y="3278123"/>
              <a:ext cx="206151" cy="185927"/>
            </a:xfrm>
            <a:prstGeom prst="rect">
              <a:avLst/>
            </a:prstGeom>
          </p:spPr>
        </p:pic>
        <p:pic>
          <p:nvPicPr>
            <p:cNvPr id="59" name="object 59" descr="Svg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12251" y="3506723"/>
              <a:ext cx="227690" cy="190500"/>
            </a:xfrm>
            <a:prstGeom prst="rect">
              <a:avLst/>
            </a:prstGeom>
          </p:spPr>
        </p:pic>
        <p:pic>
          <p:nvPicPr>
            <p:cNvPr id="60" name="object 60" descr="Woman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76615" y="3081527"/>
              <a:ext cx="252983" cy="185927"/>
            </a:xfrm>
            <a:prstGeom prst="rect">
              <a:avLst/>
            </a:prstGeom>
          </p:spPr>
        </p:pic>
        <p:pic>
          <p:nvPicPr>
            <p:cNvPr id="61" name="object 61" descr="Increase 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85987" y="3038855"/>
              <a:ext cx="592835" cy="664464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7461250" y="3717797"/>
            <a:ext cx="184277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successful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repayment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caused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credit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score </a:t>
            </a:r>
            <a:r>
              <a:rPr dirty="0" sz="1100">
                <a:latin typeface="Calibri"/>
                <a:cs typeface="Calibri"/>
              </a:rPr>
              <a:t>possibilities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members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26452" y="4818888"/>
            <a:ext cx="3941445" cy="1564005"/>
          </a:xfrm>
          <a:prstGeom prst="rect">
            <a:avLst/>
          </a:prstGeom>
          <a:solidFill>
            <a:srgbClr val="87AA8F">
              <a:alpha val="54508"/>
            </a:srgbClr>
          </a:solidFill>
        </p:spPr>
        <p:txBody>
          <a:bodyPr wrap="square" lIns="0" tIns="112395" rIns="0" bIns="0" rtlCol="0" vert="horz">
            <a:spAutoFit/>
          </a:bodyPr>
          <a:lstStyle/>
          <a:p>
            <a:pPr marL="1156335">
              <a:lnSpc>
                <a:spcPct val="100000"/>
              </a:lnSpc>
              <a:spcBef>
                <a:spcPts val="885"/>
              </a:spcBef>
            </a:pPr>
            <a:r>
              <a:rPr dirty="0" sz="1400" b="1">
                <a:latin typeface="Calibri"/>
                <a:cs typeface="Calibri"/>
              </a:rPr>
              <a:t>GROUP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BORROWING</a:t>
            </a:r>
            <a:endParaRPr sz="1400">
              <a:latin typeface="Calibri"/>
              <a:cs typeface="Calibri"/>
            </a:endParaRPr>
          </a:p>
          <a:p>
            <a:pPr marL="264160" marR="266065" indent="-172720">
              <a:lnSpc>
                <a:spcPct val="100000"/>
              </a:lnSpc>
              <a:spcBef>
                <a:spcPts val="1700"/>
              </a:spcBef>
              <a:buFont typeface="Arial MT"/>
              <a:buChar char="•"/>
              <a:tabLst>
                <a:tab pos="264160" algn="l"/>
              </a:tabLst>
            </a:pP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 spc="-10">
                <a:latin typeface="Calibri"/>
                <a:cs typeface="Calibri"/>
              </a:rPr>
              <a:t>borrowing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due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social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pressure</a:t>
            </a:r>
            <a:endParaRPr sz="1200">
              <a:latin typeface="Calibri"/>
              <a:cs typeface="Calibri"/>
            </a:endParaRPr>
          </a:p>
          <a:p>
            <a:pPr marL="264160" marR="552450" indent="-172720">
              <a:lnSpc>
                <a:spcPct val="100000"/>
              </a:lnSpc>
              <a:buFont typeface="Arial MT"/>
              <a:buChar char="•"/>
              <a:tabLst>
                <a:tab pos="26416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 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defaults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future borrowing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capacity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reduced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45591" y="839724"/>
            <a:ext cx="325120" cy="2284730"/>
          </a:xfrm>
          <a:custGeom>
            <a:avLst/>
            <a:gdLst/>
            <a:ahLst/>
            <a:cxnLst/>
            <a:rect l="l" t="t" r="r" b="b"/>
            <a:pathLst>
              <a:path w="325119" h="2284730">
                <a:moveTo>
                  <a:pt x="324611" y="0"/>
                </a:moveTo>
                <a:lnTo>
                  <a:pt x="0" y="0"/>
                </a:lnTo>
                <a:lnTo>
                  <a:pt x="0" y="2284476"/>
                </a:lnTo>
                <a:lnTo>
                  <a:pt x="324611" y="2284476"/>
                </a:lnTo>
                <a:lnTo>
                  <a:pt x="324611" y="0"/>
                </a:lnTo>
                <a:close/>
              </a:path>
            </a:pathLst>
          </a:custGeom>
          <a:solidFill>
            <a:srgbClr val="639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11252" y="827532"/>
            <a:ext cx="330835" cy="5451475"/>
          </a:xfrm>
          <a:prstGeom prst="rect">
            <a:avLst/>
          </a:prstGeom>
          <a:solidFill>
            <a:srgbClr val="385622"/>
          </a:solidFill>
        </p:spPr>
        <p:txBody>
          <a:bodyPr wrap="square" lIns="0" tIns="6985" rIns="0" bIns="0" rtlCol="0" vert="vert270">
            <a:spAutoFit/>
          </a:bodyPr>
          <a:lstStyle/>
          <a:p>
            <a:pPr algn="ctr" marR="252729">
              <a:lnSpc>
                <a:spcPct val="100000"/>
              </a:lnSpc>
              <a:spcBef>
                <a:spcPts val="5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dirty="0" sz="16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5510" y="1230338"/>
            <a:ext cx="228600" cy="14979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Amounts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290572" y="798576"/>
            <a:ext cx="1239520" cy="321945"/>
          </a:xfrm>
          <a:prstGeom prst="rect">
            <a:avLst/>
          </a:prstGeom>
          <a:solidFill>
            <a:srgbClr val="87B7A1"/>
          </a:solidFill>
        </p:spPr>
        <p:txBody>
          <a:bodyPr wrap="square" lIns="0" tIns="60325" rIns="0" bIns="0" rtlCol="0" vert="horz">
            <a:spAutoFit/>
          </a:bodyPr>
          <a:lstStyle/>
          <a:p>
            <a:pPr marL="361315">
              <a:lnSpc>
                <a:spcPct val="100000"/>
              </a:lnSpc>
              <a:spcBef>
                <a:spcPts val="47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639311" y="803148"/>
            <a:ext cx="1239520" cy="317500"/>
          </a:xfrm>
          <a:prstGeom prst="rect">
            <a:avLst/>
          </a:prstGeom>
          <a:solidFill>
            <a:srgbClr val="87B7A1"/>
          </a:solidFill>
        </p:spPr>
        <p:txBody>
          <a:bodyPr wrap="square" lIns="0" tIns="58419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459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Interest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959096" y="803148"/>
            <a:ext cx="1239520" cy="323215"/>
          </a:xfrm>
          <a:custGeom>
            <a:avLst/>
            <a:gdLst/>
            <a:ahLst/>
            <a:cxnLst/>
            <a:rect l="l" t="t" r="r" b="b"/>
            <a:pathLst>
              <a:path w="1239520" h="323215">
                <a:moveTo>
                  <a:pt x="1239012" y="0"/>
                </a:moveTo>
                <a:lnTo>
                  <a:pt x="0" y="0"/>
                </a:lnTo>
                <a:lnTo>
                  <a:pt x="0" y="323088"/>
                </a:lnTo>
                <a:lnTo>
                  <a:pt x="1239012" y="323088"/>
                </a:lnTo>
                <a:lnTo>
                  <a:pt x="1239012" y="0"/>
                </a:lnTo>
                <a:close/>
              </a:path>
            </a:pathLst>
          </a:custGeom>
          <a:solidFill>
            <a:srgbClr val="87B7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213096" y="852042"/>
            <a:ext cx="734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Beneficiary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289048" y="1202436"/>
            <a:ext cx="1239520" cy="515620"/>
          </a:xfrm>
          <a:custGeom>
            <a:avLst/>
            <a:gdLst/>
            <a:ahLst/>
            <a:cxnLst/>
            <a:rect l="l" t="t" r="r" b="b"/>
            <a:pathLst>
              <a:path w="1239520" h="515619">
                <a:moveTo>
                  <a:pt x="1239012" y="0"/>
                </a:moveTo>
                <a:lnTo>
                  <a:pt x="0" y="0"/>
                </a:lnTo>
                <a:lnTo>
                  <a:pt x="0" y="515112"/>
                </a:lnTo>
                <a:lnTo>
                  <a:pt x="1239012" y="515112"/>
                </a:lnTo>
                <a:lnTo>
                  <a:pt x="1239012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276855" y="1792223"/>
            <a:ext cx="1239520" cy="538480"/>
          </a:xfrm>
          <a:custGeom>
            <a:avLst/>
            <a:gdLst/>
            <a:ahLst/>
            <a:cxnLst/>
            <a:rect l="l" t="t" r="r" b="b"/>
            <a:pathLst>
              <a:path w="1239520" h="538480">
                <a:moveTo>
                  <a:pt x="1239012" y="0"/>
                </a:moveTo>
                <a:lnTo>
                  <a:pt x="0" y="0"/>
                </a:lnTo>
                <a:lnTo>
                  <a:pt x="0" y="537972"/>
                </a:lnTo>
                <a:lnTo>
                  <a:pt x="1239012" y="537972"/>
                </a:lnTo>
                <a:lnTo>
                  <a:pt x="1239012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296667" y="2397251"/>
            <a:ext cx="1219200" cy="515620"/>
          </a:xfrm>
          <a:custGeom>
            <a:avLst/>
            <a:gdLst/>
            <a:ahLst/>
            <a:cxnLst/>
            <a:rect l="l" t="t" r="r" b="b"/>
            <a:pathLst>
              <a:path w="1219200" h="515619">
                <a:moveTo>
                  <a:pt x="1219200" y="0"/>
                </a:moveTo>
                <a:lnTo>
                  <a:pt x="0" y="0"/>
                </a:lnTo>
                <a:lnTo>
                  <a:pt x="0" y="515112"/>
                </a:lnTo>
                <a:lnTo>
                  <a:pt x="1219200" y="515112"/>
                </a:lnTo>
                <a:lnTo>
                  <a:pt x="121920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965191" y="1197863"/>
            <a:ext cx="1217930" cy="515620"/>
          </a:xfrm>
          <a:custGeom>
            <a:avLst/>
            <a:gdLst/>
            <a:ahLst/>
            <a:cxnLst/>
            <a:rect l="l" t="t" r="r" b="b"/>
            <a:pathLst>
              <a:path w="1217929" h="515619">
                <a:moveTo>
                  <a:pt x="1217676" y="0"/>
                </a:moveTo>
                <a:lnTo>
                  <a:pt x="0" y="0"/>
                </a:lnTo>
                <a:lnTo>
                  <a:pt x="0" y="515112"/>
                </a:lnTo>
                <a:lnTo>
                  <a:pt x="1217676" y="515112"/>
                </a:lnTo>
                <a:lnTo>
                  <a:pt x="121767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959096" y="1792223"/>
            <a:ext cx="1228725" cy="1120140"/>
          </a:xfrm>
          <a:custGeom>
            <a:avLst/>
            <a:gdLst/>
            <a:ahLst/>
            <a:cxnLst/>
            <a:rect l="l" t="t" r="r" b="b"/>
            <a:pathLst>
              <a:path w="1228725" h="1120139">
                <a:moveTo>
                  <a:pt x="1228344" y="605028"/>
                </a:moveTo>
                <a:lnTo>
                  <a:pt x="0" y="605028"/>
                </a:lnTo>
                <a:lnTo>
                  <a:pt x="0" y="1120140"/>
                </a:lnTo>
                <a:lnTo>
                  <a:pt x="1228344" y="1120140"/>
                </a:lnTo>
                <a:lnTo>
                  <a:pt x="1228344" y="605028"/>
                </a:lnTo>
                <a:close/>
              </a:path>
              <a:path w="1228725" h="1120139">
                <a:moveTo>
                  <a:pt x="1228344" y="0"/>
                </a:moveTo>
                <a:lnTo>
                  <a:pt x="0" y="0"/>
                </a:lnTo>
                <a:lnTo>
                  <a:pt x="0" y="537972"/>
                </a:lnTo>
                <a:lnTo>
                  <a:pt x="1228344" y="537972"/>
                </a:lnTo>
                <a:lnTo>
                  <a:pt x="1228344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6" name="object 76"/>
          <p:cNvGrpSpPr/>
          <p:nvPr/>
        </p:nvGrpSpPr>
        <p:grpSpPr>
          <a:xfrm>
            <a:off x="3699975" y="1256030"/>
            <a:ext cx="426720" cy="427355"/>
            <a:chOff x="3699975" y="1256030"/>
            <a:chExt cx="426720" cy="427355"/>
          </a:xfrm>
        </p:grpSpPr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13123" y="1256030"/>
              <a:ext cx="211074" cy="19138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699975" y="1256030"/>
              <a:ext cx="426720" cy="427355"/>
            </a:xfrm>
            <a:custGeom>
              <a:avLst/>
              <a:gdLst/>
              <a:ahLst/>
              <a:cxnLst/>
              <a:rect l="l" t="t" r="r" b="b"/>
              <a:pathLst>
                <a:path w="426720" h="427355">
                  <a:moveTo>
                    <a:pt x="213148" y="0"/>
                  </a:moveTo>
                  <a:lnTo>
                    <a:pt x="132229" y="15889"/>
                  </a:lnTo>
                  <a:lnTo>
                    <a:pt x="90317" y="38793"/>
                  </a:lnTo>
                  <a:lnTo>
                    <a:pt x="55073" y="69910"/>
                  </a:lnTo>
                  <a:lnTo>
                    <a:pt x="27563" y="107772"/>
                  </a:lnTo>
                  <a:lnTo>
                    <a:pt x="8851" y="150910"/>
                  </a:lnTo>
                  <a:lnTo>
                    <a:pt x="0" y="197856"/>
                  </a:lnTo>
                  <a:lnTo>
                    <a:pt x="2074" y="247142"/>
                  </a:lnTo>
                  <a:lnTo>
                    <a:pt x="15297" y="294666"/>
                  </a:lnTo>
                  <a:lnTo>
                    <a:pt x="38201" y="336594"/>
                  </a:lnTo>
                  <a:lnTo>
                    <a:pt x="69318" y="371855"/>
                  </a:lnTo>
                  <a:lnTo>
                    <a:pt x="107180" y="399379"/>
                  </a:lnTo>
                  <a:lnTo>
                    <a:pt x="150318" y="418093"/>
                  </a:lnTo>
                  <a:lnTo>
                    <a:pt x="197264" y="426929"/>
                  </a:lnTo>
                  <a:lnTo>
                    <a:pt x="246549" y="424815"/>
                  </a:lnTo>
                  <a:lnTo>
                    <a:pt x="294073" y="411592"/>
                  </a:lnTo>
                  <a:lnTo>
                    <a:pt x="336002" y="388688"/>
                  </a:lnTo>
                  <a:lnTo>
                    <a:pt x="371263" y="357571"/>
                  </a:lnTo>
                  <a:lnTo>
                    <a:pt x="398786" y="319709"/>
                  </a:lnTo>
                  <a:lnTo>
                    <a:pt x="417501" y="276571"/>
                  </a:lnTo>
                  <a:lnTo>
                    <a:pt x="426337" y="229625"/>
                  </a:lnTo>
                  <a:lnTo>
                    <a:pt x="424222" y="180340"/>
                  </a:lnTo>
                  <a:lnTo>
                    <a:pt x="354626" y="191389"/>
                  </a:lnTo>
                  <a:lnTo>
                    <a:pt x="355769" y="198755"/>
                  </a:lnTo>
                  <a:lnTo>
                    <a:pt x="356404" y="206248"/>
                  </a:lnTo>
                  <a:lnTo>
                    <a:pt x="356404" y="213741"/>
                  </a:lnTo>
                  <a:lnTo>
                    <a:pt x="349101" y="259022"/>
                  </a:lnTo>
                  <a:lnTo>
                    <a:pt x="328765" y="298347"/>
                  </a:lnTo>
                  <a:lnTo>
                    <a:pt x="297754" y="329357"/>
                  </a:lnTo>
                  <a:lnTo>
                    <a:pt x="258429" y="349693"/>
                  </a:lnTo>
                  <a:lnTo>
                    <a:pt x="213148" y="356997"/>
                  </a:lnTo>
                  <a:lnTo>
                    <a:pt x="167880" y="349693"/>
                  </a:lnTo>
                  <a:lnTo>
                    <a:pt x="128586" y="329357"/>
                  </a:lnTo>
                  <a:lnTo>
                    <a:pt x="97614" y="298347"/>
                  </a:lnTo>
                  <a:lnTo>
                    <a:pt x="77309" y="259022"/>
                  </a:lnTo>
                  <a:lnTo>
                    <a:pt x="70019" y="213741"/>
                  </a:lnTo>
                  <a:lnTo>
                    <a:pt x="77309" y="168459"/>
                  </a:lnTo>
                  <a:lnTo>
                    <a:pt x="97614" y="129134"/>
                  </a:lnTo>
                  <a:lnTo>
                    <a:pt x="128586" y="98124"/>
                  </a:lnTo>
                  <a:lnTo>
                    <a:pt x="167880" y="77788"/>
                  </a:lnTo>
                  <a:lnTo>
                    <a:pt x="213148" y="70485"/>
                  </a:lnTo>
                  <a:lnTo>
                    <a:pt x="2131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9" name="object 7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200144" y="1351788"/>
            <a:ext cx="150875" cy="18897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00144" y="2569464"/>
            <a:ext cx="150875" cy="187451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943355" y="1203960"/>
            <a:ext cx="1239520" cy="515620"/>
          </a:xfrm>
          <a:prstGeom prst="rect">
            <a:avLst/>
          </a:prstGeom>
          <a:solidFill>
            <a:srgbClr val="87B7A1"/>
          </a:solidFill>
        </p:spPr>
        <p:txBody>
          <a:bodyPr wrap="square" lIns="0" tIns="71755" rIns="0" bIns="0" rtlCol="0" vert="horz">
            <a:spAutoFit/>
          </a:bodyPr>
          <a:lstStyle/>
          <a:p>
            <a:pPr marL="149860" marR="451484">
              <a:lnSpc>
                <a:spcPct val="100000"/>
              </a:lnSpc>
              <a:spcBef>
                <a:spcPts val="56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Individual Loans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37260" y="1798320"/>
            <a:ext cx="1239520" cy="515620"/>
          </a:xfrm>
          <a:prstGeom prst="rect">
            <a:avLst/>
          </a:prstGeom>
          <a:solidFill>
            <a:srgbClr val="87B7A1"/>
          </a:solidFill>
        </p:spPr>
        <p:txBody>
          <a:bodyPr wrap="square" lIns="0" tIns="5778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455"/>
              </a:spcBef>
            </a:pP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endParaRPr sz="12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Enterprises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34211" y="2397251"/>
            <a:ext cx="1239520" cy="515620"/>
          </a:xfrm>
          <a:prstGeom prst="rect">
            <a:avLst/>
          </a:prstGeom>
          <a:solidFill>
            <a:srgbClr val="87B7A1"/>
          </a:solidFill>
        </p:spPr>
        <p:txBody>
          <a:bodyPr wrap="square" lIns="0" tIns="44450" rIns="0" bIns="0" rtlCol="0" vert="horz">
            <a:spAutoFit/>
          </a:bodyPr>
          <a:lstStyle/>
          <a:p>
            <a:pPr marL="168275" marR="342900">
              <a:lnSpc>
                <a:spcPct val="100000"/>
              </a:lnSpc>
              <a:spcBef>
                <a:spcPts val="35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Established Clients*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89048" y="1202436"/>
            <a:ext cx="1239520" cy="51562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Rp</a:t>
            </a:r>
            <a:r>
              <a:rPr dirty="0" sz="1200" spc="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2000-</a:t>
            </a:r>
            <a:r>
              <a:rPr dirty="0" sz="1200" spc="-20" b="1">
                <a:latin typeface="Calibri"/>
                <a:cs typeface="Calibri"/>
              </a:rPr>
              <a:t>5000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76855" y="1792223"/>
            <a:ext cx="1239520" cy="53848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Rp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5000-</a:t>
            </a:r>
            <a:r>
              <a:rPr dirty="0" sz="1200" spc="-20" b="1">
                <a:latin typeface="Calibri"/>
                <a:cs typeface="Calibri"/>
              </a:rPr>
              <a:t>7000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96667" y="2397251"/>
            <a:ext cx="1219200" cy="51562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Rp</a:t>
            </a:r>
            <a:r>
              <a:rPr dirty="0" sz="1200" spc="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7000-15000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642359" y="1202436"/>
            <a:ext cx="1239520" cy="515620"/>
          </a:xfrm>
          <a:prstGeom prst="rect">
            <a:avLst/>
          </a:prstGeom>
          <a:ln w="6350">
            <a:solidFill>
              <a:srgbClr val="385622"/>
            </a:solidFill>
          </a:ln>
        </p:spPr>
        <p:txBody>
          <a:bodyPr wrap="square" lIns="0" tIns="146685" rIns="0" bIns="0" rtlCol="0" vert="horz">
            <a:spAutoFit/>
          </a:bodyPr>
          <a:lstStyle/>
          <a:p>
            <a:pPr marL="770890">
              <a:lnSpc>
                <a:spcPct val="100000"/>
              </a:lnSpc>
              <a:spcBef>
                <a:spcPts val="1155"/>
              </a:spcBef>
            </a:pPr>
            <a:r>
              <a:rPr dirty="0" sz="1200" spc="-10" b="1">
                <a:latin typeface="Calibri"/>
                <a:cs typeface="Calibri"/>
              </a:rPr>
              <a:t>22.5%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689561" y="1864360"/>
            <a:ext cx="426720" cy="427355"/>
            <a:chOff x="3689561" y="1864360"/>
            <a:chExt cx="426720" cy="427355"/>
          </a:xfrm>
        </p:grpSpPr>
        <p:pic>
          <p:nvPicPr>
            <p:cNvPr id="89" name="object 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02836" y="1864360"/>
              <a:ext cx="211074" cy="191388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3689561" y="1864360"/>
              <a:ext cx="426720" cy="427355"/>
            </a:xfrm>
            <a:custGeom>
              <a:avLst/>
              <a:gdLst/>
              <a:ahLst/>
              <a:cxnLst/>
              <a:rect l="l" t="t" r="r" b="b"/>
              <a:pathLst>
                <a:path w="426720" h="427355">
                  <a:moveTo>
                    <a:pt x="213275" y="0"/>
                  </a:moveTo>
                  <a:lnTo>
                    <a:pt x="132229" y="15936"/>
                  </a:lnTo>
                  <a:lnTo>
                    <a:pt x="90317" y="38874"/>
                  </a:lnTo>
                  <a:lnTo>
                    <a:pt x="55073" y="70014"/>
                  </a:lnTo>
                  <a:lnTo>
                    <a:pt x="27563" y="107889"/>
                  </a:lnTo>
                  <a:lnTo>
                    <a:pt x="8851" y="151034"/>
                  </a:lnTo>
                  <a:lnTo>
                    <a:pt x="0" y="197983"/>
                  </a:lnTo>
                  <a:lnTo>
                    <a:pt x="2074" y="247268"/>
                  </a:lnTo>
                  <a:lnTo>
                    <a:pt x="15344" y="294786"/>
                  </a:lnTo>
                  <a:lnTo>
                    <a:pt x="38281" y="336699"/>
                  </a:lnTo>
                  <a:lnTo>
                    <a:pt x="69421" y="371942"/>
                  </a:lnTo>
                  <a:lnTo>
                    <a:pt x="107297" y="399452"/>
                  </a:lnTo>
                  <a:lnTo>
                    <a:pt x="150442" y="418165"/>
                  </a:lnTo>
                  <a:lnTo>
                    <a:pt x="197390" y="427016"/>
                  </a:lnTo>
                  <a:lnTo>
                    <a:pt x="246676" y="424941"/>
                  </a:lnTo>
                  <a:lnTo>
                    <a:pt x="294194" y="411672"/>
                  </a:lnTo>
                  <a:lnTo>
                    <a:pt x="336106" y="388734"/>
                  </a:lnTo>
                  <a:lnTo>
                    <a:pt x="371350" y="357594"/>
                  </a:lnTo>
                  <a:lnTo>
                    <a:pt x="398860" y="319719"/>
                  </a:lnTo>
                  <a:lnTo>
                    <a:pt x="417573" y="276574"/>
                  </a:lnTo>
                  <a:lnTo>
                    <a:pt x="426424" y="229625"/>
                  </a:lnTo>
                  <a:lnTo>
                    <a:pt x="424349" y="180339"/>
                  </a:lnTo>
                  <a:lnTo>
                    <a:pt x="354626" y="191388"/>
                  </a:lnTo>
                  <a:lnTo>
                    <a:pt x="355896" y="198754"/>
                  </a:lnTo>
                  <a:lnTo>
                    <a:pt x="356404" y="206248"/>
                  </a:lnTo>
                  <a:lnTo>
                    <a:pt x="356404" y="213740"/>
                  </a:lnTo>
                  <a:lnTo>
                    <a:pt x="349102" y="259022"/>
                  </a:lnTo>
                  <a:lnTo>
                    <a:pt x="328773" y="298347"/>
                  </a:lnTo>
                  <a:lnTo>
                    <a:pt x="297782" y="329357"/>
                  </a:lnTo>
                  <a:lnTo>
                    <a:pt x="258494" y="349693"/>
                  </a:lnTo>
                  <a:lnTo>
                    <a:pt x="213275" y="356997"/>
                  </a:lnTo>
                  <a:lnTo>
                    <a:pt x="167994" y="349693"/>
                  </a:lnTo>
                  <a:lnTo>
                    <a:pt x="128669" y="329357"/>
                  </a:lnTo>
                  <a:lnTo>
                    <a:pt x="97658" y="298347"/>
                  </a:lnTo>
                  <a:lnTo>
                    <a:pt x="77322" y="259022"/>
                  </a:lnTo>
                  <a:lnTo>
                    <a:pt x="70019" y="213740"/>
                  </a:lnTo>
                  <a:lnTo>
                    <a:pt x="77322" y="168521"/>
                  </a:lnTo>
                  <a:lnTo>
                    <a:pt x="97658" y="129234"/>
                  </a:lnTo>
                  <a:lnTo>
                    <a:pt x="128669" y="98243"/>
                  </a:lnTo>
                  <a:lnTo>
                    <a:pt x="167994" y="77913"/>
                  </a:lnTo>
                  <a:lnTo>
                    <a:pt x="213275" y="70612"/>
                  </a:lnTo>
                  <a:lnTo>
                    <a:pt x="21327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1" name="object 9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00144" y="1975104"/>
            <a:ext cx="150875" cy="188975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3631691" y="1810511"/>
            <a:ext cx="1239520" cy="515620"/>
          </a:xfrm>
          <a:prstGeom prst="rect">
            <a:avLst/>
          </a:prstGeom>
          <a:ln w="6350">
            <a:solidFill>
              <a:srgbClr val="385622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70890">
              <a:lnSpc>
                <a:spcPct val="100000"/>
              </a:lnSpc>
              <a:spcBef>
                <a:spcPts val="1275"/>
              </a:spcBef>
            </a:pPr>
            <a:r>
              <a:rPr dirty="0" sz="1200" spc="-10" b="1">
                <a:latin typeface="Calibri"/>
                <a:cs typeface="Calibri"/>
              </a:rPr>
              <a:t>22.5%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627120" y="2397251"/>
            <a:ext cx="1237615" cy="515620"/>
          </a:xfrm>
          <a:prstGeom prst="rect">
            <a:avLst/>
          </a:prstGeom>
          <a:ln w="6350">
            <a:solidFill>
              <a:srgbClr val="385622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798195">
              <a:lnSpc>
                <a:spcPct val="100000"/>
              </a:lnSpc>
              <a:spcBef>
                <a:spcPts val="450"/>
              </a:spcBef>
            </a:pPr>
            <a:r>
              <a:rPr dirty="0" sz="1200" b="1">
                <a:latin typeface="Calibri"/>
                <a:cs typeface="Calibri"/>
              </a:rPr>
              <a:t>15-</a:t>
            </a:r>
            <a:endParaRPr sz="1200">
              <a:latin typeface="Calibri"/>
              <a:cs typeface="Calibri"/>
            </a:endParaRPr>
          </a:p>
          <a:p>
            <a:pPr marL="798195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22.5%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965191" y="1197863"/>
            <a:ext cx="1217930" cy="515620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5"/>
              </a:spcBef>
            </a:pPr>
            <a:endParaRPr sz="1200">
              <a:latin typeface="Times New Roman"/>
              <a:cs typeface="Times New Roman"/>
            </a:endParaRPr>
          </a:p>
          <a:p>
            <a:pPr marL="177165">
              <a:lnSpc>
                <a:spcPts val="1320"/>
              </a:lnSpc>
            </a:pPr>
            <a:r>
              <a:rPr dirty="0" sz="1200" b="1">
                <a:latin typeface="Calibri"/>
                <a:cs typeface="Calibri"/>
              </a:rPr>
              <a:t>Small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farmers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959096" y="1792223"/>
            <a:ext cx="1228725" cy="538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Business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Owners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959096" y="2397251"/>
            <a:ext cx="1228725" cy="51562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0"/>
              </a:spcBef>
            </a:pPr>
            <a:endParaRPr sz="12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Long-</a:t>
            </a:r>
            <a:r>
              <a:rPr dirty="0" sz="1200" b="1">
                <a:latin typeface="Calibri"/>
                <a:cs typeface="Calibri"/>
              </a:rPr>
              <a:t>term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clients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7" name="object 97" descr="Farmer 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387340" y="1226819"/>
            <a:ext cx="303275" cy="301751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5321808" y="1795272"/>
            <a:ext cx="436245" cy="1013460"/>
            <a:chOff x="5321808" y="1795272"/>
            <a:chExt cx="436245" cy="1013460"/>
          </a:xfrm>
        </p:grpSpPr>
        <p:pic>
          <p:nvPicPr>
            <p:cNvPr id="99" name="object 99" descr="Store 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64480" y="1795272"/>
              <a:ext cx="348996" cy="348996"/>
            </a:xfrm>
            <a:prstGeom prst="rect">
              <a:avLst/>
            </a:prstGeom>
          </p:spPr>
        </p:pic>
        <p:pic>
          <p:nvPicPr>
            <p:cNvPr id="100" name="object 100" descr="Handshake 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21808" y="2372868"/>
              <a:ext cx="435863" cy="435863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987653" y="3023362"/>
            <a:ext cx="18002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latin typeface="Calibri"/>
                <a:cs typeface="Calibri"/>
              </a:rPr>
              <a:t>*</a:t>
            </a:r>
            <a:r>
              <a:rPr dirty="0" sz="800" spc="-1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Apply</a:t>
            </a:r>
            <a:r>
              <a:rPr dirty="0" sz="800" spc="-2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to</a:t>
            </a:r>
            <a:r>
              <a:rPr dirty="0" sz="800" spc="-2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only</a:t>
            </a:r>
            <a:r>
              <a:rPr dirty="0" sz="800" spc="-3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Sumatra</a:t>
            </a:r>
            <a:r>
              <a:rPr dirty="0" sz="800" spc="-3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and</a:t>
            </a:r>
            <a:r>
              <a:rPr dirty="0" sz="800" spc="-2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Java</a:t>
            </a:r>
            <a:r>
              <a:rPr dirty="0" sz="800" spc="-2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till</a:t>
            </a:r>
            <a:r>
              <a:rPr dirty="0" sz="800" spc="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FY</a:t>
            </a:r>
            <a:r>
              <a:rPr dirty="0" sz="800" spc="-25" b="1">
                <a:latin typeface="Calibri"/>
                <a:cs typeface="Calibri"/>
              </a:rPr>
              <a:t> 27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544068" y="3246120"/>
            <a:ext cx="325120" cy="3032760"/>
          </a:xfrm>
          <a:custGeom>
            <a:avLst/>
            <a:gdLst/>
            <a:ahLst/>
            <a:cxnLst/>
            <a:rect l="l" t="t" r="r" b="b"/>
            <a:pathLst>
              <a:path w="325119" h="3032760">
                <a:moveTo>
                  <a:pt x="324612" y="0"/>
                </a:moveTo>
                <a:lnTo>
                  <a:pt x="0" y="0"/>
                </a:lnTo>
                <a:lnTo>
                  <a:pt x="0" y="3032760"/>
                </a:lnTo>
                <a:lnTo>
                  <a:pt x="324612" y="3032760"/>
                </a:lnTo>
                <a:lnTo>
                  <a:pt x="324612" y="0"/>
                </a:lnTo>
                <a:close/>
              </a:path>
            </a:pathLst>
          </a:custGeom>
          <a:solidFill>
            <a:srgbClr val="639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603986" y="4059580"/>
            <a:ext cx="228600" cy="11849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Asset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744979" y="4541520"/>
            <a:ext cx="4070985" cy="306705"/>
          </a:xfrm>
          <a:custGeom>
            <a:avLst/>
            <a:gdLst/>
            <a:ahLst/>
            <a:cxnLst/>
            <a:rect l="l" t="t" r="r" b="b"/>
            <a:pathLst>
              <a:path w="4070985" h="306704">
                <a:moveTo>
                  <a:pt x="3917442" y="0"/>
                </a:moveTo>
                <a:lnTo>
                  <a:pt x="0" y="0"/>
                </a:lnTo>
                <a:lnTo>
                  <a:pt x="0" y="306323"/>
                </a:lnTo>
                <a:lnTo>
                  <a:pt x="3917442" y="306323"/>
                </a:lnTo>
                <a:lnTo>
                  <a:pt x="4070604" y="153161"/>
                </a:lnTo>
                <a:lnTo>
                  <a:pt x="3917442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3007232" y="4563821"/>
            <a:ext cx="14681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Farming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Equipment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748027" y="3575303"/>
            <a:ext cx="3850004" cy="966469"/>
            <a:chOff x="1748027" y="3575303"/>
            <a:chExt cx="3850004" cy="966469"/>
          </a:xfrm>
        </p:grpSpPr>
        <p:sp>
          <p:nvSpPr>
            <p:cNvPr id="107" name="object 107"/>
            <p:cNvSpPr/>
            <p:nvPr/>
          </p:nvSpPr>
          <p:spPr>
            <a:xfrm>
              <a:off x="1748027" y="3575303"/>
              <a:ext cx="1287780" cy="966469"/>
            </a:xfrm>
            <a:custGeom>
              <a:avLst/>
              <a:gdLst/>
              <a:ahLst/>
              <a:cxnLst/>
              <a:rect l="l" t="t" r="r" b="b"/>
              <a:pathLst>
                <a:path w="1287780" h="966470">
                  <a:moveTo>
                    <a:pt x="1287780" y="0"/>
                  </a:moveTo>
                  <a:lnTo>
                    <a:pt x="0" y="0"/>
                  </a:lnTo>
                  <a:lnTo>
                    <a:pt x="0" y="966216"/>
                  </a:lnTo>
                  <a:lnTo>
                    <a:pt x="1287780" y="966216"/>
                  </a:lnTo>
                  <a:lnTo>
                    <a:pt x="1287780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319016" y="3575303"/>
              <a:ext cx="1278890" cy="966469"/>
            </a:xfrm>
            <a:custGeom>
              <a:avLst/>
              <a:gdLst/>
              <a:ahLst/>
              <a:cxnLst/>
              <a:rect l="l" t="t" r="r" b="b"/>
              <a:pathLst>
                <a:path w="1278889" h="966470">
                  <a:moveTo>
                    <a:pt x="1278636" y="0"/>
                  </a:moveTo>
                  <a:lnTo>
                    <a:pt x="0" y="0"/>
                  </a:lnTo>
                  <a:lnTo>
                    <a:pt x="0" y="966216"/>
                  </a:lnTo>
                  <a:lnTo>
                    <a:pt x="1278636" y="966216"/>
                  </a:lnTo>
                  <a:lnTo>
                    <a:pt x="1278636" y="0"/>
                  </a:lnTo>
                  <a:close/>
                </a:path>
              </a:pathLst>
            </a:custGeom>
            <a:solidFill>
              <a:srgbClr val="87B7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037331" y="3575303"/>
              <a:ext cx="1280160" cy="966469"/>
            </a:xfrm>
            <a:custGeom>
              <a:avLst/>
              <a:gdLst/>
              <a:ahLst/>
              <a:cxnLst/>
              <a:rect l="l" t="t" r="r" b="b"/>
              <a:pathLst>
                <a:path w="1280160" h="966470">
                  <a:moveTo>
                    <a:pt x="1280159" y="0"/>
                  </a:moveTo>
                  <a:lnTo>
                    <a:pt x="0" y="0"/>
                  </a:lnTo>
                  <a:lnTo>
                    <a:pt x="0" y="966216"/>
                  </a:lnTo>
                  <a:lnTo>
                    <a:pt x="1280159" y="966216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87AA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2083561" y="4247769"/>
            <a:ext cx="598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Irrigation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357626" y="4247769"/>
            <a:ext cx="6426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Ploughing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037332" y="3575303"/>
            <a:ext cx="2560320" cy="966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200">
              <a:latin typeface="Times New Roman"/>
              <a:cs typeface="Times New Roman"/>
            </a:endParaRPr>
          </a:p>
          <a:p>
            <a:pPr marL="1594485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Harvesting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1447800" y="3364991"/>
            <a:ext cx="3761740" cy="1483360"/>
            <a:chOff x="1447800" y="3364991"/>
            <a:chExt cx="3761740" cy="1483360"/>
          </a:xfrm>
        </p:grpSpPr>
        <p:pic>
          <p:nvPicPr>
            <p:cNvPr id="114" name="object 114" descr="Smart farming 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03119" y="3717035"/>
              <a:ext cx="530351" cy="530351"/>
            </a:xfrm>
            <a:prstGeom prst="rect">
              <a:avLst/>
            </a:prstGeom>
          </p:spPr>
        </p:pic>
        <p:pic>
          <p:nvPicPr>
            <p:cNvPr id="115" name="object 115" descr="Plow 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25367" y="3651503"/>
              <a:ext cx="626363" cy="624840"/>
            </a:xfrm>
            <a:prstGeom prst="rect">
              <a:avLst/>
            </a:prstGeom>
          </p:spPr>
        </p:pic>
        <p:pic>
          <p:nvPicPr>
            <p:cNvPr id="116" name="object 116" descr="Harvester 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58867" y="3730751"/>
              <a:ext cx="550163" cy="550163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1447800" y="3364991"/>
              <a:ext cx="306705" cy="1483360"/>
            </a:xfrm>
            <a:custGeom>
              <a:avLst/>
              <a:gdLst/>
              <a:ahLst/>
              <a:cxnLst/>
              <a:rect l="l" t="t" r="r" b="b"/>
              <a:pathLst>
                <a:path w="306705" h="1483360">
                  <a:moveTo>
                    <a:pt x="153162" y="0"/>
                  </a:moveTo>
                  <a:lnTo>
                    <a:pt x="0" y="153162"/>
                  </a:lnTo>
                  <a:lnTo>
                    <a:pt x="0" y="1482852"/>
                  </a:lnTo>
                  <a:lnTo>
                    <a:pt x="306324" y="1482852"/>
                  </a:lnTo>
                  <a:lnTo>
                    <a:pt x="306324" y="153162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1513611" y="3848684"/>
            <a:ext cx="204470" cy="5943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080516" y="4975859"/>
            <a:ext cx="1704339" cy="1355090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100">
              <a:latin typeface="Times New Roman"/>
              <a:cs typeface="Times New Roman"/>
            </a:endParaRPr>
          </a:p>
          <a:p>
            <a:pPr marL="83820" marR="14986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Currently,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provinces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traditional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farming </a:t>
            </a:r>
            <a:r>
              <a:rPr dirty="0" sz="1100">
                <a:latin typeface="Calibri"/>
                <a:cs typeface="Calibri"/>
              </a:rPr>
              <a:t>methods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rainfall farming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855976" y="4969764"/>
            <a:ext cx="1705610" cy="1361440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100">
              <a:latin typeface="Times New Roman"/>
              <a:cs typeface="Times New Roman"/>
            </a:endParaRPr>
          </a:p>
          <a:p>
            <a:pPr marL="88900" marR="136525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Due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cost</a:t>
            </a:r>
            <a:r>
              <a:rPr dirty="0" sz="1100" spc="-25">
                <a:latin typeface="Calibri"/>
                <a:cs typeface="Calibri"/>
              </a:rPr>
              <a:t> of </a:t>
            </a:r>
            <a:r>
              <a:rPr dirty="0" sz="1100">
                <a:latin typeface="Calibri"/>
                <a:cs typeface="Calibri"/>
              </a:rPr>
              <a:t>equipment,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farmers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can’t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productivity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with </a:t>
            </a:r>
            <a:r>
              <a:rPr dirty="0" sz="1100">
                <a:latin typeface="Calibri"/>
                <a:cs typeface="Calibri"/>
              </a:rPr>
              <a:t>newer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631435" y="4969764"/>
            <a:ext cx="1705610" cy="1369060"/>
          </a:xfrm>
          <a:prstGeom prst="rect">
            <a:avLst/>
          </a:prstGeom>
          <a:ln w="12700">
            <a:solidFill>
              <a:srgbClr val="38562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100">
              <a:latin typeface="Times New Roman"/>
              <a:cs typeface="Times New Roman"/>
            </a:endParaRPr>
          </a:p>
          <a:p>
            <a:pPr marL="92710" marR="3175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Equipment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leased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farmers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given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along</a:t>
            </a:r>
            <a:r>
              <a:rPr dirty="0" sz="1100" spc="-20">
                <a:latin typeface="Calibri"/>
                <a:cs typeface="Calibri"/>
              </a:rPr>
              <a:t> with </a:t>
            </a:r>
            <a:r>
              <a:rPr dirty="0" sz="1100">
                <a:latin typeface="Calibri"/>
                <a:cs typeface="Calibri"/>
              </a:rPr>
              <a:t>training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safely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2" name="object 122" descr="Watering can 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33680" y="5070300"/>
            <a:ext cx="469487" cy="469487"/>
          </a:xfrm>
          <a:prstGeom prst="rect">
            <a:avLst/>
          </a:prstGeom>
        </p:spPr>
      </p:pic>
      <p:pic>
        <p:nvPicPr>
          <p:cNvPr id="123" name="object 123" descr="Arrow 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461265" y="5078229"/>
            <a:ext cx="496562" cy="488680"/>
          </a:xfrm>
          <a:prstGeom prst="rect">
            <a:avLst/>
          </a:prstGeom>
        </p:spPr>
      </p:pic>
      <p:pic>
        <p:nvPicPr>
          <p:cNvPr id="124" name="object 124" descr="Insurance 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173979" y="5039867"/>
            <a:ext cx="509015" cy="509016"/>
          </a:xfrm>
          <a:prstGeom prst="rect">
            <a:avLst/>
          </a:prstGeom>
        </p:spPr>
      </p:pic>
      <p:sp>
        <p:nvSpPr>
          <p:cNvPr id="125" name="object 125"/>
          <p:cNvSpPr txBox="1"/>
          <p:nvPr/>
        </p:nvSpPr>
        <p:spPr>
          <a:xfrm>
            <a:off x="545083" y="6576161"/>
            <a:ext cx="19272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4130" algn="l"/>
              </a:tabLst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r>
              <a:rPr dirty="0" sz="1400">
                <a:solidFill>
                  <a:srgbClr val="A4A4A4"/>
                </a:solidFill>
                <a:latin typeface="Calibri"/>
                <a:cs typeface="Calibri"/>
              </a:rPr>
              <a:t>	</a:t>
            </a:r>
            <a:r>
              <a:rPr dirty="0" baseline="1984" sz="2100" spc="-15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baseline="1984" sz="21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4640960" y="6576161"/>
            <a:ext cx="15659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385622"/>
                </a:solidFill>
                <a:latin typeface="Calibri"/>
                <a:cs typeface="Calibri"/>
              </a:rPr>
              <a:t>ALTERNATE</a:t>
            </a: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 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0" y="6536817"/>
            <a:ext cx="12179300" cy="41910"/>
            <a:chOff x="0" y="6536817"/>
            <a:chExt cx="12179300" cy="41910"/>
          </a:xfrm>
        </p:grpSpPr>
        <p:sp>
          <p:nvSpPr>
            <p:cNvPr id="130" name="object 130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4630673" y="6546342"/>
              <a:ext cx="1605280" cy="22860"/>
            </a:xfrm>
            <a:custGeom>
              <a:avLst/>
              <a:gdLst/>
              <a:ahLst/>
              <a:cxnLst/>
              <a:rect l="l" t="t" r="r" b="b"/>
              <a:pathLst>
                <a:path w="1605279" h="22859">
                  <a:moveTo>
                    <a:pt x="0" y="0"/>
                  </a:moveTo>
                  <a:lnTo>
                    <a:pt x="1605152" y="2241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>
            <a:off x="7670038" y="6576161"/>
            <a:ext cx="25888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5235" algn="l"/>
              </a:tabLst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	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4" name="object 134" descr="Rupiah 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712720" y="1153667"/>
            <a:ext cx="315468" cy="315467"/>
          </a:xfrm>
          <a:prstGeom prst="rect">
            <a:avLst/>
          </a:prstGeom>
        </p:spPr>
      </p:pic>
      <p:grpSp>
        <p:nvGrpSpPr>
          <p:cNvPr id="135" name="object 135"/>
          <p:cNvGrpSpPr/>
          <p:nvPr/>
        </p:nvGrpSpPr>
        <p:grpSpPr>
          <a:xfrm>
            <a:off x="2625851" y="1793748"/>
            <a:ext cx="460375" cy="321945"/>
            <a:chOff x="2625851" y="1793748"/>
            <a:chExt cx="460375" cy="321945"/>
          </a:xfrm>
        </p:grpSpPr>
        <p:pic>
          <p:nvPicPr>
            <p:cNvPr id="136" name="object 136" descr="Rupiah 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25851" y="1793748"/>
              <a:ext cx="315468" cy="313943"/>
            </a:xfrm>
            <a:prstGeom prst="rect">
              <a:avLst/>
            </a:prstGeom>
          </p:spPr>
        </p:pic>
        <p:pic>
          <p:nvPicPr>
            <p:cNvPr id="137" name="object 137" descr="Rupiah 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70631" y="1799844"/>
              <a:ext cx="315468" cy="315467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2566416" y="2382011"/>
            <a:ext cx="688975" cy="315595"/>
            <a:chOff x="2566416" y="2382011"/>
            <a:chExt cx="688975" cy="315595"/>
          </a:xfrm>
        </p:grpSpPr>
        <p:pic>
          <p:nvPicPr>
            <p:cNvPr id="139" name="object 139" descr="Rupiah 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566416" y="2382011"/>
              <a:ext cx="315468" cy="315467"/>
            </a:xfrm>
            <a:prstGeom prst="rect">
              <a:avLst/>
            </a:prstGeom>
          </p:spPr>
        </p:pic>
        <p:pic>
          <p:nvPicPr>
            <p:cNvPr id="140" name="object 140" descr="Rupiah 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56916" y="2382011"/>
              <a:ext cx="315468" cy="315467"/>
            </a:xfrm>
            <a:prstGeom prst="rect">
              <a:avLst/>
            </a:prstGeom>
          </p:spPr>
        </p:pic>
        <p:pic>
          <p:nvPicPr>
            <p:cNvPr id="141" name="object 141" descr="Rupiah 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39796" y="2382011"/>
              <a:ext cx="315468" cy="3154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Nature Lover's Guide to Bali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4" y="0"/>
            <a:ext cx="12183110" cy="6845934"/>
          </a:xfrm>
          <a:custGeom>
            <a:avLst/>
            <a:gdLst/>
            <a:ahLst/>
            <a:cxnLst/>
            <a:rect l="l" t="t" r="r" b="b"/>
            <a:pathLst>
              <a:path w="12183110" h="6845934">
                <a:moveTo>
                  <a:pt x="0" y="0"/>
                </a:moveTo>
                <a:lnTo>
                  <a:pt x="0" y="6845808"/>
                </a:lnTo>
                <a:lnTo>
                  <a:pt x="12182856" y="6845808"/>
                </a:lnTo>
                <a:lnTo>
                  <a:pt x="12182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51404" y="2638044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585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42617" y="2861309"/>
            <a:ext cx="8902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Optimizing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UFH</a:t>
            </a:r>
            <a:r>
              <a:rPr dirty="0" sz="24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microfinance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accessible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42247" y="4169664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59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30501" y="4034790"/>
            <a:ext cx="1367155" cy="1369060"/>
          </a:xfrm>
          <a:custGeom>
            <a:avLst/>
            <a:gdLst/>
            <a:ahLst/>
            <a:cxnLst/>
            <a:rect l="l" t="t" r="r" b="b"/>
            <a:pathLst>
              <a:path w="1367155" h="1369060">
                <a:moveTo>
                  <a:pt x="0" y="684276"/>
                </a:moveTo>
                <a:lnTo>
                  <a:pt x="1716" y="635403"/>
                </a:lnTo>
                <a:lnTo>
                  <a:pt x="6788" y="587458"/>
                </a:lnTo>
                <a:lnTo>
                  <a:pt x="15100" y="540558"/>
                </a:lnTo>
                <a:lnTo>
                  <a:pt x="26537" y="494817"/>
                </a:lnTo>
                <a:lnTo>
                  <a:pt x="40982" y="450351"/>
                </a:lnTo>
                <a:lnTo>
                  <a:pt x="58320" y="407277"/>
                </a:lnTo>
                <a:lnTo>
                  <a:pt x="78435" y="365709"/>
                </a:lnTo>
                <a:lnTo>
                  <a:pt x="101211" y="325764"/>
                </a:lnTo>
                <a:lnTo>
                  <a:pt x="126533" y="287558"/>
                </a:lnTo>
                <a:lnTo>
                  <a:pt x="154285" y="251205"/>
                </a:lnTo>
                <a:lnTo>
                  <a:pt x="184350" y="216822"/>
                </a:lnTo>
                <a:lnTo>
                  <a:pt x="216615" y="184525"/>
                </a:lnTo>
                <a:lnTo>
                  <a:pt x="250962" y="154429"/>
                </a:lnTo>
                <a:lnTo>
                  <a:pt x="287275" y="126650"/>
                </a:lnTo>
                <a:lnTo>
                  <a:pt x="325440" y="101303"/>
                </a:lnTo>
                <a:lnTo>
                  <a:pt x="365341" y="78505"/>
                </a:lnTo>
                <a:lnTo>
                  <a:pt x="406861" y="58372"/>
                </a:lnTo>
                <a:lnTo>
                  <a:pt x="449885" y="41018"/>
                </a:lnTo>
                <a:lnTo>
                  <a:pt x="494297" y="26560"/>
                </a:lnTo>
                <a:lnTo>
                  <a:pt x="539982" y="15113"/>
                </a:lnTo>
                <a:lnTo>
                  <a:pt x="586823" y="6794"/>
                </a:lnTo>
                <a:lnTo>
                  <a:pt x="634706" y="1717"/>
                </a:lnTo>
                <a:lnTo>
                  <a:pt x="683514" y="0"/>
                </a:lnTo>
                <a:lnTo>
                  <a:pt x="732321" y="1717"/>
                </a:lnTo>
                <a:lnTo>
                  <a:pt x="780204" y="6794"/>
                </a:lnTo>
                <a:lnTo>
                  <a:pt x="827045" y="15113"/>
                </a:lnTo>
                <a:lnTo>
                  <a:pt x="872730" y="26560"/>
                </a:lnTo>
                <a:lnTo>
                  <a:pt x="917142" y="41018"/>
                </a:lnTo>
                <a:lnTo>
                  <a:pt x="960166" y="58372"/>
                </a:lnTo>
                <a:lnTo>
                  <a:pt x="1001686" y="78505"/>
                </a:lnTo>
                <a:lnTo>
                  <a:pt x="1041587" y="101303"/>
                </a:lnTo>
                <a:lnTo>
                  <a:pt x="1079752" y="126650"/>
                </a:lnTo>
                <a:lnTo>
                  <a:pt x="1116065" y="154429"/>
                </a:lnTo>
                <a:lnTo>
                  <a:pt x="1150412" y="184525"/>
                </a:lnTo>
                <a:lnTo>
                  <a:pt x="1182677" y="216822"/>
                </a:lnTo>
                <a:lnTo>
                  <a:pt x="1212742" y="251205"/>
                </a:lnTo>
                <a:lnTo>
                  <a:pt x="1240494" y="287558"/>
                </a:lnTo>
                <a:lnTo>
                  <a:pt x="1265816" y="325764"/>
                </a:lnTo>
                <a:lnTo>
                  <a:pt x="1288592" y="365709"/>
                </a:lnTo>
                <a:lnTo>
                  <a:pt x="1308707" y="407277"/>
                </a:lnTo>
                <a:lnTo>
                  <a:pt x="1326045" y="450351"/>
                </a:lnTo>
                <a:lnTo>
                  <a:pt x="1340490" y="494817"/>
                </a:lnTo>
                <a:lnTo>
                  <a:pt x="1351927" y="540558"/>
                </a:lnTo>
                <a:lnTo>
                  <a:pt x="1360239" y="587458"/>
                </a:lnTo>
                <a:lnTo>
                  <a:pt x="1365311" y="635403"/>
                </a:lnTo>
                <a:lnTo>
                  <a:pt x="1367028" y="684276"/>
                </a:lnTo>
                <a:lnTo>
                  <a:pt x="1365311" y="733148"/>
                </a:lnTo>
                <a:lnTo>
                  <a:pt x="1360239" y="781093"/>
                </a:lnTo>
                <a:lnTo>
                  <a:pt x="1351927" y="827993"/>
                </a:lnTo>
                <a:lnTo>
                  <a:pt x="1340490" y="873734"/>
                </a:lnTo>
                <a:lnTo>
                  <a:pt x="1326045" y="918200"/>
                </a:lnTo>
                <a:lnTo>
                  <a:pt x="1308707" y="961274"/>
                </a:lnTo>
                <a:lnTo>
                  <a:pt x="1288592" y="1002842"/>
                </a:lnTo>
                <a:lnTo>
                  <a:pt x="1265816" y="1042787"/>
                </a:lnTo>
                <a:lnTo>
                  <a:pt x="1240494" y="1080993"/>
                </a:lnTo>
                <a:lnTo>
                  <a:pt x="1212742" y="1117346"/>
                </a:lnTo>
                <a:lnTo>
                  <a:pt x="1182677" y="1151729"/>
                </a:lnTo>
                <a:lnTo>
                  <a:pt x="1150412" y="1184026"/>
                </a:lnTo>
                <a:lnTo>
                  <a:pt x="1116065" y="1214122"/>
                </a:lnTo>
                <a:lnTo>
                  <a:pt x="1079752" y="1241901"/>
                </a:lnTo>
                <a:lnTo>
                  <a:pt x="1041587" y="1267248"/>
                </a:lnTo>
                <a:lnTo>
                  <a:pt x="1001686" y="1290046"/>
                </a:lnTo>
                <a:lnTo>
                  <a:pt x="960166" y="1310179"/>
                </a:lnTo>
                <a:lnTo>
                  <a:pt x="917142" y="1327533"/>
                </a:lnTo>
                <a:lnTo>
                  <a:pt x="872730" y="1341991"/>
                </a:lnTo>
                <a:lnTo>
                  <a:pt x="827045" y="1353438"/>
                </a:lnTo>
                <a:lnTo>
                  <a:pt x="780204" y="1361757"/>
                </a:lnTo>
                <a:lnTo>
                  <a:pt x="732321" y="1366834"/>
                </a:lnTo>
                <a:lnTo>
                  <a:pt x="683514" y="1368552"/>
                </a:lnTo>
                <a:lnTo>
                  <a:pt x="634706" y="1366834"/>
                </a:lnTo>
                <a:lnTo>
                  <a:pt x="586823" y="1361757"/>
                </a:lnTo>
                <a:lnTo>
                  <a:pt x="539982" y="1353438"/>
                </a:lnTo>
                <a:lnTo>
                  <a:pt x="494297" y="1341991"/>
                </a:lnTo>
                <a:lnTo>
                  <a:pt x="449885" y="1327533"/>
                </a:lnTo>
                <a:lnTo>
                  <a:pt x="406861" y="1310179"/>
                </a:lnTo>
                <a:lnTo>
                  <a:pt x="365341" y="1290046"/>
                </a:lnTo>
                <a:lnTo>
                  <a:pt x="325440" y="1267248"/>
                </a:lnTo>
                <a:lnTo>
                  <a:pt x="287275" y="1241901"/>
                </a:lnTo>
                <a:lnTo>
                  <a:pt x="250962" y="1214122"/>
                </a:lnTo>
                <a:lnTo>
                  <a:pt x="216615" y="1184026"/>
                </a:lnTo>
                <a:lnTo>
                  <a:pt x="184350" y="1151729"/>
                </a:lnTo>
                <a:lnTo>
                  <a:pt x="154285" y="1117346"/>
                </a:lnTo>
                <a:lnTo>
                  <a:pt x="126533" y="1080993"/>
                </a:lnTo>
                <a:lnTo>
                  <a:pt x="101211" y="1042787"/>
                </a:lnTo>
                <a:lnTo>
                  <a:pt x="78435" y="1002842"/>
                </a:lnTo>
                <a:lnTo>
                  <a:pt x="58320" y="961274"/>
                </a:lnTo>
                <a:lnTo>
                  <a:pt x="40982" y="918200"/>
                </a:lnTo>
                <a:lnTo>
                  <a:pt x="26537" y="873734"/>
                </a:lnTo>
                <a:lnTo>
                  <a:pt x="15100" y="827993"/>
                </a:lnTo>
                <a:lnTo>
                  <a:pt x="6788" y="781093"/>
                </a:lnTo>
                <a:lnTo>
                  <a:pt x="1716" y="733148"/>
                </a:lnTo>
                <a:lnTo>
                  <a:pt x="0" y="684276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8797" y="4170426"/>
            <a:ext cx="1369060" cy="1367155"/>
          </a:xfrm>
          <a:custGeom>
            <a:avLst/>
            <a:gdLst/>
            <a:ahLst/>
            <a:cxnLst/>
            <a:rect l="l" t="t" r="r" b="b"/>
            <a:pathLst>
              <a:path w="1369060" h="1367154">
                <a:moveTo>
                  <a:pt x="0" y="683513"/>
                </a:moveTo>
                <a:lnTo>
                  <a:pt x="1717" y="634706"/>
                </a:lnTo>
                <a:lnTo>
                  <a:pt x="6794" y="586823"/>
                </a:lnTo>
                <a:lnTo>
                  <a:pt x="15113" y="539982"/>
                </a:lnTo>
                <a:lnTo>
                  <a:pt x="26560" y="494297"/>
                </a:lnTo>
                <a:lnTo>
                  <a:pt x="41018" y="449885"/>
                </a:lnTo>
                <a:lnTo>
                  <a:pt x="58372" y="406861"/>
                </a:lnTo>
                <a:lnTo>
                  <a:pt x="78505" y="365341"/>
                </a:lnTo>
                <a:lnTo>
                  <a:pt x="101303" y="325440"/>
                </a:lnTo>
                <a:lnTo>
                  <a:pt x="126650" y="287275"/>
                </a:lnTo>
                <a:lnTo>
                  <a:pt x="154429" y="250962"/>
                </a:lnTo>
                <a:lnTo>
                  <a:pt x="184525" y="216615"/>
                </a:lnTo>
                <a:lnTo>
                  <a:pt x="216822" y="184350"/>
                </a:lnTo>
                <a:lnTo>
                  <a:pt x="251205" y="154285"/>
                </a:lnTo>
                <a:lnTo>
                  <a:pt x="287558" y="126533"/>
                </a:lnTo>
                <a:lnTo>
                  <a:pt x="325764" y="101211"/>
                </a:lnTo>
                <a:lnTo>
                  <a:pt x="365709" y="78435"/>
                </a:lnTo>
                <a:lnTo>
                  <a:pt x="407277" y="58320"/>
                </a:lnTo>
                <a:lnTo>
                  <a:pt x="450351" y="40982"/>
                </a:lnTo>
                <a:lnTo>
                  <a:pt x="494817" y="26537"/>
                </a:lnTo>
                <a:lnTo>
                  <a:pt x="540558" y="15100"/>
                </a:lnTo>
                <a:lnTo>
                  <a:pt x="587458" y="6788"/>
                </a:lnTo>
                <a:lnTo>
                  <a:pt x="635403" y="1716"/>
                </a:lnTo>
                <a:lnTo>
                  <a:pt x="684276" y="0"/>
                </a:lnTo>
                <a:lnTo>
                  <a:pt x="733148" y="1716"/>
                </a:lnTo>
                <a:lnTo>
                  <a:pt x="781093" y="6788"/>
                </a:lnTo>
                <a:lnTo>
                  <a:pt x="827993" y="15100"/>
                </a:lnTo>
                <a:lnTo>
                  <a:pt x="873734" y="26537"/>
                </a:lnTo>
                <a:lnTo>
                  <a:pt x="918200" y="40982"/>
                </a:lnTo>
                <a:lnTo>
                  <a:pt x="961274" y="58320"/>
                </a:lnTo>
                <a:lnTo>
                  <a:pt x="1002842" y="78435"/>
                </a:lnTo>
                <a:lnTo>
                  <a:pt x="1042787" y="101211"/>
                </a:lnTo>
                <a:lnTo>
                  <a:pt x="1080993" y="126533"/>
                </a:lnTo>
                <a:lnTo>
                  <a:pt x="1117346" y="154285"/>
                </a:lnTo>
                <a:lnTo>
                  <a:pt x="1151729" y="184350"/>
                </a:lnTo>
                <a:lnTo>
                  <a:pt x="1184026" y="216615"/>
                </a:lnTo>
                <a:lnTo>
                  <a:pt x="1214122" y="250962"/>
                </a:lnTo>
                <a:lnTo>
                  <a:pt x="1241901" y="287275"/>
                </a:lnTo>
                <a:lnTo>
                  <a:pt x="1267248" y="325440"/>
                </a:lnTo>
                <a:lnTo>
                  <a:pt x="1290046" y="365341"/>
                </a:lnTo>
                <a:lnTo>
                  <a:pt x="1310179" y="406861"/>
                </a:lnTo>
                <a:lnTo>
                  <a:pt x="1327533" y="449885"/>
                </a:lnTo>
                <a:lnTo>
                  <a:pt x="1341991" y="494297"/>
                </a:lnTo>
                <a:lnTo>
                  <a:pt x="1353438" y="539982"/>
                </a:lnTo>
                <a:lnTo>
                  <a:pt x="1361757" y="586823"/>
                </a:lnTo>
                <a:lnTo>
                  <a:pt x="1366834" y="634706"/>
                </a:lnTo>
                <a:lnTo>
                  <a:pt x="1368552" y="683513"/>
                </a:lnTo>
                <a:lnTo>
                  <a:pt x="1366834" y="732321"/>
                </a:lnTo>
                <a:lnTo>
                  <a:pt x="1361757" y="780204"/>
                </a:lnTo>
                <a:lnTo>
                  <a:pt x="1353438" y="827045"/>
                </a:lnTo>
                <a:lnTo>
                  <a:pt x="1341991" y="872730"/>
                </a:lnTo>
                <a:lnTo>
                  <a:pt x="1327533" y="917142"/>
                </a:lnTo>
                <a:lnTo>
                  <a:pt x="1310179" y="960166"/>
                </a:lnTo>
                <a:lnTo>
                  <a:pt x="1290046" y="1001686"/>
                </a:lnTo>
                <a:lnTo>
                  <a:pt x="1267248" y="1041587"/>
                </a:lnTo>
                <a:lnTo>
                  <a:pt x="1241901" y="1079752"/>
                </a:lnTo>
                <a:lnTo>
                  <a:pt x="1214122" y="1116065"/>
                </a:lnTo>
                <a:lnTo>
                  <a:pt x="1184026" y="1150412"/>
                </a:lnTo>
                <a:lnTo>
                  <a:pt x="1151729" y="1182677"/>
                </a:lnTo>
                <a:lnTo>
                  <a:pt x="1117346" y="1212742"/>
                </a:lnTo>
                <a:lnTo>
                  <a:pt x="1080993" y="1240494"/>
                </a:lnTo>
                <a:lnTo>
                  <a:pt x="1042787" y="1265816"/>
                </a:lnTo>
                <a:lnTo>
                  <a:pt x="1002842" y="1288592"/>
                </a:lnTo>
                <a:lnTo>
                  <a:pt x="961274" y="1308707"/>
                </a:lnTo>
                <a:lnTo>
                  <a:pt x="918200" y="1326045"/>
                </a:lnTo>
                <a:lnTo>
                  <a:pt x="873734" y="1340490"/>
                </a:lnTo>
                <a:lnTo>
                  <a:pt x="827993" y="1351927"/>
                </a:lnTo>
                <a:lnTo>
                  <a:pt x="781093" y="1360239"/>
                </a:lnTo>
                <a:lnTo>
                  <a:pt x="733148" y="1365311"/>
                </a:lnTo>
                <a:lnTo>
                  <a:pt x="684276" y="1367028"/>
                </a:lnTo>
                <a:lnTo>
                  <a:pt x="635403" y="1365311"/>
                </a:lnTo>
                <a:lnTo>
                  <a:pt x="587458" y="1360239"/>
                </a:lnTo>
                <a:lnTo>
                  <a:pt x="540558" y="1351927"/>
                </a:lnTo>
                <a:lnTo>
                  <a:pt x="494817" y="1340490"/>
                </a:lnTo>
                <a:lnTo>
                  <a:pt x="450351" y="1326045"/>
                </a:lnTo>
                <a:lnTo>
                  <a:pt x="407277" y="1308707"/>
                </a:lnTo>
                <a:lnTo>
                  <a:pt x="365709" y="1288592"/>
                </a:lnTo>
                <a:lnTo>
                  <a:pt x="325764" y="1265816"/>
                </a:lnTo>
                <a:lnTo>
                  <a:pt x="287558" y="1240494"/>
                </a:lnTo>
                <a:lnTo>
                  <a:pt x="251205" y="1212742"/>
                </a:lnTo>
                <a:lnTo>
                  <a:pt x="216822" y="1182677"/>
                </a:lnTo>
                <a:lnTo>
                  <a:pt x="184525" y="1150412"/>
                </a:lnTo>
                <a:lnTo>
                  <a:pt x="154429" y="1116065"/>
                </a:lnTo>
                <a:lnTo>
                  <a:pt x="126650" y="1079752"/>
                </a:lnTo>
                <a:lnTo>
                  <a:pt x="101303" y="1041587"/>
                </a:lnTo>
                <a:lnTo>
                  <a:pt x="78505" y="1001686"/>
                </a:lnTo>
                <a:lnTo>
                  <a:pt x="58372" y="960166"/>
                </a:lnTo>
                <a:lnTo>
                  <a:pt x="41018" y="917142"/>
                </a:lnTo>
                <a:lnTo>
                  <a:pt x="26560" y="872730"/>
                </a:lnTo>
                <a:lnTo>
                  <a:pt x="15113" y="827045"/>
                </a:lnTo>
                <a:lnTo>
                  <a:pt x="6794" y="780204"/>
                </a:lnTo>
                <a:lnTo>
                  <a:pt x="1717" y="732321"/>
                </a:lnTo>
                <a:lnTo>
                  <a:pt x="0" y="683513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74714" y="4170426"/>
            <a:ext cx="1367155" cy="1367155"/>
          </a:xfrm>
          <a:custGeom>
            <a:avLst/>
            <a:gdLst/>
            <a:ahLst/>
            <a:cxnLst/>
            <a:rect l="l" t="t" r="r" b="b"/>
            <a:pathLst>
              <a:path w="1367154" h="1367154">
                <a:moveTo>
                  <a:pt x="0" y="683513"/>
                </a:moveTo>
                <a:lnTo>
                  <a:pt x="1716" y="634706"/>
                </a:lnTo>
                <a:lnTo>
                  <a:pt x="6788" y="586823"/>
                </a:lnTo>
                <a:lnTo>
                  <a:pt x="15100" y="539982"/>
                </a:lnTo>
                <a:lnTo>
                  <a:pt x="26537" y="494297"/>
                </a:lnTo>
                <a:lnTo>
                  <a:pt x="40982" y="449885"/>
                </a:lnTo>
                <a:lnTo>
                  <a:pt x="58320" y="406861"/>
                </a:lnTo>
                <a:lnTo>
                  <a:pt x="78435" y="365341"/>
                </a:lnTo>
                <a:lnTo>
                  <a:pt x="101211" y="325440"/>
                </a:lnTo>
                <a:lnTo>
                  <a:pt x="126533" y="287275"/>
                </a:lnTo>
                <a:lnTo>
                  <a:pt x="154285" y="250962"/>
                </a:lnTo>
                <a:lnTo>
                  <a:pt x="184350" y="216615"/>
                </a:lnTo>
                <a:lnTo>
                  <a:pt x="216615" y="184350"/>
                </a:lnTo>
                <a:lnTo>
                  <a:pt x="250962" y="154285"/>
                </a:lnTo>
                <a:lnTo>
                  <a:pt x="287275" y="126533"/>
                </a:lnTo>
                <a:lnTo>
                  <a:pt x="325440" y="101211"/>
                </a:lnTo>
                <a:lnTo>
                  <a:pt x="365341" y="78435"/>
                </a:lnTo>
                <a:lnTo>
                  <a:pt x="406861" y="58320"/>
                </a:lnTo>
                <a:lnTo>
                  <a:pt x="449885" y="40982"/>
                </a:lnTo>
                <a:lnTo>
                  <a:pt x="494297" y="26537"/>
                </a:lnTo>
                <a:lnTo>
                  <a:pt x="539982" y="15100"/>
                </a:lnTo>
                <a:lnTo>
                  <a:pt x="586823" y="6788"/>
                </a:lnTo>
                <a:lnTo>
                  <a:pt x="634706" y="1716"/>
                </a:lnTo>
                <a:lnTo>
                  <a:pt x="683513" y="0"/>
                </a:lnTo>
                <a:lnTo>
                  <a:pt x="732321" y="1716"/>
                </a:lnTo>
                <a:lnTo>
                  <a:pt x="780204" y="6788"/>
                </a:lnTo>
                <a:lnTo>
                  <a:pt x="827045" y="15100"/>
                </a:lnTo>
                <a:lnTo>
                  <a:pt x="872730" y="26537"/>
                </a:lnTo>
                <a:lnTo>
                  <a:pt x="917142" y="40982"/>
                </a:lnTo>
                <a:lnTo>
                  <a:pt x="960166" y="58320"/>
                </a:lnTo>
                <a:lnTo>
                  <a:pt x="1001686" y="78435"/>
                </a:lnTo>
                <a:lnTo>
                  <a:pt x="1041587" y="101211"/>
                </a:lnTo>
                <a:lnTo>
                  <a:pt x="1079752" y="126533"/>
                </a:lnTo>
                <a:lnTo>
                  <a:pt x="1116065" y="154285"/>
                </a:lnTo>
                <a:lnTo>
                  <a:pt x="1150412" y="184350"/>
                </a:lnTo>
                <a:lnTo>
                  <a:pt x="1182677" y="216615"/>
                </a:lnTo>
                <a:lnTo>
                  <a:pt x="1212742" y="250962"/>
                </a:lnTo>
                <a:lnTo>
                  <a:pt x="1240494" y="287275"/>
                </a:lnTo>
                <a:lnTo>
                  <a:pt x="1265816" y="325440"/>
                </a:lnTo>
                <a:lnTo>
                  <a:pt x="1288592" y="365341"/>
                </a:lnTo>
                <a:lnTo>
                  <a:pt x="1308707" y="406861"/>
                </a:lnTo>
                <a:lnTo>
                  <a:pt x="1326045" y="449885"/>
                </a:lnTo>
                <a:lnTo>
                  <a:pt x="1340490" y="494297"/>
                </a:lnTo>
                <a:lnTo>
                  <a:pt x="1351927" y="539982"/>
                </a:lnTo>
                <a:lnTo>
                  <a:pt x="1360239" y="586823"/>
                </a:lnTo>
                <a:lnTo>
                  <a:pt x="1365311" y="634706"/>
                </a:lnTo>
                <a:lnTo>
                  <a:pt x="1367028" y="683513"/>
                </a:lnTo>
                <a:lnTo>
                  <a:pt x="1365311" y="732321"/>
                </a:lnTo>
                <a:lnTo>
                  <a:pt x="1360239" y="780204"/>
                </a:lnTo>
                <a:lnTo>
                  <a:pt x="1351927" y="827045"/>
                </a:lnTo>
                <a:lnTo>
                  <a:pt x="1340490" y="872730"/>
                </a:lnTo>
                <a:lnTo>
                  <a:pt x="1326045" y="917142"/>
                </a:lnTo>
                <a:lnTo>
                  <a:pt x="1308707" y="960166"/>
                </a:lnTo>
                <a:lnTo>
                  <a:pt x="1288592" y="1001686"/>
                </a:lnTo>
                <a:lnTo>
                  <a:pt x="1265816" y="1041587"/>
                </a:lnTo>
                <a:lnTo>
                  <a:pt x="1240494" y="1079752"/>
                </a:lnTo>
                <a:lnTo>
                  <a:pt x="1212742" y="1116065"/>
                </a:lnTo>
                <a:lnTo>
                  <a:pt x="1182677" y="1150412"/>
                </a:lnTo>
                <a:lnTo>
                  <a:pt x="1150412" y="1182677"/>
                </a:lnTo>
                <a:lnTo>
                  <a:pt x="1116065" y="1212742"/>
                </a:lnTo>
                <a:lnTo>
                  <a:pt x="1079752" y="1240494"/>
                </a:lnTo>
                <a:lnTo>
                  <a:pt x="1041587" y="1265816"/>
                </a:lnTo>
                <a:lnTo>
                  <a:pt x="1001686" y="1288592"/>
                </a:lnTo>
                <a:lnTo>
                  <a:pt x="960166" y="1308707"/>
                </a:lnTo>
                <a:lnTo>
                  <a:pt x="917142" y="1326045"/>
                </a:lnTo>
                <a:lnTo>
                  <a:pt x="872730" y="1340490"/>
                </a:lnTo>
                <a:lnTo>
                  <a:pt x="827045" y="1351927"/>
                </a:lnTo>
                <a:lnTo>
                  <a:pt x="780204" y="1360239"/>
                </a:lnTo>
                <a:lnTo>
                  <a:pt x="732321" y="1365311"/>
                </a:lnTo>
                <a:lnTo>
                  <a:pt x="683513" y="1367028"/>
                </a:lnTo>
                <a:lnTo>
                  <a:pt x="634706" y="1365311"/>
                </a:lnTo>
                <a:lnTo>
                  <a:pt x="586823" y="1360239"/>
                </a:lnTo>
                <a:lnTo>
                  <a:pt x="539982" y="1351927"/>
                </a:lnTo>
                <a:lnTo>
                  <a:pt x="494297" y="1340490"/>
                </a:lnTo>
                <a:lnTo>
                  <a:pt x="449885" y="1326045"/>
                </a:lnTo>
                <a:lnTo>
                  <a:pt x="406861" y="1308707"/>
                </a:lnTo>
                <a:lnTo>
                  <a:pt x="365341" y="1288592"/>
                </a:lnTo>
                <a:lnTo>
                  <a:pt x="325440" y="1265816"/>
                </a:lnTo>
                <a:lnTo>
                  <a:pt x="287275" y="1240494"/>
                </a:lnTo>
                <a:lnTo>
                  <a:pt x="250962" y="1212742"/>
                </a:lnTo>
                <a:lnTo>
                  <a:pt x="216615" y="1182677"/>
                </a:lnTo>
                <a:lnTo>
                  <a:pt x="184350" y="1150412"/>
                </a:lnTo>
                <a:lnTo>
                  <a:pt x="154285" y="1116065"/>
                </a:lnTo>
                <a:lnTo>
                  <a:pt x="126533" y="1079752"/>
                </a:lnTo>
                <a:lnTo>
                  <a:pt x="101211" y="1041587"/>
                </a:lnTo>
                <a:lnTo>
                  <a:pt x="78435" y="1001686"/>
                </a:lnTo>
                <a:lnTo>
                  <a:pt x="58320" y="960166"/>
                </a:lnTo>
                <a:lnTo>
                  <a:pt x="40982" y="917142"/>
                </a:lnTo>
                <a:lnTo>
                  <a:pt x="26537" y="872730"/>
                </a:lnTo>
                <a:lnTo>
                  <a:pt x="15100" y="827045"/>
                </a:lnTo>
                <a:lnTo>
                  <a:pt x="6788" y="780204"/>
                </a:lnTo>
                <a:lnTo>
                  <a:pt x="1716" y="732321"/>
                </a:lnTo>
                <a:lnTo>
                  <a:pt x="0" y="683513"/>
                </a:lnTo>
                <a:close/>
              </a:path>
            </a:pathLst>
          </a:custGeom>
          <a:ln w="2857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401302" y="4508372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4782" y="5633110"/>
            <a:ext cx="145097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496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FinTech Collaboration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02582" y="5633110"/>
            <a:ext cx="8020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0485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Credit Ratings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52641" y="5633110"/>
            <a:ext cx="101854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marR="5080" indent="-8128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2000" spc="-10" b="1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1007" y="5633110"/>
            <a:ext cx="877569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Modern Subak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8368" y="4392929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8802" y="4392929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63520" y="4392929"/>
            <a:ext cx="30924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0" b="1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4165853" y="1611248"/>
            <a:ext cx="386143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Mitra</a:t>
            </a:r>
            <a:r>
              <a:rPr dirty="0" sz="6000" spc="-290">
                <a:solidFill>
                  <a:srgbClr val="FFFFFF"/>
                </a:solidFill>
              </a:rPr>
              <a:t> </a:t>
            </a:r>
            <a:r>
              <a:rPr dirty="0" sz="6000" spc="-10">
                <a:solidFill>
                  <a:srgbClr val="FFFFFF"/>
                </a:solidFill>
              </a:rPr>
              <a:t>Kredit</a:t>
            </a:r>
            <a:endParaRPr sz="6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60080" y="4972811"/>
            <a:ext cx="1793875" cy="1457325"/>
          </a:xfrm>
          <a:custGeom>
            <a:avLst/>
            <a:gdLst/>
            <a:ahLst/>
            <a:cxnLst/>
            <a:rect l="l" t="t" r="r" b="b"/>
            <a:pathLst>
              <a:path w="1793875" h="1457325">
                <a:moveTo>
                  <a:pt x="0" y="1456944"/>
                </a:moveTo>
                <a:lnTo>
                  <a:pt x="1793748" y="1456944"/>
                </a:lnTo>
                <a:lnTo>
                  <a:pt x="1793748" y="0"/>
                </a:lnTo>
                <a:lnTo>
                  <a:pt x="0" y="0"/>
                </a:lnTo>
                <a:lnTo>
                  <a:pt x="0" y="145694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67090" y="5314315"/>
            <a:ext cx="13798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Providing</a:t>
            </a:r>
            <a:r>
              <a:rPr dirty="0" sz="1200" spc="-7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irrigation </a:t>
            </a:r>
            <a:r>
              <a:rPr dirty="0" sz="1200" b="1">
                <a:latin typeface="Calibri"/>
                <a:cs typeface="Calibri"/>
              </a:rPr>
              <a:t>facilities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affordable rates.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90927" y="4953000"/>
            <a:ext cx="1793875" cy="1485900"/>
          </a:xfrm>
          <a:custGeom>
            <a:avLst/>
            <a:gdLst/>
            <a:ahLst/>
            <a:cxnLst/>
            <a:rect l="l" t="t" r="r" b="b"/>
            <a:pathLst>
              <a:path w="1793875" h="1485900">
                <a:moveTo>
                  <a:pt x="0" y="1485900"/>
                </a:moveTo>
                <a:lnTo>
                  <a:pt x="1793748" y="1485900"/>
                </a:lnTo>
                <a:lnTo>
                  <a:pt x="1793748" y="0"/>
                </a:lnTo>
                <a:lnTo>
                  <a:pt x="0" y="0"/>
                </a:lnTo>
                <a:lnTo>
                  <a:pt x="0" y="14859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93417" y="5217921"/>
            <a:ext cx="158877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Water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inlet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started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month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of </a:t>
            </a:r>
            <a:r>
              <a:rPr dirty="0" sz="1200" b="1">
                <a:latin typeface="Calibri"/>
                <a:cs typeface="Calibri"/>
              </a:rPr>
              <a:t>December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until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month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June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distributed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20" y="4826508"/>
            <a:ext cx="1659889" cy="1614170"/>
          </a:xfrm>
          <a:custGeom>
            <a:avLst/>
            <a:gdLst/>
            <a:ahLst/>
            <a:cxnLst/>
            <a:rect l="l" t="t" r="r" b="b"/>
            <a:pathLst>
              <a:path w="1659889" h="1614170">
                <a:moveTo>
                  <a:pt x="0" y="1613916"/>
                </a:moveTo>
                <a:lnTo>
                  <a:pt x="1659636" y="1613916"/>
                </a:lnTo>
                <a:lnTo>
                  <a:pt x="1659636" y="0"/>
                </a:lnTo>
                <a:lnTo>
                  <a:pt x="0" y="0"/>
                </a:lnTo>
                <a:lnTo>
                  <a:pt x="0" y="1613916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9804" y="5246623"/>
            <a:ext cx="148018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90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areas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where </a:t>
            </a:r>
            <a:r>
              <a:rPr dirty="0" sz="1200" b="1">
                <a:latin typeface="Calibri"/>
                <a:cs typeface="Calibri"/>
              </a:rPr>
              <a:t>Subaks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be </a:t>
            </a:r>
            <a:r>
              <a:rPr dirty="0" sz="1200" spc="-10">
                <a:latin typeface="Calibri"/>
                <a:cs typeface="Calibri"/>
              </a:rPr>
              <a:t>introduced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3 </a:t>
            </a:r>
            <a:r>
              <a:rPr dirty="0" sz="1200">
                <a:latin typeface="Calibri"/>
                <a:cs typeface="Calibri"/>
              </a:rPr>
              <a:t>variables: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geographical </a:t>
            </a:r>
            <a:r>
              <a:rPr dirty="0" sz="1200" b="1">
                <a:latin typeface="Calibri"/>
                <a:cs typeface="Calibri"/>
              </a:rPr>
              <a:t>location,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,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external threat</a:t>
            </a:r>
            <a:r>
              <a:rPr dirty="0" sz="1200" spc="-1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94047" y="4791455"/>
            <a:ext cx="1659889" cy="1643380"/>
          </a:xfrm>
          <a:custGeom>
            <a:avLst/>
            <a:gdLst/>
            <a:ahLst/>
            <a:cxnLst/>
            <a:rect l="l" t="t" r="r" b="b"/>
            <a:pathLst>
              <a:path w="1659889" h="1643379">
                <a:moveTo>
                  <a:pt x="0" y="1642872"/>
                </a:moveTo>
                <a:lnTo>
                  <a:pt x="1659636" y="1642872"/>
                </a:lnTo>
                <a:lnTo>
                  <a:pt x="1659636" y="0"/>
                </a:lnTo>
                <a:lnTo>
                  <a:pt x="0" y="0"/>
                </a:lnTo>
                <a:lnTo>
                  <a:pt x="0" y="1642872"/>
                </a:lnTo>
                <a:close/>
              </a:path>
            </a:pathLst>
          </a:custGeom>
          <a:ln w="1269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98060" y="5226558"/>
            <a:ext cx="14509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90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Meetings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where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we </a:t>
            </a:r>
            <a:r>
              <a:rPr dirty="0" sz="1200" b="1">
                <a:latin typeface="Calibri"/>
                <a:cs typeface="Calibri"/>
              </a:rPr>
              <a:t>introduce</a:t>
            </a:r>
            <a:r>
              <a:rPr dirty="0" sz="1200" spc="-70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this </a:t>
            </a:r>
            <a:r>
              <a:rPr dirty="0" sz="1200" spc="-10">
                <a:latin typeface="Calibri"/>
                <a:cs typeface="Calibri"/>
              </a:rPr>
              <a:t>technology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discuss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farmers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Modernising</a:t>
            </a:r>
            <a:r>
              <a:rPr dirty="0" spc="-50"/>
              <a:t> </a:t>
            </a:r>
            <a:r>
              <a:rPr dirty="0"/>
              <a:t>Subaks:</a:t>
            </a:r>
            <a:r>
              <a:rPr dirty="0" spc="-40"/>
              <a:t> </a:t>
            </a:r>
            <a:r>
              <a:rPr dirty="0" spc="-10"/>
              <a:t>Revitalising</a:t>
            </a:r>
            <a:r>
              <a:rPr dirty="0" spc="-50"/>
              <a:t> </a:t>
            </a:r>
            <a:r>
              <a:rPr dirty="0"/>
              <a:t>a traditional</a:t>
            </a:r>
            <a:r>
              <a:rPr dirty="0" spc="-45"/>
              <a:t> </a:t>
            </a:r>
            <a:r>
              <a:rPr dirty="0"/>
              <a:t>irrigiation</a:t>
            </a:r>
            <a:r>
              <a:rPr dirty="0" spc="-50"/>
              <a:t> </a:t>
            </a:r>
            <a:r>
              <a:rPr dirty="0" spc="-10"/>
              <a:t>system</a:t>
            </a:r>
          </a:p>
          <a:p>
            <a:pPr marL="123825">
              <a:lnSpc>
                <a:spcPct val="100000"/>
              </a:lnSpc>
              <a:spcBef>
                <a:spcPts val="15"/>
              </a:spcBef>
            </a:pP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Farmers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Indonesia</a:t>
            </a:r>
            <a:r>
              <a:rPr dirty="0" sz="17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typically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depend</a:t>
            </a:r>
            <a:r>
              <a:rPr dirty="0" sz="17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on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rainfall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most</a:t>
            </a:r>
            <a:r>
              <a:rPr dirty="0" sz="1700" spc="-2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them</a:t>
            </a:r>
            <a:r>
              <a:rPr dirty="0" sz="1700" spc="-2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do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not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have</a:t>
            </a:r>
            <a:r>
              <a:rPr dirty="0" sz="1700" spc="-5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access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2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costly</a:t>
            </a:r>
            <a:r>
              <a:rPr dirty="0" sz="1700" spc="-2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modern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irrigation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practices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9372" y="1188719"/>
            <a:ext cx="3327400" cy="3232785"/>
          </a:xfrm>
          <a:custGeom>
            <a:avLst/>
            <a:gdLst/>
            <a:ahLst/>
            <a:cxnLst/>
            <a:rect l="l" t="t" r="r" b="b"/>
            <a:pathLst>
              <a:path w="3327400" h="3232785">
                <a:moveTo>
                  <a:pt x="3326891" y="0"/>
                </a:moveTo>
                <a:lnTo>
                  <a:pt x="0" y="0"/>
                </a:lnTo>
                <a:lnTo>
                  <a:pt x="0" y="3232404"/>
                </a:lnTo>
                <a:lnTo>
                  <a:pt x="3326891" y="3232404"/>
                </a:lnTo>
                <a:lnTo>
                  <a:pt x="3326891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6433184" y="740663"/>
            <a:ext cx="5509260" cy="3811904"/>
            <a:chOff x="6433184" y="740663"/>
            <a:chExt cx="5509260" cy="3811904"/>
          </a:xfrm>
        </p:grpSpPr>
        <p:sp>
          <p:nvSpPr>
            <p:cNvPr id="14" name="object 14"/>
            <p:cNvSpPr/>
            <p:nvPr/>
          </p:nvSpPr>
          <p:spPr>
            <a:xfrm>
              <a:off x="6442709" y="4431029"/>
              <a:ext cx="0" cy="112395"/>
            </a:xfrm>
            <a:custGeom>
              <a:avLst/>
              <a:gdLst/>
              <a:ahLst/>
              <a:cxnLst/>
              <a:rect l="l" t="t" r="r" b="b"/>
              <a:pathLst>
                <a:path w="0" h="112395">
                  <a:moveTo>
                    <a:pt x="0" y="0"/>
                  </a:moveTo>
                  <a:lnTo>
                    <a:pt x="0" y="11201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099803" y="740663"/>
              <a:ext cx="2842260" cy="428625"/>
            </a:xfrm>
            <a:custGeom>
              <a:avLst/>
              <a:gdLst/>
              <a:ahLst/>
              <a:cxnLst/>
              <a:rect l="l" t="t" r="r" b="b"/>
              <a:pathLst>
                <a:path w="2842259" h="428625">
                  <a:moveTo>
                    <a:pt x="2842259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2842259" y="428243"/>
                  </a:lnTo>
                  <a:lnTo>
                    <a:pt x="2842259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87502" y="1213230"/>
            <a:ext cx="3169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Farmers</a:t>
            </a:r>
            <a:r>
              <a:rPr dirty="0" sz="1200" spc="4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typically</a:t>
            </a:r>
            <a:r>
              <a:rPr dirty="0" sz="1200" spc="409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dependent</a:t>
            </a:r>
            <a:r>
              <a:rPr dirty="0" sz="1200" spc="4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</a:t>
            </a:r>
            <a:r>
              <a:rPr dirty="0" sz="1200" spc="409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rainfall</a:t>
            </a:r>
            <a:r>
              <a:rPr dirty="0" sz="1200" spc="415" b="1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needs.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7502" y="1761871"/>
            <a:ext cx="3171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Effects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climate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change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being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felt</a:t>
            </a:r>
            <a:r>
              <a:rPr dirty="0" sz="1200" spc="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form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irregular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patter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throughout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year.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7502" y="2310510"/>
            <a:ext cx="31711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 b="1">
                <a:latin typeface="Calibri"/>
                <a:cs typeface="Calibri"/>
              </a:rPr>
              <a:t>Government</a:t>
            </a:r>
            <a:r>
              <a:rPr dirty="0" sz="1200" spc="290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schemes</a:t>
            </a:r>
            <a:r>
              <a:rPr dirty="0" sz="1200" spc="280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have</a:t>
            </a:r>
            <a:r>
              <a:rPr dirty="0" sz="1200" spc="290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largely</a:t>
            </a:r>
            <a:r>
              <a:rPr dirty="0" sz="1200" spc="285" b="1">
                <a:latin typeface="Calibri"/>
                <a:cs typeface="Calibri"/>
              </a:rPr>
              <a:t>  </a:t>
            </a:r>
            <a:r>
              <a:rPr dirty="0" sz="1200" spc="-20" b="1">
                <a:latin typeface="Calibri"/>
                <a:cs typeface="Calibri"/>
              </a:rPr>
              <a:t>been </a:t>
            </a:r>
            <a:r>
              <a:rPr dirty="0" sz="1200" b="1">
                <a:latin typeface="Calibri"/>
                <a:cs typeface="Calibri"/>
              </a:rPr>
              <a:t>unsuccessful</a:t>
            </a:r>
            <a:r>
              <a:rPr dirty="0" sz="1200" spc="14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interruption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traditional systems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non-</a:t>
            </a:r>
            <a:r>
              <a:rPr dirty="0" sz="1200" spc="-10">
                <a:latin typeface="Calibri"/>
                <a:cs typeface="Calibri"/>
              </a:rPr>
              <a:t>cooperation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farmers.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7502" y="3042284"/>
            <a:ext cx="31711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 b="1">
                <a:latin typeface="Calibri"/>
                <a:cs typeface="Calibri"/>
              </a:rPr>
              <a:t>Modernized</a:t>
            </a:r>
            <a:r>
              <a:rPr dirty="0" sz="1200" spc="3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Subaks</a:t>
            </a:r>
            <a:r>
              <a:rPr dirty="0" sz="1200" spc="30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merge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cyclical</a:t>
            </a:r>
            <a:r>
              <a:rPr dirty="0" sz="1200" spc="16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16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reservoir</a:t>
            </a:r>
            <a:r>
              <a:rPr dirty="0" sz="1200" spc="16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16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6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community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irrigation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system.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cooperation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certainty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well.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7502" y="3956380"/>
            <a:ext cx="29845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dirty="0" sz="1200">
                <a:latin typeface="Calibri"/>
                <a:cs typeface="Calibri"/>
              </a:rPr>
              <a:t>15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farms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Subak,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Subaks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built.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1060" y="749808"/>
            <a:ext cx="2125980" cy="428625"/>
          </a:xfrm>
          <a:custGeom>
            <a:avLst/>
            <a:gdLst/>
            <a:ahLst/>
            <a:cxnLst/>
            <a:rect l="l" t="t" r="r" b="b"/>
            <a:pathLst>
              <a:path w="2125980" h="428625">
                <a:moveTo>
                  <a:pt x="2125979" y="0"/>
                </a:moveTo>
                <a:lnTo>
                  <a:pt x="0" y="0"/>
                </a:lnTo>
                <a:lnTo>
                  <a:pt x="0" y="428244"/>
                </a:lnTo>
                <a:lnTo>
                  <a:pt x="2125979" y="428244"/>
                </a:lnTo>
                <a:lnTo>
                  <a:pt x="2125979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86002" y="824865"/>
            <a:ext cx="1276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Calibri"/>
                <a:cs typeface="Calibri"/>
              </a:rPr>
              <a:t>INTRODUCTION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42906" y="816355"/>
            <a:ext cx="9588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Calibri"/>
                <a:cs typeface="Calibri"/>
              </a:rPr>
              <a:t>INCENTIVES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51263" y="1312545"/>
            <a:ext cx="18592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Higher</a:t>
            </a:r>
            <a:r>
              <a:rPr dirty="0" sz="1200" spc="434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productivity</a:t>
            </a:r>
            <a:r>
              <a:rPr dirty="0" sz="1200" spc="4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availability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during </a:t>
            </a:r>
            <a:r>
              <a:rPr dirty="0" sz="1200" b="1">
                <a:latin typeface="Calibri"/>
                <a:cs typeface="Calibri"/>
              </a:rPr>
              <a:t>dry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seasons.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51263" y="2058161"/>
            <a:ext cx="18599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Lower</a:t>
            </a:r>
            <a:r>
              <a:rPr dirty="0" sz="1200" spc="18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chances</a:t>
            </a:r>
            <a:r>
              <a:rPr dirty="0" sz="1200" spc="18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185" b="1">
                <a:latin typeface="Calibri"/>
                <a:cs typeface="Calibri"/>
              </a:rPr>
              <a:t>  </a:t>
            </a:r>
            <a:r>
              <a:rPr dirty="0" sz="1200" spc="-10" b="1">
                <a:latin typeface="Calibri"/>
                <a:cs typeface="Calibri"/>
              </a:rPr>
              <a:t>default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produce 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ensured to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certain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extent.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51263" y="2828671"/>
            <a:ext cx="20015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Efficient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manpower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140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energy</a:t>
            </a:r>
            <a:r>
              <a:rPr dirty="0" sz="1200" spc="145" b="1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requirements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>
                <a:latin typeface="Calibri"/>
                <a:cs typeface="Calibri"/>
              </a:rPr>
              <a:t>compared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modern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practices</a:t>
            </a:r>
            <a:r>
              <a:rPr dirty="0" sz="1200" spc="-1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51517" y="3593972"/>
            <a:ext cx="18599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Lower</a:t>
            </a:r>
            <a:r>
              <a:rPr dirty="0" sz="1200" spc="185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chances</a:t>
            </a:r>
            <a:r>
              <a:rPr dirty="0" sz="1200" spc="190" b="1">
                <a:latin typeface="Calibri"/>
                <a:cs typeface="Calibri"/>
              </a:rPr>
              <a:t> 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190" b="1">
                <a:latin typeface="Calibri"/>
                <a:cs typeface="Calibri"/>
              </a:rPr>
              <a:t>  </a:t>
            </a:r>
            <a:r>
              <a:rPr dirty="0" sz="1200" spc="-10" b="1">
                <a:latin typeface="Calibri"/>
                <a:cs typeface="Calibri"/>
              </a:rPr>
              <a:t>default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ensured to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certain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extent.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82109" y="1050416"/>
            <a:ext cx="4991100" cy="3410585"/>
            <a:chOff x="4682109" y="1050416"/>
            <a:chExt cx="4991100" cy="3410585"/>
          </a:xfrm>
        </p:grpSpPr>
        <p:sp>
          <p:nvSpPr>
            <p:cNvPr id="29" name="object 29"/>
            <p:cNvSpPr/>
            <p:nvPr/>
          </p:nvSpPr>
          <p:spPr>
            <a:xfrm>
              <a:off x="9356598" y="1140713"/>
              <a:ext cx="24130" cy="3310890"/>
            </a:xfrm>
            <a:custGeom>
              <a:avLst/>
              <a:gdLst/>
              <a:ahLst/>
              <a:cxnLst/>
              <a:rect l="l" t="t" r="r" b="b"/>
              <a:pathLst>
                <a:path w="24129" h="3310890">
                  <a:moveTo>
                    <a:pt x="0" y="0"/>
                  </a:moveTo>
                  <a:lnTo>
                    <a:pt x="24002" y="33106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035796" y="1251203"/>
              <a:ext cx="622300" cy="588645"/>
            </a:xfrm>
            <a:custGeom>
              <a:avLst/>
              <a:gdLst/>
              <a:ahLst/>
              <a:cxnLst/>
              <a:rect l="l" t="t" r="r" b="b"/>
              <a:pathLst>
                <a:path w="622300" h="588644">
                  <a:moveTo>
                    <a:pt x="310896" y="0"/>
                  </a:moveTo>
                  <a:lnTo>
                    <a:pt x="260466" y="3850"/>
                  </a:lnTo>
                  <a:lnTo>
                    <a:pt x="212628" y="14996"/>
                  </a:lnTo>
                  <a:lnTo>
                    <a:pt x="168021" y="32832"/>
                  </a:lnTo>
                  <a:lnTo>
                    <a:pt x="127284" y="56753"/>
                  </a:lnTo>
                  <a:lnTo>
                    <a:pt x="91059" y="86153"/>
                  </a:lnTo>
                  <a:lnTo>
                    <a:pt x="59984" y="120426"/>
                  </a:lnTo>
                  <a:lnTo>
                    <a:pt x="34701" y="158966"/>
                  </a:lnTo>
                  <a:lnTo>
                    <a:pt x="15849" y="201167"/>
                  </a:lnTo>
                  <a:lnTo>
                    <a:pt x="4069" y="246425"/>
                  </a:lnTo>
                  <a:lnTo>
                    <a:pt x="0" y="294132"/>
                  </a:lnTo>
                  <a:lnTo>
                    <a:pt x="4069" y="341838"/>
                  </a:lnTo>
                  <a:lnTo>
                    <a:pt x="15849" y="387095"/>
                  </a:lnTo>
                  <a:lnTo>
                    <a:pt x="34701" y="429297"/>
                  </a:lnTo>
                  <a:lnTo>
                    <a:pt x="59984" y="467837"/>
                  </a:lnTo>
                  <a:lnTo>
                    <a:pt x="91059" y="502110"/>
                  </a:lnTo>
                  <a:lnTo>
                    <a:pt x="127284" y="531510"/>
                  </a:lnTo>
                  <a:lnTo>
                    <a:pt x="168021" y="555431"/>
                  </a:lnTo>
                  <a:lnTo>
                    <a:pt x="212628" y="573267"/>
                  </a:lnTo>
                  <a:lnTo>
                    <a:pt x="260466" y="584413"/>
                  </a:lnTo>
                  <a:lnTo>
                    <a:pt x="310896" y="588263"/>
                  </a:lnTo>
                  <a:lnTo>
                    <a:pt x="361325" y="584413"/>
                  </a:lnTo>
                  <a:lnTo>
                    <a:pt x="409163" y="573267"/>
                  </a:lnTo>
                  <a:lnTo>
                    <a:pt x="453771" y="555431"/>
                  </a:lnTo>
                  <a:lnTo>
                    <a:pt x="494507" y="531510"/>
                  </a:lnTo>
                  <a:lnTo>
                    <a:pt x="530732" y="502110"/>
                  </a:lnTo>
                  <a:lnTo>
                    <a:pt x="561807" y="467837"/>
                  </a:lnTo>
                  <a:lnTo>
                    <a:pt x="587090" y="429297"/>
                  </a:lnTo>
                  <a:lnTo>
                    <a:pt x="605942" y="387096"/>
                  </a:lnTo>
                  <a:lnTo>
                    <a:pt x="617722" y="341838"/>
                  </a:lnTo>
                  <a:lnTo>
                    <a:pt x="621792" y="294132"/>
                  </a:lnTo>
                  <a:lnTo>
                    <a:pt x="617722" y="246425"/>
                  </a:lnTo>
                  <a:lnTo>
                    <a:pt x="605942" y="201168"/>
                  </a:lnTo>
                  <a:lnTo>
                    <a:pt x="587090" y="158966"/>
                  </a:lnTo>
                  <a:lnTo>
                    <a:pt x="561807" y="120426"/>
                  </a:lnTo>
                  <a:lnTo>
                    <a:pt x="530732" y="86153"/>
                  </a:lnTo>
                  <a:lnTo>
                    <a:pt x="494507" y="56753"/>
                  </a:lnTo>
                  <a:lnTo>
                    <a:pt x="453770" y="32832"/>
                  </a:lnTo>
                  <a:lnTo>
                    <a:pt x="409163" y="14996"/>
                  </a:lnTo>
                  <a:lnTo>
                    <a:pt x="361325" y="3850"/>
                  </a:lnTo>
                  <a:lnTo>
                    <a:pt x="310896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035796" y="1251203"/>
              <a:ext cx="622300" cy="588645"/>
            </a:xfrm>
            <a:custGeom>
              <a:avLst/>
              <a:gdLst/>
              <a:ahLst/>
              <a:cxnLst/>
              <a:rect l="l" t="t" r="r" b="b"/>
              <a:pathLst>
                <a:path w="622300" h="588644">
                  <a:moveTo>
                    <a:pt x="0" y="294132"/>
                  </a:moveTo>
                  <a:lnTo>
                    <a:pt x="4069" y="246425"/>
                  </a:lnTo>
                  <a:lnTo>
                    <a:pt x="15849" y="201167"/>
                  </a:lnTo>
                  <a:lnTo>
                    <a:pt x="34701" y="158966"/>
                  </a:lnTo>
                  <a:lnTo>
                    <a:pt x="59984" y="120426"/>
                  </a:lnTo>
                  <a:lnTo>
                    <a:pt x="91059" y="86153"/>
                  </a:lnTo>
                  <a:lnTo>
                    <a:pt x="127284" y="56753"/>
                  </a:lnTo>
                  <a:lnTo>
                    <a:pt x="168021" y="32832"/>
                  </a:lnTo>
                  <a:lnTo>
                    <a:pt x="212628" y="14996"/>
                  </a:lnTo>
                  <a:lnTo>
                    <a:pt x="260466" y="3850"/>
                  </a:lnTo>
                  <a:lnTo>
                    <a:pt x="310896" y="0"/>
                  </a:lnTo>
                  <a:lnTo>
                    <a:pt x="361325" y="3850"/>
                  </a:lnTo>
                  <a:lnTo>
                    <a:pt x="409163" y="14996"/>
                  </a:lnTo>
                  <a:lnTo>
                    <a:pt x="453770" y="32832"/>
                  </a:lnTo>
                  <a:lnTo>
                    <a:pt x="494507" y="56753"/>
                  </a:lnTo>
                  <a:lnTo>
                    <a:pt x="530732" y="86153"/>
                  </a:lnTo>
                  <a:lnTo>
                    <a:pt x="561807" y="120426"/>
                  </a:lnTo>
                  <a:lnTo>
                    <a:pt x="587090" y="158966"/>
                  </a:lnTo>
                  <a:lnTo>
                    <a:pt x="605942" y="201168"/>
                  </a:lnTo>
                  <a:lnTo>
                    <a:pt x="617722" y="246425"/>
                  </a:lnTo>
                  <a:lnTo>
                    <a:pt x="621792" y="294132"/>
                  </a:lnTo>
                  <a:lnTo>
                    <a:pt x="617722" y="341838"/>
                  </a:lnTo>
                  <a:lnTo>
                    <a:pt x="605942" y="387096"/>
                  </a:lnTo>
                  <a:lnTo>
                    <a:pt x="587090" y="429297"/>
                  </a:lnTo>
                  <a:lnTo>
                    <a:pt x="561807" y="467837"/>
                  </a:lnTo>
                  <a:lnTo>
                    <a:pt x="530732" y="502110"/>
                  </a:lnTo>
                  <a:lnTo>
                    <a:pt x="494507" y="531510"/>
                  </a:lnTo>
                  <a:lnTo>
                    <a:pt x="453771" y="555431"/>
                  </a:lnTo>
                  <a:lnTo>
                    <a:pt x="409163" y="573267"/>
                  </a:lnTo>
                  <a:lnTo>
                    <a:pt x="361325" y="584413"/>
                  </a:lnTo>
                  <a:lnTo>
                    <a:pt x="310896" y="588263"/>
                  </a:lnTo>
                  <a:lnTo>
                    <a:pt x="260466" y="584413"/>
                  </a:lnTo>
                  <a:lnTo>
                    <a:pt x="212628" y="573267"/>
                  </a:lnTo>
                  <a:lnTo>
                    <a:pt x="168021" y="555431"/>
                  </a:lnTo>
                  <a:lnTo>
                    <a:pt x="127284" y="531510"/>
                  </a:lnTo>
                  <a:lnTo>
                    <a:pt x="91059" y="502110"/>
                  </a:lnTo>
                  <a:lnTo>
                    <a:pt x="59984" y="467837"/>
                  </a:lnTo>
                  <a:lnTo>
                    <a:pt x="34701" y="429297"/>
                  </a:lnTo>
                  <a:lnTo>
                    <a:pt x="15849" y="387095"/>
                  </a:lnTo>
                  <a:lnTo>
                    <a:pt x="4069" y="341838"/>
                  </a:lnTo>
                  <a:lnTo>
                    <a:pt x="0" y="294132"/>
                  </a:lnTo>
                  <a:close/>
                </a:path>
              </a:pathLst>
            </a:custGeom>
            <a:ln w="12699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9136" y="1307591"/>
              <a:ext cx="516635" cy="47548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044940" y="1947672"/>
              <a:ext cx="622300" cy="638810"/>
            </a:xfrm>
            <a:custGeom>
              <a:avLst/>
              <a:gdLst/>
              <a:ahLst/>
              <a:cxnLst/>
              <a:rect l="l" t="t" r="r" b="b"/>
              <a:pathLst>
                <a:path w="622300" h="638810">
                  <a:moveTo>
                    <a:pt x="310895" y="0"/>
                  </a:moveTo>
                  <a:lnTo>
                    <a:pt x="264953" y="3463"/>
                  </a:lnTo>
                  <a:lnTo>
                    <a:pt x="221104" y="13522"/>
                  </a:lnTo>
                  <a:lnTo>
                    <a:pt x="179829" y="29683"/>
                  </a:lnTo>
                  <a:lnTo>
                    <a:pt x="141609" y="51451"/>
                  </a:lnTo>
                  <a:lnTo>
                    <a:pt x="106925" y="78332"/>
                  </a:lnTo>
                  <a:lnTo>
                    <a:pt x="76257" y="109831"/>
                  </a:lnTo>
                  <a:lnTo>
                    <a:pt x="50087" y="145452"/>
                  </a:lnTo>
                  <a:lnTo>
                    <a:pt x="28895" y="184702"/>
                  </a:lnTo>
                  <a:lnTo>
                    <a:pt x="13162" y="227086"/>
                  </a:lnTo>
                  <a:lnTo>
                    <a:pt x="3370" y="272110"/>
                  </a:lnTo>
                  <a:lnTo>
                    <a:pt x="0" y="319277"/>
                  </a:lnTo>
                  <a:lnTo>
                    <a:pt x="3370" y="366445"/>
                  </a:lnTo>
                  <a:lnTo>
                    <a:pt x="13162" y="411469"/>
                  </a:lnTo>
                  <a:lnTo>
                    <a:pt x="28895" y="453853"/>
                  </a:lnTo>
                  <a:lnTo>
                    <a:pt x="50087" y="493103"/>
                  </a:lnTo>
                  <a:lnTo>
                    <a:pt x="76257" y="528724"/>
                  </a:lnTo>
                  <a:lnTo>
                    <a:pt x="106925" y="560223"/>
                  </a:lnTo>
                  <a:lnTo>
                    <a:pt x="141609" y="587104"/>
                  </a:lnTo>
                  <a:lnTo>
                    <a:pt x="179829" y="608872"/>
                  </a:lnTo>
                  <a:lnTo>
                    <a:pt x="221104" y="625033"/>
                  </a:lnTo>
                  <a:lnTo>
                    <a:pt x="264953" y="635092"/>
                  </a:lnTo>
                  <a:lnTo>
                    <a:pt x="310895" y="638555"/>
                  </a:lnTo>
                  <a:lnTo>
                    <a:pt x="356838" y="635092"/>
                  </a:lnTo>
                  <a:lnTo>
                    <a:pt x="400687" y="625033"/>
                  </a:lnTo>
                  <a:lnTo>
                    <a:pt x="441962" y="608872"/>
                  </a:lnTo>
                  <a:lnTo>
                    <a:pt x="480182" y="587104"/>
                  </a:lnTo>
                  <a:lnTo>
                    <a:pt x="514866" y="560223"/>
                  </a:lnTo>
                  <a:lnTo>
                    <a:pt x="545534" y="528724"/>
                  </a:lnTo>
                  <a:lnTo>
                    <a:pt x="571704" y="493103"/>
                  </a:lnTo>
                  <a:lnTo>
                    <a:pt x="592896" y="453853"/>
                  </a:lnTo>
                  <a:lnTo>
                    <a:pt x="608629" y="411469"/>
                  </a:lnTo>
                  <a:lnTo>
                    <a:pt x="618421" y="366445"/>
                  </a:lnTo>
                  <a:lnTo>
                    <a:pt x="621791" y="319277"/>
                  </a:lnTo>
                  <a:lnTo>
                    <a:pt x="618421" y="272110"/>
                  </a:lnTo>
                  <a:lnTo>
                    <a:pt x="608629" y="227086"/>
                  </a:lnTo>
                  <a:lnTo>
                    <a:pt x="592896" y="184702"/>
                  </a:lnTo>
                  <a:lnTo>
                    <a:pt x="571704" y="145452"/>
                  </a:lnTo>
                  <a:lnTo>
                    <a:pt x="545534" y="109831"/>
                  </a:lnTo>
                  <a:lnTo>
                    <a:pt x="514866" y="78332"/>
                  </a:lnTo>
                  <a:lnTo>
                    <a:pt x="480182" y="51451"/>
                  </a:lnTo>
                  <a:lnTo>
                    <a:pt x="441962" y="29683"/>
                  </a:lnTo>
                  <a:lnTo>
                    <a:pt x="400687" y="13522"/>
                  </a:lnTo>
                  <a:lnTo>
                    <a:pt x="356838" y="3463"/>
                  </a:lnTo>
                  <a:lnTo>
                    <a:pt x="310895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044940" y="1947672"/>
              <a:ext cx="622300" cy="638810"/>
            </a:xfrm>
            <a:custGeom>
              <a:avLst/>
              <a:gdLst/>
              <a:ahLst/>
              <a:cxnLst/>
              <a:rect l="l" t="t" r="r" b="b"/>
              <a:pathLst>
                <a:path w="622300" h="638810">
                  <a:moveTo>
                    <a:pt x="0" y="319277"/>
                  </a:moveTo>
                  <a:lnTo>
                    <a:pt x="3370" y="272110"/>
                  </a:lnTo>
                  <a:lnTo>
                    <a:pt x="13162" y="227086"/>
                  </a:lnTo>
                  <a:lnTo>
                    <a:pt x="28895" y="184702"/>
                  </a:lnTo>
                  <a:lnTo>
                    <a:pt x="50087" y="145452"/>
                  </a:lnTo>
                  <a:lnTo>
                    <a:pt x="76257" y="109831"/>
                  </a:lnTo>
                  <a:lnTo>
                    <a:pt x="106925" y="78332"/>
                  </a:lnTo>
                  <a:lnTo>
                    <a:pt x="141609" y="51451"/>
                  </a:lnTo>
                  <a:lnTo>
                    <a:pt x="179829" y="29683"/>
                  </a:lnTo>
                  <a:lnTo>
                    <a:pt x="221104" y="13522"/>
                  </a:lnTo>
                  <a:lnTo>
                    <a:pt x="264953" y="3463"/>
                  </a:lnTo>
                  <a:lnTo>
                    <a:pt x="310895" y="0"/>
                  </a:lnTo>
                  <a:lnTo>
                    <a:pt x="356838" y="3463"/>
                  </a:lnTo>
                  <a:lnTo>
                    <a:pt x="400687" y="13522"/>
                  </a:lnTo>
                  <a:lnTo>
                    <a:pt x="441962" y="29683"/>
                  </a:lnTo>
                  <a:lnTo>
                    <a:pt x="480182" y="51451"/>
                  </a:lnTo>
                  <a:lnTo>
                    <a:pt x="514866" y="78332"/>
                  </a:lnTo>
                  <a:lnTo>
                    <a:pt x="545534" y="109831"/>
                  </a:lnTo>
                  <a:lnTo>
                    <a:pt x="571704" y="145452"/>
                  </a:lnTo>
                  <a:lnTo>
                    <a:pt x="592896" y="184702"/>
                  </a:lnTo>
                  <a:lnTo>
                    <a:pt x="608629" y="227086"/>
                  </a:lnTo>
                  <a:lnTo>
                    <a:pt x="618421" y="272110"/>
                  </a:lnTo>
                  <a:lnTo>
                    <a:pt x="621791" y="319277"/>
                  </a:lnTo>
                  <a:lnTo>
                    <a:pt x="618421" y="366445"/>
                  </a:lnTo>
                  <a:lnTo>
                    <a:pt x="608629" y="411469"/>
                  </a:lnTo>
                  <a:lnTo>
                    <a:pt x="592896" y="453853"/>
                  </a:lnTo>
                  <a:lnTo>
                    <a:pt x="571704" y="493103"/>
                  </a:lnTo>
                  <a:lnTo>
                    <a:pt x="545534" y="528724"/>
                  </a:lnTo>
                  <a:lnTo>
                    <a:pt x="514866" y="560223"/>
                  </a:lnTo>
                  <a:lnTo>
                    <a:pt x="480182" y="587104"/>
                  </a:lnTo>
                  <a:lnTo>
                    <a:pt x="441962" y="608872"/>
                  </a:lnTo>
                  <a:lnTo>
                    <a:pt x="400687" y="625033"/>
                  </a:lnTo>
                  <a:lnTo>
                    <a:pt x="356838" y="635092"/>
                  </a:lnTo>
                  <a:lnTo>
                    <a:pt x="310895" y="638555"/>
                  </a:lnTo>
                  <a:lnTo>
                    <a:pt x="264953" y="635092"/>
                  </a:lnTo>
                  <a:lnTo>
                    <a:pt x="221104" y="625033"/>
                  </a:lnTo>
                  <a:lnTo>
                    <a:pt x="179829" y="608872"/>
                  </a:lnTo>
                  <a:lnTo>
                    <a:pt x="141609" y="587104"/>
                  </a:lnTo>
                  <a:lnTo>
                    <a:pt x="106925" y="560223"/>
                  </a:lnTo>
                  <a:lnTo>
                    <a:pt x="76257" y="528724"/>
                  </a:lnTo>
                  <a:lnTo>
                    <a:pt x="50087" y="493103"/>
                  </a:lnTo>
                  <a:lnTo>
                    <a:pt x="28895" y="453853"/>
                  </a:lnTo>
                  <a:lnTo>
                    <a:pt x="13162" y="411469"/>
                  </a:lnTo>
                  <a:lnTo>
                    <a:pt x="3370" y="366445"/>
                  </a:lnTo>
                  <a:lnTo>
                    <a:pt x="0" y="319277"/>
                  </a:lnTo>
                  <a:close/>
                </a:path>
              </a:pathLst>
            </a:custGeom>
            <a:ln w="1270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8948" y="2011680"/>
              <a:ext cx="492251" cy="50901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044940" y="2699003"/>
              <a:ext cx="622300" cy="638810"/>
            </a:xfrm>
            <a:custGeom>
              <a:avLst/>
              <a:gdLst/>
              <a:ahLst/>
              <a:cxnLst/>
              <a:rect l="l" t="t" r="r" b="b"/>
              <a:pathLst>
                <a:path w="622300" h="638810">
                  <a:moveTo>
                    <a:pt x="310895" y="0"/>
                  </a:moveTo>
                  <a:lnTo>
                    <a:pt x="264953" y="3463"/>
                  </a:lnTo>
                  <a:lnTo>
                    <a:pt x="221104" y="13522"/>
                  </a:lnTo>
                  <a:lnTo>
                    <a:pt x="179829" y="29683"/>
                  </a:lnTo>
                  <a:lnTo>
                    <a:pt x="141609" y="51451"/>
                  </a:lnTo>
                  <a:lnTo>
                    <a:pt x="106925" y="78332"/>
                  </a:lnTo>
                  <a:lnTo>
                    <a:pt x="76257" y="109831"/>
                  </a:lnTo>
                  <a:lnTo>
                    <a:pt x="50087" y="145452"/>
                  </a:lnTo>
                  <a:lnTo>
                    <a:pt x="28895" y="184702"/>
                  </a:lnTo>
                  <a:lnTo>
                    <a:pt x="13162" y="227086"/>
                  </a:lnTo>
                  <a:lnTo>
                    <a:pt x="3370" y="272110"/>
                  </a:lnTo>
                  <a:lnTo>
                    <a:pt x="0" y="319278"/>
                  </a:lnTo>
                  <a:lnTo>
                    <a:pt x="3370" y="366445"/>
                  </a:lnTo>
                  <a:lnTo>
                    <a:pt x="13162" y="411469"/>
                  </a:lnTo>
                  <a:lnTo>
                    <a:pt x="28895" y="453853"/>
                  </a:lnTo>
                  <a:lnTo>
                    <a:pt x="50087" y="493103"/>
                  </a:lnTo>
                  <a:lnTo>
                    <a:pt x="76257" y="528724"/>
                  </a:lnTo>
                  <a:lnTo>
                    <a:pt x="106925" y="560223"/>
                  </a:lnTo>
                  <a:lnTo>
                    <a:pt x="141609" y="587104"/>
                  </a:lnTo>
                  <a:lnTo>
                    <a:pt x="179829" y="608872"/>
                  </a:lnTo>
                  <a:lnTo>
                    <a:pt x="221104" y="625033"/>
                  </a:lnTo>
                  <a:lnTo>
                    <a:pt x="264953" y="635092"/>
                  </a:lnTo>
                  <a:lnTo>
                    <a:pt x="310895" y="638556"/>
                  </a:lnTo>
                  <a:lnTo>
                    <a:pt x="356838" y="635092"/>
                  </a:lnTo>
                  <a:lnTo>
                    <a:pt x="400687" y="625033"/>
                  </a:lnTo>
                  <a:lnTo>
                    <a:pt x="441962" y="608872"/>
                  </a:lnTo>
                  <a:lnTo>
                    <a:pt x="480182" y="587104"/>
                  </a:lnTo>
                  <a:lnTo>
                    <a:pt x="514866" y="560223"/>
                  </a:lnTo>
                  <a:lnTo>
                    <a:pt x="545534" y="528724"/>
                  </a:lnTo>
                  <a:lnTo>
                    <a:pt x="571704" y="493103"/>
                  </a:lnTo>
                  <a:lnTo>
                    <a:pt x="592896" y="453853"/>
                  </a:lnTo>
                  <a:lnTo>
                    <a:pt x="608629" y="411469"/>
                  </a:lnTo>
                  <a:lnTo>
                    <a:pt x="618421" y="366445"/>
                  </a:lnTo>
                  <a:lnTo>
                    <a:pt x="621791" y="319278"/>
                  </a:lnTo>
                  <a:lnTo>
                    <a:pt x="618421" y="272110"/>
                  </a:lnTo>
                  <a:lnTo>
                    <a:pt x="608629" y="227086"/>
                  </a:lnTo>
                  <a:lnTo>
                    <a:pt x="592896" y="184702"/>
                  </a:lnTo>
                  <a:lnTo>
                    <a:pt x="571704" y="145452"/>
                  </a:lnTo>
                  <a:lnTo>
                    <a:pt x="545534" y="109831"/>
                  </a:lnTo>
                  <a:lnTo>
                    <a:pt x="514866" y="78332"/>
                  </a:lnTo>
                  <a:lnTo>
                    <a:pt x="480182" y="51451"/>
                  </a:lnTo>
                  <a:lnTo>
                    <a:pt x="441962" y="29683"/>
                  </a:lnTo>
                  <a:lnTo>
                    <a:pt x="400687" y="13522"/>
                  </a:lnTo>
                  <a:lnTo>
                    <a:pt x="356838" y="3463"/>
                  </a:lnTo>
                  <a:lnTo>
                    <a:pt x="310895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044940" y="2699003"/>
              <a:ext cx="622300" cy="638810"/>
            </a:xfrm>
            <a:custGeom>
              <a:avLst/>
              <a:gdLst/>
              <a:ahLst/>
              <a:cxnLst/>
              <a:rect l="l" t="t" r="r" b="b"/>
              <a:pathLst>
                <a:path w="622300" h="638810">
                  <a:moveTo>
                    <a:pt x="0" y="319278"/>
                  </a:moveTo>
                  <a:lnTo>
                    <a:pt x="3370" y="272110"/>
                  </a:lnTo>
                  <a:lnTo>
                    <a:pt x="13162" y="227086"/>
                  </a:lnTo>
                  <a:lnTo>
                    <a:pt x="28895" y="184702"/>
                  </a:lnTo>
                  <a:lnTo>
                    <a:pt x="50087" y="145452"/>
                  </a:lnTo>
                  <a:lnTo>
                    <a:pt x="76257" y="109831"/>
                  </a:lnTo>
                  <a:lnTo>
                    <a:pt x="106925" y="78332"/>
                  </a:lnTo>
                  <a:lnTo>
                    <a:pt x="141609" y="51451"/>
                  </a:lnTo>
                  <a:lnTo>
                    <a:pt x="179829" y="29683"/>
                  </a:lnTo>
                  <a:lnTo>
                    <a:pt x="221104" y="13522"/>
                  </a:lnTo>
                  <a:lnTo>
                    <a:pt x="264953" y="3463"/>
                  </a:lnTo>
                  <a:lnTo>
                    <a:pt x="310895" y="0"/>
                  </a:lnTo>
                  <a:lnTo>
                    <a:pt x="356838" y="3463"/>
                  </a:lnTo>
                  <a:lnTo>
                    <a:pt x="400687" y="13522"/>
                  </a:lnTo>
                  <a:lnTo>
                    <a:pt x="441962" y="29683"/>
                  </a:lnTo>
                  <a:lnTo>
                    <a:pt x="480182" y="51451"/>
                  </a:lnTo>
                  <a:lnTo>
                    <a:pt x="514866" y="78332"/>
                  </a:lnTo>
                  <a:lnTo>
                    <a:pt x="545534" y="109831"/>
                  </a:lnTo>
                  <a:lnTo>
                    <a:pt x="571704" y="145452"/>
                  </a:lnTo>
                  <a:lnTo>
                    <a:pt x="592896" y="184702"/>
                  </a:lnTo>
                  <a:lnTo>
                    <a:pt x="608629" y="227086"/>
                  </a:lnTo>
                  <a:lnTo>
                    <a:pt x="618421" y="272110"/>
                  </a:lnTo>
                  <a:lnTo>
                    <a:pt x="621791" y="319278"/>
                  </a:lnTo>
                  <a:lnTo>
                    <a:pt x="618421" y="366445"/>
                  </a:lnTo>
                  <a:lnTo>
                    <a:pt x="608629" y="411469"/>
                  </a:lnTo>
                  <a:lnTo>
                    <a:pt x="592896" y="453853"/>
                  </a:lnTo>
                  <a:lnTo>
                    <a:pt x="571704" y="493103"/>
                  </a:lnTo>
                  <a:lnTo>
                    <a:pt x="545534" y="528724"/>
                  </a:lnTo>
                  <a:lnTo>
                    <a:pt x="514866" y="560223"/>
                  </a:lnTo>
                  <a:lnTo>
                    <a:pt x="480182" y="587104"/>
                  </a:lnTo>
                  <a:lnTo>
                    <a:pt x="441962" y="608872"/>
                  </a:lnTo>
                  <a:lnTo>
                    <a:pt x="400687" y="625033"/>
                  </a:lnTo>
                  <a:lnTo>
                    <a:pt x="356838" y="635092"/>
                  </a:lnTo>
                  <a:lnTo>
                    <a:pt x="310895" y="638556"/>
                  </a:lnTo>
                  <a:lnTo>
                    <a:pt x="264953" y="635092"/>
                  </a:lnTo>
                  <a:lnTo>
                    <a:pt x="221104" y="625033"/>
                  </a:lnTo>
                  <a:lnTo>
                    <a:pt x="179829" y="608872"/>
                  </a:lnTo>
                  <a:lnTo>
                    <a:pt x="141609" y="587104"/>
                  </a:lnTo>
                  <a:lnTo>
                    <a:pt x="106925" y="560223"/>
                  </a:lnTo>
                  <a:lnTo>
                    <a:pt x="76257" y="528724"/>
                  </a:lnTo>
                  <a:lnTo>
                    <a:pt x="50087" y="493103"/>
                  </a:lnTo>
                  <a:lnTo>
                    <a:pt x="28895" y="453853"/>
                  </a:lnTo>
                  <a:lnTo>
                    <a:pt x="13162" y="411469"/>
                  </a:lnTo>
                  <a:lnTo>
                    <a:pt x="3370" y="366445"/>
                  </a:lnTo>
                  <a:lnTo>
                    <a:pt x="0" y="319278"/>
                  </a:lnTo>
                  <a:close/>
                </a:path>
              </a:pathLst>
            </a:custGeom>
            <a:ln w="1270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8280" y="2763012"/>
              <a:ext cx="513587" cy="51206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044940" y="3451859"/>
              <a:ext cx="622300" cy="637540"/>
            </a:xfrm>
            <a:custGeom>
              <a:avLst/>
              <a:gdLst/>
              <a:ahLst/>
              <a:cxnLst/>
              <a:rect l="l" t="t" r="r" b="b"/>
              <a:pathLst>
                <a:path w="622300" h="637539">
                  <a:moveTo>
                    <a:pt x="310895" y="0"/>
                  </a:moveTo>
                  <a:lnTo>
                    <a:pt x="264953" y="3453"/>
                  </a:lnTo>
                  <a:lnTo>
                    <a:pt x="221104" y="13486"/>
                  </a:lnTo>
                  <a:lnTo>
                    <a:pt x="179829" y="29606"/>
                  </a:lnTo>
                  <a:lnTo>
                    <a:pt x="141609" y="51319"/>
                  </a:lnTo>
                  <a:lnTo>
                    <a:pt x="106925" y="78132"/>
                  </a:lnTo>
                  <a:lnTo>
                    <a:pt x="76257" y="109552"/>
                  </a:lnTo>
                  <a:lnTo>
                    <a:pt x="50087" y="145088"/>
                  </a:lnTo>
                  <a:lnTo>
                    <a:pt x="28895" y="184244"/>
                  </a:lnTo>
                  <a:lnTo>
                    <a:pt x="13162" y="226530"/>
                  </a:lnTo>
                  <a:lnTo>
                    <a:pt x="3370" y="271451"/>
                  </a:lnTo>
                  <a:lnTo>
                    <a:pt x="0" y="318515"/>
                  </a:lnTo>
                  <a:lnTo>
                    <a:pt x="3370" y="365580"/>
                  </a:lnTo>
                  <a:lnTo>
                    <a:pt x="13162" y="410501"/>
                  </a:lnTo>
                  <a:lnTo>
                    <a:pt x="28895" y="452787"/>
                  </a:lnTo>
                  <a:lnTo>
                    <a:pt x="50087" y="491943"/>
                  </a:lnTo>
                  <a:lnTo>
                    <a:pt x="76257" y="527479"/>
                  </a:lnTo>
                  <a:lnTo>
                    <a:pt x="106925" y="558899"/>
                  </a:lnTo>
                  <a:lnTo>
                    <a:pt x="141609" y="585712"/>
                  </a:lnTo>
                  <a:lnTo>
                    <a:pt x="179829" y="607425"/>
                  </a:lnTo>
                  <a:lnTo>
                    <a:pt x="221104" y="623545"/>
                  </a:lnTo>
                  <a:lnTo>
                    <a:pt x="264953" y="633578"/>
                  </a:lnTo>
                  <a:lnTo>
                    <a:pt x="310895" y="637032"/>
                  </a:lnTo>
                  <a:lnTo>
                    <a:pt x="356838" y="633578"/>
                  </a:lnTo>
                  <a:lnTo>
                    <a:pt x="400687" y="623545"/>
                  </a:lnTo>
                  <a:lnTo>
                    <a:pt x="441962" y="607425"/>
                  </a:lnTo>
                  <a:lnTo>
                    <a:pt x="480182" y="585712"/>
                  </a:lnTo>
                  <a:lnTo>
                    <a:pt x="514866" y="558899"/>
                  </a:lnTo>
                  <a:lnTo>
                    <a:pt x="545534" y="527479"/>
                  </a:lnTo>
                  <a:lnTo>
                    <a:pt x="571704" y="491943"/>
                  </a:lnTo>
                  <a:lnTo>
                    <a:pt x="592896" y="452787"/>
                  </a:lnTo>
                  <a:lnTo>
                    <a:pt x="608629" y="410501"/>
                  </a:lnTo>
                  <a:lnTo>
                    <a:pt x="618421" y="365580"/>
                  </a:lnTo>
                  <a:lnTo>
                    <a:pt x="621791" y="318515"/>
                  </a:lnTo>
                  <a:lnTo>
                    <a:pt x="618421" y="271451"/>
                  </a:lnTo>
                  <a:lnTo>
                    <a:pt x="608629" y="226530"/>
                  </a:lnTo>
                  <a:lnTo>
                    <a:pt x="592896" y="184244"/>
                  </a:lnTo>
                  <a:lnTo>
                    <a:pt x="571704" y="145088"/>
                  </a:lnTo>
                  <a:lnTo>
                    <a:pt x="545534" y="109552"/>
                  </a:lnTo>
                  <a:lnTo>
                    <a:pt x="514866" y="78132"/>
                  </a:lnTo>
                  <a:lnTo>
                    <a:pt x="480182" y="51319"/>
                  </a:lnTo>
                  <a:lnTo>
                    <a:pt x="441962" y="29606"/>
                  </a:lnTo>
                  <a:lnTo>
                    <a:pt x="400687" y="13486"/>
                  </a:lnTo>
                  <a:lnTo>
                    <a:pt x="356838" y="3453"/>
                  </a:lnTo>
                  <a:lnTo>
                    <a:pt x="310895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044940" y="3451859"/>
              <a:ext cx="622300" cy="637540"/>
            </a:xfrm>
            <a:custGeom>
              <a:avLst/>
              <a:gdLst/>
              <a:ahLst/>
              <a:cxnLst/>
              <a:rect l="l" t="t" r="r" b="b"/>
              <a:pathLst>
                <a:path w="622300" h="637539">
                  <a:moveTo>
                    <a:pt x="0" y="318515"/>
                  </a:moveTo>
                  <a:lnTo>
                    <a:pt x="3370" y="271451"/>
                  </a:lnTo>
                  <a:lnTo>
                    <a:pt x="13162" y="226530"/>
                  </a:lnTo>
                  <a:lnTo>
                    <a:pt x="28895" y="184244"/>
                  </a:lnTo>
                  <a:lnTo>
                    <a:pt x="50087" y="145088"/>
                  </a:lnTo>
                  <a:lnTo>
                    <a:pt x="76257" y="109552"/>
                  </a:lnTo>
                  <a:lnTo>
                    <a:pt x="106925" y="78132"/>
                  </a:lnTo>
                  <a:lnTo>
                    <a:pt x="141609" y="51319"/>
                  </a:lnTo>
                  <a:lnTo>
                    <a:pt x="179829" y="29606"/>
                  </a:lnTo>
                  <a:lnTo>
                    <a:pt x="221104" y="13486"/>
                  </a:lnTo>
                  <a:lnTo>
                    <a:pt x="264953" y="3453"/>
                  </a:lnTo>
                  <a:lnTo>
                    <a:pt x="310895" y="0"/>
                  </a:lnTo>
                  <a:lnTo>
                    <a:pt x="356838" y="3453"/>
                  </a:lnTo>
                  <a:lnTo>
                    <a:pt x="400687" y="13486"/>
                  </a:lnTo>
                  <a:lnTo>
                    <a:pt x="441962" y="29606"/>
                  </a:lnTo>
                  <a:lnTo>
                    <a:pt x="480182" y="51319"/>
                  </a:lnTo>
                  <a:lnTo>
                    <a:pt x="514866" y="78132"/>
                  </a:lnTo>
                  <a:lnTo>
                    <a:pt x="545534" y="109552"/>
                  </a:lnTo>
                  <a:lnTo>
                    <a:pt x="571704" y="145088"/>
                  </a:lnTo>
                  <a:lnTo>
                    <a:pt x="592896" y="184244"/>
                  </a:lnTo>
                  <a:lnTo>
                    <a:pt x="608629" y="226530"/>
                  </a:lnTo>
                  <a:lnTo>
                    <a:pt x="618421" y="271451"/>
                  </a:lnTo>
                  <a:lnTo>
                    <a:pt x="621791" y="318515"/>
                  </a:lnTo>
                  <a:lnTo>
                    <a:pt x="618421" y="365580"/>
                  </a:lnTo>
                  <a:lnTo>
                    <a:pt x="608629" y="410501"/>
                  </a:lnTo>
                  <a:lnTo>
                    <a:pt x="592896" y="452787"/>
                  </a:lnTo>
                  <a:lnTo>
                    <a:pt x="571704" y="491943"/>
                  </a:lnTo>
                  <a:lnTo>
                    <a:pt x="545534" y="527479"/>
                  </a:lnTo>
                  <a:lnTo>
                    <a:pt x="514866" y="558899"/>
                  </a:lnTo>
                  <a:lnTo>
                    <a:pt x="480182" y="585712"/>
                  </a:lnTo>
                  <a:lnTo>
                    <a:pt x="441962" y="607425"/>
                  </a:lnTo>
                  <a:lnTo>
                    <a:pt x="400687" y="623545"/>
                  </a:lnTo>
                  <a:lnTo>
                    <a:pt x="356838" y="633578"/>
                  </a:lnTo>
                  <a:lnTo>
                    <a:pt x="310895" y="637032"/>
                  </a:lnTo>
                  <a:lnTo>
                    <a:pt x="264953" y="633578"/>
                  </a:lnTo>
                  <a:lnTo>
                    <a:pt x="221104" y="623545"/>
                  </a:lnTo>
                  <a:lnTo>
                    <a:pt x="179829" y="607425"/>
                  </a:lnTo>
                  <a:lnTo>
                    <a:pt x="141609" y="585712"/>
                  </a:lnTo>
                  <a:lnTo>
                    <a:pt x="106925" y="558899"/>
                  </a:lnTo>
                  <a:lnTo>
                    <a:pt x="76257" y="527479"/>
                  </a:lnTo>
                  <a:lnTo>
                    <a:pt x="50087" y="491943"/>
                  </a:lnTo>
                  <a:lnTo>
                    <a:pt x="28895" y="452787"/>
                  </a:lnTo>
                  <a:lnTo>
                    <a:pt x="13162" y="410501"/>
                  </a:lnTo>
                  <a:lnTo>
                    <a:pt x="3370" y="365580"/>
                  </a:lnTo>
                  <a:lnTo>
                    <a:pt x="0" y="318515"/>
                  </a:lnTo>
                  <a:close/>
                </a:path>
              </a:pathLst>
            </a:custGeom>
            <a:ln w="1270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2184" y="3541775"/>
              <a:ext cx="515112" cy="5151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442710" y="4441697"/>
              <a:ext cx="2937510" cy="0"/>
            </a:xfrm>
            <a:custGeom>
              <a:avLst/>
              <a:gdLst/>
              <a:ahLst/>
              <a:cxnLst/>
              <a:rect l="l" t="t" r="r" b="b"/>
              <a:pathLst>
                <a:path w="2937509" h="0">
                  <a:moveTo>
                    <a:pt x="2937383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691634" y="1059941"/>
              <a:ext cx="3028315" cy="723900"/>
            </a:xfrm>
            <a:custGeom>
              <a:avLst/>
              <a:gdLst/>
              <a:ahLst/>
              <a:cxnLst/>
              <a:rect l="l" t="t" r="r" b="b"/>
              <a:pathLst>
                <a:path w="3028315" h="723900">
                  <a:moveTo>
                    <a:pt x="0" y="723900"/>
                  </a:moveTo>
                  <a:lnTo>
                    <a:pt x="3028188" y="723900"/>
                  </a:lnTo>
                  <a:lnTo>
                    <a:pt x="3028188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143244" y="749808"/>
            <a:ext cx="1493520" cy="42862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87630" rIns="0" bIns="0" rtlCol="0" vert="horz">
            <a:spAutoFit/>
          </a:bodyPr>
          <a:lstStyle/>
          <a:p>
            <a:pPr marL="438784">
              <a:lnSpc>
                <a:spcPct val="100000"/>
              </a:lnSpc>
              <a:spcBef>
                <a:spcPts val="690"/>
              </a:spcBef>
            </a:pPr>
            <a:r>
              <a:rPr dirty="0" sz="1500" spc="-10" b="1">
                <a:latin typeface="Calibri"/>
                <a:cs typeface="Calibri"/>
              </a:rPr>
              <a:t>IMPACT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691634" y="2241042"/>
            <a:ext cx="3028315" cy="723900"/>
          </a:xfrm>
          <a:custGeom>
            <a:avLst/>
            <a:gdLst/>
            <a:ahLst/>
            <a:cxnLst/>
            <a:rect l="l" t="t" r="r" b="b"/>
            <a:pathLst>
              <a:path w="3028315" h="723900">
                <a:moveTo>
                  <a:pt x="0" y="723900"/>
                </a:moveTo>
                <a:lnTo>
                  <a:pt x="3028188" y="723900"/>
                </a:lnTo>
                <a:lnTo>
                  <a:pt x="3028188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ln w="1905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500878" y="2471674"/>
            <a:ext cx="14090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INDIVIDUAL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LOANS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58511" y="1933955"/>
            <a:ext cx="1493520" cy="42989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88265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695"/>
              </a:spcBef>
            </a:pPr>
            <a:r>
              <a:rPr dirty="0" sz="1500" spc="-10" b="1">
                <a:latin typeface="Calibri"/>
                <a:cs typeface="Calibri"/>
              </a:rPr>
              <a:t>INSTRUMENT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691634" y="3460241"/>
            <a:ext cx="3028315" cy="723900"/>
          </a:xfrm>
          <a:custGeom>
            <a:avLst/>
            <a:gdLst/>
            <a:ahLst/>
            <a:cxnLst/>
            <a:rect l="l" t="t" r="r" b="b"/>
            <a:pathLst>
              <a:path w="3028315" h="723900">
                <a:moveTo>
                  <a:pt x="0" y="723899"/>
                </a:moveTo>
                <a:lnTo>
                  <a:pt x="3028188" y="723899"/>
                </a:lnTo>
                <a:lnTo>
                  <a:pt x="3028188" y="0"/>
                </a:lnTo>
                <a:lnTo>
                  <a:pt x="0" y="0"/>
                </a:lnTo>
                <a:lnTo>
                  <a:pt x="0" y="723899"/>
                </a:lnTo>
                <a:close/>
              </a:path>
            </a:pathLst>
          </a:custGeom>
          <a:ln w="1905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908041" y="3584194"/>
            <a:ext cx="259524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alibri"/>
                <a:cs typeface="Calibri"/>
              </a:rPr>
              <a:t>AVERAGE </a:t>
            </a:r>
            <a:r>
              <a:rPr dirty="0" sz="1400" spc="-10">
                <a:latin typeface="Calibri"/>
                <a:cs typeface="Calibri"/>
              </a:rPr>
              <a:t>INTEREST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AMOUNT:</a:t>
            </a:r>
            <a:r>
              <a:rPr dirty="0" sz="1400" spc="-20">
                <a:latin typeface="Calibri"/>
                <a:cs typeface="Calibri"/>
              </a:rPr>
              <a:t> 3500</a:t>
            </a:r>
            <a:endParaRPr sz="14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IDR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/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LITRE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24955" y="3147060"/>
            <a:ext cx="1493520" cy="428625"/>
          </a:xfrm>
          <a:prstGeom prst="rect">
            <a:avLst/>
          </a:prstGeom>
          <a:solidFill>
            <a:srgbClr val="E7E6E6"/>
          </a:solidFill>
        </p:spPr>
        <p:txBody>
          <a:bodyPr wrap="square" lIns="0" tIns="876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dirty="0" sz="1500" spc="-20" b="1">
                <a:latin typeface="Calibri"/>
                <a:cs typeface="Calibri"/>
              </a:rPr>
              <a:t>COST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167628" y="4817364"/>
            <a:ext cx="1792605" cy="1598930"/>
          </a:xfrm>
          <a:custGeom>
            <a:avLst/>
            <a:gdLst/>
            <a:ahLst/>
            <a:cxnLst/>
            <a:rect l="l" t="t" r="r" b="b"/>
            <a:pathLst>
              <a:path w="1792604" h="1598929">
                <a:moveTo>
                  <a:pt x="0" y="1598676"/>
                </a:moveTo>
                <a:lnTo>
                  <a:pt x="1792224" y="1598676"/>
                </a:lnTo>
                <a:lnTo>
                  <a:pt x="1792224" y="0"/>
                </a:lnTo>
                <a:lnTo>
                  <a:pt x="0" y="0"/>
                </a:lnTo>
                <a:lnTo>
                  <a:pt x="0" y="1598676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268592" y="5321553"/>
            <a:ext cx="15894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Incentivising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farmers</a:t>
            </a:r>
            <a:r>
              <a:rPr dirty="0" sz="1200" spc="-65" b="1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technology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 </a:t>
            </a:r>
            <a:r>
              <a:rPr dirty="0" sz="1200" spc="-25">
                <a:latin typeface="Calibri"/>
                <a:cs typeface="Calibri"/>
              </a:rPr>
              <a:t>dry </a:t>
            </a:r>
            <a:r>
              <a:rPr dirty="0" sz="1200" spc="-10">
                <a:latin typeface="Calibri"/>
                <a:cs typeface="Calibri"/>
              </a:rPr>
              <a:t>seasons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0354056" y="4773167"/>
            <a:ext cx="1706880" cy="1643380"/>
          </a:xfrm>
          <a:custGeom>
            <a:avLst/>
            <a:gdLst/>
            <a:ahLst/>
            <a:cxnLst/>
            <a:rect l="l" t="t" r="r" b="b"/>
            <a:pathLst>
              <a:path w="1706879" h="1643379">
                <a:moveTo>
                  <a:pt x="0" y="1642872"/>
                </a:moveTo>
                <a:lnTo>
                  <a:pt x="1706879" y="1642872"/>
                </a:lnTo>
                <a:lnTo>
                  <a:pt x="1706879" y="0"/>
                </a:lnTo>
                <a:lnTo>
                  <a:pt x="0" y="0"/>
                </a:lnTo>
                <a:lnTo>
                  <a:pt x="0" y="164287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0442193" y="5299328"/>
            <a:ext cx="15322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Higher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incomes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lower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probability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 b="1">
                <a:latin typeface="Calibri"/>
                <a:cs typeface="Calibri"/>
              </a:rPr>
              <a:t>default.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10997" y="4536694"/>
            <a:ext cx="11956415" cy="279400"/>
            <a:chOff x="110997" y="4536694"/>
            <a:chExt cx="11956415" cy="279400"/>
          </a:xfrm>
        </p:grpSpPr>
        <p:sp>
          <p:nvSpPr>
            <p:cNvPr id="56" name="object 56"/>
            <p:cNvSpPr/>
            <p:nvPr/>
          </p:nvSpPr>
          <p:spPr>
            <a:xfrm>
              <a:off x="117347" y="4543044"/>
              <a:ext cx="11943715" cy="266700"/>
            </a:xfrm>
            <a:custGeom>
              <a:avLst/>
              <a:gdLst/>
              <a:ahLst/>
              <a:cxnLst/>
              <a:rect l="l" t="t" r="r" b="b"/>
              <a:pathLst>
                <a:path w="11943715" h="266700">
                  <a:moveTo>
                    <a:pt x="11943588" y="0"/>
                  </a:moveTo>
                  <a:lnTo>
                    <a:pt x="0" y="0"/>
                  </a:lnTo>
                  <a:lnTo>
                    <a:pt x="0" y="266699"/>
                  </a:lnTo>
                  <a:lnTo>
                    <a:pt x="11943588" y="266699"/>
                  </a:lnTo>
                  <a:lnTo>
                    <a:pt x="11943588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17347" y="4543044"/>
              <a:ext cx="11943715" cy="266700"/>
            </a:xfrm>
            <a:custGeom>
              <a:avLst/>
              <a:gdLst/>
              <a:ahLst/>
              <a:cxnLst/>
              <a:rect l="l" t="t" r="r" b="b"/>
              <a:pathLst>
                <a:path w="11943715" h="266700">
                  <a:moveTo>
                    <a:pt x="0" y="266699"/>
                  </a:moveTo>
                  <a:lnTo>
                    <a:pt x="11943588" y="266699"/>
                  </a:lnTo>
                  <a:lnTo>
                    <a:pt x="11943588" y="0"/>
                  </a:lnTo>
                  <a:lnTo>
                    <a:pt x="0" y="0"/>
                  </a:lnTo>
                  <a:lnTo>
                    <a:pt x="0" y="2666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5652261" y="4512309"/>
            <a:ext cx="8743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17094" y="4812538"/>
            <a:ext cx="11950700" cy="339090"/>
            <a:chOff x="117094" y="4812538"/>
            <a:chExt cx="11950700" cy="339090"/>
          </a:xfrm>
        </p:grpSpPr>
        <p:sp>
          <p:nvSpPr>
            <p:cNvPr id="60" name="object 60"/>
            <p:cNvSpPr/>
            <p:nvPr/>
          </p:nvSpPr>
          <p:spPr>
            <a:xfrm>
              <a:off x="123444" y="4818888"/>
              <a:ext cx="11938000" cy="326390"/>
            </a:xfrm>
            <a:custGeom>
              <a:avLst/>
              <a:gdLst/>
              <a:ahLst/>
              <a:cxnLst/>
              <a:rect l="l" t="t" r="r" b="b"/>
              <a:pathLst>
                <a:path w="11938000" h="326389">
                  <a:moveTo>
                    <a:pt x="11937492" y="0"/>
                  </a:moveTo>
                  <a:lnTo>
                    <a:pt x="0" y="0"/>
                  </a:lnTo>
                  <a:lnTo>
                    <a:pt x="0" y="326136"/>
                  </a:lnTo>
                  <a:lnTo>
                    <a:pt x="11937492" y="326136"/>
                  </a:lnTo>
                  <a:lnTo>
                    <a:pt x="119374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23444" y="4818888"/>
              <a:ext cx="11938000" cy="326390"/>
            </a:xfrm>
            <a:custGeom>
              <a:avLst/>
              <a:gdLst/>
              <a:ahLst/>
              <a:cxnLst/>
              <a:rect l="l" t="t" r="r" b="b"/>
              <a:pathLst>
                <a:path w="11938000" h="326389">
                  <a:moveTo>
                    <a:pt x="0" y="326136"/>
                  </a:moveTo>
                  <a:lnTo>
                    <a:pt x="11937492" y="326136"/>
                  </a:lnTo>
                  <a:lnTo>
                    <a:pt x="11937492" y="0"/>
                  </a:lnTo>
                  <a:lnTo>
                    <a:pt x="0" y="0"/>
                  </a:lnTo>
                  <a:lnTo>
                    <a:pt x="0" y="32613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207975" y="4835728"/>
            <a:ext cx="14941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INTRODUCTION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33014" y="4829682"/>
            <a:ext cx="895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515739" y="4842764"/>
            <a:ext cx="10090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MEETINGS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298184" y="4816855"/>
            <a:ext cx="1423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INCENTIVISING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693657" y="4839716"/>
            <a:ext cx="850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FINANCE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567161" y="4810505"/>
            <a:ext cx="1256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Calibri"/>
                <a:cs typeface="Calibri"/>
              </a:rPr>
              <a:t>REPAYMENTS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002784" y="1208658"/>
            <a:ext cx="228790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IMPROVED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YIELD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>
                <a:latin typeface="Calibri"/>
                <a:cs typeface="Calibri"/>
              </a:rPr>
              <a:t>HIGHER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PROFITS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FARMERS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45083" y="6576161"/>
            <a:ext cx="8140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651117" y="6576161"/>
            <a:ext cx="6127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6529196"/>
            <a:ext cx="12178030" cy="34925"/>
            <a:chOff x="0" y="6529196"/>
            <a:chExt cx="12178030" cy="34925"/>
          </a:xfrm>
        </p:grpSpPr>
        <p:sp>
          <p:nvSpPr>
            <p:cNvPr id="76" name="object 76"/>
            <p:cNvSpPr/>
            <p:nvPr/>
          </p:nvSpPr>
          <p:spPr>
            <a:xfrm>
              <a:off x="0" y="6536816"/>
              <a:ext cx="12178030" cy="19050"/>
            </a:xfrm>
            <a:custGeom>
              <a:avLst/>
              <a:gdLst/>
              <a:ahLst/>
              <a:cxnLst/>
              <a:rect l="l" t="t" r="r" b="b"/>
              <a:pathLst>
                <a:path w="12178030" h="19050">
                  <a:moveTo>
                    <a:pt x="12177522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7522" y="19049"/>
                  </a:lnTo>
                  <a:lnTo>
                    <a:pt x="1217752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72250" y="6538721"/>
              <a:ext cx="911225" cy="15875"/>
            </a:xfrm>
            <a:custGeom>
              <a:avLst/>
              <a:gdLst/>
              <a:ahLst/>
              <a:cxnLst/>
              <a:rect l="l" t="t" r="r" b="b"/>
              <a:pathLst>
                <a:path w="911225" h="15875">
                  <a:moveTo>
                    <a:pt x="0" y="0"/>
                  </a:moveTo>
                  <a:lnTo>
                    <a:pt x="911225" y="15684"/>
                  </a:lnTo>
                </a:path>
              </a:pathLst>
            </a:custGeom>
            <a:ln w="19049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71"/>
            <a:ext cx="12192000" cy="6855459"/>
          </a:xfrm>
          <a:custGeom>
            <a:avLst/>
            <a:gdLst/>
            <a:ahLst/>
            <a:cxnLst/>
            <a:rect l="l" t="t" r="r" b="b"/>
            <a:pathLst>
              <a:path w="12192000" h="6855459">
                <a:moveTo>
                  <a:pt x="12192000" y="0"/>
                </a:moveTo>
                <a:lnTo>
                  <a:pt x="0" y="0"/>
                </a:lnTo>
                <a:lnTo>
                  <a:pt x="0" y="6854952"/>
                </a:lnTo>
                <a:lnTo>
                  <a:pt x="12192000" y="68549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Impact </a:t>
            </a:r>
            <a:r>
              <a:rPr dirty="0" sz="6000" spc="-10">
                <a:solidFill>
                  <a:srgbClr val="FFFFFF"/>
                </a:solidFill>
              </a:rPr>
              <a:t>Assessment</a:t>
            </a:r>
            <a:endParaRPr sz="6000"/>
          </a:p>
        </p:txBody>
      </p:sp>
      <p:sp>
        <p:nvSpPr>
          <p:cNvPr id="4" name="object 4"/>
          <p:cNvSpPr/>
          <p:nvPr/>
        </p:nvSpPr>
        <p:spPr>
          <a:xfrm>
            <a:off x="2851404" y="3448811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204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34895" y="3672585"/>
            <a:ext cx="75253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Gauging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Mitra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Kredit</a:t>
            </a:r>
            <a:r>
              <a:rPr dirty="0" sz="240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dirty="0" sz="24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r>
              <a:rPr dirty="0" sz="24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FY24-</a:t>
            </a:r>
            <a:r>
              <a:rPr dirty="0" sz="2400" spc="-20" i="1">
                <a:solidFill>
                  <a:srgbClr val="FFFFFF"/>
                </a:solidFill>
                <a:latin typeface="Calibri"/>
                <a:cs typeface="Calibri"/>
              </a:rPr>
              <a:t>FY28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67861" y="1989582"/>
            <a:ext cx="8195945" cy="4445"/>
          </a:xfrm>
          <a:custGeom>
            <a:avLst/>
            <a:gdLst/>
            <a:ahLst/>
            <a:cxnLst/>
            <a:rect l="l" t="t" r="r" b="b"/>
            <a:pathLst>
              <a:path w="8195945" h="4444">
                <a:moveTo>
                  <a:pt x="0" y="0"/>
                </a:moveTo>
                <a:lnTo>
                  <a:pt x="8195690" y="0"/>
                </a:lnTo>
              </a:path>
              <a:path w="8195945" h="4444">
                <a:moveTo>
                  <a:pt x="0" y="4317"/>
                </a:moveTo>
                <a:lnTo>
                  <a:pt x="8195690" y="4317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15459" y="1759457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5" h="0">
                <a:moveTo>
                  <a:pt x="0" y="0"/>
                </a:moveTo>
                <a:lnTo>
                  <a:pt x="375285" y="0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51013" y="1759457"/>
            <a:ext cx="383540" cy="0"/>
          </a:xfrm>
          <a:custGeom>
            <a:avLst/>
            <a:gdLst/>
            <a:ahLst/>
            <a:cxnLst/>
            <a:rect l="l" t="t" r="r" b="b"/>
            <a:pathLst>
              <a:path w="383540" h="0">
                <a:moveTo>
                  <a:pt x="0" y="0"/>
                </a:moveTo>
                <a:lnTo>
                  <a:pt x="383158" y="0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30003" y="1759457"/>
            <a:ext cx="1721485" cy="0"/>
          </a:xfrm>
          <a:custGeom>
            <a:avLst/>
            <a:gdLst/>
            <a:ahLst/>
            <a:cxnLst/>
            <a:rect l="l" t="t" r="r" b="b"/>
            <a:pathLst>
              <a:path w="1721484" h="0">
                <a:moveTo>
                  <a:pt x="0" y="0"/>
                </a:moveTo>
                <a:lnTo>
                  <a:pt x="1721357" y="0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15459" y="1765173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5" h="0">
                <a:moveTo>
                  <a:pt x="0" y="0"/>
                </a:moveTo>
                <a:lnTo>
                  <a:pt x="375285" y="0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51013" y="1765173"/>
            <a:ext cx="383540" cy="0"/>
          </a:xfrm>
          <a:custGeom>
            <a:avLst/>
            <a:gdLst/>
            <a:ahLst/>
            <a:cxnLst/>
            <a:rect l="l" t="t" r="r" b="b"/>
            <a:pathLst>
              <a:path w="383540" h="0">
                <a:moveTo>
                  <a:pt x="0" y="0"/>
                </a:moveTo>
                <a:lnTo>
                  <a:pt x="383158" y="0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930003" y="1765173"/>
            <a:ext cx="1721485" cy="0"/>
          </a:xfrm>
          <a:custGeom>
            <a:avLst/>
            <a:gdLst/>
            <a:ahLst/>
            <a:cxnLst/>
            <a:rect l="l" t="t" r="r" b="b"/>
            <a:pathLst>
              <a:path w="1721484" h="0">
                <a:moveTo>
                  <a:pt x="0" y="0"/>
                </a:moveTo>
                <a:lnTo>
                  <a:pt x="1721357" y="0"/>
                </a:lnTo>
              </a:path>
            </a:pathLst>
          </a:custGeom>
          <a:ln w="4141">
            <a:solidFill>
              <a:srgbClr val="17171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315208" y="1580400"/>
            <a:ext cx="8348345" cy="979805"/>
            <a:chOff x="3315208" y="1580400"/>
            <a:chExt cx="8348345" cy="979805"/>
          </a:xfrm>
        </p:grpSpPr>
        <p:sp>
          <p:nvSpPr>
            <p:cNvPr id="10" name="object 10"/>
            <p:cNvSpPr/>
            <p:nvPr/>
          </p:nvSpPr>
          <p:spPr>
            <a:xfrm>
              <a:off x="5374640" y="2212086"/>
              <a:ext cx="6289040" cy="0"/>
            </a:xfrm>
            <a:custGeom>
              <a:avLst/>
              <a:gdLst/>
              <a:ahLst/>
              <a:cxnLst/>
              <a:rect l="l" t="t" r="r" b="b"/>
              <a:pathLst>
                <a:path w="6289040" h="0">
                  <a:moveTo>
                    <a:pt x="0" y="0"/>
                  </a:moveTo>
                  <a:lnTo>
                    <a:pt x="6288913" y="0"/>
                  </a:lnTo>
                </a:path>
              </a:pathLst>
            </a:custGeom>
            <a:ln w="4141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67862" y="2216404"/>
              <a:ext cx="8195945" cy="0"/>
            </a:xfrm>
            <a:custGeom>
              <a:avLst/>
              <a:gdLst/>
              <a:ahLst/>
              <a:cxnLst/>
              <a:rect l="l" t="t" r="r" b="b"/>
              <a:pathLst>
                <a:path w="8195945" h="0">
                  <a:moveTo>
                    <a:pt x="0" y="0"/>
                  </a:moveTo>
                  <a:lnTo>
                    <a:pt x="8195690" y="0"/>
                  </a:lnTo>
                </a:path>
              </a:pathLst>
            </a:custGeom>
            <a:ln w="4141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15208" y="1580400"/>
              <a:ext cx="149225" cy="979805"/>
            </a:xfrm>
            <a:custGeom>
              <a:avLst/>
              <a:gdLst/>
              <a:ahLst/>
              <a:cxnLst/>
              <a:rect l="l" t="t" r="r" b="b"/>
              <a:pathLst>
                <a:path w="149225" h="979805">
                  <a:moveTo>
                    <a:pt x="148805" y="0"/>
                  </a:moveTo>
                  <a:lnTo>
                    <a:pt x="0" y="0"/>
                  </a:lnTo>
                  <a:lnTo>
                    <a:pt x="0" y="979665"/>
                  </a:lnTo>
                  <a:lnTo>
                    <a:pt x="148805" y="979665"/>
                  </a:lnTo>
                  <a:lnTo>
                    <a:pt x="148805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304800" y="1309116"/>
            <a:ext cx="11571605" cy="0"/>
          </a:xfrm>
          <a:custGeom>
            <a:avLst/>
            <a:gdLst/>
            <a:ahLst/>
            <a:cxnLst/>
            <a:rect l="l" t="t" r="r" b="b"/>
            <a:pathLst>
              <a:path w="11571605" h="0">
                <a:moveTo>
                  <a:pt x="0" y="0"/>
                </a:moveTo>
                <a:lnTo>
                  <a:pt x="11571224" y="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04800" y="804418"/>
          <a:ext cx="11647805" cy="455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4660"/>
                <a:gridCol w="913130"/>
                <a:gridCol w="916304"/>
                <a:gridCol w="913129"/>
                <a:gridCol w="917575"/>
                <a:gridCol w="921384"/>
                <a:gridCol w="921384"/>
                <a:gridCol w="1831975"/>
                <a:gridCol w="1243329"/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83B22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626A3D"/>
                    </a:solidFill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63906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87AA8F"/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87B7A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1140460" algn="l"/>
                        </a:tabLst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2029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8676640" y="4486693"/>
            <a:ext cx="150495" cy="1270635"/>
          </a:xfrm>
          <a:custGeom>
            <a:avLst/>
            <a:gdLst/>
            <a:ahLst/>
            <a:cxnLst/>
            <a:rect l="l" t="t" r="r" b="b"/>
            <a:pathLst>
              <a:path w="150495" h="1270635">
                <a:moveTo>
                  <a:pt x="150317" y="0"/>
                </a:moveTo>
                <a:lnTo>
                  <a:pt x="0" y="0"/>
                </a:lnTo>
                <a:lnTo>
                  <a:pt x="0" y="1270634"/>
                </a:lnTo>
                <a:lnTo>
                  <a:pt x="150317" y="1270634"/>
                </a:lnTo>
                <a:lnTo>
                  <a:pt x="150317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54908" y="1731264"/>
            <a:ext cx="1360805" cy="0"/>
          </a:xfrm>
          <a:custGeom>
            <a:avLst/>
            <a:gdLst/>
            <a:ahLst/>
            <a:cxnLst/>
            <a:rect l="l" t="t" r="r" b="b"/>
            <a:pathLst>
              <a:path w="1360804" h="0">
                <a:moveTo>
                  <a:pt x="0" y="0"/>
                </a:moveTo>
                <a:lnTo>
                  <a:pt x="1360551" y="0"/>
                </a:lnTo>
              </a:path>
            </a:pathLst>
          </a:custGeom>
          <a:ln w="82550">
            <a:solidFill>
              <a:srgbClr val="2A4D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71671" y="1949195"/>
            <a:ext cx="2787015" cy="0"/>
          </a:xfrm>
          <a:custGeom>
            <a:avLst/>
            <a:gdLst/>
            <a:ahLst/>
            <a:cxnLst/>
            <a:rect l="l" t="t" r="r" b="b"/>
            <a:pathLst>
              <a:path w="2787015" h="0">
                <a:moveTo>
                  <a:pt x="0" y="0"/>
                </a:moveTo>
                <a:lnTo>
                  <a:pt x="2786761" y="0"/>
                </a:lnTo>
              </a:path>
            </a:pathLst>
          </a:custGeom>
          <a:ln w="82550">
            <a:solidFill>
              <a:srgbClr val="2A4D3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471671" y="1601724"/>
            <a:ext cx="6458585" cy="632460"/>
            <a:chOff x="3471671" y="1601724"/>
            <a:chExt cx="6458585" cy="632460"/>
          </a:xfrm>
        </p:grpSpPr>
        <p:sp>
          <p:nvSpPr>
            <p:cNvPr id="19" name="object 19"/>
            <p:cNvSpPr/>
            <p:nvPr/>
          </p:nvSpPr>
          <p:spPr>
            <a:xfrm>
              <a:off x="3471671" y="2176272"/>
              <a:ext cx="1903095" cy="0"/>
            </a:xfrm>
            <a:custGeom>
              <a:avLst/>
              <a:gdLst/>
              <a:ahLst/>
              <a:cxnLst/>
              <a:rect l="l" t="t" r="r" b="b"/>
              <a:pathLst>
                <a:path w="1903095" h="0">
                  <a:moveTo>
                    <a:pt x="0" y="0"/>
                  </a:moveTo>
                  <a:lnTo>
                    <a:pt x="1902967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7551" y="1638300"/>
              <a:ext cx="144779" cy="14325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24043" y="1601724"/>
              <a:ext cx="260350" cy="198120"/>
            </a:xfrm>
            <a:custGeom>
              <a:avLst/>
              <a:gdLst/>
              <a:ahLst/>
              <a:cxnLst/>
              <a:rect l="l" t="t" r="r" b="b"/>
              <a:pathLst>
                <a:path w="260350" h="198119">
                  <a:moveTo>
                    <a:pt x="130175" y="0"/>
                  </a:moveTo>
                  <a:lnTo>
                    <a:pt x="99440" y="75564"/>
                  </a:lnTo>
                  <a:lnTo>
                    <a:pt x="0" y="75564"/>
                  </a:lnTo>
                  <a:lnTo>
                    <a:pt x="80390" y="122174"/>
                  </a:lnTo>
                  <a:lnTo>
                    <a:pt x="49656" y="197738"/>
                  </a:lnTo>
                  <a:lnTo>
                    <a:pt x="130175" y="151002"/>
                  </a:lnTo>
                  <a:lnTo>
                    <a:pt x="210565" y="197738"/>
                  </a:lnTo>
                  <a:lnTo>
                    <a:pt x="179831" y="122174"/>
                  </a:lnTo>
                  <a:lnTo>
                    <a:pt x="260350" y="75564"/>
                  </a:lnTo>
                  <a:lnTo>
                    <a:pt x="160908" y="75564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1447" y="1856232"/>
              <a:ext cx="144779" cy="14477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77939" y="1819656"/>
              <a:ext cx="259079" cy="198120"/>
            </a:xfrm>
            <a:custGeom>
              <a:avLst/>
              <a:gdLst/>
              <a:ahLst/>
              <a:cxnLst/>
              <a:rect l="l" t="t" r="r" b="b"/>
              <a:pathLst>
                <a:path w="259079" h="198119">
                  <a:moveTo>
                    <a:pt x="129412" y="0"/>
                  </a:moveTo>
                  <a:lnTo>
                    <a:pt x="98806" y="75565"/>
                  </a:lnTo>
                  <a:lnTo>
                    <a:pt x="0" y="75565"/>
                  </a:lnTo>
                  <a:lnTo>
                    <a:pt x="80010" y="122174"/>
                  </a:lnTo>
                  <a:lnTo>
                    <a:pt x="49402" y="197739"/>
                  </a:lnTo>
                  <a:lnTo>
                    <a:pt x="129412" y="151003"/>
                  </a:lnTo>
                  <a:lnTo>
                    <a:pt x="209423" y="197739"/>
                  </a:lnTo>
                  <a:lnTo>
                    <a:pt x="178815" y="122174"/>
                  </a:lnTo>
                  <a:lnTo>
                    <a:pt x="258826" y="75565"/>
                  </a:lnTo>
                  <a:lnTo>
                    <a:pt x="159892" y="75565"/>
                  </a:lnTo>
                  <a:lnTo>
                    <a:pt x="12941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3811" y="2072640"/>
              <a:ext cx="144779" cy="14325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480303" y="2036064"/>
              <a:ext cx="260350" cy="198120"/>
            </a:xfrm>
            <a:custGeom>
              <a:avLst/>
              <a:gdLst/>
              <a:ahLst/>
              <a:cxnLst/>
              <a:rect l="l" t="t" r="r" b="b"/>
              <a:pathLst>
                <a:path w="260350" h="198119">
                  <a:moveTo>
                    <a:pt x="130175" y="0"/>
                  </a:moveTo>
                  <a:lnTo>
                    <a:pt x="99441" y="75564"/>
                  </a:lnTo>
                  <a:lnTo>
                    <a:pt x="0" y="75564"/>
                  </a:lnTo>
                  <a:lnTo>
                    <a:pt x="80391" y="122174"/>
                  </a:lnTo>
                  <a:lnTo>
                    <a:pt x="49657" y="197738"/>
                  </a:lnTo>
                  <a:lnTo>
                    <a:pt x="130175" y="151002"/>
                  </a:lnTo>
                  <a:lnTo>
                    <a:pt x="210566" y="197738"/>
                  </a:lnTo>
                  <a:lnTo>
                    <a:pt x="179832" y="122174"/>
                  </a:lnTo>
                  <a:lnTo>
                    <a:pt x="260350" y="75564"/>
                  </a:lnTo>
                  <a:lnTo>
                    <a:pt x="160909" y="75564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190743" y="1731264"/>
              <a:ext cx="2660650" cy="0"/>
            </a:xfrm>
            <a:custGeom>
              <a:avLst/>
              <a:gdLst/>
              <a:ahLst/>
              <a:cxnLst/>
              <a:rect l="l" t="t" r="r" b="b"/>
              <a:pathLst>
                <a:path w="2660650" h="0">
                  <a:moveTo>
                    <a:pt x="0" y="0"/>
                  </a:moveTo>
                  <a:lnTo>
                    <a:pt x="2660269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1647" y="1639824"/>
              <a:ext cx="143255" cy="14325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978139" y="1601724"/>
              <a:ext cx="259079" cy="199390"/>
            </a:xfrm>
            <a:custGeom>
              <a:avLst/>
              <a:gdLst/>
              <a:ahLst/>
              <a:cxnLst/>
              <a:rect l="l" t="t" r="r" b="b"/>
              <a:pathLst>
                <a:path w="259079" h="199389">
                  <a:moveTo>
                    <a:pt x="129412" y="0"/>
                  </a:moveTo>
                  <a:lnTo>
                    <a:pt x="98805" y="76073"/>
                  </a:lnTo>
                  <a:lnTo>
                    <a:pt x="0" y="76073"/>
                  </a:lnTo>
                  <a:lnTo>
                    <a:pt x="80009" y="123062"/>
                  </a:lnTo>
                  <a:lnTo>
                    <a:pt x="49402" y="199136"/>
                  </a:lnTo>
                  <a:lnTo>
                    <a:pt x="129412" y="152146"/>
                  </a:lnTo>
                  <a:lnTo>
                    <a:pt x="209423" y="199136"/>
                  </a:lnTo>
                  <a:lnTo>
                    <a:pt x="178815" y="123062"/>
                  </a:lnTo>
                  <a:lnTo>
                    <a:pt x="258825" y="76073"/>
                  </a:lnTo>
                  <a:lnTo>
                    <a:pt x="159892" y="76073"/>
                  </a:lnTo>
                  <a:lnTo>
                    <a:pt x="12941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740907" y="1731264"/>
              <a:ext cx="4189095" cy="428625"/>
            </a:xfrm>
            <a:custGeom>
              <a:avLst/>
              <a:gdLst/>
              <a:ahLst/>
              <a:cxnLst/>
              <a:rect l="l" t="t" r="r" b="b"/>
              <a:pathLst>
                <a:path w="4189095" h="428625">
                  <a:moveTo>
                    <a:pt x="2493264" y="0"/>
                  </a:moveTo>
                  <a:lnTo>
                    <a:pt x="4189094" y="0"/>
                  </a:lnTo>
                </a:path>
                <a:path w="4189095" h="428625">
                  <a:moveTo>
                    <a:pt x="0" y="428244"/>
                  </a:moveTo>
                  <a:lnTo>
                    <a:pt x="4188460" y="428244"/>
                  </a:lnTo>
                </a:path>
                <a:path w="4189095" h="428625">
                  <a:moveTo>
                    <a:pt x="940308" y="214884"/>
                  </a:moveTo>
                  <a:lnTo>
                    <a:pt x="3017012" y="214884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9951" y="1865376"/>
              <a:ext cx="143255" cy="1432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886443" y="1827276"/>
              <a:ext cx="259079" cy="199390"/>
            </a:xfrm>
            <a:custGeom>
              <a:avLst/>
              <a:gdLst/>
              <a:ahLst/>
              <a:cxnLst/>
              <a:rect l="l" t="t" r="r" b="b"/>
              <a:pathLst>
                <a:path w="259079" h="199389">
                  <a:moveTo>
                    <a:pt x="129412" y="0"/>
                  </a:moveTo>
                  <a:lnTo>
                    <a:pt x="98805" y="76073"/>
                  </a:lnTo>
                  <a:lnTo>
                    <a:pt x="0" y="76073"/>
                  </a:lnTo>
                  <a:lnTo>
                    <a:pt x="80009" y="123062"/>
                  </a:lnTo>
                  <a:lnTo>
                    <a:pt x="49402" y="199136"/>
                  </a:lnTo>
                  <a:lnTo>
                    <a:pt x="129412" y="152146"/>
                  </a:lnTo>
                  <a:lnTo>
                    <a:pt x="209423" y="199136"/>
                  </a:lnTo>
                  <a:lnTo>
                    <a:pt x="178815" y="123062"/>
                  </a:lnTo>
                  <a:lnTo>
                    <a:pt x="258825" y="76073"/>
                  </a:lnTo>
                  <a:lnTo>
                    <a:pt x="159892" y="76073"/>
                  </a:lnTo>
                  <a:lnTo>
                    <a:pt x="129412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145523" y="1943100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59" h="0">
                  <a:moveTo>
                    <a:pt x="0" y="0"/>
                  </a:moveTo>
                  <a:lnTo>
                    <a:pt x="784605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4699000" y="2918460"/>
            <a:ext cx="6972300" cy="1270635"/>
            <a:chOff x="4699000" y="2918460"/>
            <a:chExt cx="6972300" cy="1270635"/>
          </a:xfrm>
        </p:grpSpPr>
        <p:sp>
          <p:nvSpPr>
            <p:cNvPr id="34" name="object 34"/>
            <p:cNvSpPr/>
            <p:nvPr/>
          </p:nvSpPr>
          <p:spPr>
            <a:xfrm>
              <a:off x="4850841" y="3201924"/>
              <a:ext cx="3762375" cy="698500"/>
            </a:xfrm>
            <a:custGeom>
              <a:avLst/>
              <a:gdLst/>
              <a:ahLst/>
              <a:cxnLst/>
              <a:rect l="l" t="t" r="r" b="b"/>
              <a:pathLst>
                <a:path w="3762375" h="698500">
                  <a:moveTo>
                    <a:pt x="0" y="0"/>
                  </a:moveTo>
                  <a:lnTo>
                    <a:pt x="3233216" y="0"/>
                  </a:lnTo>
                </a:path>
                <a:path w="3762375" h="698500">
                  <a:moveTo>
                    <a:pt x="0" y="697992"/>
                  </a:moveTo>
                  <a:lnTo>
                    <a:pt x="3761917" y="697992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3167" y="3814572"/>
              <a:ext cx="144779" cy="1432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709659" y="3776472"/>
              <a:ext cx="260350" cy="199390"/>
            </a:xfrm>
            <a:custGeom>
              <a:avLst/>
              <a:gdLst/>
              <a:ahLst/>
              <a:cxnLst/>
              <a:rect l="l" t="t" r="r" b="b"/>
              <a:pathLst>
                <a:path w="260350" h="199389">
                  <a:moveTo>
                    <a:pt x="130175" y="0"/>
                  </a:moveTo>
                  <a:lnTo>
                    <a:pt x="99441" y="76072"/>
                  </a:lnTo>
                  <a:lnTo>
                    <a:pt x="0" y="76072"/>
                  </a:lnTo>
                  <a:lnTo>
                    <a:pt x="80391" y="123062"/>
                  </a:lnTo>
                  <a:lnTo>
                    <a:pt x="49657" y="199135"/>
                  </a:lnTo>
                  <a:lnTo>
                    <a:pt x="130175" y="152145"/>
                  </a:lnTo>
                  <a:lnTo>
                    <a:pt x="210566" y="199135"/>
                  </a:lnTo>
                  <a:lnTo>
                    <a:pt x="179832" y="123062"/>
                  </a:lnTo>
                  <a:lnTo>
                    <a:pt x="260350" y="76072"/>
                  </a:lnTo>
                  <a:lnTo>
                    <a:pt x="160909" y="76072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65691" y="3875532"/>
              <a:ext cx="951230" cy="0"/>
            </a:xfrm>
            <a:custGeom>
              <a:avLst/>
              <a:gdLst/>
              <a:ahLst/>
              <a:cxnLst/>
              <a:rect l="l" t="t" r="r" b="b"/>
              <a:pathLst>
                <a:path w="951229" h="0">
                  <a:moveTo>
                    <a:pt x="0" y="0"/>
                  </a:moveTo>
                  <a:lnTo>
                    <a:pt x="950722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332476" y="3174492"/>
              <a:ext cx="6335395" cy="756285"/>
            </a:xfrm>
            <a:custGeom>
              <a:avLst/>
              <a:gdLst/>
              <a:ahLst/>
              <a:cxnLst/>
              <a:rect l="l" t="t" r="r" b="b"/>
              <a:pathLst>
                <a:path w="6335395" h="756285">
                  <a:moveTo>
                    <a:pt x="2653283" y="14732"/>
                  </a:moveTo>
                  <a:lnTo>
                    <a:pt x="6321552" y="0"/>
                  </a:lnTo>
                </a:path>
                <a:path w="6335395" h="756285">
                  <a:moveTo>
                    <a:pt x="0" y="755777"/>
                  </a:moveTo>
                  <a:lnTo>
                    <a:pt x="6335268" y="75438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1771" y="3058668"/>
              <a:ext cx="144779" cy="14325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208264" y="3022092"/>
              <a:ext cx="260350" cy="198120"/>
            </a:xfrm>
            <a:custGeom>
              <a:avLst/>
              <a:gdLst/>
              <a:ahLst/>
              <a:cxnLst/>
              <a:rect l="l" t="t" r="r" b="b"/>
              <a:pathLst>
                <a:path w="260350" h="198119">
                  <a:moveTo>
                    <a:pt x="130175" y="0"/>
                  </a:moveTo>
                  <a:lnTo>
                    <a:pt x="99440" y="75565"/>
                  </a:lnTo>
                  <a:lnTo>
                    <a:pt x="0" y="75565"/>
                  </a:lnTo>
                  <a:lnTo>
                    <a:pt x="80390" y="122174"/>
                  </a:lnTo>
                  <a:lnTo>
                    <a:pt x="49656" y="197738"/>
                  </a:lnTo>
                  <a:lnTo>
                    <a:pt x="130175" y="151003"/>
                  </a:lnTo>
                  <a:lnTo>
                    <a:pt x="210565" y="197738"/>
                  </a:lnTo>
                  <a:lnTo>
                    <a:pt x="179831" y="122174"/>
                  </a:lnTo>
                  <a:lnTo>
                    <a:pt x="260350" y="75565"/>
                  </a:lnTo>
                  <a:lnTo>
                    <a:pt x="160908" y="75565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50841" y="3517392"/>
              <a:ext cx="2826385" cy="0"/>
            </a:xfrm>
            <a:custGeom>
              <a:avLst/>
              <a:gdLst/>
              <a:ahLst/>
              <a:cxnLst/>
              <a:rect l="l" t="t" r="r" b="b"/>
              <a:pathLst>
                <a:path w="2826384" h="0">
                  <a:moveTo>
                    <a:pt x="0" y="0"/>
                  </a:moveTo>
                  <a:lnTo>
                    <a:pt x="2826308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677911" y="3547872"/>
              <a:ext cx="3977004" cy="16510"/>
            </a:xfrm>
            <a:custGeom>
              <a:avLst/>
              <a:gdLst/>
              <a:ahLst/>
              <a:cxnLst/>
              <a:rect l="l" t="t" r="r" b="b"/>
              <a:pathLst>
                <a:path w="3977004" h="16510">
                  <a:moveTo>
                    <a:pt x="0" y="16001"/>
                  </a:moveTo>
                  <a:lnTo>
                    <a:pt x="3976624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3339" y="3430524"/>
              <a:ext cx="144779" cy="14325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813548" y="3511296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 h="0">
                  <a:moveTo>
                    <a:pt x="0" y="0"/>
                  </a:moveTo>
                  <a:lnTo>
                    <a:pt x="150875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699000" y="2918460"/>
              <a:ext cx="152400" cy="1270635"/>
            </a:xfrm>
            <a:custGeom>
              <a:avLst/>
              <a:gdLst/>
              <a:ahLst/>
              <a:cxnLst/>
              <a:rect l="l" t="t" r="r" b="b"/>
              <a:pathLst>
                <a:path w="152400" h="1270635">
                  <a:moveTo>
                    <a:pt x="151841" y="0"/>
                  </a:moveTo>
                  <a:lnTo>
                    <a:pt x="0" y="0"/>
                  </a:lnTo>
                  <a:lnTo>
                    <a:pt x="0" y="1270634"/>
                  </a:lnTo>
                  <a:lnTo>
                    <a:pt x="151841" y="1270634"/>
                  </a:lnTo>
                  <a:lnTo>
                    <a:pt x="151841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2112645" y="1583055"/>
            <a:ext cx="889635" cy="1048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8260" marR="5080" indent="-36195">
              <a:lnSpc>
                <a:spcPct val="1131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Loans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Loans</a:t>
            </a:r>
            <a:endParaRPr sz="1200">
              <a:latin typeface="Calibri"/>
              <a:cs typeface="Calibri"/>
            </a:endParaRPr>
          </a:p>
          <a:p>
            <a:pPr algn="just" marL="83185" marR="31115" indent="1905">
              <a:lnSpc>
                <a:spcPct val="101400"/>
              </a:lnSpc>
              <a:spcBef>
                <a:spcPts val="409"/>
              </a:spcBef>
            </a:pPr>
            <a:r>
              <a:rPr dirty="0" sz="1200">
                <a:latin typeface="Calibri"/>
                <a:cs typeface="Calibri"/>
              </a:rPr>
              <a:t>TBOP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collab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rating revolution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073401" y="2953003"/>
            <a:ext cx="1064260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8745" marR="15938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Expansion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provinces</a:t>
            </a:r>
            <a:endParaRPr sz="1200">
              <a:latin typeface="Calibri"/>
              <a:cs typeface="Calibri"/>
            </a:endParaRPr>
          </a:p>
          <a:p>
            <a:pPr algn="ctr" marL="170815" marR="232410" indent="1270">
              <a:lnSpc>
                <a:spcPct val="100000"/>
              </a:lnSpc>
              <a:spcBef>
                <a:spcPts val="355"/>
              </a:spcBef>
            </a:pP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Subaks developed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365"/>
              </a:spcBef>
            </a:pPr>
            <a:r>
              <a:rPr dirty="0" sz="1200">
                <a:latin typeface="Calibri"/>
                <a:cs typeface="Calibri"/>
              </a:rPr>
              <a:t>Leasing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out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agricultural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88036" y="2808604"/>
            <a:ext cx="11571605" cy="43180"/>
          </a:xfrm>
          <a:custGeom>
            <a:avLst/>
            <a:gdLst/>
            <a:ahLst/>
            <a:cxnLst/>
            <a:rect l="l" t="t" r="r" b="b"/>
            <a:pathLst>
              <a:path w="11571605" h="43180">
                <a:moveTo>
                  <a:pt x="0" y="42799"/>
                </a:moveTo>
                <a:lnTo>
                  <a:pt x="11571224" y="42799"/>
                </a:lnTo>
              </a:path>
              <a:path w="11571605" h="43180">
                <a:moveTo>
                  <a:pt x="0" y="0"/>
                </a:moveTo>
                <a:lnTo>
                  <a:pt x="11571224" y="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00227" y="4297553"/>
            <a:ext cx="11571605" cy="43180"/>
          </a:xfrm>
          <a:custGeom>
            <a:avLst/>
            <a:gdLst/>
            <a:ahLst/>
            <a:cxnLst/>
            <a:rect l="l" t="t" r="r" b="b"/>
            <a:pathLst>
              <a:path w="11571605" h="43179">
                <a:moveTo>
                  <a:pt x="0" y="42799"/>
                </a:moveTo>
                <a:lnTo>
                  <a:pt x="11571224" y="42799"/>
                </a:lnTo>
              </a:path>
              <a:path w="11571605" h="43179">
                <a:moveTo>
                  <a:pt x="0" y="0"/>
                </a:moveTo>
                <a:lnTo>
                  <a:pt x="11571224" y="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095245" y="4481576"/>
            <a:ext cx="995044" cy="1014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Expansion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provinces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Indonesia</a:t>
            </a:r>
            <a:endParaRPr sz="1200">
              <a:latin typeface="Calibri"/>
              <a:cs typeface="Calibri"/>
            </a:endParaRPr>
          </a:p>
          <a:p>
            <a:pPr algn="ctr" marL="82550" marR="100965">
              <a:lnSpc>
                <a:spcPct val="100000"/>
              </a:lnSpc>
              <a:spcBef>
                <a:spcPts val="585"/>
              </a:spcBef>
            </a:pP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Subaks developed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00227" y="5821489"/>
            <a:ext cx="11571605" cy="43180"/>
          </a:xfrm>
          <a:custGeom>
            <a:avLst/>
            <a:gdLst/>
            <a:ahLst/>
            <a:cxnLst/>
            <a:rect l="l" t="t" r="r" b="b"/>
            <a:pathLst>
              <a:path w="11571605" h="43179">
                <a:moveTo>
                  <a:pt x="0" y="42862"/>
                </a:moveTo>
                <a:lnTo>
                  <a:pt x="11571224" y="42862"/>
                </a:lnTo>
              </a:path>
              <a:path w="11571605" h="43179">
                <a:moveTo>
                  <a:pt x="0" y="0"/>
                </a:moveTo>
                <a:lnTo>
                  <a:pt x="11571224" y="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17591" y="6085332"/>
            <a:ext cx="1367155" cy="0"/>
          </a:xfrm>
          <a:custGeom>
            <a:avLst/>
            <a:gdLst/>
            <a:ahLst/>
            <a:cxnLst/>
            <a:rect l="l" t="t" r="r" b="b"/>
            <a:pathLst>
              <a:path w="1367154" h="0">
                <a:moveTo>
                  <a:pt x="0" y="0"/>
                </a:moveTo>
                <a:lnTo>
                  <a:pt x="1366647" y="0"/>
                </a:lnTo>
              </a:path>
            </a:pathLst>
          </a:custGeom>
          <a:ln w="82550">
            <a:solidFill>
              <a:srgbClr val="2A4D3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3" name="object 53"/>
          <p:cNvGrpSpPr/>
          <p:nvPr/>
        </p:nvGrpSpPr>
        <p:grpSpPr>
          <a:xfrm>
            <a:off x="3467100" y="2272283"/>
            <a:ext cx="8196580" cy="198120"/>
            <a:chOff x="3467100" y="2272283"/>
            <a:chExt cx="8196580" cy="198120"/>
          </a:xfrm>
        </p:grpSpPr>
        <p:sp>
          <p:nvSpPr>
            <p:cNvPr id="54" name="object 54"/>
            <p:cNvSpPr/>
            <p:nvPr/>
          </p:nvSpPr>
          <p:spPr>
            <a:xfrm>
              <a:off x="7547355" y="2426969"/>
              <a:ext cx="4116704" cy="5715"/>
            </a:xfrm>
            <a:custGeom>
              <a:avLst/>
              <a:gdLst/>
              <a:ahLst/>
              <a:cxnLst/>
              <a:rect l="l" t="t" r="r" b="b"/>
              <a:pathLst>
                <a:path w="4116704" h="5714">
                  <a:moveTo>
                    <a:pt x="0" y="0"/>
                  </a:moveTo>
                  <a:lnTo>
                    <a:pt x="304292" y="0"/>
                  </a:lnTo>
                </a:path>
                <a:path w="4116704" h="5714">
                  <a:moveTo>
                    <a:pt x="2382520" y="0"/>
                  </a:moveTo>
                  <a:lnTo>
                    <a:pt x="4116197" y="0"/>
                  </a:lnTo>
                </a:path>
                <a:path w="4116704" h="5714">
                  <a:moveTo>
                    <a:pt x="0" y="5714"/>
                  </a:moveTo>
                  <a:lnTo>
                    <a:pt x="4116197" y="5714"/>
                  </a:lnTo>
                </a:path>
              </a:pathLst>
            </a:custGeom>
            <a:ln w="4141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67100" y="2395727"/>
              <a:ext cx="4080510" cy="0"/>
            </a:xfrm>
            <a:custGeom>
              <a:avLst/>
              <a:gdLst/>
              <a:ahLst/>
              <a:cxnLst/>
              <a:rect l="l" t="t" r="r" b="b"/>
              <a:pathLst>
                <a:path w="4080509" h="0">
                  <a:moveTo>
                    <a:pt x="0" y="0"/>
                  </a:moveTo>
                  <a:lnTo>
                    <a:pt x="4080255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3215" y="2308859"/>
              <a:ext cx="144779" cy="14477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569708" y="2272283"/>
              <a:ext cx="260350" cy="198120"/>
            </a:xfrm>
            <a:custGeom>
              <a:avLst/>
              <a:gdLst/>
              <a:ahLst/>
              <a:cxnLst/>
              <a:rect l="l" t="t" r="r" b="b"/>
              <a:pathLst>
                <a:path w="260350" h="198119">
                  <a:moveTo>
                    <a:pt x="130175" y="0"/>
                  </a:moveTo>
                  <a:lnTo>
                    <a:pt x="99441" y="75564"/>
                  </a:lnTo>
                  <a:lnTo>
                    <a:pt x="0" y="75564"/>
                  </a:lnTo>
                  <a:lnTo>
                    <a:pt x="80391" y="122174"/>
                  </a:lnTo>
                  <a:lnTo>
                    <a:pt x="49657" y="197738"/>
                  </a:lnTo>
                  <a:lnTo>
                    <a:pt x="130175" y="151002"/>
                  </a:lnTo>
                  <a:lnTo>
                    <a:pt x="210566" y="197738"/>
                  </a:lnTo>
                  <a:lnTo>
                    <a:pt x="179832" y="122174"/>
                  </a:lnTo>
                  <a:lnTo>
                    <a:pt x="260350" y="75564"/>
                  </a:lnTo>
                  <a:lnTo>
                    <a:pt x="160909" y="75564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851647" y="2391155"/>
              <a:ext cx="2078355" cy="0"/>
            </a:xfrm>
            <a:custGeom>
              <a:avLst/>
              <a:gdLst/>
              <a:ahLst/>
              <a:cxnLst/>
              <a:rect l="l" t="t" r="r" b="b"/>
              <a:pathLst>
                <a:path w="2078354" h="0">
                  <a:moveTo>
                    <a:pt x="0" y="0"/>
                  </a:moveTo>
                  <a:lnTo>
                    <a:pt x="2078227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4244466" y="6076182"/>
            <a:ext cx="559435" cy="91440"/>
          </a:xfrm>
          <a:custGeom>
            <a:avLst/>
            <a:gdLst/>
            <a:ahLst/>
            <a:cxnLst/>
            <a:rect l="l" t="t" r="r" b="b"/>
            <a:pathLst>
              <a:path w="559435" h="91439">
                <a:moveTo>
                  <a:pt x="559155" y="0"/>
                </a:moveTo>
                <a:lnTo>
                  <a:pt x="0" y="0"/>
                </a:lnTo>
                <a:lnTo>
                  <a:pt x="0" y="91102"/>
                </a:lnTo>
                <a:lnTo>
                  <a:pt x="559155" y="91102"/>
                </a:lnTo>
                <a:lnTo>
                  <a:pt x="559155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224909" y="6286906"/>
            <a:ext cx="5956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Prelaunch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81040" y="6195771"/>
            <a:ext cx="11182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Phase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Operation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2" name="object 6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5516" y="6102097"/>
            <a:ext cx="105154" cy="92962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6546595" y="6200647"/>
            <a:ext cx="608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Feedback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7995" y="6057900"/>
            <a:ext cx="198120" cy="19050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7365872" y="6194552"/>
            <a:ext cx="675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Correction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405384" y="1443227"/>
            <a:ext cx="1584960" cy="1313815"/>
          </a:xfrm>
          <a:prstGeom prst="rect">
            <a:avLst/>
          </a:prstGeom>
          <a:solidFill>
            <a:srgbClr val="87AA8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00">
              <a:latin typeface="Times New Roman"/>
              <a:cs typeface="Times New Roman"/>
            </a:endParaRPr>
          </a:p>
          <a:p>
            <a:pPr marL="493395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22148" y="2918460"/>
            <a:ext cx="1584960" cy="1312545"/>
          </a:xfrm>
          <a:prstGeom prst="rect">
            <a:avLst/>
          </a:prstGeom>
          <a:solidFill>
            <a:srgbClr val="87AA8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00">
              <a:latin typeface="Times New Roman"/>
              <a:cs typeface="Times New Roman"/>
            </a:endParaRPr>
          </a:p>
          <a:p>
            <a:pPr marL="466090">
              <a:lnSpc>
                <a:spcPct val="100000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22148" y="4421123"/>
            <a:ext cx="1583690" cy="1313815"/>
          </a:xfrm>
          <a:prstGeom prst="rect">
            <a:avLst/>
          </a:prstGeom>
          <a:solidFill>
            <a:srgbClr val="87AA8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600">
              <a:latin typeface="Times New Roman"/>
              <a:cs typeface="Times New Roman"/>
            </a:endParaRPr>
          </a:p>
          <a:p>
            <a:pPr marL="438784">
              <a:lnSpc>
                <a:spcPct val="100000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III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805544" y="4768469"/>
            <a:ext cx="2851785" cy="82550"/>
            <a:chOff x="8805544" y="4768469"/>
            <a:chExt cx="2851785" cy="82550"/>
          </a:xfrm>
        </p:grpSpPr>
        <p:sp>
          <p:nvSpPr>
            <p:cNvPr id="71" name="object 71"/>
            <p:cNvSpPr/>
            <p:nvPr/>
          </p:nvSpPr>
          <p:spPr>
            <a:xfrm>
              <a:off x="8833103" y="4809744"/>
              <a:ext cx="1811655" cy="0"/>
            </a:xfrm>
            <a:custGeom>
              <a:avLst/>
              <a:gdLst/>
              <a:ahLst/>
              <a:cxnLst/>
              <a:rect l="l" t="t" r="r" b="b"/>
              <a:pathLst>
                <a:path w="1811654" h="0">
                  <a:moveTo>
                    <a:pt x="0" y="0"/>
                  </a:moveTo>
                  <a:lnTo>
                    <a:pt x="1811654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808719" y="4814316"/>
              <a:ext cx="2845435" cy="23495"/>
            </a:xfrm>
            <a:custGeom>
              <a:avLst/>
              <a:gdLst/>
              <a:ahLst/>
              <a:cxnLst/>
              <a:rect l="l" t="t" r="r" b="b"/>
              <a:pathLst>
                <a:path w="2845434" h="23495">
                  <a:moveTo>
                    <a:pt x="0" y="23494"/>
                  </a:moveTo>
                  <a:lnTo>
                    <a:pt x="284518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Timeline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Year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wise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implementation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feedback</a:t>
            </a:r>
            <a:r>
              <a:rPr dirty="0" sz="1700" spc="-1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corrective</a:t>
            </a:r>
            <a:r>
              <a:rPr dirty="0" sz="1700" spc="-4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blocks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700" spc="-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Mitra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Kredit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5083" y="6576161"/>
            <a:ext cx="8140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660385" y="6576161"/>
            <a:ext cx="7302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81" name="object 81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7578090" y="6546342"/>
              <a:ext cx="864869" cy="8255"/>
            </a:xfrm>
            <a:custGeom>
              <a:avLst/>
              <a:gdLst/>
              <a:ahLst/>
              <a:cxnLst/>
              <a:rect l="l" t="t" r="r" b="b"/>
              <a:pathLst>
                <a:path w="864870" h="8254">
                  <a:moveTo>
                    <a:pt x="0" y="0"/>
                  </a:moveTo>
                  <a:lnTo>
                    <a:pt x="864488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8833104" y="5320157"/>
            <a:ext cx="2834005" cy="82550"/>
            <a:chOff x="8833104" y="5320157"/>
            <a:chExt cx="2834005" cy="82550"/>
          </a:xfrm>
        </p:grpSpPr>
        <p:sp>
          <p:nvSpPr>
            <p:cNvPr id="86" name="object 86"/>
            <p:cNvSpPr/>
            <p:nvPr/>
          </p:nvSpPr>
          <p:spPr>
            <a:xfrm>
              <a:off x="8833104" y="5361432"/>
              <a:ext cx="1811655" cy="0"/>
            </a:xfrm>
            <a:custGeom>
              <a:avLst/>
              <a:gdLst/>
              <a:ahLst/>
              <a:cxnLst/>
              <a:rect l="l" t="t" r="r" b="b"/>
              <a:pathLst>
                <a:path w="1811654" h="0">
                  <a:moveTo>
                    <a:pt x="0" y="0"/>
                  </a:moveTo>
                  <a:lnTo>
                    <a:pt x="1811654" y="0"/>
                  </a:lnTo>
                </a:path>
              </a:pathLst>
            </a:custGeom>
            <a:ln w="82550">
              <a:solidFill>
                <a:srgbClr val="2A4D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941308" y="5366004"/>
              <a:ext cx="2722880" cy="6350"/>
            </a:xfrm>
            <a:custGeom>
              <a:avLst/>
              <a:gdLst/>
              <a:ahLst/>
              <a:cxnLst/>
              <a:rect l="l" t="t" r="r" b="b"/>
              <a:pathLst>
                <a:path w="2722879" h="6350">
                  <a:moveTo>
                    <a:pt x="0" y="5969"/>
                  </a:moveTo>
                  <a:lnTo>
                    <a:pt x="2722626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0360" y="552460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3048" y="552460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3544" y="552460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6728" y="552460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4040" y="552460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672" y="3235157"/>
            <a:ext cx="177800" cy="4521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7E7E7E"/>
                </a:solidFill>
                <a:latin typeface="Calibri"/>
                <a:cs typeface="Calibri"/>
              </a:rPr>
              <a:t>Impact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0476" y="1354836"/>
            <a:ext cx="4611370" cy="4178935"/>
            <a:chOff x="760476" y="1354836"/>
            <a:chExt cx="4611370" cy="4178935"/>
          </a:xfrm>
        </p:grpSpPr>
        <p:sp>
          <p:nvSpPr>
            <p:cNvPr id="9" name="object 9"/>
            <p:cNvSpPr/>
            <p:nvPr/>
          </p:nvSpPr>
          <p:spPr>
            <a:xfrm>
              <a:off x="766572" y="1360931"/>
              <a:ext cx="4598035" cy="833755"/>
            </a:xfrm>
            <a:custGeom>
              <a:avLst/>
              <a:gdLst/>
              <a:ahLst/>
              <a:cxnLst/>
              <a:rect l="l" t="t" r="r" b="b"/>
              <a:pathLst>
                <a:path w="4598035" h="833755">
                  <a:moveTo>
                    <a:pt x="1839468" y="0"/>
                  </a:moveTo>
                  <a:lnTo>
                    <a:pt x="0" y="0"/>
                  </a:lnTo>
                  <a:lnTo>
                    <a:pt x="0" y="833628"/>
                  </a:lnTo>
                  <a:lnTo>
                    <a:pt x="1839468" y="833628"/>
                  </a:lnTo>
                  <a:lnTo>
                    <a:pt x="1839468" y="0"/>
                  </a:lnTo>
                  <a:close/>
                </a:path>
                <a:path w="4598035" h="833755">
                  <a:moveTo>
                    <a:pt x="4597908" y="0"/>
                  </a:moveTo>
                  <a:lnTo>
                    <a:pt x="1840992" y="0"/>
                  </a:lnTo>
                  <a:lnTo>
                    <a:pt x="1840992" y="833628"/>
                  </a:lnTo>
                  <a:lnTo>
                    <a:pt x="4597908" y="833628"/>
                  </a:lnTo>
                  <a:lnTo>
                    <a:pt x="4597908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6572" y="2194560"/>
              <a:ext cx="920750" cy="833755"/>
            </a:xfrm>
            <a:custGeom>
              <a:avLst/>
              <a:gdLst/>
              <a:ahLst/>
              <a:cxnLst/>
              <a:rect l="l" t="t" r="r" b="b"/>
              <a:pathLst>
                <a:path w="920750" h="833755">
                  <a:moveTo>
                    <a:pt x="920496" y="0"/>
                  </a:moveTo>
                  <a:lnTo>
                    <a:pt x="0" y="0"/>
                  </a:lnTo>
                  <a:lnTo>
                    <a:pt x="0" y="833627"/>
                  </a:lnTo>
                  <a:lnTo>
                    <a:pt x="920496" y="833627"/>
                  </a:lnTo>
                  <a:lnTo>
                    <a:pt x="920496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85543" y="2194560"/>
              <a:ext cx="1839595" cy="833755"/>
            </a:xfrm>
            <a:custGeom>
              <a:avLst/>
              <a:gdLst/>
              <a:ahLst/>
              <a:cxnLst/>
              <a:rect l="l" t="t" r="r" b="b"/>
              <a:pathLst>
                <a:path w="1839595" h="833755">
                  <a:moveTo>
                    <a:pt x="1839468" y="0"/>
                  </a:moveTo>
                  <a:lnTo>
                    <a:pt x="0" y="0"/>
                  </a:lnTo>
                  <a:lnTo>
                    <a:pt x="0" y="833627"/>
                  </a:lnTo>
                  <a:lnTo>
                    <a:pt x="1839468" y="833627"/>
                  </a:lnTo>
                  <a:lnTo>
                    <a:pt x="1839468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25011" y="2194560"/>
              <a:ext cx="1839595" cy="833755"/>
            </a:xfrm>
            <a:custGeom>
              <a:avLst/>
              <a:gdLst/>
              <a:ahLst/>
              <a:cxnLst/>
              <a:rect l="l" t="t" r="r" b="b"/>
              <a:pathLst>
                <a:path w="1839595" h="833755">
                  <a:moveTo>
                    <a:pt x="1839467" y="0"/>
                  </a:moveTo>
                  <a:lnTo>
                    <a:pt x="0" y="0"/>
                  </a:lnTo>
                  <a:lnTo>
                    <a:pt x="0" y="833627"/>
                  </a:lnTo>
                  <a:lnTo>
                    <a:pt x="1839467" y="833627"/>
                  </a:lnTo>
                  <a:lnTo>
                    <a:pt x="1839467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6572" y="3028187"/>
              <a:ext cx="1839595" cy="832485"/>
            </a:xfrm>
            <a:custGeom>
              <a:avLst/>
              <a:gdLst/>
              <a:ahLst/>
              <a:cxnLst/>
              <a:rect l="l" t="t" r="r" b="b"/>
              <a:pathLst>
                <a:path w="1839595" h="832485">
                  <a:moveTo>
                    <a:pt x="1839467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1839467" y="832104"/>
                  </a:lnTo>
                  <a:lnTo>
                    <a:pt x="1839467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06040" y="3028187"/>
              <a:ext cx="1838325" cy="832485"/>
            </a:xfrm>
            <a:custGeom>
              <a:avLst/>
              <a:gdLst/>
              <a:ahLst/>
              <a:cxnLst/>
              <a:rect l="l" t="t" r="r" b="b"/>
              <a:pathLst>
                <a:path w="1838325" h="832485">
                  <a:moveTo>
                    <a:pt x="1837944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1837944" y="832104"/>
                  </a:lnTo>
                  <a:lnTo>
                    <a:pt x="1837944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43984" y="3028187"/>
              <a:ext cx="920750" cy="832485"/>
            </a:xfrm>
            <a:custGeom>
              <a:avLst/>
              <a:gdLst/>
              <a:ahLst/>
              <a:cxnLst/>
              <a:rect l="l" t="t" r="r" b="b"/>
              <a:pathLst>
                <a:path w="920750" h="832485">
                  <a:moveTo>
                    <a:pt x="920496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920496" y="832104"/>
                  </a:lnTo>
                  <a:lnTo>
                    <a:pt x="920496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6572" y="3860291"/>
              <a:ext cx="2758440" cy="833755"/>
            </a:xfrm>
            <a:custGeom>
              <a:avLst/>
              <a:gdLst/>
              <a:ahLst/>
              <a:cxnLst/>
              <a:rect l="l" t="t" r="r" b="b"/>
              <a:pathLst>
                <a:path w="2758440" h="833754">
                  <a:moveTo>
                    <a:pt x="2758440" y="0"/>
                  </a:moveTo>
                  <a:lnTo>
                    <a:pt x="0" y="0"/>
                  </a:lnTo>
                  <a:lnTo>
                    <a:pt x="0" y="833627"/>
                  </a:lnTo>
                  <a:lnTo>
                    <a:pt x="2758440" y="833627"/>
                  </a:lnTo>
                  <a:lnTo>
                    <a:pt x="275844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25011" y="3860291"/>
              <a:ext cx="1839595" cy="833755"/>
            </a:xfrm>
            <a:custGeom>
              <a:avLst/>
              <a:gdLst/>
              <a:ahLst/>
              <a:cxnLst/>
              <a:rect l="l" t="t" r="r" b="b"/>
              <a:pathLst>
                <a:path w="1839595" h="833754">
                  <a:moveTo>
                    <a:pt x="1839467" y="0"/>
                  </a:moveTo>
                  <a:lnTo>
                    <a:pt x="0" y="0"/>
                  </a:lnTo>
                  <a:lnTo>
                    <a:pt x="0" y="833627"/>
                  </a:lnTo>
                  <a:lnTo>
                    <a:pt x="1839467" y="833627"/>
                  </a:lnTo>
                  <a:lnTo>
                    <a:pt x="1839467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66572" y="4693920"/>
              <a:ext cx="4598035" cy="833755"/>
            </a:xfrm>
            <a:custGeom>
              <a:avLst/>
              <a:gdLst/>
              <a:ahLst/>
              <a:cxnLst/>
              <a:rect l="l" t="t" r="r" b="b"/>
              <a:pathLst>
                <a:path w="4598035" h="833754">
                  <a:moveTo>
                    <a:pt x="4597908" y="0"/>
                  </a:moveTo>
                  <a:lnTo>
                    <a:pt x="0" y="0"/>
                  </a:lnTo>
                  <a:lnTo>
                    <a:pt x="0" y="833627"/>
                  </a:lnTo>
                  <a:lnTo>
                    <a:pt x="4597908" y="833627"/>
                  </a:lnTo>
                  <a:lnTo>
                    <a:pt x="459790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685543" y="1354836"/>
              <a:ext cx="2758440" cy="4178935"/>
            </a:xfrm>
            <a:custGeom>
              <a:avLst/>
              <a:gdLst/>
              <a:ahLst/>
              <a:cxnLst/>
              <a:rect l="l" t="t" r="r" b="b"/>
              <a:pathLst>
                <a:path w="2758440" h="4178935">
                  <a:moveTo>
                    <a:pt x="0" y="0"/>
                  </a:moveTo>
                  <a:lnTo>
                    <a:pt x="0" y="4178680"/>
                  </a:lnTo>
                </a:path>
                <a:path w="2758440" h="4178935">
                  <a:moveTo>
                    <a:pt x="919480" y="0"/>
                  </a:moveTo>
                  <a:lnTo>
                    <a:pt x="919480" y="4178680"/>
                  </a:lnTo>
                </a:path>
                <a:path w="2758440" h="4178935">
                  <a:moveTo>
                    <a:pt x="1838959" y="0"/>
                  </a:moveTo>
                  <a:lnTo>
                    <a:pt x="1838959" y="4178680"/>
                  </a:lnTo>
                </a:path>
                <a:path w="2758440" h="4178935">
                  <a:moveTo>
                    <a:pt x="2758440" y="0"/>
                  </a:moveTo>
                  <a:lnTo>
                    <a:pt x="2758440" y="41786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1238" y="2195322"/>
              <a:ext cx="4610100" cy="0"/>
            </a:xfrm>
            <a:custGeom>
              <a:avLst/>
              <a:gdLst/>
              <a:ahLst/>
              <a:cxnLst/>
              <a:rect l="l" t="t" r="r" b="b"/>
              <a:pathLst>
                <a:path w="4610100" h="0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0476" y="1354836"/>
              <a:ext cx="4610100" cy="4178935"/>
            </a:xfrm>
            <a:custGeom>
              <a:avLst/>
              <a:gdLst/>
              <a:ahLst/>
              <a:cxnLst/>
              <a:rect l="l" t="t" r="r" b="b"/>
              <a:pathLst>
                <a:path w="4610100" h="4178935">
                  <a:moveTo>
                    <a:pt x="0" y="1672843"/>
                  </a:moveTo>
                  <a:lnTo>
                    <a:pt x="4610100" y="1672843"/>
                  </a:lnTo>
                </a:path>
                <a:path w="4610100" h="4178935">
                  <a:moveTo>
                    <a:pt x="0" y="2505964"/>
                  </a:moveTo>
                  <a:lnTo>
                    <a:pt x="4610100" y="2505964"/>
                  </a:lnTo>
                </a:path>
                <a:path w="4610100" h="4178935">
                  <a:moveTo>
                    <a:pt x="0" y="3339211"/>
                  </a:moveTo>
                  <a:lnTo>
                    <a:pt x="4610100" y="3339211"/>
                  </a:lnTo>
                </a:path>
                <a:path w="4610100" h="4178935">
                  <a:moveTo>
                    <a:pt x="6350" y="0"/>
                  </a:moveTo>
                  <a:lnTo>
                    <a:pt x="6350" y="4178680"/>
                  </a:lnTo>
                </a:path>
                <a:path w="4610100" h="4178935">
                  <a:moveTo>
                    <a:pt x="4603750" y="0"/>
                  </a:moveTo>
                  <a:lnTo>
                    <a:pt x="4603750" y="4178680"/>
                  </a:lnTo>
                </a:path>
                <a:path w="4610100" h="4178935">
                  <a:moveTo>
                    <a:pt x="0" y="6350"/>
                  </a:moveTo>
                  <a:lnTo>
                    <a:pt x="4610100" y="6350"/>
                  </a:lnTo>
                </a:path>
                <a:path w="4610100" h="4178935">
                  <a:moveTo>
                    <a:pt x="0" y="4172330"/>
                  </a:moveTo>
                  <a:lnTo>
                    <a:pt x="4610100" y="417233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64408" y="1932431"/>
              <a:ext cx="542925" cy="533400"/>
            </a:xfrm>
            <a:custGeom>
              <a:avLst/>
              <a:gdLst/>
              <a:ahLst/>
              <a:cxnLst/>
              <a:rect l="l" t="t" r="r" b="b"/>
              <a:pathLst>
                <a:path w="542925" h="533400">
                  <a:moveTo>
                    <a:pt x="271144" y="0"/>
                  </a:moveTo>
                  <a:lnTo>
                    <a:pt x="222376" y="4317"/>
                  </a:lnTo>
                  <a:lnTo>
                    <a:pt x="176529" y="16637"/>
                  </a:lnTo>
                  <a:lnTo>
                    <a:pt x="134238" y="36448"/>
                  </a:lnTo>
                  <a:lnTo>
                    <a:pt x="96392" y="62737"/>
                  </a:lnTo>
                  <a:lnTo>
                    <a:pt x="63753" y="94868"/>
                  </a:lnTo>
                  <a:lnTo>
                    <a:pt x="36956" y="132079"/>
                  </a:lnTo>
                  <a:lnTo>
                    <a:pt x="17017" y="173608"/>
                  </a:lnTo>
                  <a:lnTo>
                    <a:pt x="4317" y="218693"/>
                  </a:lnTo>
                  <a:lnTo>
                    <a:pt x="0" y="266700"/>
                  </a:lnTo>
                  <a:lnTo>
                    <a:pt x="4317" y="314578"/>
                  </a:lnTo>
                  <a:lnTo>
                    <a:pt x="17017" y="359663"/>
                  </a:lnTo>
                  <a:lnTo>
                    <a:pt x="36956" y="401319"/>
                  </a:lnTo>
                  <a:lnTo>
                    <a:pt x="63753" y="438530"/>
                  </a:lnTo>
                  <a:lnTo>
                    <a:pt x="96392" y="470662"/>
                  </a:lnTo>
                  <a:lnTo>
                    <a:pt x="134238" y="496950"/>
                  </a:lnTo>
                  <a:lnTo>
                    <a:pt x="176529" y="516763"/>
                  </a:lnTo>
                  <a:lnTo>
                    <a:pt x="222376" y="529081"/>
                  </a:lnTo>
                  <a:lnTo>
                    <a:pt x="271144" y="533400"/>
                  </a:lnTo>
                  <a:lnTo>
                    <a:pt x="320039" y="529081"/>
                  </a:lnTo>
                  <a:lnTo>
                    <a:pt x="365887" y="516763"/>
                  </a:lnTo>
                  <a:lnTo>
                    <a:pt x="408177" y="496950"/>
                  </a:lnTo>
                  <a:lnTo>
                    <a:pt x="446024" y="470662"/>
                  </a:lnTo>
                  <a:lnTo>
                    <a:pt x="478789" y="438530"/>
                  </a:lnTo>
                  <a:lnTo>
                    <a:pt x="505459" y="401319"/>
                  </a:lnTo>
                  <a:lnTo>
                    <a:pt x="525526" y="359663"/>
                  </a:lnTo>
                  <a:lnTo>
                    <a:pt x="538226" y="314578"/>
                  </a:lnTo>
                  <a:lnTo>
                    <a:pt x="542543" y="266700"/>
                  </a:lnTo>
                  <a:lnTo>
                    <a:pt x="538226" y="218693"/>
                  </a:lnTo>
                  <a:lnTo>
                    <a:pt x="525526" y="173608"/>
                  </a:lnTo>
                  <a:lnTo>
                    <a:pt x="505459" y="132079"/>
                  </a:lnTo>
                  <a:lnTo>
                    <a:pt x="478789" y="94868"/>
                  </a:lnTo>
                  <a:lnTo>
                    <a:pt x="446024" y="62737"/>
                  </a:lnTo>
                  <a:lnTo>
                    <a:pt x="408177" y="36448"/>
                  </a:lnTo>
                  <a:lnTo>
                    <a:pt x="365887" y="16637"/>
                  </a:lnTo>
                  <a:lnTo>
                    <a:pt x="320039" y="4317"/>
                  </a:lnTo>
                  <a:lnTo>
                    <a:pt x="271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64408" y="1932431"/>
              <a:ext cx="542925" cy="533400"/>
            </a:xfrm>
            <a:custGeom>
              <a:avLst/>
              <a:gdLst/>
              <a:ahLst/>
              <a:cxnLst/>
              <a:rect l="l" t="t" r="r" b="b"/>
              <a:pathLst>
                <a:path w="542925" h="533400">
                  <a:moveTo>
                    <a:pt x="0" y="266700"/>
                  </a:moveTo>
                  <a:lnTo>
                    <a:pt x="4317" y="218693"/>
                  </a:lnTo>
                  <a:lnTo>
                    <a:pt x="17017" y="173608"/>
                  </a:lnTo>
                  <a:lnTo>
                    <a:pt x="36956" y="132079"/>
                  </a:lnTo>
                  <a:lnTo>
                    <a:pt x="63753" y="94868"/>
                  </a:lnTo>
                  <a:lnTo>
                    <a:pt x="96392" y="62737"/>
                  </a:lnTo>
                  <a:lnTo>
                    <a:pt x="134238" y="36448"/>
                  </a:lnTo>
                  <a:lnTo>
                    <a:pt x="176529" y="16637"/>
                  </a:lnTo>
                  <a:lnTo>
                    <a:pt x="222376" y="4317"/>
                  </a:lnTo>
                  <a:lnTo>
                    <a:pt x="271144" y="0"/>
                  </a:lnTo>
                  <a:lnTo>
                    <a:pt x="320039" y="4317"/>
                  </a:lnTo>
                  <a:lnTo>
                    <a:pt x="365887" y="16637"/>
                  </a:lnTo>
                  <a:lnTo>
                    <a:pt x="408177" y="36448"/>
                  </a:lnTo>
                  <a:lnTo>
                    <a:pt x="446024" y="62737"/>
                  </a:lnTo>
                  <a:lnTo>
                    <a:pt x="478789" y="94868"/>
                  </a:lnTo>
                  <a:lnTo>
                    <a:pt x="505459" y="132079"/>
                  </a:lnTo>
                  <a:lnTo>
                    <a:pt x="525526" y="173608"/>
                  </a:lnTo>
                  <a:lnTo>
                    <a:pt x="538226" y="218693"/>
                  </a:lnTo>
                  <a:lnTo>
                    <a:pt x="542543" y="266700"/>
                  </a:lnTo>
                  <a:lnTo>
                    <a:pt x="538226" y="314578"/>
                  </a:lnTo>
                  <a:lnTo>
                    <a:pt x="525526" y="359663"/>
                  </a:lnTo>
                  <a:lnTo>
                    <a:pt x="505459" y="401319"/>
                  </a:lnTo>
                  <a:lnTo>
                    <a:pt x="478789" y="438530"/>
                  </a:lnTo>
                  <a:lnTo>
                    <a:pt x="446024" y="470662"/>
                  </a:lnTo>
                  <a:lnTo>
                    <a:pt x="408177" y="496950"/>
                  </a:lnTo>
                  <a:lnTo>
                    <a:pt x="365887" y="516763"/>
                  </a:lnTo>
                  <a:lnTo>
                    <a:pt x="320039" y="529081"/>
                  </a:lnTo>
                  <a:lnTo>
                    <a:pt x="271144" y="533400"/>
                  </a:lnTo>
                  <a:lnTo>
                    <a:pt x="222376" y="529081"/>
                  </a:lnTo>
                  <a:lnTo>
                    <a:pt x="176529" y="516763"/>
                  </a:lnTo>
                  <a:lnTo>
                    <a:pt x="134238" y="496950"/>
                  </a:lnTo>
                  <a:lnTo>
                    <a:pt x="96392" y="470662"/>
                  </a:lnTo>
                  <a:lnTo>
                    <a:pt x="63753" y="438530"/>
                  </a:lnTo>
                  <a:lnTo>
                    <a:pt x="36956" y="401319"/>
                  </a:lnTo>
                  <a:lnTo>
                    <a:pt x="17017" y="359663"/>
                  </a:lnTo>
                  <a:lnTo>
                    <a:pt x="4317" y="314578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64408" y="2755391"/>
              <a:ext cx="542925" cy="533400"/>
            </a:xfrm>
            <a:custGeom>
              <a:avLst/>
              <a:gdLst/>
              <a:ahLst/>
              <a:cxnLst/>
              <a:rect l="l" t="t" r="r" b="b"/>
              <a:pathLst>
                <a:path w="542925" h="533400">
                  <a:moveTo>
                    <a:pt x="271144" y="0"/>
                  </a:moveTo>
                  <a:lnTo>
                    <a:pt x="222376" y="4318"/>
                  </a:lnTo>
                  <a:lnTo>
                    <a:pt x="176529" y="16637"/>
                  </a:lnTo>
                  <a:lnTo>
                    <a:pt x="134238" y="36449"/>
                  </a:lnTo>
                  <a:lnTo>
                    <a:pt x="96392" y="62737"/>
                  </a:lnTo>
                  <a:lnTo>
                    <a:pt x="63753" y="94869"/>
                  </a:lnTo>
                  <a:lnTo>
                    <a:pt x="36956" y="132080"/>
                  </a:lnTo>
                  <a:lnTo>
                    <a:pt x="17017" y="173609"/>
                  </a:lnTo>
                  <a:lnTo>
                    <a:pt x="4317" y="218694"/>
                  </a:lnTo>
                  <a:lnTo>
                    <a:pt x="0" y="266700"/>
                  </a:lnTo>
                  <a:lnTo>
                    <a:pt x="4317" y="314579"/>
                  </a:lnTo>
                  <a:lnTo>
                    <a:pt x="17017" y="359663"/>
                  </a:lnTo>
                  <a:lnTo>
                    <a:pt x="36956" y="401320"/>
                  </a:lnTo>
                  <a:lnTo>
                    <a:pt x="63753" y="438531"/>
                  </a:lnTo>
                  <a:lnTo>
                    <a:pt x="96392" y="470662"/>
                  </a:lnTo>
                  <a:lnTo>
                    <a:pt x="134238" y="496950"/>
                  </a:lnTo>
                  <a:lnTo>
                    <a:pt x="176529" y="516763"/>
                  </a:lnTo>
                  <a:lnTo>
                    <a:pt x="222376" y="529082"/>
                  </a:lnTo>
                  <a:lnTo>
                    <a:pt x="271144" y="533400"/>
                  </a:lnTo>
                  <a:lnTo>
                    <a:pt x="320039" y="529082"/>
                  </a:lnTo>
                  <a:lnTo>
                    <a:pt x="365887" y="516763"/>
                  </a:lnTo>
                  <a:lnTo>
                    <a:pt x="408177" y="496950"/>
                  </a:lnTo>
                  <a:lnTo>
                    <a:pt x="446024" y="470662"/>
                  </a:lnTo>
                  <a:lnTo>
                    <a:pt x="478789" y="438531"/>
                  </a:lnTo>
                  <a:lnTo>
                    <a:pt x="505459" y="401320"/>
                  </a:lnTo>
                  <a:lnTo>
                    <a:pt x="525526" y="359663"/>
                  </a:lnTo>
                  <a:lnTo>
                    <a:pt x="538226" y="314579"/>
                  </a:lnTo>
                  <a:lnTo>
                    <a:pt x="542543" y="266700"/>
                  </a:lnTo>
                  <a:lnTo>
                    <a:pt x="538226" y="218694"/>
                  </a:lnTo>
                  <a:lnTo>
                    <a:pt x="525526" y="173609"/>
                  </a:lnTo>
                  <a:lnTo>
                    <a:pt x="505459" y="132080"/>
                  </a:lnTo>
                  <a:lnTo>
                    <a:pt x="478789" y="94869"/>
                  </a:lnTo>
                  <a:lnTo>
                    <a:pt x="446024" y="62737"/>
                  </a:lnTo>
                  <a:lnTo>
                    <a:pt x="408177" y="36449"/>
                  </a:lnTo>
                  <a:lnTo>
                    <a:pt x="365887" y="16637"/>
                  </a:lnTo>
                  <a:lnTo>
                    <a:pt x="320039" y="4318"/>
                  </a:lnTo>
                  <a:lnTo>
                    <a:pt x="271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264408" y="2755391"/>
              <a:ext cx="542925" cy="533400"/>
            </a:xfrm>
            <a:custGeom>
              <a:avLst/>
              <a:gdLst/>
              <a:ahLst/>
              <a:cxnLst/>
              <a:rect l="l" t="t" r="r" b="b"/>
              <a:pathLst>
                <a:path w="542925" h="533400">
                  <a:moveTo>
                    <a:pt x="271144" y="0"/>
                  </a:moveTo>
                  <a:lnTo>
                    <a:pt x="222376" y="4318"/>
                  </a:lnTo>
                  <a:lnTo>
                    <a:pt x="176529" y="16637"/>
                  </a:lnTo>
                  <a:lnTo>
                    <a:pt x="134238" y="36449"/>
                  </a:lnTo>
                  <a:lnTo>
                    <a:pt x="96392" y="62737"/>
                  </a:lnTo>
                  <a:lnTo>
                    <a:pt x="63753" y="94869"/>
                  </a:lnTo>
                  <a:lnTo>
                    <a:pt x="36956" y="132080"/>
                  </a:lnTo>
                  <a:lnTo>
                    <a:pt x="17017" y="173609"/>
                  </a:lnTo>
                  <a:lnTo>
                    <a:pt x="4317" y="218694"/>
                  </a:lnTo>
                  <a:lnTo>
                    <a:pt x="0" y="266700"/>
                  </a:lnTo>
                  <a:lnTo>
                    <a:pt x="4317" y="314579"/>
                  </a:lnTo>
                  <a:lnTo>
                    <a:pt x="17017" y="359663"/>
                  </a:lnTo>
                  <a:lnTo>
                    <a:pt x="36956" y="401320"/>
                  </a:lnTo>
                  <a:lnTo>
                    <a:pt x="63753" y="438531"/>
                  </a:lnTo>
                  <a:lnTo>
                    <a:pt x="96392" y="470662"/>
                  </a:lnTo>
                  <a:lnTo>
                    <a:pt x="134238" y="496950"/>
                  </a:lnTo>
                  <a:lnTo>
                    <a:pt x="176529" y="516763"/>
                  </a:lnTo>
                  <a:lnTo>
                    <a:pt x="222376" y="529082"/>
                  </a:lnTo>
                  <a:lnTo>
                    <a:pt x="271144" y="533400"/>
                  </a:lnTo>
                  <a:lnTo>
                    <a:pt x="320039" y="529082"/>
                  </a:lnTo>
                  <a:lnTo>
                    <a:pt x="365887" y="516763"/>
                  </a:lnTo>
                  <a:lnTo>
                    <a:pt x="408177" y="496950"/>
                  </a:lnTo>
                  <a:lnTo>
                    <a:pt x="446024" y="470662"/>
                  </a:lnTo>
                  <a:lnTo>
                    <a:pt x="478789" y="438531"/>
                  </a:lnTo>
                  <a:lnTo>
                    <a:pt x="505459" y="401320"/>
                  </a:lnTo>
                  <a:lnTo>
                    <a:pt x="525526" y="359663"/>
                  </a:lnTo>
                  <a:lnTo>
                    <a:pt x="538226" y="314579"/>
                  </a:lnTo>
                  <a:lnTo>
                    <a:pt x="542543" y="266700"/>
                  </a:lnTo>
                  <a:lnTo>
                    <a:pt x="538226" y="218694"/>
                  </a:lnTo>
                  <a:lnTo>
                    <a:pt x="525526" y="173609"/>
                  </a:lnTo>
                  <a:lnTo>
                    <a:pt x="505459" y="132080"/>
                  </a:lnTo>
                  <a:lnTo>
                    <a:pt x="478789" y="94869"/>
                  </a:lnTo>
                  <a:lnTo>
                    <a:pt x="446024" y="62737"/>
                  </a:lnTo>
                  <a:lnTo>
                    <a:pt x="408177" y="36449"/>
                  </a:lnTo>
                  <a:lnTo>
                    <a:pt x="365887" y="16637"/>
                  </a:lnTo>
                  <a:lnTo>
                    <a:pt x="320039" y="4318"/>
                  </a:lnTo>
                  <a:lnTo>
                    <a:pt x="271144" y="0"/>
                  </a:lnTo>
                  <a:close/>
                </a:path>
              </a:pathLst>
            </a:custGeom>
            <a:ln w="952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01111" y="3602736"/>
              <a:ext cx="544195" cy="542925"/>
            </a:xfrm>
            <a:custGeom>
              <a:avLst/>
              <a:gdLst/>
              <a:ahLst/>
              <a:cxnLst/>
              <a:rect l="l" t="t" r="r" b="b"/>
              <a:pathLst>
                <a:path w="544195" h="542925">
                  <a:moveTo>
                    <a:pt x="271906" y="0"/>
                  </a:moveTo>
                  <a:lnTo>
                    <a:pt x="223012" y="4318"/>
                  </a:lnTo>
                  <a:lnTo>
                    <a:pt x="177037" y="17018"/>
                  </a:lnTo>
                  <a:lnTo>
                    <a:pt x="134619" y="36956"/>
                  </a:lnTo>
                  <a:lnTo>
                    <a:pt x="96646" y="63753"/>
                  </a:lnTo>
                  <a:lnTo>
                    <a:pt x="63881" y="96393"/>
                  </a:lnTo>
                  <a:lnTo>
                    <a:pt x="37083" y="134238"/>
                  </a:lnTo>
                  <a:lnTo>
                    <a:pt x="17018" y="176530"/>
                  </a:lnTo>
                  <a:lnTo>
                    <a:pt x="4318" y="222376"/>
                  </a:lnTo>
                  <a:lnTo>
                    <a:pt x="0" y="271144"/>
                  </a:lnTo>
                  <a:lnTo>
                    <a:pt x="4318" y="320039"/>
                  </a:lnTo>
                  <a:lnTo>
                    <a:pt x="17018" y="365887"/>
                  </a:lnTo>
                  <a:lnTo>
                    <a:pt x="37083" y="408177"/>
                  </a:lnTo>
                  <a:lnTo>
                    <a:pt x="63881" y="446024"/>
                  </a:lnTo>
                  <a:lnTo>
                    <a:pt x="96646" y="478789"/>
                  </a:lnTo>
                  <a:lnTo>
                    <a:pt x="134619" y="505459"/>
                  </a:lnTo>
                  <a:lnTo>
                    <a:pt x="177037" y="525526"/>
                  </a:lnTo>
                  <a:lnTo>
                    <a:pt x="223012" y="538226"/>
                  </a:lnTo>
                  <a:lnTo>
                    <a:pt x="271906" y="542544"/>
                  </a:lnTo>
                  <a:lnTo>
                    <a:pt x="320929" y="538226"/>
                  </a:lnTo>
                  <a:lnTo>
                    <a:pt x="366902" y="525526"/>
                  </a:lnTo>
                  <a:lnTo>
                    <a:pt x="409320" y="505459"/>
                  </a:lnTo>
                  <a:lnTo>
                    <a:pt x="447294" y="478789"/>
                  </a:lnTo>
                  <a:lnTo>
                    <a:pt x="480060" y="446024"/>
                  </a:lnTo>
                  <a:lnTo>
                    <a:pt x="506984" y="408177"/>
                  </a:lnTo>
                  <a:lnTo>
                    <a:pt x="527050" y="365887"/>
                  </a:lnTo>
                  <a:lnTo>
                    <a:pt x="539623" y="320039"/>
                  </a:lnTo>
                  <a:lnTo>
                    <a:pt x="544067" y="271144"/>
                  </a:lnTo>
                  <a:lnTo>
                    <a:pt x="539623" y="222376"/>
                  </a:lnTo>
                  <a:lnTo>
                    <a:pt x="527050" y="176530"/>
                  </a:lnTo>
                  <a:lnTo>
                    <a:pt x="506984" y="134238"/>
                  </a:lnTo>
                  <a:lnTo>
                    <a:pt x="480060" y="96393"/>
                  </a:lnTo>
                  <a:lnTo>
                    <a:pt x="447294" y="63753"/>
                  </a:lnTo>
                  <a:lnTo>
                    <a:pt x="409320" y="36956"/>
                  </a:lnTo>
                  <a:lnTo>
                    <a:pt x="366902" y="17018"/>
                  </a:lnTo>
                  <a:lnTo>
                    <a:pt x="320929" y="4318"/>
                  </a:lnTo>
                  <a:lnTo>
                    <a:pt x="271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801111" y="3602736"/>
              <a:ext cx="544195" cy="542925"/>
            </a:xfrm>
            <a:custGeom>
              <a:avLst/>
              <a:gdLst/>
              <a:ahLst/>
              <a:cxnLst/>
              <a:rect l="l" t="t" r="r" b="b"/>
              <a:pathLst>
                <a:path w="544195" h="542925">
                  <a:moveTo>
                    <a:pt x="271906" y="0"/>
                  </a:moveTo>
                  <a:lnTo>
                    <a:pt x="223012" y="4318"/>
                  </a:lnTo>
                  <a:lnTo>
                    <a:pt x="177037" y="17018"/>
                  </a:lnTo>
                  <a:lnTo>
                    <a:pt x="134619" y="36956"/>
                  </a:lnTo>
                  <a:lnTo>
                    <a:pt x="96646" y="63753"/>
                  </a:lnTo>
                  <a:lnTo>
                    <a:pt x="63881" y="96393"/>
                  </a:lnTo>
                  <a:lnTo>
                    <a:pt x="37083" y="134238"/>
                  </a:lnTo>
                  <a:lnTo>
                    <a:pt x="17018" y="176530"/>
                  </a:lnTo>
                  <a:lnTo>
                    <a:pt x="4318" y="222376"/>
                  </a:lnTo>
                  <a:lnTo>
                    <a:pt x="0" y="271144"/>
                  </a:lnTo>
                  <a:lnTo>
                    <a:pt x="4318" y="320039"/>
                  </a:lnTo>
                  <a:lnTo>
                    <a:pt x="17018" y="365887"/>
                  </a:lnTo>
                  <a:lnTo>
                    <a:pt x="37083" y="408177"/>
                  </a:lnTo>
                  <a:lnTo>
                    <a:pt x="63881" y="446024"/>
                  </a:lnTo>
                  <a:lnTo>
                    <a:pt x="96646" y="478789"/>
                  </a:lnTo>
                  <a:lnTo>
                    <a:pt x="134619" y="505459"/>
                  </a:lnTo>
                  <a:lnTo>
                    <a:pt x="177037" y="525526"/>
                  </a:lnTo>
                  <a:lnTo>
                    <a:pt x="223012" y="538226"/>
                  </a:lnTo>
                  <a:lnTo>
                    <a:pt x="271906" y="542544"/>
                  </a:lnTo>
                  <a:lnTo>
                    <a:pt x="320929" y="538226"/>
                  </a:lnTo>
                  <a:lnTo>
                    <a:pt x="366902" y="525526"/>
                  </a:lnTo>
                  <a:lnTo>
                    <a:pt x="409320" y="505459"/>
                  </a:lnTo>
                  <a:lnTo>
                    <a:pt x="447294" y="478789"/>
                  </a:lnTo>
                  <a:lnTo>
                    <a:pt x="480060" y="446024"/>
                  </a:lnTo>
                  <a:lnTo>
                    <a:pt x="506984" y="408177"/>
                  </a:lnTo>
                  <a:lnTo>
                    <a:pt x="527050" y="365887"/>
                  </a:lnTo>
                  <a:lnTo>
                    <a:pt x="539623" y="320039"/>
                  </a:lnTo>
                  <a:lnTo>
                    <a:pt x="544067" y="271144"/>
                  </a:lnTo>
                  <a:lnTo>
                    <a:pt x="539623" y="222376"/>
                  </a:lnTo>
                  <a:lnTo>
                    <a:pt x="527050" y="176530"/>
                  </a:lnTo>
                  <a:lnTo>
                    <a:pt x="506984" y="134238"/>
                  </a:lnTo>
                  <a:lnTo>
                    <a:pt x="480060" y="96393"/>
                  </a:lnTo>
                  <a:lnTo>
                    <a:pt x="447294" y="63753"/>
                  </a:lnTo>
                  <a:lnTo>
                    <a:pt x="409320" y="36956"/>
                  </a:lnTo>
                  <a:lnTo>
                    <a:pt x="366902" y="17018"/>
                  </a:lnTo>
                  <a:lnTo>
                    <a:pt x="320929" y="4318"/>
                  </a:lnTo>
                  <a:lnTo>
                    <a:pt x="271906" y="0"/>
                  </a:lnTo>
                  <a:close/>
                </a:path>
              </a:pathLst>
            </a:custGeom>
            <a:ln w="952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17320" y="3994403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266700" y="0"/>
                  </a:moveTo>
                  <a:lnTo>
                    <a:pt x="218694" y="4318"/>
                  </a:lnTo>
                  <a:lnTo>
                    <a:pt x="173609" y="17018"/>
                  </a:lnTo>
                  <a:lnTo>
                    <a:pt x="132080" y="36957"/>
                  </a:lnTo>
                  <a:lnTo>
                    <a:pt x="94868" y="63754"/>
                  </a:lnTo>
                  <a:lnTo>
                    <a:pt x="62738" y="96393"/>
                  </a:lnTo>
                  <a:lnTo>
                    <a:pt x="36449" y="134239"/>
                  </a:lnTo>
                  <a:lnTo>
                    <a:pt x="16637" y="176530"/>
                  </a:lnTo>
                  <a:lnTo>
                    <a:pt x="4318" y="222377"/>
                  </a:lnTo>
                  <a:lnTo>
                    <a:pt x="0" y="271145"/>
                  </a:lnTo>
                  <a:lnTo>
                    <a:pt x="4318" y="320040"/>
                  </a:lnTo>
                  <a:lnTo>
                    <a:pt x="16637" y="365887"/>
                  </a:lnTo>
                  <a:lnTo>
                    <a:pt x="36449" y="408178"/>
                  </a:lnTo>
                  <a:lnTo>
                    <a:pt x="62738" y="446024"/>
                  </a:lnTo>
                  <a:lnTo>
                    <a:pt x="94868" y="478790"/>
                  </a:lnTo>
                  <a:lnTo>
                    <a:pt x="132080" y="505460"/>
                  </a:lnTo>
                  <a:lnTo>
                    <a:pt x="173609" y="525526"/>
                  </a:lnTo>
                  <a:lnTo>
                    <a:pt x="218694" y="538226"/>
                  </a:lnTo>
                  <a:lnTo>
                    <a:pt x="266700" y="542544"/>
                  </a:lnTo>
                  <a:lnTo>
                    <a:pt x="314579" y="538226"/>
                  </a:lnTo>
                  <a:lnTo>
                    <a:pt x="359663" y="525526"/>
                  </a:lnTo>
                  <a:lnTo>
                    <a:pt x="401319" y="505460"/>
                  </a:lnTo>
                  <a:lnTo>
                    <a:pt x="438531" y="478790"/>
                  </a:lnTo>
                  <a:lnTo>
                    <a:pt x="470662" y="446024"/>
                  </a:lnTo>
                  <a:lnTo>
                    <a:pt x="496950" y="408178"/>
                  </a:lnTo>
                  <a:lnTo>
                    <a:pt x="516763" y="365887"/>
                  </a:lnTo>
                  <a:lnTo>
                    <a:pt x="529082" y="320040"/>
                  </a:lnTo>
                  <a:lnTo>
                    <a:pt x="533400" y="271145"/>
                  </a:lnTo>
                  <a:lnTo>
                    <a:pt x="529082" y="222377"/>
                  </a:lnTo>
                  <a:lnTo>
                    <a:pt x="516763" y="176530"/>
                  </a:lnTo>
                  <a:lnTo>
                    <a:pt x="496950" y="134239"/>
                  </a:lnTo>
                  <a:lnTo>
                    <a:pt x="470662" y="96393"/>
                  </a:lnTo>
                  <a:lnTo>
                    <a:pt x="438531" y="63754"/>
                  </a:lnTo>
                  <a:lnTo>
                    <a:pt x="401319" y="36957"/>
                  </a:lnTo>
                  <a:lnTo>
                    <a:pt x="359663" y="17018"/>
                  </a:lnTo>
                  <a:lnTo>
                    <a:pt x="314579" y="4318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417320" y="3994403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266700" y="0"/>
                  </a:moveTo>
                  <a:lnTo>
                    <a:pt x="218694" y="4318"/>
                  </a:lnTo>
                  <a:lnTo>
                    <a:pt x="173609" y="17018"/>
                  </a:lnTo>
                  <a:lnTo>
                    <a:pt x="132080" y="36957"/>
                  </a:lnTo>
                  <a:lnTo>
                    <a:pt x="94868" y="63754"/>
                  </a:lnTo>
                  <a:lnTo>
                    <a:pt x="62738" y="96393"/>
                  </a:lnTo>
                  <a:lnTo>
                    <a:pt x="36449" y="134239"/>
                  </a:lnTo>
                  <a:lnTo>
                    <a:pt x="16637" y="176530"/>
                  </a:lnTo>
                  <a:lnTo>
                    <a:pt x="4318" y="222377"/>
                  </a:lnTo>
                  <a:lnTo>
                    <a:pt x="0" y="271145"/>
                  </a:lnTo>
                  <a:lnTo>
                    <a:pt x="4318" y="320040"/>
                  </a:lnTo>
                  <a:lnTo>
                    <a:pt x="16637" y="365887"/>
                  </a:lnTo>
                  <a:lnTo>
                    <a:pt x="36449" y="408178"/>
                  </a:lnTo>
                  <a:lnTo>
                    <a:pt x="62738" y="446024"/>
                  </a:lnTo>
                  <a:lnTo>
                    <a:pt x="94868" y="478790"/>
                  </a:lnTo>
                  <a:lnTo>
                    <a:pt x="132080" y="505460"/>
                  </a:lnTo>
                  <a:lnTo>
                    <a:pt x="173609" y="525526"/>
                  </a:lnTo>
                  <a:lnTo>
                    <a:pt x="218694" y="538226"/>
                  </a:lnTo>
                  <a:lnTo>
                    <a:pt x="266700" y="542544"/>
                  </a:lnTo>
                  <a:lnTo>
                    <a:pt x="314579" y="538226"/>
                  </a:lnTo>
                  <a:lnTo>
                    <a:pt x="359663" y="525526"/>
                  </a:lnTo>
                  <a:lnTo>
                    <a:pt x="401319" y="505460"/>
                  </a:lnTo>
                  <a:lnTo>
                    <a:pt x="438531" y="478790"/>
                  </a:lnTo>
                  <a:lnTo>
                    <a:pt x="470662" y="446024"/>
                  </a:lnTo>
                  <a:lnTo>
                    <a:pt x="496950" y="408178"/>
                  </a:lnTo>
                  <a:lnTo>
                    <a:pt x="516763" y="365887"/>
                  </a:lnTo>
                  <a:lnTo>
                    <a:pt x="529082" y="320040"/>
                  </a:lnTo>
                  <a:lnTo>
                    <a:pt x="533400" y="271145"/>
                  </a:lnTo>
                  <a:lnTo>
                    <a:pt x="529082" y="222377"/>
                  </a:lnTo>
                  <a:lnTo>
                    <a:pt x="516763" y="176530"/>
                  </a:lnTo>
                  <a:lnTo>
                    <a:pt x="496950" y="134239"/>
                  </a:lnTo>
                  <a:lnTo>
                    <a:pt x="470662" y="96393"/>
                  </a:lnTo>
                  <a:lnTo>
                    <a:pt x="438531" y="63754"/>
                  </a:lnTo>
                  <a:lnTo>
                    <a:pt x="401319" y="36957"/>
                  </a:lnTo>
                  <a:lnTo>
                    <a:pt x="359663" y="17018"/>
                  </a:lnTo>
                  <a:lnTo>
                    <a:pt x="314579" y="4318"/>
                  </a:lnTo>
                  <a:lnTo>
                    <a:pt x="266700" y="0"/>
                  </a:lnTo>
                  <a:close/>
                </a:path>
              </a:pathLst>
            </a:custGeom>
            <a:ln w="952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18566" y="370738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8566" y="2095245"/>
            <a:ext cx="1162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4837" y="5408472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8566" y="450113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8566" y="2889631"/>
            <a:ext cx="1162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6374" y="1346453"/>
            <a:ext cx="1162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D9D9D9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64178" y="2017267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64178" y="2856103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01136" y="370865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613" y="4100576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43632" y="5856528"/>
            <a:ext cx="653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E7E7E"/>
                </a:solidFill>
                <a:latin typeface="Calibri"/>
                <a:cs typeface="Calibri"/>
              </a:rPr>
              <a:t>Likelihood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07097" y="972769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 b="1">
                <a:latin typeface="Calibri"/>
                <a:cs typeface="Calibri"/>
              </a:rPr>
              <a:t>RISK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91776" y="980948"/>
            <a:ext cx="1031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alibri"/>
                <a:cs typeface="Calibri"/>
              </a:rPr>
              <a:t>MITIGATION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16523" y="1315211"/>
            <a:ext cx="2946400" cy="955675"/>
          </a:xfrm>
          <a:custGeom>
            <a:avLst/>
            <a:gdLst/>
            <a:ahLst/>
            <a:cxnLst/>
            <a:rect l="l" t="t" r="r" b="b"/>
            <a:pathLst>
              <a:path w="2946400" h="955675">
                <a:moveTo>
                  <a:pt x="0" y="955548"/>
                </a:moveTo>
                <a:lnTo>
                  <a:pt x="2945892" y="955548"/>
                </a:lnTo>
                <a:lnTo>
                  <a:pt x="2945892" y="0"/>
                </a:lnTo>
                <a:lnTo>
                  <a:pt x="0" y="0"/>
                </a:lnTo>
                <a:lnTo>
                  <a:pt x="0" y="955548"/>
                </a:lnTo>
                <a:close/>
              </a:path>
            </a:pathLst>
          </a:custGeom>
          <a:ln w="12700">
            <a:solidFill>
              <a:srgbClr val="385622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888606" y="1332103"/>
            <a:ext cx="723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Adaptation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12663" y="1527175"/>
            <a:ext cx="2780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rural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population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limited </a:t>
            </a:r>
            <a:r>
              <a:rPr dirty="0" sz="1200" spc="-25">
                <a:latin typeface="Calibri"/>
                <a:cs typeface="Calibri"/>
              </a:rPr>
              <a:t>experience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12663" y="1892934"/>
            <a:ext cx="2288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result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difficulty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adapting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TBOP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535167" y="1534667"/>
            <a:ext cx="204470" cy="554990"/>
          </a:xfrm>
          <a:custGeom>
            <a:avLst/>
            <a:gdLst/>
            <a:ahLst/>
            <a:cxnLst/>
            <a:rect l="l" t="t" r="r" b="b"/>
            <a:pathLst>
              <a:path w="204470" h="554989">
                <a:moveTo>
                  <a:pt x="204215" y="0"/>
                </a:moveTo>
                <a:lnTo>
                  <a:pt x="0" y="0"/>
                </a:lnTo>
                <a:lnTo>
                  <a:pt x="0" y="554736"/>
                </a:lnTo>
                <a:lnTo>
                  <a:pt x="204215" y="554736"/>
                </a:lnTo>
                <a:lnTo>
                  <a:pt x="2042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589396" y="1481454"/>
            <a:ext cx="3037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9259" sz="4500" spc="-30" b="1">
                <a:solidFill>
                  <a:srgbClr val="385622"/>
                </a:solidFill>
                <a:latin typeface="Calibri"/>
                <a:cs typeface="Calibri"/>
              </a:rPr>
              <a:t>1</a:t>
            </a:r>
            <a:r>
              <a:rPr dirty="0" sz="1200" spc="-20">
                <a:latin typeface="Calibri"/>
                <a:cs typeface="Calibri"/>
              </a:rPr>
              <a:t>technology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fintech platforms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which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might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713476" y="3546347"/>
            <a:ext cx="2964180" cy="1012190"/>
          </a:xfrm>
          <a:custGeom>
            <a:avLst/>
            <a:gdLst/>
            <a:ahLst/>
            <a:cxnLst/>
            <a:rect l="l" t="t" r="r" b="b"/>
            <a:pathLst>
              <a:path w="2964179" h="1012189">
                <a:moveTo>
                  <a:pt x="0" y="1011935"/>
                </a:moveTo>
                <a:lnTo>
                  <a:pt x="2964179" y="1011935"/>
                </a:lnTo>
                <a:lnTo>
                  <a:pt x="2964179" y="0"/>
                </a:lnTo>
                <a:lnTo>
                  <a:pt x="0" y="0"/>
                </a:lnTo>
                <a:lnTo>
                  <a:pt x="0" y="1011935"/>
                </a:lnTo>
                <a:close/>
              </a:path>
            </a:pathLst>
          </a:custGeom>
          <a:ln w="12699">
            <a:solidFill>
              <a:srgbClr val="385622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24144" y="2378964"/>
            <a:ext cx="2944495" cy="1065530"/>
          </a:xfrm>
          <a:custGeom>
            <a:avLst/>
            <a:gdLst/>
            <a:ahLst/>
            <a:cxnLst/>
            <a:rect l="l" t="t" r="r" b="b"/>
            <a:pathLst>
              <a:path w="2944495" h="1065529">
                <a:moveTo>
                  <a:pt x="0" y="1065276"/>
                </a:moveTo>
                <a:lnTo>
                  <a:pt x="2944368" y="1065276"/>
                </a:lnTo>
                <a:lnTo>
                  <a:pt x="2944368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ln w="12700">
            <a:solidFill>
              <a:srgbClr val="385622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003797" y="2452191"/>
            <a:ext cx="2388235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Competitors</a:t>
            </a:r>
            <a:endParaRPr sz="1200">
              <a:latin typeface="Calibri"/>
              <a:cs typeface="Calibri"/>
            </a:endParaRPr>
          </a:p>
          <a:p>
            <a:pPr algn="ctr" marL="12065" marR="5080" indent="-127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provinces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</a:t>
            </a:r>
            <a:r>
              <a:rPr dirty="0" sz="1200" spc="-10">
                <a:latin typeface="Calibri"/>
                <a:cs typeface="Calibri"/>
              </a:rPr>
              <a:t>expanding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might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existing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MFIs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working </a:t>
            </a:r>
            <a:r>
              <a:rPr dirty="0" sz="1200" spc="-10">
                <a:latin typeface="Calibri"/>
                <a:cs typeface="Calibri"/>
              </a:rPr>
              <a:t>relationship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people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542788" y="2650235"/>
            <a:ext cx="302260" cy="553720"/>
          </a:xfrm>
          <a:custGeom>
            <a:avLst/>
            <a:gdLst/>
            <a:ahLst/>
            <a:cxnLst/>
            <a:rect l="l" t="t" r="r" b="b"/>
            <a:pathLst>
              <a:path w="302260" h="553719">
                <a:moveTo>
                  <a:pt x="301751" y="0"/>
                </a:moveTo>
                <a:lnTo>
                  <a:pt x="0" y="0"/>
                </a:lnTo>
                <a:lnTo>
                  <a:pt x="0" y="553212"/>
                </a:lnTo>
                <a:lnTo>
                  <a:pt x="301751" y="553212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621782" y="2658821"/>
            <a:ext cx="21907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385622"/>
                </a:solidFill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695188" y="4677155"/>
            <a:ext cx="2982595" cy="922019"/>
          </a:xfrm>
          <a:custGeom>
            <a:avLst/>
            <a:gdLst/>
            <a:ahLst/>
            <a:cxnLst/>
            <a:rect l="l" t="t" r="r" b="b"/>
            <a:pathLst>
              <a:path w="2982595" h="922020">
                <a:moveTo>
                  <a:pt x="0" y="922020"/>
                </a:moveTo>
                <a:lnTo>
                  <a:pt x="2982467" y="922020"/>
                </a:lnTo>
                <a:lnTo>
                  <a:pt x="2982467" y="0"/>
                </a:lnTo>
                <a:lnTo>
                  <a:pt x="0" y="0"/>
                </a:lnTo>
                <a:lnTo>
                  <a:pt x="0" y="922020"/>
                </a:lnTo>
                <a:close/>
              </a:path>
            </a:pathLst>
          </a:custGeom>
          <a:ln w="12699">
            <a:solidFill>
              <a:srgbClr val="385622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946775" y="3641597"/>
            <a:ext cx="24872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227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Inaccurate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about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ABN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about </a:t>
            </a:r>
            <a:r>
              <a:rPr dirty="0" sz="1200">
                <a:latin typeface="Calibri"/>
                <a:cs typeface="Calibri"/>
              </a:rPr>
              <a:t>ABN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rating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themselves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socially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vulnerable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16878" y="4757673"/>
            <a:ext cx="23571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Contamination</a:t>
            </a:r>
            <a:endParaRPr sz="12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Storing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Subak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contamination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thus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unusable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84919" y="1315211"/>
            <a:ext cx="3154680" cy="95567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4610" rIns="0" bIns="0" rtlCol="0" vert="horz">
            <a:spAutoFit/>
          </a:bodyPr>
          <a:lstStyle/>
          <a:p>
            <a:pPr marL="1089025">
              <a:lnSpc>
                <a:spcPct val="100000"/>
              </a:lnSpc>
              <a:spcBef>
                <a:spcPts val="430"/>
              </a:spcBef>
            </a:pPr>
            <a:r>
              <a:rPr dirty="0" sz="1200" b="1">
                <a:latin typeface="Calibri"/>
                <a:cs typeface="Calibri"/>
              </a:rPr>
              <a:t>Easier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Interface</a:t>
            </a:r>
            <a:endParaRPr sz="1200">
              <a:latin typeface="Calibri"/>
              <a:cs typeface="Calibri"/>
            </a:endParaRPr>
          </a:p>
          <a:p>
            <a:pPr marL="127000" marR="403225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Providing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user-friendly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field </a:t>
            </a:r>
            <a:r>
              <a:rPr dirty="0" sz="1200">
                <a:latin typeface="Calibri"/>
                <a:cs typeface="Calibri"/>
              </a:rPr>
              <a:t>officers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initially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navigate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platform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886443" y="2386583"/>
            <a:ext cx="3150235" cy="105791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295"/>
              </a:spcBef>
            </a:pPr>
            <a:r>
              <a:rPr dirty="0" sz="1200" b="1">
                <a:latin typeface="Calibri"/>
                <a:cs typeface="Calibri"/>
              </a:rPr>
              <a:t>Less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time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 </a:t>
            </a:r>
            <a:r>
              <a:rPr dirty="0" sz="1200" spc="-10" b="1">
                <a:latin typeface="Calibri"/>
                <a:cs typeface="Calibri"/>
              </a:rPr>
              <a:t>Fintech</a:t>
            </a:r>
            <a:endParaRPr sz="1200">
              <a:latin typeface="Calibri"/>
              <a:cs typeface="Calibri"/>
            </a:endParaRPr>
          </a:p>
          <a:p>
            <a:pPr algn="ctr" marL="178435" marR="13716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collaboration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TBOP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loan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simplified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 spc="-10">
                <a:latin typeface="Calibri"/>
                <a:cs typeface="Calibri"/>
              </a:rPr>
              <a:t>differentiation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equitable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10">
                <a:latin typeface="Calibri"/>
                <a:cs typeface="Calibri"/>
              </a:rPr>
              <a:t> distribution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884919" y="4666488"/>
            <a:ext cx="3150235" cy="93281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5880" rIns="0" bIns="0" rtlCol="0" vert="horz">
            <a:spAutoFit/>
          </a:bodyPr>
          <a:lstStyle/>
          <a:p>
            <a:pPr algn="ctr" marL="31115">
              <a:lnSpc>
                <a:spcPct val="100000"/>
              </a:lnSpc>
              <a:spcBef>
                <a:spcPts val="440"/>
              </a:spcBef>
            </a:pPr>
            <a:r>
              <a:rPr dirty="0" sz="1200" spc="-10" b="1">
                <a:latin typeface="Calibri"/>
                <a:cs typeface="Calibri"/>
              </a:rPr>
              <a:t>Rotation </a:t>
            </a:r>
            <a:r>
              <a:rPr dirty="0" sz="1200" b="1">
                <a:latin typeface="Calibri"/>
                <a:cs typeface="Calibri"/>
              </a:rPr>
              <a:t>and </a:t>
            </a:r>
            <a:r>
              <a:rPr dirty="0" sz="1200" spc="-10" b="1">
                <a:latin typeface="Calibri"/>
                <a:cs typeface="Calibri"/>
              </a:rPr>
              <a:t>Treatment</a:t>
            </a:r>
            <a:endParaRPr sz="1200">
              <a:latin typeface="Calibri"/>
              <a:cs typeface="Calibri"/>
            </a:endParaRPr>
          </a:p>
          <a:p>
            <a:pPr algn="ctr" marL="126364" marR="9017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forecast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demand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agricultural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seasons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rotate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supply </a:t>
            </a:r>
            <a:r>
              <a:rPr dirty="0" sz="1200">
                <a:latin typeface="Calibri"/>
                <a:cs typeface="Calibri"/>
              </a:rPr>
              <a:t>every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 months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 </a:t>
            </a:r>
            <a:r>
              <a:rPr dirty="0" sz="1200" spc="-10">
                <a:latin typeface="Calibri"/>
                <a:cs typeface="Calibri"/>
              </a:rPr>
              <a:t>treating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0">
                <a:latin typeface="Calibri"/>
                <a:cs typeface="Calibri"/>
              </a:rPr>
              <a:t> continuously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532120" y="3710940"/>
            <a:ext cx="302260" cy="553720"/>
          </a:xfrm>
          <a:custGeom>
            <a:avLst/>
            <a:gdLst/>
            <a:ahLst/>
            <a:cxnLst/>
            <a:rect l="l" t="t" r="r" b="b"/>
            <a:pathLst>
              <a:path w="302260" h="553720">
                <a:moveTo>
                  <a:pt x="301751" y="0"/>
                </a:moveTo>
                <a:lnTo>
                  <a:pt x="0" y="0"/>
                </a:lnTo>
                <a:lnTo>
                  <a:pt x="0" y="553212"/>
                </a:lnTo>
                <a:lnTo>
                  <a:pt x="301751" y="553212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611748" y="3719829"/>
            <a:ext cx="2190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385622"/>
                </a:solidFill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530596" y="4834128"/>
            <a:ext cx="302260" cy="553720"/>
          </a:xfrm>
          <a:custGeom>
            <a:avLst/>
            <a:gdLst/>
            <a:ahLst/>
            <a:cxnLst/>
            <a:rect l="l" t="t" r="r" b="b"/>
            <a:pathLst>
              <a:path w="302260" h="553720">
                <a:moveTo>
                  <a:pt x="301751" y="0"/>
                </a:moveTo>
                <a:lnTo>
                  <a:pt x="0" y="0"/>
                </a:lnTo>
                <a:lnTo>
                  <a:pt x="0" y="553212"/>
                </a:lnTo>
                <a:lnTo>
                  <a:pt x="301751" y="553212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5610605" y="4842713"/>
            <a:ext cx="21907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385622"/>
                </a:solidFill>
                <a:latin typeface="Calibri"/>
                <a:cs typeface="Calibri"/>
              </a:rPr>
              <a:t>4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897111" y="3549396"/>
            <a:ext cx="3150235" cy="101854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2705" rIns="0" bIns="0" rtlCol="0" vert="horz">
            <a:spAutoFit/>
          </a:bodyPr>
          <a:lstStyle/>
          <a:p>
            <a:pPr marL="161925" marR="160655" indent="60960">
              <a:lnSpc>
                <a:spcPct val="100000"/>
              </a:lnSpc>
              <a:spcBef>
                <a:spcPts val="415"/>
              </a:spcBef>
            </a:pPr>
            <a:r>
              <a:rPr dirty="0" sz="1200" spc="-10" b="1">
                <a:latin typeface="Calibri"/>
                <a:cs typeface="Calibri"/>
              </a:rPr>
              <a:t>Correlation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between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Net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Income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ABN</a:t>
            </a:r>
            <a:r>
              <a:rPr dirty="0" sz="1200" spc="50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ideally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also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resources.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checks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accurate</a:t>
            </a:r>
            <a:endParaRPr sz="1200">
              <a:latin typeface="Calibri"/>
              <a:cs typeface="Calibri"/>
            </a:endParaRPr>
          </a:p>
          <a:p>
            <a:pPr marL="100076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picture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ABN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6" name="object 66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78739" y="457"/>
            <a:ext cx="6940550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Risk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Mitigation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1700" spc="-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dirty="0" sz="1700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7E7E7E"/>
                </a:solidFill>
                <a:latin typeface="Calibri"/>
                <a:cs typeface="Calibri"/>
              </a:rPr>
              <a:t>to-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down</a:t>
            </a:r>
            <a:r>
              <a:rPr dirty="0" sz="1700" spc="-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approach</a:t>
            </a:r>
            <a:r>
              <a:rPr dirty="0" sz="1700" spc="-1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1700" spc="-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identify</a:t>
            </a:r>
            <a:r>
              <a:rPr dirty="0" sz="1700" spc="-3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risks</a:t>
            </a:r>
            <a:r>
              <a:rPr dirty="0" sz="1700" spc="-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700" spc="-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developing</a:t>
            </a:r>
            <a:r>
              <a:rPr dirty="0" sz="1700" spc="-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7E7E7E"/>
                </a:solidFill>
                <a:latin typeface="Calibri"/>
                <a:cs typeface="Calibri"/>
              </a:rPr>
              <a:t>corrective</a:t>
            </a:r>
            <a:r>
              <a:rPr dirty="0" sz="1700" spc="-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Calibri"/>
                <a:cs typeface="Calibri"/>
              </a:rPr>
              <a:t>measures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45083" y="6576161"/>
            <a:ext cx="8140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0" y="6536817"/>
            <a:ext cx="12179300" cy="27305"/>
            <a:chOff x="0" y="6536817"/>
            <a:chExt cx="12179300" cy="27305"/>
          </a:xfrm>
        </p:grpSpPr>
        <p:sp>
          <p:nvSpPr>
            <p:cNvPr id="75" name="object 75"/>
            <p:cNvSpPr/>
            <p:nvPr/>
          </p:nvSpPr>
          <p:spPr>
            <a:xfrm>
              <a:off x="0" y="6536817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87206" y="6546342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40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902954" y="6576161"/>
            <a:ext cx="14001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85622"/>
                </a:solidFill>
                <a:latin typeface="Calibri"/>
                <a:cs typeface="Calibri"/>
              </a:rPr>
              <a:t>RISK</a:t>
            </a:r>
            <a:r>
              <a:rPr dirty="0" sz="1400" spc="-15" b="1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656823" y="6560311"/>
            <a:ext cx="885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dirty="0" spc="-45"/>
              <a:t> </a:t>
            </a:r>
            <a:r>
              <a:rPr dirty="0" spc="-10"/>
              <a:t>Impact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Assessing</a:t>
            </a:r>
            <a:r>
              <a:rPr dirty="0" sz="17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economic</a:t>
            </a: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spc="-10" b="0">
                <a:solidFill>
                  <a:srgbClr val="7E7E7E"/>
                </a:solidFill>
                <a:latin typeface="Calibri"/>
                <a:cs typeface="Calibri"/>
              </a:rPr>
              <a:t>feasibility</a:t>
            </a:r>
            <a:r>
              <a:rPr dirty="0" sz="1700" spc="-5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dirty="0" sz="1700" spc="-1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700" spc="-3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next</a:t>
            </a:r>
            <a:r>
              <a:rPr dirty="0" sz="1700" spc="-4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700" b="0">
                <a:solidFill>
                  <a:srgbClr val="7E7E7E"/>
                </a:solidFill>
                <a:latin typeface="Calibri"/>
                <a:cs typeface="Calibri"/>
              </a:rPr>
              <a:t>5</a:t>
            </a:r>
            <a:r>
              <a:rPr dirty="0" sz="1700" spc="-20" b="0">
                <a:solidFill>
                  <a:srgbClr val="7E7E7E"/>
                </a:solidFill>
                <a:latin typeface="Calibri"/>
                <a:cs typeface="Calibri"/>
              </a:rPr>
              <a:t> year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416" y="941832"/>
            <a:ext cx="3761740" cy="388620"/>
          </a:xfrm>
          <a:prstGeom prst="rect">
            <a:avLst/>
          </a:prstGeom>
          <a:solidFill>
            <a:srgbClr val="385622"/>
          </a:solidFill>
        </p:spPr>
        <p:txBody>
          <a:bodyPr wrap="square" lIns="0" tIns="7620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6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PROJECTED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YEAR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621" y="1661826"/>
            <a:ext cx="2272030" cy="2271395"/>
            <a:chOff x="1600621" y="1661826"/>
            <a:chExt cx="2272030" cy="2271395"/>
          </a:xfrm>
        </p:grpSpPr>
        <p:pic>
          <p:nvPicPr>
            <p:cNvPr id="6" name="object 6" descr="A green circle with a white circle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621" y="1661826"/>
              <a:ext cx="2271622" cy="2271288"/>
            </a:xfrm>
            <a:prstGeom prst="rect">
              <a:avLst/>
            </a:prstGeom>
          </p:spPr>
        </p:pic>
        <p:pic>
          <p:nvPicPr>
            <p:cNvPr id="7" name="object 7" descr="Profile 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9552" y="2383535"/>
              <a:ext cx="432815" cy="432815"/>
            </a:xfrm>
            <a:prstGeom prst="rect">
              <a:avLst/>
            </a:prstGeom>
          </p:spPr>
        </p:pic>
        <p:pic>
          <p:nvPicPr>
            <p:cNvPr id="8" name="object 8" descr="Profits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2508" y="2308859"/>
              <a:ext cx="434339" cy="432815"/>
            </a:xfrm>
            <a:prstGeom prst="rect">
              <a:avLst/>
            </a:prstGeom>
          </p:spPr>
        </p:pic>
        <p:pic>
          <p:nvPicPr>
            <p:cNvPr id="9" name="object 9" descr="Profit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6124" y="3355848"/>
              <a:ext cx="458724" cy="458724"/>
            </a:xfrm>
            <a:prstGeom prst="rect">
              <a:avLst/>
            </a:prstGeom>
          </p:spPr>
        </p:pic>
        <p:pic>
          <p:nvPicPr>
            <p:cNvPr id="10" name="object 10" descr="A target with arrows in it  Description automatically generated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8108" y="2427731"/>
              <a:ext cx="708659" cy="69799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34112" y="1568196"/>
            <a:ext cx="1356360" cy="1643380"/>
            <a:chOff x="134112" y="1568196"/>
            <a:chExt cx="1356360" cy="1643380"/>
          </a:xfrm>
        </p:grpSpPr>
        <p:sp>
          <p:nvSpPr>
            <p:cNvPr id="12" name="object 12"/>
            <p:cNvSpPr/>
            <p:nvPr/>
          </p:nvSpPr>
          <p:spPr>
            <a:xfrm>
              <a:off x="134112" y="1952244"/>
              <a:ext cx="1356360" cy="1259205"/>
            </a:xfrm>
            <a:custGeom>
              <a:avLst/>
              <a:gdLst/>
              <a:ahLst/>
              <a:cxnLst/>
              <a:rect l="l" t="t" r="r" b="b"/>
              <a:pathLst>
                <a:path w="1356360" h="1259205">
                  <a:moveTo>
                    <a:pt x="1356360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356360" y="1258824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628" y="1568196"/>
              <a:ext cx="765175" cy="767080"/>
            </a:xfrm>
            <a:custGeom>
              <a:avLst/>
              <a:gdLst/>
              <a:ahLst/>
              <a:cxnLst/>
              <a:rect l="l" t="t" r="r" b="b"/>
              <a:pathLst>
                <a:path w="765175" h="767080">
                  <a:moveTo>
                    <a:pt x="382524" y="0"/>
                  </a:moveTo>
                  <a:lnTo>
                    <a:pt x="334540" y="2985"/>
                  </a:lnTo>
                  <a:lnTo>
                    <a:pt x="288335" y="11704"/>
                  </a:lnTo>
                  <a:lnTo>
                    <a:pt x="244268" y="25796"/>
                  </a:lnTo>
                  <a:lnTo>
                    <a:pt x="202696" y="44902"/>
                  </a:lnTo>
                  <a:lnTo>
                    <a:pt x="163978" y="68664"/>
                  </a:lnTo>
                  <a:lnTo>
                    <a:pt x="128473" y="96723"/>
                  </a:lnTo>
                  <a:lnTo>
                    <a:pt x="96539" y="128720"/>
                  </a:lnTo>
                  <a:lnTo>
                    <a:pt x="68534" y="164295"/>
                  </a:lnTo>
                  <a:lnTo>
                    <a:pt x="44818" y="203089"/>
                  </a:lnTo>
                  <a:lnTo>
                    <a:pt x="25747" y="244745"/>
                  </a:lnTo>
                  <a:lnTo>
                    <a:pt x="11682" y="288902"/>
                  </a:lnTo>
                  <a:lnTo>
                    <a:pt x="2980" y="335202"/>
                  </a:lnTo>
                  <a:lnTo>
                    <a:pt x="0" y="383286"/>
                  </a:lnTo>
                  <a:lnTo>
                    <a:pt x="2980" y="431369"/>
                  </a:lnTo>
                  <a:lnTo>
                    <a:pt x="11682" y="477669"/>
                  </a:lnTo>
                  <a:lnTo>
                    <a:pt x="25747" y="521826"/>
                  </a:lnTo>
                  <a:lnTo>
                    <a:pt x="44818" y="563482"/>
                  </a:lnTo>
                  <a:lnTo>
                    <a:pt x="68534" y="602276"/>
                  </a:lnTo>
                  <a:lnTo>
                    <a:pt x="96539" y="637851"/>
                  </a:lnTo>
                  <a:lnTo>
                    <a:pt x="128473" y="669848"/>
                  </a:lnTo>
                  <a:lnTo>
                    <a:pt x="163978" y="697907"/>
                  </a:lnTo>
                  <a:lnTo>
                    <a:pt x="202696" y="721669"/>
                  </a:lnTo>
                  <a:lnTo>
                    <a:pt x="244268" y="740775"/>
                  </a:lnTo>
                  <a:lnTo>
                    <a:pt x="288335" y="754867"/>
                  </a:lnTo>
                  <a:lnTo>
                    <a:pt x="334540" y="763586"/>
                  </a:lnTo>
                  <a:lnTo>
                    <a:pt x="382524" y="766571"/>
                  </a:lnTo>
                  <a:lnTo>
                    <a:pt x="430507" y="763586"/>
                  </a:lnTo>
                  <a:lnTo>
                    <a:pt x="476712" y="754867"/>
                  </a:lnTo>
                  <a:lnTo>
                    <a:pt x="520779" y="740775"/>
                  </a:lnTo>
                  <a:lnTo>
                    <a:pt x="562351" y="721669"/>
                  </a:lnTo>
                  <a:lnTo>
                    <a:pt x="601069" y="697907"/>
                  </a:lnTo>
                  <a:lnTo>
                    <a:pt x="636574" y="669848"/>
                  </a:lnTo>
                  <a:lnTo>
                    <a:pt x="668508" y="637851"/>
                  </a:lnTo>
                  <a:lnTo>
                    <a:pt x="696513" y="602276"/>
                  </a:lnTo>
                  <a:lnTo>
                    <a:pt x="720229" y="563482"/>
                  </a:lnTo>
                  <a:lnTo>
                    <a:pt x="739300" y="521826"/>
                  </a:lnTo>
                  <a:lnTo>
                    <a:pt x="753365" y="477669"/>
                  </a:lnTo>
                  <a:lnTo>
                    <a:pt x="762067" y="431369"/>
                  </a:lnTo>
                  <a:lnTo>
                    <a:pt x="765047" y="383286"/>
                  </a:lnTo>
                  <a:lnTo>
                    <a:pt x="762067" y="335202"/>
                  </a:lnTo>
                  <a:lnTo>
                    <a:pt x="753365" y="288902"/>
                  </a:lnTo>
                  <a:lnTo>
                    <a:pt x="739300" y="244745"/>
                  </a:lnTo>
                  <a:lnTo>
                    <a:pt x="720229" y="203089"/>
                  </a:lnTo>
                  <a:lnTo>
                    <a:pt x="696513" y="164295"/>
                  </a:lnTo>
                  <a:lnTo>
                    <a:pt x="668508" y="128720"/>
                  </a:lnTo>
                  <a:lnTo>
                    <a:pt x="636574" y="96723"/>
                  </a:lnTo>
                  <a:lnTo>
                    <a:pt x="601069" y="68664"/>
                  </a:lnTo>
                  <a:lnTo>
                    <a:pt x="562351" y="44902"/>
                  </a:lnTo>
                  <a:lnTo>
                    <a:pt x="520779" y="25796"/>
                  </a:lnTo>
                  <a:lnTo>
                    <a:pt x="476712" y="11704"/>
                  </a:lnTo>
                  <a:lnTo>
                    <a:pt x="430507" y="2985"/>
                  </a:lnTo>
                  <a:lnTo>
                    <a:pt x="382524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64235" y="1786890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4959" y="2441524"/>
            <a:ext cx="1041400" cy="51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572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+2064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latin typeface="Calibri"/>
                <a:cs typeface="Calibri"/>
              </a:rPr>
              <a:t>Users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2028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63495" y="4008120"/>
            <a:ext cx="1355090" cy="1556385"/>
            <a:chOff x="2063495" y="4008120"/>
            <a:chExt cx="1355090" cy="1556385"/>
          </a:xfrm>
        </p:grpSpPr>
        <p:sp>
          <p:nvSpPr>
            <p:cNvPr id="17" name="object 17"/>
            <p:cNvSpPr/>
            <p:nvPr/>
          </p:nvSpPr>
          <p:spPr>
            <a:xfrm>
              <a:off x="2063495" y="4305300"/>
              <a:ext cx="1355090" cy="1259205"/>
            </a:xfrm>
            <a:custGeom>
              <a:avLst/>
              <a:gdLst/>
              <a:ahLst/>
              <a:cxnLst/>
              <a:rect l="l" t="t" r="r" b="b"/>
              <a:pathLst>
                <a:path w="1355089" h="1259204">
                  <a:moveTo>
                    <a:pt x="1354835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354835" y="1258824"/>
                  </a:lnTo>
                  <a:lnTo>
                    <a:pt x="135483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357627" y="4008120"/>
              <a:ext cx="767080" cy="765175"/>
            </a:xfrm>
            <a:custGeom>
              <a:avLst/>
              <a:gdLst/>
              <a:ahLst/>
              <a:cxnLst/>
              <a:rect l="l" t="t" r="r" b="b"/>
              <a:pathLst>
                <a:path w="767080" h="765175">
                  <a:moveTo>
                    <a:pt x="383286" y="0"/>
                  </a:moveTo>
                  <a:lnTo>
                    <a:pt x="335202" y="2981"/>
                  </a:lnTo>
                  <a:lnTo>
                    <a:pt x="288902" y="11686"/>
                  </a:lnTo>
                  <a:lnTo>
                    <a:pt x="244745" y="25755"/>
                  </a:lnTo>
                  <a:lnTo>
                    <a:pt x="203089" y="44830"/>
                  </a:lnTo>
                  <a:lnTo>
                    <a:pt x="164295" y="68552"/>
                  </a:lnTo>
                  <a:lnTo>
                    <a:pt x="128720" y="96561"/>
                  </a:lnTo>
                  <a:lnTo>
                    <a:pt x="96723" y="128499"/>
                  </a:lnTo>
                  <a:lnTo>
                    <a:pt x="68664" y="164006"/>
                  </a:lnTo>
                  <a:lnTo>
                    <a:pt x="44902" y="202724"/>
                  </a:lnTo>
                  <a:lnTo>
                    <a:pt x="25796" y="244294"/>
                  </a:lnTo>
                  <a:lnTo>
                    <a:pt x="11704" y="288356"/>
                  </a:lnTo>
                  <a:lnTo>
                    <a:pt x="2985" y="334553"/>
                  </a:lnTo>
                  <a:lnTo>
                    <a:pt x="0" y="382523"/>
                  </a:lnTo>
                  <a:lnTo>
                    <a:pt x="2985" y="430494"/>
                  </a:lnTo>
                  <a:lnTo>
                    <a:pt x="11704" y="476691"/>
                  </a:lnTo>
                  <a:lnTo>
                    <a:pt x="25796" y="520753"/>
                  </a:lnTo>
                  <a:lnTo>
                    <a:pt x="44902" y="562323"/>
                  </a:lnTo>
                  <a:lnTo>
                    <a:pt x="68664" y="601041"/>
                  </a:lnTo>
                  <a:lnTo>
                    <a:pt x="96723" y="636548"/>
                  </a:lnTo>
                  <a:lnTo>
                    <a:pt x="128720" y="668486"/>
                  </a:lnTo>
                  <a:lnTo>
                    <a:pt x="164295" y="696495"/>
                  </a:lnTo>
                  <a:lnTo>
                    <a:pt x="203089" y="720217"/>
                  </a:lnTo>
                  <a:lnTo>
                    <a:pt x="244745" y="739292"/>
                  </a:lnTo>
                  <a:lnTo>
                    <a:pt x="288902" y="753361"/>
                  </a:lnTo>
                  <a:lnTo>
                    <a:pt x="335202" y="762066"/>
                  </a:lnTo>
                  <a:lnTo>
                    <a:pt x="383286" y="765047"/>
                  </a:lnTo>
                  <a:lnTo>
                    <a:pt x="431369" y="762066"/>
                  </a:lnTo>
                  <a:lnTo>
                    <a:pt x="477669" y="753361"/>
                  </a:lnTo>
                  <a:lnTo>
                    <a:pt x="521826" y="739292"/>
                  </a:lnTo>
                  <a:lnTo>
                    <a:pt x="563482" y="720217"/>
                  </a:lnTo>
                  <a:lnTo>
                    <a:pt x="602276" y="696495"/>
                  </a:lnTo>
                  <a:lnTo>
                    <a:pt x="637851" y="668486"/>
                  </a:lnTo>
                  <a:lnTo>
                    <a:pt x="669848" y="636548"/>
                  </a:lnTo>
                  <a:lnTo>
                    <a:pt x="697907" y="601041"/>
                  </a:lnTo>
                  <a:lnTo>
                    <a:pt x="721669" y="562323"/>
                  </a:lnTo>
                  <a:lnTo>
                    <a:pt x="740775" y="520753"/>
                  </a:lnTo>
                  <a:lnTo>
                    <a:pt x="754867" y="476691"/>
                  </a:lnTo>
                  <a:lnTo>
                    <a:pt x="763586" y="430494"/>
                  </a:lnTo>
                  <a:lnTo>
                    <a:pt x="766572" y="382523"/>
                  </a:lnTo>
                  <a:lnTo>
                    <a:pt x="763586" y="334553"/>
                  </a:lnTo>
                  <a:lnTo>
                    <a:pt x="754867" y="288356"/>
                  </a:lnTo>
                  <a:lnTo>
                    <a:pt x="740775" y="244294"/>
                  </a:lnTo>
                  <a:lnTo>
                    <a:pt x="721669" y="202724"/>
                  </a:lnTo>
                  <a:lnTo>
                    <a:pt x="697907" y="164006"/>
                  </a:lnTo>
                  <a:lnTo>
                    <a:pt x="669848" y="128499"/>
                  </a:lnTo>
                  <a:lnTo>
                    <a:pt x="637851" y="96561"/>
                  </a:lnTo>
                  <a:lnTo>
                    <a:pt x="602276" y="68552"/>
                  </a:lnTo>
                  <a:lnTo>
                    <a:pt x="563482" y="44830"/>
                  </a:lnTo>
                  <a:lnTo>
                    <a:pt x="521826" y="25755"/>
                  </a:lnTo>
                  <a:lnTo>
                    <a:pt x="477669" y="11686"/>
                  </a:lnTo>
                  <a:lnTo>
                    <a:pt x="431369" y="2981"/>
                  </a:lnTo>
                  <a:lnTo>
                    <a:pt x="383286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670429" y="422681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90317" y="4818633"/>
            <a:ext cx="902335" cy="73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+5416.16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Calibri"/>
                <a:cs typeface="Calibri"/>
              </a:rPr>
              <a:t>Net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Profit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in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alibri"/>
                <a:cs typeface="Calibri"/>
              </a:rPr>
              <a:t>FY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28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30396" y="1586483"/>
            <a:ext cx="1356360" cy="1643380"/>
            <a:chOff x="3930396" y="1586483"/>
            <a:chExt cx="1356360" cy="1643380"/>
          </a:xfrm>
        </p:grpSpPr>
        <p:sp>
          <p:nvSpPr>
            <p:cNvPr id="22" name="object 22"/>
            <p:cNvSpPr/>
            <p:nvPr/>
          </p:nvSpPr>
          <p:spPr>
            <a:xfrm>
              <a:off x="3930396" y="1970531"/>
              <a:ext cx="1356360" cy="1259205"/>
            </a:xfrm>
            <a:custGeom>
              <a:avLst/>
              <a:gdLst/>
              <a:ahLst/>
              <a:cxnLst/>
              <a:rect l="l" t="t" r="r" b="b"/>
              <a:pathLst>
                <a:path w="1356360" h="1259205">
                  <a:moveTo>
                    <a:pt x="1356360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356360" y="1258824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50436" y="1586483"/>
              <a:ext cx="767080" cy="767080"/>
            </a:xfrm>
            <a:custGeom>
              <a:avLst/>
              <a:gdLst/>
              <a:ahLst/>
              <a:cxnLst/>
              <a:rect l="l" t="t" r="r" b="b"/>
              <a:pathLst>
                <a:path w="767079" h="767080">
                  <a:moveTo>
                    <a:pt x="383286" y="0"/>
                  </a:moveTo>
                  <a:lnTo>
                    <a:pt x="335202" y="2985"/>
                  </a:lnTo>
                  <a:lnTo>
                    <a:pt x="288902" y="11704"/>
                  </a:lnTo>
                  <a:lnTo>
                    <a:pt x="244745" y="25796"/>
                  </a:lnTo>
                  <a:lnTo>
                    <a:pt x="203089" y="44902"/>
                  </a:lnTo>
                  <a:lnTo>
                    <a:pt x="164295" y="68664"/>
                  </a:lnTo>
                  <a:lnTo>
                    <a:pt x="128720" y="96723"/>
                  </a:lnTo>
                  <a:lnTo>
                    <a:pt x="96723" y="128720"/>
                  </a:lnTo>
                  <a:lnTo>
                    <a:pt x="68664" y="164295"/>
                  </a:lnTo>
                  <a:lnTo>
                    <a:pt x="44902" y="203089"/>
                  </a:lnTo>
                  <a:lnTo>
                    <a:pt x="25796" y="244745"/>
                  </a:lnTo>
                  <a:lnTo>
                    <a:pt x="11704" y="288902"/>
                  </a:lnTo>
                  <a:lnTo>
                    <a:pt x="2985" y="335202"/>
                  </a:lnTo>
                  <a:lnTo>
                    <a:pt x="0" y="383286"/>
                  </a:lnTo>
                  <a:lnTo>
                    <a:pt x="2985" y="431369"/>
                  </a:lnTo>
                  <a:lnTo>
                    <a:pt x="11704" y="477669"/>
                  </a:lnTo>
                  <a:lnTo>
                    <a:pt x="25796" y="521826"/>
                  </a:lnTo>
                  <a:lnTo>
                    <a:pt x="44902" y="563482"/>
                  </a:lnTo>
                  <a:lnTo>
                    <a:pt x="68664" y="602276"/>
                  </a:lnTo>
                  <a:lnTo>
                    <a:pt x="96723" y="637851"/>
                  </a:lnTo>
                  <a:lnTo>
                    <a:pt x="128720" y="669848"/>
                  </a:lnTo>
                  <a:lnTo>
                    <a:pt x="164295" y="697907"/>
                  </a:lnTo>
                  <a:lnTo>
                    <a:pt x="203089" y="721669"/>
                  </a:lnTo>
                  <a:lnTo>
                    <a:pt x="244745" y="740775"/>
                  </a:lnTo>
                  <a:lnTo>
                    <a:pt x="288902" y="754867"/>
                  </a:lnTo>
                  <a:lnTo>
                    <a:pt x="335202" y="763586"/>
                  </a:lnTo>
                  <a:lnTo>
                    <a:pt x="383286" y="766571"/>
                  </a:lnTo>
                  <a:lnTo>
                    <a:pt x="431369" y="763586"/>
                  </a:lnTo>
                  <a:lnTo>
                    <a:pt x="477669" y="754867"/>
                  </a:lnTo>
                  <a:lnTo>
                    <a:pt x="521826" y="740775"/>
                  </a:lnTo>
                  <a:lnTo>
                    <a:pt x="563482" y="721669"/>
                  </a:lnTo>
                  <a:lnTo>
                    <a:pt x="602276" y="697907"/>
                  </a:lnTo>
                  <a:lnTo>
                    <a:pt x="637851" y="669848"/>
                  </a:lnTo>
                  <a:lnTo>
                    <a:pt x="669848" y="637851"/>
                  </a:lnTo>
                  <a:lnTo>
                    <a:pt x="697907" y="602276"/>
                  </a:lnTo>
                  <a:lnTo>
                    <a:pt x="721669" y="563482"/>
                  </a:lnTo>
                  <a:lnTo>
                    <a:pt x="740775" y="521826"/>
                  </a:lnTo>
                  <a:lnTo>
                    <a:pt x="754867" y="477669"/>
                  </a:lnTo>
                  <a:lnTo>
                    <a:pt x="763586" y="431369"/>
                  </a:lnTo>
                  <a:lnTo>
                    <a:pt x="766572" y="383286"/>
                  </a:lnTo>
                  <a:lnTo>
                    <a:pt x="763586" y="335202"/>
                  </a:lnTo>
                  <a:lnTo>
                    <a:pt x="754867" y="288902"/>
                  </a:lnTo>
                  <a:lnTo>
                    <a:pt x="740775" y="244745"/>
                  </a:lnTo>
                  <a:lnTo>
                    <a:pt x="721669" y="203089"/>
                  </a:lnTo>
                  <a:lnTo>
                    <a:pt x="697907" y="164295"/>
                  </a:lnTo>
                  <a:lnTo>
                    <a:pt x="669848" y="128720"/>
                  </a:lnTo>
                  <a:lnTo>
                    <a:pt x="637851" y="96723"/>
                  </a:lnTo>
                  <a:lnTo>
                    <a:pt x="602276" y="68664"/>
                  </a:lnTo>
                  <a:lnTo>
                    <a:pt x="563482" y="44902"/>
                  </a:lnTo>
                  <a:lnTo>
                    <a:pt x="521826" y="25796"/>
                  </a:lnTo>
                  <a:lnTo>
                    <a:pt x="477669" y="11704"/>
                  </a:lnTo>
                  <a:lnTo>
                    <a:pt x="431369" y="2985"/>
                  </a:lnTo>
                  <a:lnTo>
                    <a:pt x="383286" y="0"/>
                  </a:lnTo>
                  <a:close/>
                </a:path>
              </a:pathLst>
            </a:custGeom>
            <a:solidFill>
              <a:srgbClr val="6390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563617" y="1805178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11244" y="2542794"/>
            <a:ext cx="993775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20.95%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Calibri"/>
                <a:cs typeface="Calibri"/>
              </a:rPr>
              <a:t>CAGR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(24-</a:t>
            </a:r>
            <a:r>
              <a:rPr dirty="0" sz="1400" spc="-25">
                <a:latin typeface="Calibri"/>
                <a:cs typeface="Calibri"/>
              </a:rPr>
              <a:t>28)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265866" y="850582"/>
            <a:ext cx="7800975" cy="5318760"/>
            <a:chOff x="4265866" y="850582"/>
            <a:chExt cx="7800975" cy="5318760"/>
          </a:xfrm>
        </p:grpSpPr>
        <p:pic>
          <p:nvPicPr>
            <p:cNvPr id="27" name="object 27" descr="A graph of a client base  Description automatically generated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4343" y="1130693"/>
              <a:ext cx="3579561" cy="20943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6363" y="3966971"/>
              <a:ext cx="3493008" cy="2004060"/>
            </a:xfrm>
            <a:prstGeom prst="rect">
              <a:avLst/>
            </a:prstGeom>
          </p:spPr>
        </p:pic>
        <p:pic>
          <p:nvPicPr>
            <p:cNvPr id="29" name="object 29" descr="A green line graph with numbers  Description automatically generated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77361" y="3996661"/>
              <a:ext cx="3540383" cy="19595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80153" y="864869"/>
              <a:ext cx="7772400" cy="5290185"/>
            </a:xfrm>
            <a:custGeom>
              <a:avLst/>
              <a:gdLst/>
              <a:ahLst/>
              <a:cxnLst/>
              <a:rect l="l" t="t" r="r" b="b"/>
              <a:pathLst>
                <a:path w="7772400" h="5290185">
                  <a:moveTo>
                    <a:pt x="1906524" y="2566416"/>
                  </a:moveTo>
                  <a:lnTo>
                    <a:pt x="6120384" y="2566416"/>
                  </a:lnTo>
                  <a:lnTo>
                    <a:pt x="6120384" y="0"/>
                  </a:lnTo>
                  <a:lnTo>
                    <a:pt x="1906524" y="0"/>
                  </a:lnTo>
                  <a:lnTo>
                    <a:pt x="1906524" y="2566416"/>
                  </a:lnTo>
                  <a:close/>
                </a:path>
                <a:path w="7772400" h="5290185">
                  <a:moveTo>
                    <a:pt x="0" y="5289804"/>
                  </a:moveTo>
                  <a:lnTo>
                    <a:pt x="3806952" y="5289804"/>
                  </a:lnTo>
                  <a:lnTo>
                    <a:pt x="3806952" y="2947416"/>
                  </a:lnTo>
                  <a:lnTo>
                    <a:pt x="0" y="2947416"/>
                  </a:lnTo>
                  <a:lnTo>
                    <a:pt x="0" y="5289804"/>
                  </a:lnTo>
                  <a:close/>
                </a:path>
                <a:path w="7772400" h="5290185">
                  <a:moveTo>
                    <a:pt x="3963924" y="5289804"/>
                  </a:moveTo>
                  <a:lnTo>
                    <a:pt x="7772400" y="5289804"/>
                  </a:lnTo>
                  <a:lnTo>
                    <a:pt x="7772400" y="2947416"/>
                  </a:lnTo>
                  <a:lnTo>
                    <a:pt x="3963924" y="2947416"/>
                  </a:lnTo>
                  <a:lnTo>
                    <a:pt x="3963924" y="5289804"/>
                  </a:lnTo>
                  <a:close/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145530" y="3431285"/>
              <a:ext cx="4040504" cy="381635"/>
            </a:xfrm>
            <a:custGeom>
              <a:avLst/>
              <a:gdLst/>
              <a:ahLst/>
              <a:cxnLst/>
              <a:rect l="l" t="t" r="r" b="b"/>
              <a:pathLst>
                <a:path w="4040504" h="381635">
                  <a:moveTo>
                    <a:pt x="4040251" y="304927"/>
                  </a:moveTo>
                  <a:lnTo>
                    <a:pt x="4011676" y="304927"/>
                  </a:lnTo>
                  <a:lnTo>
                    <a:pt x="4011676" y="200025"/>
                  </a:lnTo>
                  <a:lnTo>
                    <a:pt x="4011676" y="180975"/>
                  </a:lnTo>
                  <a:lnTo>
                    <a:pt x="2157476" y="180975"/>
                  </a:lnTo>
                  <a:lnTo>
                    <a:pt x="2157476" y="0"/>
                  </a:lnTo>
                  <a:lnTo>
                    <a:pt x="2156841" y="0"/>
                  </a:lnTo>
                  <a:lnTo>
                    <a:pt x="2138426" y="0"/>
                  </a:lnTo>
                  <a:lnTo>
                    <a:pt x="2137791" y="0"/>
                  </a:lnTo>
                  <a:lnTo>
                    <a:pt x="2137791" y="180975"/>
                  </a:lnTo>
                  <a:lnTo>
                    <a:pt x="28575" y="180975"/>
                  </a:lnTo>
                  <a:lnTo>
                    <a:pt x="28575" y="304927"/>
                  </a:lnTo>
                  <a:lnTo>
                    <a:pt x="0" y="304927"/>
                  </a:lnTo>
                  <a:lnTo>
                    <a:pt x="38100" y="381127"/>
                  </a:lnTo>
                  <a:lnTo>
                    <a:pt x="69850" y="317627"/>
                  </a:lnTo>
                  <a:lnTo>
                    <a:pt x="76200" y="304927"/>
                  </a:lnTo>
                  <a:lnTo>
                    <a:pt x="47625" y="304927"/>
                  </a:lnTo>
                  <a:lnTo>
                    <a:pt x="47625" y="200025"/>
                  </a:lnTo>
                  <a:lnTo>
                    <a:pt x="2137791" y="200025"/>
                  </a:lnTo>
                  <a:lnTo>
                    <a:pt x="2157476" y="200025"/>
                  </a:lnTo>
                  <a:lnTo>
                    <a:pt x="3992626" y="200025"/>
                  </a:lnTo>
                  <a:lnTo>
                    <a:pt x="3992626" y="304927"/>
                  </a:lnTo>
                  <a:lnTo>
                    <a:pt x="3964051" y="304927"/>
                  </a:lnTo>
                  <a:lnTo>
                    <a:pt x="4002151" y="381127"/>
                  </a:lnTo>
                  <a:lnTo>
                    <a:pt x="4033901" y="317627"/>
                  </a:lnTo>
                  <a:lnTo>
                    <a:pt x="4040251" y="304927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45083" y="6576161"/>
            <a:ext cx="8140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26767" y="6568237"/>
            <a:ext cx="645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FINTECH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74085" y="6576161"/>
            <a:ext cx="1214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6A6A6"/>
                </a:solidFill>
                <a:latin typeface="Calibri"/>
                <a:cs typeface="Calibri"/>
              </a:rPr>
              <a:t>CREDIT</a:t>
            </a:r>
            <a:r>
              <a:rPr dirty="0" sz="1400" spc="-3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RATINGS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54677" y="6576161"/>
            <a:ext cx="1537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solidFill>
                  <a:srgbClr val="A6A6A6"/>
                </a:solidFill>
                <a:latin typeface="Calibri"/>
                <a:cs typeface="Calibri"/>
              </a:rPr>
              <a:t>ALTERNATE </a:t>
            </a: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LENDING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1117" y="6576161"/>
            <a:ext cx="595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SUBAKS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70038" y="6576161"/>
            <a:ext cx="7181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A6A6A6"/>
                </a:solidFill>
                <a:latin typeface="Calibri"/>
                <a:cs typeface="Calibri"/>
              </a:rPr>
              <a:t>TIMELINE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6529196"/>
            <a:ext cx="12179300" cy="27305"/>
            <a:chOff x="0" y="6529196"/>
            <a:chExt cx="12179300" cy="27305"/>
          </a:xfrm>
        </p:grpSpPr>
        <p:sp>
          <p:nvSpPr>
            <p:cNvPr id="39" name="object 39"/>
            <p:cNvSpPr/>
            <p:nvPr/>
          </p:nvSpPr>
          <p:spPr>
            <a:xfrm>
              <a:off x="0" y="6536816"/>
              <a:ext cx="12179300" cy="19050"/>
            </a:xfrm>
            <a:custGeom>
              <a:avLst/>
              <a:gdLst/>
              <a:ahLst/>
              <a:cxnLst/>
              <a:rect l="l" t="t" r="r" b="b"/>
              <a:pathLst>
                <a:path w="12179300" h="19050">
                  <a:moveTo>
                    <a:pt x="12179046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2179046" y="19049"/>
                  </a:lnTo>
                  <a:lnTo>
                    <a:pt x="1217904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479785" y="6538721"/>
              <a:ext cx="1272540" cy="8255"/>
            </a:xfrm>
            <a:custGeom>
              <a:avLst/>
              <a:gdLst/>
              <a:ahLst/>
              <a:cxnLst/>
              <a:rect l="l" t="t" r="r" b="b"/>
              <a:pathLst>
                <a:path w="1272540" h="8254">
                  <a:moveTo>
                    <a:pt x="0" y="0"/>
                  </a:moveTo>
                  <a:lnTo>
                    <a:pt x="1272413" y="7835"/>
                  </a:lnTo>
                </a:path>
              </a:pathLst>
            </a:custGeom>
            <a:ln w="1905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902954" y="6576161"/>
            <a:ext cx="1355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A4A4A4"/>
                </a:solidFill>
                <a:latin typeface="Calibri"/>
                <a:cs typeface="Calibri"/>
              </a:rPr>
              <a:t>RISK</a:t>
            </a:r>
            <a:r>
              <a:rPr dirty="0" sz="1400" spc="-4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4A4A4"/>
                </a:solidFill>
                <a:latin typeface="Calibri"/>
                <a:cs typeface="Calibri"/>
              </a:rPr>
              <a:t>MITIGATIONS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680954" y="6576161"/>
            <a:ext cx="9067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85622"/>
                </a:solidFill>
                <a:latin typeface="Calibri"/>
                <a:cs typeface="Calibri"/>
              </a:rPr>
              <a:t>FINANCIALS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27652" y="2417445"/>
            <a:ext cx="353822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FFFF"/>
                </a:solidFill>
              </a:rPr>
              <a:t>Thank</a:t>
            </a:r>
            <a:r>
              <a:rPr dirty="0" sz="6000" spc="-160">
                <a:solidFill>
                  <a:srgbClr val="FFFFFF"/>
                </a:solidFill>
              </a:rPr>
              <a:t> </a:t>
            </a:r>
            <a:r>
              <a:rPr dirty="0" sz="6000" spc="-75">
                <a:solidFill>
                  <a:srgbClr val="FFFFFF"/>
                </a:solidFill>
              </a:rPr>
              <a:t>You!</a:t>
            </a:r>
            <a:endParaRPr sz="6000"/>
          </a:p>
        </p:txBody>
      </p:sp>
      <p:sp>
        <p:nvSpPr>
          <p:cNvPr id="3" name="object 3"/>
          <p:cNvSpPr/>
          <p:nvPr/>
        </p:nvSpPr>
        <p:spPr>
          <a:xfrm>
            <a:off x="2851404" y="3448811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204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3"/>
            <a:ext cx="12192000" cy="6841490"/>
          </a:xfrm>
          <a:custGeom>
            <a:avLst/>
            <a:gdLst/>
            <a:ahLst/>
            <a:cxnLst/>
            <a:rect l="l" t="t" r="r" b="b"/>
            <a:pathLst>
              <a:path w="12192000" h="6841490">
                <a:moveTo>
                  <a:pt x="12192000" y="0"/>
                </a:moveTo>
                <a:lnTo>
                  <a:pt x="0" y="0"/>
                </a:lnTo>
                <a:lnTo>
                  <a:pt x="0" y="6841236"/>
                </a:lnTo>
                <a:lnTo>
                  <a:pt x="12192000" y="68412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385622">
              <a:alpha val="7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55115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FFFFFF"/>
                </a:solidFill>
              </a:rPr>
              <a:t>Appendix</a:t>
            </a:r>
            <a:endParaRPr sz="6000"/>
          </a:p>
        </p:txBody>
      </p:sp>
      <p:sp>
        <p:nvSpPr>
          <p:cNvPr id="4" name="object 4"/>
          <p:cNvSpPr/>
          <p:nvPr/>
        </p:nvSpPr>
        <p:spPr>
          <a:xfrm>
            <a:off x="2851404" y="3448811"/>
            <a:ext cx="6458585" cy="0"/>
          </a:xfrm>
          <a:custGeom>
            <a:avLst/>
            <a:gdLst/>
            <a:ahLst/>
            <a:cxnLst/>
            <a:rect l="l" t="t" r="r" b="b"/>
            <a:pathLst>
              <a:path w="6458584" h="0">
                <a:moveTo>
                  <a:pt x="0" y="0"/>
                </a:moveTo>
                <a:lnTo>
                  <a:pt x="6458204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64307" y="3672585"/>
            <a:ext cx="6123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Assessing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feasibility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FFFFFF"/>
                </a:solidFill>
                <a:latin typeface="Calibri"/>
                <a:cs typeface="Calibri"/>
              </a:rPr>
              <a:t>proposed</a:t>
            </a:r>
            <a:r>
              <a:rPr dirty="0" sz="2400" spc="-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100139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Index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25269" y="1222375"/>
          <a:ext cx="8204200" cy="4017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010"/>
                <a:gridCol w="6396990"/>
              </a:tblGrid>
              <a:tr h="365125"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61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solidFill>
                      <a:srgbClr val="6FAC4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Income</a:t>
                      </a:r>
                      <a:r>
                        <a:rPr dirty="0" u="sng" sz="1800" spc="-8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Expenditure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solidFill>
                      <a:srgbClr val="EBF0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  <a:tc>
                  <a:txBody>
                    <a:bodyPr/>
                    <a:lstStyle/>
                    <a:p>
                      <a:pPr algn="ctr" marR="86486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Overall</a:t>
                      </a:r>
                      <a:r>
                        <a:rPr dirty="0" u="sng" sz="1800" spc="-6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Admin</a:t>
                      </a:r>
                      <a:r>
                        <a:rPr dirty="0" u="sng" sz="18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 </a:t>
                      </a:r>
                      <a:r>
                        <a:rPr dirty="0" u="sng" sz="1800" spc="-2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Cost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</a:tr>
              <a:tr h="370840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86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Java</a:t>
                      </a:r>
                      <a:r>
                        <a:rPr dirty="0" u="sng" sz="1800" spc="-6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and</a:t>
                      </a:r>
                      <a:r>
                        <a:rPr dirty="0" u="sng" sz="1800" spc="-4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Sumatra</a:t>
                      </a:r>
                      <a:r>
                        <a:rPr dirty="0" u="sng" sz="1800" spc="-6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Employee</a:t>
                      </a:r>
                      <a:r>
                        <a:rPr dirty="0" u="sng" sz="18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 </a:t>
                      </a:r>
                      <a:r>
                        <a:rPr dirty="0" u="sng" sz="1800" spc="-2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Cost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solidFill>
                      <a:srgbClr val="EBF0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/>
                </a:tc>
                <a:tc>
                  <a:txBody>
                    <a:bodyPr/>
                    <a:lstStyle/>
                    <a:p>
                      <a:pPr algn="ctr" marR="8686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Cash</a:t>
                      </a:r>
                      <a:r>
                        <a:rPr dirty="0" u="sng" sz="1800" spc="-3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Flow</a:t>
                      </a:r>
                      <a:r>
                        <a:rPr dirty="0" u="sng" sz="1800" spc="-2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and</a:t>
                      </a:r>
                      <a:r>
                        <a:rPr dirty="0" u="sng" sz="1800" spc="-1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NPV</a:t>
                      </a:r>
                      <a:r>
                        <a:rPr dirty="0" u="sng" sz="1800" spc="-2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6" action="ppaction://hlinksldjump"/>
                        </a:rPr>
                        <a:t>Calculation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/>
                </a:tc>
              </a:tr>
              <a:tr h="370840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8044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CAPM</a:t>
                      </a:r>
                      <a:r>
                        <a:rPr dirty="0" u="sng" sz="1800" spc="-5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and</a:t>
                      </a:r>
                      <a:r>
                        <a:rPr dirty="0" u="sng" sz="1800" spc="-3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 </a:t>
                      </a:r>
                      <a:r>
                        <a:rPr dirty="0" u="sng" sz="1800" spc="-2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Terminal</a:t>
                      </a:r>
                      <a:r>
                        <a:rPr dirty="0" u="sng" sz="1800" spc="-5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Value</a:t>
                      </a:r>
                      <a:r>
                        <a:rPr dirty="0" u="sng" sz="1800" spc="-3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7" action="ppaction://hlinksldjump"/>
                        </a:rPr>
                        <a:t>Calculation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solidFill>
                      <a:srgbClr val="EBF0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/>
                </a:tc>
                <a:tc>
                  <a:txBody>
                    <a:bodyPr/>
                    <a:lstStyle/>
                    <a:p>
                      <a:pPr algn="ctr" marR="866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Cash</a:t>
                      </a:r>
                      <a:r>
                        <a:rPr dirty="0" u="sng" sz="1800" spc="-6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Flow</a:t>
                      </a:r>
                      <a:r>
                        <a:rPr dirty="0" u="sng" sz="1800" spc="-5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estimation</a:t>
                      </a:r>
                      <a:r>
                        <a:rPr dirty="0" u="sng" sz="18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without</a:t>
                      </a:r>
                      <a:r>
                        <a:rPr dirty="0" u="sng" sz="1800" spc="-4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8" action="ppaction://hlinksldjump"/>
                        </a:rPr>
                        <a:t>Mitra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/>
                </a:tc>
              </a:tr>
              <a:tr h="370205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86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Employee</a:t>
                      </a:r>
                      <a:r>
                        <a:rPr dirty="0" u="sng" sz="1800" spc="-2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Cost</a:t>
                      </a:r>
                      <a:r>
                        <a:rPr dirty="0" u="sng" sz="18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in</a:t>
                      </a:r>
                      <a:r>
                        <a:rPr dirty="0" u="sng" sz="1800" spc="-2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New</a:t>
                      </a:r>
                      <a:r>
                        <a:rPr dirty="0" u="sng" sz="1800" spc="-3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9" action="ppaction://hlinksldjump"/>
                        </a:rPr>
                        <a:t>Provinces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BF0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Potential</a:t>
                      </a:r>
                      <a:r>
                        <a:rPr dirty="0" u="sng" sz="18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Client</a:t>
                      </a:r>
                      <a:r>
                        <a:rPr dirty="0" u="sng" sz="1800" spc="-3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base</a:t>
                      </a:r>
                      <a:r>
                        <a:rPr dirty="0" u="sng" sz="1800" spc="-5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estimation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</a:tr>
              <a:tr h="370205">
                <a:tc>
                  <a:txBody>
                    <a:bodyPr/>
                    <a:lstStyle/>
                    <a:p>
                      <a:pPr algn="ctr" marR="867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61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1" action="ppaction://hlinksldjump"/>
                        </a:rPr>
                        <a:t>Modern</a:t>
                      </a:r>
                      <a:r>
                        <a:rPr dirty="0" u="sng" sz="1800" spc="-7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1" action="ppaction://hlinksldjump"/>
                        </a:rPr>
                        <a:t> </a:t>
                      </a:r>
                      <a:r>
                        <a:rPr dirty="0" u="sng" sz="18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1" action="ppaction://hlinksldjump"/>
                        </a:rPr>
                        <a:t>Subak</a:t>
                      </a:r>
                      <a:r>
                        <a:rPr dirty="0" u="sng" sz="1800" spc="-6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1" action="ppaction://hlinksldjump"/>
                        </a:rPr>
                        <a:t> </a:t>
                      </a: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1" action="ppaction://hlinksldjump"/>
                        </a:rPr>
                        <a:t>Model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solidFill>
                      <a:srgbClr val="EBF0E9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 marR="867410">
                        <a:lnSpc>
                          <a:spcPts val="2150"/>
                        </a:lnSpc>
                        <a:spcBef>
                          <a:spcPts val="245"/>
                        </a:spcBef>
                      </a:pPr>
                      <a:r>
                        <a:rPr dirty="0" sz="1800" spc="-25" b="1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  <a:tc>
                  <a:txBody>
                    <a:bodyPr/>
                    <a:lstStyle/>
                    <a:p>
                      <a:pPr algn="ctr" marR="867410">
                        <a:lnSpc>
                          <a:spcPts val="2150"/>
                        </a:lnSpc>
                        <a:spcBef>
                          <a:spcPts val="245"/>
                        </a:spcBef>
                      </a:pPr>
                      <a:r>
                        <a:rPr dirty="0" u="sng" sz="18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12" action="ppaction://hlinksldjump"/>
                        </a:rPr>
                        <a:t>Sources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43301" y="5630926"/>
            <a:ext cx="6918325" cy="927100"/>
            <a:chOff x="2543301" y="5630926"/>
            <a:chExt cx="6918325" cy="927100"/>
          </a:xfrm>
        </p:grpSpPr>
        <p:sp>
          <p:nvSpPr>
            <p:cNvPr id="3" name="object 3"/>
            <p:cNvSpPr/>
            <p:nvPr/>
          </p:nvSpPr>
          <p:spPr>
            <a:xfrm>
              <a:off x="2549651" y="5637276"/>
              <a:ext cx="6905625" cy="914400"/>
            </a:xfrm>
            <a:custGeom>
              <a:avLst/>
              <a:gdLst/>
              <a:ahLst/>
              <a:cxnLst/>
              <a:rect l="l" t="t" r="r" b="b"/>
              <a:pathLst>
                <a:path w="6905625" h="914400">
                  <a:moveTo>
                    <a:pt x="6905244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905244" y="914400"/>
                  </a:lnTo>
                  <a:lnTo>
                    <a:pt x="69052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49651" y="5637276"/>
              <a:ext cx="6905625" cy="914400"/>
            </a:xfrm>
            <a:custGeom>
              <a:avLst/>
              <a:gdLst/>
              <a:ahLst/>
              <a:cxnLst/>
              <a:rect l="l" t="t" r="r" b="b"/>
              <a:pathLst>
                <a:path w="6905625" h="914400">
                  <a:moveTo>
                    <a:pt x="0" y="914400"/>
                  </a:moveTo>
                  <a:lnTo>
                    <a:pt x="6905244" y="914400"/>
                  </a:lnTo>
                  <a:lnTo>
                    <a:pt x="690524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Income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Statement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post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effect</a:t>
            </a:r>
            <a:r>
              <a:rPr dirty="0" spc="-3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of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Mitra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Kredit</a:t>
            </a:r>
          </a:p>
        </p:txBody>
      </p:sp>
      <p:pic>
        <p:nvPicPr>
          <p:cNvPr id="7" name="object 7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6171" y="771626"/>
          <a:ext cx="9293225" cy="4352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3710"/>
                <a:gridCol w="821055"/>
                <a:gridCol w="546100"/>
                <a:gridCol w="565785"/>
                <a:gridCol w="535939"/>
                <a:gridCol w="713739"/>
                <a:gridCol w="663575"/>
                <a:gridCol w="713740"/>
                <a:gridCol w="546100"/>
                <a:gridCol w="546100"/>
                <a:gridCol w="544829"/>
              </a:tblGrid>
              <a:tr h="161290">
                <a:tc gridSpan="11">
                  <a:txBody>
                    <a:bodyPr/>
                    <a:lstStyle/>
                    <a:p>
                      <a:pPr algn="ctr" marL="635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KREDIT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290">
                <a:tc gridSpan="11"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Income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1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7432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ESTIMATED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marL="508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080" marR="3175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60"/>
                        </a:lnSpc>
                        <a:spcBef>
                          <a:spcPts val="1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solidFill>
                      <a:srgbClr val="375522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08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Interest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Revenue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1876.00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778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2043.00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2094.00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2143.00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2391.18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3886.02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4870.53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5964.59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7672.51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7145"/>
                </a:tc>
              </a:tr>
              <a:tr h="312420">
                <a:tc>
                  <a:txBody>
                    <a:bodyPr/>
                    <a:lstStyle/>
                    <a:p>
                      <a:pPr marL="5080">
                        <a:lnSpc>
                          <a:spcPts val="1070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Revenue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508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(Donations/Gains)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43.82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45.79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47.92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50.22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52.74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35890"/>
                </a:tc>
              </a:tr>
              <a:tr h="145415">
                <a:tc>
                  <a:txBody>
                    <a:bodyPr/>
                    <a:lstStyle/>
                    <a:p>
                      <a:pPr marL="5080">
                        <a:lnSpc>
                          <a:spcPts val="10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Income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Subak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4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2205.00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2205.00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2205.00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2205.00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2205.00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Revenue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2057.00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1911.00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2094.00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2139.00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2185.00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4640.00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6136.81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7123.46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8219.82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9930.25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costs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1690.00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1649.00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1734.00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2167.04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3496.93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2131.79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2148.96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3066.54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6040"/>
                </a:tc>
              </a:tr>
              <a:tr h="161290">
                <a:tc>
                  <a:txBody>
                    <a:bodyPr/>
                    <a:lstStyle/>
                    <a:p>
                      <a:pPr marL="5080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Administrative</a:t>
                      </a:r>
                      <a:r>
                        <a:rPr dirty="0" sz="10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Expenses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145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140.95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136.94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348.46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364.76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382.55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marL="5080">
                        <a:lnSpc>
                          <a:spcPts val="108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Transport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Communication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89.72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93.76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98.13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102.84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107.98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marL="5080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Provision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for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losses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193.00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145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168.49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273.82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343.19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420.28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540.62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marL="5080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Collaboration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TBOP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8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1247.20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129.51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86.67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90.47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102.16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algn="r" marR="272415">
                        <a:lnSpc>
                          <a:spcPts val="1085"/>
                        </a:lnSpc>
                      </a:pPr>
                      <a:r>
                        <a:rPr dirty="0" sz="1000" spc="-10" i="1">
                          <a:latin typeface="Calibri"/>
                          <a:cs typeface="Calibri"/>
                        </a:rPr>
                        <a:t>Hardware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(devices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each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officer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4.8)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211.99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algn="r" marR="272415">
                        <a:lnSpc>
                          <a:spcPts val="1085"/>
                        </a:lnSpc>
                      </a:pPr>
                      <a:r>
                        <a:rPr dirty="0" sz="1000" spc="-10" i="1">
                          <a:latin typeface="Calibri"/>
                          <a:cs typeface="Calibri"/>
                        </a:rPr>
                        <a:t>Platform</a:t>
                      </a:r>
                      <a:r>
                        <a:rPr dirty="0" sz="1000" spc="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acquisition</a:t>
                      </a:r>
                      <a:r>
                        <a:rPr dirty="0" sz="1000" spc="3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cost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957.88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marL="11430">
                        <a:lnSpc>
                          <a:spcPts val="108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000" spc="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connectivity subscription</a:t>
                      </a:r>
                      <a:r>
                        <a:rPr dirty="0" sz="1000" spc="-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fee</a:t>
                      </a:r>
                      <a:r>
                        <a:rPr dirty="0" sz="1000" spc="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(0.5</a:t>
                      </a:r>
                      <a:r>
                        <a:rPr dirty="0" sz="1000" spc="3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000" spc="-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employee)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77.34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129.51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86.67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90.47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102.16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290">
                <a:tc>
                  <a:txBody>
                    <a:bodyPr/>
                    <a:lstStyle/>
                    <a:p>
                      <a:pPr marL="5080">
                        <a:lnSpc>
                          <a:spcPts val="108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Subak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construction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209.38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23215">
                <a:tc>
                  <a:txBody>
                    <a:bodyPr/>
                    <a:lstStyle/>
                    <a:p>
                      <a:pPr marL="5080">
                        <a:lnSpc>
                          <a:spcPts val="108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Subak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Maintenance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Cost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69.10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69.10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69.10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080">
                        <a:lnSpc>
                          <a:spcPts val="115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expenses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7780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68.00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78.00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81.38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212.60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222.51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233.19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11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244.85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Expenses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1833.00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1959.00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2052.00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2192.00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3894.78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4552.94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3299.84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3429.59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4513.79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marL="5080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Profit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Loss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-200.00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780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135.00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745.22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1583.87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3823.62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4790.23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spcBef>
                          <a:spcPts val="6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5416.46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640457" y="5735218"/>
            <a:ext cx="415353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TBOP</a:t>
            </a:r>
            <a:r>
              <a:rPr dirty="0" sz="1100" spc="3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collaboration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cost</a:t>
            </a:r>
            <a:endParaRPr sz="110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costs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ascertained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 taking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proxy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Artoo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 </a:t>
            </a:r>
            <a:r>
              <a:rPr dirty="0" sz="1100" spc="-10">
                <a:latin typeface="Calibri"/>
                <a:cs typeface="Calibri"/>
              </a:rPr>
              <a:t>study </a:t>
            </a:r>
            <a:r>
              <a:rPr dirty="0" sz="1100">
                <a:latin typeface="Calibri"/>
                <a:cs typeface="Calibri"/>
              </a:rPr>
              <a:t>2015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Ujjiwan,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MFI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collaborated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Artoo,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software 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cloud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storage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digitalise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2780" y="5799226"/>
            <a:ext cx="2370455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  <a:p>
            <a:pPr marL="3175">
              <a:lnSpc>
                <a:spcPct val="100000"/>
              </a:lnSpc>
              <a:spcBef>
                <a:spcPts val="819"/>
              </a:spcBef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https://artoo.com/Accion-Case-Study.pdf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96288" y="1692262"/>
          <a:ext cx="9673590" cy="4474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5630"/>
                <a:gridCol w="855980"/>
                <a:gridCol w="570229"/>
                <a:gridCol w="570229"/>
                <a:gridCol w="570229"/>
                <a:gridCol w="743585"/>
                <a:gridCol w="698500"/>
                <a:gridCol w="744220"/>
                <a:gridCol w="571500"/>
                <a:gridCol w="570865"/>
                <a:gridCol w="568325"/>
              </a:tblGrid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160"/>
                        </a:lnSpc>
                        <a:spcBef>
                          <a:spcPts val="4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solidFill>
                      <a:srgbClr val="375522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00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clients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113.00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109.00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115.00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135.00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144.45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357.06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420.33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581.06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853.67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/>
                </a:tc>
              </a:tr>
              <a:tr h="165735">
                <a:tc>
                  <a:txBody>
                    <a:bodyPr/>
                    <a:lstStyle/>
                    <a:p>
                      <a:pPr algn="r" marR="283210">
                        <a:lnSpc>
                          <a:spcPts val="1100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(Java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Sumatra)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144.45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154.56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166.93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181.95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200.14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448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(South</a:t>
                      </a:r>
                      <a:r>
                        <a:rPr dirty="0" sz="1000" spc="-2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Sulawesi,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Kalimantan,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Nusa)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202.50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253.41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399.11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653.52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Collecting</a:t>
                      </a:r>
                      <a:r>
                        <a:rPr dirty="0" sz="1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interest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102.00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222.66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185.90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120.48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109.30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140.42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321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(Java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Sumatra)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222.66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156.25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90.83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85.58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101.18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4480">
                        <a:lnSpc>
                          <a:spcPts val="1100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(South</a:t>
                      </a:r>
                      <a:r>
                        <a:rPr dirty="0" sz="1000" spc="-2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Sulawesi,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Kalimantan,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Nusa)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29.65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29.65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23.72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39.24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process</a:t>
                      </a:r>
                      <a:r>
                        <a:rPr dirty="0" sz="1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Managing</a:t>
                      </a:r>
                      <a:r>
                        <a:rPr dirty="0" sz="10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clients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1087.00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1257.00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1167.00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1177.00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1219.00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1474.00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2377.03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1307.79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1188.80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1719.24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321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(Java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Sumatra)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1087.00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1257.00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1167.00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1177.00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1219.00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1474.00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718.18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418.13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488.20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572.04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321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(South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Sulawesi,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Kalimantan,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Nusa)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1658.85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889.66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700.60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1147.19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General</a:t>
                      </a:r>
                      <a:r>
                        <a:rPr dirty="0" sz="1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admin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156.00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161.00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165.00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174.00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181.00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218.86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458.51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194.18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176.52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255.28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321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(Java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Sumatra)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174.00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181.00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218.86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106.64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62.08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72.49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84.94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448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(South</a:t>
                      </a:r>
                      <a:r>
                        <a:rPr dirty="0" sz="1000" spc="-2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Sulawesi,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Kalimantan,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Nusa)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351.87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132.10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104.03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170.34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0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Training</a:t>
                      </a:r>
                      <a:r>
                        <a:rPr dirty="0" sz="1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Programme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25.68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33.38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0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321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(Java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Sumatra)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25.68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algn="r" marR="284480">
                        <a:lnSpc>
                          <a:spcPts val="1105"/>
                        </a:lnSpc>
                      </a:pPr>
                      <a:r>
                        <a:rPr dirty="0" sz="1000" i="1">
                          <a:latin typeface="Calibri"/>
                          <a:cs typeface="Calibri"/>
                        </a:rPr>
                        <a:t>(South</a:t>
                      </a:r>
                      <a:r>
                        <a:rPr dirty="0" sz="1000" spc="-2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Sulawesi,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i="1">
                          <a:latin typeface="Calibri"/>
                          <a:cs typeface="Calibri"/>
                        </a:rPr>
                        <a:t>Kalimantan,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i="1">
                          <a:latin typeface="Calibri"/>
                          <a:cs typeface="Calibri"/>
                        </a:rPr>
                        <a:t>Nusa)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33.38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78790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Other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78.00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81.38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85.04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89.00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93.27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97.94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0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costs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1511.00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1690.00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1610.00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1649.00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1734.00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2167.04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3496.93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2131.79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2148.96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3066.54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Utilities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26.00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27.13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28.35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74.17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77.73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81.62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0485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Rent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28.00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34.43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35.98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94.14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98.66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103.59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Storage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filings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16.80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7.20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735">
                <a:tc>
                  <a:txBody>
                    <a:bodyPr/>
                    <a:lstStyle/>
                    <a:p>
                      <a:pPr marL="5715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Insurance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19.00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20.87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21.80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57.05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59.79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0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62.78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46685">
                <a:tc>
                  <a:txBody>
                    <a:bodyPr/>
                    <a:lstStyle/>
                    <a:p>
                      <a:pPr marL="5715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Other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41.73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43.61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114.11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119.58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125.56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5715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Administrative</a:t>
                      </a:r>
                      <a:r>
                        <a:rPr dirty="0" sz="100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expenses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97.00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101.00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121.00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143.00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140.95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136.94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348.46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364.76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382.55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9323" y="39116"/>
            <a:ext cx="53168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Income</a:t>
            </a:r>
            <a:r>
              <a:rPr dirty="0" sz="1800" spc="-6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Statement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post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effect</a:t>
            </a:r>
            <a:r>
              <a:rPr dirty="0" sz="1800" spc="-3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800" spc="-4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Mitra</a:t>
            </a:r>
            <a:r>
              <a:rPr dirty="0" sz="1800" spc="-2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Kredit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46615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7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Income</a:t>
            </a:r>
            <a:r>
              <a:rPr dirty="0" sz="1800" spc="-7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statement</a:t>
            </a:r>
            <a:r>
              <a:rPr dirty="0" sz="1800" spc="-7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before</a:t>
            </a:r>
            <a:r>
              <a:rPr dirty="0" sz="1800" spc="-6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Mitra</a:t>
            </a:r>
            <a:r>
              <a:rPr dirty="0" sz="1800" spc="-2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Kredit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95425" y="1202601"/>
          <a:ext cx="9275445" cy="503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2980"/>
                <a:gridCol w="1510665"/>
                <a:gridCol w="603885"/>
                <a:gridCol w="603885"/>
                <a:gridCol w="603885"/>
                <a:gridCol w="603885"/>
                <a:gridCol w="604520"/>
                <a:gridCol w="603884"/>
                <a:gridCol w="603884"/>
                <a:gridCol w="603884"/>
                <a:gridCol w="601979"/>
              </a:tblGrid>
              <a:tr h="153035">
                <a:tc gridSpan="11"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  <a:spcBef>
                          <a:spcPts val="19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KREDIT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530">
                <a:tc gridSpan="1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Income</a:t>
                      </a:r>
                      <a:r>
                        <a:rPr dirty="0" sz="80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Statement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8905"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91122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375522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Interest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Revenue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2011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1876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2043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2094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2143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2193.147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2244.467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2296.988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2350.738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2405.745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0960"/>
                </a:tc>
              </a:tr>
              <a:tr h="256540">
                <a:tc>
                  <a:txBody>
                    <a:bodyPr/>
                    <a:lstStyle/>
                    <a:p>
                      <a:pPr marL="4445" marR="1489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Revenue</a:t>
                      </a:r>
                      <a:r>
                        <a:rPr dirty="0" sz="8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(Donations/Gains)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46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51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45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42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43.82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45.79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47.92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50.22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52.74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Revenue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2057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1911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2094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2139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2185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2236.965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2290.257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2344.912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2400.962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2458.481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costs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1511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1690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1610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1649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1734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1826.275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1923.459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2025.816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2133.619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2247.16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Administrative</a:t>
                      </a:r>
                      <a:r>
                        <a:rPr dirty="0" sz="80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Expenses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101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143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179.0856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237.6534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334.9244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499.0661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779.0176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Transport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Communication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92.45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99.38375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106.8375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114.8503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123.4641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Provision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losses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101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193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134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151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170.1567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191.7438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216.0695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243.4813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274.3707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</a:tr>
              <a:tr h="128270"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expenses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61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68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89.47059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102.628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117.7204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135.0322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154.8899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8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Expenses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1833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2111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1959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2052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2192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2357.437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2554.868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2801.368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3126.049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3578.902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8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b="1">
                          <a:latin typeface="Calibri"/>
                          <a:cs typeface="Calibri"/>
                        </a:rPr>
                        <a:t>Profit</a:t>
                      </a:r>
                      <a:r>
                        <a:rPr dirty="0" sz="8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b="1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8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 b="1">
                          <a:latin typeface="Calibri"/>
                          <a:cs typeface="Calibri"/>
                        </a:rPr>
                        <a:t>Loss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224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25" b="1">
                          <a:latin typeface="Calibri"/>
                          <a:cs typeface="Calibri"/>
                        </a:rPr>
                        <a:t>200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135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87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50" b="1"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120.472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264.611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456.456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725.087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23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1120.42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clients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113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109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115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135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150.6198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168.0469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187.4904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209.1835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233.3865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Managing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clients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331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401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423.1605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446.5457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471.2232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497.2645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524.7449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Collecting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interest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102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143.5392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170.2769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201.9952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239.6217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284.2571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Loan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8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782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926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791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797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818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839.5533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861.6746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884.3787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907.681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931.5973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General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admin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161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165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181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188.2816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195.8562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203.7354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211.9317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220.4577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4445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Other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81.12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84.3648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87.73939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91.24897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1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94.89893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b="1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8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costs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1511.00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1690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1610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1649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0" b="1">
                          <a:latin typeface="Calibri"/>
                          <a:cs typeface="Calibri"/>
                        </a:rPr>
                        <a:t>1734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1826.275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1923.459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2025.816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2133.619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2247.16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Utilities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29.3913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33.22495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37.55864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42.4576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47.99554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6835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Rent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33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35.12903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37.39542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39.80803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42.37629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45.11024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Storage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filings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Insurance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22.05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23.1525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24.31013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25.52563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4445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Other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23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40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69.56522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120.983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210.4052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365.9221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5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636.3862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Administrative</a:t>
                      </a:r>
                      <a:r>
                        <a:rPr dirty="0" sz="800" spc="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latin typeface="Calibri"/>
                          <a:cs typeface="Calibri"/>
                        </a:rPr>
                        <a:t>expenses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93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97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101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121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25" b="1">
                          <a:latin typeface="Calibri"/>
                          <a:cs typeface="Calibri"/>
                        </a:rPr>
                        <a:t>143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179.0856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237.6534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334.9244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499.0661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00"/>
                        </a:lnSpc>
                        <a:spcBef>
                          <a:spcPts val="19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779.0176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59855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5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Administrative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Expense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Forecast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(Java</a:t>
            </a:r>
            <a:r>
              <a:rPr dirty="0" sz="1800" spc="-2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800" spc="-4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Sumatra)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0666" y="1614932"/>
          <a:ext cx="4648835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000"/>
                <a:gridCol w="762635"/>
                <a:gridCol w="762000"/>
                <a:gridCol w="762000"/>
                <a:gridCol w="761364"/>
              </a:tblGrid>
              <a:tr h="204470">
                <a:tc gridSpan="6">
                  <a:txBody>
                    <a:bodyPr/>
                    <a:lstStyle/>
                    <a:p>
                      <a:pPr marL="11417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r>
                        <a:rPr dirty="0" sz="11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FILINGS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195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24.00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16.80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7.20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09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9.00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09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9.00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09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9.00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10984" y="1614932"/>
          <a:ext cx="4648200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762635"/>
                <a:gridCol w="762000"/>
                <a:gridCol w="762000"/>
                <a:gridCol w="762000"/>
                <a:gridCol w="760729"/>
              </a:tblGrid>
              <a:tr h="204470">
                <a:tc gridSpan="6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195"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33.00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34.43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35.98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94.14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98.66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103.59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0666" y="2562098"/>
          <a:ext cx="4648835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000"/>
                <a:gridCol w="762635"/>
                <a:gridCol w="762000"/>
                <a:gridCol w="762000"/>
                <a:gridCol w="762000"/>
              </a:tblGrid>
              <a:tr h="205104">
                <a:tc gridSpan="6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INSURANCE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20.87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21.80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57.05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59.79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62.78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610984" y="2562098"/>
          <a:ext cx="4648200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762635"/>
                <a:gridCol w="762000"/>
                <a:gridCol w="762000"/>
                <a:gridCol w="762634"/>
                <a:gridCol w="760729"/>
              </a:tblGrid>
              <a:tr h="205104">
                <a:tc gridSpan="6">
                  <a:txBody>
                    <a:bodyPr/>
                    <a:lstStyle/>
                    <a:p>
                      <a:pPr marL="12433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TRAINING</a:t>
                      </a:r>
                      <a:r>
                        <a:rPr dirty="0" sz="11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50673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09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113.63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0609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0666" y="3509136"/>
          <a:ext cx="4648835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000"/>
                <a:gridCol w="762635"/>
                <a:gridCol w="762000"/>
                <a:gridCol w="762000"/>
                <a:gridCol w="762000"/>
              </a:tblGrid>
              <a:tr h="205104">
                <a:tc gridSpan="6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UTILITIES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26.00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27.13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28.35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74.17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77.73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81.62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610984" y="3509136"/>
          <a:ext cx="4648200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762635"/>
                <a:gridCol w="762000"/>
                <a:gridCol w="762000"/>
                <a:gridCol w="762000"/>
                <a:gridCol w="760729"/>
              </a:tblGrid>
              <a:tr h="205104">
                <a:tc gridSpan="6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OTHERS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41.73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43.61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114.11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119.58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125.56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10000" y="4456176"/>
          <a:ext cx="4648200" cy="551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762000"/>
                <a:gridCol w="762000"/>
                <a:gridCol w="762635"/>
                <a:gridCol w="762000"/>
                <a:gridCol w="761364"/>
              </a:tblGrid>
              <a:tr h="205104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INFLATION</a:t>
                      </a:r>
                      <a:r>
                        <a:rPr dirty="0" sz="1100" spc="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0.0433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0.0450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0.0466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0.0480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0.0500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5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Number</a:t>
            </a:r>
            <a:r>
              <a:rPr dirty="0" spc="-5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of</a:t>
            </a:r>
            <a:r>
              <a:rPr dirty="0" spc="-1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Employees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Outreaching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Cost</a:t>
            </a:r>
            <a:r>
              <a:rPr dirty="0" spc="-20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Related</a:t>
            </a:r>
            <a:r>
              <a:rPr dirty="0" spc="-5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to</a:t>
            </a:r>
            <a:r>
              <a:rPr dirty="0" spc="-3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them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Java</a:t>
            </a:r>
            <a:r>
              <a:rPr dirty="0" spc="-2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Sumatra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8010" y="919352"/>
          <a:ext cx="68453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5275"/>
                <a:gridCol w="655320"/>
                <a:gridCol w="655954"/>
                <a:gridCol w="655954"/>
                <a:gridCol w="655320"/>
                <a:gridCol w="655954"/>
                <a:gridCol w="655320"/>
              </a:tblGrid>
              <a:tr h="204470">
                <a:tc gridSpan="7">
                  <a:txBody>
                    <a:bodyPr/>
                    <a:lstStyle/>
                    <a:p>
                      <a:pPr marL="3266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 OF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FIRM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(JAVA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SUMATRA)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7325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350">
                        <a:lnSpc>
                          <a:spcPts val="1245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Collecting</a:t>
                      </a:r>
                      <a:r>
                        <a:rPr dirty="0" sz="11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Interest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Managing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1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1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6690">
                <a:tc>
                  <a:txBody>
                    <a:bodyPr/>
                    <a:lstStyle/>
                    <a:p>
                      <a:pPr marL="6350">
                        <a:lnSpc>
                          <a:spcPts val="1245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General</a:t>
                      </a:r>
                      <a:r>
                        <a:rPr dirty="0" sz="11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Others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8010" y="2679064"/>
          <a:ext cx="3061335" cy="551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0"/>
                <a:gridCol w="788035"/>
              </a:tblGrid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offices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(per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province)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4150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provinces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offices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8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8010" y="3823589"/>
          <a:ext cx="4648835" cy="55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635"/>
                <a:gridCol w="762635"/>
                <a:gridCol w="762634"/>
                <a:gridCol w="763270"/>
                <a:gridCol w="762635"/>
              </a:tblGrid>
              <a:tr h="211454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135.00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144.45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154.56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166.93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181.95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200.14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499602" y="967486"/>
          <a:ext cx="2828925" cy="1289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905"/>
                <a:gridCol w="829309"/>
                <a:gridCol w="647064"/>
                <a:gridCol w="767714"/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27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1776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</a:tr>
              <a:tr h="184150">
                <a:tc>
                  <a:txBody>
                    <a:bodyPr/>
                    <a:lstStyle/>
                    <a:p>
                      <a:pPr algn="ctr" marL="1905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1900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algn="ctr" marL="1905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6690">
                <a:tc>
                  <a:txBody>
                    <a:bodyPr/>
                    <a:lstStyle/>
                    <a:p>
                      <a:pPr algn="ctr" marL="1905">
                        <a:lnSpc>
                          <a:spcPts val="1245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2196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549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6690">
                <a:tc>
                  <a:txBody>
                    <a:bodyPr/>
                    <a:lstStyle/>
                    <a:p>
                      <a:pPr algn="ctr" marL="1905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2394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878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6370">
                <a:tc>
                  <a:txBody>
                    <a:bodyPr/>
                    <a:lstStyle/>
                    <a:p>
                      <a:pPr algn="ctr" marL="1905">
                        <a:lnSpc>
                          <a:spcPts val="121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21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2633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ts val="121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1029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15102" y="2727198"/>
          <a:ext cx="30607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50"/>
                <a:gridCol w="932814"/>
              </a:tblGrid>
              <a:tr h="184150">
                <a:tc>
                  <a:txBody>
                    <a:bodyPr/>
                    <a:lstStyle/>
                    <a:p>
                      <a:pPr marL="133731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1776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036939" y="2727198"/>
          <a:ext cx="27432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2935"/>
                <a:gridCol w="774064"/>
              </a:tblGrid>
              <a:tr h="184150">
                <a:tc>
                  <a:txBody>
                    <a:bodyPr/>
                    <a:lstStyle/>
                    <a:p>
                      <a:pPr marL="117919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7325">
                <a:tc>
                  <a:txBody>
                    <a:bodyPr/>
                    <a:lstStyle/>
                    <a:p>
                      <a:pPr marL="7620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1900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7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515102" y="3791965"/>
          <a:ext cx="3060700" cy="741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685"/>
                <a:gridCol w="932180"/>
              </a:tblGrid>
              <a:tr h="184150">
                <a:tc>
                  <a:txBody>
                    <a:bodyPr/>
                    <a:lstStyle/>
                    <a:p>
                      <a:pPr marL="133667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954769" y="3769359"/>
          <a:ext cx="2825750" cy="775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4210"/>
                <a:gridCol w="815339"/>
              </a:tblGrid>
              <a:tr h="173355">
                <a:tc>
                  <a:txBody>
                    <a:bodyPr/>
                    <a:lstStyle/>
                    <a:p>
                      <a:pPr marL="1219200">
                        <a:lnSpc>
                          <a:spcPts val="127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/>
                </a:tc>
              </a:tr>
              <a:tr h="187325">
                <a:tc>
                  <a:txBody>
                    <a:bodyPr/>
                    <a:lstStyle/>
                    <a:p>
                      <a:pPr marL="7620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2196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515102" y="4701666"/>
          <a:ext cx="3060700" cy="8299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2320"/>
                <a:gridCol w="932815"/>
              </a:tblGrid>
              <a:tr h="228600">
                <a:tc>
                  <a:txBody>
                    <a:bodyPr/>
                    <a:lstStyle/>
                    <a:p>
                      <a:pPr marL="1336675">
                        <a:lnSpc>
                          <a:spcPts val="1280"/>
                        </a:lnSpc>
                        <a:spcBef>
                          <a:spcPts val="42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2394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954769" y="4684776"/>
          <a:ext cx="2768600" cy="83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635"/>
                <a:gridCol w="786764"/>
              </a:tblGrid>
              <a:tr h="228600">
                <a:tc>
                  <a:txBody>
                    <a:bodyPr/>
                    <a:lstStyle/>
                    <a:p>
                      <a:pPr marL="1191260">
                        <a:lnSpc>
                          <a:spcPts val="1280"/>
                        </a:lnSpc>
                        <a:spcBef>
                          <a:spcPts val="42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/>
                </a:tc>
              </a:tr>
              <a:tr h="187325">
                <a:tc>
                  <a:txBody>
                    <a:bodyPr/>
                    <a:lstStyle/>
                    <a:p>
                      <a:pPr marL="7620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2633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488010" y="5117579"/>
            <a:ext cx="4420870" cy="85979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4445" rIns="0" bIns="0" rtlCol="0" vert="horz">
            <a:spAutoFit/>
          </a:bodyPr>
          <a:lstStyle/>
          <a:p>
            <a:pPr algn="just" marL="9525" marR="2540" indent="71120">
              <a:lnSpc>
                <a:spcPts val="1680"/>
              </a:lnSpc>
              <a:spcBef>
                <a:spcPts val="3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number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employees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MFI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have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been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taken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75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year.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future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costs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incurred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depends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>
                <a:latin typeface="Calibri"/>
                <a:cs typeface="Calibri"/>
              </a:rPr>
              <a:t>number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employees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taking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efficiency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employee</a:t>
            </a:r>
            <a:endParaRPr sz="1400">
              <a:latin typeface="Calibri"/>
              <a:cs typeface="Calibri"/>
            </a:endParaRPr>
          </a:p>
          <a:p>
            <a:pPr algn="just" marL="1691005">
              <a:lnSpc>
                <a:spcPts val="1625"/>
              </a:lnSpc>
            </a:pP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constant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8351" y="4720590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Expenditure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related</a:t>
            </a:r>
            <a:r>
              <a:rPr dirty="0" spc="-5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to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collecting</a:t>
            </a:r>
            <a:r>
              <a:rPr dirty="0" spc="-7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interest</a:t>
            </a:r>
            <a:r>
              <a:rPr dirty="0" spc="-7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Java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Sumatra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8010" y="3198495"/>
          <a:ext cx="4648835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635"/>
                <a:gridCol w="762635"/>
                <a:gridCol w="762634"/>
                <a:gridCol w="763270"/>
                <a:gridCol w="762635"/>
              </a:tblGrid>
              <a:tr h="205104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COLLECTING</a:t>
                      </a:r>
                      <a:r>
                        <a:rPr dirty="0" sz="11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INTERESTS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121.00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222.66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156.25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90.83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85.58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101.18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16040" y="1435735"/>
          <a:ext cx="3060700" cy="9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2505"/>
                <a:gridCol w="721994"/>
              </a:tblGrid>
              <a:tr h="184150">
                <a:tc>
                  <a:txBody>
                    <a:bodyPr/>
                    <a:lstStyle/>
                    <a:p>
                      <a:pPr marL="1339215">
                        <a:lnSpc>
                          <a:spcPts val="1285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246107" y="1435735"/>
          <a:ext cx="2743200" cy="9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5025"/>
                <a:gridCol w="562610"/>
              </a:tblGrid>
              <a:tr h="184150">
                <a:tc>
                  <a:txBody>
                    <a:bodyPr/>
                    <a:lstStyle/>
                    <a:p>
                      <a:pPr marL="1181100">
                        <a:lnSpc>
                          <a:spcPts val="1285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7325">
                <a:tc>
                  <a:txBody>
                    <a:bodyPr/>
                    <a:lstStyle/>
                    <a:p>
                      <a:pPr marL="7620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16040" y="2816860"/>
          <a:ext cx="3060700" cy="92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/>
                <a:gridCol w="721360"/>
              </a:tblGrid>
              <a:tr h="184150">
                <a:tc>
                  <a:txBody>
                    <a:bodyPr/>
                    <a:lstStyle/>
                    <a:p>
                      <a:pPr marL="133921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246107" y="2816860"/>
          <a:ext cx="2743200" cy="92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4390"/>
                <a:gridCol w="561975"/>
              </a:tblGrid>
              <a:tr h="190500">
                <a:tc>
                  <a:txBody>
                    <a:bodyPr/>
                    <a:lstStyle/>
                    <a:p>
                      <a:pPr marL="1181100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3515"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549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916040" y="4187316"/>
          <a:ext cx="3060700" cy="92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/>
                <a:gridCol w="721360"/>
              </a:tblGrid>
              <a:tr h="184150">
                <a:tc>
                  <a:txBody>
                    <a:bodyPr/>
                    <a:lstStyle/>
                    <a:p>
                      <a:pPr marL="1339215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246107" y="4187316"/>
          <a:ext cx="2743200" cy="92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755"/>
                <a:gridCol w="562609"/>
              </a:tblGrid>
              <a:tr h="184150">
                <a:tc>
                  <a:txBody>
                    <a:bodyPr/>
                    <a:lstStyle/>
                    <a:p>
                      <a:pPr marL="1181100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84150"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88010" y="4791709"/>
            <a:ext cx="4572635" cy="67691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algn="ctr" marL="34925" marR="28575" indent="1270">
              <a:lnSpc>
                <a:spcPts val="1320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no.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 </a:t>
            </a:r>
            <a:r>
              <a:rPr dirty="0" sz="1100" spc="-10">
                <a:latin typeface="Calibri"/>
                <a:cs typeface="Calibri"/>
              </a:rPr>
              <a:t>subsequently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periods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collaboration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certain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period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won't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switch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cost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depends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on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loans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8351" y="4445584"/>
            <a:ext cx="93154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8010" y="3051682"/>
          <a:ext cx="4648835" cy="55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/>
                <a:gridCol w="762000"/>
                <a:gridCol w="761999"/>
                <a:gridCol w="762000"/>
                <a:gridCol w="762635"/>
                <a:gridCol w="762000"/>
              </a:tblGrid>
              <a:tr h="211454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MANAGING</a:t>
                      </a:r>
                      <a:r>
                        <a:rPr dirty="0" sz="11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29083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1219.00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1474.00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718.18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418.13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488.20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572.04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18150" y="1766061"/>
          <a:ext cx="3060700" cy="92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2505"/>
                <a:gridCol w="721994"/>
              </a:tblGrid>
              <a:tr h="184150">
                <a:tc>
                  <a:txBody>
                    <a:bodyPr/>
                    <a:lstStyle/>
                    <a:p>
                      <a:pPr marL="133921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marL="6985">
                        <a:lnSpc>
                          <a:spcPts val="12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70923" y="1766061"/>
          <a:ext cx="2743200" cy="92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4390"/>
                <a:gridCol w="561975"/>
              </a:tblGrid>
              <a:tr h="184150">
                <a:tc>
                  <a:txBody>
                    <a:bodyPr/>
                    <a:lstStyle/>
                    <a:p>
                      <a:pPr marL="118110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48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marL="6985">
                        <a:lnSpc>
                          <a:spcPts val="12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518150" y="3051682"/>
          <a:ext cx="3060700" cy="9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/>
                <a:gridCol w="721360"/>
              </a:tblGrid>
              <a:tr h="184150">
                <a:tc>
                  <a:txBody>
                    <a:bodyPr/>
                    <a:lstStyle/>
                    <a:p>
                      <a:pPr marL="133985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351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marL="6985">
                        <a:lnSpc>
                          <a:spcPts val="12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70923" y="3045332"/>
          <a:ext cx="2743200" cy="93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4390"/>
                <a:gridCol w="561975"/>
              </a:tblGrid>
              <a:tr h="184150">
                <a:tc>
                  <a:txBody>
                    <a:bodyPr/>
                    <a:lstStyle/>
                    <a:p>
                      <a:pPr marL="118110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18150" y="4165727"/>
          <a:ext cx="3060700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/>
                <a:gridCol w="721360"/>
              </a:tblGrid>
              <a:tr h="184150">
                <a:tc>
                  <a:txBody>
                    <a:bodyPr/>
                    <a:lstStyle/>
                    <a:p>
                      <a:pPr marL="1339215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878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45523" y="4164838"/>
          <a:ext cx="2768600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164"/>
                <a:gridCol w="610869"/>
              </a:tblGrid>
              <a:tr h="184150">
                <a:tc>
                  <a:txBody>
                    <a:bodyPr/>
                    <a:lstStyle/>
                    <a:p>
                      <a:pPr marL="1193165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87325">
                <a:tc>
                  <a:txBody>
                    <a:bodyPr/>
                    <a:lstStyle/>
                    <a:p>
                      <a:pPr marL="7620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1029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154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7620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88010" y="4759833"/>
            <a:ext cx="4572635" cy="67691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algn="ctr" marL="26034" marR="19050" indent="635">
              <a:lnSpc>
                <a:spcPts val="1320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no.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 </a:t>
            </a:r>
            <a:r>
              <a:rPr dirty="0" sz="1100" spc="-10">
                <a:latin typeface="Calibri"/>
                <a:cs typeface="Calibri"/>
              </a:rPr>
              <a:t>subsequently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periods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collaboration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signifcantly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declining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employees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certain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period.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cost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depends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loans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8351" y="4436440"/>
            <a:ext cx="93154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7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Expenditure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related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to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loan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application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process</a:t>
            </a:r>
            <a:r>
              <a:rPr dirty="0" spc="-7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Java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Sumatra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8010" y="2381630"/>
          <a:ext cx="4648835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635"/>
                <a:gridCol w="762635"/>
                <a:gridCol w="762634"/>
                <a:gridCol w="763270"/>
                <a:gridCol w="762635"/>
              </a:tblGrid>
              <a:tr h="211454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GENERAL</a:t>
                      </a:r>
                      <a:r>
                        <a:rPr dirty="0" sz="11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85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189230">
                <a:tc>
                  <a:txBody>
                    <a:bodyPr/>
                    <a:lstStyle/>
                    <a:p>
                      <a:pPr marL="362585">
                        <a:lnSpc>
                          <a:spcPts val="127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181.00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218.86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ts val="127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106.64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62.08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27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72.49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27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84.94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88010" y="3392296"/>
            <a:ext cx="4572635" cy="36957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1607820" marR="23495" indent="-1577975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clients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declining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admin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costs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8351" y="3031616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56478" y="1751457"/>
          <a:ext cx="3060700" cy="93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2505"/>
                <a:gridCol w="721994"/>
              </a:tblGrid>
              <a:tr h="190500">
                <a:tc>
                  <a:txBody>
                    <a:bodyPr/>
                    <a:lstStyle/>
                    <a:p>
                      <a:pPr marL="1339215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70923" y="1751457"/>
          <a:ext cx="2743200" cy="93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4390"/>
                <a:gridCol w="561975"/>
              </a:tblGrid>
              <a:tr h="190500">
                <a:tc>
                  <a:txBody>
                    <a:bodyPr/>
                    <a:lstStyle/>
                    <a:p>
                      <a:pPr marL="118110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56478" y="3210305"/>
          <a:ext cx="3060700" cy="931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/>
                <a:gridCol w="721360"/>
              </a:tblGrid>
              <a:tr h="190500">
                <a:tc>
                  <a:txBody>
                    <a:bodyPr/>
                    <a:lstStyle/>
                    <a:p>
                      <a:pPr marL="1339215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70923" y="3197732"/>
          <a:ext cx="2743200" cy="931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4390"/>
                <a:gridCol w="562610"/>
              </a:tblGrid>
              <a:tr h="190500">
                <a:tc>
                  <a:txBody>
                    <a:bodyPr/>
                    <a:lstStyle/>
                    <a:p>
                      <a:pPr marL="1181735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50" b="1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856478" y="4444365"/>
          <a:ext cx="3060700" cy="931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/>
                <a:gridCol w="720725"/>
              </a:tblGrid>
              <a:tr h="190500">
                <a:tc>
                  <a:txBody>
                    <a:bodyPr/>
                    <a:lstStyle/>
                    <a:p>
                      <a:pPr marL="1339215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5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5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878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170923" y="4300728"/>
          <a:ext cx="2743200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8195"/>
                <a:gridCol w="598805"/>
              </a:tblGrid>
              <a:tr h="190500">
                <a:tc>
                  <a:txBody>
                    <a:bodyPr/>
                    <a:lstStyle/>
                    <a:p>
                      <a:pPr marL="1181735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1029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154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88010" y="4529073"/>
          <a:ext cx="4648200" cy="55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635"/>
                <a:gridCol w="762635"/>
                <a:gridCol w="762634"/>
                <a:gridCol w="763270"/>
                <a:gridCol w="762635"/>
              </a:tblGrid>
              <a:tr h="190500">
                <a:tc gridSpan="6">
                  <a:txBody>
                    <a:bodyPr/>
                    <a:lstStyle/>
                    <a:p>
                      <a:pPr algn="ctr" marL="635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OTHERS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61925">
                <a:tc>
                  <a:txBody>
                    <a:bodyPr/>
                    <a:lstStyle/>
                    <a:p>
                      <a:pPr marL="43434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78.00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81.38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85.04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89.00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93.27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434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97.94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88010" y="5921489"/>
            <a:ext cx="4572635" cy="34163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821690" marR="45720" indent="-770255">
              <a:lnSpc>
                <a:spcPts val="1320"/>
              </a:lnSpc>
              <a:spcBef>
                <a:spcPts val="35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employees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 firm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total </a:t>
            </a:r>
            <a:r>
              <a:rPr dirty="0" sz="1100">
                <a:latin typeface="Calibri"/>
                <a:cs typeface="Calibri"/>
              </a:rPr>
              <a:t>cost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assumed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inflation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08351" y="5569102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Expenditure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related</a:t>
            </a:r>
            <a:r>
              <a:rPr dirty="0" spc="-5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to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general</a:t>
            </a:r>
            <a:r>
              <a:rPr dirty="0" spc="-5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admin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others</a:t>
            </a:r>
            <a:r>
              <a:rPr dirty="0" spc="-6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Java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Sumatra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36982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6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NPV</a:t>
            </a:r>
            <a:r>
              <a:rPr dirty="0" sz="1800" spc="-1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calculations</a:t>
            </a:r>
            <a:r>
              <a:rPr dirty="0" sz="1800" spc="-6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dirty="0" sz="1800" spc="-4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Mitra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17650" y="3911853"/>
            <a:ext cx="9156700" cy="0"/>
          </a:xfrm>
          <a:custGeom>
            <a:avLst/>
            <a:gdLst/>
            <a:ahLst/>
            <a:cxnLst/>
            <a:rect l="l" t="t" r="r" b="b"/>
            <a:pathLst>
              <a:path w="9156700" h="0">
                <a:moveTo>
                  <a:pt x="0" y="0"/>
                </a:moveTo>
                <a:lnTo>
                  <a:pt x="9156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11300" y="635440"/>
          <a:ext cx="9245600" cy="3648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0"/>
                <a:gridCol w="838200"/>
                <a:gridCol w="622300"/>
                <a:gridCol w="622300"/>
                <a:gridCol w="850900"/>
                <a:gridCol w="838200"/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6850"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1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85"/>
                        </a:lnSpc>
                        <a:spcBef>
                          <a:spcPts val="1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85"/>
                        </a:lnSpc>
                        <a:spcBef>
                          <a:spcPts val="1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85"/>
                        </a:lnSpc>
                        <a:spcBef>
                          <a:spcPts val="1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85"/>
                        </a:lnSpc>
                        <a:spcBef>
                          <a:spcPts val="1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85"/>
                        </a:lnSpc>
                        <a:spcBef>
                          <a:spcPts val="1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Interest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Income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Earned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3695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Kredit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4596.18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6091.02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7075.53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8169.59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9877.51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11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Flows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Lending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4596.18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6091.02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7075.53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8169.59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9877.51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Salary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Wages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Kredit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1841.12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2920.00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1848.60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1879.17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2713.32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Flows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Adjusting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Salary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Wages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2755.07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3171.02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5226.93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6290.42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7164.19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Training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Costs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25.68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33.38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Collaboration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TBOP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1247.20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129.51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86.67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90.47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102.16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Subak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Construction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209.38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53060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Subak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Maintenance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(In IDR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69.10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69.10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69.10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Total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1482.27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162.89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155.76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159.57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171.26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Flow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1272.80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3008.13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5071.17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6130.86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6992.94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17650" y="4739004"/>
          <a:ext cx="9232900" cy="742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1975"/>
                <a:gridCol w="3122929"/>
                <a:gridCol w="622300"/>
                <a:gridCol w="622300"/>
                <a:gridCol w="850900"/>
                <a:gridCol w="836929"/>
              </a:tblGrid>
              <a:tr h="184150"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Flows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1272.80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3008.13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5071.17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6130.86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6992.94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62560">
                <a:tc>
                  <a:txBody>
                    <a:bodyPr/>
                    <a:lstStyle/>
                    <a:p>
                      <a:pPr marL="6350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Disc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Rate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1.079832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1.166037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1.259124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1.359642631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1.468185622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Present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1178.701826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2579.786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4027.535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4509.167787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4762.977876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CAPM</a:t>
            </a:r>
            <a:r>
              <a:rPr dirty="0" spc="-1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and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 spc="-20">
                <a:solidFill>
                  <a:srgbClr val="7E7E7E"/>
                </a:solidFill>
              </a:rPr>
              <a:t>Terminal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Value</a:t>
            </a:r>
            <a:r>
              <a:rPr dirty="0" spc="-5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calculations</a:t>
            </a:r>
            <a:r>
              <a:rPr dirty="0" spc="-5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with</a:t>
            </a:r>
            <a:r>
              <a:rPr dirty="0" spc="-20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Mitra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38655" y="2369820"/>
            <a:ext cx="3200400" cy="95440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4290" rIns="0" bIns="0" rtlCol="0" vert="horz">
            <a:spAutoFit/>
          </a:bodyPr>
          <a:lstStyle/>
          <a:p>
            <a:pPr algn="ctr" marL="146050" marR="142240">
              <a:lnSpc>
                <a:spcPct val="100000"/>
              </a:lnSpc>
              <a:spcBef>
                <a:spcPts val="270"/>
              </a:spcBef>
            </a:pPr>
            <a:r>
              <a:rPr dirty="0" sz="1400" b="1">
                <a:latin typeface="Calibri"/>
                <a:cs typeface="Calibri"/>
              </a:rPr>
              <a:t>Only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equity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 the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financial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structure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so </a:t>
            </a:r>
            <a:r>
              <a:rPr dirty="0" sz="1400" b="1">
                <a:latin typeface="Calibri"/>
                <a:cs typeface="Calibri"/>
              </a:rPr>
              <a:t>only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Cost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Equity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calculated.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All </a:t>
            </a:r>
            <a:r>
              <a:rPr dirty="0" sz="1400" b="1">
                <a:latin typeface="Calibri"/>
                <a:cs typeface="Calibri"/>
              </a:rPr>
              <a:t>measures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taken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from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website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of </a:t>
            </a:r>
            <a:r>
              <a:rPr dirty="0" sz="1400" spc="-10" b="1">
                <a:latin typeface="Calibri"/>
                <a:cs typeface="Calibri"/>
              </a:rPr>
              <a:t>Aswath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Damodaran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32042" y="997330"/>
          <a:ext cx="5467350" cy="144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6585"/>
                <a:gridCol w="2228850"/>
              </a:tblGrid>
              <a:tr h="337185">
                <a:tc>
                  <a:txBody>
                    <a:bodyPr/>
                    <a:lstStyle/>
                    <a:p>
                      <a:pPr marL="6985">
                        <a:lnSpc>
                          <a:spcPts val="1140"/>
                        </a:lnSpc>
                      </a:pPr>
                      <a:r>
                        <a:rPr dirty="0" sz="120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200" spc="-3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25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Equity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Risk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Free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Rate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6.41%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Beta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0.36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Country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Risk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Premium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2.89%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Indonesia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ERP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7.89%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Equity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(CAPM)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7.98%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R w="6350">
                      <a:solidFill>
                        <a:srgbClr val="375522"/>
                      </a:solidFill>
                      <a:prstDash val="solid"/>
                    </a:lnR>
                    <a:solidFill>
                      <a:srgbClr val="3755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32042" y="2890139"/>
          <a:ext cx="5467350" cy="1441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1350"/>
                <a:gridCol w="2202815"/>
              </a:tblGrid>
              <a:tr h="337185">
                <a:tc>
                  <a:txBody>
                    <a:bodyPr/>
                    <a:lstStyle/>
                    <a:p>
                      <a:pPr marL="6985">
                        <a:lnSpc>
                          <a:spcPts val="1140"/>
                        </a:lnSpc>
                      </a:pPr>
                      <a:r>
                        <a:rPr dirty="0" sz="1200" spc="-2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r>
                        <a:rPr dirty="0" sz="1200" spc="-1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 Value</a:t>
                      </a:r>
                      <a:r>
                        <a:rPr dirty="0" sz="1200" spc="-2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200" spc="-1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200" spc="-5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375522"/>
                          </a:solidFill>
                          <a:latin typeface="Calibri"/>
                          <a:cs typeface="Calibri"/>
                        </a:rPr>
                        <a:t>Mn)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5104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FCFF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(Last)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6992.94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Growth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Rate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CAPM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7.98%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Terminal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275484.83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375522"/>
                      </a:solidFill>
                      <a:prstDash val="solid"/>
                    </a:lnR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PV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(NPV)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173764.29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lnR w="6350">
                      <a:solidFill>
                        <a:srgbClr val="375522"/>
                      </a:solidFill>
                      <a:prstDash val="solid"/>
                    </a:lnR>
                    <a:solidFill>
                      <a:srgbClr val="3755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63317" y="4628007"/>
          <a:ext cx="9232900" cy="74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6740"/>
                <a:gridCol w="3097530"/>
                <a:gridCol w="622934"/>
                <a:gridCol w="622934"/>
                <a:gridCol w="851534"/>
                <a:gridCol w="837565"/>
              </a:tblGrid>
              <a:tr h="184150"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1315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FCF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1178.70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2579.79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4027.53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4509.17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4762.98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  <a:tr h="165735">
                <a:tc>
                  <a:txBody>
                    <a:bodyPr/>
                    <a:lstStyle/>
                    <a:p>
                      <a:pPr marL="6350">
                        <a:lnSpc>
                          <a:spcPts val="120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Terminal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173764.29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Total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178527.27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624314" y="5613448"/>
            <a:ext cx="1696085" cy="189865"/>
          </a:xfrm>
          <a:prstGeom prst="rect">
            <a:avLst/>
          </a:prstGeom>
          <a:solidFill>
            <a:srgbClr val="E1EEDA"/>
          </a:solidFill>
        </p:spPr>
        <p:txBody>
          <a:bodyPr wrap="square" lIns="0" tIns="381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30"/>
              </a:spcBef>
              <a:tabLst>
                <a:tab pos="1249045" algn="l"/>
              </a:tabLst>
            </a:pPr>
            <a:r>
              <a:rPr dirty="0" sz="1100" b="1">
                <a:latin typeface="Calibri"/>
                <a:cs typeface="Calibri"/>
              </a:rPr>
              <a:t>CAGR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FCFF</a:t>
            </a:r>
            <a:r>
              <a:rPr dirty="0" sz="1100" b="1">
                <a:latin typeface="Calibri"/>
                <a:cs typeface="Calibri"/>
              </a:rPr>
              <a:t>	</a:t>
            </a:r>
            <a:r>
              <a:rPr dirty="0" sz="1100" spc="-10" b="1">
                <a:latin typeface="Calibri"/>
                <a:cs typeface="Calibri"/>
              </a:rPr>
              <a:t>32.22%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4431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Cash</a:t>
            </a:r>
            <a:r>
              <a:rPr dirty="0" sz="1800" spc="-3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flow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estimation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without</a:t>
            </a:r>
            <a:r>
              <a:rPr dirty="0" sz="1800" spc="-5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Mitra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5952" y="940053"/>
          <a:ext cx="8356600" cy="1865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7954"/>
                <a:gridCol w="1833879"/>
                <a:gridCol w="622300"/>
                <a:gridCol w="622300"/>
                <a:gridCol w="622300"/>
                <a:gridCol w="621029"/>
              </a:tblGrid>
              <a:tr h="184150"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121793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Interest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Income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Earned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3695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Kredit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2193.147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2244.467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2296.988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2350.738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2405.745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Flows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Lending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2193.147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2244.467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2296.988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2350.738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2405.745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Salary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Wages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(In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IDR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Mn)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1556.873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1646.544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1745.087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1853.751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1973.986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Kredit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Flows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Adjusting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Salary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Wages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636.2737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597.9226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551.9002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496.9869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431.7594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5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Outreaching</a:t>
            </a:r>
            <a:r>
              <a:rPr dirty="0" spc="-4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cost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3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3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new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provinces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279" y="1234058"/>
          <a:ext cx="6477635" cy="932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/>
                <a:gridCol w="2133600"/>
                <a:gridCol w="1774825"/>
                <a:gridCol w="1877060"/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23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032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7325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1261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6370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1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457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01284" y="2636011"/>
          <a:ext cx="2895600" cy="1756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0"/>
                <a:gridCol w="850900"/>
              </a:tblGrid>
              <a:tr h="184150">
                <a:tc>
                  <a:txBody>
                    <a:bodyPr/>
                    <a:lstStyle/>
                    <a:p>
                      <a:pPr algn="r" marR="39751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671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algn="r" marR="397510">
                        <a:lnSpc>
                          <a:spcPts val="1280"/>
                        </a:lnSpc>
                        <a:spcBef>
                          <a:spcPts val="41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1261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739378" y="2636011"/>
          <a:ext cx="2781300" cy="1756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1985"/>
                <a:gridCol w="793750"/>
              </a:tblGrid>
              <a:tr h="184150">
                <a:tc>
                  <a:txBody>
                    <a:bodyPr/>
                    <a:lstStyle/>
                    <a:p>
                      <a:pPr algn="r" marR="39687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671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algn="r" marR="396875">
                        <a:lnSpc>
                          <a:spcPts val="1280"/>
                        </a:lnSpc>
                        <a:spcBef>
                          <a:spcPts val="41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705"/>
                </a:tc>
              </a:tr>
              <a:tr h="18732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clients/employee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43928" y="1388110"/>
          <a:ext cx="3494404" cy="55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1800"/>
                <a:gridCol w="1715770"/>
              </a:tblGrid>
              <a:tr h="21082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offices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(per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province)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5"/>
                </a:tc>
              </a:tr>
              <a:tr h="18415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provinces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2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3195">
                <a:tc>
                  <a:txBody>
                    <a:bodyPr/>
                    <a:lstStyle/>
                    <a:p>
                      <a:pPr marL="6985">
                        <a:lnSpc>
                          <a:spcPts val="1185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offices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8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0163" y="3149600"/>
          <a:ext cx="4876800" cy="55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/>
                <a:gridCol w="800735"/>
                <a:gridCol w="800100"/>
                <a:gridCol w="800100"/>
                <a:gridCol w="800100"/>
                <a:gridCol w="799464"/>
              </a:tblGrid>
              <a:tr h="190500">
                <a:tc gridSpan="6"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OUTREACHING</a:t>
                      </a:r>
                      <a:r>
                        <a:rPr dirty="0" sz="11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61925"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068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202.50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253.41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399.11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653.52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50163" y="5097017"/>
            <a:ext cx="4800600" cy="34163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2147570" marR="27305" indent="-2112645">
              <a:lnSpc>
                <a:spcPts val="1320"/>
              </a:lnSpc>
              <a:spcBef>
                <a:spcPts val="35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outreaching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employees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FY 23-30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due to</a:t>
            </a:r>
            <a:r>
              <a:rPr dirty="0" sz="1100" spc="-10">
                <a:latin typeface="Calibri"/>
                <a:cs typeface="Calibri"/>
              </a:rPr>
              <a:t> increase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clients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8351" y="4741926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5094" y="1102233"/>
          <a:ext cx="4876800" cy="55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184150">
                <a:tc gridSpan="6">
                  <a:txBody>
                    <a:bodyPr/>
                    <a:lstStyle/>
                    <a:p>
                      <a:pPr algn="ctr" marL="635">
                        <a:lnSpc>
                          <a:spcPts val="1285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COLLECTING</a:t>
                      </a:r>
                      <a:r>
                        <a:rPr dirty="0" sz="11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INTERESTS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</a:tr>
              <a:tr h="161925"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3075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29.65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244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29.65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244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23.72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3075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39.24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71261" y="1201674"/>
          <a:ext cx="6734175" cy="92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7740"/>
                <a:gridCol w="624839"/>
                <a:gridCol w="1115060"/>
                <a:gridCol w="2110105"/>
                <a:gridCol w="568325"/>
              </a:tblGrid>
              <a:tr h="184150">
                <a:tc>
                  <a:txBody>
                    <a:bodyPr/>
                    <a:lstStyle/>
                    <a:p>
                      <a:pPr marL="1278255">
                        <a:lnSpc>
                          <a:spcPts val="1285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0">
                        <a:lnSpc>
                          <a:spcPts val="1285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669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16473" y="2321051"/>
          <a:ext cx="6664325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9455"/>
                <a:gridCol w="708659"/>
                <a:gridCol w="1204594"/>
                <a:gridCol w="2113279"/>
                <a:gridCol w="571500"/>
              </a:tblGrid>
              <a:tr h="184150">
                <a:tc>
                  <a:txBody>
                    <a:bodyPr/>
                    <a:lstStyle/>
                    <a:p>
                      <a:pPr marL="119570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90625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7843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607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physical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48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92607" y="2165857"/>
            <a:ext cx="4432935" cy="67691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algn="ctr" marL="6350" indent="635">
              <a:lnSpc>
                <a:spcPts val="1320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no.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 </a:t>
            </a:r>
            <a:r>
              <a:rPr dirty="0" sz="1100" spc="-10">
                <a:latin typeface="Calibri"/>
                <a:cs typeface="Calibri"/>
              </a:rPr>
              <a:t>subsequently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periods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collaboration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after</a:t>
            </a:r>
            <a:r>
              <a:rPr dirty="0" sz="1100" spc="5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a certain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period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won't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switch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cost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depends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accepted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loans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0432" y="1838401"/>
            <a:ext cx="93154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5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Collecting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interest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cost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3</a:t>
            </a:r>
            <a:r>
              <a:rPr dirty="0" spc="-1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new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provinces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1845" y="3986784"/>
          <a:ext cx="4316730" cy="55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120"/>
                <a:gridCol w="706755"/>
                <a:gridCol w="706119"/>
                <a:gridCol w="706755"/>
                <a:gridCol w="706754"/>
                <a:gridCol w="706754"/>
              </a:tblGrid>
              <a:tr h="190500">
                <a:tc gridSpan="6"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MANAGING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1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  <a:tr h="161925">
                <a:tc>
                  <a:txBody>
                    <a:bodyPr/>
                    <a:lstStyle/>
                    <a:p>
                      <a:pPr marL="449580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0215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1658.85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889.66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700.60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1147.19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141340" y="4072763"/>
          <a:ext cx="6927215" cy="2355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935"/>
                <a:gridCol w="634364"/>
                <a:gridCol w="2148204"/>
                <a:gridCol w="1718310"/>
                <a:gridCol w="585469"/>
              </a:tblGrid>
              <a:tr h="184150">
                <a:tc>
                  <a:txBody>
                    <a:bodyPr/>
                    <a:lstStyle/>
                    <a:p>
                      <a:pPr algn="r" marR="40513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5765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7843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9885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448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</a:tr>
              <a:tr h="34925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algn="r" marR="40513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5765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41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</a:tr>
              <a:tr h="181610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1261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6710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76618" y="5115052"/>
            <a:ext cx="4450715" cy="67691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38735" marR="32384" indent="-635">
              <a:lnSpc>
                <a:spcPts val="1320"/>
              </a:lnSpc>
              <a:spcBef>
                <a:spcPts val="35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no.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 </a:t>
            </a:r>
            <a:r>
              <a:rPr dirty="0" sz="1100" spc="-10">
                <a:latin typeface="Calibri"/>
                <a:cs typeface="Calibri"/>
              </a:rPr>
              <a:t>subsequently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periods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collaboration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TBOP,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signifcantly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declining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no.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employees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certain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period.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cost </a:t>
            </a:r>
            <a:r>
              <a:rPr dirty="0" sz="1100">
                <a:latin typeface="Calibri"/>
                <a:cs typeface="Calibri"/>
              </a:rPr>
              <a:t>depends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loans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8351" y="4828158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4947" y="1023619"/>
          <a:ext cx="4876800" cy="563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  <a:gridCol w="799464"/>
              </a:tblGrid>
              <a:tr h="190500">
                <a:tc gridSpan="6"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  <a:spcBef>
                          <a:spcPts val="11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GENERAL</a:t>
                      </a:r>
                      <a:r>
                        <a:rPr dirty="0" sz="11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764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</a:tr>
              <a:tr h="165100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0685">
                        <a:lnSpc>
                          <a:spcPts val="12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351.87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2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132.10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2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104.03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2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170.34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334634" y="847089"/>
          <a:ext cx="6734175" cy="236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/>
                <a:gridCol w="600709"/>
                <a:gridCol w="2087245"/>
                <a:gridCol w="1684654"/>
                <a:gridCol w="552450"/>
              </a:tblGrid>
              <a:tr h="190500">
                <a:tc>
                  <a:txBody>
                    <a:bodyPr/>
                    <a:lstStyle/>
                    <a:p>
                      <a:pPr algn="r" marR="405130">
                        <a:lnSpc>
                          <a:spcPts val="1285"/>
                        </a:lnSpc>
                        <a:spcBef>
                          <a:spcPts val="11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4495">
                        <a:lnSpc>
                          <a:spcPts val="1285"/>
                        </a:lnSpc>
                        <a:spcBef>
                          <a:spcPts val="11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"/>
                </a:tc>
              </a:tr>
              <a:tr h="179070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6710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640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240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</a:tr>
              <a:tr h="353695">
                <a:tc>
                  <a:txBody>
                    <a:bodyPr/>
                    <a:lstStyle/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2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90500">
                <a:tc>
                  <a:txBody>
                    <a:bodyPr/>
                    <a:lstStyle/>
                    <a:p>
                      <a:pPr algn="r" marR="40513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4495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Employees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2245">
                <a:tc>
                  <a:txBody>
                    <a:bodyPr/>
                    <a:lstStyle/>
                    <a:p>
                      <a:pPr marL="6985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1261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4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Clients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46710">
                <a:tc>
                  <a:txBody>
                    <a:bodyPr/>
                    <a:lstStyle/>
                    <a:p>
                      <a:pPr marL="698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189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clients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physical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loans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100" spc="-25" b="1">
                          <a:latin typeface="Calibri"/>
                          <a:cs typeface="Calibri"/>
                        </a:rPr>
                        <a:t>310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9860"/>
                </a:tc>
              </a:tr>
              <a:tr h="161925">
                <a:tc>
                  <a:txBody>
                    <a:bodyPr/>
                    <a:lstStyle/>
                    <a:p>
                      <a:pPr marL="6985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17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clients/emp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55079" y="2199258"/>
            <a:ext cx="4520565" cy="35052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 marL="1311275" marR="266065" indent="-1038225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clients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</a:t>
            </a:r>
            <a:r>
              <a:rPr dirty="0" sz="1100" spc="-20">
                <a:latin typeface="Calibri"/>
                <a:cs typeface="Calibri"/>
              </a:rPr>
              <a:t> time </a:t>
            </a:r>
            <a:r>
              <a:rPr dirty="0" sz="1100">
                <a:latin typeface="Calibri"/>
                <a:cs typeface="Calibri"/>
              </a:rPr>
              <a:t>declining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admin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costs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5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General</a:t>
            </a:r>
            <a:r>
              <a:rPr dirty="0" spc="-5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admin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cost</a:t>
            </a:r>
            <a:r>
              <a:rPr dirty="0" spc="-3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in</a:t>
            </a:r>
            <a:r>
              <a:rPr dirty="0" spc="-2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3</a:t>
            </a:r>
            <a:r>
              <a:rPr dirty="0" spc="-1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new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provinces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37488" y="3998848"/>
          <a:ext cx="4876800" cy="55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190500">
                <a:tc gridSpan="6">
                  <a:txBody>
                    <a:bodyPr/>
                    <a:lstStyle/>
                    <a:p>
                      <a:pPr algn="ctr" marL="1270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OTHERS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61925"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212.60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222.51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233.19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244.85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7362" y="5151754"/>
            <a:ext cx="4800600" cy="34163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066800" marR="29209" indent="-1033780">
              <a:lnSpc>
                <a:spcPts val="1320"/>
              </a:lnSpc>
              <a:spcBef>
                <a:spcPts val="35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employees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 firm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total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cost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assumed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inflation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515989" y="4005326"/>
          <a:ext cx="4876800" cy="551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735"/>
                <a:gridCol w="800100"/>
                <a:gridCol w="800100"/>
                <a:gridCol w="800100"/>
                <a:gridCol w="800100"/>
                <a:gridCol w="799464"/>
              </a:tblGrid>
              <a:tr h="184150">
                <a:tc gridSpan="6">
                  <a:txBody>
                    <a:bodyPr/>
                    <a:lstStyle/>
                    <a:p>
                      <a:pPr algn="ctr" marL="127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EXPENDITURE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5104"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FY23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FY24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FY25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FY26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FY27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FY28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(E)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  <a:tr h="161925"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2455.47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1527.32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1460.65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2255.14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515989" y="5130672"/>
            <a:ext cx="4800600" cy="35052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1067435" marR="27940" indent="-1033780">
              <a:lnSpc>
                <a:spcPct val="100000"/>
              </a:lnSpc>
              <a:spcBef>
                <a:spcPts val="60"/>
              </a:spcBef>
            </a:pPr>
            <a:r>
              <a:rPr dirty="0" sz="1100">
                <a:latin typeface="Calibri"/>
                <a:cs typeface="Calibri"/>
              </a:rPr>
              <a:t>Rational: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employees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 firm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total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cost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assumed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inflation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8351" y="1892300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8351" y="4864734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88248" y="4837303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628270"/>
            <a:ext cx="12211050" cy="2035810"/>
            <a:chOff x="-9525" y="628270"/>
            <a:chExt cx="12211050" cy="2035810"/>
          </a:xfrm>
        </p:grpSpPr>
        <p:sp>
          <p:nvSpPr>
            <p:cNvPr id="3" name="object 3"/>
            <p:cNvSpPr/>
            <p:nvPr/>
          </p:nvSpPr>
          <p:spPr>
            <a:xfrm>
              <a:off x="879348" y="638428"/>
              <a:ext cx="6172200" cy="2025650"/>
            </a:xfrm>
            <a:custGeom>
              <a:avLst/>
              <a:gdLst/>
              <a:ahLst/>
              <a:cxnLst/>
              <a:rect l="l" t="t" r="r" b="b"/>
              <a:pathLst>
                <a:path w="6172200" h="2025650">
                  <a:moveTo>
                    <a:pt x="2819400" y="184150"/>
                  </a:moveTo>
                  <a:lnTo>
                    <a:pt x="0" y="184150"/>
                  </a:lnTo>
                  <a:lnTo>
                    <a:pt x="0" y="368300"/>
                  </a:lnTo>
                  <a:lnTo>
                    <a:pt x="0" y="552450"/>
                  </a:lnTo>
                  <a:lnTo>
                    <a:pt x="0" y="2025650"/>
                  </a:lnTo>
                  <a:lnTo>
                    <a:pt x="2819400" y="2025650"/>
                  </a:lnTo>
                  <a:lnTo>
                    <a:pt x="2819400" y="368300"/>
                  </a:lnTo>
                  <a:lnTo>
                    <a:pt x="2819400" y="184150"/>
                  </a:lnTo>
                  <a:close/>
                </a:path>
                <a:path w="6172200" h="2025650">
                  <a:moveTo>
                    <a:pt x="6172200" y="0"/>
                  </a:moveTo>
                  <a:lnTo>
                    <a:pt x="4953000" y="0"/>
                  </a:lnTo>
                  <a:lnTo>
                    <a:pt x="3911600" y="0"/>
                  </a:lnTo>
                  <a:lnTo>
                    <a:pt x="2819400" y="0"/>
                  </a:lnTo>
                  <a:lnTo>
                    <a:pt x="2819400" y="184150"/>
                  </a:lnTo>
                  <a:lnTo>
                    <a:pt x="3911600" y="184150"/>
                  </a:lnTo>
                  <a:lnTo>
                    <a:pt x="4953000" y="184150"/>
                  </a:lnTo>
                  <a:lnTo>
                    <a:pt x="6172200" y="184150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3755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563104" y="2095500"/>
              <a:ext cx="958850" cy="184150"/>
            </a:xfrm>
            <a:custGeom>
              <a:avLst/>
              <a:gdLst/>
              <a:ahLst/>
              <a:cxnLst/>
              <a:rect l="l" t="t" r="r" b="b"/>
              <a:pathLst>
                <a:path w="958850" h="184150">
                  <a:moveTo>
                    <a:pt x="958735" y="0"/>
                  </a:moveTo>
                  <a:lnTo>
                    <a:pt x="0" y="0"/>
                  </a:lnTo>
                  <a:lnTo>
                    <a:pt x="0" y="184150"/>
                  </a:lnTo>
                  <a:lnTo>
                    <a:pt x="958735" y="184150"/>
                  </a:lnTo>
                  <a:lnTo>
                    <a:pt x="95873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563104" y="2095499"/>
              <a:ext cx="4394200" cy="368300"/>
            </a:xfrm>
            <a:custGeom>
              <a:avLst/>
              <a:gdLst/>
              <a:ahLst/>
              <a:cxnLst/>
              <a:rect l="l" t="t" r="r" b="b"/>
              <a:pathLst>
                <a:path w="4394200" h="368300">
                  <a:moveTo>
                    <a:pt x="4394200" y="0"/>
                  </a:moveTo>
                  <a:lnTo>
                    <a:pt x="958723" y="0"/>
                  </a:lnTo>
                  <a:lnTo>
                    <a:pt x="958723" y="184150"/>
                  </a:lnTo>
                  <a:lnTo>
                    <a:pt x="0" y="184150"/>
                  </a:lnTo>
                  <a:lnTo>
                    <a:pt x="0" y="368300"/>
                  </a:lnTo>
                  <a:lnTo>
                    <a:pt x="958723" y="368300"/>
                  </a:lnTo>
                  <a:lnTo>
                    <a:pt x="4394200" y="368300"/>
                  </a:lnTo>
                  <a:lnTo>
                    <a:pt x="439420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56754" y="2089150"/>
              <a:ext cx="4406900" cy="381000"/>
            </a:xfrm>
            <a:custGeom>
              <a:avLst/>
              <a:gdLst/>
              <a:ahLst/>
              <a:cxnLst/>
              <a:rect l="l" t="t" r="r" b="b"/>
              <a:pathLst>
                <a:path w="4406900" h="381000">
                  <a:moveTo>
                    <a:pt x="965073" y="0"/>
                  </a:moveTo>
                  <a:lnTo>
                    <a:pt x="965073" y="381000"/>
                  </a:lnTo>
                </a:path>
                <a:path w="4406900" h="381000">
                  <a:moveTo>
                    <a:pt x="0" y="190500"/>
                  </a:moveTo>
                  <a:lnTo>
                    <a:pt x="971423" y="190500"/>
                  </a:lnTo>
                </a:path>
                <a:path w="4406900" h="381000">
                  <a:moveTo>
                    <a:pt x="6350" y="0"/>
                  </a:moveTo>
                  <a:lnTo>
                    <a:pt x="6350" y="381000"/>
                  </a:lnTo>
                </a:path>
                <a:path w="4406900" h="381000">
                  <a:moveTo>
                    <a:pt x="4400550" y="0"/>
                  </a:moveTo>
                  <a:lnTo>
                    <a:pt x="4400550" y="381000"/>
                  </a:lnTo>
                </a:path>
                <a:path w="4406900" h="381000">
                  <a:moveTo>
                    <a:pt x="0" y="6350"/>
                  </a:moveTo>
                  <a:lnTo>
                    <a:pt x="4406900" y="6350"/>
                  </a:lnTo>
                </a:path>
                <a:path w="4406900" h="381000">
                  <a:moveTo>
                    <a:pt x="0" y="374650"/>
                  </a:moveTo>
                  <a:lnTo>
                    <a:pt x="4406900" y="374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9323" y="29971"/>
            <a:ext cx="5672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Potential</a:t>
            </a:r>
            <a:r>
              <a:rPr dirty="0" sz="1800" spc="-5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clients</a:t>
            </a:r>
            <a:r>
              <a:rPr dirty="0" sz="1800" spc="-5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estimation</a:t>
            </a:r>
            <a:r>
              <a:rPr dirty="0" sz="1800" spc="-6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new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provinces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-9525" y="641790"/>
          <a:ext cx="12287250" cy="2019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8400"/>
                <a:gridCol w="1092835"/>
                <a:gridCol w="1042035"/>
                <a:gridCol w="6369050"/>
              </a:tblGrid>
              <a:tr h="180340">
                <a:tc gridSpan="2">
                  <a:txBody>
                    <a:bodyPr/>
                    <a:lstStyle/>
                    <a:p>
                      <a:pPr algn="r" marR="196850">
                        <a:lnSpc>
                          <a:spcPts val="1285"/>
                        </a:lnSpc>
                        <a:spcBef>
                          <a:spcPts val="3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Sulawesi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1285"/>
                        </a:lnSpc>
                        <a:spcBef>
                          <a:spcPts val="3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Kalimantan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85"/>
                        </a:lnSpc>
                        <a:spcBef>
                          <a:spcPts val="3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Nusa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Tenggara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</a:tr>
              <a:tr h="204470">
                <a:tc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4580221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2849410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1183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2663771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3515">
                <a:tc>
                  <a:txBody>
                    <a:bodyPr/>
                    <a:lstStyle/>
                    <a:p>
                      <a:pPr marL="894715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Females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4645526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2691966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1835">
                        <a:lnSpc>
                          <a:spcPts val="122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2661795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76225">
                <a:tc>
                  <a:txBody>
                    <a:bodyPr/>
                    <a:lstStyle/>
                    <a:p>
                      <a:pPr marL="894715">
                        <a:lnSpc>
                          <a:spcPts val="122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9225747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5541376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1835">
                        <a:lnSpc>
                          <a:spcPts val="1220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5325566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68300">
                <a:tc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Rural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Population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3773331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2266423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  <a:tc>
                  <a:txBody>
                    <a:bodyPr/>
                    <a:lstStyle/>
                    <a:p>
                      <a:pPr marL="7118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2178156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</a:tr>
              <a:tr h="254000">
                <a:tc>
                  <a:txBody>
                    <a:bodyPr/>
                    <a:lstStyle/>
                    <a:p>
                      <a:pPr marL="894715">
                        <a:lnSpc>
                          <a:spcPts val="1275"/>
                        </a:lnSpc>
                        <a:spcBef>
                          <a:spcPts val="62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people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engaged</a:t>
                      </a:r>
                      <a:r>
                        <a:rPr dirty="0" sz="11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agriculture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6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89.00%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6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80.34%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  <a:tc>
                  <a:txBody>
                    <a:bodyPr/>
                    <a:lstStyle/>
                    <a:p>
                      <a:pPr marL="791210">
                        <a:lnSpc>
                          <a:spcPts val="1275"/>
                        </a:lnSpc>
                        <a:spcBef>
                          <a:spcPts val="62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75.00%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9375"/>
                </a:tc>
              </a:tr>
              <a:tr h="184150">
                <a:tc>
                  <a:txBody>
                    <a:bodyPr/>
                    <a:lstStyle/>
                    <a:p>
                      <a:pPr marL="894715">
                        <a:lnSpc>
                          <a:spcPts val="1275"/>
                        </a:lnSpc>
                        <a:spcBef>
                          <a:spcPts val="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people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engaged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agriculture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52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7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3358264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525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75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1820844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525"/>
                </a:tc>
                <a:tc>
                  <a:txBody>
                    <a:bodyPr/>
                    <a:lstStyle/>
                    <a:p>
                      <a:pPr marL="711835">
                        <a:lnSpc>
                          <a:spcPts val="1275"/>
                        </a:lnSpc>
                        <a:spcBef>
                          <a:spcPts val="75"/>
                        </a:spcBef>
                        <a:tabLst>
                          <a:tab pos="2429510" algn="l"/>
                        </a:tabLst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1633617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7575" sz="16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r>
                        <a:rPr dirty="0" baseline="7575" sz="1650" spc="104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88%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people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engaged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agriculture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since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12%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of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9525"/>
                </a:tc>
              </a:tr>
              <a:tr h="183515">
                <a:tc>
                  <a:txBody>
                    <a:bodyPr/>
                    <a:lstStyle/>
                    <a:p>
                      <a:pPr marL="894715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people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engaged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agriculture</a:t>
                      </a:r>
                      <a:r>
                        <a:rPr dirty="0" sz="11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(informal)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2955272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1602343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11835">
                        <a:lnSpc>
                          <a:spcPts val="1265"/>
                        </a:lnSpc>
                        <a:tabLst>
                          <a:tab pos="2894330" algn="l"/>
                        </a:tabLst>
                      </a:pPr>
                      <a:r>
                        <a:rPr dirty="0" baseline="-7575" sz="1650" spc="-15" b="1">
                          <a:latin typeface="Calibri"/>
                          <a:cs typeface="Calibri"/>
                        </a:rPr>
                        <a:t>1437583</a:t>
                      </a:r>
                      <a:r>
                        <a:rPr dirty="0" baseline="-7575" sz="16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upper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middle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also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engaged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agriculuture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785">
                <a:tc>
                  <a:txBody>
                    <a:bodyPr/>
                    <a:lstStyle/>
                    <a:p>
                      <a:pPr marL="894715">
                        <a:lnSpc>
                          <a:spcPts val="1285"/>
                        </a:lnSpc>
                        <a:spcBef>
                          <a:spcPts val="7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people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engaged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agriculture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818058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664080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83590">
                        <a:lnSpc>
                          <a:spcPts val="1285"/>
                        </a:lnSpc>
                        <a:spcBef>
                          <a:spcPts val="70"/>
                        </a:spcBef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740573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1519" y="2762757"/>
          <a:ext cx="10592435" cy="3972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835"/>
                <a:gridCol w="1014094"/>
                <a:gridCol w="966470"/>
                <a:gridCol w="1130935"/>
                <a:gridCol w="636904"/>
                <a:gridCol w="4149090"/>
              </a:tblGrid>
              <a:tr h="170815"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0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Sulawesi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Kalimantan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Nusa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1182109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640937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575033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 gridSpan="2">
                  <a:txBody>
                    <a:bodyPr/>
                    <a:lstStyle/>
                    <a:p>
                      <a:pPr marL="4076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40%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require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dirty="0" sz="10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(Women)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163612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132816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148115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07670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20%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require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3355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r>
                        <a:rPr dirty="0" sz="1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20186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11606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10847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collab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TBOP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gaining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momentum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revolutionary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system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marL="5715">
                        <a:lnSpc>
                          <a:spcPts val="1080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PENETRATION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0.20%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08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Conversion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Rate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increased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credibility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yet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relatively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unknown.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0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Sulawesi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Kalimantan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Nusa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1182109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640937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575033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Kept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Constant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dirty="0" sz="10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(Women)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163612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132816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148115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Kept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Constant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3355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r>
                        <a:rPr dirty="0" sz="1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22877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13154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12294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1.70%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company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building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credibility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but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still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being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relatively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unknown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5715">
                        <a:lnSpc>
                          <a:spcPts val="1080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PENETRATION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57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0.25%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080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apprehension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newer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provinces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algn="ctr">
                        <a:lnSpc>
                          <a:spcPts val="1155"/>
                        </a:lnSpc>
                        <a:spcBef>
                          <a:spcPts val="9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Sulawesi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55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Kalimantan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55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Nusa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1182109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640937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575033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/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Kept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Constant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dirty="0" sz="10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(Women)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163612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132816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148115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Kept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Constant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3990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r>
                        <a:rPr dirty="0" sz="1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26914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15475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14463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2.00%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attractiveness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towards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schemes and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dynamic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system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5715">
                        <a:lnSpc>
                          <a:spcPts val="1075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PENETRATION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92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53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49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0.34%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07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growth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popularity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modern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Subak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system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algn="ctr">
                        <a:lnSpc>
                          <a:spcPts val="1155"/>
                        </a:lnSpc>
                        <a:spcBef>
                          <a:spcPts val="90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0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Sulawesi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55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West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Kalimantan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155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0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Nusa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1182109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640937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575033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"/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Kept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Constant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530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dirty="0" sz="10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Farmers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0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(Women)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163612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132816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148115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Kept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Constant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3355"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r>
                        <a:rPr dirty="0" sz="1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33643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19344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18079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2.50%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4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Mitra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gaining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momentum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5715">
                        <a:lnSpc>
                          <a:spcPts val="1075"/>
                        </a:lnSpc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PENETRATION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151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87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81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7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0.45%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075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trust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being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built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Unite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Hope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foundation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E1EE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>
                <a:solidFill>
                  <a:srgbClr val="7E7E7E"/>
                </a:solidFill>
              </a:rPr>
              <a:t>Financials:</a:t>
            </a:r>
            <a:r>
              <a:rPr dirty="0" spc="-7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Estimated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number</a:t>
            </a:r>
            <a:r>
              <a:rPr dirty="0" spc="-7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of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target</a:t>
            </a:r>
            <a:r>
              <a:rPr dirty="0" spc="-4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population</a:t>
            </a:r>
            <a:r>
              <a:rPr dirty="0" spc="-75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7E7E7E"/>
                </a:solidFill>
              </a:rPr>
              <a:t>per</a:t>
            </a:r>
            <a:r>
              <a:rPr dirty="0" spc="-60">
                <a:solidFill>
                  <a:srgbClr val="7E7E7E"/>
                </a:solidFill>
              </a:rPr>
              <a:t> </a:t>
            </a:r>
            <a:r>
              <a:rPr dirty="0" spc="-10">
                <a:solidFill>
                  <a:srgbClr val="7E7E7E"/>
                </a:solidFill>
              </a:rPr>
              <a:t>province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8426" y="1264030"/>
          <a:ext cx="6289040" cy="919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840"/>
                <a:gridCol w="762000"/>
                <a:gridCol w="994410"/>
                <a:gridCol w="762000"/>
                <a:gridCol w="762000"/>
                <a:gridCol w="762000"/>
                <a:gridCol w="825500"/>
                <a:gridCol w="593089"/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93370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solidFill>
                      <a:srgbClr val="375522"/>
                    </a:solidFill>
                  </a:tcPr>
                </a:tc>
              </a:tr>
              <a:tr h="204470">
                <a:tc rowSpan="3">
                  <a:txBody>
                    <a:bodyPr/>
                    <a:lstStyle/>
                    <a:p>
                      <a:pPr marL="36195" marR="213360" indent="-508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Java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Sumatra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1776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1865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1958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2933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2206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2350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1835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33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33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85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0.58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4005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6402" y="2306066"/>
          <a:ext cx="4830445" cy="937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/>
                <a:gridCol w="762000"/>
                <a:gridCol w="958214"/>
                <a:gridCol w="797560"/>
                <a:gridCol w="761364"/>
                <a:gridCol w="528954"/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5"/>
                        </a:lnSpc>
                        <a:spcBef>
                          <a:spcPts val="114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</a:tr>
              <a:tr h="207010">
                <a:tc gridSpan="2">
                  <a:txBody>
                    <a:bodyPr/>
                    <a:lstStyle/>
                    <a:p>
                      <a:pPr marL="9499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597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977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</a:tr>
              <a:tr h="194310">
                <a:tc>
                  <a:txBody>
                    <a:bodyPr/>
                    <a:lstStyle/>
                    <a:p>
                      <a:pPr marL="31750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Sulawesi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05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30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30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30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137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30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3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92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85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945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6130" y="3427984"/>
          <a:ext cx="4720590" cy="92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390"/>
                <a:gridCol w="762000"/>
                <a:gridCol w="958215"/>
                <a:gridCol w="797559"/>
                <a:gridCol w="761364"/>
                <a:gridCol w="528954"/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solidFill>
                      <a:srgbClr val="375522"/>
                    </a:solidFill>
                  </a:tcPr>
                </a:tc>
              </a:tr>
              <a:tr h="205104">
                <a:tc rowSpan="2">
                  <a:txBody>
                    <a:bodyPr/>
                    <a:lstStyle/>
                    <a:p>
                      <a:pPr marL="31750" marR="129539" indent="1809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West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Kalimantan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174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255"/>
                </a:tc>
              </a:tr>
              <a:tr h="2139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85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98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98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98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85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8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94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34898" y="4502658"/>
          <a:ext cx="4671695" cy="919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495"/>
                <a:gridCol w="761999"/>
                <a:gridCol w="958215"/>
                <a:gridCol w="797560"/>
                <a:gridCol w="761364"/>
                <a:gridCol w="528954"/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70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solidFill>
                      <a:srgbClr val="375522"/>
                    </a:solidFill>
                  </a:tcPr>
                </a:tc>
              </a:tr>
              <a:tr h="205104">
                <a:tc rowSpan="3">
                  <a:txBody>
                    <a:bodyPr/>
                    <a:lstStyle/>
                    <a:p>
                      <a:pPr marL="53975" marR="180340" indent="-2286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East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Nusa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Tengarra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163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525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8890"/>
                </a:tc>
              </a:tr>
              <a:tr h="1835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35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29870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80"/>
                        </a:lnSpc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552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494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0.70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860540" y="1724405"/>
            <a:ext cx="4977765" cy="50927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algn="ctr" marL="139700" marR="132715" indent="-1270">
              <a:lnSpc>
                <a:spcPts val="1320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Rationale: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base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implementation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our </a:t>
            </a:r>
            <a:r>
              <a:rPr dirty="0" sz="1100">
                <a:latin typeface="Calibri"/>
                <a:cs typeface="Calibri"/>
              </a:rPr>
              <a:t>strategies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along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ratio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acceptance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rate.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clients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year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 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applied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0540" y="2617342"/>
            <a:ext cx="4977765" cy="34163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62940" marR="2540" indent="-654685">
              <a:lnSpc>
                <a:spcPts val="1320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Rationale: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ratio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constant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provinces </a:t>
            </a: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10">
                <a:latin typeface="Calibri"/>
                <a:cs typeface="Calibri"/>
              </a:rPr>
              <a:t>applications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(loans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accepted/ratio)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60540" y="3662679"/>
            <a:ext cx="4977765" cy="34163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62940" marR="2540" indent="-654685">
              <a:lnSpc>
                <a:spcPts val="1320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Rationale: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ratio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constant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provinces </a:t>
            </a: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10">
                <a:latin typeface="Calibri"/>
                <a:cs typeface="Calibri"/>
              </a:rPr>
              <a:t>applications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(loans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accepted/ratio)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60540" y="4719065"/>
            <a:ext cx="4977765" cy="341630"/>
          </a:xfrm>
          <a:prstGeom prst="rect">
            <a:avLst/>
          </a:prstGeom>
          <a:solidFill>
            <a:srgbClr val="E1EFD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310"/>
              </a:lnSpc>
            </a:pPr>
            <a:r>
              <a:rPr dirty="0" sz="1100">
                <a:latin typeface="Calibri"/>
                <a:cs typeface="Calibri"/>
              </a:rPr>
              <a:t>Rationale: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ratio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constant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provinces</a:t>
            </a:r>
            <a:endParaRPr sz="11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 (loans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accepted/ratio)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17116" y="5784431"/>
            <a:ext cx="1600200" cy="742950"/>
          </a:xfrm>
          <a:custGeom>
            <a:avLst/>
            <a:gdLst/>
            <a:ahLst/>
            <a:cxnLst/>
            <a:rect l="l" t="t" r="r" b="b"/>
            <a:pathLst>
              <a:path w="1600200" h="742950">
                <a:moveTo>
                  <a:pt x="1600200" y="0"/>
                </a:moveTo>
                <a:lnTo>
                  <a:pt x="0" y="0"/>
                </a:lnTo>
                <a:lnTo>
                  <a:pt x="0" y="190500"/>
                </a:lnTo>
                <a:lnTo>
                  <a:pt x="0" y="374650"/>
                </a:lnTo>
                <a:lnTo>
                  <a:pt x="0" y="558800"/>
                </a:lnTo>
                <a:lnTo>
                  <a:pt x="0" y="742950"/>
                </a:lnTo>
                <a:lnTo>
                  <a:pt x="1600200" y="742950"/>
                </a:lnTo>
                <a:lnTo>
                  <a:pt x="1600200" y="558800"/>
                </a:lnTo>
                <a:lnTo>
                  <a:pt x="1600200" y="374650"/>
                </a:lnTo>
                <a:lnTo>
                  <a:pt x="1600200" y="190500"/>
                </a:lnTo>
                <a:lnTo>
                  <a:pt x="1600200" y="0"/>
                </a:lnTo>
                <a:close/>
              </a:path>
            </a:pathLst>
          </a:custGeom>
          <a:solidFill>
            <a:srgbClr val="3755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62356" y="5593931"/>
          <a:ext cx="6395085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785"/>
                <a:gridCol w="2685415"/>
                <a:gridCol w="922020"/>
                <a:gridCol w="532764"/>
                <a:gridCol w="722629"/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65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solidFill>
                      <a:srgbClr val="37552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98195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solidFill>
                      <a:srgbClr val="37552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solidFill>
                      <a:srgbClr val="375522"/>
                    </a:solidFill>
                  </a:tcPr>
                </a:tc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ctr" marL="1593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640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240"/>
                </a:tc>
              </a:tr>
              <a:tr h="183515">
                <a:tc row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PROVINCES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marL="1308100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9385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800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841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marL="1308100">
                        <a:lnSpc>
                          <a:spcPts val="122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ts val="122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1261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289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193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0">
                        <a:lnSpc>
                          <a:spcPts val="1180"/>
                        </a:lnSpc>
                      </a:pPr>
                      <a:r>
                        <a:rPr dirty="0" sz="11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2064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457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320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966072" y="1425955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85622"/>
                </a:solidFill>
                <a:latin typeface="Calibri"/>
                <a:cs typeface="Calibri"/>
              </a:rPr>
              <a:t>Rationale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63804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4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Estimation</a:t>
            </a:r>
            <a:r>
              <a:rPr dirty="0" sz="1800" spc="-4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each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loan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category</a:t>
            </a:r>
            <a:r>
              <a:rPr dirty="0" sz="1800" spc="-5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takers</a:t>
            </a:r>
            <a:r>
              <a:rPr dirty="0" sz="1800" spc="-2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1800" spc="-2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each</a:t>
            </a:r>
            <a:r>
              <a:rPr dirty="0" sz="1800" spc="-3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province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pic>
        <p:nvPicPr>
          <p:cNvPr id="4" name="object 4" descr="A table with numbers and symbols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725" y="2032029"/>
            <a:ext cx="5197421" cy="29573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3105" y="2925859"/>
            <a:ext cx="5131858" cy="106544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23" y="39116"/>
            <a:ext cx="4572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APPENDIX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Financials:</a:t>
            </a:r>
            <a:r>
              <a:rPr dirty="0" sz="1800" spc="-4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Subak's</a:t>
            </a:r>
            <a:r>
              <a:rPr dirty="0" sz="1800" spc="-2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cost</a:t>
            </a:r>
            <a:r>
              <a:rPr dirty="0" sz="1800" spc="-25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1800" spc="-2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revenue</a:t>
            </a:r>
            <a:r>
              <a:rPr dirty="0" sz="1800" spc="-60" b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7E7E7E"/>
                </a:solidFill>
                <a:latin typeface="Calibri"/>
                <a:cs typeface="Calibri"/>
              </a:rPr>
              <a:t>projections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pic>
        <p:nvPicPr>
          <p:cNvPr id="4" name="object 4" descr="A white paper with black text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017" y="1164218"/>
            <a:ext cx="4050900" cy="4744980"/>
          </a:xfrm>
          <a:prstGeom prst="rect">
            <a:avLst/>
          </a:prstGeom>
        </p:spPr>
      </p:pic>
      <p:pic>
        <p:nvPicPr>
          <p:cNvPr id="5" name="object 5" descr="A diagram of a plant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2964" y="1033275"/>
            <a:ext cx="4318999" cy="3747486"/>
          </a:xfrm>
          <a:prstGeom prst="rect">
            <a:avLst/>
          </a:prstGeom>
        </p:spPr>
      </p:pic>
      <p:pic>
        <p:nvPicPr>
          <p:cNvPr id="6" name="object 6" descr="A screenshot of a cell phone  Description automatically generate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45571" y="1405548"/>
            <a:ext cx="2753677" cy="41785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37395" y="5501132"/>
            <a:ext cx="1663064" cy="11455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524510">
              <a:lnSpc>
                <a:spcPct val="136500"/>
              </a:lnSpc>
              <a:spcBef>
                <a:spcPts val="70"/>
              </a:spcBef>
            </a:pPr>
            <a:r>
              <a:rPr dirty="0" sz="1800" spc="-10" b="1">
                <a:latin typeface="Calibri"/>
                <a:cs typeface="Calibri"/>
              </a:rPr>
              <a:t>Sources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Subak</a:t>
            </a:r>
            <a:r>
              <a:rPr dirty="0" u="sng" sz="18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Flowchart</a:t>
            </a:r>
            <a:r>
              <a:rPr dirty="0" sz="18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Subak</a:t>
            </a:r>
            <a:r>
              <a:rPr dirty="0" u="sng" sz="18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Operations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 spc="-10">
                <a:solidFill>
                  <a:srgbClr val="7E7E7E"/>
                </a:solidFill>
              </a:rPr>
              <a:t>Sources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8111" y="722121"/>
            <a:ext cx="10905490" cy="5559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https://www.ripublication.com/gjmbs_spl/gjmbsv3n5_12.pdf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https://artoo.com/Accion-Case-Study.pdf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https://content.centerforfinancialinclusion.org/wp-content/uploads/sites/2/2018/08/IIF-CFI_FI-Fintech_Partnerships_Final.pdf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https://bali.com/bali/travel-guide/culture/subak-bali-water-irrigation-system/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https://www.bps.go.id/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https://jurnalsetjen.kemendagri.go.id/index.php/bjgs/article/view/121/33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What</a:t>
            </a:r>
            <a:r>
              <a:rPr dirty="0" u="sng" sz="11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Is</a:t>
            </a:r>
            <a:r>
              <a:rPr dirty="0" u="sng" sz="11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The</a:t>
            </a:r>
            <a:r>
              <a:rPr dirty="0" u="sng" sz="11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Purpose</a:t>
            </a:r>
            <a:r>
              <a:rPr dirty="0" u="sng" sz="11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Of</a:t>
            </a:r>
            <a:r>
              <a:rPr dirty="0" u="sng" sz="11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Water</a:t>
            </a:r>
            <a:r>
              <a:rPr dirty="0" u="sng" sz="11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Towers?</a:t>
            </a:r>
            <a:r>
              <a:rPr dirty="0" u="sng" sz="11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|</a:t>
            </a:r>
            <a:r>
              <a:rPr dirty="0" u="sng" sz="1100" spc="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WaterWorld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https://devportalawards.org/nominees/2022/developer-portal-briapi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https://devportalawards.org/nominees/2022/developer-portal-briapi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https://finca.org/our-work/microfinance#:~:text=Microfinance%20refers%20to%20the%20financial,sometimes%20called%20microloans%20or%20microcredit.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https://preferredbynature.org/projects/empowering-indonesian-rice-farmers-sustainable-practices-better-livelihoods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https://amartha.com/en/business/embedded-lending-</a:t>
            </a:r>
            <a:r>
              <a:rPr dirty="0" u="sng" sz="11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en/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https://www.researchgate.net/publication/329915393_KOMIDA_Implementing_Digital_Microfinance_in_Indonesia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https://pages.stern.nyu.edu/~adamodar/New_Home_Page/datafile/ctryprem.html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https://pages.stern.nyu.edu/~adamodar/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https://www.huawei.com/minisite/gci/en/country-profile-id.html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https://www.adb.org/publications/improving-indonesia-domestic-connectivity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https://blogs.worldbank.org/eastasiapacific/how-bridge-gap-indonesias-inequality-internet-access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https://www.adb.org/documents/indonesia-vocational-education-strengthening-project-</a:t>
            </a:r>
            <a:r>
              <a:rPr dirty="0" u="sng" sz="11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0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1"/>
              </a:rPr>
              <a:t>https://www.adb.org/results/microfinance-indonesia-bringing-banks-community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2"/>
              </a:rPr>
              <a:t>https://www.thejakartapost.com/amp/news/2020/11/11/indonesian-internet-users-hit-196-million-still-concentrated-in-java-apjii-survey.html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3"/>
              </a:rPr>
              <a:t>https://www.hbs.edu/faculty/Pages/item.aspx?num=44533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4"/>
              </a:rPr>
              <a:t>https://www.researchgate.net/publication/328295616_Indonesian_Microfinance_Institutions_MFI_Move_to_Technology-TBOP's_Prodigy_Experience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5"/>
              </a:rPr>
              <a:t>https://pages.stern.nyu.edu/~adamodar/New_Home_Page/datafile/Betas.html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6"/>
              </a:rPr>
              <a:t>https://www.povertyactionlab.org/sites/default/files/review-paper/ifii-whitepaper.pdf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7"/>
              </a:rPr>
              <a:t>https://www.statista.com/statistics/1251567/indonesia-female-employees-by-sector/#:~:text=As%20of%20August%202022%2C%20around,and%20female%20workers%20in%20Indonesia</a:t>
            </a:r>
            <a:r>
              <a:rPr dirty="0" sz="1100" spc="-1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8"/>
              </a:rPr>
              <a:t>https://assets.kpmg.com/content/dam/kpmg/pdf/2016/07/id-ksa-financial-inclusion-indonesia.pdf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9"/>
              </a:rPr>
              <a:t>https://www.elibrary.imf.org/view/journals/002/2021/047/article-A006-en.xml?ArticleTabs=fulltext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0"/>
              </a:rPr>
              <a:t>https://pair.australiaindonesiacentre.org/research/connectivity/overview-south-sulawesis-economy/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1"/>
              </a:rPr>
              <a:t>https://knoema.com/atlas/Indonesia/South-Sulawesi/GDP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2"/>
              </a:rPr>
              <a:t>https://knoema.com/atlas/Indonesia/West-Kalimantan/topics/Economics/National-Accounts/Real-GDP-growth-</a:t>
            </a:r>
            <a:r>
              <a:rPr dirty="0" u="sng" sz="11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2"/>
              </a:rPr>
              <a:t>rate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3"/>
              </a:rPr>
              <a:t>https://knoema.com/atlas/Indonesia/South-Sulawesi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4"/>
              </a:rPr>
              <a:t>https://www.worlddata.info/asia/indonesia/inflation-rates.php#:~:text=The%20inflation%20rate%20for%20consumer,increase%20was%2081.98%20million%20percent</a:t>
            </a:r>
            <a:r>
              <a:rPr dirty="0" sz="1100" spc="-1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7795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7988"/>
                </a:moveTo>
                <a:lnTo>
                  <a:pt x="12192000" y="0"/>
                </a:lnTo>
              </a:path>
            </a:pathLst>
          </a:custGeom>
          <a:ln w="19050">
            <a:solidFill>
              <a:srgbClr val="53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59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APPENDIX</a:t>
            </a:r>
          </a:p>
          <a:p>
            <a:pPr marL="113030">
              <a:lnSpc>
                <a:spcPct val="100000"/>
              </a:lnSpc>
            </a:pPr>
            <a:r>
              <a:rPr dirty="0" spc="-10">
                <a:solidFill>
                  <a:srgbClr val="7E7E7E"/>
                </a:solidFill>
              </a:rPr>
              <a:t>Sources</a:t>
            </a:r>
          </a:p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0019" y="83819"/>
            <a:ext cx="496824" cy="4998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8111" y="722121"/>
            <a:ext cx="9602470" cy="1367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https://binarapps.com/what-is-branchless-banking-what-are-the-benefits/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https://cn.knoema.com/atlas/%e5%8d%b0%e5%ba%a6%e5%b0%bc%e8%a5%bf%e4%ba%9a/East-Nusa-Tenggara/topics/Demographics/Population/Male-population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https://www.adb.org/sites/default/files/publication/28666/trade-growth-horizons.pdf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https://www.aijcrnet.com/journals/Vol_4_No_12_December_2014/5.pdf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https://www.redalyc.org/journal/947/94768442002/html/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https://www.mdpi.com/2073-445X/7/4/148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https://www.nowbali.co.id/balis-subak-system-irrigation/</a:t>
            </a:r>
            <a:endParaRPr sz="11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182245" algn="l"/>
              </a:tabLst>
            </a:pPr>
            <a:r>
              <a:rPr dirty="0" u="sng" sz="11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https://www.nowbali.co.id/balis-subak-system-irrigation/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Nikhil Jain</dc:creator>
  <dc:title>PowerPoint Presentation</dc:title>
  <dcterms:created xsi:type="dcterms:W3CDTF">2026-08-12T19:50:46Z</dcterms:created>
  <dcterms:modified xsi:type="dcterms:W3CDTF">2026-08-12T19:50:46Z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2023-08-28T00:00:00Z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2026-08-12T00:00:00Z</vt:filetime>
  </property>
  <property fmtid="{D5CDD505-2E9C-101B-9397-08002B2CF9AE}" pid="6" name="Producer">
    <vt:lpwstr>Microsoft® PowerPoint® 2021</vt:lpwstr>
  </property>
</Properties>
</file>